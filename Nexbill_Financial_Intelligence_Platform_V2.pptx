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2" dt="2026-09-17T20:56:00.5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ici Lu3" userId="S::xlu3@lenovo.com::db74a207-1f28-4a35-b130-37c17f971771" providerId="AD" clId="Web-{00000000-0000-0000-0000-000000000000}"/>
    <pc:docChg chg="addSld delSld modSld">
      <pc:chgData name="Cici Lu3" userId="S::xlu3@lenovo.com::db74a207-1f28-4a35-b130-37c17f971771" providerId="AD" clId="Web-{00000000-0000-0000-0000-000000000000}" dt="2026-09-17T20:55:58.241" v="10" actId="20577"/>
      <pc:docMkLst>
        <pc:docMk/>
      </pc:docMkLst>
      <pc:sldChg chg="modSp">
        <pc:chgData name="Cici Lu3" userId="S::xlu3@lenovo.com::db74a207-1f28-4a35-b130-37c17f971771" providerId="AD" clId="Web-{00000000-0000-0000-0000-000000000000}" dt="2026-09-17T19:59:29.733" v="1" actId="1076"/>
        <pc:sldMkLst>
          <pc:docMk/>
          <pc:sldMk cId="0" sldId="258"/>
        </pc:sldMkLst>
        <pc:spChg chg="mod">
          <ac:chgData name="Cici Lu3" userId="S::xlu3@lenovo.com::db74a207-1f28-4a35-b130-37c17f971771" providerId="AD" clId="Web-{00000000-0000-0000-0000-000000000000}" dt="2026-09-17T19:59:29.733" v="1" actId="1076"/>
          <ac:spMkLst>
            <pc:docMk/>
            <pc:sldMk cId="0" sldId="258"/>
            <ac:spMk id="92" creationId="{00000000-0000-0000-0000-000000000000}"/>
          </ac:spMkLst>
        </pc:spChg>
      </pc:sldChg>
      <pc:sldChg chg="modSp">
        <pc:chgData name="Cici Lu3" userId="S::xlu3@lenovo.com::db74a207-1f28-4a35-b130-37c17f971771" providerId="AD" clId="Web-{00000000-0000-0000-0000-000000000000}" dt="2026-09-17T20:55:58.241" v="10" actId="20577"/>
        <pc:sldMkLst>
          <pc:docMk/>
          <pc:sldMk cId="0" sldId="268"/>
        </pc:sldMkLst>
        <pc:spChg chg="mod">
          <ac:chgData name="Cici Lu3" userId="S::xlu3@lenovo.com::db74a207-1f28-4a35-b130-37c17f971771" providerId="AD" clId="Web-{00000000-0000-0000-0000-000000000000}" dt="2026-09-17T20:55:58.241" v="10" actId="20577"/>
          <ac:spMkLst>
            <pc:docMk/>
            <pc:sldMk cId="0" sldId="268"/>
            <ac:spMk id="3" creationId="{00000000-0000-0000-0000-000000000000}"/>
          </ac:spMkLst>
        </pc:spChg>
      </pc:sldChg>
      <pc:sldChg chg="new del">
        <pc:chgData name="Cici Lu3" userId="S::xlu3@lenovo.com::db74a207-1f28-4a35-b130-37c17f971771" providerId="AD" clId="Web-{00000000-0000-0000-0000-000000000000}" dt="2026-09-17T20:43:17.398" v="5"/>
        <pc:sldMkLst>
          <pc:docMk/>
          <pc:sldMk cId="2480719445" sldId="271"/>
        </pc:sldMkLst>
      </pc:sldChg>
      <pc:sldChg chg="new del">
        <pc:chgData name="Cici Lu3" userId="S::xlu3@lenovo.com::db74a207-1f28-4a35-b130-37c17f971771" providerId="AD" clId="Web-{00000000-0000-0000-0000-000000000000}" dt="2026-09-17T20:23:31.899" v="3"/>
        <pc:sldMkLst>
          <pc:docMk/>
          <pc:sldMk cId="4208574505"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F07D70C5-3F0A-41F8-B150-DF703A254691}" type="datetimeFigureOut">
              <a:t>9/17/2026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34C689F0-2A59-432F-8724-25660B720D1F}" type="slidenum">
              <a:t>‹#›</a:t>
            </a:fld>
            <a:endParaRPr lang="en-US"/>
          </a:p>
        </p:txBody>
      </p:sp>
    </p:spTree>
    <p:extLst>
      <p:ext uri="{BB962C8B-B14F-4D97-AF65-F5344CB8AC3E}">
        <p14:creationId xmlns:p14="http://schemas.microsoft.com/office/powerpoint/2010/main" val="7498576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731520" y="731520"/>
            <a:ext cx="6400800" cy="274320"/>
          </a:xfrm>
          <a:prstGeom prst="rect">
            <a:avLst/>
          </a:prstGeom>
          <a:noFill/>
          <a:ln/>
        </p:spPr>
        <p:txBody>
          <a:bodyPr wrap="square" lIns="0" tIns="0" rIns="0" bIns="0" rtlCol="0" anchor="ctr"/>
          <a:lstStyle/>
          <a:p>
            <a:pPr marL="0" indent="0">
              <a:buNone/>
            </a:pPr>
            <a:r>
              <a:rPr lang="en-US" sz="1100" kern="0" spc="300" dirty="0">
                <a:solidFill>
                  <a:srgbClr val="8DA9C4"/>
                </a:solidFill>
                <a:latin typeface="Calibri" pitchFamily="34" charset="0"/>
                <a:ea typeface="Calibri" pitchFamily="34" charset="-122"/>
                <a:cs typeface="Calibri" pitchFamily="34" charset="-120"/>
              </a:rPr>
              <a:t>FINANCE TRANSFORMATION STRATEGY  ·  VISION DECK</a:t>
            </a:r>
            <a:endParaRPr lang="en-US" sz="1100" dirty="0"/>
          </a:p>
        </p:txBody>
      </p:sp>
      <p:sp>
        <p:nvSpPr>
          <p:cNvPr id="3" name="Text 1"/>
          <p:cNvSpPr txBox="1"/>
          <p:nvPr/>
        </p:nvSpPr>
        <p:spPr>
          <a:xfrm>
            <a:off x="731520" y="1097280"/>
            <a:ext cx="6583680" cy="1188720"/>
          </a:xfrm>
          <a:prstGeom prst="rect">
            <a:avLst/>
          </a:prstGeom>
          <a:noFill/>
          <a:ln/>
        </p:spPr>
        <p:txBody>
          <a:bodyPr wrap="square" lIns="0" tIns="0" rIns="0" bIns="0" rtlCol="0" anchor="t"/>
          <a:lstStyle/>
          <a:p>
            <a:pPr marL="0" indent="0">
              <a:buNone/>
            </a:pPr>
            <a:r>
              <a:rPr lang="en-US" sz="3800" b="1" dirty="0">
                <a:solidFill>
                  <a:srgbClr val="FFFFFF"/>
                </a:solidFill>
                <a:latin typeface="Calibri" pitchFamily="34" charset="0"/>
                <a:ea typeface="Calibri" pitchFamily="34" charset="-122"/>
                <a:cs typeface="Calibri" pitchFamily="34" charset="-120"/>
              </a:rPr>
              <a:t>Nexbill Financial Intelligence Platform</a:t>
            </a:r>
            <a:endParaRPr lang="en-US" sz="3800" dirty="0"/>
          </a:p>
        </p:txBody>
      </p:sp>
      <p:sp>
        <p:nvSpPr>
          <p:cNvPr id="4" name="Text 2"/>
          <p:cNvSpPr txBox="1"/>
          <p:nvPr/>
        </p:nvSpPr>
        <p:spPr>
          <a:xfrm>
            <a:off x="731520" y="2377440"/>
            <a:ext cx="6400800" cy="822960"/>
          </a:xfrm>
          <a:prstGeom prst="rect">
            <a:avLst/>
          </a:prstGeom>
          <a:noFill/>
          <a:ln/>
        </p:spPr>
        <p:txBody>
          <a:bodyPr wrap="square" lIns="0" tIns="0" rIns="0" bIns="0" rtlCol="0" anchor="t"/>
          <a:lstStyle/>
          <a:p>
            <a:pPr marL="0" indent="0">
              <a:buNone/>
            </a:pPr>
            <a:r>
              <a:rPr lang="en-US" sz="1600" i="1" dirty="0">
                <a:solidFill>
                  <a:srgbClr val="B8CBE3"/>
                </a:solidFill>
                <a:latin typeface="Calibri" pitchFamily="34" charset="0"/>
                <a:ea typeface="Calibri" pitchFamily="34" charset="-122"/>
                <a:cs typeface="Calibri" pitchFamily="34" charset="-120"/>
              </a:rPr>
              <a:t>Traditional Finance uses the past to explain today.</a:t>
            </a:r>
            <a:endParaRPr lang="en-US" sz="1600" dirty="0"/>
          </a:p>
          <a:p>
            <a:pPr marL="0" indent="0">
              <a:buNone/>
            </a:pPr>
            <a:r>
              <a:rPr lang="en-US" sz="1600" b="1" i="1" dirty="0">
                <a:solidFill>
                  <a:srgbClr val="FFFFFF"/>
                </a:solidFill>
                <a:latin typeface="Calibri" pitchFamily="34" charset="0"/>
                <a:ea typeface="Calibri" pitchFamily="34" charset="-122"/>
                <a:cs typeface="Calibri" pitchFamily="34" charset="-120"/>
              </a:rPr>
              <a:t>AI uses signals about the future to influence today's decisions.</a:t>
            </a:r>
            <a:endParaRPr lang="en-US" sz="1600" dirty="0"/>
          </a:p>
        </p:txBody>
      </p:sp>
      <p:sp>
        <p:nvSpPr>
          <p:cNvPr id="5" name="Shape 3"/>
          <p:cNvSpPr/>
          <p:nvPr/>
        </p:nvSpPr>
        <p:spPr>
          <a:xfrm>
            <a:off x="731520" y="3429000"/>
            <a:ext cx="6400800" cy="2011680"/>
          </a:xfrm>
          <a:prstGeom prst="roundRect">
            <a:avLst>
              <a:gd name="adj" fmla="val 3636"/>
            </a:avLst>
          </a:prstGeom>
          <a:solidFill>
            <a:srgbClr val="0F2F5C"/>
          </a:solidFill>
          <a:ln w="9525">
            <a:solidFill>
              <a:srgbClr val="2E4C77"/>
            </a:solidFill>
            <a:prstDash val="solid"/>
          </a:ln>
        </p:spPr>
      </p:sp>
      <p:sp>
        <p:nvSpPr>
          <p:cNvPr id="6" name="Text 4"/>
          <p:cNvSpPr txBox="1"/>
          <p:nvPr/>
        </p:nvSpPr>
        <p:spPr>
          <a:xfrm>
            <a:off x="960120" y="3584448"/>
            <a:ext cx="3657600" cy="219456"/>
          </a:xfrm>
          <a:prstGeom prst="rect">
            <a:avLst/>
          </a:prstGeom>
          <a:noFill/>
          <a:ln/>
        </p:spPr>
        <p:txBody>
          <a:bodyPr wrap="square" lIns="0" tIns="0" rIns="0" bIns="0" rtlCol="0" anchor="ctr"/>
          <a:lstStyle/>
          <a:p>
            <a:pPr marL="0" indent="0">
              <a:buNone/>
            </a:pPr>
            <a:r>
              <a:rPr lang="en-US" sz="900" b="1" kern="0" spc="200" dirty="0">
                <a:solidFill>
                  <a:srgbClr val="8DA9C4"/>
                </a:solidFill>
                <a:latin typeface="Calibri" pitchFamily="34" charset="0"/>
                <a:ea typeface="Calibri" pitchFamily="34" charset="-122"/>
                <a:cs typeface="Calibri" pitchFamily="34" charset="-120"/>
              </a:rPr>
              <a:t>BUSINESS CHALLENGE</a:t>
            </a:r>
            <a:endParaRPr lang="en-US" sz="900" dirty="0"/>
          </a:p>
        </p:txBody>
      </p:sp>
      <p:sp>
        <p:nvSpPr>
          <p:cNvPr id="7" name="Text 5"/>
          <p:cNvSpPr txBox="1"/>
          <p:nvPr/>
        </p:nvSpPr>
        <p:spPr>
          <a:xfrm>
            <a:off x="960120" y="3858768"/>
            <a:ext cx="5943600" cy="310896"/>
          </a:xfrm>
          <a:prstGeom prst="rect">
            <a:avLst/>
          </a:prstGeom>
          <a:noFill/>
          <a:ln/>
        </p:spPr>
        <p:txBody>
          <a:bodyPr wrap="square" lIns="0" tIns="0" rIns="0" bIns="0" rtlCol="0" anchor="ctr"/>
          <a:lstStyle/>
          <a:p>
            <a:pPr marL="0" indent="0">
              <a:buNone/>
            </a:pPr>
            <a:r>
              <a:rPr lang="en-US" sz="1300" dirty="0">
                <a:solidFill>
                  <a:srgbClr val="B8CBE3"/>
                </a:solidFill>
                <a:latin typeface="Calibri" pitchFamily="34" charset="0"/>
                <a:ea typeface="Calibri" pitchFamily="34" charset="-122"/>
                <a:cs typeface="Calibri" pitchFamily="34" charset="-120"/>
              </a:rPr>
              <a:t>Today Finance can answer  </a:t>
            </a:r>
            <a:r>
              <a:rPr lang="en-US" sz="1300" b="1" dirty="0">
                <a:solidFill>
                  <a:srgbClr val="FFFFFF"/>
                </a:solidFill>
                <a:latin typeface="Calibri" pitchFamily="34" charset="0"/>
                <a:ea typeface="Calibri" pitchFamily="34" charset="-122"/>
                <a:cs typeface="Calibri" pitchFamily="34" charset="-120"/>
              </a:rPr>
              <a:t>What happened?</a:t>
            </a:r>
            <a:endParaRPr lang="en-US" sz="1300" dirty="0"/>
          </a:p>
        </p:txBody>
      </p:sp>
      <p:sp>
        <p:nvSpPr>
          <p:cNvPr id="8" name="Text 6"/>
          <p:cNvSpPr txBox="1"/>
          <p:nvPr/>
        </p:nvSpPr>
        <p:spPr>
          <a:xfrm>
            <a:off x="960120" y="4206240"/>
            <a:ext cx="5943600" cy="274320"/>
          </a:xfrm>
          <a:prstGeom prst="rect">
            <a:avLst/>
          </a:prstGeom>
          <a:noFill/>
          <a:ln/>
        </p:spPr>
        <p:txBody>
          <a:bodyPr wrap="square" lIns="0" tIns="0" rIns="0" bIns="0" rtlCol="0" anchor="ctr"/>
          <a:lstStyle/>
          <a:p>
            <a:pPr marL="0" indent="0">
              <a:buNone/>
            </a:pPr>
            <a:r>
              <a:rPr lang="en-US" sz="1100" i="1" dirty="0">
                <a:solidFill>
                  <a:srgbClr val="B8CBE3"/>
                </a:solidFill>
                <a:latin typeface="Calibri" pitchFamily="34" charset="0"/>
                <a:ea typeface="Calibri" pitchFamily="34" charset="-122"/>
                <a:cs typeface="Calibri" pitchFamily="34" charset="-120"/>
              </a:rPr>
              <a:t>But still struggles to answer:</a:t>
            </a:r>
            <a:endParaRPr lang="en-US" sz="1100" dirty="0"/>
          </a:p>
        </p:txBody>
      </p:sp>
      <p:sp>
        <p:nvSpPr>
          <p:cNvPr id="9" name="Shape 7"/>
          <p:cNvSpPr/>
          <p:nvPr/>
        </p:nvSpPr>
        <p:spPr>
          <a:xfrm>
            <a:off x="960120" y="4553712"/>
            <a:ext cx="1874520" cy="566928"/>
          </a:xfrm>
          <a:prstGeom prst="roundRect">
            <a:avLst>
              <a:gd name="adj" fmla="val 12903"/>
            </a:avLst>
          </a:prstGeom>
          <a:solidFill>
            <a:srgbClr val="1F4E8C"/>
          </a:solidFill>
          <a:ln w="12700">
            <a:solidFill>
              <a:srgbClr val="1F4E8C"/>
            </a:solidFill>
            <a:prstDash val="solid"/>
          </a:ln>
        </p:spPr>
      </p:sp>
      <p:sp>
        <p:nvSpPr>
          <p:cNvPr id="10" name="Text 8"/>
          <p:cNvSpPr txBox="1"/>
          <p:nvPr/>
        </p:nvSpPr>
        <p:spPr>
          <a:xfrm>
            <a:off x="960120" y="4553712"/>
            <a:ext cx="1874520"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Why did it happen?</a:t>
            </a:r>
            <a:endParaRPr lang="en-US" sz="1200" dirty="0"/>
          </a:p>
        </p:txBody>
      </p:sp>
      <p:sp>
        <p:nvSpPr>
          <p:cNvPr id="11" name="Shape 9"/>
          <p:cNvSpPr/>
          <p:nvPr/>
        </p:nvSpPr>
        <p:spPr>
          <a:xfrm>
            <a:off x="2971800" y="4553712"/>
            <a:ext cx="1874520" cy="566928"/>
          </a:xfrm>
          <a:prstGeom prst="roundRect">
            <a:avLst>
              <a:gd name="adj" fmla="val 12903"/>
            </a:avLst>
          </a:prstGeom>
          <a:solidFill>
            <a:srgbClr val="2A63AD"/>
          </a:solidFill>
          <a:ln w="12700">
            <a:solidFill>
              <a:srgbClr val="2A63AD"/>
            </a:solidFill>
            <a:prstDash val="solid"/>
          </a:ln>
        </p:spPr>
      </p:sp>
      <p:sp>
        <p:nvSpPr>
          <p:cNvPr id="12" name="Text 10"/>
          <p:cNvSpPr txBox="1"/>
          <p:nvPr/>
        </p:nvSpPr>
        <p:spPr>
          <a:xfrm>
            <a:off x="2971800" y="4553712"/>
            <a:ext cx="1874520"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What will happen?</a:t>
            </a:r>
            <a:endParaRPr lang="en-US" sz="1200" dirty="0"/>
          </a:p>
        </p:txBody>
      </p:sp>
      <p:sp>
        <p:nvSpPr>
          <p:cNvPr id="13" name="Shape 11"/>
          <p:cNvSpPr/>
          <p:nvPr/>
        </p:nvSpPr>
        <p:spPr>
          <a:xfrm>
            <a:off x="4983480" y="4553712"/>
            <a:ext cx="1874520" cy="566928"/>
          </a:xfrm>
          <a:prstGeom prst="roundRect">
            <a:avLst>
              <a:gd name="adj" fmla="val 12903"/>
            </a:avLst>
          </a:prstGeom>
          <a:solidFill>
            <a:srgbClr val="3E7CC9"/>
          </a:solidFill>
          <a:ln w="12700">
            <a:solidFill>
              <a:srgbClr val="3E7CC9"/>
            </a:solidFill>
            <a:prstDash val="solid"/>
          </a:ln>
        </p:spPr>
      </p:sp>
      <p:sp>
        <p:nvSpPr>
          <p:cNvPr id="14" name="Text 12"/>
          <p:cNvSpPr txBox="1"/>
          <p:nvPr/>
        </p:nvSpPr>
        <p:spPr>
          <a:xfrm>
            <a:off x="4983480" y="4553712"/>
            <a:ext cx="1874520"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What should we do?</a:t>
            </a:r>
            <a:endParaRPr lang="en-US" sz="1200" dirty="0"/>
          </a:p>
        </p:txBody>
      </p:sp>
      <p:sp>
        <p:nvSpPr>
          <p:cNvPr id="15" name="Text 13"/>
          <p:cNvSpPr txBox="1"/>
          <p:nvPr/>
        </p:nvSpPr>
        <p:spPr>
          <a:xfrm>
            <a:off x="731520" y="5852160"/>
            <a:ext cx="6400800" cy="274320"/>
          </a:xfrm>
          <a:prstGeom prst="rect">
            <a:avLst/>
          </a:prstGeom>
          <a:noFill/>
          <a:ln/>
        </p:spPr>
        <p:txBody>
          <a:bodyPr wrap="square" lIns="0" tIns="0" rIns="0" bIns="0" rtlCol="0" anchor="ctr"/>
          <a:lstStyle/>
          <a:p>
            <a:pPr marL="0" indent="0">
              <a:buNone/>
            </a:pPr>
            <a:r>
              <a:rPr lang="en-US" sz="1050" dirty="0">
                <a:solidFill>
                  <a:srgbClr val="7F98B8"/>
                </a:solidFill>
                <a:latin typeface="Calibri" pitchFamily="34" charset="0"/>
                <a:ea typeface="Calibri" pitchFamily="34" charset="-122"/>
                <a:cs typeface="Calibri" pitchFamily="34" charset="-120"/>
              </a:rPr>
              <a:t>Finance Leadership  ·  Finance Transformation  ·  IT Business Partners</a:t>
            </a:r>
            <a:endParaRPr lang="en-US" sz="1050" dirty="0"/>
          </a:p>
        </p:txBody>
      </p:sp>
      <p:sp>
        <p:nvSpPr>
          <p:cNvPr id="16" name="Text 14"/>
          <p:cNvSpPr txBox="1"/>
          <p:nvPr/>
        </p:nvSpPr>
        <p:spPr>
          <a:xfrm>
            <a:off x="7863840" y="1143000"/>
            <a:ext cx="3566160" cy="219456"/>
          </a:xfrm>
          <a:prstGeom prst="rect">
            <a:avLst/>
          </a:prstGeom>
          <a:noFill/>
          <a:ln/>
        </p:spPr>
        <p:txBody>
          <a:bodyPr wrap="square" lIns="0" tIns="0" rIns="0" bIns="0" rtlCol="0" anchor="ctr"/>
          <a:lstStyle/>
          <a:p>
            <a:pPr marL="0" indent="0">
              <a:buNone/>
            </a:pPr>
            <a:r>
              <a:rPr lang="en-US" sz="900" b="1" kern="0" spc="200" dirty="0">
                <a:solidFill>
                  <a:srgbClr val="8DA9C4"/>
                </a:solidFill>
                <a:latin typeface="Calibri" pitchFamily="34" charset="0"/>
                <a:ea typeface="Calibri" pitchFamily="34" charset="-122"/>
                <a:cs typeface="Calibri" pitchFamily="34" charset="-120"/>
              </a:rPr>
              <a:t>VISION</a:t>
            </a:r>
            <a:endParaRPr lang="en-US" sz="900" dirty="0"/>
          </a:p>
        </p:txBody>
      </p:sp>
      <p:sp>
        <p:nvSpPr>
          <p:cNvPr id="17" name="Shape 15"/>
          <p:cNvSpPr/>
          <p:nvPr/>
        </p:nvSpPr>
        <p:spPr>
          <a:xfrm>
            <a:off x="7863840" y="1463040"/>
            <a:ext cx="3566160" cy="1051560"/>
          </a:xfrm>
          <a:prstGeom prst="roundRect">
            <a:avLst>
              <a:gd name="adj" fmla="val 8696"/>
            </a:avLst>
          </a:prstGeom>
          <a:solidFill>
            <a:srgbClr val="1F4E8C"/>
          </a:solidFill>
          <a:ln w="12700">
            <a:solidFill>
              <a:srgbClr val="1F4E8C"/>
            </a:solidFill>
            <a:prstDash val="solid"/>
          </a:ln>
        </p:spPr>
      </p:sp>
      <p:sp>
        <p:nvSpPr>
          <p:cNvPr id="18" name="Text 16"/>
          <p:cNvSpPr txBox="1"/>
          <p:nvPr/>
        </p:nvSpPr>
        <p:spPr>
          <a:xfrm>
            <a:off x="8001000" y="1572768"/>
            <a:ext cx="329184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Transaction Platform</a:t>
            </a:r>
            <a:endParaRPr lang="en-US" sz="1600" dirty="0"/>
          </a:p>
        </p:txBody>
      </p:sp>
      <p:sp>
        <p:nvSpPr>
          <p:cNvPr id="19" name="Text 17"/>
          <p:cNvSpPr txBox="1"/>
          <p:nvPr/>
        </p:nvSpPr>
        <p:spPr>
          <a:xfrm>
            <a:off x="8001000" y="2029968"/>
            <a:ext cx="3291840" cy="384048"/>
          </a:xfrm>
          <a:prstGeom prst="rect">
            <a:avLst/>
          </a:prstGeom>
          <a:noFill/>
          <a:ln/>
        </p:spPr>
        <p:txBody>
          <a:bodyPr wrap="square" lIns="0" tIns="0" rIns="0" bIns="0" rtlCol="0" anchor="t"/>
          <a:lstStyle/>
          <a:p>
            <a:pPr marL="0" indent="0" algn="ctr">
              <a:buNone/>
            </a:pPr>
            <a:r>
              <a:rPr lang="en-US" sz="1050" i="1" dirty="0">
                <a:solidFill>
                  <a:srgbClr val="DCE6F2"/>
                </a:solidFill>
                <a:latin typeface="Calibri" pitchFamily="34" charset="0"/>
                <a:ea typeface="Calibri" pitchFamily="34" charset="-122"/>
                <a:cs typeface="Calibri" pitchFamily="34" charset="-120"/>
              </a:rPr>
              <a:t>Records what happened</a:t>
            </a:r>
            <a:endParaRPr lang="en-US" sz="1050" dirty="0"/>
          </a:p>
        </p:txBody>
      </p:sp>
      <p:sp>
        <p:nvSpPr>
          <p:cNvPr id="20" name="Shape 18"/>
          <p:cNvSpPr/>
          <p:nvPr/>
        </p:nvSpPr>
        <p:spPr>
          <a:xfrm>
            <a:off x="9509760" y="2578608"/>
            <a:ext cx="274320" cy="256032"/>
          </a:xfrm>
          <a:prstGeom prst="downArrow">
            <a:avLst/>
          </a:prstGeom>
          <a:solidFill>
            <a:srgbClr val="8DA9C4"/>
          </a:solidFill>
          <a:ln w="12700">
            <a:solidFill>
              <a:srgbClr val="8DA9C4"/>
            </a:solidFill>
            <a:prstDash val="solid"/>
          </a:ln>
        </p:spPr>
      </p:sp>
      <p:sp>
        <p:nvSpPr>
          <p:cNvPr id="21" name="Shape 19"/>
          <p:cNvSpPr/>
          <p:nvPr/>
        </p:nvSpPr>
        <p:spPr>
          <a:xfrm>
            <a:off x="7863840" y="2898648"/>
            <a:ext cx="3566160" cy="1051560"/>
          </a:xfrm>
          <a:prstGeom prst="roundRect">
            <a:avLst>
              <a:gd name="adj" fmla="val 8696"/>
            </a:avLst>
          </a:prstGeom>
          <a:solidFill>
            <a:srgbClr val="3E7CC9"/>
          </a:solidFill>
          <a:ln w="12700">
            <a:solidFill>
              <a:srgbClr val="3E7CC9"/>
            </a:solidFill>
            <a:prstDash val="solid"/>
          </a:ln>
        </p:spPr>
      </p:sp>
      <p:sp>
        <p:nvSpPr>
          <p:cNvPr id="22" name="Text 20"/>
          <p:cNvSpPr txBox="1"/>
          <p:nvPr/>
        </p:nvSpPr>
        <p:spPr>
          <a:xfrm>
            <a:off x="8001000" y="3008376"/>
            <a:ext cx="329184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Finance Intelligence Platform</a:t>
            </a:r>
            <a:endParaRPr lang="en-US" sz="1600" dirty="0"/>
          </a:p>
        </p:txBody>
      </p:sp>
      <p:sp>
        <p:nvSpPr>
          <p:cNvPr id="23" name="Text 21"/>
          <p:cNvSpPr txBox="1"/>
          <p:nvPr/>
        </p:nvSpPr>
        <p:spPr>
          <a:xfrm>
            <a:off x="8001000" y="3465576"/>
            <a:ext cx="3291840" cy="384048"/>
          </a:xfrm>
          <a:prstGeom prst="rect">
            <a:avLst/>
          </a:prstGeom>
          <a:noFill/>
          <a:ln/>
        </p:spPr>
        <p:txBody>
          <a:bodyPr wrap="square" lIns="0" tIns="0" rIns="0" bIns="0" rtlCol="0" anchor="t"/>
          <a:lstStyle/>
          <a:p>
            <a:pPr marL="0" indent="0" algn="ctr">
              <a:buNone/>
            </a:pPr>
            <a:r>
              <a:rPr lang="en-US" sz="1050" i="1" dirty="0">
                <a:solidFill>
                  <a:srgbClr val="DCE6F2"/>
                </a:solidFill>
                <a:latin typeface="Calibri" pitchFamily="34" charset="0"/>
                <a:ea typeface="Calibri" pitchFamily="34" charset="-122"/>
                <a:cs typeface="Calibri" pitchFamily="34" charset="-120"/>
              </a:rPr>
              <a:t>Understands why and anticipates what will happen</a:t>
            </a:r>
            <a:endParaRPr lang="en-US" sz="1050" dirty="0"/>
          </a:p>
        </p:txBody>
      </p:sp>
      <p:sp>
        <p:nvSpPr>
          <p:cNvPr id="24" name="Shape 22"/>
          <p:cNvSpPr/>
          <p:nvPr/>
        </p:nvSpPr>
        <p:spPr>
          <a:xfrm>
            <a:off x="9509760" y="4014216"/>
            <a:ext cx="274320" cy="256032"/>
          </a:xfrm>
          <a:prstGeom prst="downArrow">
            <a:avLst/>
          </a:prstGeom>
          <a:solidFill>
            <a:srgbClr val="8DA9C4"/>
          </a:solidFill>
          <a:ln w="12700">
            <a:solidFill>
              <a:srgbClr val="8DA9C4"/>
            </a:solidFill>
            <a:prstDash val="solid"/>
          </a:ln>
        </p:spPr>
      </p:sp>
      <p:sp>
        <p:nvSpPr>
          <p:cNvPr id="25" name="Shape 23"/>
          <p:cNvSpPr/>
          <p:nvPr/>
        </p:nvSpPr>
        <p:spPr>
          <a:xfrm>
            <a:off x="7863840" y="4334256"/>
            <a:ext cx="3566160" cy="1051560"/>
          </a:xfrm>
          <a:prstGeom prst="roundRect">
            <a:avLst>
              <a:gd name="adj" fmla="val 8696"/>
            </a:avLst>
          </a:prstGeom>
          <a:solidFill>
            <a:srgbClr val="5B95DD"/>
          </a:solidFill>
          <a:ln w="12700">
            <a:solidFill>
              <a:srgbClr val="5B95DD"/>
            </a:solidFill>
            <a:prstDash val="solid"/>
          </a:ln>
        </p:spPr>
      </p:sp>
      <p:sp>
        <p:nvSpPr>
          <p:cNvPr id="26" name="Text 24"/>
          <p:cNvSpPr txBox="1"/>
          <p:nvPr/>
        </p:nvSpPr>
        <p:spPr>
          <a:xfrm>
            <a:off x="8001000" y="4443984"/>
            <a:ext cx="329184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Decision Intelligence Platform</a:t>
            </a:r>
            <a:endParaRPr lang="en-US" sz="1600" dirty="0"/>
          </a:p>
        </p:txBody>
      </p:sp>
      <p:sp>
        <p:nvSpPr>
          <p:cNvPr id="27" name="Text 25"/>
          <p:cNvSpPr txBox="1"/>
          <p:nvPr/>
        </p:nvSpPr>
        <p:spPr>
          <a:xfrm>
            <a:off x="8001000" y="4901184"/>
            <a:ext cx="3291840" cy="384048"/>
          </a:xfrm>
          <a:prstGeom prst="rect">
            <a:avLst/>
          </a:prstGeom>
          <a:noFill/>
          <a:ln/>
        </p:spPr>
        <p:txBody>
          <a:bodyPr wrap="square" lIns="0" tIns="0" rIns="0" bIns="0" rtlCol="0" anchor="t"/>
          <a:lstStyle/>
          <a:p>
            <a:pPr marL="0" indent="0" algn="ctr">
              <a:buNone/>
            </a:pPr>
            <a:r>
              <a:rPr lang="en-US" sz="1050" i="1" dirty="0">
                <a:solidFill>
                  <a:srgbClr val="DCE6F2"/>
                </a:solidFill>
                <a:latin typeface="Calibri" pitchFamily="34" charset="0"/>
                <a:ea typeface="Calibri" pitchFamily="34" charset="-122"/>
                <a:cs typeface="Calibri" pitchFamily="34" charset="-120"/>
              </a:rPr>
              <a:t>Influences what happens next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Traditional Reporting Layer</a:t>
            </a:r>
            <a:endParaRPr lang="en-US" sz="3000" dirty="0"/>
          </a:p>
        </p:txBody>
      </p:sp>
      <p:sp>
        <p:nvSpPr>
          <p:cNvPr id="3" name="Text 1"/>
          <p:cNvSpPr txBox="1"/>
          <p:nvPr/>
        </p:nvSpPr>
        <p:spPr>
          <a:xfrm>
            <a:off x="548640" y="1078992"/>
            <a:ext cx="8595360" cy="502920"/>
          </a:xfrm>
          <a:prstGeom prst="rect">
            <a:avLst/>
          </a:prstGeom>
          <a:noFill/>
          <a:ln/>
        </p:spPr>
        <p:txBody>
          <a:bodyPr wrap="square" lIns="0" tIns="0" rIns="0" bIns="0" rtlCol="0" anchor="t"/>
          <a:lstStyle/>
          <a:p>
            <a:pPr marL="0" indent="0">
              <a:buNone/>
            </a:pPr>
            <a:r>
              <a:rPr lang="en-US" sz="1500" i="1" dirty="0">
                <a:solidFill>
                  <a:srgbClr val="5B6B7F"/>
                </a:solidFill>
                <a:latin typeface="Calibri" pitchFamily="34" charset="0"/>
                <a:ea typeface="Calibri" pitchFamily="34" charset="-122"/>
                <a:cs typeface="Calibri" pitchFamily="34" charset="-120"/>
              </a:rPr>
              <a:t>Current Nexbill Transaction Foundation — the data already exists; traditional reporting is built on it and answers “What happened?”</a:t>
            </a:r>
            <a:endParaRPr lang="en-US" sz="1500" dirty="0"/>
          </a:p>
        </p:txBody>
      </p:sp>
      <p:sp>
        <p:nvSpPr>
          <p:cNvPr id="4" name="Shape 2"/>
          <p:cNvSpPr/>
          <p:nvPr/>
        </p:nvSpPr>
        <p:spPr>
          <a:xfrm>
            <a:off x="10319918" y="438912"/>
            <a:ext cx="1292962" cy="256032"/>
          </a:xfrm>
          <a:prstGeom prst="rect">
            <a:avLst/>
          </a:prstGeom>
          <a:solidFill>
            <a:srgbClr val="0B2545"/>
          </a:solidFill>
          <a:ln w="12700">
            <a:solidFill>
              <a:srgbClr val="0B2545"/>
            </a:solidFill>
            <a:prstDash val="solid"/>
          </a:ln>
        </p:spPr>
      </p:sp>
      <p:sp>
        <p:nvSpPr>
          <p:cNvPr id="5" name="Text 3"/>
          <p:cNvSpPr txBox="1"/>
          <p:nvPr/>
        </p:nvSpPr>
        <p:spPr>
          <a:xfrm>
            <a:off x="10319918" y="438912"/>
            <a:ext cx="1292962"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latin typeface="Calibri" pitchFamily="34" charset="0"/>
                <a:ea typeface="Calibri" pitchFamily="34" charset="-122"/>
                <a:cs typeface="Calibri" pitchFamily="34" charset="-120"/>
              </a:rPr>
              <a:t>CURRENT STATE</a:t>
            </a:r>
            <a:endParaRPr lang="en-US" sz="850" dirty="0"/>
          </a:p>
        </p:txBody>
      </p:sp>
      <p:sp>
        <p:nvSpPr>
          <p:cNvPr id="6" name="Shape 4"/>
          <p:cNvSpPr/>
          <p:nvPr/>
        </p:nvSpPr>
        <p:spPr>
          <a:xfrm>
            <a:off x="9756648" y="749808"/>
            <a:ext cx="1856232" cy="292608"/>
          </a:xfrm>
          <a:prstGeom prst="roundRect">
            <a:avLst>
              <a:gd name="adj" fmla="val 50000"/>
            </a:avLst>
          </a:prstGeom>
          <a:solidFill>
            <a:srgbClr val="DCE6F2"/>
          </a:solidFill>
          <a:ln w="12700">
            <a:solidFill>
              <a:srgbClr val="DCE6F2"/>
            </a:solidFill>
            <a:prstDash val="solid"/>
          </a:ln>
        </p:spPr>
      </p:sp>
      <p:sp>
        <p:nvSpPr>
          <p:cNvPr id="7" name="Text 5"/>
          <p:cNvSpPr txBox="1"/>
          <p:nvPr/>
        </p:nvSpPr>
        <p:spPr>
          <a:xfrm>
            <a:off x="9756648" y="749808"/>
            <a:ext cx="1856232" cy="292608"/>
          </a:xfrm>
          <a:prstGeom prst="rect">
            <a:avLst/>
          </a:prstGeom>
          <a:noFill/>
          <a:ln/>
        </p:spPr>
        <p:txBody>
          <a:bodyPr wrap="square" lIns="0" tIns="0" rIns="0" bIns="0" rtlCol="0" anchor="ctr"/>
          <a:lstStyle/>
          <a:p>
            <a:pPr marL="0" indent="0" algn="ctr">
              <a:buNone/>
            </a:pPr>
            <a:r>
              <a:rPr lang="en-US" sz="950" b="1" kern="0" spc="100" dirty="0">
                <a:solidFill>
                  <a:srgbClr val="0B2545"/>
                </a:solidFill>
                <a:latin typeface="Calibri" pitchFamily="34" charset="0"/>
                <a:ea typeface="Calibri" pitchFamily="34" charset="-122"/>
                <a:cs typeface="Calibri" pitchFamily="34" charset="-120"/>
              </a:rPr>
              <a:t>WHAT HAPPENED?</a:t>
            </a:r>
            <a:endParaRPr lang="en-US" sz="950" dirty="0"/>
          </a:p>
        </p:txBody>
      </p:sp>
      <p:sp>
        <p:nvSpPr>
          <p:cNvPr id="8" name="Shape 6"/>
          <p:cNvSpPr/>
          <p:nvPr/>
        </p:nvSpPr>
        <p:spPr>
          <a:xfrm>
            <a:off x="548640" y="1691640"/>
            <a:ext cx="2560320" cy="1234440"/>
          </a:xfrm>
          <a:prstGeom prst="roundRect">
            <a:avLst>
              <a:gd name="adj" fmla="val 5926"/>
            </a:avLst>
          </a:prstGeom>
          <a:solidFill>
            <a:srgbClr val="EEF3FA"/>
          </a:solidFill>
          <a:ln w="9525">
            <a:solidFill>
              <a:srgbClr val="C9D6E6"/>
            </a:solidFill>
            <a:prstDash val="solid"/>
          </a:ln>
        </p:spPr>
      </p:sp>
      <p:sp>
        <p:nvSpPr>
          <p:cNvPr id="9" name="Shape 7"/>
          <p:cNvSpPr/>
          <p:nvPr/>
        </p:nvSpPr>
        <p:spPr>
          <a:xfrm>
            <a:off x="749808" y="1892808"/>
            <a:ext cx="310896" cy="310896"/>
          </a:xfrm>
          <a:prstGeom prst="ellipse">
            <a:avLst/>
          </a:prstGeom>
          <a:solidFill>
            <a:srgbClr val="0B2545"/>
          </a:solidFill>
          <a:ln w="12700">
            <a:solidFill>
              <a:srgbClr val="0B2545"/>
            </a:solidFill>
            <a:prstDash val="solid"/>
          </a:ln>
        </p:spPr>
      </p:sp>
      <p:sp>
        <p:nvSpPr>
          <p:cNvPr id="10" name="Text 8"/>
          <p:cNvSpPr txBox="1"/>
          <p:nvPr/>
        </p:nvSpPr>
        <p:spPr>
          <a:xfrm>
            <a:off x="749808" y="189280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170432" y="1856232"/>
            <a:ext cx="1783080" cy="384048"/>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Customer</a:t>
            </a:r>
            <a:endParaRPr lang="en-US" sz="1400" dirty="0"/>
          </a:p>
        </p:txBody>
      </p:sp>
      <p:sp>
        <p:nvSpPr>
          <p:cNvPr id="12" name="Text 10"/>
          <p:cNvSpPr txBox="1"/>
          <p:nvPr/>
        </p:nvSpPr>
        <p:spPr>
          <a:xfrm>
            <a:off x="777240" y="2350008"/>
            <a:ext cx="2148840" cy="411480"/>
          </a:xfrm>
          <a:prstGeom prst="rect">
            <a:avLst/>
          </a:prstGeom>
          <a:noFill/>
          <a:ln/>
        </p:spPr>
        <p:txBody>
          <a:bodyPr wrap="square" lIns="0" tIns="0" rIns="0" bIns="0" rtlCol="0" anchor="t"/>
          <a:lstStyle/>
          <a:p>
            <a:pPr marL="0" indent="0">
              <a:buNone/>
            </a:pPr>
            <a:r>
              <a:rPr lang="en-US" sz="1050" dirty="0">
                <a:solidFill>
                  <a:srgbClr val="33475B"/>
                </a:solidFill>
                <a:latin typeface="Calibri" pitchFamily="34" charset="0"/>
                <a:ea typeface="Calibri" pitchFamily="34" charset="-122"/>
                <a:cs typeface="Calibri" pitchFamily="34" charset="-120"/>
              </a:rPr>
              <a:t>Hierarchy · Attributes</a:t>
            </a:r>
            <a:endParaRPr lang="en-US" sz="1050" dirty="0"/>
          </a:p>
        </p:txBody>
      </p:sp>
      <p:sp>
        <p:nvSpPr>
          <p:cNvPr id="13" name="Shape 11"/>
          <p:cNvSpPr/>
          <p:nvPr/>
        </p:nvSpPr>
        <p:spPr>
          <a:xfrm>
            <a:off x="3383280" y="1691640"/>
            <a:ext cx="2560320" cy="1234440"/>
          </a:xfrm>
          <a:prstGeom prst="roundRect">
            <a:avLst>
              <a:gd name="adj" fmla="val 5926"/>
            </a:avLst>
          </a:prstGeom>
          <a:solidFill>
            <a:srgbClr val="EEF3FA"/>
          </a:solidFill>
          <a:ln w="9525">
            <a:solidFill>
              <a:srgbClr val="C9D6E6"/>
            </a:solidFill>
            <a:prstDash val="solid"/>
          </a:ln>
        </p:spPr>
      </p:sp>
      <p:sp>
        <p:nvSpPr>
          <p:cNvPr id="14" name="Shape 12"/>
          <p:cNvSpPr/>
          <p:nvPr/>
        </p:nvSpPr>
        <p:spPr>
          <a:xfrm>
            <a:off x="3584448" y="1892808"/>
            <a:ext cx="310896" cy="310896"/>
          </a:xfrm>
          <a:prstGeom prst="ellipse">
            <a:avLst/>
          </a:prstGeom>
          <a:solidFill>
            <a:srgbClr val="0B2545"/>
          </a:solidFill>
          <a:ln w="12700">
            <a:solidFill>
              <a:srgbClr val="0B2545"/>
            </a:solidFill>
            <a:prstDash val="solid"/>
          </a:ln>
        </p:spPr>
      </p:sp>
      <p:sp>
        <p:nvSpPr>
          <p:cNvPr id="15" name="Text 13"/>
          <p:cNvSpPr txBox="1"/>
          <p:nvPr/>
        </p:nvSpPr>
        <p:spPr>
          <a:xfrm>
            <a:off x="3584448" y="189280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txBox="1"/>
          <p:nvPr/>
        </p:nvSpPr>
        <p:spPr>
          <a:xfrm>
            <a:off x="4005072" y="1856232"/>
            <a:ext cx="1783080" cy="384048"/>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Contract</a:t>
            </a:r>
            <a:endParaRPr lang="en-US" sz="1400" dirty="0"/>
          </a:p>
        </p:txBody>
      </p:sp>
      <p:sp>
        <p:nvSpPr>
          <p:cNvPr id="17" name="Text 15"/>
          <p:cNvSpPr txBox="1"/>
          <p:nvPr/>
        </p:nvSpPr>
        <p:spPr>
          <a:xfrm>
            <a:off x="3611880" y="2350008"/>
            <a:ext cx="2148840" cy="411480"/>
          </a:xfrm>
          <a:prstGeom prst="rect">
            <a:avLst/>
          </a:prstGeom>
          <a:noFill/>
          <a:ln/>
        </p:spPr>
        <p:txBody>
          <a:bodyPr wrap="square" lIns="0" tIns="0" rIns="0" bIns="0" rtlCol="0" anchor="t"/>
          <a:lstStyle/>
          <a:p>
            <a:pPr marL="0" indent="0">
              <a:buNone/>
            </a:pPr>
            <a:r>
              <a:rPr lang="en-US" sz="1050" dirty="0">
                <a:solidFill>
                  <a:srgbClr val="33475B"/>
                </a:solidFill>
                <a:latin typeface="Calibri" pitchFamily="34" charset="0"/>
                <a:ea typeface="Calibri" pitchFamily="34" charset="-122"/>
                <a:cs typeface="Calibri" pitchFamily="34" charset="-120"/>
              </a:rPr>
              <a:t>Lease contracts · Structures</a:t>
            </a:r>
            <a:endParaRPr lang="en-US" sz="1050" dirty="0"/>
          </a:p>
        </p:txBody>
      </p:sp>
      <p:sp>
        <p:nvSpPr>
          <p:cNvPr id="18" name="Shape 16"/>
          <p:cNvSpPr/>
          <p:nvPr/>
        </p:nvSpPr>
        <p:spPr>
          <a:xfrm>
            <a:off x="6217920" y="1691640"/>
            <a:ext cx="2560320" cy="1234440"/>
          </a:xfrm>
          <a:prstGeom prst="roundRect">
            <a:avLst>
              <a:gd name="adj" fmla="val 5926"/>
            </a:avLst>
          </a:prstGeom>
          <a:solidFill>
            <a:srgbClr val="EEF3FA"/>
          </a:solidFill>
          <a:ln w="9525">
            <a:solidFill>
              <a:srgbClr val="C9D6E6"/>
            </a:solidFill>
            <a:prstDash val="solid"/>
          </a:ln>
        </p:spPr>
      </p:sp>
      <p:sp>
        <p:nvSpPr>
          <p:cNvPr id="19" name="Shape 17"/>
          <p:cNvSpPr/>
          <p:nvPr/>
        </p:nvSpPr>
        <p:spPr>
          <a:xfrm>
            <a:off x="6419088" y="1892808"/>
            <a:ext cx="310896" cy="310896"/>
          </a:xfrm>
          <a:prstGeom prst="ellipse">
            <a:avLst/>
          </a:prstGeom>
          <a:solidFill>
            <a:srgbClr val="0B2545"/>
          </a:solidFill>
          <a:ln w="12700">
            <a:solidFill>
              <a:srgbClr val="0B2545"/>
            </a:solidFill>
            <a:prstDash val="solid"/>
          </a:ln>
        </p:spPr>
      </p:sp>
      <p:sp>
        <p:nvSpPr>
          <p:cNvPr id="20" name="Text 18"/>
          <p:cNvSpPr txBox="1"/>
          <p:nvPr/>
        </p:nvSpPr>
        <p:spPr>
          <a:xfrm>
            <a:off x="6419088" y="189280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txBox="1"/>
          <p:nvPr/>
        </p:nvSpPr>
        <p:spPr>
          <a:xfrm>
            <a:off x="6839712" y="1856232"/>
            <a:ext cx="1783080" cy="384048"/>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Asset</a:t>
            </a:r>
            <a:endParaRPr lang="en-US" sz="1400" dirty="0"/>
          </a:p>
        </p:txBody>
      </p:sp>
      <p:sp>
        <p:nvSpPr>
          <p:cNvPr id="22" name="Text 20"/>
          <p:cNvSpPr txBox="1"/>
          <p:nvPr/>
        </p:nvSpPr>
        <p:spPr>
          <a:xfrm>
            <a:off x="6446520" y="2350008"/>
            <a:ext cx="2148840" cy="411480"/>
          </a:xfrm>
          <a:prstGeom prst="rect">
            <a:avLst/>
          </a:prstGeom>
          <a:noFill/>
          <a:ln/>
        </p:spPr>
        <p:txBody>
          <a:bodyPr wrap="square" lIns="0" tIns="0" rIns="0" bIns="0" rtlCol="0" anchor="t"/>
          <a:lstStyle/>
          <a:p>
            <a:pPr marL="0" indent="0">
              <a:buNone/>
            </a:pPr>
            <a:r>
              <a:rPr lang="en-US" sz="1050" dirty="0">
                <a:solidFill>
                  <a:srgbClr val="33475B"/>
                </a:solidFill>
                <a:latin typeface="Calibri" pitchFamily="34" charset="0"/>
                <a:ea typeface="Calibri" pitchFamily="34" charset="-122"/>
                <a:cs typeface="Calibri" pitchFamily="34" charset="-120"/>
              </a:rPr>
              <a:t>Lifecycle · Status</a:t>
            </a:r>
            <a:endParaRPr lang="en-US" sz="1050" dirty="0"/>
          </a:p>
        </p:txBody>
      </p:sp>
      <p:sp>
        <p:nvSpPr>
          <p:cNvPr id="23" name="Shape 21"/>
          <p:cNvSpPr/>
          <p:nvPr/>
        </p:nvSpPr>
        <p:spPr>
          <a:xfrm>
            <a:off x="9052560" y="1691640"/>
            <a:ext cx="2560320" cy="1234440"/>
          </a:xfrm>
          <a:prstGeom prst="roundRect">
            <a:avLst>
              <a:gd name="adj" fmla="val 5926"/>
            </a:avLst>
          </a:prstGeom>
          <a:solidFill>
            <a:srgbClr val="EEF3FA"/>
          </a:solidFill>
          <a:ln w="9525">
            <a:solidFill>
              <a:srgbClr val="C9D6E6"/>
            </a:solidFill>
            <a:prstDash val="solid"/>
          </a:ln>
        </p:spPr>
      </p:sp>
      <p:sp>
        <p:nvSpPr>
          <p:cNvPr id="24" name="Shape 22"/>
          <p:cNvSpPr/>
          <p:nvPr/>
        </p:nvSpPr>
        <p:spPr>
          <a:xfrm>
            <a:off x="9253728" y="1892808"/>
            <a:ext cx="310896" cy="310896"/>
          </a:xfrm>
          <a:prstGeom prst="ellipse">
            <a:avLst/>
          </a:prstGeom>
          <a:solidFill>
            <a:srgbClr val="0B2545"/>
          </a:solidFill>
          <a:ln w="12700">
            <a:solidFill>
              <a:srgbClr val="0B2545"/>
            </a:solidFill>
            <a:prstDash val="solid"/>
          </a:ln>
        </p:spPr>
      </p:sp>
      <p:sp>
        <p:nvSpPr>
          <p:cNvPr id="25" name="Text 23"/>
          <p:cNvSpPr txBox="1"/>
          <p:nvPr/>
        </p:nvSpPr>
        <p:spPr>
          <a:xfrm>
            <a:off x="9253728" y="189280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txBox="1"/>
          <p:nvPr/>
        </p:nvSpPr>
        <p:spPr>
          <a:xfrm>
            <a:off x="9674352" y="1856232"/>
            <a:ext cx="1783080" cy="384048"/>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Tranche</a:t>
            </a:r>
            <a:endParaRPr lang="en-US" sz="1400" dirty="0"/>
          </a:p>
        </p:txBody>
      </p:sp>
      <p:sp>
        <p:nvSpPr>
          <p:cNvPr id="27" name="Text 25"/>
          <p:cNvSpPr txBox="1"/>
          <p:nvPr/>
        </p:nvSpPr>
        <p:spPr>
          <a:xfrm>
            <a:off x="9281160" y="2350008"/>
            <a:ext cx="2148840" cy="411480"/>
          </a:xfrm>
          <a:prstGeom prst="rect">
            <a:avLst/>
          </a:prstGeom>
          <a:noFill/>
          <a:ln/>
        </p:spPr>
        <p:txBody>
          <a:bodyPr wrap="square" lIns="0" tIns="0" rIns="0" bIns="0" rtlCol="0" anchor="t"/>
          <a:lstStyle/>
          <a:p>
            <a:pPr marL="0" indent="0">
              <a:buNone/>
            </a:pPr>
            <a:r>
              <a:rPr lang="en-US" sz="1050" dirty="0">
                <a:solidFill>
                  <a:srgbClr val="33475B"/>
                </a:solidFill>
                <a:latin typeface="Calibri" pitchFamily="34" charset="0"/>
                <a:ea typeface="Calibri" pitchFamily="34" charset="-122"/>
                <a:cs typeface="Calibri" pitchFamily="34" charset="-120"/>
              </a:rPr>
              <a:t>Structure · Performance</a:t>
            </a:r>
            <a:endParaRPr lang="en-US" sz="1050" dirty="0"/>
          </a:p>
        </p:txBody>
      </p:sp>
      <p:sp>
        <p:nvSpPr>
          <p:cNvPr id="28" name="Shape 26"/>
          <p:cNvSpPr/>
          <p:nvPr/>
        </p:nvSpPr>
        <p:spPr>
          <a:xfrm>
            <a:off x="548640" y="3182112"/>
            <a:ext cx="2560320" cy="1234440"/>
          </a:xfrm>
          <a:prstGeom prst="roundRect">
            <a:avLst>
              <a:gd name="adj" fmla="val 5926"/>
            </a:avLst>
          </a:prstGeom>
          <a:solidFill>
            <a:srgbClr val="EEF3FA"/>
          </a:solidFill>
          <a:ln w="9525">
            <a:solidFill>
              <a:srgbClr val="C9D6E6"/>
            </a:solidFill>
            <a:prstDash val="solid"/>
          </a:ln>
        </p:spPr>
      </p:sp>
      <p:sp>
        <p:nvSpPr>
          <p:cNvPr id="29" name="Shape 27"/>
          <p:cNvSpPr/>
          <p:nvPr/>
        </p:nvSpPr>
        <p:spPr>
          <a:xfrm>
            <a:off x="749808" y="3383280"/>
            <a:ext cx="310896" cy="310896"/>
          </a:xfrm>
          <a:prstGeom prst="ellipse">
            <a:avLst/>
          </a:prstGeom>
          <a:solidFill>
            <a:srgbClr val="0B2545"/>
          </a:solidFill>
          <a:ln w="12700">
            <a:solidFill>
              <a:srgbClr val="0B2545"/>
            </a:solidFill>
            <a:prstDash val="solid"/>
          </a:ln>
        </p:spPr>
      </p:sp>
      <p:sp>
        <p:nvSpPr>
          <p:cNvPr id="30" name="Text 28"/>
          <p:cNvSpPr txBox="1"/>
          <p:nvPr/>
        </p:nvSpPr>
        <p:spPr>
          <a:xfrm>
            <a:off x="749808" y="338328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9"/>
          <p:cNvSpPr txBox="1"/>
          <p:nvPr/>
        </p:nvSpPr>
        <p:spPr>
          <a:xfrm>
            <a:off x="1170432" y="3346704"/>
            <a:ext cx="1783080" cy="384048"/>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Billing</a:t>
            </a:r>
            <a:endParaRPr lang="en-US" sz="1400" dirty="0"/>
          </a:p>
        </p:txBody>
      </p:sp>
      <p:sp>
        <p:nvSpPr>
          <p:cNvPr id="32" name="Text 30"/>
          <p:cNvSpPr txBox="1"/>
          <p:nvPr/>
        </p:nvSpPr>
        <p:spPr>
          <a:xfrm>
            <a:off x="777240" y="3840480"/>
            <a:ext cx="2148840" cy="411480"/>
          </a:xfrm>
          <a:prstGeom prst="rect">
            <a:avLst/>
          </a:prstGeom>
          <a:noFill/>
          <a:ln/>
        </p:spPr>
        <p:txBody>
          <a:bodyPr wrap="square" lIns="0" tIns="0" rIns="0" bIns="0" rtlCol="0" anchor="t"/>
          <a:lstStyle/>
          <a:p>
            <a:pPr marL="0" indent="0">
              <a:buNone/>
            </a:pPr>
            <a:r>
              <a:rPr lang="en-US" sz="1050" dirty="0">
                <a:solidFill>
                  <a:srgbClr val="33475B"/>
                </a:solidFill>
                <a:latin typeface="Calibri" pitchFamily="34" charset="0"/>
                <a:ea typeface="Calibri" pitchFamily="34" charset="-122"/>
                <a:cs typeface="Calibri" pitchFamily="34" charset="-120"/>
              </a:rPr>
              <a:t>Billing status · History</a:t>
            </a:r>
            <a:endParaRPr lang="en-US" sz="1050" dirty="0"/>
          </a:p>
        </p:txBody>
      </p:sp>
      <p:sp>
        <p:nvSpPr>
          <p:cNvPr id="33" name="Shape 31"/>
          <p:cNvSpPr/>
          <p:nvPr/>
        </p:nvSpPr>
        <p:spPr>
          <a:xfrm>
            <a:off x="3383280" y="3182112"/>
            <a:ext cx="2560320" cy="1234440"/>
          </a:xfrm>
          <a:prstGeom prst="roundRect">
            <a:avLst>
              <a:gd name="adj" fmla="val 5926"/>
            </a:avLst>
          </a:prstGeom>
          <a:solidFill>
            <a:srgbClr val="EEF3FA"/>
          </a:solidFill>
          <a:ln w="9525">
            <a:solidFill>
              <a:srgbClr val="C9D6E6"/>
            </a:solidFill>
            <a:prstDash val="solid"/>
          </a:ln>
        </p:spPr>
      </p:sp>
      <p:sp>
        <p:nvSpPr>
          <p:cNvPr id="34" name="Shape 32"/>
          <p:cNvSpPr/>
          <p:nvPr/>
        </p:nvSpPr>
        <p:spPr>
          <a:xfrm>
            <a:off x="3584448" y="3383280"/>
            <a:ext cx="310896" cy="310896"/>
          </a:xfrm>
          <a:prstGeom prst="ellipse">
            <a:avLst/>
          </a:prstGeom>
          <a:solidFill>
            <a:srgbClr val="0B2545"/>
          </a:solidFill>
          <a:ln w="12700">
            <a:solidFill>
              <a:srgbClr val="0B2545"/>
            </a:solidFill>
            <a:prstDash val="solid"/>
          </a:ln>
        </p:spPr>
      </p:sp>
      <p:sp>
        <p:nvSpPr>
          <p:cNvPr id="35" name="Text 33"/>
          <p:cNvSpPr txBox="1"/>
          <p:nvPr/>
        </p:nvSpPr>
        <p:spPr>
          <a:xfrm>
            <a:off x="3584448" y="338328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6" name="Text 34"/>
          <p:cNvSpPr txBox="1"/>
          <p:nvPr/>
        </p:nvSpPr>
        <p:spPr>
          <a:xfrm>
            <a:off x="4005072" y="3346704"/>
            <a:ext cx="1783080" cy="384048"/>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Revenue</a:t>
            </a:r>
            <a:endParaRPr lang="en-US" sz="1400" dirty="0"/>
          </a:p>
        </p:txBody>
      </p:sp>
      <p:sp>
        <p:nvSpPr>
          <p:cNvPr id="37" name="Text 35"/>
          <p:cNvSpPr txBox="1"/>
          <p:nvPr/>
        </p:nvSpPr>
        <p:spPr>
          <a:xfrm>
            <a:off x="3611880" y="3840480"/>
            <a:ext cx="2148840" cy="411480"/>
          </a:xfrm>
          <a:prstGeom prst="rect">
            <a:avLst/>
          </a:prstGeom>
          <a:noFill/>
          <a:ln/>
        </p:spPr>
        <p:txBody>
          <a:bodyPr wrap="square" lIns="0" tIns="0" rIns="0" bIns="0" rtlCol="0" anchor="t"/>
          <a:lstStyle/>
          <a:p>
            <a:pPr marL="0" indent="0">
              <a:buNone/>
            </a:pPr>
            <a:r>
              <a:rPr lang="en-US" sz="1050" dirty="0">
                <a:solidFill>
                  <a:srgbClr val="33475B"/>
                </a:solidFill>
                <a:latin typeface="Calibri" pitchFamily="34" charset="0"/>
                <a:ea typeface="Calibri" pitchFamily="34" charset="-122"/>
                <a:cs typeface="Calibri" pitchFamily="34" charset="-120"/>
              </a:rPr>
              <a:t>Recognition · Trend</a:t>
            </a:r>
            <a:endParaRPr lang="en-US" sz="1050" dirty="0"/>
          </a:p>
        </p:txBody>
      </p:sp>
      <p:sp>
        <p:nvSpPr>
          <p:cNvPr id="38" name="Shape 36"/>
          <p:cNvSpPr/>
          <p:nvPr/>
        </p:nvSpPr>
        <p:spPr>
          <a:xfrm>
            <a:off x="6217920" y="3182112"/>
            <a:ext cx="2560320" cy="1234440"/>
          </a:xfrm>
          <a:prstGeom prst="roundRect">
            <a:avLst>
              <a:gd name="adj" fmla="val 5926"/>
            </a:avLst>
          </a:prstGeom>
          <a:solidFill>
            <a:srgbClr val="EEF3FA"/>
          </a:solidFill>
          <a:ln w="9525">
            <a:solidFill>
              <a:srgbClr val="C9D6E6"/>
            </a:solidFill>
            <a:prstDash val="solid"/>
          </a:ln>
        </p:spPr>
      </p:sp>
      <p:sp>
        <p:nvSpPr>
          <p:cNvPr id="39" name="Shape 37"/>
          <p:cNvSpPr/>
          <p:nvPr/>
        </p:nvSpPr>
        <p:spPr>
          <a:xfrm>
            <a:off x="6419088" y="3383280"/>
            <a:ext cx="310896" cy="310896"/>
          </a:xfrm>
          <a:prstGeom prst="ellipse">
            <a:avLst/>
          </a:prstGeom>
          <a:solidFill>
            <a:srgbClr val="0B2545"/>
          </a:solidFill>
          <a:ln w="12700">
            <a:solidFill>
              <a:srgbClr val="0B2545"/>
            </a:solidFill>
            <a:prstDash val="solid"/>
          </a:ln>
        </p:spPr>
      </p:sp>
      <p:sp>
        <p:nvSpPr>
          <p:cNvPr id="40" name="Text 38"/>
          <p:cNvSpPr txBox="1"/>
          <p:nvPr/>
        </p:nvSpPr>
        <p:spPr>
          <a:xfrm>
            <a:off x="6419088" y="338328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1" name="Text 39"/>
          <p:cNvSpPr txBox="1"/>
          <p:nvPr/>
        </p:nvSpPr>
        <p:spPr>
          <a:xfrm>
            <a:off x="6839712" y="3346704"/>
            <a:ext cx="1783080" cy="384048"/>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Collection</a:t>
            </a:r>
            <a:endParaRPr lang="en-US" sz="1400" dirty="0"/>
          </a:p>
        </p:txBody>
      </p:sp>
      <p:sp>
        <p:nvSpPr>
          <p:cNvPr id="42" name="Text 40"/>
          <p:cNvSpPr txBox="1"/>
          <p:nvPr/>
        </p:nvSpPr>
        <p:spPr>
          <a:xfrm>
            <a:off x="6446520" y="3840480"/>
            <a:ext cx="2148840" cy="411480"/>
          </a:xfrm>
          <a:prstGeom prst="rect">
            <a:avLst/>
          </a:prstGeom>
          <a:noFill/>
          <a:ln/>
        </p:spPr>
        <p:txBody>
          <a:bodyPr wrap="square" lIns="0" tIns="0" rIns="0" bIns="0" rtlCol="0" anchor="t"/>
          <a:lstStyle/>
          <a:p>
            <a:pPr marL="0" indent="0">
              <a:buNone/>
            </a:pPr>
            <a:r>
              <a:rPr lang="en-US" sz="1050" dirty="0">
                <a:solidFill>
                  <a:srgbClr val="33475B"/>
                </a:solidFill>
                <a:latin typeface="Calibri" pitchFamily="34" charset="0"/>
                <a:ea typeface="Calibri" pitchFamily="34" charset="-122"/>
                <a:cs typeface="Calibri" pitchFamily="34" charset="-120"/>
              </a:rPr>
              <a:t>Status · Ageing</a:t>
            </a:r>
            <a:endParaRPr lang="en-US" sz="1050" dirty="0"/>
          </a:p>
        </p:txBody>
      </p:sp>
      <p:sp>
        <p:nvSpPr>
          <p:cNvPr id="43" name="Shape 41"/>
          <p:cNvSpPr/>
          <p:nvPr/>
        </p:nvSpPr>
        <p:spPr>
          <a:xfrm>
            <a:off x="9052560" y="3182112"/>
            <a:ext cx="2560320" cy="1234440"/>
          </a:xfrm>
          <a:prstGeom prst="roundRect">
            <a:avLst>
              <a:gd name="adj" fmla="val 5926"/>
            </a:avLst>
          </a:prstGeom>
          <a:solidFill>
            <a:srgbClr val="EEF3FA"/>
          </a:solidFill>
          <a:ln w="9525">
            <a:solidFill>
              <a:srgbClr val="C9D6E6"/>
            </a:solidFill>
            <a:prstDash val="solid"/>
          </a:ln>
        </p:spPr>
      </p:sp>
      <p:sp>
        <p:nvSpPr>
          <p:cNvPr id="44" name="Shape 42"/>
          <p:cNvSpPr/>
          <p:nvPr/>
        </p:nvSpPr>
        <p:spPr>
          <a:xfrm>
            <a:off x="9253728" y="3383280"/>
            <a:ext cx="310896" cy="310896"/>
          </a:xfrm>
          <a:prstGeom prst="ellipse">
            <a:avLst/>
          </a:prstGeom>
          <a:solidFill>
            <a:srgbClr val="0B2545"/>
          </a:solidFill>
          <a:ln w="12700">
            <a:solidFill>
              <a:srgbClr val="0B2545"/>
            </a:solidFill>
            <a:prstDash val="solid"/>
          </a:ln>
        </p:spPr>
      </p:sp>
      <p:sp>
        <p:nvSpPr>
          <p:cNvPr id="45" name="Text 43"/>
          <p:cNvSpPr txBox="1"/>
          <p:nvPr/>
        </p:nvSpPr>
        <p:spPr>
          <a:xfrm>
            <a:off x="9253728" y="338328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6" name="Text 44"/>
          <p:cNvSpPr txBox="1"/>
          <p:nvPr/>
        </p:nvSpPr>
        <p:spPr>
          <a:xfrm>
            <a:off x="9674352" y="3346704"/>
            <a:ext cx="1783080" cy="384048"/>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Business Events</a:t>
            </a:r>
            <a:endParaRPr lang="en-US" sz="1400" dirty="0"/>
          </a:p>
        </p:txBody>
      </p:sp>
      <p:sp>
        <p:nvSpPr>
          <p:cNvPr id="47" name="Text 45"/>
          <p:cNvSpPr txBox="1"/>
          <p:nvPr/>
        </p:nvSpPr>
        <p:spPr>
          <a:xfrm>
            <a:off x="9281160" y="3840480"/>
            <a:ext cx="2148840" cy="411480"/>
          </a:xfrm>
          <a:prstGeom prst="rect">
            <a:avLst/>
          </a:prstGeom>
          <a:noFill/>
          <a:ln/>
        </p:spPr>
        <p:txBody>
          <a:bodyPr wrap="square" lIns="0" tIns="0" rIns="0" bIns="0" rtlCol="0" anchor="t"/>
          <a:lstStyle/>
          <a:p>
            <a:pPr marL="0" indent="0">
              <a:buNone/>
            </a:pPr>
            <a:r>
              <a:rPr lang="en-US" sz="1050" dirty="0">
                <a:solidFill>
                  <a:srgbClr val="33475B"/>
                </a:solidFill>
                <a:latin typeface="Calibri" pitchFamily="34" charset="0"/>
                <a:ea typeface="Calibri" pitchFamily="34" charset="-122"/>
                <a:cs typeface="Calibri" pitchFamily="34" charset="-120"/>
              </a:rPr>
              <a:t>Change · Rewrite · Extension</a:t>
            </a:r>
            <a:endParaRPr lang="en-US" sz="1050" dirty="0"/>
          </a:p>
        </p:txBody>
      </p:sp>
      <p:sp>
        <p:nvSpPr>
          <p:cNvPr id="48" name="Shape 46"/>
          <p:cNvSpPr/>
          <p:nvPr/>
        </p:nvSpPr>
        <p:spPr>
          <a:xfrm>
            <a:off x="548640" y="4617720"/>
            <a:ext cx="11064240" cy="384048"/>
          </a:xfrm>
          <a:prstGeom prst="rect">
            <a:avLst/>
          </a:prstGeom>
          <a:solidFill>
            <a:srgbClr val="0B2545"/>
          </a:solidFill>
          <a:ln w="12700">
            <a:solidFill>
              <a:srgbClr val="0B2545"/>
            </a:solidFill>
            <a:prstDash val="solid"/>
          </a:ln>
        </p:spPr>
      </p:sp>
      <p:sp>
        <p:nvSpPr>
          <p:cNvPr id="49" name="Text 47"/>
          <p:cNvSpPr txBox="1"/>
          <p:nvPr/>
        </p:nvSpPr>
        <p:spPr>
          <a:xfrm>
            <a:off x="548640" y="4617720"/>
            <a:ext cx="11064240" cy="384048"/>
          </a:xfrm>
          <a:prstGeom prst="rect">
            <a:avLst/>
          </a:prstGeom>
          <a:noFill/>
          <a:ln/>
        </p:spPr>
        <p:txBody>
          <a:bodyPr wrap="square" lIns="0" tIns="0" rIns="0" bIns="0" rtlCol="0" anchor="ctr"/>
          <a:lstStyle/>
          <a:p>
            <a:pPr marL="0" indent="0" algn="ctr">
              <a:buNone/>
            </a:pPr>
            <a:r>
              <a:rPr lang="en-US" sz="1050" b="1" kern="0" spc="200" dirty="0">
                <a:solidFill>
                  <a:srgbClr val="FFFFFF"/>
                </a:solidFill>
                <a:latin typeface="Calibri" pitchFamily="34" charset="0"/>
                <a:ea typeface="Calibri" pitchFamily="34" charset="-122"/>
                <a:cs typeface="Calibri" pitchFamily="34" charset="-120"/>
              </a:rPr>
              <a:t>NEXBILL TRANSACTION DATA FOUNDATION  —  NO NEW DATA COLLECTION REQUIRED TO START</a:t>
            </a:r>
            <a:endParaRPr lang="en-US" sz="1050" dirty="0"/>
          </a:p>
        </p:txBody>
      </p:sp>
      <p:sp>
        <p:nvSpPr>
          <p:cNvPr id="50" name="Shape 48"/>
          <p:cNvSpPr/>
          <p:nvPr/>
        </p:nvSpPr>
        <p:spPr>
          <a:xfrm>
            <a:off x="548640" y="5257800"/>
            <a:ext cx="11064240" cy="731520"/>
          </a:xfrm>
          <a:prstGeom prst="rect">
            <a:avLst/>
          </a:prstGeom>
          <a:solidFill>
            <a:srgbClr val="DCE6F2"/>
          </a:solidFill>
          <a:ln w="12700">
            <a:solidFill>
              <a:srgbClr val="DCE6F2"/>
            </a:solidFill>
            <a:prstDash val="solid"/>
          </a:ln>
        </p:spPr>
      </p:sp>
      <p:sp>
        <p:nvSpPr>
          <p:cNvPr id="51" name="Text 49"/>
          <p:cNvSpPr txBox="1"/>
          <p:nvPr/>
        </p:nvSpPr>
        <p:spPr>
          <a:xfrm>
            <a:off x="777240" y="5257800"/>
            <a:ext cx="10607040" cy="731520"/>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Nexbill already contains the transaction data foundation required for AI. </a:t>
            </a:r>
            <a:r>
              <a:rPr lang="en-US" sz="1200" dirty="0">
                <a:solidFill>
                  <a:srgbClr val="33475B"/>
                </a:solidFill>
                <a:latin typeface="Calibri" pitchFamily="34" charset="0"/>
                <a:ea typeface="Calibri" pitchFamily="34" charset="-122"/>
                <a:cs typeface="Calibri" pitchFamily="34" charset="-120"/>
              </a:rPr>
              <a:t>Traditional reporting is built on this data and answers “What happened?” — the layers ahead answer why, what will happen, and what to do.</a:t>
            </a:r>
            <a:endParaRPr lang="en-US" sz="1200" dirty="0"/>
          </a:p>
        </p:txBody>
      </p:sp>
      <p:sp>
        <p:nvSpPr>
          <p:cNvPr id="52" name="Text 50"/>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900" dirty="0">
                <a:solidFill>
                  <a:srgbClr val="9AA8B8"/>
                </a:solidFill>
                <a:latin typeface="Calibri" pitchFamily="34" charset="0"/>
                <a:ea typeface="Calibri" pitchFamily="34" charset="-122"/>
                <a:cs typeface="Calibri" pitchFamily="34" charset="-120"/>
              </a:rPr>
              <a:t>Nexbill Financial Intelligence Platform</a:t>
            </a:r>
            <a:endParaRPr lang="en-US" sz="900" dirty="0"/>
          </a:p>
        </p:txBody>
      </p:sp>
      <p:sp>
        <p:nvSpPr>
          <p:cNvPr id="53" name="Text 51"/>
          <p:cNvSpPr txBox="1"/>
          <p:nvPr/>
        </p:nvSpPr>
        <p:spPr>
          <a:xfrm>
            <a:off x="11064240" y="6400800"/>
            <a:ext cx="548640" cy="274320"/>
          </a:xfrm>
          <a:prstGeom prst="rect">
            <a:avLst/>
          </a:prstGeom>
          <a:noFill/>
          <a:ln/>
        </p:spPr>
        <p:txBody>
          <a:bodyPr wrap="square" lIns="0" tIns="0" rIns="0" bIns="0" rtlCol="0" anchor="ctr"/>
          <a:lstStyle/>
          <a:p>
            <a:pPr marL="0" indent="0" algn="r">
              <a:buNone/>
            </a:pPr>
            <a:r>
              <a:rPr lang="en-US" sz="900" dirty="0">
                <a:solidFill>
                  <a:srgbClr val="9AA8B8"/>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Nexbill Finance Intelligence Framework</a:t>
            </a:r>
            <a:endParaRPr lang="en-US" sz="3000" dirty="0"/>
          </a:p>
        </p:txBody>
      </p:sp>
      <p:sp>
        <p:nvSpPr>
          <p:cNvPr id="3" name="Text 1"/>
          <p:cNvSpPr txBox="1"/>
          <p:nvPr/>
        </p:nvSpPr>
        <p:spPr>
          <a:xfrm>
            <a:off x="548640" y="1078992"/>
            <a:ext cx="8595360" cy="502920"/>
          </a:xfrm>
          <a:prstGeom prst="rect">
            <a:avLst/>
          </a:prstGeom>
          <a:noFill/>
          <a:ln/>
        </p:spPr>
        <p:txBody>
          <a:bodyPr wrap="square" lIns="0" tIns="0" rIns="0" bIns="0" rtlCol="0" anchor="t"/>
          <a:lstStyle/>
          <a:p>
            <a:pPr marL="0" indent="0">
              <a:buNone/>
            </a:pPr>
            <a:r>
              <a:rPr lang="en-US" sz="1500" i="1" dirty="0">
                <a:solidFill>
                  <a:srgbClr val="5B6B7F"/>
                </a:solidFill>
                <a:latin typeface="Calibri" pitchFamily="34" charset="0"/>
                <a:ea typeface="Calibri" pitchFamily="34" charset="-122"/>
                <a:cs typeface="Calibri" pitchFamily="34" charset="-120"/>
              </a:rPr>
              <a:t>One framework: each layer builds on the one below and answers a harder question for Finance.</a:t>
            </a:r>
            <a:endParaRPr lang="en-US" sz="1500" dirty="0"/>
          </a:p>
        </p:txBody>
      </p:sp>
      <p:sp>
        <p:nvSpPr>
          <p:cNvPr id="4" name="Shape 2"/>
          <p:cNvSpPr/>
          <p:nvPr/>
        </p:nvSpPr>
        <p:spPr>
          <a:xfrm>
            <a:off x="10034626" y="438912"/>
            <a:ext cx="1578254" cy="256032"/>
          </a:xfrm>
          <a:prstGeom prst="rect">
            <a:avLst/>
          </a:prstGeom>
          <a:solidFill>
            <a:srgbClr val="0B2545"/>
          </a:solidFill>
          <a:ln w="12700">
            <a:solidFill>
              <a:srgbClr val="0B2545"/>
            </a:solidFill>
            <a:prstDash val="solid"/>
          </a:ln>
        </p:spPr>
      </p:sp>
      <p:sp>
        <p:nvSpPr>
          <p:cNvPr id="5" name="Text 3"/>
          <p:cNvSpPr txBox="1"/>
          <p:nvPr/>
        </p:nvSpPr>
        <p:spPr>
          <a:xfrm>
            <a:off x="10034626" y="438912"/>
            <a:ext cx="1578254"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latin typeface="Calibri" pitchFamily="34" charset="0"/>
                <a:ea typeface="Calibri" pitchFamily="34" charset="-122"/>
                <a:cs typeface="Calibri" pitchFamily="34" charset="-120"/>
              </a:rPr>
              <a:t>EXECUTIVE SUMMARY</a:t>
            </a:r>
            <a:endParaRPr lang="en-US" sz="850" dirty="0"/>
          </a:p>
        </p:txBody>
      </p:sp>
      <p:sp>
        <p:nvSpPr>
          <p:cNvPr id="6" name="Shape 4"/>
          <p:cNvSpPr/>
          <p:nvPr/>
        </p:nvSpPr>
        <p:spPr>
          <a:xfrm>
            <a:off x="548640" y="1627632"/>
            <a:ext cx="11064240" cy="566928"/>
          </a:xfrm>
          <a:prstGeom prst="rect">
            <a:avLst/>
          </a:prstGeom>
          <a:solidFill>
            <a:srgbClr val="0B2545"/>
          </a:solidFill>
          <a:ln w="12700">
            <a:solidFill>
              <a:srgbClr val="0B2545"/>
            </a:solidFill>
            <a:prstDash val="solid"/>
          </a:ln>
        </p:spPr>
      </p:sp>
      <p:sp>
        <p:nvSpPr>
          <p:cNvPr id="7" name="Text 5"/>
          <p:cNvSpPr txBox="1"/>
          <p:nvPr/>
        </p:nvSpPr>
        <p:spPr>
          <a:xfrm>
            <a:off x="713232" y="1627632"/>
            <a:ext cx="2468880" cy="566928"/>
          </a:xfrm>
          <a:prstGeom prst="rect">
            <a:avLst/>
          </a:prstGeom>
          <a:noFill/>
          <a:ln/>
        </p:spPr>
        <p:txBody>
          <a:bodyPr wrap="square" lIns="0" tIns="0" rIns="0" bIns="0" rtlCol="0" anchor="ctr"/>
          <a:lstStyle/>
          <a:p>
            <a:pPr marL="0" indent="0">
              <a:buNone/>
            </a:pPr>
            <a:r>
              <a:rPr lang="en-US" sz="1100" b="1" kern="0" spc="200" dirty="0">
                <a:solidFill>
                  <a:srgbClr val="8DA9C4"/>
                </a:solidFill>
                <a:latin typeface="Calibri" pitchFamily="34" charset="0"/>
                <a:ea typeface="Calibri" pitchFamily="34" charset="-122"/>
                <a:cs typeface="Calibri" pitchFamily="34" charset="-120"/>
              </a:rPr>
              <a:t>BUSINESS IMPACT</a:t>
            </a:r>
            <a:endParaRPr lang="en-US" sz="1100" dirty="0"/>
          </a:p>
        </p:txBody>
      </p:sp>
      <p:sp>
        <p:nvSpPr>
          <p:cNvPr id="8" name="Shape 6"/>
          <p:cNvSpPr/>
          <p:nvPr/>
        </p:nvSpPr>
        <p:spPr>
          <a:xfrm>
            <a:off x="3474720" y="1746504"/>
            <a:ext cx="1280160" cy="329184"/>
          </a:xfrm>
          <a:prstGeom prst="roundRect">
            <a:avLst>
              <a:gd name="adj" fmla="val 19444"/>
            </a:avLst>
          </a:prstGeom>
          <a:solidFill>
            <a:srgbClr val="1F4E8C"/>
          </a:solidFill>
          <a:ln w="12700">
            <a:solidFill>
              <a:srgbClr val="1F4E8C"/>
            </a:solidFill>
            <a:prstDash val="solid"/>
          </a:ln>
        </p:spPr>
      </p:sp>
      <p:sp>
        <p:nvSpPr>
          <p:cNvPr id="9" name="Text 7"/>
          <p:cNvSpPr txBox="1"/>
          <p:nvPr/>
        </p:nvSpPr>
        <p:spPr>
          <a:xfrm>
            <a:off x="3474720" y="1746504"/>
            <a:ext cx="128016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Reporting</a:t>
            </a:r>
            <a:endParaRPr lang="en-US" sz="1000" dirty="0"/>
          </a:p>
        </p:txBody>
      </p:sp>
      <p:sp>
        <p:nvSpPr>
          <p:cNvPr id="10" name="Shape 8"/>
          <p:cNvSpPr/>
          <p:nvPr/>
        </p:nvSpPr>
        <p:spPr>
          <a:xfrm>
            <a:off x="4818888" y="1828800"/>
            <a:ext cx="164592" cy="164592"/>
          </a:xfrm>
          <a:prstGeom prst="rightArrow">
            <a:avLst/>
          </a:prstGeom>
          <a:solidFill>
            <a:srgbClr val="8DA9C4"/>
          </a:solidFill>
          <a:ln w="12700">
            <a:solidFill>
              <a:srgbClr val="8DA9C4"/>
            </a:solidFill>
            <a:prstDash val="solid"/>
          </a:ln>
        </p:spPr>
      </p:sp>
      <p:sp>
        <p:nvSpPr>
          <p:cNvPr id="11" name="Shape 9"/>
          <p:cNvSpPr/>
          <p:nvPr/>
        </p:nvSpPr>
        <p:spPr>
          <a:xfrm>
            <a:off x="5010912" y="1746504"/>
            <a:ext cx="1280160" cy="329184"/>
          </a:xfrm>
          <a:prstGeom prst="roundRect">
            <a:avLst>
              <a:gd name="adj" fmla="val 19444"/>
            </a:avLst>
          </a:prstGeom>
          <a:solidFill>
            <a:srgbClr val="2A63AD"/>
          </a:solidFill>
          <a:ln w="12700">
            <a:solidFill>
              <a:srgbClr val="2A63AD"/>
            </a:solidFill>
            <a:prstDash val="solid"/>
          </a:ln>
        </p:spPr>
      </p:sp>
      <p:sp>
        <p:nvSpPr>
          <p:cNvPr id="12" name="Text 10"/>
          <p:cNvSpPr txBox="1"/>
          <p:nvPr/>
        </p:nvSpPr>
        <p:spPr>
          <a:xfrm>
            <a:off x="5010912" y="1746504"/>
            <a:ext cx="128016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Insight</a:t>
            </a:r>
            <a:endParaRPr lang="en-US" sz="1000" dirty="0"/>
          </a:p>
        </p:txBody>
      </p:sp>
      <p:sp>
        <p:nvSpPr>
          <p:cNvPr id="13" name="Shape 11"/>
          <p:cNvSpPr/>
          <p:nvPr/>
        </p:nvSpPr>
        <p:spPr>
          <a:xfrm>
            <a:off x="6355080" y="1828800"/>
            <a:ext cx="164592" cy="164592"/>
          </a:xfrm>
          <a:prstGeom prst="rightArrow">
            <a:avLst/>
          </a:prstGeom>
          <a:solidFill>
            <a:srgbClr val="8DA9C4"/>
          </a:solidFill>
          <a:ln w="12700">
            <a:solidFill>
              <a:srgbClr val="8DA9C4"/>
            </a:solidFill>
            <a:prstDash val="solid"/>
          </a:ln>
        </p:spPr>
      </p:sp>
      <p:sp>
        <p:nvSpPr>
          <p:cNvPr id="14" name="Shape 12"/>
          <p:cNvSpPr/>
          <p:nvPr/>
        </p:nvSpPr>
        <p:spPr>
          <a:xfrm>
            <a:off x="6547104" y="1746504"/>
            <a:ext cx="1280160" cy="329184"/>
          </a:xfrm>
          <a:prstGeom prst="roundRect">
            <a:avLst>
              <a:gd name="adj" fmla="val 19444"/>
            </a:avLst>
          </a:prstGeom>
          <a:solidFill>
            <a:srgbClr val="3E7CC9"/>
          </a:solidFill>
          <a:ln w="12700">
            <a:solidFill>
              <a:srgbClr val="3E7CC9"/>
            </a:solidFill>
            <a:prstDash val="solid"/>
          </a:ln>
        </p:spPr>
      </p:sp>
      <p:sp>
        <p:nvSpPr>
          <p:cNvPr id="15" name="Text 13"/>
          <p:cNvSpPr txBox="1"/>
          <p:nvPr/>
        </p:nvSpPr>
        <p:spPr>
          <a:xfrm>
            <a:off x="6547104" y="1746504"/>
            <a:ext cx="128016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Prediction</a:t>
            </a:r>
            <a:endParaRPr lang="en-US" sz="1000" dirty="0"/>
          </a:p>
        </p:txBody>
      </p:sp>
      <p:sp>
        <p:nvSpPr>
          <p:cNvPr id="16" name="Shape 14"/>
          <p:cNvSpPr/>
          <p:nvPr/>
        </p:nvSpPr>
        <p:spPr>
          <a:xfrm>
            <a:off x="7891272" y="1828800"/>
            <a:ext cx="164592" cy="164592"/>
          </a:xfrm>
          <a:prstGeom prst="rightArrow">
            <a:avLst/>
          </a:prstGeom>
          <a:solidFill>
            <a:srgbClr val="8DA9C4"/>
          </a:solidFill>
          <a:ln w="12700">
            <a:solidFill>
              <a:srgbClr val="8DA9C4"/>
            </a:solidFill>
            <a:prstDash val="solid"/>
          </a:ln>
        </p:spPr>
      </p:sp>
      <p:sp>
        <p:nvSpPr>
          <p:cNvPr id="17" name="Shape 15"/>
          <p:cNvSpPr/>
          <p:nvPr/>
        </p:nvSpPr>
        <p:spPr>
          <a:xfrm>
            <a:off x="8083296" y="1746504"/>
            <a:ext cx="1280160" cy="329184"/>
          </a:xfrm>
          <a:prstGeom prst="roundRect">
            <a:avLst>
              <a:gd name="adj" fmla="val 19444"/>
            </a:avLst>
          </a:prstGeom>
          <a:solidFill>
            <a:srgbClr val="5B95DD"/>
          </a:solidFill>
          <a:ln w="12700">
            <a:solidFill>
              <a:srgbClr val="5B95DD"/>
            </a:solidFill>
            <a:prstDash val="solid"/>
          </a:ln>
        </p:spPr>
      </p:sp>
      <p:sp>
        <p:nvSpPr>
          <p:cNvPr id="18" name="Text 16"/>
          <p:cNvSpPr txBox="1"/>
          <p:nvPr/>
        </p:nvSpPr>
        <p:spPr>
          <a:xfrm>
            <a:off x="8083296" y="1746504"/>
            <a:ext cx="128016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Decision</a:t>
            </a:r>
            <a:endParaRPr lang="en-US" sz="1000" dirty="0"/>
          </a:p>
        </p:txBody>
      </p:sp>
      <p:sp>
        <p:nvSpPr>
          <p:cNvPr id="19" name="Text 17"/>
          <p:cNvSpPr txBox="1"/>
          <p:nvPr/>
        </p:nvSpPr>
        <p:spPr>
          <a:xfrm>
            <a:off x="9692640" y="1627632"/>
            <a:ext cx="1783080" cy="566928"/>
          </a:xfrm>
          <a:prstGeom prst="rect">
            <a:avLst/>
          </a:prstGeom>
          <a:noFill/>
          <a:ln/>
        </p:spPr>
        <p:txBody>
          <a:bodyPr wrap="square" lIns="0" tIns="0" rIns="0" bIns="0" rtlCol="0" anchor="ctr"/>
          <a:lstStyle/>
          <a:p>
            <a:pPr marL="0" indent="0">
              <a:buNone/>
            </a:pPr>
            <a:r>
              <a:rPr lang="en-US" sz="900" i="1" dirty="0">
                <a:solidFill>
                  <a:srgbClr val="D9E4F2"/>
                </a:solidFill>
                <a:latin typeface="Calibri" pitchFamily="34" charset="0"/>
                <a:ea typeface="Calibri" pitchFamily="34" charset="-122"/>
                <a:cs typeface="Calibri" pitchFamily="34" charset="-120"/>
              </a:rPr>
              <a:t>Finance evolves from explaining the past to influencing the future.</a:t>
            </a:r>
            <a:endParaRPr lang="en-US" sz="900" dirty="0"/>
          </a:p>
        </p:txBody>
      </p:sp>
      <p:sp>
        <p:nvSpPr>
          <p:cNvPr id="20" name="Shape 18"/>
          <p:cNvSpPr/>
          <p:nvPr/>
        </p:nvSpPr>
        <p:spPr>
          <a:xfrm>
            <a:off x="548640" y="2267712"/>
            <a:ext cx="2743200" cy="713232"/>
          </a:xfrm>
          <a:prstGeom prst="rect">
            <a:avLst/>
          </a:prstGeom>
          <a:solidFill>
            <a:srgbClr val="5B95DD"/>
          </a:solidFill>
          <a:ln w="12700">
            <a:solidFill>
              <a:srgbClr val="5B95DD"/>
            </a:solidFill>
            <a:prstDash val="solid"/>
          </a:ln>
        </p:spPr>
      </p:sp>
      <p:sp>
        <p:nvSpPr>
          <p:cNvPr id="21" name="Text 19"/>
          <p:cNvSpPr txBox="1"/>
          <p:nvPr/>
        </p:nvSpPr>
        <p:spPr>
          <a:xfrm>
            <a:off x="713232" y="2322576"/>
            <a:ext cx="246888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Finance Decision Support</a:t>
            </a:r>
            <a:endParaRPr lang="en-US" sz="1250" dirty="0"/>
          </a:p>
        </p:txBody>
      </p:sp>
      <p:sp>
        <p:nvSpPr>
          <p:cNvPr id="22" name="Text 20"/>
          <p:cNvSpPr txBox="1"/>
          <p:nvPr/>
        </p:nvSpPr>
        <p:spPr>
          <a:xfrm>
            <a:off x="713232" y="2578608"/>
            <a:ext cx="2468880" cy="201168"/>
          </a:xfrm>
          <a:prstGeom prst="rect">
            <a:avLst/>
          </a:prstGeom>
          <a:noFill/>
          <a:ln/>
        </p:spPr>
        <p:txBody>
          <a:bodyPr wrap="square" lIns="0" tIns="0" rIns="0" bIns="0" rtlCol="0" anchor="ctr"/>
          <a:lstStyle/>
          <a:p>
            <a:pPr marL="0" indent="0">
              <a:buNone/>
            </a:pPr>
            <a:r>
              <a:rPr lang="en-US" sz="950" i="1" dirty="0">
                <a:solidFill>
                  <a:srgbClr val="C9D9EE"/>
                </a:solidFill>
                <a:latin typeface="Calibri" pitchFamily="34" charset="0"/>
                <a:ea typeface="Calibri" pitchFamily="34" charset="-122"/>
                <a:cs typeface="Calibri" pitchFamily="34" charset="-120"/>
              </a:rPr>
              <a:t>What should we do?</a:t>
            </a:r>
            <a:endParaRPr lang="en-US" sz="950" dirty="0"/>
          </a:p>
        </p:txBody>
      </p:sp>
      <p:sp>
        <p:nvSpPr>
          <p:cNvPr id="23" name="Shape 21"/>
          <p:cNvSpPr/>
          <p:nvPr/>
        </p:nvSpPr>
        <p:spPr>
          <a:xfrm>
            <a:off x="3291840" y="2267712"/>
            <a:ext cx="8321040" cy="713232"/>
          </a:xfrm>
          <a:prstGeom prst="rect">
            <a:avLst/>
          </a:prstGeom>
          <a:solidFill>
            <a:srgbClr val="EEF3FA"/>
          </a:solidFill>
          <a:ln w="9525">
            <a:solidFill>
              <a:srgbClr val="C9D6E6"/>
            </a:solidFill>
            <a:prstDash val="solid"/>
          </a:ln>
        </p:spPr>
      </p:sp>
      <p:sp>
        <p:nvSpPr>
          <p:cNvPr id="24" name="Shape 22"/>
          <p:cNvSpPr/>
          <p:nvPr/>
        </p:nvSpPr>
        <p:spPr>
          <a:xfrm>
            <a:off x="9659722" y="2514600"/>
            <a:ext cx="1788566" cy="219456"/>
          </a:xfrm>
          <a:prstGeom prst="roundRect">
            <a:avLst>
              <a:gd name="adj" fmla="val 50000"/>
            </a:avLst>
          </a:prstGeom>
          <a:solidFill>
            <a:srgbClr val="5B95DD"/>
          </a:solidFill>
          <a:ln w="12700">
            <a:solidFill>
              <a:srgbClr val="5B95DD"/>
            </a:solidFill>
            <a:prstDash val="solid"/>
          </a:ln>
        </p:spPr>
      </p:sp>
      <p:sp>
        <p:nvSpPr>
          <p:cNvPr id="25" name="Text 23"/>
          <p:cNvSpPr txBox="1"/>
          <p:nvPr/>
        </p:nvSpPr>
        <p:spPr>
          <a:xfrm>
            <a:off x="9659722" y="2514600"/>
            <a:ext cx="1788566" cy="219456"/>
          </a:xfrm>
          <a:prstGeom prst="rect">
            <a:avLst/>
          </a:prstGeom>
          <a:noFill/>
          <a:ln/>
        </p:spPr>
        <p:txBody>
          <a:bodyPr wrap="square" lIns="0" tIns="0" rIns="0" bIns="0" rtlCol="0" anchor="ctr"/>
          <a:lstStyle/>
          <a:p>
            <a:pPr marL="0" indent="0" algn="ctr">
              <a:buNone/>
            </a:pPr>
            <a:r>
              <a:rPr lang="en-US" sz="700" b="1" kern="0" spc="100" dirty="0">
                <a:solidFill>
                  <a:srgbClr val="FFFFFF"/>
                </a:solidFill>
                <a:latin typeface="Calibri" pitchFamily="34" charset="0"/>
                <a:ea typeface="Calibri" pitchFamily="34" charset="-122"/>
                <a:cs typeface="Calibri" pitchFamily="34" charset="-120"/>
              </a:rPr>
              <a:t>AI RECOMMENDATION LAYER</a:t>
            </a:r>
            <a:endParaRPr lang="en-US" sz="700" dirty="0"/>
          </a:p>
        </p:txBody>
      </p:sp>
      <p:sp>
        <p:nvSpPr>
          <p:cNvPr id="26" name="Shape 24"/>
          <p:cNvSpPr/>
          <p:nvPr/>
        </p:nvSpPr>
        <p:spPr>
          <a:xfrm>
            <a:off x="3456432" y="2432304"/>
            <a:ext cx="1130930" cy="384048"/>
          </a:xfrm>
          <a:prstGeom prst="roundRect">
            <a:avLst>
              <a:gd name="adj" fmla="val 23810"/>
            </a:avLst>
          </a:prstGeom>
          <a:solidFill>
            <a:srgbClr val="FFFFFF"/>
          </a:solidFill>
          <a:ln w="12700">
            <a:solidFill>
              <a:srgbClr val="5B95DD"/>
            </a:solidFill>
            <a:prstDash val="solid"/>
          </a:ln>
        </p:spPr>
      </p:sp>
      <p:sp>
        <p:nvSpPr>
          <p:cNvPr id="27" name="Text 25"/>
          <p:cNvSpPr txBox="1"/>
          <p:nvPr/>
        </p:nvSpPr>
        <p:spPr>
          <a:xfrm>
            <a:off x="3493008" y="2432304"/>
            <a:ext cx="1057778" cy="384048"/>
          </a:xfrm>
          <a:prstGeom prst="rect">
            <a:avLst/>
          </a:prstGeom>
          <a:noFill/>
          <a:ln/>
        </p:spPr>
        <p:txBody>
          <a:bodyPr wrap="square" lIns="0" tIns="0" rIns="0" bIns="0" rtlCol="0" anchor="ctr"/>
          <a:lstStyle/>
          <a:p>
            <a:pPr marL="0" indent="0" algn="ctr">
              <a:buNone/>
            </a:pPr>
            <a:r>
              <a:rPr lang="en-US" sz="900" dirty="0">
                <a:solidFill>
                  <a:srgbClr val="0B2545"/>
                </a:solidFill>
                <a:latin typeface="Calibri" pitchFamily="34" charset="0"/>
                <a:ea typeface="Calibri" pitchFamily="34" charset="-122"/>
                <a:cs typeface="Calibri" pitchFamily="34" charset="-120"/>
              </a:rPr>
              <a:t>Retention Strategy</a:t>
            </a:r>
            <a:endParaRPr lang="en-US" sz="900" dirty="0"/>
          </a:p>
        </p:txBody>
      </p:sp>
      <p:sp>
        <p:nvSpPr>
          <p:cNvPr id="28" name="Shape 26"/>
          <p:cNvSpPr/>
          <p:nvPr/>
        </p:nvSpPr>
        <p:spPr>
          <a:xfrm>
            <a:off x="4678802" y="2432304"/>
            <a:ext cx="1130930" cy="384048"/>
          </a:xfrm>
          <a:prstGeom prst="roundRect">
            <a:avLst>
              <a:gd name="adj" fmla="val 23810"/>
            </a:avLst>
          </a:prstGeom>
          <a:solidFill>
            <a:srgbClr val="FFFFFF"/>
          </a:solidFill>
          <a:ln w="12700">
            <a:solidFill>
              <a:srgbClr val="5B95DD"/>
            </a:solidFill>
            <a:prstDash val="solid"/>
          </a:ln>
        </p:spPr>
      </p:sp>
      <p:sp>
        <p:nvSpPr>
          <p:cNvPr id="29" name="Text 27"/>
          <p:cNvSpPr txBox="1"/>
          <p:nvPr/>
        </p:nvSpPr>
        <p:spPr>
          <a:xfrm>
            <a:off x="4715378" y="2432304"/>
            <a:ext cx="1057778" cy="384048"/>
          </a:xfrm>
          <a:prstGeom prst="rect">
            <a:avLst/>
          </a:prstGeom>
          <a:noFill/>
          <a:ln/>
        </p:spPr>
        <p:txBody>
          <a:bodyPr wrap="square" lIns="0" tIns="0" rIns="0" bIns="0" rtlCol="0" anchor="ctr"/>
          <a:lstStyle/>
          <a:p>
            <a:pPr marL="0" indent="0" algn="ctr">
              <a:buNone/>
            </a:pPr>
            <a:r>
              <a:rPr lang="en-US" sz="900" dirty="0">
                <a:solidFill>
                  <a:srgbClr val="0B2545"/>
                </a:solidFill>
                <a:latin typeface="Calibri" pitchFamily="34" charset="0"/>
                <a:ea typeface="Calibri" pitchFamily="34" charset="-122"/>
                <a:cs typeface="Calibri" pitchFamily="34" charset="-120"/>
              </a:rPr>
              <a:t>Pricing Decisions</a:t>
            </a:r>
            <a:endParaRPr lang="en-US" sz="900" dirty="0"/>
          </a:p>
        </p:txBody>
      </p:sp>
      <p:sp>
        <p:nvSpPr>
          <p:cNvPr id="30" name="Shape 28"/>
          <p:cNvSpPr/>
          <p:nvPr/>
        </p:nvSpPr>
        <p:spPr>
          <a:xfrm>
            <a:off x="5901172" y="2432304"/>
            <a:ext cx="1130930" cy="384048"/>
          </a:xfrm>
          <a:prstGeom prst="roundRect">
            <a:avLst>
              <a:gd name="adj" fmla="val 23810"/>
            </a:avLst>
          </a:prstGeom>
          <a:solidFill>
            <a:srgbClr val="FFFFFF"/>
          </a:solidFill>
          <a:ln w="12700">
            <a:solidFill>
              <a:srgbClr val="5B95DD"/>
            </a:solidFill>
            <a:prstDash val="solid"/>
          </a:ln>
        </p:spPr>
      </p:sp>
      <p:sp>
        <p:nvSpPr>
          <p:cNvPr id="31" name="Text 29"/>
          <p:cNvSpPr txBox="1"/>
          <p:nvPr/>
        </p:nvSpPr>
        <p:spPr>
          <a:xfrm>
            <a:off x="5937748" y="2432304"/>
            <a:ext cx="1057778" cy="384048"/>
          </a:xfrm>
          <a:prstGeom prst="rect">
            <a:avLst/>
          </a:prstGeom>
          <a:noFill/>
          <a:ln/>
        </p:spPr>
        <p:txBody>
          <a:bodyPr wrap="square" lIns="0" tIns="0" rIns="0" bIns="0" rtlCol="0" anchor="ctr"/>
          <a:lstStyle/>
          <a:p>
            <a:pPr marL="0" indent="0" algn="ctr">
              <a:buNone/>
            </a:pPr>
            <a:r>
              <a:rPr lang="en-US" sz="900" dirty="0">
                <a:solidFill>
                  <a:srgbClr val="0B2545"/>
                </a:solidFill>
                <a:latin typeface="Calibri" pitchFamily="34" charset="0"/>
                <a:ea typeface="Calibri" pitchFamily="34" charset="-122"/>
                <a:cs typeface="Calibri" pitchFamily="34" charset="-120"/>
              </a:rPr>
              <a:t>Renewal Decisions</a:t>
            </a:r>
            <a:endParaRPr lang="en-US" sz="900" dirty="0"/>
          </a:p>
        </p:txBody>
      </p:sp>
      <p:sp>
        <p:nvSpPr>
          <p:cNvPr id="32" name="Shape 30"/>
          <p:cNvSpPr/>
          <p:nvPr/>
        </p:nvSpPr>
        <p:spPr>
          <a:xfrm>
            <a:off x="7123542" y="2432304"/>
            <a:ext cx="1130930" cy="384048"/>
          </a:xfrm>
          <a:prstGeom prst="roundRect">
            <a:avLst>
              <a:gd name="adj" fmla="val 23810"/>
            </a:avLst>
          </a:prstGeom>
          <a:solidFill>
            <a:srgbClr val="FFFFFF"/>
          </a:solidFill>
          <a:ln w="12700">
            <a:solidFill>
              <a:srgbClr val="5B95DD"/>
            </a:solidFill>
            <a:prstDash val="solid"/>
          </a:ln>
        </p:spPr>
      </p:sp>
      <p:sp>
        <p:nvSpPr>
          <p:cNvPr id="33" name="Text 31"/>
          <p:cNvSpPr txBox="1"/>
          <p:nvPr/>
        </p:nvSpPr>
        <p:spPr>
          <a:xfrm>
            <a:off x="7160118" y="2432304"/>
            <a:ext cx="1057778" cy="384048"/>
          </a:xfrm>
          <a:prstGeom prst="rect">
            <a:avLst/>
          </a:prstGeom>
          <a:noFill/>
          <a:ln/>
        </p:spPr>
        <p:txBody>
          <a:bodyPr wrap="square" lIns="0" tIns="0" rIns="0" bIns="0" rtlCol="0" anchor="ctr"/>
          <a:lstStyle/>
          <a:p>
            <a:pPr marL="0" indent="0" algn="ctr">
              <a:buNone/>
            </a:pPr>
            <a:r>
              <a:rPr lang="en-US" sz="900" dirty="0">
                <a:solidFill>
                  <a:srgbClr val="0B2545"/>
                </a:solidFill>
                <a:latin typeface="Calibri" pitchFamily="34" charset="0"/>
                <a:ea typeface="Calibri" pitchFamily="34" charset="-122"/>
                <a:cs typeface="Calibri" pitchFamily="34" charset="-120"/>
              </a:rPr>
              <a:t>Collection Actions</a:t>
            </a:r>
            <a:endParaRPr lang="en-US" sz="900" dirty="0"/>
          </a:p>
        </p:txBody>
      </p:sp>
      <p:sp>
        <p:nvSpPr>
          <p:cNvPr id="34" name="Shape 32"/>
          <p:cNvSpPr/>
          <p:nvPr/>
        </p:nvSpPr>
        <p:spPr>
          <a:xfrm>
            <a:off x="8345912" y="2432304"/>
            <a:ext cx="1130930" cy="384048"/>
          </a:xfrm>
          <a:prstGeom prst="roundRect">
            <a:avLst>
              <a:gd name="adj" fmla="val 23810"/>
            </a:avLst>
          </a:prstGeom>
          <a:solidFill>
            <a:srgbClr val="FFFFFF"/>
          </a:solidFill>
          <a:ln w="12700">
            <a:solidFill>
              <a:srgbClr val="5B95DD"/>
            </a:solidFill>
            <a:prstDash val="solid"/>
          </a:ln>
        </p:spPr>
      </p:sp>
      <p:sp>
        <p:nvSpPr>
          <p:cNvPr id="35" name="Text 33"/>
          <p:cNvSpPr txBox="1"/>
          <p:nvPr/>
        </p:nvSpPr>
        <p:spPr>
          <a:xfrm>
            <a:off x="8382488" y="2432304"/>
            <a:ext cx="1057778" cy="384048"/>
          </a:xfrm>
          <a:prstGeom prst="rect">
            <a:avLst/>
          </a:prstGeom>
          <a:noFill/>
          <a:ln/>
        </p:spPr>
        <p:txBody>
          <a:bodyPr wrap="square" lIns="0" tIns="0" rIns="0" bIns="0" rtlCol="0" anchor="ctr"/>
          <a:lstStyle/>
          <a:p>
            <a:pPr marL="0" indent="0" algn="ctr">
              <a:buNone/>
            </a:pPr>
            <a:r>
              <a:rPr lang="en-US" sz="900" dirty="0">
                <a:solidFill>
                  <a:srgbClr val="0B2545"/>
                </a:solidFill>
                <a:latin typeface="Calibri" pitchFamily="34" charset="0"/>
                <a:ea typeface="Calibri" pitchFamily="34" charset="-122"/>
                <a:cs typeface="Calibri" pitchFamily="34" charset="-120"/>
              </a:rPr>
              <a:t>Growth Actions</a:t>
            </a:r>
            <a:endParaRPr lang="en-US" sz="900" dirty="0"/>
          </a:p>
        </p:txBody>
      </p:sp>
      <p:sp>
        <p:nvSpPr>
          <p:cNvPr id="36" name="Shape 34"/>
          <p:cNvSpPr/>
          <p:nvPr/>
        </p:nvSpPr>
        <p:spPr>
          <a:xfrm>
            <a:off x="548640" y="3054096"/>
            <a:ext cx="2743200" cy="713232"/>
          </a:xfrm>
          <a:prstGeom prst="rect">
            <a:avLst/>
          </a:prstGeom>
          <a:solidFill>
            <a:srgbClr val="2A63AD"/>
          </a:solidFill>
          <a:ln w="12700">
            <a:solidFill>
              <a:srgbClr val="2A63AD"/>
            </a:solidFill>
            <a:prstDash val="solid"/>
          </a:ln>
        </p:spPr>
      </p:sp>
      <p:sp>
        <p:nvSpPr>
          <p:cNvPr id="37" name="Text 35"/>
          <p:cNvSpPr txBox="1"/>
          <p:nvPr/>
        </p:nvSpPr>
        <p:spPr>
          <a:xfrm>
            <a:off x="713232" y="3108960"/>
            <a:ext cx="246888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Business Risk Intelligence</a:t>
            </a:r>
            <a:endParaRPr lang="en-US" sz="1250" dirty="0"/>
          </a:p>
        </p:txBody>
      </p:sp>
      <p:sp>
        <p:nvSpPr>
          <p:cNvPr id="38" name="Text 36"/>
          <p:cNvSpPr txBox="1"/>
          <p:nvPr/>
        </p:nvSpPr>
        <p:spPr>
          <a:xfrm>
            <a:off x="713232" y="3364992"/>
            <a:ext cx="2468880" cy="201168"/>
          </a:xfrm>
          <a:prstGeom prst="rect">
            <a:avLst/>
          </a:prstGeom>
          <a:noFill/>
          <a:ln/>
        </p:spPr>
        <p:txBody>
          <a:bodyPr wrap="square" lIns="0" tIns="0" rIns="0" bIns="0" rtlCol="0" anchor="ctr"/>
          <a:lstStyle/>
          <a:p>
            <a:pPr marL="0" indent="0">
              <a:buNone/>
            </a:pPr>
            <a:r>
              <a:rPr lang="en-US" sz="950" i="1" dirty="0">
                <a:solidFill>
                  <a:srgbClr val="C9D9EE"/>
                </a:solidFill>
                <a:latin typeface="Calibri" pitchFamily="34" charset="0"/>
                <a:ea typeface="Calibri" pitchFamily="34" charset="-122"/>
                <a:cs typeface="Calibri" pitchFamily="34" charset="-120"/>
              </a:rPr>
              <a:t>What will happen?</a:t>
            </a:r>
            <a:endParaRPr lang="en-US" sz="950" dirty="0"/>
          </a:p>
        </p:txBody>
      </p:sp>
      <p:sp>
        <p:nvSpPr>
          <p:cNvPr id="39" name="Shape 37"/>
          <p:cNvSpPr/>
          <p:nvPr/>
        </p:nvSpPr>
        <p:spPr>
          <a:xfrm>
            <a:off x="3291840" y="3054096"/>
            <a:ext cx="8321040" cy="713232"/>
          </a:xfrm>
          <a:prstGeom prst="rect">
            <a:avLst/>
          </a:prstGeom>
          <a:solidFill>
            <a:srgbClr val="DCE6F2"/>
          </a:solidFill>
          <a:ln w="19050">
            <a:solidFill>
              <a:srgbClr val="2A63AD"/>
            </a:solidFill>
            <a:prstDash val="solid"/>
          </a:ln>
        </p:spPr>
      </p:sp>
      <p:sp>
        <p:nvSpPr>
          <p:cNvPr id="40" name="Shape 38"/>
          <p:cNvSpPr/>
          <p:nvPr/>
        </p:nvSpPr>
        <p:spPr>
          <a:xfrm>
            <a:off x="9067190" y="3300984"/>
            <a:ext cx="2381098" cy="219456"/>
          </a:xfrm>
          <a:prstGeom prst="roundRect">
            <a:avLst>
              <a:gd name="adj" fmla="val 50000"/>
            </a:avLst>
          </a:prstGeom>
          <a:solidFill>
            <a:srgbClr val="2A63AD"/>
          </a:solidFill>
          <a:ln w="12700">
            <a:solidFill>
              <a:srgbClr val="2A63AD"/>
            </a:solidFill>
            <a:prstDash val="solid"/>
          </a:ln>
        </p:spPr>
      </p:sp>
      <p:sp>
        <p:nvSpPr>
          <p:cNvPr id="41" name="Text 39"/>
          <p:cNvSpPr txBox="1"/>
          <p:nvPr/>
        </p:nvSpPr>
        <p:spPr>
          <a:xfrm>
            <a:off x="9067190" y="3300984"/>
            <a:ext cx="2381098" cy="219456"/>
          </a:xfrm>
          <a:prstGeom prst="rect">
            <a:avLst/>
          </a:prstGeom>
          <a:noFill/>
          <a:ln/>
        </p:spPr>
        <p:txBody>
          <a:bodyPr wrap="square" lIns="0" tIns="0" rIns="0" bIns="0" rtlCol="0" anchor="ctr"/>
          <a:lstStyle/>
          <a:p>
            <a:pPr marL="0" indent="0" algn="ctr">
              <a:buNone/>
            </a:pPr>
            <a:r>
              <a:rPr lang="en-US" sz="700" b="1" kern="0" spc="100" dirty="0">
                <a:solidFill>
                  <a:srgbClr val="FFFFFF"/>
                </a:solidFill>
                <a:latin typeface="Calibri" pitchFamily="34" charset="0"/>
                <a:ea typeface="Calibri" pitchFamily="34" charset="-122"/>
                <a:cs typeface="Calibri" pitchFamily="34" charset="-120"/>
              </a:rPr>
              <a:t>AI PREDICTION LAYER  ·  FLAGSHIP</a:t>
            </a:r>
            <a:endParaRPr lang="en-US" sz="700" dirty="0"/>
          </a:p>
        </p:txBody>
      </p:sp>
      <p:sp>
        <p:nvSpPr>
          <p:cNvPr id="42" name="Shape 40"/>
          <p:cNvSpPr/>
          <p:nvPr/>
        </p:nvSpPr>
        <p:spPr>
          <a:xfrm>
            <a:off x="3456432" y="3218688"/>
            <a:ext cx="1012424" cy="384048"/>
          </a:xfrm>
          <a:prstGeom prst="roundRect">
            <a:avLst>
              <a:gd name="adj" fmla="val 23810"/>
            </a:avLst>
          </a:prstGeom>
          <a:solidFill>
            <a:srgbClr val="FFFFFF"/>
          </a:solidFill>
          <a:ln w="12700">
            <a:solidFill>
              <a:srgbClr val="2A63AD"/>
            </a:solidFill>
            <a:prstDash val="solid"/>
          </a:ln>
        </p:spPr>
      </p:sp>
      <p:sp>
        <p:nvSpPr>
          <p:cNvPr id="43" name="Text 41"/>
          <p:cNvSpPr txBox="1"/>
          <p:nvPr/>
        </p:nvSpPr>
        <p:spPr>
          <a:xfrm>
            <a:off x="3493008" y="3218688"/>
            <a:ext cx="939272" cy="384048"/>
          </a:xfrm>
          <a:prstGeom prst="rect">
            <a:avLst/>
          </a:prstGeom>
          <a:noFill/>
          <a:ln/>
        </p:spPr>
        <p:txBody>
          <a:bodyPr wrap="square" lIns="0" tIns="0" rIns="0" bIns="0" rtlCol="0" anchor="ctr"/>
          <a:lstStyle/>
          <a:p>
            <a:pPr marL="0" indent="0" algn="ctr">
              <a:buNone/>
            </a:pPr>
            <a:r>
              <a:rPr lang="en-US" sz="900" dirty="0">
                <a:solidFill>
                  <a:srgbClr val="0B2545"/>
                </a:solidFill>
                <a:latin typeface="Calibri" pitchFamily="34" charset="0"/>
                <a:ea typeface="Calibri" pitchFamily="34" charset="-122"/>
                <a:cs typeface="Calibri" pitchFamily="34" charset="-120"/>
              </a:rPr>
              <a:t>Revenue Risk</a:t>
            </a:r>
            <a:endParaRPr lang="en-US" sz="900" dirty="0"/>
          </a:p>
        </p:txBody>
      </p:sp>
      <p:sp>
        <p:nvSpPr>
          <p:cNvPr id="44" name="Shape 42"/>
          <p:cNvSpPr/>
          <p:nvPr/>
        </p:nvSpPr>
        <p:spPr>
          <a:xfrm>
            <a:off x="4560296" y="3218688"/>
            <a:ext cx="1012424" cy="384048"/>
          </a:xfrm>
          <a:prstGeom prst="roundRect">
            <a:avLst>
              <a:gd name="adj" fmla="val 23810"/>
            </a:avLst>
          </a:prstGeom>
          <a:solidFill>
            <a:srgbClr val="FFFFFF"/>
          </a:solidFill>
          <a:ln w="12700">
            <a:solidFill>
              <a:srgbClr val="2A63AD"/>
            </a:solidFill>
            <a:prstDash val="solid"/>
          </a:ln>
        </p:spPr>
      </p:sp>
      <p:sp>
        <p:nvSpPr>
          <p:cNvPr id="45" name="Text 43"/>
          <p:cNvSpPr txBox="1"/>
          <p:nvPr/>
        </p:nvSpPr>
        <p:spPr>
          <a:xfrm>
            <a:off x="4596872" y="3218688"/>
            <a:ext cx="939272" cy="384048"/>
          </a:xfrm>
          <a:prstGeom prst="rect">
            <a:avLst/>
          </a:prstGeom>
          <a:noFill/>
          <a:ln/>
        </p:spPr>
        <p:txBody>
          <a:bodyPr wrap="square" lIns="0" tIns="0" rIns="0" bIns="0" rtlCol="0" anchor="ctr"/>
          <a:lstStyle/>
          <a:p>
            <a:pPr marL="0" indent="0" algn="ctr">
              <a:buNone/>
            </a:pPr>
            <a:r>
              <a:rPr lang="en-US" sz="900" dirty="0">
                <a:solidFill>
                  <a:srgbClr val="0B2545"/>
                </a:solidFill>
                <a:latin typeface="Calibri" pitchFamily="34" charset="0"/>
                <a:ea typeface="Calibri" pitchFamily="34" charset="-122"/>
                <a:cs typeface="Calibri" pitchFamily="34" charset="-120"/>
              </a:rPr>
              <a:t>Collection Risk</a:t>
            </a:r>
            <a:endParaRPr lang="en-US" sz="900" dirty="0"/>
          </a:p>
        </p:txBody>
      </p:sp>
      <p:sp>
        <p:nvSpPr>
          <p:cNvPr id="46" name="Shape 44"/>
          <p:cNvSpPr/>
          <p:nvPr/>
        </p:nvSpPr>
        <p:spPr>
          <a:xfrm>
            <a:off x="5664159" y="3218688"/>
            <a:ext cx="1012424" cy="384048"/>
          </a:xfrm>
          <a:prstGeom prst="roundRect">
            <a:avLst>
              <a:gd name="adj" fmla="val 23810"/>
            </a:avLst>
          </a:prstGeom>
          <a:solidFill>
            <a:srgbClr val="FFFFFF"/>
          </a:solidFill>
          <a:ln w="12700">
            <a:solidFill>
              <a:srgbClr val="2A63AD"/>
            </a:solidFill>
            <a:prstDash val="solid"/>
          </a:ln>
        </p:spPr>
      </p:sp>
      <p:sp>
        <p:nvSpPr>
          <p:cNvPr id="47" name="Text 45"/>
          <p:cNvSpPr txBox="1"/>
          <p:nvPr/>
        </p:nvSpPr>
        <p:spPr>
          <a:xfrm>
            <a:off x="5700735" y="3218688"/>
            <a:ext cx="939272" cy="384048"/>
          </a:xfrm>
          <a:prstGeom prst="rect">
            <a:avLst/>
          </a:prstGeom>
          <a:noFill/>
          <a:ln/>
        </p:spPr>
        <p:txBody>
          <a:bodyPr wrap="square" lIns="0" tIns="0" rIns="0" bIns="0" rtlCol="0" anchor="ctr"/>
          <a:lstStyle/>
          <a:p>
            <a:pPr marL="0" indent="0" algn="ctr">
              <a:buNone/>
            </a:pPr>
            <a:r>
              <a:rPr lang="en-US" sz="900" dirty="0">
                <a:solidFill>
                  <a:srgbClr val="0B2545"/>
                </a:solidFill>
                <a:latin typeface="Calibri" pitchFamily="34" charset="0"/>
                <a:ea typeface="Calibri" pitchFamily="34" charset="-122"/>
                <a:cs typeface="Calibri" pitchFamily="34" charset="-120"/>
              </a:rPr>
              <a:t>Renewal Risk</a:t>
            </a:r>
            <a:endParaRPr lang="en-US" sz="900" dirty="0"/>
          </a:p>
        </p:txBody>
      </p:sp>
      <p:sp>
        <p:nvSpPr>
          <p:cNvPr id="48" name="Shape 46"/>
          <p:cNvSpPr/>
          <p:nvPr/>
        </p:nvSpPr>
        <p:spPr>
          <a:xfrm>
            <a:off x="6768023" y="3218688"/>
            <a:ext cx="1012424" cy="384048"/>
          </a:xfrm>
          <a:prstGeom prst="roundRect">
            <a:avLst>
              <a:gd name="adj" fmla="val 23810"/>
            </a:avLst>
          </a:prstGeom>
          <a:solidFill>
            <a:srgbClr val="FFFFFF"/>
          </a:solidFill>
          <a:ln w="12700">
            <a:solidFill>
              <a:srgbClr val="2A63AD"/>
            </a:solidFill>
            <a:prstDash val="solid"/>
          </a:ln>
        </p:spPr>
      </p:sp>
      <p:sp>
        <p:nvSpPr>
          <p:cNvPr id="49" name="Text 47"/>
          <p:cNvSpPr txBox="1"/>
          <p:nvPr/>
        </p:nvSpPr>
        <p:spPr>
          <a:xfrm>
            <a:off x="6804599" y="3218688"/>
            <a:ext cx="939272" cy="384048"/>
          </a:xfrm>
          <a:prstGeom prst="rect">
            <a:avLst/>
          </a:prstGeom>
          <a:noFill/>
          <a:ln/>
        </p:spPr>
        <p:txBody>
          <a:bodyPr wrap="square" lIns="0" tIns="0" rIns="0" bIns="0" rtlCol="0" anchor="ctr"/>
          <a:lstStyle/>
          <a:p>
            <a:pPr marL="0" indent="0" algn="ctr">
              <a:buNone/>
            </a:pPr>
            <a:r>
              <a:rPr lang="en-US" sz="900" dirty="0">
                <a:solidFill>
                  <a:srgbClr val="0B2545"/>
                </a:solidFill>
                <a:latin typeface="Calibri" pitchFamily="34" charset="0"/>
                <a:ea typeface="Calibri" pitchFamily="34" charset="-122"/>
                <a:cs typeface="Calibri" pitchFamily="34" charset="-120"/>
              </a:rPr>
              <a:t>Customer Risk</a:t>
            </a:r>
            <a:endParaRPr lang="en-US" sz="900" dirty="0"/>
          </a:p>
        </p:txBody>
      </p:sp>
      <p:sp>
        <p:nvSpPr>
          <p:cNvPr id="50" name="Shape 48"/>
          <p:cNvSpPr/>
          <p:nvPr/>
        </p:nvSpPr>
        <p:spPr>
          <a:xfrm>
            <a:off x="7871887" y="3218688"/>
            <a:ext cx="1012424" cy="384048"/>
          </a:xfrm>
          <a:prstGeom prst="roundRect">
            <a:avLst>
              <a:gd name="adj" fmla="val 23810"/>
            </a:avLst>
          </a:prstGeom>
          <a:solidFill>
            <a:srgbClr val="FFFFFF"/>
          </a:solidFill>
          <a:ln w="12700">
            <a:solidFill>
              <a:srgbClr val="2A63AD"/>
            </a:solidFill>
            <a:prstDash val="solid"/>
          </a:ln>
        </p:spPr>
      </p:sp>
      <p:sp>
        <p:nvSpPr>
          <p:cNvPr id="51" name="Text 49"/>
          <p:cNvSpPr txBox="1"/>
          <p:nvPr/>
        </p:nvSpPr>
        <p:spPr>
          <a:xfrm>
            <a:off x="7908463" y="3218688"/>
            <a:ext cx="939272" cy="384048"/>
          </a:xfrm>
          <a:prstGeom prst="rect">
            <a:avLst/>
          </a:prstGeom>
          <a:noFill/>
          <a:ln/>
        </p:spPr>
        <p:txBody>
          <a:bodyPr wrap="square" lIns="0" tIns="0" rIns="0" bIns="0" rtlCol="0" anchor="ctr"/>
          <a:lstStyle/>
          <a:p>
            <a:pPr marL="0" indent="0" algn="ctr">
              <a:buNone/>
            </a:pPr>
            <a:r>
              <a:rPr lang="en-US" sz="900" dirty="0">
                <a:solidFill>
                  <a:srgbClr val="0B2545"/>
                </a:solidFill>
                <a:latin typeface="Calibri" pitchFamily="34" charset="0"/>
                <a:ea typeface="Calibri" pitchFamily="34" charset="-122"/>
                <a:cs typeface="Calibri" pitchFamily="34" charset="-120"/>
              </a:rPr>
              <a:t>Growth Opportunity</a:t>
            </a:r>
            <a:endParaRPr lang="en-US" sz="900" dirty="0"/>
          </a:p>
        </p:txBody>
      </p:sp>
      <p:sp>
        <p:nvSpPr>
          <p:cNvPr id="52" name="Shape 50"/>
          <p:cNvSpPr/>
          <p:nvPr/>
        </p:nvSpPr>
        <p:spPr>
          <a:xfrm>
            <a:off x="548640" y="3840480"/>
            <a:ext cx="2743200" cy="713232"/>
          </a:xfrm>
          <a:prstGeom prst="rect">
            <a:avLst/>
          </a:prstGeom>
          <a:solidFill>
            <a:srgbClr val="1F4E8C"/>
          </a:solidFill>
          <a:ln w="12700">
            <a:solidFill>
              <a:srgbClr val="1F4E8C"/>
            </a:solidFill>
            <a:prstDash val="solid"/>
          </a:ln>
        </p:spPr>
      </p:sp>
      <p:sp>
        <p:nvSpPr>
          <p:cNvPr id="53" name="Text 51"/>
          <p:cNvSpPr txBox="1"/>
          <p:nvPr/>
        </p:nvSpPr>
        <p:spPr>
          <a:xfrm>
            <a:off x="713232" y="3895344"/>
            <a:ext cx="246888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Finance Intelligence</a:t>
            </a:r>
            <a:endParaRPr lang="en-US" sz="1250" dirty="0"/>
          </a:p>
        </p:txBody>
      </p:sp>
      <p:sp>
        <p:nvSpPr>
          <p:cNvPr id="54" name="Text 52"/>
          <p:cNvSpPr txBox="1"/>
          <p:nvPr/>
        </p:nvSpPr>
        <p:spPr>
          <a:xfrm>
            <a:off x="713232" y="4151376"/>
            <a:ext cx="2468880" cy="201168"/>
          </a:xfrm>
          <a:prstGeom prst="rect">
            <a:avLst/>
          </a:prstGeom>
          <a:noFill/>
          <a:ln/>
        </p:spPr>
        <p:txBody>
          <a:bodyPr wrap="square" lIns="0" tIns="0" rIns="0" bIns="0" rtlCol="0" anchor="ctr"/>
          <a:lstStyle/>
          <a:p>
            <a:pPr marL="0" indent="0">
              <a:buNone/>
            </a:pPr>
            <a:r>
              <a:rPr lang="en-US" sz="950" i="1" dirty="0">
                <a:solidFill>
                  <a:srgbClr val="C9D9EE"/>
                </a:solidFill>
                <a:latin typeface="Calibri" pitchFamily="34" charset="0"/>
                <a:ea typeface="Calibri" pitchFamily="34" charset="-122"/>
                <a:cs typeface="Calibri" pitchFamily="34" charset="-120"/>
              </a:rPr>
              <a:t>Why did it happen?</a:t>
            </a:r>
            <a:endParaRPr lang="en-US" sz="950" dirty="0"/>
          </a:p>
        </p:txBody>
      </p:sp>
      <p:sp>
        <p:nvSpPr>
          <p:cNvPr id="55" name="Shape 53"/>
          <p:cNvSpPr/>
          <p:nvPr/>
        </p:nvSpPr>
        <p:spPr>
          <a:xfrm>
            <a:off x="3291840" y="3840480"/>
            <a:ext cx="8321040" cy="713232"/>
          </a:xfrm>
          <a:prstGeom prst="rect">
            <a:avLst/>
          </a:prstGeom>
          <a:solidFill>
            <a:srgbClr val="DCE6F2"/>
          </a:solidFill>
          <a:ln w="19050">
            <a:solidFill>
              <a:srgbClr val="1F4E8C"/>
            </a:solidFill>
            <a:prstDash val="solid"/>
          </a:ln>
        </p:spPr>
      </p:sp>
      <p:sp>
        <p:nvSpPr>
          <p:cNvPr id="56" name="Shape 54"/>
          <p:cNvSpPr/>
          <p:nvPr/>
        </p:nvSpPr>
        <p:spPr>
          <a:xfrm>
            <a:off x="9725558" y="4087368"/>
            <a:ext cx="1722730" cy="219456"/>
          </a:xfrm>
          <a:prstGeom prst="roundRect">
            <a:avLst>
              <a:gd name="adj" fmla="val 50000"/>
            </a:avLst>
          </a:prstGeom>
          <a:solidFill>
            <a:srgbClr val="1F4E8C"/>
          </a:solidFill>
          <a:ln w="12700">
            <a:solidFill>
              <a:srgbClr val="1F4E8C"/>
            </a:solidFill>
            <a:prstDash val="solid"/>
          </a:ln>
        </p:spPr>
      </p:sp>
      <p:sp>
        <p:nvSpPr>
          <p:cNvPr id="57" name="Text 55"/>
          <p:cNvSpPr txBox="1"/>
          <p:nvPr/>
        </p:nvSpPr>
        <p:spPr>
          <a:xfrm>
            <a:off x="9725558" y="4087368"/>
            <a:ext cx="1722730" cy="219456"/>
          </a:xfrm>
          <a:prstGeom prst="rect">
            <a:avLst/>
          </a:prstGeom>
          <a:noFill/>
          <a:ln/>
        </p:spPr>
        <p:txBody>
          <a:bodyPr wrap="square" lIns="0" tIns="0" rIns="0" bIns="0" rtlCol="0" anchor="ctr"/>
          <a:lstStyle/>
          <a:p>
            <a:pPr marL="0" indent="0" algn="ctr">
              <a:buNone/>
            </a:pPr>
            <a:r>
              <a:rPr lang="en-US" sz="700" b="1" kern="0" spc="100" dirty="0">
                <a:solidFill>
                  <a:srgbClr val="FFFFFF"/>
                </a:solidFill>
                <a:latin typeface="Calibri" pitchFamily="34" charset="0"/>
                <a:ea typeface="Calibri" pitchFamily="34" charset="-122"/>
                <a:cs typeface="Calibri" pitchFamily="34" charset="-120"/>
              </a:rPr>
              <a:t>AI UNDERSTANDING LAYER</a:t>
            </a:r>
            <a:endParaRPr lang="en-US" sz="700" dirty="0"/>
          </a:p>
        </p:txBody>
      </p:sp>
      <p:sp>
        <p:nvSpPr>
          <p:cNvPr id="58" name="Shape 56"/>
          <p:cNvSpPr/>
          <p:nvPr/>
        </p:nvSpPr>
        <p:spPr>
          <a:xfrm>
            <a:off x="3456432" y="4005072"/>
            <a:ext cx="1144097" cy="384048"/>
          </a:xfrm>
          <a:prstGeom prst="roundRect">
            <a:avLst>
              <a:gd name="adj" fmla="val 23810"/>
            </a:avLst>
          </a:prstGeom>
          <a:solidFill>
            <a:srgbClr val="FFFFFF"/>
          </a:solidFill>
          <a:ln w="12700">
            <a:solidFill>
              <a:srgbClr val="1F4E8C"/>
            </a:solidFill>
            <a:prstDash val="solid"/>
          </a:ln>
        </p:spPr>
      </p:sp>
      <p:sp>
        <p:nvSpPr>
          <p:cNvPr id="59" name="Text 57"/>
          <p:cNvSpPr txBox="1"/>
          <p:nvPr/>
        </p:nvSpPr>
        <p:spPr>
          <a:xfrm>
            <a:off x="3493008" y="4005072"/>
            <a:ext cx="1070945" cy="384048"/>
          </a:xfrm>
          <a:prstGeom prst="rect">
            <a:avLst/>
          </a:prstGeom>
          <a:noFill/>
          <a:ln/>
        </p:spPr>
        <p:txBody>
          <a:bodyPr wrap="square" lIns="0" tIns="0" rIns="0" bIns="0" rtlCol="0" anchor="ctr"/>
          <a:lstStyle/>
          <a:p>
            <a:pPr marL="0" indent="0" algn="ctr">
              <a:buNone/>
            </a:pPr>
            <a:r>
              <a:rPr lang="en-US" sz="900" dirty="0">
                <a:solidFill>
                  <a:srgbClr val="0B2545"/>
                </a:solidFill>
                <a:latin typeface="Calibri" pitchFamily="34" charset="0"/>
                <a:ea typeface="Calibri" pitchFamily="34" charset="-122"/>
                <a:cs typeface="Calibri" pitchFamily="34" charset="-120"/>
              </a:rPr>
              <a:t>Customer Profitability</a:t>
            </a:r>
            <a:endParaRPr lang="en-US" sz="900" dirty="0"/>
          </a:p>
        </p:txBody>
      </p:sp>
      <p:sp>
        <p:nvSpPr>
          <p:cNvPr id="60" name="Shape 58"/>
          <p:cNvSpPr/>
          <p:nvPr/>
        </p:nvSpPr>
        <p:spPr>
          <a:xfrm>
            <a:off x="4691969" y="4005072"/>
            <a:ext cx="1144097" cy="384048"/>
          </a:xfrm>
          <a:prstGeom prst="roundRect">
            <a:avLst>
              <a:gd name="adj" fmla="val 23810"/>
            </a:avLst>
          </a:prstGeom>
          <a:solidFill>
            <a:srgbClr val="FFFFFF"/>
          </a:solidFill>
          <a:ln w="12700">
            <a:solidFill>
              <a:srgbClr val="1F4E8C"/>
            </a:solidFill>
            <a:prstDash val="solid"/>
          </a:ln>
        </p:spPr>
      </p:sp>
      <p:sp>
        <p:nvSpPr>
          <p:cNvPr id="61" name="Text 59"/>
          <p:cNvSpPr txBox="1"/>
          <p:nvPr/>
        </p:nvSpPr>
        <p:spPr>
          <a:xfrm>
            <a:off x="4728545" y="4005072"/>
            <a:ext cx="1070945" cy="384048"/>
          </a:xfrm>
          <a:prstGeom prst="rect">
            <a:avLst/>
          </a:prstGeom>
          <a:noFill/>
          <a:ln/>
        </p:spPr>
        <p:txBody>
          <a:bodyPr wrap="square" lIns="0" tIns="0" rIns="0" bIns="0" rtlCol="0" anchor="ctr"/>
          <a:lstStyle/>
          <a:p>
            <a:pPr marL="0" indent="0" algn="ctr">
              <a:buNone/>
            </a:pPr>
            <a:r>
              <a:rPr lang="en-US" sz="900" dirty="0">
                <a:solidFill>
                  <a:srgbClr val="0B2545"/>
                </a:solidFill>
                <a:latin typeface="Calibri" pitchFamily="34" charset="0"/>
                <a:ea typeface="Calibri" pitchFamily="34" charset="-122"/>
                <a:cs typeface="Calibri" pitchFamily="34" charset="-120"/>
              </a:rPr>
              <a:t>Country Performance</a:t>
            </a:r>
            <a:endParaRPr lang="en-US" sz="900" dirty="0"/>
          </a:p>
        </p:txBody>
      </p:sp>
      <p:sp>
        <p:nvSpPr>
          <p:cNvPr id="62" name="Shape 60"/>
          <p:cNvSpPr/>
          <p:nvPr/>
        </p:nvSpPr>
        <p:spPr>
          <a:xfrm>
            <a:off x="5927507" y="4005072"/>
            <a:ext cx="1144097" cy="384048"/>
          </a:xfrm>
          <a:prstGeom prst="roundRect">
            <a:avLst>
              <a:gd name="adj" fmla="val 23810"/>
            </a:avLst>
          </a:prstGeom>
          <a:solidFill>
            <a:srgbClr val="FFFFFF"/>
          </a:solidFill>
          <a:ln w="12700">
            <a:solidFill>
              <a:srgbClr val="1F4E8C"/>
            </a:solidFill>
            <a:prstDash val="solid"/>
          </a:ln>
        </p:spPr>
      </p:sp>
      <p:sp>
        <p:nvSpPr>
          <p:cNvPr id="63" name="Text 61"/>
          <p:cNvSpPr txBox="1"/>
          <p:nvPr/>
        </p:nvSpPr>
        <p:spPr>
          <a:xfrm>
            <a:off x="5964083" y="4005072"/>
            <a:ext cx="1070945" cy="384048"/>
          </a:xfrm>
          <a:prstGeom prst="rect">
            <a:avLst/>
          </a:prstGeom>
          <a:noFill/>
          <a:ln/>
        </p:spPr>
        <p:txBody>
          <a:bodyPr wrap="square" lIns="0" tIns="0" rIns="0" bIns="0" rtlCol="0" anchor="ctr"/>
          <a:lstStyle/>
          <a:p>
            <a:pPr marL="0" indent="0" algn="ctr">
              <a:buNone/>
            </a:pPr>
            <a:r>
              <a:rPr lang="en-US" sz="900" dirty="0">
                <a:solidFill>
                  <a:srgbClr val="0B2545"/>
                </a:solidFill>
                <a:latin typeface="Calibri" pitchFamily="34" charset="0"/>
                <a:ea typeface="Calibri" pitchFamily="34" charset="-122"/>
                <a:cs typeface="Calibri" pitchFamily="34" charset="-120"/>
              </a:rPr>
              <a:t>Tranche Analysis</a:t>
            </a:r>
            <a:endParaRPr lang="en-US" sz="900" dirty="0"/>
          </a:p>
        </p:txBody>
      </p:sp>
      <p:sp>
        <p:nvSpPr>
          <p:cNvPr id="64" name="Shape 62"/>
          <p:cNvSpPr/>
          <p:nvPr/>
        </p:nvSpPr>
        <p:spPr>
          <a:xfrm>
            <a:off x="7163044" y="4005072"/>
            <a:ext cx="1144097" cy="384048"/>
          </a:xfrm>
          <a:prstGeom prst="roundRect">
            <a:avLst>
              <a:gd name="adj" fmla="val 23810"/>
            </a:avLst>
          </a:prstGeom>
          <a:solidFill>
            <a:srgbClr val="FFFFFF"/>
          </a:solidFill>
          <a:ln w="12700">
            <a:solidFill>
              <a:srgbClr val="1F4E8C"/>
            </a:solidFill>
            <a:prstDash val="solid"/>
          </a:ln>
        </p:spPr>
      </p:sp>
      <p:sp>
        <p:nvSpPr>
          <p:cNvPr id="65" name="Text 63"/>
          <p:cNvSpPr txBox="1"/>
          <p:nvPr/>
        </p:nvSpPr>
        <p:spPr>
          <a:xfrm>
            <a:off x="7199620" y="4005072"/>
            <a:ext cx="1070945" cy="384048"/>
          </a:xfrm>
          <a:prstGeom prst="rect">
            <a:avLst/>
          </a:prstGeom>
          <a:noFill/>
          <a:ln/>
        </p:spPr>
        <p:txBody>
          <a:bodyPr wrap="square" lIns="0" tIns="0" rIns="0" bIns="0" rtlCol="0" anchor="ctr"/>
          <a:lstStyle/>
          <a:p>
            <a:pPr marL="0" indent="0" algn="ctr">
              <a:buNone/>
            </a:pPr>
            <a:r>
              <a:rPr lang="en-US" sz="900" dirty="0">
                <a:solidFill>
                  <a:srgbClr val="0B2545"/>
                </a:solidFill>
                <a:latin typeface="Calibri" pitchFamily="34" charset="0"/>
                <a:ea typeface="Calibri" pitchFamily="34" charset="-122"/>
                <a:cs typeface="Calibri" pitchFamily="34" charset="-120"/>
              </a:rPr>
              <a:t>Hardware vs Service</a:t>
            </a:r>
            <a:endParaRPr lang="en-US" sz="900" dirty="0"/>
          </a:p>
        </p:txBody>
      </p:sp>
      <p:sp>
        <p:nvSpPr>
          <p:cNvPr id="66" name="Shape 64"/>
          <p:cNvSpPr/>
          <p:nvPr/>
        </p:nvSpPr>
        <p:spPr>
          <a:xfrm>
            <a:off x="8398581" y="4005072"/>
            <a:ext cx="1144097" cy="384048"/>
          </a:xfrm>
          <a:prstGeom prst="roundRect">
            <a:avLst>
              <a:gd name="adj" fmla="val 23810"/>
            </a:avLst>
          </a:prstGeom>
          <a:solidFill>
            <a:srgbClr val="FFFFFF"/>
          </a:solidFill>
          <a:ln w="12700">
            <a:solidFill>
              <a:srgbClr val="1F4E8C"/>
            </a:solidFill>
            <a:prstDash val="solid"/>
          </a:ln>
        </p:spPr>
      </p:sp>
      <p:sp>
        <p:nvSpPr>
          <p:cNvPr id="67" name="Text 65"/>
          <p:cNvSpPr txBox="1"/>
          <p:nvPr/>
        </p:nvSpPr>
        <p:spPr>
          <a:xfrm>
            <a:off x="8435157" y="4005072"/>
            <a:ext cx="1070945" cy="384048"/>
          </a:xfrm>
          <a:prstGeom prst="rect">
            <a:avLst/>
          </a:prstGeom>
          <a:noFill/>
          <a:ln/>
        </p:spPr>
        <p:txBody>
          <a:bodyPr wrap="square" lIns="0" tIns="0" rIns="0" bIns="0" rtlCol="0" anchor="ctr"/>
          <a:lstStyle/>
          <a:p>
            <a:pPr marL="0" indent="0" algn="ctr">
              <a:buNone/>
            </a:pPr>
            <a:r>
              <a:rPr lang="en-US" sz="900" dirty="0">
                <a:solidFill>
                  <a:srgbClr val="0B2545"/>
                </a:solidFill>
                <a:latin typeface="Calibri" pitchFamily="34" charset="0"/>
                <a:ea typeface="Calibri" pitchFamily="34" charset="-122"/>
                <a:cs typeface="Calibri" pitchFamily="34" charset="-120"/>
              </a:rPr>
              <a:t>Driver Analysis</a:t>
            </a:r>
            <a:endParaRPr lang="en-US" sz="900" dirty="0"/>
          </a:p>
        </p:txBody>
      </p:sp>
      <p:sp>
        <p:nvSpPr>
          <p:cNvPr id="68" name="Shape 66"/>
          <p:cNvSpPr/>
          <p:nvPr/>
        </p:nvSpPr>
        <p:spPr>
          <a:xfrm>
            <a:off x="548640" y="4626864"/>
            <a:ext cx="2743200" cy="566928"/>
          </a:xfrm>
          <a:prstGeom prst="rect">
            <a:avLst/>
          </a:prstGeom>
          <a:solidFill>
            <a:srgbClr val="0B2545"/>
          </a:solidFill>
          <a:ln w="12700">
            <a:solidFill>
              <a:srgbClr val="0B2545"/>
            </a:solidFill>
            <a:prstDash val="solid"/>
          </a:ln>
        </p:spPr>
      </p:sp>
      <p:sp>
        <p:nvSpPr>
          <p:cNvPr id="69" name="Text 67"/>
          <p:cNvSpPr txBox="1"/>
          <p:nvPr/>
        </p:nvSpPr>
        <p:spPr>
          <a:xfrm>
            <a:off x="713232" y="4681728"/>
            <a:ext cx="246888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Traditional Reporting</a:t>
            </a:r>
            <a:endParaRPr lang="en-US" sz="1250" dirty="0"/>
          </a:p>
        </p:txBody>
      </p:sp>
      <p:sp>
        <p:nvSpPr>
          <p:cNvPr id="70" name="Text 68"/>
          <p:cNvSpPr txBox="1"/>
          <p:nvPr/>
        </p:nvSpPr>
        <p:spPr>
          <a:xfrm>
            <a:off x="713232" y="4937760"/>
            <a:ext cx="2468880" cy="201168"/>
          </a:xfrm>
          <a:prstGeom prst="rect">
            <a:avLst/>
          </a:prstGeom>
          <a:noFill/>
          <a:ln/>
        </p:spPr>
        <p:txBody>
          <a:bodyPr wrap="square" lIns="0" tIns="0" rIns="0" bIns="0" rtlCol="0" anchor="ctr"/>
          <a:lstStyle/>
          <a:p>
            <a:pPr marL="0" indent="0">
              <a:buNone/>
            </a:pPr>
            <a:r>
              <a:rPr lang="en-US" sz="950" i="1" dirty="0">
                <a:solidFill>
                  <a:srgbClr val="C9D9EE"/>
                </a:solidFill>
                <a:latin typeface="Calibri" pitchFamily="34" charset="0"/>
                <a:ea typeface="Calibri" pitchFamily="34" charset="-122"/>
                <a:cs typeface="Calibri" pitchFamily="34" charset="-120"/>
              </a:rPr>
              <a:t>What happened?</a:t>
            </a:r>
            <a:endParaRPr lang="en-US" sz="950" dirty="0"/>
          </a:p>
        </p:txBody>
      </p:sp>
      <p:sp>
        <p:nvSpPr>
          <p:cNvPr id="71" name="Shape 69"/>
          <p:cNvSpPr/>
          <p:nvPr/>
        </p:nvSpPr>
        <p:spPr>
          <a:xfrm>
            <a:off x="3291840" y="4626864"/>
            <a:ext cx="8321040" cy="566928"/>
          </a:xfrm>
          <a:prstGeom prst="rect">
            <a:avLst/>
          </a:prstGeom>
          <a:solidFill>
            <a:srgbClr val="EEF3FA"/>
          </a:solidFill>
          <a:ln w="9525">
            <a:solidFill>
              <a:srgbClr val="C9D6E6"/>
            </a:solidFill>
            <a:prstDash val="solid"/>
          </a:ln>
        </p:spPr>
      </p:sp>
      <p:sp>
        <p:nvSpPr>
          <p:cNvPr id="72" name="Shape 70"/>
          <p:cNvSpPr/>
          <p:nvPr/>
        </p:nvSpPr>
        <p:spPr>
          <a:xfrm>
            <a:off x="10252253" y="4800600"/>
            <a:ext cx="1196035" cy="219456"/>
          </a:xfrm>
          <a:prstGeom prst="roundRect">
            <a:avLst>
              <a:gd name="adj" fmla="val 50000"/>
            </a:avLst>
          </a:prstGeom>
          <a:solidFill>
            <a:srgbClr val="0B2545"/>
          </a:solidFill>
          <a:ln w="12700">
            <a:solidFill>
              <a:srgbClr val="0B2545"/>
            </a:solidFill>
            <a:prstDash val="solid"/>
          </a:ln>
        </p:spPr>
      </p:sp>
      <p:sp>
        <p:nvSpPr>
          <p:cNvPr id="73" name="Text 71"/>
          <p:cNvSpPr txBox="1"/>
          <p:nvPr/>
        </p:nvSpPr>
        <p:spPr>
          <a:xfrm>
            <a:off x="10252253" y="4800600"/>
            <a:ext cx="1196035" cy="219456"/>
          </a:xfrm>
          <a:prstGeom prst="rect">
            <a:avLst/>
          </a:prstGeom>
          <a:noFill/>
          <a:ln/>
        </p:spPr>
        <p:txBody>
          <a:bodyPr wrap="square" lIns="0" tIns="0" rIns="0" bIns="0" rtlCol="0" anchor="ctr"/>
          <a:lstStyle/>
          <a:p>
            <a:pPr marL="0" indent="0" algn="ctr">
              <a:buNone/>
            </a:pPr>
            <a:r>
              <a:rPr lang="en-US" sz="700" b="1" kern="0" spc="100" dirty="0">
                <a:solidFill>
                  <a:srgbClr val="FFFFFF"/>
                </a:solidFill>
                <a:latin typeface="Calibri" pitchFamily="34" charset="0"/>
                <a:ea typeface="Calibri" pitchFamily="34" charset="-122"/>
                <a:cs typeface="Calibri" pitchFamily="34" charset="-120"/>
              </a:rPr>
              <a:t>IN PLACE TODAY</a:t>
            </a:r>
            <a:endParaRPr lang="en-US" sz="700" dirty="0"/>
          </a:p>
        </p:txBody>
      </p:sp>
      <p:sp>
        <p:nvSpPr>
          <p:cNvPr id="74" name="Shape 72"/>
          <p:cNvSpPr/>
          <p:nvPr/>
        </p:nvSpPr>
        <p:spPr>
          <a:xfrm>
            <a:off x="3456432" y="4754880"/>
            <a:ext cx="746608" cy="310896"/>
          </a:xfrm>
          <a:prstGeom prst="roundRect">
            <a:avLst>
              <a:gd name="adj" fmla="val 50000"/>
            </a:avLst>
          </a:prstGeom>
          <a:solidFill>
            <a:srgbClr val="FFFFFF"/>
          </a:solidFill>
          <a:ln w="12700">
            <a:solidFill>
              <a:srgbClr val="0B2545"/>
            </a:solidFill>
            <a:prstDash val="solid"/>
          </a:ln>
        </p:spPr>
      </p:sp>
      <p:sp>
        <p:nvSpPr>
          <p:cNvPr id="75" name="Text 73"/>
          <p:cNvSpPr txBox="1"/>
          <p:nvPr/>
        </p:nvSpPr>
        <p:spPr>
          <a:xfrm>
            <a:off x="3493008" y="4754880"/>
            <a:ext cx="673456" cy="310896"/>
          </a:xfrm>
          <a:prstGeom prst="rect">
            <a:avLst/>
          </a:prstGeom>
          <a:noFill/>
          <a:ln/>
        </p:spPr>
        <p:txBody>
          <a:bodyPr wrap="square" lIns="0" tIns="0" rIns="0" bIns="0" rtlCol="0" anchor="ctr"/>
          <a:lstStyle/>
          <a:p>
            <a:pPr marL="0" indent="0" algn="ctr">
              <a:buNone/>
            </a:pPr>
            <a:r>
              <a:rPr lang="en-US" sz="850" dirty="0">
                <a:solidFill>
                  <a:srgbClr val="0B2545"/>
                </a:solidFill>
                <a:latin typeface="Calibri" pitchFamily="34" charset="0"/>
                <a:ea typeface="Calibri" pitchFamily="34" charset="-122"/>
                <a:cs typeface="Calibri" pitchFamily="34" charset="-120"/>
              </a:rPr>
              <a:t>Customer</a:t>
            </a:r>
            <a:endParaRPr lang="en-US" sz="850" dirty="0"/>
          </a:p>
        </p:txBody>
      </p:sp>
      <p:sp>
        <p:nvSpPr>
          <p:cNvPr id="76" name="Shape 74"/>
          <p:cNvSpPr/>
          <p:nvPr/>
        </p:nvSpPr>
        <p:spPr>
          <a:xfrm>
            <a:off x="4294480" y="4754880"/>
            <a:ext cx="746608" cy="310896"/>
          </a:xfrm>
          <a:prstGeom prst="roundRect">
            <a:avLst>
              <a:gd name="adj" fmla="val 50000"/>
            </a:avLst>
          </a:prstGeom>
          <a:solidFill>
            <a:srgbClr val="FFFFFF"/>
          </a:solidFill>
          <a:ln w="12700">
            <a:solidFill>
              <a:srgbClr val="0B2545"/>
            </a:solidFill>
            <a:prstDash val="solid"/>
          </a:ln>
        </p:spPr>
      </p:sp>
      <p:sp>
        <p:nvSpPr>
          <p:cNvPr id="77" name="Text 75"/>
          <p:cNvSpPr txBox="1"/>
          <p:nvPr/>
        </p:nvSpPr>
        <p:spPr>
          <a:xfrm>
            <a:off x="4331056" y="4754880"/>
            <a:ext cx="673456" cy="310896"/>
          </a:xfrm>
          <a:prstGeom prst="rect">
            <a:avLst/>
          </a:prstGeom>
          <a:noFill/>
          <a:ln/>
        </p:spPr>
        <p:txBody>
          <a:bodyPr wrap="square" lIns="0" tIns="0" rIns="0" bIns="0" rtlCol="0" anchor="ctr"/>
          <a:lstStyle/>
          <a:p>
            <a:pPr marL="0" indent="0" algn="ctr">
              <a:buNone/>
            </a:pPr>
            <a:r>
              <a:rPr lang="en-US" sz="850" dirty="0">
                <a:solidFill>
                  <a:srgbClr val="0B2545"/>
                </a:solidFill>
                <a:latin typeface="Calibri" pitchFamily="34" charset="0"/>
                <a:ea typeface="Calibri" pitchFamily="34" charset="-122"/>
                <a:cs typeface="Calibri" pitchFamily="34" charset="-120"/>
              </a:rPr>
              <a:t>Contract</a:t>
            </a:r>
            <a:endParaRPr lang="en-US" sz="850" dirty="0"/>
          </a:p>
        </p:txBody>
      </p:sp>
      <p:sp>
        <p:nvSpPr>
          <p:cNvPr id="78" name="Shape 76"/>
          <p:cNvSpPr/>
          <p:nvPr/>
        </p:nvSpPr>
        <p:spPr>
          <a:xfrm>
            <a:off x="5132527" y="4754880"/>
            <a:ext cx="746608" cy="310896"/>
          </a:xfrm>
          <a:prstGeom prst="roundRect">
            <a:avLst>
              <a:gd name="adj" fmla="val 50000"/>
            </a:avLst>
          </a:prstGeom>
          <a:solidFill>
            <a:srgbClr val="FFFFFF"/>
          </a:solidFill>
          <a:ln w="12700">
            <a:solidFill>
              <a:srgbClr val="0B2545"/>
            </a:solidFill>
            <a:prstDash val="solid"/>
          </a:ln>
        </p:spPr>
      </p:sp>
      <p:sp>
        <p:nvSpPr>
          <p:cNvPr id="79" name="Text 77"/>
          <p:cNvSpPr txBox="1"/>
          <p:nvPr/>
        </p:nvSpPr>
        <p:spPr>
          <a:xfrm>
            <a:off x="5169103" y="4754880"/>
            <a:ext cx="673456" cy="310896"/>
          </a:xfrm>
          <a:prstGeom prst="rect">
            <a:avLst/>
          </a:prstGeom>
          <a:noFill/>
          <a:ln/>
        </p:spPr>
        <p:txBody>
          <a:bodyPr wrap="square" lIns="0" tIns="0" rIns="0" bIns="0" rtlCol="0" anchor="ctr"/>
          <a:lstStyle/>
          <a:p>
            <a:pPr marL="0" indent="0" algn="ctr">
              <a:buNone/>
            </a:pPr>
            <a:r>
              <a:rPr lang="en-US" sz="850" dirty="0">
                <a:solidFill>
                  <a:srgbClr val="0B2545"/>
                </a:solidFill>
                <a:latin typeface="Calibri" pitchFamily="34" charset="0"/>
                <a:ea typeface="Calibri" pitchFamily="34" charset="-122"/>
                <a:cs typeface="Calibri" pitchFamily="34" charset="-120"/>
              </a:rPr>
              <a:t>Asset</a:t>
            </a:r>
            <a:endParaRPr lang="en-US" sz="850" dirty="0"/>
          </a:p>
        </p:txBody>
      </p:sp>
      <p:sp>
        <p:nvSpPr>
          <p:cNvPr id="80" name="Shape 78"/>
          <p:cNvSpPr/>
          <p:nvPr/>
        </p:nvSpPr>
        <p:spPr>
          <a:xfrm>
            <a:off x="5970575" y="4754880"/>
            <a:ext cx="746608" cy="310896"/>
          </a:xfrm>
          <a:prstGeom prst="roundRect">
            <a:avLst>
              <a:gd name="adj" fmla="val 50000"/>
            </a:avLst>
          </a:prstGeom>
          <a:solidFill>
            <a:srgbClr val="FFFFFF"/>
          </a:solidFill>
          <a:ln w="12700">
            <a:solidFill>
              <a:srgbClr val="0B2545"/>
            </a:solidFill>
            <a:prstDash val="solid"/>
          </a:ln>
        </p:spPr>
      </p:sp>
      <p:sp>
        <p:nvSpPr>
          <p:cNvPr id="81" name="Text 79"/>
          <p:cNvSpPr txBox="1"/>
          <p:nvPr/>
        </p:nvSpPr>
        <p:spPr>
          <a:xfrm>
            <a:off x="6007151" y="4754880"/>
            <a:ext cx="673456" cy="310896"/>
          </a:xfrm>
          <a:prstGeom prst="rect">
            <a:avLst/>
          </a:prstGeom>
          <a:noFill/>
          <a:ln/>
        </p:spPr>
        <p:txBody>
          <a:bodyPr wrap="square" lIns="0" tIns="0" rIns="0" bIns="0" rtlCol="0" anchor="ctr"/>
          <a:lstStyle/>
          <a:p>
            <a:pPr marL="0" indent="0" algn="ctr">
              <a:buNone/>
            </a:pPr>
            <a:r>
              <a:rPr lang="en-US" sz="850" dirty="0">
                <a:solidFill>
                  <a:srgbClr val="0B2545"/>
                </a:solidFill>
                <a:latin typeface="Calibri" pitchFamily="34" charset="0"/>
                <a:ea typeface="Calibri" pitchFamily="34" charset="-122"/>
                <a:cs typeface="Calibri" pitchFamily="34" charset="-120"/>
              </a:rPr>
              <a:t>Tranche</a:t>
            </a:r>
            <a:endParaRPr lang="en-US" sz="850" dirty="0"/>
          </a:p>
        </p:txBody>
      </p:sp>
      <p:sp>
        <p:nvSpPr>
          <p:cNvPr id="82" name="Shape 80"/>
          <p:cNvSpPr/>
          <p:nvPr/>
        </p:nvSpPr>
        <p:spPr>
          <a:xfrm>
            <a:off x="6808622" y="4754880"/>
            <a:ext cx="746608" cy="310896"/>
          </a:xfrm>
          <a:prstGeom prst="roundRect">
            <a:avLst>
              <a:gd name="adj" fmla="val 50000"/>
            </a:avLst>
          </a:prstGeom>
          <a:solidFill>
            <a:srgbClr val="FFFFFF"/>
          </a:solidFill>
          <a:ln w="12700">
            <a:solidFill>
              <a:srgbClr val="0B2545"/>
            </a:solidFill>
            <a:prstDash val="solid"/>
          </a:ln>
        </p:spPr>
      </p:sp>
      <p:sp>
        <p:nvSpPr>
          <p:cNvPr id="83" name="Text 81"/>
          <p:cNvSpPr txBox="1"/>
          <p:nvPr/>
        </p:nvSpPr>
        <p:spPr>
          <a:xfrm>
            <a:off x="6845198" y="4754880"/>
            <a:ext cx="673456" cy="310896"/>
          </a:xfrm>
          <a:prstGeom prst="rect">
            <a:avLst/>
          </a:prstGeom>
          <a:noFill/>
          <a:ln/>
        </p:spPr>
        <p:txBody>
          <a:bodyPr wrap="square" lIns="0" tIns="0" rIns="0" bIns="0" rtlCol="0" anchor="ctr"/>
          <a:lstStyle/>
          <a:p>
            <a:pPr marL="0" indent="0" algn="ctr">
              <a:buNone/>
            </a:pPr>
            <a:r>
              <a:rPr lang="en-US" sz="850" dirty="0">
                <a:solidFill>
                  <a:srgbClr val="0B2545"/>
                </a:solidFill>
                <a:latin typeface="Calibri" pitchFamily="34" charset="0"/>
                <a:ea typeface="Calibri" pitchFamily="34" charset="-122"/>
                <a:cs typeface="Calibri" pitchFamily="34" charset="-120"/>
              </a:rPr>
              <a:t>Billing</a:t>
            </a:r>
            <a:endParaRPr lang="en-US" sz="850" dirty="0"/>
          </a:p>
        </p:txBody>
      </p:sp>
      <p:sp>
        <p:nvSpPr>
          <p:cNvPr id="84" name="Shape 82"/>
          <p:cNvSpPr/>
          <p:nvPr/>
        </p:nvSpPr>
        <p:spPr>
          <a:xfrm>
            <a:off x="7646670" y="4754880"/>
            <a:ext cx="746608" cy="310896"/>
          </a:xfrm>
          <a:prstGeom prst="roundRect">
            <a:avLst>
              <a:gd name="adj" fmla="val 50000"/>
            </a:avLst>
          </a:prstGeom>
          <a:solidFill>
            <a:srgbClr val="FFFFFF"/>
          </a:solidFill>
          <a:ln w="12700">
            <a:solidFill>
              <a:srgbClr val="0B2545"/>
            </a:solidFill>
            <a:prstDash val="solid"/>
          </a:ln>
        </p:spPr>
      </p:sp>
      <p:sp>
        <p:nvSpPr>
          <p:cNvPr id="85" name="Text 83"/>
          <p:cNvSpPr txBox="1"/>
          <p:nvPr/>
        </p:nvSpPr>
        <p:spPr>
          <a:xfrm>
            <a:off x="7683246" y="4754880"/>
            <a:ext cx="673456" cy="310896"/>
          </a:xfrm>
          <a:prstGeom prst="rect">
            <a:avLst/>
          </a:prstGeom>
          <a:noFill/>
          <a:ln/>
        </p:spPr>
        <p:txBody>
          <a:bodyPr wrap="square" lIns="0" tIns="0" rIns="0" bIns="0" rtlCol="0" anchor="ctr"/>
          <a:lstStyle/>
          <a:p>
            <a:pPr marL="0" indent="0" algn="ctr">
              <a:buNone/>
            </a:pPr>
            <a:r>
              <a:rPr lang="en-US" sz="850" dirty="0">
                <a:solidFill>
                  <a:srgbClr val="0B2545"/>
                </a:solidFill>
                <a:latin typeface="Calibri" pitchFamily="34" charset="0"/>
                <a:ea typeface="Calibri" pitchFamily="34" charset="-122"/>
                <a:cs typeface="Calibri" pitchFamily="34" charset="-120"/>
              </a:rPr>
              <a:t>Revenue</a:t>
            </a:r>
            <a:endParaRPr lang="en-US" sz="850" dirty="0"/>
          </a:p>
        </p:txBody>
      </p:sp>
      <p:sp>
        <p:nvSpPr>
          <p:cNvPr id="86" name="Shape 84"/>
          <p:cNvSpPr/>
          <p:nvPr/>
        </p:nvSpPr>
        <p:spPr>
          <a:xfrm>
            <a:off x="8484718" y="4754880"/>
            <a:ext cx="746608" cy="310896"/>
          </a:xfrm>
          <a:prstGeom prst="roundRect">
            <a:avLst>
              <a:gd name="adj" fmla="val 50000"/>
            </a:avLst>
          </a:prstGeom>
          <a:solidFill>
            <a:srgbClr val="FFFFFF"/>
          </a:solidFill>
          <a:ln w="12700">
            <a:solidFill>
              <a:srgbClr val="0B2545"/>
            </a:solidFill>
            <a:prstDash val="solid"/>
          </a:ln>
        </p:spPr>
      </p:sp>
      <p:sp>
        <p:nvSpPr>
          <p:cNvPr id="87" name="Text 85"/>
          <p:cNvSpPr txBox="1"/>
          <p:nvPr/>
        </p:nvSpPr>
        <p:spPr>
          <a:xfrm>
            <a:off x="8521294" y="4754880"/>
            <a:ext cx="673456" cy="310896"/>
          </a:xfrm>
          <a:prstGeom prst="rect">
            <a:avLst/>
          </a:prstGeom>
          <a:noFill/>
          <a:ln/>
        </p:spPr>
        <p:txBody>
          <a:bodyPr wrap="square" lIns="0" tIns="0" rIns="0" bIns="0" rtlCol="0" anchor="ctr"/>
          <a:lstStyle/>
          <a:p>
            <a:pPr marL="0" indent="0" algn="ctr">
              <a:buNone/>
            </a:pPr>
            <a:r>
              <a:rPr lang="en-US" sz="850" dirty="0">
                <a:solidFill>
                  <a:srgbClr val="0B2545"/>
                </a:solidFill>
                <a:latin typeface="Calibri" pitchFamily="34" charset="0"/>
                <a:ea typeface="Calibri" pitchFamily="34" charset="-122"/>
                <a:cs typeface="Calibri" pitchFamily="34" charset="-120"/>
              </a:rPr>
              <a:t>Collection</a:t>
            </a:r>
            <a:endParaRPr lang="en-US" sz="850" dirty="0"/>
          </a:p>
        </p:txBody>
      </p:sp>
      <p:sp>
        <p:nvSpPr>
          <p:cNvPr id="88" name="Shape 86"/>
          <p:cNvSpPr/>
          <p:nvPr/>
        </p:nvSpPr>
        <p:spPr>
          <a:xfrm>
            <a:off x="9322765" y="4754880"/>
            <a:ext cx="746608" cy="310896"/>
          </a:xfrm>
          <a:prstGeom prst="roundRect">
            <a:avLst>
              <a:gd name="adj" fmla="val 50000"/>
            </a:avLst>
          </a:prstGeom>
          <a:solidFill>
            <a:srgbClr val="FFFFFF"/>
          </a:solidFill>
          <a:ln w="12700">
            <a:solidFill>
              <a:srgbClr val="0B2545"/>
            </a:solidFill>
            <a:prstDash val="solid"/>
          </a:ln>
        </p:spPr>
      </p:sp>
      <p:sp>
        <p:nvSpPr>
          <p:cNvPr id="89" name="Text 87"/>
          <p:cNvSpPr txBox="1"/>
          <p:nvPr/>
        </p:nvSpPr>
        <p:spPr>
          <a:xfrm>
            <a:off x="9359341" y="4754880"/>
            <a:ext cx="673456" cy="310896"/>
          </a:xfrm>
          <a:prstGeom prst="rect">
            <a:avLst/>
          </a:prstGeom>
          <a:noFill/>
          <a:ln/>
        </p:spPr>
        <p:txBody>
          <a:bodyPr wrap="square" lIns="0" tIns="0" rIns="0" bIns="0" rtlCol="0" anchor="ctr"/>
          <a:lstStyle/>
          <a:p>
            <a:pPr marL="0" indent="0" algn="ctr">
              <a:buNone/>
            </a:pPr>
            <a:r>
              <a:rPr lang="en-US" sz="850" dirty="0">
                <a:solidFill>
                  <a:srgbClr val="0B2545"/>
                </a:solidFill>
                <a:latin typeface="Calibri" pitchFamily="34" charset="0"/>
                <a:ea typeface="Calibri" pitchFamily="34" charset="-122"/>
                <a:cs typeface="Calibri" pitchFamily="34" charset="-120"/>
              </a:rPr>
              <a:t>Business Events</a:t>
            </a:r>
            <a:endParaRPr lang="en-US" sz="850" dirty="0"/>
          </a:p>
        </p:txBody>
      </p:sp>
      <p:sp>
        <p:nvSpPr>
          <p:cNvPr id="90" name="Shape 88"/>
          <p:cNvSpPr/>
          <p:nvPr/>
        </p:nvSpPr>
        <p:spPr>
          <a:xfrm>
            <a:off x="548640" y="5376672"/>
            <a:ext cx="11064240" cy="886968"/>
          </a:xfrm>
          <a:prstGeom prst="roundRect">
            <a:avLst>
              <a:gd name="adj" fmla="val 8247"/>
            </a:avLst>
          </a:prstGeom>
          <a:solidFill>
            <a:srgbClr val="DCE6F2"/>
          </a:solidFill>
          <a:ln w="12700">
            <a:solidFill>
              <a:srgbClr val="DCE6F2"/>
            </a:solidFill>
            <a:prstDash val="solid"/>
          </a:ln>
        </p:spPr>
      </p:sp>
      <p:sp>
        <p:nvSpPr>
          <p:cNvPr id="91" name="Text 89"/>
          <p:cNvSpPr txBox="1"/>
          <p:nvPr/>
        </p:nvSpPr>
        <p:spPr>
          <a:xfrm>
            <a:off x="777240" y="5468112"/>
            <a:ext cx="2743200" cy="201168"/>
          </a:xfrm>
          <a:prstGeom prst="rect">
            <a:avLst/>
          </a:prstGeom>
          <a:noFill/>
          <a:ln/>
        </p:spPr>
        <p:txBody>
          <a:bodyPr wrap="square" lIns="0" tIns="0" rIns="0" bIns="0" rtlCol="0" anchor="ctr"/>
          <a:lstStyle/>
          <a:p>
            <a:pPr marL="0" indent="0">
              <a:buNone/>
            </a:pPr>
            <a:r>
              <a:rPr lang="en-US" sz="850" b="1" kern="0" spc="200" dirty="0">
                <a:solidFill>
                  <a:srgbClr val="1F4E8C"/>
                </a:solidFill>
                <a:latin typeface="Calibri" pitchFamily="34" charset="0"/>
                <a:ea typeface="Calibri" pitchFamily="34" charset="-122"/>
                <a:cs typeface="Calibri" pitchFamily="34" charset="-120"/>
              </a:rPr>
              <a:t>ROUTE A  ·  ROUTE B</a:t>
            </a:r>
            <a:endParaRPr lang="en-US" sz="850" dirty="0"/>
          </a:p>
        </p:txBody>
      </p:sp>
      <p:sp>
        <p:nvSpPr>
          <p:cNvPr id="92" name="Text 90"/>
          <p:cNvSpPr txBox="1"/>
          <p:nvPr/>
        </p:nvSpPr>
        <p:spPr>
          <a:xfrm>
            <a:off x="777240" y="5669280"/>
            <a:ext cx="10607040" cy="521208"/>
          </a:xfrm>
          <a:prstGeom prst="rect">
            <a:avLst/>
          </a:prstGeom>
          <a:noFill/>
          <a:ln/>
        </p:spPr>
        <p:txBody>
          <a:bodyPr wrap="square" lIns="0" tIns="0" rIns="0" bIns="0" rtlCol="0" anchor="t"/>
          <a:lstStyle/>
          <a:p>
            <a:pPr marL="0" indent="0">
              <a:buNone/>
            </a:pPr>
            <a:r>
              <a:rPr lang="en-US" sz="1050" b="1" dirty="0">
                <a:solidFill>
                  <a:srgbClr val="0B2545"/>
                </a:solidFill>
                <a:latin typeface="Calibri" pitchFamily="34" charset="0"/>
                <a:ea typeface="Calibri" pitchFamily="34" charset="-122"/>
                <a:cs typeface="Calibri" pitchFamily="34" charset="-120"/>
              </a:rPr>
              <a:t>Both routes understand, predict and recommend across the three AI layers. </a:t>
            </a:r>
            <a:r>
              <a:rPr lang="en-US" sz="1050" dirty="0">
                <a:solidFill>
                  <a:srgbClr val="33475B"/>
                </a:solidFill>
                <a:latin typeface="Calibri" pitchFamily="34" charset="0"/>
                <a:ea typeface="Calibri" pitchFamily="34" charset="-122"/>
                <a:cs typeface="Calibri" pitchFamily="34" charset="-120"/>
              </a:rPr>
              <a:t>Route A uses internal Nexbill data only; Route B adds external business context — improving timing, visibility, context and recommendation quality.</a:t>
            </a:r>
            <a:endParaRPr lang="en-US" sz="1050" dirty="0"/>
          </a:p>
        </p:txBody>
      </p:sp>
      <p:sp>
        <p:nvSpPr>
          <p:cNvPr id="93" name="Text 91"/>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900" dirty="0">
                <a:solidFill>
                  <a:srgbClr val="9AA8B8"/>
                </a:solidFill>
                <a:latin typeface="Calibri" pitchFamily="34" charset="0"/>
                <a:ea typeface="Calibri" pitchFamily="34" charset="-122"/>
                <a:cs typeface="Calibri" pitchFamily="34" charset="-120"/>
              </a:rPr>
              <a:t>Nexbill Financial Intelligence Platform</a:t>
            </a:r>
            <a:endParaRPr lang="en-US" sz="900" dirty="0"/>
          </a:p>
        </p:txBody>
      </p:sp>
      <p:sp>
        <p:nvSpPr>
          <p:cNvPr id="94" name="Text 92"/>
          <p:cNvSpPr txBox="1"/>
          <p:nvPr/>
        </p:nvSpPr>
        <p:spPr>
          <a:xfrm>
            <a:off x="11064240" y="6400800"/>
            <a:ext cx="548640" cy="274320"/>
          </a:xfrm>
          <a:prstGeom prst="rect">
            <a:avLst/>
          </a:prstGeom>
          <a:noFill/>
          <a:ln/>
        </p:spPr>
        <p:txBody>
          <a:bodyPr wrap="square" lIns="0" tIns="0" rIns="0" bIns="0" rtlCol="0" anchor="ctr"/>
          <a:lstStyle/>
          <a:p>
            <a:pPr marL="0" indent="0" algn="r">
              <a:buNone/>
            </a:pPr>
            <a:r>
              <a:rPr lang="en-US" sz="900" dirty="0">
                <a:solidFill>
                  <a:srgbClr val="9AA8B8"/>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Evolution of Finance Intelligence</a:t>
            </a:r>
            <a:endParaRPr lang="en-US" sz="3000" dirty="0"/>
          </a:p>
        </p:txBody>
      </p:sp>
      <p:sp>
        <p:nvSpPr>
          <p:cNvPr id="3" name="Text 1"/>
          <p:cNvSpPr txBox="1"/>
          <p:nvPr/>
        </p:nvSpPr>
        <p:spPr>
          <a:xfrm>
            <a:off x="548640" y="1078992"/>
            <a:ext cx="8595360" cy="502920"/>
          </a:xfrm>
          <a:prstGeom prst="rect">
            <a:avLst/>
          </a:prstGeom>
          <a:noFill/>
          <a:ln/>
        </p:spPr>
        <p:txBody>
          <a:bodyPr wrap="square" lIns="0" tIns="0" rIns="0" bIns="0" rtlCol="0" anchor="t"/>
          <a:lstStyle/>
          <a:p>
            <a:pPr marL="0" indent="0">
              <a:buNone/>
            </a:pPr>
            <a:r>
              <a:rPr lang="en-US" sz="1500" i="1" dirty="0">
                <a:solidFill>
                  <a:srgbClr val="5B6B7F"/>
                </a:solidFill>
                <a:latin typeface="Calibri" pitchFamily="34" charset="0"/>
                <a:ea typeface="Calibri" pitchFamily="34" charset="-122"/>
                <a:cs typeface="Calibri" pitchFamily="34" charset="-120"/>
              </a:rPr>
              <a:t>Why AI creates value — the same understand-predict-recommend reasoning, enhanced with earlier and more complete business context.</a:t>
            </a:r>
            <a:endParaRPr lang="en-US" sz="1500" dirty="0"/>
          </a:p>
        </p:txBody>
      </p:sp>
      <p:sp>
        <p:nvSpPr>
          <p:cNvPr id="4" name="Shape 2"/>
          <p:cNvSpPr/>
          <p:nvPr/>
        </p:nvSpPr>
        <p:spPr>
          <a:xfrm>
            <a:off x="10747858" y="438912"/>
            <a:ext cx="865022" cy="256032"/>
          </a:xfrm>
          <a:prstGeom prst="rect">
            <a:avLst/>
          </a:prstGeom>
          <a:solidFill>
            <a:srgbClr val="0B2545"/>
          </a:solidFill>
          <a:ln w="12700">
            <a:solidFill>
              <a:srgbClr val="0B2545"/>
            </a:solidFill>
            <a:prstDash val="solid"/>
          </a:ln>
        </p:spPr>
      </p:sp>
      <p:sp>
        <p:nvSpPr>
          <p:cNvPr id="5" name="Text 3"/>
          <p:cNvSpPr txBox="1"/>
          <p:nvPr/>
        </p:nvSpPr>
        <p:spPr>
          <a:xfrm>
            <a:off x="10747858" y="438912"/>
            <a:ext cx="865022"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latin typeface="Calibri" pitchFamily="34" charset="0"/>
                <a:ea typeface="Calibri" pitchFamily="34" charset="-122"/>
                <a:cs typeface="Calibri" pitchFamily="34" charset="-120"/>
              </a:rPr>
              <a:t>WHY AI?</a:t>
            </a:r>
            <a:endParaRPr lang="en-US" sz="850" dirty="0"/>
          </a:p>
        </p:txBody>
      </p:sp>
      <p:sp>
        <p:nvSpPr>
          <p:cNvPr id="6" name="Shape 4"/>
          <p:cNvSpPr/>
          <p:nvPr/>
        </p:nvSpPr>
        <p:spPr>
          <a:xfrm>
            <a:off x="548640" y="1600200"/>
            <a:ext cx="3520440" cy="3611880"/>
          </a:xfrm>
          <a:prstGeom prst="roundRect">
            <a:avLst>
              <a:gd name="adj" fmla="val 2078"/>
            </a:avLst>
          </a:prstGeom>
          <a:solidFill>
            <a:srgbClr val="EEF3FA"/>
          </a:solidFill>
          <a:ln w="9525">
            <a:solidFill>
              <a:srgbClr val="C9D6E6"/>
            </a:solidFill>
            <a:prstDash val="solid"/>
          </a:ln>
        </p:spPr>
      </p:sp>
      <p:sp>
        <p:nvSpPr>
          <p:cNvPr id="7" name="Text 5"/>
          <p:cNvSpPr txBox="1"/>
          <p:nvPr/>
        </p:nvSpPr>
        <p:spPr>
          <a:xfrm>
            <a:off x="749808" y="1728216"/>
            <a:ext cx="3118104" cy="182880"/>
          </a:xfrm>
          <a:prstGeom prst="rect">
            <a:avLst/>
          </a:prstGeom>
          <a:noFill/>
          <a:ln/>
        </p:spPr>
        <p:txBody>
          <a:bodyPr wrap="square" lIns="0" tIns="0" rIns="0" bIns="0" rtlCol="0" anchor="ctr"/>
          <a:lstStyle/>
          <a:p>
            <a:pPr marL="0" indent="0">
              <a:buNone/>
            </a:pPr>
            <a:r>
              <a:rPr lang="en-US" sz="800" b="1" kern="0" spc="200" dirty="0">
                <a:solidFill>
                  <a:srgbClr val="1F4E8C"/>
                </a:solidFill>
                <a:latin typeface="Calibri" pitchFamily="34" charset="0"/>
                <a:ea typeface="Calibri" pitchFamily="34" charset="-122"/>
                <a:cs typeface="Calibri" pitchFamily="34" charset="-120"/>
              </a:rPr>
              <a:t>TODAY</a:t>
            </a:r>
            <a:endParaRPr lang="en-US" sz="800" dirty="0"/>
          </a:p>
        </p:txBody>
      </p:sp>
      <p:sp>
        <p:nvSpPr>
          <p:cNvPr id="8" name="Text 6"/>
          <p:cNvSpPr txBox="1"/>
          <p:nvPr/>
        </p:nvSpPr>
        <p:spPr>
          <a:xfrm>
            <a:off x="749808" y="1911096"/>
            <a:ext cx="3118104" cy="292608"/>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Traditional Finance</a:t>
            </a:r>
            <a:endParaRPr lang="en-US" sz="1300" dirty="0"/>
          </a:p>
        </p:txBody>
      </p:sp>
      <p:sp>
        <p:nvSpPr>
          <p:cNvPr id="9" name="Text 7"/>
          <p:cNvSpPr txBox="1"/>
          <p:nvPr/>
        </p:nvSpPr>
        <p:spPr>
          <a:xfrm>
            <a:off x="749808" y="2203704"/>
            <a:ext cx="3118104" cy="201168"/>
          </a:xfrm>
          <a:prstGeom prst="rect">
            <a:avLst/>
          </a:prstGeom>
          <a:noFill/>
          <a:ln/>
        </p:spPr>
        <p:txBody>
          <a:bodyPr wrap="square" lIns="0" tIns="0" rIns="0" bIns="0" rtlCol="0" anchor="ctr"/>
          <a:lstStyle/>
          <a:p>
            <a:pPr marL="0" indent="0">
              <a:buNone/>
            </a:pPr>
            <a:r>
              <a:rPr lang="en-US" sz="850" b="1" dirty="0">
                <a:solidFill>
                  <a:srgbClr val="5B6B7F"/>
                </a:solidFill>
                <a:latin typeface="Calibri" pitchFamily="34" charset="0"/>
                <a:ea typeface="Calibri" pitchFamily="34" charset="-122"/>
                <a:cs typeface="Calibri" pitchFamily="34" charset="-120"/>
              </a:rPr>
              <a:t>Uses:  </a:t>
            </a:r>
            <a:r>
              <a:rPr lang="en-US" sz="850" dirty="0">
                <a:solidFill>
                  <a:srgbClr val="33475B"/>
                </a:solidFill>
                <a:latin typeface="Calibri" pitchFamily="34" charset="0"/>
                <a:ea typeface="Calibri" pitchFamily="34" charset="-122"/>
                <a:cs typeface="Calibri" pitchFamily="34" charset="-120"/>
              </a:rPr>
              <a:t>Reports and manual review</a:t>
            </a:r>
            <a:endParaRPr lang="en-US" sz="850" dirty="0"/>
          </a:p>
        </p:txBody>
      </p:sp>
      <p:sp>
        <p:nvSpPr>
          <p:cNvPr id="10" name="Shape 8"/>
          <p:cNvSpPr/>
          <p:nvPr/>
        </p:nvSpPr>
        <p:spPr>
          <a:xfrm>
            <a:off x="749808" y="2514600"/>
            <a:ext cx="1463040" cy="274320"/>
          </a:xfrm>
          <a:prstGeom prst="roundRect">
            <a:avLst>
              <a:gd name="adj" fmla="val 20000"/>
            </a:avLst>
          </a:prstGeom>
          <a:solidFill>
            <a:srgbClr val="DCE6F2"/>
          </a:solidFill>
          <a:ln w="9525">
            <a:solidFill>
              <a:srgbClr val="2A63AD"/>
            </a:solidFill>
            <a:prstDash val="solid"/>
          </a:ln>
        </p:spPr>
      </p:sp>
      <p:sp>
        <p:nvSpPr>
          <p:cNvPr id="11" name="Text 9"/>
          <p:cNvSpPr txBox="1"/>
          <p:nvPr/>
        </p:nvSpPr>
        <p:spPr>
          <a:xfrm>
            <a:off x="777240" y="2514600"/>
            <a:ext cx="1408176" cy="274320"/>
          </a:xfrm>
          <a:prstGeom prst="rect">
            <a:avLst/>
          </a:prstGeom>
          <a:noFill/>
          <a:ln/>
        </p:spPr>
        <p:txBody>
          <a:bodyPr wrap="square" lIns="0" tIns="0" rIns="0" bIns="0" rtlCol="0" anchor="ctr"/>
          <a:lstStyle/>
          <a:p>
            <a:pPr marL="0" indent="0" algn="ctr">
              <a:buNone/>
            </a:pPr>
            <a:r>
              <a:rPr lang="en-US" sz="750" b="1" dirty="0">
                <a:solidFill>
                  <a:srgbClr val="0B2545"/>
                </a:solidFill>
                <a:latin typeface="Calibri" pitchFamily="34" charset="0"/>
                <a:ea typeface="Calibri" pitchFamily="34" charset="-122"/>
                <a:cs typeface="Calibri" pitchFamily="34" charset="-120"/>
              </a:rPr>
              <a:t>Reports</a:t>
            </a:r>
            <a:endParaRPr lang="en-US" sz="750" dirty="0"/>
          </a:p>
        </p:txBody>
      </p:sp>
      <p:sp>
        <p:nvSpPr>
          <p:cNvPr id="12" name="Shape 10"/>
          <p:cNvSpPr/>
          <p:nvPr/>
        </p:nvSpPr>
        <p:spPr>
          <a:xfrm>
            <a:off x="1426464" y="2798064"/>
            <a:ext cx="109728" cy="91440"/>
          </a:xfrm>
          <a:prstGeom prst="downArrow">
            <a:avLst/>
          </a:prstGeom>
          <a:solidFill>
            <a:srgbClr val="8DA9C4"/>
          </a:solidFill>
          <a:ln w="12700">
            <a:solidFill>
              <a:srgbClr val="8DA9C4"/>
            </a:solidFill>
            <a:prstDash val="solid"/>
          </a:ln>
        </p:spPr>
      </p:sp>
      <p:sp>
        <p:nvSpPr>
          <p:cNvPr id="13" name="Shape 11"/>
          <p:cNvSpPr/>
          <p:nvPr/>
        </p:nvSpPr>
        <p:spPr>
          <a:xfrm>
            <a:off x="749808" y="2907792"/>
            <a:ext cx="1463040" cy="274320"/>
          </a:xfrm>
          <a:prstGeom prst="roundRect">
            <a:avLst>
              <a:gd name="adj" fmla="val 20000"/>
            </a:avLst>
          </a:prstGeom>
          <a:solidFill>
            <a:srgbClr val="DCE6F2"/>
          </a:solidFill>
          <a:ln w="9525">
            <a:solidFill>
              <a:srgbClr val="2A63AD"/>
            </a:solidFill>
            <a:prstDash val="solid"/>
          </a:ln>
        </p:spPr>
      </p:sp>
      <p:sp>
        <p:nvSpPr>
          <p:cNvPr id="14" name="Text 12"/>
          <p:cNvSpPr txBox="1"/>
          <p:nvPr/>
        </p:nvSpPr>
        <p:spPr>
          <a:xfrm>
            <a:off x="777240" y="2907792"/>
            <a:ext cx="1408176" cy="274320"/>
          </a:xfrm>
          <a:prstGeom prst="rect">
            <a:avLst/>
          </a:prstGeom>
          <a:noFill/>
          <a:ln/>
        </p:spPr>
        <p:txBody>
          <a:bodyPr wrap="square" lIns="0" tIns="0" rIns="0" bIns="0" rtlCol="0" anchor="ctr"/>
          <a:lstStyle/>
          <a:p>
            <a:pPr marL="0" indent="0" algn="ctr">
              <a:buNone/>
            </a:pPr>
            <a:r>
              <a:rPr lang="en-US" sz="750" b="1" dirty="0">
                <a:solidFill>
                  <a:srgbClr val="0B2545"/>
                </a:solidFill>
                <a:latin typeface="Calibri" pitchFamily="34" charset="0"/>
                <a:ea typeface="Calibri" pitchFamily="34" charset="-122"/>
                <a:cs typeface="Calibri" pitchFamily="34" charset="-120"/>
              </a:rPr>
              <a:t>Manual Analysis</a:t>
            </a:r>
            <a:endParaRPr lang="en-US" sz="750" dirty="0"/>
          </a:p>
        </p:txBody>
      </p:sp>
      <p:sp>
        <p:nvSpPr>
          <p:cNvPr id="15" name="Shape 13"/>
          <p:cNvSpPr/>
          <p:nvPr/>
        </p:nvSpPr>
        <p:spPr>
          <a:xfrm>
            <a:off x="1426464" y="3191256"/>
            <a:ext cx="109728" cy="91440"/>
          </a:xfrm>
          <a:prstGeom prst="downArrow">
            <a:avLst/>
          </a:prstGeom>
          <a:solidFill>
            <a:srgbClr val="8DA9C4"/>
          </a:solidFill>
          <a:ln w="12700">
            <a:solidFill>
              <a:srgbClr val="8DA9C4"/>
            </a:solidFill>
            <a:prstDash val="solid"/>
          </a:ln>
        </p:spPr>
      </p:sp>
      <p:sp>
        <p:nvSpPr>
          <p:cNvPr id="16" name="Shape 14"/>
          <p:cNvSpPr/>
          <p:nvPr/>
        </p:nvSpPr>
        <p:spPr>
          <a:xfrm>
            <a:off x="749808" y="3300984"/>
            <a:ext cx="1463040" cy="274320"/>
          </a:xfrm>
          <a:prstGeom prst="roundRect">
            <a:avLst>
              <a:gd name="adj" fmla="val 20000"/>
            </a:avLst>
          </a:prstGeom>
          <a:solidFill>
            <a:srgbClr val="DCE6F2"/>
          </a:solidFill>
          <a:ln w="9525">
            <a:solidFill>
              <a:srgbClr val="2A63AD"/>
            </a:solidFill>
            <a:prstDash val="solid"/>
          </a:ln>
        </p:spPr>
      </p:sp>
      <p:sp>
        <p:nvSpPr>
          <p:cNvPr id="17" name="Text 15"/>
          <p:cNvSpPr txBox="1"/>
          <p:nvPr/>
        </p:nvSpPr>
        <p:spPr>
          <a:xfrm>
            <a:off x="777240" y="3300984"/>
            <a:ext cx="1408176" cy="274320"/>
          </a:xfrm>
          <a:prstGeom prst="rect">
            <a:avLst/>
          </a:prstGeom>
          <a:noFill/>
          <a:ln/>
        </p:spPr>
        <p:txBody>
          <a:bodyPr wrap="square" lIns="0" tIns="0" rIns="0" bIns="0" rtlCol="0" anchor="ctr"/>
          <a:lstStyle/>
          <a:p>
            <a:pPr marL="0" indent="0" algn="ctr">
              <a:buNone/>
            </a:pPr>
            <a:r>
              <a:rPr lang="en-US" sz="750" b="1" dirty="0">
                <a:solidFill>
                  <a:srgbClr val="0B2545"/>
                </a:solidFill>
                <a:latin typeface="Calibri" pitchFamily="34" charset="0"/>
                <a:ea typeface="Calibri" pitchFamily="34" charset="-122"/>
                <a:cs typeface="Calibri" pitchFamily="34" charset="-120"/>
              </a:rPr>
              <a:t>Cross-Team Discussions</a:t>
            </a:r>
            <a:endParaRPr lang="en-US" sz="750" dirty="0"/>
          </a:p>
        </p:txBody>
      </p:sp>
      <p:sp>
        <p:nvSpPr>
          <p:cNvPr id="18" name="Shape 16"/>
          <p:cNvSpPr/>
          <p:nvPr/>
        </p:nvSpPr>
        <p:spPr>
          <a:xfrm>
            <a:off x="1426464" y="3584448"/>
            <a:ext cx="109728" cy="91440"/>
          </a:xfrm>
          <a:prstGeom prst="downArrow">
            <a:avLst/>
          </a:prstGeom>
          <a:solidFill>
            <a:srgbClr val="8DA9C4"/>
          </a:solidFill>
          <a:ln w="12700">
            <a:solidFill>
              <a:srgbClr val="8DA9C4"/>
            </a:solidFill>
            <a:prstDash val="solid"/>
          </a:ln>
        </p:spPr>
      </p:sp>
      <p:sp>
        <p:nvSpPr>
          <p:cNvPr id="19" name="Shape 17"/>
          <p:cNvSpPr/>
          <p:nvPr/>
        </p:nvSpPr>
        <p:spPr>
          <a:xfrm>
            <a:off x="749808" y="3694176"/>
            <a:ext cx="1463040" cy="274320"/>
          </a:xfrm>
          <a:prstGeom prst="roundRect">
            <a:avLst>
              <a:gd name="adj" fmla="val 20000"/>
            </a:avLst>
          </a:prstGeom>
          <a:solidFill>
            <a:srgbClr val="DCE6F2"/>
          </a:solidFill>
          <a:ln w="9525">
            <a:solidFill>
              <a:srgbClr val="2A63AD"/>
            </a:solidFill>
            <a:prstDash val="solid"/>
          </a:ln>
        </p:spPr>
      </p:sp>
      <p:sp>
        <p:nvSpPr>
          <p:cNvPr id="20" name="Text 18"/>
          <p:cNvSpPr txBox="1"/>
          <p:nvPr/>
        </p:nvSpPr>
        <p:spPr>
          <a:xfrm>
            <a:off x="777240" y="3694176"/>
            <a:ext cx="1408176" cy="274320"/>
          </a:xfrm>
          <a:prstGeom prst="rect">
            <a:avLst/>
          </a:prstGeom>
          <a:noFill/>
          <a:ln/>
        </p:spPr>
        <p:txBody>
          <a:bodyPr wrap="square" lIns="0" tIns="0" rIns="0" bIns="0" rtlCol="0" anchor="ctr"/>
          <a:lstStyle/>
          <a:p>
            <a:pPr marL="0" indent="0" algn="ctr">
              <a:buNone/>
            </a:pPr>
            <a:r>
              <a:rPr lang="en-US" sz="750" b="1" dirty="0">
                <a:solidFill>
                  <a:srgbClr val="0B2545"/>
                </a:solidFill>
                <a:latin typeface="Calibri" pitchFamily="34" charset="0"/>
                <a:ea typeface="Calibri" pitchFamily="34" charset="-122"/>
                <a:cs typeface="Calibri" pitchFamily="34" charset="-120"/>
              </a:rPr>
              <a:t>Business Recommendations</a:t>
            </a:r>
            <a:endParaRPr lang="en-US" sz="750" dirty="0"/>
          </a:p>
        </p:txBody>
      </p:sp>
      <p:sp>
        <p:nvSpPr>
          <p:cNvPr id="21" name="Text 19"/>
          <p:cNvSpPr txBox="1"/>
          <p:nvPr/>
        </p:nvSpPr>
        <p:spPr>
          <a:xfrm>
            <a:off x="749808" y="4014216"/>
            <a:ext cx="1463040" cy="182880"/>
          </a:xfrm>
          <a:prstGeom prst="rect">
            <a:avLst/>
          </a:prstGeom>
          <a:noFill/>
          <a:ln/>
        </p:spPr>
        <p:txBody>
          <a:bodyPr wrap="square" lIns="0" tIns="0" rIns="0" bIns="0" rtlCol="0" anchor="ctr"/>
          <a:lstStyle/>
          <a:p>
            <a:pPr marL="0" indent="0" algn="ctr">
              <a:buNone/>
            </a:pPr>
            <a:r>
              <a:rPr lang="en-US" sz="750" i="1" dirty="0">
                <a:solidFill>
                  <a:srgbClr val="5B6B7F"/>
                </a:solidFill>
                <a:latin typeface="Calibri" pitchFamily="34" charset="0"/>
                <a:ea typeface="Calibri" pitchFamily="34" charset="-122"/>
                <a:cs typeface="Calibri" pitchFamily="34" charset="-120"/>
              </a:rPr>
              <a:t>Process</a:t>
            </a:r>
            <a:endParaRPr lang="en-US" sz="750" dirty="0"/>
          </a:p>
        </p:txBody>
      </p:sp>
      <p:sp>
        <p:nvSpPr>
          <p:cNvPr id="22" name="Text 20"/>
          <p:cNvSpPr txBox="1"/>
          <p:nvPr/>
        </p:nvSpPr>
        <p:spPr>
          <a:xfrm>
            <a:off x="2377440" y="2514600"/>
            <a:ext cx="1508760" cy="182880"/>
          </a:xfrm>
          <a:prstGeom prst="rect">
            <a:avLst/>
          </a:prstGeom>
          <a:noFill/>
          <a:ln/>
        </p:spPr>
        <p:txBody>
          <a:bodyPr wrap="square" lIns="0" tIns="0" rIns="0" bIns="0" rtlCol="0" anchor="ctr"/>
          <a:lstStyle/>
          <a:p>
            <a:pPr marL="0" indent="0">
              <a:buNone/>
            </a:pPr>
            <a:r>
              <a:rPr lang="en-US" sz="850" b="1" dirty="0">
                <a:solidFill>
                  <a:srgbClr val="5B6B7F"/>
                </a:solidFill>
                <a:latin typeface="Calibri" pitchFamily="34" charset="0"/>
                <a:ea typeface="Calibri" pitchFamily="34" charset="-122"/>
                <a:cs typeface="Calibri" pitchFamily="34" charset="-120"/>
              </a:rPr>
              <a:t>Pain points</a:t>
            </a:r>
            <a:endParaRPr lang="en-US" sz="850" dirty="0"/>
          </a:p>
        </p:txBody>
      </p:sp>
      <p:sp>
        <p:nvSpPr>
          <p:cNvPr id="23" name="Text 21"/>
          <p:cNvSpPr txBox="1"/>
          <p:nvPr/>
        </p:nvSpPr>
        <p:spPr>
          <a:xfrm>
            <a:off x="2377440" y="2706624"/>
            <a:ext cx="1508760" cy="1920240"/>
          </a:xfrm>
          <a:prstGeom prst="rect">
            <a:avLst/>
          </a:prstGeom>
          <a:noFill/>
          <a:ln/>
        </p:spPr>
        <p:txBody>
          <a:bodyPr wrap="square" lIns="0" tIns="0" rIns="0" bIns="0" rtlCol="0" anchor="t"/>
          <a:lstStyle/>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Reactive</a:t>
            </a:r>
            <a:endParaRPr lang="en-US" sz="800" dirty="0"/>
          </a:p>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Manual</a:t>
            </a:r>
            <a:endParaRPr lang="en-US" sz="800" dirty="0"/>
          </a:p>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Fragmented</a:t>
            </a:r>
            <a:endParaRPr lang="en-US" sz="800" dirty="0"/>
          </a:p>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Difficult to scale</a:t>
            </a:r>
            <a:endParaRPr lang="en-US" sz="800" dirty="0"/>
          </a:p>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Weak forecasting</a:t>
            </a:r>
            <a:endParaRPr lang="en-US" sz="800" dirty="0"/>
          </a:p>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Cannot capture market changes in time</a:t>
            </a:r>
            <a:endParaRPr lang="en-US" sz="800" dirty="0"/>
          </a:p>
        </p:txBody>
      </p:sp>
      <p:sp>
        <p:nvSpPr>
          <p:cNvPr id="24" name="Shape 22"/>
          <p:cNvSpPr/>
          <p:nvPr/>
        </p:nvSpPr>
        <p:spPr>
          <a:xfrm>
            <a:off x="4105656" y="3296412"/>
            <a:ext cx="173736" cy="219456"/>
          </a:xfrm>
          <a:prstGeom prst="rightArrow">
            <a:avLst/>
          </a:prstGeom>
          <a:solidFill>
            <a:srgbClr val="8DA9C4"/>
          </a:solidFill>
          <a:ln w="12700">
            <a:solidFill>
              <a:srgbClr val="8DA9C4"/>
            </a:solidFill>
            <a:prstDash val="solid"/>
          </a:ln>
        </p:spPr>
      </p:sp>
      <p:sp>
        <p:nvSpPr>
          <p:cNvPr id="25" name="Shape 23"/>
          <p:cNvSpPr/>
          <p:nvPr/>
        </p:nvSpPr>
        <p:spPr>
          <a:xfrm>
            <a:off x="4315968" y="1600200"/>
            <a:ext cx="3520440" cy="3611880"/>
          </a:xfrm>
          <a:prstGeom prst="roundRect">
            <a:avLst>
              <a:gd name="adj" fmla="val 2078"/>
            </a:avLst>
          </a:prstGeom>
          <a:solidFill>
            <a:srgbClr val="EEF3FA"/>
          </a:solidFill>
          <a:ln w="9525">
            <a:solidFill>
              <a:srgbClr val="C9D6E6"/>
            </a:solidFill>
            <a:prstDash val="solid"/>
          </a:ln>
        </p:spPr>
      </p:sp>
      <p:sp>
        <p:nvSpPr>
          <p:cNvPr id="26" name="Text 24"/>
          <p:cNvSpPr txBox="1"/>
          <p:nvPr/>
        </p:nvSpPr>
        <p:spPr>
          <a:xfrm>
            <a:off x="4517136" y="1728216"/>
            <a:ext cx="3118104" cy="182880"/>
          </a:xfrm>
          <a:prstGeom prst="rect">
            <a:avLst/>
          </a:prstGeom>
          <a:noFill/>
          <a:ln/>
        </p:spPr>
        <p:txBody>
          <a:bodyPr wrap="square" lIns="0" tIns="0" rIns="0" bIns="0" rtlCol="0" anchor="ctr"/>
          <a:lstStyle/>
          <a:p>
            <a:pPr marL="0" indent="0">
              <a:buNone/>
            </a:pPr>
            <a:r>
              <a:rPr lang="en-US" sz="800" b="1" kern="0" spc="200" dirty="0">
                <a:solidFill>
                  <a:srgbClr val="1F4E8C"/>
                </a:solidFill>
                <a:latin typeface="Calibri" pitchFamily="34" charset="0"/>
                <a:ea typeface="Calibri" pitchFamily="34" charset="-122"/>
                <a:cs typeface="Calibri" pitchFamily="34" charset="-120"/>
              </a:rPr>
              <a:t>ROUTE A  ·  INTERNAL SIGNALS</a:t>
            </a:r>
            <a:endParaRPr lang="en-US" sz="800" dirty="0"/>
          </a:p>
        </p:txBody>
      </p:sp>
      <p:sp>
        <p:nvSpPr>
          <p:cNvPr id="27" name="Text 25"/>
          <p:cNvSpPr txBox="1"/>
          <p:nvPr/>
        </p:nvSpPr>
        <p:spPr>
          <a:xfrm>
            <a:off x="4517136" y="1911096"/>
            <a:ext cx="3118104" cy="292608"/>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Internal Intelligence</a:t>
            </a:r>
            <a:endParaRPr lang="en-US" sz="1300" dirty="0"/>
          </a:p>
        </p:txBody>
      </p:sp>
      <p:sp>
        <p:nvSpPr>
          <p:cNvPr id="28" name="Text 26"/>
          <p:cNvSpPr txBox="1"/>
          <p:nvPr/>
        </p:nvSpPr>
        <p:spPr>
          <a:xfrm>
            <a:off x="4517136" y="2203704"/>
            <a:ext cx="3118104" cy="201168"/>
          </a:xfrm>
          <a:prstGeom prst="rect">
            <a:avLst/>
          </a:prstGeom>
          <a:noFill/>
          <a:ln/>
        </p:spPr>
        <p:txBody>
          <a:bodyPr wrap="square" lIns="0" tIns="0" rIns="0" bIns="0" rtlCol="0" anchor="ctr"/>
          <a:lstStyle/>
          <a:p>
            <a:pPr marL="0" indent="0">
              <a:buNone/>
            </a:pPr>
            <a:r>
              <a:rPr lang="en-US" sz="850" b="1" dirty="0">
                <a:solidFill>
                  <a:srgbClr val="5B6B7F"/>
                </a:solidFill>
                <a:latin typeface="Calibri" pitchFamily="34" charset="0"/>
                <a:ea typeface="Calibri" pitchFamily="34" charset="-122"/>
                <a:cs typeface="Calibri" pitchFamily="34" charset="-120"/>
              </a:rPr>
              <a:t>Uses:  </a:t>
            </a:r>
            <a:r>
              <a:rPr lang="en-US" sz="850" dirty="0">
                <a:solidFill>
                  <a:srgbClr val="33475B"/>
                </a:solidFill>
                <a:latin typeface="Calibri" pitchFamily="34" charset="0"/>
                <a:ea typeface="Calibri" pitchFamily="34" charset="-122"/>
                <a:cs typeface="Calibri" pitchFamily="34" charset="-120"/>
              </a:rPr>
              <a:t>Historical Nexbill business behavior</a:t>
            </a:r>
            <a:endParaRPr lang="en-US" sz="850" dirty="0"/>
          </a:p>
        </p:txBody>
      </p:sp>
      <p:sp>
        <p:nvSpPr>
          <p:cNvPr id="29" name="Shape 27"/>
          <p:cNvSpPr/>
          <p:nvPr/>
        </p:nvSpPr>
        <p:spPr>
          <a:xfrm>
            <a:off x="4517136" y="2514600"/>
            <a:ext cx="1463040" cy="274320"/>
          </a:xfrm>
          <a:prstGeom prst="roundRect">
            <a:avLst>
              <a:gd name="adj" fmla="val 20000"/>
            </a:avLst>
          </a:prstGeom>
          <a:solidFill>
            <a:srgbClr val="DCE6F2"/>
          </a:solidFill>
          <a:ln w="9525">
            <a:solidFill>
              <a:srgbClr val="2A63AD"/>
            </a:solidFill>
            <a:prstDash val="solid"/>
          </a:ln>
        </p:spPr>
      </p:sp>
      <p:sp>
        <p:nvSpPr>
          <p:cNvPr id="30" name="Text 28"/>
          <p:cNvSpPr txBox="1"/>
          <p:nvPr/>
        </p:nvSpPr>
        <p:spPr>
          <a:xfrm>
            <a:off x="4544568" y="2514600"/>
            <a:ext cx="1408176" cy="274320"/>
          </a:xfrm>
          <a:prstGeom prst="rect">
            <a:avLst/>
          </a:prstGeom>
          <a:noFill/>
          <a:ln/>
        </p:spPr>
        <p:txBody>
          <a:bodyPr wrap="square" lIns="0" tIns="0" rIns="0" bIns="0" rtlCol="0" anchor="ctr"/>
          <a:lstStyle/>
          <a:p>
            <a:pPr marL="0" indent="0" algn="ctr">
              <a:buNone/>
            </a:pPr>
            <a:r>
              <a:rPr lang="en-US" sz="750" b="1" dirty="0">
                <a:solidFill>
                  <a:srgbClr val="0B2545"/>
                </a:solidFill>
                <a:latin typeface="Calibri" pitchFamily="34" charset="0"/>
                <a:ea typeface="Calibri" pitchFamily="34" charset="-122"/>
                <a:cs typeface="Calibri" pitchFamily="34" charset="-120"/>
              </a:rPr>
              <a:t>Pattern Discovery</a:t>
            </a:r>
            <a:endParaRPr lang="en-US" sz="750" dirty="0"/>
          </a:p>
        </p:txBody>
      </p:sp>
      <p:sp>
        <p:nvSpPr>
          <p:cNvPr id="31" name="Shape 29"/>
          <p:cNvSpPr/>
          <p:nvPr/>
        </p:nvSpPr>
        <p:spPr>
          <a:xfrm>
            <a:off x="5193792" y="2798064"/>
            <a:ext cx="109728" cy="91440"/>
          </a:xfrm>
          <a:prstGeom prst="downArrow">
            <a:avLst/>
          </a:prstGeom>
          <a:solidFill>
            <a:srgbClr val="8DA9C4"/>
          </a:solidFill>
          <a:ln w="12700">
            <a:solidFill>
              <a:srgbClr val="8DA9C4"/>
            </a:solidFill>
            <a:prstDash val="solid"/>
          </a:ln>
        </p:spPr>
      </p:sp>
      <p:sp>
        <p:nvSpPr>
          <p:cNvPr id="32" name="Shape 30"/>
          <p:cNvSpPr/>
          <p:nvPr/>
        </p:nvSpPr>
        <p:spPr>
          <a:xfrm>
            <a:off x="4517136" y="2907792"/>
            <a:ext cx="1463040" cy="274320"/>
          </a:xfrm>
          <a:prstGeom prst="roundRect">
            <a:avLst>
              <a:gd name="adj" fmla="val 20000"/>
            </a:avLst>
          </a:prstGeom>
          <a:solidFill>
            <a:srgbClr val="DCE6F2"/>
          </a:solidFill>
          <a:ln w="9525">
            <a:solidFill>
              <a:srgbClr val="2A63AD"/>
            </a:solidFill>
            <a:prstDash val="solid"/>
          </a:ln>
        </p:spPr>
      </p:sp>
      <p:sp>
        <p:nvSpPr>
          <p:cNvPr id="33" name="Text 31"/>
          <p:cNvSpPr txBox="1"/>
          <p:nvPr/>
        </p:nvSpPr>
        <p:spPr>
          <a:xfrm>
            <a:off x="4544568" y="2907792"/>
            <a:ext cx="1408176" cy="274320"/>
          </a:xfrm>
          <a:prstGeom prst="rect">
            <a:avLst/>
          </a:prstGeom>
          <a:noFill/>
          <a:ln/>
        </p:spPr>
        <p:txBody>
          <a:bodyPr wrap="square" lIns="0" tIns="0" rIns="0" bIns="0" rtlCol="0" anchor="ctr"/>
          <a:lstStyle/>
          <a:p>
            <a:pPr marL="0" indent="0" algn="ctr">
              <a:buNone/>
            </a:pPr>
            <a:r>
              <a:rPr lang="en-US" sz="750" b="1" dirty="0">
                <a:solidFill>
                  <a:srgbClr val="0B2545"/>
                </a:solidFill>
                <a:latin typeface="Calibri" pitchFamily="34" charset="0"/>
                <a:ea typeface="Calibri" pitchFamily="34" charset="-122"/>
                <a:cs typeface="Calibri" pitchFamily="34" charset="-120"/>
              </a:rPr>
              <a:t>Risk Prediction</a:t>
            </a:r>
            <a:endParaRPr lang="en-US" sz="750" dirty="0"/>
          </a:p>
        </p:txBody>
      </p:sp>
      <p:sp>
        <p:nvSpPr>
          <p:cNvPr id="34" name="Shape 32"/>
          <p:cNvSpPr/>
          <p:nvPr/>
        </p:nvSpPr>
        <p:spPr>
          <a:xfrm>
            <a:off x="5193792" y="3191256"/>
            <a:ext cx="109728" cy="91440"/>
          </a:xfrm>
          <a:prstGeom prst="downArrow">
            <a:avLst/>
          </a:prstGeom>
          <a:solidFill>
            <a:srgbClr val="8DA9C4"/>
          </a:solidFill>
          <a:ln w="12700">
            <a:solidFill>
              <a:srgbClr val="8DA9C4"/>
            </a:solidFill>
            <a:prstDash val="solid"/>
          </a:ln>
        </p:spPr>
      </p:sp>
      <p:sp>
        <p:nvSpPr>
          <p:cNvPr id="35" name="Shape 33"/>
          <p:cNvSpPr/>
          <p:nvPr/>
        </p:nvSpPr>
        <p:spPr>
          <a:xfrm>
            <a:off x="4517136" y="3300984"/>
            <a:ext cx="1463040" cy="274320"/>
          </a:xfrm>
          <a:prstGeom prst="roundRect">
            <a:avLst>
              <a:gd name="adj" fmla="val 20000"/>
            </a:avLst>
          </a:prstGeom>
          <a:solidFill>
            <a:srgbClr val="DCE6F2"/>
          </a:solidFill>
          <a:ln w="9525">
            <a:solidFill>
              <a:srgbClr val="2A63AD"/>
            </a:solidFill>
            <a:prstDash val="solid"/>
          </a:ln>
        </p:spPr>
      </p:sp>
      <p:sp>
        <p:nvSpPr>
          <p:cNvPr id="36" name="Text 34"/>
          <p:cNvSpPr txBox="1"/>
          <p:nvPr/>
        </p:nvSpPr>
        <p:spPr>
          <a:xfrm>
            <a:off x="4544568" y="3300984"/>
            <a:ext cx="1408176" cy="274320"/>
          </a:xfrm>
          <a:prstGeom prst="rect">
            <a:avLst/>
          </a:prstGeom>
          <a:noFill/>
          <a:ln/>
        </p:spPr>
        <p:txBody>
          <a:bodyPr wrap="square" lIns="0" tIns="0" rIns="0" bIns="0" rtlCol="0" anchor="ctr"/>
          <a:lstStyle/>
          <a:p>
            <a:pPr marL="0" indent="0" algn="ctr">
              <a:buNone/>
            </a:pPr>
            <a:r>
              <a:rPr lang="en-US" sz="750" b="1" dirty="0">
                <a:solidFill>
                  <a:srgbClr val="0B2545"/>
                </a:solidFill>
                <a:latin typeface="Calibri" pitchFamily="34" charset="0"/>
                <a:ea typeface="Calibri" pitchFamily="34" charset="-122"/>
                <a:cs typeface="Calibri" pitchFamily="34" charset="-120"/>
              </a:rPr>
              <a:t>Recommended Action</a:t>
            </a:r>
            <a:endParaRPr lang="en-US" sz="750" dirty="0"/>
          </a:p>
        </p:txBody>
      </p:sp>
      <p:sp>
        <p:nvSpPr>
          <p:cNvPr id="37" name="Text 35"/>
          <p:cNvSpPr txBox="1"/>
          <p:nvPr/>
        </p:nvSpPr>
        <p:spPr>
          <a:xfrm>
            <a:off x="4517136" y="3621024"/>
            <a:ext cx="1463040" cy="182880"/>
          </a:xfrm>
          <a:prstGeom prst="rect">
            <a:avLst/>
          </a:prstGeom>
          <a:noFill/>
          <a:ln/>
        </p:spPr>
        <p:txBody>
          <a:bodyPr wrap="square" lIns="0" tIns="0" rIns="0" bIns="0" rtlCol="0" anchor="ctr"/>
          <a:lstStyle/>
          <a:p>
            <a:pPr marL="0" indent="0" algn="ctr">
              <a:buNone/>
            </a:pPr>
            <a:r>
              <a:rPr lang="en-US" sz="750" i="1" dirty="0">
                <a:solidFill>
                  <a:srgbClr val="5B6B7F"/>
                </a:solidFill>
                <a:latin typeface="Calibri" pitchFamily="34" charset="0"/>
                <a:ea typeface="Calibri" pitchFamily="34" charset="-122"/>
                <a:cs typeface="Calibri" pitchFamily="34" charset="-120"/>
              </a:rPr>
              <a:t>Process</a:t>
            </a:r>
            <a:endParaRPr lang="en-US" sz="750" dirty="0"/>
          </a:p>
        </p:txBody>
      </p:sp>
      <p:sp>
        <p:nvSpPr>
          <p:cNvPr id="38" name="Text 36"/>
          <p:cNvSpPr txBox="1"/>
          <p:nvPr/>
        </p:nvSpPr>
        <p:spPr>
          <a:xfrm>
            <a:off x="6144768" y="2514600"/>
            <a:ext cx="1508760" cy="182880"/>
          </a:xfrm>
          <a:prstGeom prst="rect">
            <a:avLst/>
          </a:prstGeom>
          <a:noFill/>
          <a:ln/>
        </p:spPr>
        <p:txBody>
          <a:bodyPr wrap="square" lIns="0" tIns="0" rIns="0" bIns="0" rtlCol="0" anchor="ctr"/>
          <a:lstStyle/>
          <a:p>
            <a:pPr marL="0" indent="0">
              <a:buNone/>
            </a:pPr>
            <a:r>
              <a:rPr lang="en-US" sz="850" b="1" dirty="0">
                <a:solidFill>
                  <a:srgbClr val="5B6B7F"/>
                </a:solidFill>
                <a:latin typeface="Calibri" pitchFamily="34" charset="0"/>
                <a:ea typeface="Calibri" pitchFamily="34" charset="-122"/>
                <a:cs typeface="Calibri" pitchFamily="34" charset="-120"/>
              </a:rPr>
              <a:t>Capabilities</a:t>
            </a:r>
            <a:endParaRPr lang="en-US" sz="850" dirty="0"/>
          </a:p>
        </p:txBody>
      </p:sp>
      <p:sp>
        <p:nvSpPr>
          <p:cNvPr id="39" name="Text 37"/>
          <p:cNvSpPr txBox="1"/>
          <p:nvPr/>
        </p:nvSpPr>
        <p:spPr>
          <a:xfrm>
            <a:off x="6144768" y="2706624"/>
            <a:ext cx="1508760" cy="1051560"/>
          </a:xfrm>
          <a:prstGeom prst="rect">
            <a:avLst/>
          </a:prstGeom>
          <a:noFill/>
          <a:ln/>
        </p:spPr>
        <p:txBody>
          <a:bodyPr wrap="square" lIns="0" tIns="0" rIns="0" bIns="0" rtlCol="0" anchor="t"/>
          <a:lstStyle/>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Understand business behavior</a:t>
            </a:r>
            <a:endParaRPr lang="en-US" sz="800" dirty="0"/>
          </a:p>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Detect business patterns</a:t>
            </a:r>
            <a:endParaRPr lang="en-US" sz="800" dirty="0"/>
          </a:p>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Forecast risk</a:t>
            </a:r>
            <a:endParaRPr lang="en-US" sz="800" dirty="0"/>
          </a:p>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Recommend actions</a:t>
            </a:r>
            <a:endParaRPr lang="en-US" sz="800" dirty="0"/>
          </a:p>
        </p:txBody>
      </p:sp>
      <p:sp>
        <p:nvSpPr>
          <p:cNvPr id="40" name="Text 38"/>
          <p:cNvSpPr txBox="1"/>
          <p:nvPr/>
        </p:nvSpPr>
        <p:spPr>
          <a:xfrm>
            <a:off x="6144768" y="3794760"/>
            <a:ext cx="1508760" cy="182880"/>
          </a:xfrm>
          <a:prstGeom prst="rect">
            <a:avLst/>
          </a:prstGeom>
          <a:noFill/>
          <a:ln/>
        </p:spPr>
        <p:txBody>
          <a:bodyPr wrap="square" lIns="0" tIns="0" rIns="0" bIns="0" rtlCol="0" anchor="ctr"/>
          <a:lstStyle/>
          <a:p>
            <a:pPr marL="0" indent="0">
              <a:buNone/>
            </a:pPr>
            <a:r>
              <a:rPr lang="en-US" sz="850" b="1" dirty="0">
                <a:solidFill>
                  <a:srgbClr val="5B6B7F"/>
                </a:solidFill>
                <a:latin typeface="Calibri" pitchFamily="34" charset="0"/>
                <a:ea typeface="Calibri" pitchFamily="34" charset="-122"/>
                <a:cs typeface="Calibri" pitchFamily="34" charset="-120"/>
              </a:rPr>
              <a:t>Limitations</a:t>
            </a:r>
            <a:endParaRPr lang="en-US" sz="850" dirty="0"/>
          </a:p>
        </p:txBody>
      </p:sp>
      <p:sp>
        <p:nvSpPr>
          <p:cNvPr id="41" name="Text 39"/>
          <p:cNvSpPr txBox="1"/>
          <p:nvPr/>
        </p:nvSpPr>
        <p:spPr>
          <a:xfrm>
            <a:off x="6144768" y="3986784"/>
            <a:ext cx="1508760" cy="914400"/>
          </a:xfrm>
          <a:prstGeom prst="rect">
            <a:avLst/>
          </a:prstGeom>
          <a:noFill/>
          <a:ln/>
        </p:spPr>
        <p:txBody>
          <a:bodyPr wrap="square" lIns="0" tIns="0" rIns="0" bIns="0" rtlCol="0" anchor="t"/>
          <a:lstStyle/>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Only sees internal signals</a:t>
            </a:r>
            <a:endParaRPr lang="en-US" sz="800" dirty="0"/>
          </a:p>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Cannot understand the external reasons behind behavior changes</a:t>
            </a:r>
            <a:endParaRPr lang="en-US" sz="800" dirty="0"/>
          </a:p>
        </p:txBody>
      </p:sp>
      <p:sp>
        <p:nvSpPr>
          <p:cNvPr id="42" name="Shape 40"/>
          <p:cNvSpPr/>
          <p:nvPr/>
        </p:nvSpPr>
        <p:spPr>
          <a:xfrm>
            <a:off x="7872984" y="3296412"/>
            <a:ext cx="173736" cy="219456"/>
          </a:xfrm>
          <a:prstGeom prst="rightArrow">
            <a:avLst/>
          </a:prstGeom>
          <a:solidFill>
            <a:srgbClr val="8DA9C4"/>
          </a:solidFill>
          <a:ln w="12700">
            <a:solidFill>
              <a:srgbClr val="8DA9C4"/>
            </a:solidFill>
            <a:prstDash val="solid"/>
          </a:ln>
        </p:spPr>
      </p:sp>
      <p:sp>
        <p:nvSpPr>
          <p:cNvPr id="43" name="Shape 41"/>
          <p:cNvSpPr/>
          <p:nvPr/>
        </p:nvSpPr>
        <p:spPr>
          <a:xfrm>
            <a:off x="8083296" y="1600200"/>
            <a:ext cx="3520440" cy="3611880"/>
          </a:xfrm>
          <a:prstGeom prst="roundRect">
            <a:avLst>
              <a:gd name="adj" fmla="val 2078"/>
            </a:avLst>
          </a:prstGeom>
          <a:solidFill>
            <a:srgbClr val="0B2545"/>
          </a:solidFill>
          <a:ln w="12700">
            <a:solidFill>
              <a:srgbClr val="0B2545"/>
            </a:solidFill>
            <a:prstDash val="solid"/>
          </a:ln>
        </p:spPr>
      </p:sp>
      <p:sp>
        <p:nvSpPr>
          <p:cNvPr id="44" name="Text 42"/>
          <p:cNvSpPr txBox="1"/>
          <p:nvPr/>
        </p:nvSpPr>
        <p:spPr>
          <a:xfrm>
            <a:off x="8284464" y="1728216"/>
            <a:ext cx="3118104" cy="182880"/>
          </a:xfrm>
          <a:prstGeom prst="rect">
            <a:avLst/>
          </a:prstGeom>
          <a:noFill/>
          <a:ln/>
        </p:spPr>
        <p:txBody>
          <a:bodyPr wrap="square" lIns="0" tIns="0" rIns="0" bIns="0" rtlCol="0" anchor="ctr"/>
          <a:lstStyle/>
          <a:p>
            <a:pPr marL="0" indent="0">
              <a:buNone/>
            </a:pPr>
            <a:r>
              <a:rPr lang="en-US" sz="800" b="1" kern="0" spc="200" dirty="0">
                <a:solidFill>
                  <a:srgbClr val="8DA9C4"/>
                </a:solidFill>
                <a:latin typeface="Calibri" pitchFamily="34" charset="0"/>
                <a:ea typeface="Calibri" pitchFamily="34" charset="-122"/>
                <a:cs typeface="Calibri" pitchFamily="34" charset="-120"/>
              </a:rPr>
              <a:t>ROUTE B  ·  INTERNAL + EXTERNAL CONTEXT</a:t>
            </a:r>
            <a:endParaRPr lang="en-US" sz="800" dirty="0"/>
          </a:p>
        </p:txBody>
      </p:sp>
      <p:sp>
        <p:nvSpPr>
          <p:cNvPr id="45" name="Text 43"/>
          <p:cNvSpPr txBox="1"/>
          <p:nvPr/>
        </p:nvSpPr>
        <p:spPr>
          <a:xfrm>
            <a:off x="8284464" y="1911096"/>
            <a:ext cx="3118104"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Business Risk Intelligence</a:t>
            </a:r>
            <a:endParaRPr lang="en-US" sz="1300" dirty="0"/>
          </a:p>
        </p:txBody>
      </p:sp>
      <p:sp>
        <p:nvSpPr>
          <p:cNvPr id="46" name="Text 44"/>
          <p:cNvSpPr txBox="1"/>
          <p:nvPr/>
        </p:nvSpPr>
        <p:spPr>
          <a:xfrm>
            <a:off x="8284464" y="2203704"/>
            <a:ext cx="3118104" cy="201168"/>
          </a:xfrm>
          <a:prstGeom prst="rect">
            <a:avLst/>
          </a:prstGeom>
          <a:noFill/>
          <a:ln/>
        </p:spPr>
        <p:txBody>
          <a:bodyPr wrap="square" lIns="0" tIns="0" rIns="0" bIns="0" rtlCol="0" anchor="ctr"/>
          <a:lstStyle/>
          <a:p>
            <a:pPr marL="0" indent="0">
              <a:buNone/>
            </a:pPr>
            <a:r>
              <a:rPr lang="en-US" sz="850" b="1" dirty="0">
                <a:solidFill>
                  <a:srgbClr val="B8CBE3"/>
                </a:solidFill>
                <a:latin typeface="Calibri" pitchFamily="34" charset="0"/>
                <a:ea typeface="Calibri" pitchFamily="34" charset="-122"/>
                <a:cs typeface="Calibri" pitchFamily="34" charset="-120"/>
              </a:rPr>
              <a:t>Uses:  </a:t>
            </a:r>
            <a:r>
              <a:rPr lang="en-US" sz="850" dirty="0">
                <a:solidFill>
                  <a:srgbClr val="D9E4F2"/>
                </a:solidFill>
                <a:latin typeface="Calibri" pitchFamily="34" charset="0"/>
                <a:ea typeface="Calibri" pitchFamily="34" charset="-122"/>
                <a:cs typeface="Calibri" pitchFamily="34" charset="-120"/>
              </a:rPr>
              <a:t>Internal behavior + external business context</a:t>
            </a:r>
            <a:endParaRPr lang="en-US" sz="850" dirty="0"/>
          </a:p>
        </p:txBody>
      </p:sp>
      <p:sp>
        <p:nvSpPr>
          <p:cNvPr id="47" name="Shape 45"/>
          <p:cNvSpPr/>
          <p:nvPr/>
        </p:nvSpPr>
        <p:spPr>
          <a:xfrm>
            <a:off x="8284464" y="2514600"/>
            <a:ext cx="1463040" cy="274320"/>
          </a:xfrm>
          <a:prstGeom prst="roundRect">
            <a:avLst>
              <a:gd name="adj" fmla="val 20000"/>
            </a:avLst>
          </a:prstGeom>
          <a:solidFill>
            <a:srgbClr val="0F2F5C"/>
          </a:solidFill>
          <a:ln w="9525">
            <a:solidFill>
              <a:srgbClr val="5B95DD"/>
            </a:solidFill>
            <a:prstDash val="solid"/>
          </a:ln>
        </p:spPr>
      </p:sp>
      <p:sp>
        <p:nvSpPr>
          <p:cNvPr id="48" name="Text 46"/>
          <p:cNvSpPr txBox="1"/>
          <p:nvPr/>
        </p:nvSpPr>
        <p:spPr>
          <a:xfrm>
            <a:off x="8311896" y="2514600"/>
            <a:ext cx="1408176" cy="2743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Context Discovery</a:t>
            </a:r>
            <a:endParaRPr lang="en-US" sz="750" dirty="0"/>
          </a:p>
        </p:txBody>
      </p:sp>
      <p:sp>
        <p:nvSpPr>
          <p:cNvPr id="49" name="Shape 47"/>
          <p:cNvSpPr/>
          <p:nvPr/>
        </p:nvSpPr>
        <p:spPr>
          <a:xfrm>
            <a:off x="8961120" y="2798064"/>
            <a:ext cx="109728" cy="91440"/>
          </a:xfrm>
          <a:prstGeom prst="downArrow">
            <a:avLst/>
          </a:prstGeom>
          <a:solidFill>
            <a:srgbClr val="8DA9C4"/>
          </a:solidFill>
          <a:ln w="12700">
            <a:solidFill>
              <a:srgbClr val="8DA9C4"/>
            </a:solidFill>
            <a:prstDash val="solid"/>
          </a:ln>
        </p:spPr>
      </p:sp>
      <p:sp>
        <p:nvSpPr>
          <p:cNvPr id="50" name="Shape 48"/>
          <p:cNvSpPr/>
          <p:nvPr/>
        </p:nvSpPr>
        <p:spPr>
          <a:xfrm>
            <a:off x="8284464" y="2907792"/>
            <a:ext cx="1463040" cy="274320"/>
          </a:xfrm>
          <a:prstGeom prst="roundRect">
            <a:avLst>
              <a:gd name="adj" fmla="val 20000"/>
            </a:avLst>
          </a:prstGeom>
          <a:solidFill>
            <a:srgbClr val="0F2F5C"/>
          </a:solidFill>
          <a:ln w="9525">
            <a:solidFill>
              <a:srgbClr val="5B95DD"/>
            </a:solidFill>
            <a:prstDash val="solid"/>
          </a:ln>
        </p:spPr>
      </p:sp>
      <p:sp>
        <p:nvSpPr>
          <p:cNvPr id="51" name="Text 49"/>
          <p:cNvSpPr txBox="1"/>
          <p:nvPr/>
        </p:nvSpPr>
        <p:spPr>
          <a:xfrm>
            <a:off x="8311896" y="2907792"/>
            <a:ext cx="1408176" cy="2743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Risk Interpretation</a:t>
            </a:r>
            <a:endParaRPr lang="en-US" sz="750" dirty="0"/>
          </a:p>
        </p:txBody>
      </p:sp>
      <p:sp>
        <p:nvSpPr>
          <p:cNvPr id="52" name="Shape 50"/>
          <p:cNvSpPr/>
          <p:nvPr/>
        </p:nvSpPr>
        <p:spPr>
          <a:xfrm>
            <a:off x="8961120" y="3191256"/>
            <a:ext cx="109728" cy="91440"/>
          </a:xfrm>
          <a:prstGeom prst="downArrow">
            <a:avLst/>
          </a:prstGeom>
          <a:solidFill>
            <a:srgbClr val="8DA9C4"/>
          </a:solidFill>
          <a:ln w="12700">
            <a:solidFill>
              <a:srgbClr val="8DA9C4"/>
            </a:solidFill>
            <a:prstDash val="solid"/>
          </a:ln>
        </p:spPr>
      </p:sp>
      <p:sp>
        <p:nvSpPr>
          <p:cNvPr id="53" name="Shape 51"/>
          <p:cNvSpPr/>
          <p:nvPr/>
        </p:nvSpPr>
        <p:spPr>
          <a:xfrm>
            <a:off x="8284464" y="3300984"/>
            <a:ext cx="1463040" cy="274320"/>
          </a:xfrm>
          <a:prstGeom prst="roundRect">
            <a:avLst>
              <a:gd name="adj" fmla="val 20000"/>
            </a:avLst>
          </a:prstGeom>
          <a:solidFill>
            <a:srgbClr val="0F2F5C"/>
          </a:solidFill>
          <a:ln w="9525">
            <a:solidFill>
              <a:srgbClr val="5B95DD"/>
            </a:solidFill>
            <a:prstDash val="solid"/>
          </a:ln>
        </p:spPr>
      </p:sp>
      <p:sp>
        <p:nvSpPr>
          <p:cNvPr id="54" name="Text 52"/>
          <p:cNvSpPr txBox="1"/>
          <p:nvPr/>
        </p:nvSpPr>
        <p:spPr>
          <a:xfrm>
            <a:off x="8311896" y="3300984"/>
            <a:ext cx="1408176" cy="2743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Finance Impact Assessment</a:t>
            </a:r>
            <a:endParaRPr lang="en-US" sz="750" dirty="0"/>
          </a:p>
        </p:txBody>
      </p:sp>
      <p:sp>
        <p:nvSpPr>
          <p:cNvPr id="55" name="Shape 53"/>
          <p:cNvSpPr/>
          <p:nvPr/>
        </p:nvSpPr>
        <p:spPr>
          <a:xfrm>
            <a:off x="8961120" y="3584448"/>
            <a:ext cx="109728" cy="91440"/>
          </a:xfrm>
          <a:prstGeom prst="downArrow">
            <a:avLst/>
          </a:prstGeom>
          <a:solidFill>
            <a:srgbClr val="8DA9C4"/>
          </a:solidFill>
          <a:ln w="12700">
            <a:solidFill>
              <a:srgbClr val="8DA9C4"/>
            </a:solidFill>
            <a:prstDash val="solid"/>
          </a:ln>
        </p:spPr>
      </p:sp>
      <p:sp>
        <p:nvSpPr>
          <p:cNvPr id="56" name="Shape 54"/>
          <p:cNvSpPr/>
          <p:nvPr/>
        </p:nvSpPr>
        <p:spPr>
          <a:xfrm>
            <a:off x="8284464" y="3694176"/>
            <a:ext cx="1463040" cy="274320"/>
          </a:xfrm>
          <a:prstGeom prst="roundRect">
            <a:avLst>
              <a:gd name="adj" fmla="val 20000"/>
            </a:avLst>
          </a:prstGeom>
          <a:solidFill>
            <a:srgbClr val="0F2F5C"/>
          </a:solidFill>
          <a:ln w="9525">
            <a:solidFill>
              <a:srgbClr val="5B95DD"/>
            </a:solidFill>
            <a:prstDash val="solid"/>
          </a:ln>
        </p:spPr>
      </p:sp>
      <p:sp>
        <p:nvSpPr>
          <p:cNvPr id="57" name="Text 55"/>
          <p:cNvSpPr txBox="1"/>
          <p:nvPr/>
        </p:nvSpPr>
        <p:spPr>
          <a:xfrm>
            <a:off x="8311896" y="3694176"/>
            <a:ext cx="1408176" cy="2743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Recommended Action</a:t>
            </a:r>
            <a:endParaRPr lang="en-US" sz="750" dirty="0"/>
          </a:p>
        </p:txBody>
      </p:sp>
      <p:sp>
        <p:nvSpPr>
          <p:cNvPr id="58" name="Text 56"/>
          <p:cNvSpPr txBox="1"/>
          <p:nvPr/>
        </p:nvSpPr>
        <p:spPr>
          <a:xfrm>
            <a:off x="8284464" y="4014216"/>
            <a:ext cx="1463040" cy="182880"/>
          </a:xfrm>
          <a:prstGeom prst="rect">
            <a:avLst/>
          </a:prstGeom>
          <a:noFill/>
          <a:ln/>
        </p:spPr>
        <p:txBody>
          <a:bodyPr wrap="square" lIns="0" tIns="0" rIns="0" bIns="0" rtlCol="0" anchor="ctr"/>
          <a:lstStyle/>
          <a:p>
            <a:pPr marL="0" indent="0" algn="ctr">
              <a:buNone/>
            </a:pPr>
            <a:r>
              <a:rPr lang="en-US" sz="750" i="1" dirty="0">
                <a:solidFill>
                  <a:srgbClr val="B8CBE3"/>
                </a:solidFill>
                <a:latin typeface="Calibri" pitchFamily="34" charset="0"/>
                <a:ea typeface="Calibri" pitchFamily="34" charset="-122"/>
                <a:cs typeface="Calibri" pitchFamily="34" charset="-120"/>
              </a:rPr>
              <a:t>Process</a:t>
            </a:r>
            <a:endParaRPr lang="en-US" sz="750" dirty="0"/>
          </a:p>
        </p:txBody>
      </p:sp>
      <p:sp>
        <p:nvSpPr>
          <p:cNvPr id="59" name="Text 57"/>
          <p:cNvSpPr txBox="1"/>
          <p:nvPr/>
        </p:nvSpPr>
        <p:spPr>
          <a:xfrm>
            <a:off x="9912096" y="2514600"/>
            <a:ext cx="1508760" cy="182880"/>
          </a:xfrm>
          <a:prstGeom prst="rect">
            <a:avLst/>
          </a:prstGeom>
          <a:noFill/>
          <a:ln/>
        </p:spPr>
        <p:txBody>
          <a:bodyPr wrap="square" lIns="0" tIns="0" rIns="0" bIns="0" rtlCol="0" anchor="ctr"/>
          <a:lstStyle/>
          <a:p>
            <a:pPr marL="0" indent="0">
              <a:buNone/>
            </a:pPr>
            <a:r>
              <a:rPr lang="en-US" sz="850" b="1" dirty="0">
                <a:solidFill>
                  <a:srgbClr val="B8CBE3"/>
                </a:solidFill>
                <a:latin typeface="Calibri" pitchFamily="34" charset="0"/>
                <a:ea typeface="Calibri" pitchFamily="34" charset="-122"/>
                <a:cs typeface="Calibri" pitchFamily="34" charset="-120"/>
              </a:rPr>
              <a:t>Capabilities</a:t>
            </a:r>
            <a:endParaRPr lang="en-US" sz="850" dirty="0"/>
          </a:p>
        </p:txBody>
      </p:sp>
      <p:sp>
        <p:nvSpPr>
          <p:cNvPr id="60" name="Text 58"/>
          <p:cNvSpPr txBox="1"/>
          <p:nvPr/>
        </p:nvSpPr>
        <p:spPr>
          <a:xfrm>
            <a:off x="9912096" y="2706624"/>
            <a:ext cx="1508760" cy="1051560"/>
          </a:xfrm>
          <a:prstGeom prst="rect">
            <a:avLst/>
          </a:prstGeom>
          <a:noFill/>
          <a:ln/>
        </p:spPr>
        <p:txBody>
          <a:bodyPr wrap="square" lIns="0" tIns="0" rIns="0" bIns="0" rtlCol="0" anchor="t"/>
          <a:lstStyle/>
          <a:p>
            <a:pPr marL="342900" indent="-342900">
              <a:spcAft>
                <a:spcPts val="400"/>
              </a:spcAft>
              <a:buSzPct val="100000"/>
              <a:buChar char="•"/>
            </a:pPr>
            <a:r>
              <a:rPr lang="en-US" sz="800" dirty="0">
                <a:solidFill>
                  <a:srgbClr val="D9E4F2"/>
                </a:solidFill>
                <a:latin typeface="Calibri" pitchFamily="34" charset="0"/>
                <a:ea typeface="Calibri" pitchFamily="34" charset="-122"/>
                <a:cs typeface="Calibri" pitchFamily="34" charset="-120"/>
              </a:rPr>
              <a:t>Earlier understanding</a:t>
            </a:r>
            <a:endParaRPr lang="en-US" sz="800" dirty="0"/>
          </a:p>
          <a:p>
            <a:pPr marL="342900" indent="-342900">
              <a:spcAft>
                <a:spcPts val="400"/>
              </a:spcAft>
              <a:buSzPct val="100000"/>
              <a:buChar char="•"/>
            </a:pPr>
            <a:r>
              <a:rPr lang="en-US" sz="800" dirty="0">
                <a:solidFill>
                  <a:srgbClr val="D9E4F2"/>
                </a:solidFill>
                <a:latin typeface="Calibri" pitchFamily="34" charset="0"/>
                <a:ea typeface="Calibri" pitchFamily="34" charset="-122"/>
                <a:cs typeface="Calibri" pitchFamily="34" charset="-120"/>
              </a:rPr>
              <a:t>Earlier risk detection</a:t>
            </a:r>
            <a:endParaRPr lang="en-US" sz="800" dirty="0"/>
          </a:p>
          <a:p>
            <a:pPr marL="342900" indent="-342900">
              <a:spcAft>
                <a:spcPts val="400"/>
              </a:spcAft>
              <a:buSzPct val="100000"/>
              <a:buChar char="•"/>
            </a:pPr>
            <a:r>
              <a:rPr lang="en-US" sz="800" dirty="0">
                <a:solidFill>
                  <a:srgbClr val="D9E4F2"/>
                </a:solidFill>
                <a:latin typeface="Calibri" pitchFamily="34" charset="0"/>
                <a:ea typeface="Calibri" pitchFamily="34" charset="-122"/>
                <a:cs typeface="Calibri" pitchFamily="34" charset="-120"/>
              </a:rPr>
              <a:t>More complete business context</a:t>
            </a:r>
            <a:endParaRPr lang="en-US" sz="800" dirty="0"/>
          </a:p>
          <a:p>
            <a:pPr marL="342900" indent="-342900">
              <a:spcAft>
                <a:spcPts val="400"/>
              </a:spcAft>
              <a:buSzPct val="100000"/>
              <a:buChar char="•"/>
            </a:pPr>
            <a:r>
              <a:rPr lang="en-US" sz="800" dirty="0">
                <a:solidFill>
                  <a:srgbClr val="D9E4F2"/>
                </a:solidFill>
                <a:latin typeface="Calibri" pitchFamily="34" charset="0"/>
                <a:ea typeface="Calibri" pitchFamily="34" charset="-122"/>
                <a:cs typeface="Calibri" pitchFamily="34" charset="-120"/>
              </a:rPr>
              <a:t>Better recommendations</a:t>
            </a:r>
            <a:endParaRPr lang="en-US" sz="800" dirty="0"/>
          </a:p>
        </p:txBody>
      </p:sp>
      <p:sp>
        <p:nvSpPr>
          <p:cNvPr id="61" name="Text 59"/>
          <p:cNvSpPr txBox="1"/>
          <p:nvPr/>
        </p:nvSpPr>
        <p:spPr>
          <a:xfrm>
            <a:off x="9912096" y="3794760"/>
            <a:ext cx="1508760" cy="182880"/>
          </a:xfrm>
          <a:prstGeom prst="rect">
            <a:avLst/>
          </a:prstGeom>
          <a:noFill/>
          <a:ln/>
        </p:spPr>
        <p:txBody>
          <a:bodyPr wrap="square" lIns="0" tIns="0" rIns="0" bIns="0" rtlCol="0" anchor="ctr"/>
          <a:lstStyle/>
          <a:p>
            <a:pPr marL="0" indent="0">
              <a:buNone/>
            </a:pPr>
            <a:r>
              <a:rPr lang="en-US" sz="850" b="1" dirty="0">
                <a:solidFill>
                  <a:srgbClr val="B8CBE3"/>
                </a:solidFill>
                <a:latin typeface="Calibri" pitchFamily="34" charset="0"/>
                <a:ea typeface="Calibri" pitchFamily="34" charset="-122"/>
                <a:cs typeface="Calibri" pitchFamily="34" charset="-120"/>
              </a:rPr>
              <a:t>Challenges</a:t>
            </a:r>
            <a:endParaRPr lang="en-US" sz="850" dirty="0"/>
          </a:p>
        </p:txBody>
      </p:sp>
      <p:sp>
        <p:nvSpPr>
          <p:cNvPr id="62" name="Text 60"/>
          <p:cNvSpPr txBox="1"/>
          <p:nvPr/>
        </p:nvSpPr>
        <p:spPr>
          <a:xfrm>
            <a:off x="9912096" y="3986784"/>
            <a:ext cx="1508760" cy="914400"/>
          </a:xfrm>
          <a:prstGeom prst="rect">
            <a:avLst/>
          </a:prstGeom>
          <a:noFill/>
          <a:ln/>
        </p:spPr>
        <p:txBody>
          <a:bodyPr wrap="square" lIns="0" tIns="0" rIns="0" bIns="0" rtlCol="0" anchor="t"/>
          <a:lstStyle/>
          <a:p>
            <a:pPr marL="342900" indent="-342900">
              <a:spcAft>
                <a:spcPts val="400"/>
              </a:spcAft>
              <a:buSzPct val="100000"/>
              <a:buChar char="•"/>
            </a:pPr>
            <a:r>
              <a:rPr lang="en-US" sz="800" dirty="0">
                <a:solidFill>
                  <a:srgbClr val="D9E4F2"/>
                </a:solidFill>
                <a:latin typeface="Calibri" pitchFamily="34" charset="0"/>
                <a:ea typeface="Calibri" pitchFamily="34" charset="-122"/>
                <a:cs typeface="Calibri" pitchFamily="34" charset="-120"/>
              </a:rPr>
              <a:t>External data sourcing</a:t>
            </a:r>
            <a:endParaRPr lang="en-US" sz="800" dirty="0"/>
          </a:p>
          <a:p>
            <a:pPr marL="342900" indent="-342900">
              <a:spcAft>
                <a:spcPts val="400"/>
              </a:spcAft>
              <a:buSzPct val="100000"/>
              <a:buChar char="•"/>
            </a:pPr>
            <a:r>
              <a:rPr lang="en-US" sz="800" dirty="0">
                <a:solidFill>
                  <a:srgbClr val="D9E4F2"/>
                </a:solidFill>
                <a:latin typeface="Calibri" pitchFamily="34" charset="0"/>
                <a:ea typeface="Calibri" pitchFamily="34" charset="-122"/>
                <a:cs typeface="Calibri" pitchFamily="34" charset="-120"/>
              </a:rPr>
              <a:t>Customer mapping</a:t>
            </a:r>
            <a:endParaRPr lang="en-US" sz="800" dirty="0"/>
          </a:p>
          <a:p>
            <a:pPr marL="342900" indent="-342900">
              <a:spcAft>
                <a:spcPts val="400"/>
              </a:spcAft>
              <a:buSzPct val="100000"/>
              <a:buChar char="•"/>
            </a:pPr>
            <a:r>
              <a:rPr lang="en-US" sz="800" dirty="0">
                <a:solidFill>
                  <a:srgbClr val="D9E4F2"/>
                </a:solidFill>
                <a:latin typeface="Calibri" pitchFamily="34" charset="0"/>
                <a:ea typeface="Calibri" pitchFamily="34" charset="-122"/>
                <a:cs typeface="Calibri" pitchFamily="34" charset="-120"/>
              </a:rPr>
              <a:t>Data quality</a:t>
            </a:r>
            <a:endParaRPr lang="en-US" sz="800" dirty="0"/>
          </a:p>
          <a:p>
            <a:pPr marL="342900" indent="-342900">
              <a:spcAft>
                <a:spcPts val="400"/>
              </a:spcAft>
              <a:buSzPct val="100000"/>
              <a:buChar char="•"/>
            </a:pPr>
            <a:r>
              <a:rPr lang="en-US" sz="800" dirty="0">
                <a:solidFill>
                  <a:srgbClr val="D9E4F2"/>
                </a:solidFill>
                <a:latin typeface="Calibri" pitchFamily="34" charset="0"/>
                <a:ea typeface="Calibri" pitchFamily="34" charset="-122"/>
                <a:cs typeface="Calibri" pitchFamily="34" charset="-120"/>
              </a:rPr>
              <a:t>Governance</a:t>
            </a:r>
            <a:endParaRPr lang="en-US" sz="800" dirty="0"/>
          </a:p>
        </p:txBody>
      </p:sp>
      <p:sp>
        <p:nvSpPr>
          <p:cNvPr id="63" name="Shape 61"/>
          <p:cNvSpPr/>
          <p:nvPr/>
        </p:nvSpPr>
        <p:spPr>
          <a:xfrm>
            <a:off x="548640" y="5349240"/>
            <a:ext cx="11064240" cy="914400"/>
          </a:xfrm>
          <a:prstGeom prst="roundRect">
            <a:avLst>
              <a:gd name="adj" fmla="val 8000"/>
            </a:avLst>
          </a:prstGeom>
          <a:solidFill>
            <a:srgbClr val="DCE6F2"/>
          </a:solidFill>
          <a:ln w="12700">
            <a:solidFill>
              <a:srgbClr val="DCE6F2"/>
            </a:solidFill>
            <a:prstDash val="solid"/>
          </a:ln>
        </p:spPr>
      </p:sp>
      <p:sp>
        <p:nvSpPr>
          <p:cNvPr id="64" name="Shape 62"/>
          <p:cNvSpPr/>
          <p:nvPr/>
        </p:nvSpPr>
        <p:spPr>
          <a:xfrm>
            <a:off x="777240" y="5486400"/>
            <a:ext cx="54864" cy="640080"/>
          </a:xfrm>
          <a:prstGeom prst="rect">
            <a:avLst/>
          </a:prstGeom>
          <a:solidFill>
            <a:srgbClr val="0B2545"/>
          </a:solidFill>
          <a:ln w="12700">
            <a:solidFill>
              <a:srgbClr val="0B2545"/>
            </a:solidFill>
            <a:prstDash val="solid"/>
          </a:ln>
        </p:spPr>
      </p:sp>
      <p:sp>
        <p:nvSpPr>
          <p:cNvPr id="65" name="Text 63"/>
          <p:cNvSpPr txBox="1"/>
          <p:nvPr/>
        </p:nvSpPr>
        <p:spPr>
          <a:xfrm>
            <a:off x="914400" y="5440680"/>
            <a:ext cx="3246120" cy="731520"/>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Traditional Finance </a:t>
            </a:r>
            <a:r>
              <a:rPr lang="en-US" sz="950" dirty="0">
                <a:solidFill>
                  <a:srgbClr val="33475B"/>
                </a:solidFill>
                <a:latin typeface="Calibri" pitchFamily="34" charset="0"/>
                <a:ea typeface="Calibri" pitchFamily="34" charset="-122"/>
                <a:cs typeface="Calibri" pitchFamily="34" charset="-120"/>
              </a:rPr>
              <a:t>explains what happened.</a:t>
            </a:r>
            <a:endParaRPr lang="en-US" sz="950" dirty="0"/>
          </a:p>
        </p:txBody>
      </p:sp>
      <p:sp>
        <p:nvSpPr>
          <p:cNvPr id="66" name="Shape 64"/>
          <p:cNvSpPr/>
          <p:nvPr/>
        </p:nvSpPr>
        <p:spPr>
          <a:xfrm>
            <a:off x="4544568" y="5486400"/>
            <a:ext cx="54864" cy="640080"/>
          </a:xfrm>
          <a:prstGeom prst="rect">
            <a:avLst/>
          </a:prstGeom>
          <a:solidFill>
            <a:srgbClr val="2A63AD"/>
          </a:solidFill>
          <a:ln w="12700">
            <a:solidFill>
              <a:srgbClr val="2A63AD"/>
            </a:solidFill>
            <a:prstDash val="solid"/>
          </a:ln>
        </p:spPr>
      </p:sp>
      <p:sp>
        <p:nvSpPr>
          <p:cNvPr id="67" name="Text 65"/>
          <p:cNvSpPr txBox="1"/>
          <p:nvPr/>
        </p:nvSpPr>
        <p:spPr>
          <a:xfrm>
            <a:off x="4681728" y="5440680"/>
            <a:ext cx="3246120" cy="731520"/>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Internal Intelligence </a:t>
            </a:r>
            <a:r>
              <a:rPr lang="en-US" sz="950" dirty="0">
                <a:solidFill>
                  <a:srgbClr val="33475B"/>
                </a:solidFill>
                <a:latin typeface="Calibri" pitchFamily="34" charset="0"/>
                <a:ea typeface="Calibri" pitchFamily="34" charset="-122"/>
                <a:cs typeface="Calibri" pitchFamily="34" charset="-120"/>
              </a:rPr>
              <a:t>understands and predicts using internal business behavior.</a:t>
            </a:r>
            <a:endParaRPr lang="en-US" sz="950" dirty="0"/>
          </a:p>
        </p:txBody>
      </p:sp>
      <p:sp>
        <p:nvSpPr>
          <p:cNvPr id="68" name="Shape 66"/>
          <p:cNvSpPr/>
          <p:nvPr/>
        </p:nvSpPr>
        <p:spPr>
          <a:xfrm>
            <a:off x="8311896" y="5486400"/>
            <a:ext cx="54864" cy="640080"/>
          </a:xfrm>
          <a:prstGeom prst="rect">
            <a:avLst/>
          </a:prstGeom>
          <a:solidFill>
            <a:srgbClr val="5B95DD"/>
          </a:solidFill>
          <a:ln w="12700">
            <a:solidFill>
              <a:srgbClr val="5B95DD"/>
            </a:solidFill>
            <a:prstDash val="solid"/>
          </a:ln>
        </p:spPr>
      </p:sp>
      <p:sp>
        <p:nvSpPr>
          <p:cNvPr id="69" name="Text 67"/>
          <p:cNvSpPr txBox="1"/>
          <p:nvPr/>
        </p:nvSpPr>
        <p:spPr>
          <a:xfrm>
            <a:off x="8449056" y="5440680"/>
            <a:ext cx="3246120" cy="731520"/>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Business Risk Intelligence </a:t>
            </a:r>
            <a:r>
              <a:rPr lang="en-US" sz="950" dirty="0">
                <a:solidFill>
                  <a:srgbClr val="33475B"/>
                </a:solidFill>
                <a:latin typeface="Calibri" pitchFamily="34" charset="0"/>
                <a:ea typeface="Calibri" pitchFamily="34" charset="-122"/>
                <a:cs typeface="Calibri" pitchFamily="34" charset="-120"/>
              </a:rPr>
              <a:t>understands and predicts using internal behavior and external business context — improving timing, context, visibility and recommendation quality.</a:t>
            </a:r>
            <a:endParaRPr lang="en-US" sz="950" dirty="0"/>
          </a:p>
        </p:txBody>
      </p:sp>
      <p:sp>
        <p:nvSpPr>
          <p:cNvPr id="70" name="Text 68"/>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900" dirty="0">
                <a:solidFill>
                  <a:srgbClr val="9AA8B8"/>
                </a:solidFill>
                <a:latin typeface="Calibri" pitchFamily="34" charset="0"/>
                <a:ea typeface="Calibri" pitchFamily="34" charset="-122"/>
                <a:cs typeface="Calibri" pitchFamily="34" charset="-120"/>
              </a:rPr>
              <a:t>Nexbill Financial Intelligence Platform</a:t>
            </a:r>
            <a:endParaRPr lang="en-US" sz="900" dirty="0"/>
          </a:p>
        </p:txBody>
      </p:sp>
      <p:sp>
        <p:nvSpPr>
          <p:cNvPr id="71" name="Text 69"/>
          <p:cNvSpPr txBox="1"/>
          <p:nvPr/>
        </p:nvSpPr>
        <p:spPr>
          <a:xfrm>
            <a:off x="11064240" y="6400800"/>
            <a:ext cx="548640" cy="274320"/>
          </a:xfrm>
          <a:prstGeom prst="rect">
            <a:avLst/>
          </a:prstGeom>
          <a:noFill/>
          <a:ln/>
        </p:spPr>
        <p:txBody>
          <a:bodyPr wrap="square" lIns="0" tIns="0" rIns="0" bIns="0" rtlCol="0" anchor="ctr"/>
          <a:lstStyle/>
          <a:p>
            <a:pPr marL="0" indent="0" algn="r">
              <a:buNone/>
            </a:pPr>
            <a:r>
              <a:rPr lang="en-US" sz="900" dirty="0">
                <a:solidFill>
                  <a:srgbClr val="9AA8B8"/>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Finance Intelligence</a:t>
            </a:r>
            <a:endParaRPr lang="en-US" sz="3000" dirty="0"/>
          </a:p>
        </p:txBody>
      </p:sp>
      <p:sp>
        <p:nvSpPr>
          <p:cNvPr id="3" name="Text 1"/>
          <p:cNvSpPr txBox="1"/>
          <p:nvPr/>
        </p:nvSpPr>
        <p:spPr>
          <a:xfrm>
            <a:off x="548640" y="1078992"/>
            <a:ext cx="8595360" cy="502920"/>
          </a:xfrm>
          <a:prstGeom prst="rect">
            <a:avLst/>
          </a:prstGeom>
          <a:noFill/>
          <a:ln/>
        </p:spPr>
        <p:txBody>
          <a:bodyPr wrap="square" lIns="0" tIns="0" rIns="0" bIns="0" rtlCol="0" anchor="t"/>
          <a:lstStyle/>
          <a:p>
            <a:pPr marL="0" indent="0">
              <a:buNone/>
            </a:pPr>
            <a:r>
              <a:rPr lang="en-US" sz="1500" i="1" dirty="0">
                <a:solidFill>
                  <a:srgbClr val="5B6B7F"/>
                </a:solidFill>
                <a:latin typeface="Calibri" pitchFamily="34" charset="0"/>
                <a:ea typeface="Calibri" pitchFamily="34" charset="-122"/>
                <a:cs typeface="Calibri" pitchFamily="34" charset="-120"/>
              </a:rPr>
              <a:t>AI Understanding Layer — profitability reporting becomes profitability understanding, and understanding becomes patterns.</a:t>
            </a:r>
            <a:endParaRPr lang="en-US" sz="1500" dirty="0"/>
          </a:p>
        </p:txBody>
      </p:sp>
      <p:sp>
        <p:nvSpPr>
          <p:cNvPr id="4" name="Shape 2"/>
          <p:cNvSpPr/>
          <p:nvPr/>
        </p:nvSpPr>
        <p:spPr>
          <a:xfrm>
            <a:off x="9678010" y="438912"/>
            <a:ext cx="1934870" cy="256032"/>
          </a:xfrm>
          <a:prstGeom prst="rect">
            <a:avLst/>
          </a:prstGeom>
          <a:solidFill>
            <a:srgbClr val="0B2545"/>
          </a:solidFill>
          <a:ln w="12700">
            <a:solidFill>
              <a:srgbClr val="0B2545"/>
            </a:solidFill>
            <a:prstDash val="solid"/>
          </a:ln>
        </p:spPr>
      </p:sp>
      <p:sp>
        <p:nvSpPr>
          <p:cNvPr id="5" name="Text 3"/>
          <p:cNvSpPr txBox="1"/>
          <p:nvPr/>
        </p:nvSpPr>
        <p:spPr>
          <a:xfrm>
            <a:off x="9678010" y="438912"/>
            <a:ext cx="1934870"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latin typeface="Calibri" pitchFamily="34" charset="0"/>
                <a:ea typeface="Calibri" pitchFamily="34" charset="-122"/>
                <a:cs typeface="Calibri" pitchFamily="34" charset="-120"/>
              </a:rPr>
              <a:t>AI UNDERSTANDING LAYER</a:t>
            </a:r>
            <a:endParaRPr lang="en-US" sz="850" dirty="0"/>
          </a:p>
        </p:txBody>
      </p:sp>
      <p:sp>
        <p:nvSpPr>
          <p:cNvPr id="6" name="Shape 4"/>
          <p:cNvSpPr/>
          <p:nvPr/>
        </p:nvSpPr>
        <p:spPr>
          <a:xfrm>
            <a:off x="9317736" y="749808"/>
            <a:ext cx="2295144" cy="292608"/>
          </a:xfrm>
          <a:prstGeom prst="roundRect">
            <a:avLst>
              <a:gd name="adj" fmla="val 50000"/>
            </a:avLst>
          </a:prstGeom>
          <a:solidFill>
            <a:srgbClr val="DCE6F2"/>
          </a:solidFill>
          <a:ln w="12700">
            <a:solidFill>
              <a:srgbClr val="DCE6F2"/>
            </a:solidFill>
            <a:prstDash val="solid"/>
          </a:ln>
        </p:spPr>
      </p:sp>
      <p:sp>
        <p:nvSpPr>
          <p:cNvPr id="7" name="Text 5"/>
          <p:cNvSpPr txBox="1"/>
          <p:nvPr/>
        </p:nvSpPr>
        <p:spPr>
          <a:xfrm>
            <a:off x="9317736" y="749808"/>
            <a:ext cx="2295144" cy="292608"/>
          </a:xfrm>
          <a:prstGeom prst="rect">
            <a:avLst/>
          </a:prstGeom>
          <a:noFill/>
          <a:ln/>
        </p:spPr>
        <p:txBody>
          <a:bodyPr wrap="square" lIns="0" tIns="0" rIns="0" bIns="0" rtlCol="0" anchor="ctr"/>
          <a:lstStyle/>
          <a:p>
            <a:pPr marL="0" indent="0" algn="ctr">
              <a:buNone/>
            </a:pPr>
            <a:r>
              <a:rPr lang="en-US" sz="950" b="1" kern="0" spc="100" dirty="0">
                <a:solidFill>
                  <a:srgbClr val="0B2545"/>
                </a:solidFill>
                <a:latin typeface="Calibri" pitchFamily="34" charset="0"/>
                <a:ea typeface="Calibri" pitchFamily="34" charset="-122"/>
                <a:cs typeface="Calibri" pitchFamily="34" charset="-120"/>
              </a:rPr>
              <a:t>WHY DID IT HAPPEN?</a:t>
            </a:r>
            <a:endParaRPr lang="en-US" sz="950" dirty="0"/>
          </a:p>
        </p:txBody>
      </p:sp>
      <p:sp>
        <p:nvSpPr>
          <p:cNvPr id="8" name="Shape 6"/>
          <p:cNvSpPr/>
          <p:nvPr/>
        </p:nvSpPr>
        <p:spPr>
          <a:xfrm>
            <a:off x="548640" y="1627632"/>
            <a:ext cx="2088490" cy="2514600"/>
          </a:xfrm>
          <a:prstGeom prst="roundRect">
            <a:avLst>
              <a:gd name="adj" fmla="val 3503"/>
            </a:avLst>
          </a:prstGeom>
          <a:solidFill>
            <a:srgbClr val="EEF3FA"/>
          </a:solidFill>
          <a:ln w="9525">
            <a:solidFill>
              <a:srgbClr val="C9D6E6"/>
            </a:solidFill>
            <a:prstDash val="solid"/>
          </a:ln>
        </p:spPr>
      </p:sp>
      <p:sp>
        <p:nvSpPr>
          <p:cNvPr id="9" name="Shape 7"/>
          <p:cNvSpPr/>
          <p:nvPr/>
        </p:nvSpPr>
        <p:spPr>
          <a:xfrm>
            <a:off x="713232" y="1792224"/>
            <a:ext cx="310896" cy="310896"/>
          </a:xfrm>
          <a:prstGeom prst="ellipse">
            <a:avLst/>
          </a:prstGeom>
          <a:solidFill>
            <a:srgbClr val="0B2545"/>
          </a:solidFill>
          <a:ln w="12700">
            <a:solidFill>
              <a:srgbClr val="0B2545"/>
            </a:solidFill>
            <a:prstDash val="solid"/>
          </a:ln>
        </p:spPr>
      </p:sp>
      <p:sp>
        <p:nvSpPr>
          <p:cNvPr id="10" name="Text 8"/>
          <p:cNvSpPr txBox="1"/>
          <p:nvPr/>
        </p:nvSpPr>
        <p:spPr>
          <a:xfrm>
            <a:off x="713232" y="179222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097280" y="1755648"/>
            <a:ext cx="1448410" cy="38404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Customer Intelligence</a:t>
            </a:r>
            <a:endParaRPr lang="en-US" sz="1150" dirty="0"/>
          </a:p>
        </p:txBody>
      </p:sp>
      <p:sp>
        <p:nvSpPr>
          <p:cNvPr id="12" name="Text 10"/>
          <p:cNvSpPr txBox="1"/>
          <p:nvPr/>
        </p:nvSpPr>
        <p:spPr>
          <a:xfrm>
            <a:off x="713232" y="2286000"/>
            <a:ext cx="1814170" cy="173736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33475B"/>
                </a:solidFill>
                <a:latin typeface="Calibri" pitchFamily="34" charset="0"/>
                <a:ea typeface="Calibri" pitchFamily="34" charset="-122"/>
                <a:cs typeface="Calibri" pitchFamily="34" charset="-120"/>
              </a:rPr>
              <a:t>Who is profitable?</a:t>
            </a:r>
            <a:endParaRPr lang="en-US" sz="1000" dirty="0"/>
          </a:p>
          <a:p>
            <a:pPr marL="342900" indent="-342900">
              <a:spcAft>
                <a:spcPts val="400"/>
              </a:spcAft>
              <a:buSzPct val="100000"/>
              <a:buChar char="•"/>
            </a:pPr>
            <a:r>
              <a:rPr lang="en-US" sz="1000" dirty="0">
                <a:solidFill>
                  <a:srgbClr val="33475B"/>
                </a:solidFill>
                <a:latin typeface="Calibri" pitchFamily="34" charset="0"/>
                <a:ea typeface="Calibri" pitchFamily="34" charset="-122"/>
                <a:cs typeface="Calibri" pitchFamily="34" charset="-120"/>
              </a:rPr>
              <a:t>Why are they profitable?</a:t>
            </a:r>
            <a:endParaRPr lang="en-US" sz="1000" dirty="0"/>
          </a:p>
          <a:p>
            <a:pPr marL="342900" indent="-342900">
              <a:spcAft>
                <a:spcPts val="400"/>
              </a:spcAft>
              <a:buSzPct val="100000"/>
              <a:buChar char="•"/>
            </a:pPr>
            <a:r>
              <a:rPr lang="en-US" sz="1000" dirty="0">
                <a:solidFill>
                  <a:srgbClr val="33475B"/>
                </a:solidFill>
                <a:latin typeface="Calibri" pitchFamily="34" charset="0"/>
                <a:ea typeface="Calibri" pitchFamily="34" charset="-122"/>
                <a:cs typeface="Calibri" pitchFamily="34" charset="-120"/>
              </a:rPr>
              <a:t>Which customers show profitability deterioration?</a:t>
            </a:r>
            <a:endParaRPr lang="en-US" sz="1000" dirty="0"/>
          </a:p>
        </p:txBody>
      </p:sp>
      <p:sp>
        <p:nvSpPr>
          <p:cNvPr id="13" name="Shape 11"/>
          <p:cNvSpPr/>
          <p:nvPr/>
        </p:nvSpPr>
        <p:spPr>
          <a:xfrm>
            <a:off x="2792578" y="1627632"/>
            <a:ext cx="2088490" cy="2514600"/>
          </a:xfrm>
          <a:prstGeom prst="roundRect">
            <a:avLst>
              <a:gd name="adj" fmla="val 3503"/>
            </a:avLst>
          </a:prstGeom>
          <a:solidFill>
            <a:srgbClr val="EEF3FA"/>
          </a:solidFill>
          <a:ln w="9525">
            <a:solidFill>
              <a:srgbClr val="C9D6E6"/>
            </a:solidFill>
            <a:prstDash val="solid"/>
          </a:ln>
        </p:spPr>
      </p:sp>
      <p:sp>
        <p:nvSpPr>
          <p:cNvPr id="14" name="Shape 12"/>
          <p:cNvSpPr/>
          <p:nvPr/>
        </p:nvSpPr>
        <p:spPr>
          <a:xfrm>
            <a:off x="2957170" y="1792224"/>
            <a:ext cx="310896" cy="310896"/>
          </a:xfrm>
          <a:prstGeom prst="ellipse">
            <a:avLst/>
          </a:prstGeom>
          <a:solidFill>
            <a:srgbClr val="0B2545"/>
          </a:solidFill>
          <a:ln w="12700">
            <a:solidFill>
              <a:srgbClr val="0B2545"/>
            </a:solidFill>
            <a:prstDash val="solid"/>
          </a:ln>
        </p:spPr>
      </p:sp>
      <p:sp>
        <p:nvSpPr>
          <p:cNvPr id="15" name="Text 13"/>
          <p:cNvSpPr txBox="1"/>
          <p:nvPr/>
        </p:nvSpPr>
        <p:spPr>
          <a:xfrm>
            <a:off x="2957170" y="179222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txBox="1"/>
          <p:nvPr/>
        </p:nvSpPr>
        <p:spPr>
          <a:xfrm>
            <a:off x="3341218" y="1755648"/>
            <a:ext cx="1448410" cy="38404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Country Intelligence</a:t>
            </a:r>
            <a:endParaRPr lang="en-US" sz="1150" dirty="0"/>
          </a:p>
        </p:txBody>
      </p:sp>
      <p:sp>
        <p:nvSpPr>
          <p:cNvPr id="17" name="Text 15"/>
          <p:cNvSpPr txBox="1"/>
          <p:nvPr/>
        </p:nvSpPr>
        <p:spPr>
          <a:xfrm>
            <a:off x="2957170" y="2286000"/>
            <a:ext cx="1814170" cy="173736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33475B"/>
                </a:solidFill>
                <a:latin typeface="Calibri" pitchFamily="34" charset="0"/>
                <a:ea typeface="Calibri" pitchFamily="34" charset="-122"/>
                <a:cs typeface="Calibri" pitchFamily="34" charset="-120"/>
              </a:rPr>
              <a:t>Why do regions perform differently?</a:t>
            </a:r>
            <a:endParaRPr lang="en-US" sz="1000" dirty="0"/>
          </a:p>
          <a:p>
            <a:pPr marL="342900" indent="-342900">
              <a:spcAft>
                <a:spcPts val="400"/>
              </a:spcAft>
              <a:buSzPct val="100000"/>
              <a:buChar char="•"/>
            </a:pPr>
            <a:r>
              <a:rPr lang="en-US" sz="1000" dirty="0">
                <a:solidFill>
                  <a:srgbClr val="33475B"/>
                </a:solidFill>
                <a:latin typeface="Calibri" pitchFamily="34" charset="0"/>
                <a:ea typeface="Calibri" pitchFamily="34" charset="-122"/>
                <a:cs typeface="Calibri" pitchFamily="34" charset="-120"/>
              </a:rPr>
              <a:t>Which business drivers explain the differences?</a:t>
            </a:r>
            <a:endParaRPr lang="en-US" sz="1000" dirty="0"/>
          </a:p>
        </p:txBody>
      </p:sp>
      <p:sp>
        <p:nvSpPr>
          <p:cNvPr id="18" name="Shape 16"/>
          <p:cNvSpPr/>
          <p:nvPr/>
        </p:nvSpPr>
        <p:spPr>
          <a:xfrm>
            <a:off x="5036515" y="1627632"/>
            <a:ext cx="2088490" cy="2514600"/>
          </a:xfrm>
          <a:prstGeom prst="roundRect">
            <a:avLst>
              <a:gd name="adj" fmla="val 3503"/>
            </a:avLst>
          </a:prstGeom>
          <a:solidFill>
            <a:srgbClr val="EEF3FA"/>
          </a:solidFill>
          <a:ln w="9525">
            <a:solidFill>
              <a:srgbClr val="C9D6E6"/>
            </a:solidFill>
            <a:prstDash val="solid"/>
          </a:ln>
        </p:spPr>
      </p:sp>
      <p:sp>
        <p:nvSpPr>
          <p:cNvPr id="19" name="Shape 17"/>
          <p:cNvSpPr/>
          <p:nvPr/>
        </p:nvSpPr>
        <p:spPr>
          <a:xfrm>
            <a:off x="5201107" y="1792224"/>
            <a:ext cx="310896" cy="310896"/>
          </a:xfrm>
          <a:prstGeom prst="ellipse">
            <a:avLst/>
          </a:prstGeom>
          <a:solidFill>
            <a:srgbClr val="0B2545"/>
          </a:solidFill>
          <a:ln w="12700">
            <a:solidFill>
              <a:srgbClr val="0B2545"/>
            </a:solidFill>
            <a:prstDash val="solid"/>
          </a:ln>
        </p:spPr>
      </p:sp>
      <p:sp>
        <p:nvSpPr>
          <p:cNvPr id="20" name="Text 18"/>
          <p:cNvSpPr txBox="1"/>
          <p:nvPr/>
        </p:nvSpPr>
        <p:spPr>
          <a:xfrm>
            <a:off x="5201107" y="179222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txBox="1"/>
          <p:nvPr/>
        </p:nvSpPr>
        <p:spPr>
          <a:xfrm>
            <a:off x="5585155" y="1755648"/>
            <a:ext cx="1448410" cy="38404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Hardware vs Service</a:t>
            </a:r>
            <a:endParaRPr lang="en-US" sz="1150" dirty="0"/>
          </a:p>
        </p:txBody>
      </p:sp>
      <p:sp>
        <p:nvSpPr>
          <p:cNvPr id="22" name="Text 20"/>
          <p:cNvSpPr txBox="1"/>
          <p:nvPr/>
        </p:nvSpPr>
        <p:spPr>
          <a:xfrm>
            <a:off x="5201107" y="2286000"/>
            <a:ext cx="1814170" cy="173736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33475B"/>
                </a:solidFill>
                <a:latin typeface="Calibri" pitchFamily="34" charset="0"/>
                <a:ea typeface="Calibri" pitchFamily="34" charset="-122"/>
                <a:cs typeface="Calibri" pitchFamily="34" charset="-120"/>
              </a:rPr>
              <a:t>Profit source analysis</a:t>
            </a:r>
            <a:endParaRPr lang="en-US" sz="1000" dirty="0"/>
          </a:p>
          <a:p>
            <a:pPr marL="342900" indent="-342900">
              <a:spcAft>
                <a:spcPts val="400"/>
              </a:spcAft>
              <a:buSzPct val="100000"/>
              <a:buChar char="•"/>
            </a:pPr>
            <a:r>
              <a:rPr lang="en-US" sz="1000" dirty="0">
                <a:solidFill>
                  <a:srgbClr val="33475B"/>
                </a:solidFill>
                <a:latin typeface="Calibri" pitchFamily="34" charset="0"/>
                <a:ea typeface="Calibri" pitchFamily="34" charset="-122"/>
                <a:cs typeface="Calibri" pitchFamily="34" charset="-120"/>
              </a:rPr>
              <a:t>Margin erosion analysis</a:t>
            </a:r>
            <a:endParaRPr lang="en-US" sz="1000" dirty="0"/>
          </a:p>
        </p:txBody>
      </p:sp>
      <p:sp>
        <p:nvSpPr>
          <p:cNvPr id="23" name="Shape 21"/>
          <p:cNvSpPr/>
          <p:nvPr/>
        </p:nvSpPr>
        <p:spPr>
          <a:xfrm>
            <a:off x="7280453" y="1627632"/>
            <a:ext cx="2088490" cy="2514600"/>
          </a:xfrm>
          <a:prstGeom prst="roundRect">
            <a:avLst>
              <a:gd name="adj" fmla="val 3503"/>
            </a:avLst>
          </a:prstGeom>
          <a:solidFill>
            <a:srgbClr val="EEF3FA"/>
          </a:solidFill>
          <a:ln w="9525">
            <a:solidFill>
              <a:srgbClr val="C9D6E6"/>
            </a:solidFill>
            <a:prstDash val="solid"/>
          </a:ln>
        </p:spPr>
      </p:sp>
      <p:sp>
        <p:nvSpPr>
          <p:cNvPr id="24" name="Shape 22"/>
          <p:cNvSpPr/>
          <p:nvPr/>
        </p:nvSpPr>
        <p:spPr>
          <a:xfrm>
            <a:off x="7445045" y="1792224"/>
            <a:ext cx="310896" cy="310896"/>
          </a:xfrm>
          <a:prstGeom prst="ellipse">
            <a:avLst/>
          </a:prstGeom>
          <a:solidFill>
            <a:srgbClr val="0B2545"/>
          </a:solidFill>
          <a:ln w="12700">
            <a:solidFill>
              <a:srgbClr val="0B2545"/>
            </a:solidFill>
            <a:prstDash val="solid"/>
          </a:ln>
        </p:spPr>
      </p:sp>
      <p:sp>
        <p:nvSpPr>
          <p:cNvPr id="25" name="Text 23"/>
          <p:cNvSpPr txBox="1"/>
          <p:nvPr/>
        </p:nvSpPr>
        <p:spPr>
          <a:xfrm>
            <a:off x="7445045" y="179222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txBox="1"/>
          <p:nvPr/>
        </p:nvSpPr>
        <p:spPr>
          <a:xfrm>
            <a:off x="7829093" y="1755648"/>
            <a:ext cx="1448410" cy="38404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Tranche Intelligence</a:t>
            </a:r>
            <a:endParaRPr lang="en-US" sz="1150" dirty="0"/>
          </a:p>
        </p:txBody>
      </p:sp>
      <p:sp>
        <p:nvSpPr>
          <p:cNvPr id="27" name="Text 25"/>
          <p:cNvSpPr txBox="1"/>
          <p:nvPr/>
        </p:nvSpPr>
        <p:spPr>
          <a:xfrm>
            <a:off x="7445045" y="2286000"/>
            <a:ext cx="1814170" cy="173736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33475B"/>
                </a:solidFill>
                <a:latin typeface="Calibri" pitchFamily="34" charset="0"/>
                <a:ea typeface="Calibri" pitchFamily="34" charset="-122"/>
                <a:cs typeface="Calibri" pitchFamily="34" charset="-120"/>
              </a:rPr>
              <a:t>Return</a:t>
            </a:r>
            <a:endParaRPr lang="en-US" sz="1000" dirty="0"/>
          </a:p>
          <a:p>
            <a:pPr marL="342900" indent="-342900">
              <a:spcAft>
                <a:spcPts val="400"/>
              </a:spcAft>
              <a:buSzPct val="100000"/>
              <a:buChar char="•"/>
            </a:pPr>
            <a:r>
              <a:rPr lang="en-US" sz="1000" dirty="0">
                <a:solidFill>
                  <a:srgbClr val="33475B"/>
                </a:solidFill>
                <a:latin typeface="Calibri" pitchFamily="34" charset="0"/>
                <a:ea typeface="Calibri" pitchFamily="34" charset="-122"/>
                <a:cs typeface="Calibri" pitchFamily="34" charset="-120"/>
              </a:rPr>
              <a:t>Risk</a:t>
            </a:r>
            <a:endParaRPr lang="en-US" sz="1000" dirty="0"/>
          </a:p>
          <a:p>
            <a:pPr marL="342900" indent="-342900">
              <a:spcAft>
                <a:spcPts val="400"/>
              </a:spcAft>
              <a:buSzPct val="100000"/>
              <a:buChar char="•"/>
            </a:pPr>
            <a:r>
              <a:rPr lang="en-US" sz="1000" dirty="0">
                <a:solidFill>
                  <a:srgbClr val="33475B"/>
                </a:solidFill>
                <a:latin typeface="Calibri" pitchFamily="34" charset="0"/>
                <a:ea typeface="Calibri" pitchFamily="34" charset="-122"/>
                <a:cs typeface="Calibri" pitchFamily="34" charset="-120"/>
              </a:rPr>
              <a:t>Pattern discovery</a:t>
            </a:r>
            <a:endParaRPr lang="en-US" sz="1000" dirty="0"/>
          </a:p>
        </p:txBody>
      </p:sp>
      <p:sp>
        <p:nvSpPr>
          <p:cNvPr id="28" name="Shape 26"/>
          <p:cNvSpPr/>
          <p:nvPr/>
        </p:nvSpPr>
        <p:spPr>
          <a:xfrm>
            <a:off x="9524390" y="1627632"/>
            <a:ext cx="2088490" cy="2514600"/>
          </a:xfrm>
          <a:prstGeom prst="roundRect">
            <a:avLst>
              <a:gd name="adj" fmla="val 3503"/>
            </a:avLst>
          </a:prstGeom>
          <a:solidFill>
            <a:srgbClr val="0B2545"/>
          </a:solidFill>
          <a:ln w="12700">
            <a:solidFill>
              <a:srgbClr val="0B2545"/>
            </a:solidFill>
            <a:prstDash val="solid"/>
          </a:ln>
        </p:spPr>
      </p:sp>
      <p:sp>
        <p:nvSpPr>
          <p:cNvPr id="29" name="Shape 27"/>
          <p:cNvSpPr/>
          <p:nvPr/>
        </p:nvSpPr>
        <p:spPr>
          <a:xfrm>
            <a:off x="9688982" y="1792224"/>
            <a:ext cx="310896" cy="310896"/>
          </a:xfrm>
          <a:prstGeom prst="ellipse">
            <a:avLst/>
          </a:prstGeom>
          <a:solidFill>
            <a:srgbClr val="FFFFFF"/>
          </a:solidFill>
          <a:ln w="12700">
            <a:solidFill>
              <a:srgbClr val="FFFFFF"/>
            </a:solidFill>
            <a:prstDash val="solid"/>
          </a:ln>
        </p:spPr>
      </p:sp>
      <p:sp>
        <p:nvSpPr>
          <p:cNvPr id="30" name="Text 28"/>
          <p:cNvSpPr txBox="1"/>
          <p:nvPr/>
        </p:nvSpPr>
        <p:spPr>
          <a:xfrm>
            <a:off x="9688982" y="1792224"/>
            <a:ext cx="310896" cy="310896"/>
          </a:xfrm>
          <a:prstGeom prst="rect">
            <a:avLst/>
          </a:prstGeom>
          <a:noFill/>
          <a:ln/>
        </p:spPr>
        <p:txBody>
          <a:bodyPr wrap="square" lIns="0" tIns="0" rIns="0" bIns="0" rtlCol="0" anchor="ctr"/>
          <a:lstStyle/>
          <a:p>
            <a:pPr marL="0" indent="0" algn="ctr">
              <a:buNone/>
            </a:pPr>
            <a:r>
              <a:rPr lang="en-US" sz="1100" b="1" dirty="0">
                <a:solidFill>
                  <a:srgbClr val="0B2545"/>
                </a:solidFill>
                <a:latin typeface="Calibri" pitchFamily="34" charset="0"/>
                <a:ea typeface="Calibri" pitchFamily="34" charset="-122"/>
                <a:cs typeface="Calibri" pitchFamily="34" charset="-120"/>
              </a:rPr>
              <a:t>5</a:t>
            </a:r>
            <a:endParaRPr lang="en-US" sz="1100" dirty="0"/>
          </a:p>
        </p:txBody>
      </p:sp>
      <p:sp>
        <p:nvSpPr>
          <p:cNvPr id="31" name="Text 29"/>
          <p:cNvSpPr txBox="1"/>
          <p:nvPr/>
        </p:nvSpPr>
        <p:spPr>
          <a:xfrm>
            <a:off x="10073030" y="1755648"/>
            <a:ext cx="1448410" cy="38404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Driver Analysis</a:t>
            </a:r>
            <a:endParaRPr lang="en-US" sz="1150" dirty="0"/>
          </a:p>
        </p:txBody>
      </p:sp>
      <p:sp>
        <p:nvSpPr>
          <p:cNvPr id="32" name="Text 30"/>
          <p:cNvSpPr txBox="1"/>
          <p:nvPr/>
        </p:nvSpPr>
        <p:spPr>
          <a:xfrm>
            <a:off x="9688982" y="2249424"/>
            <a:ext cx="1759306" cy="274320"/>
          </a:xfrm>
          <a:prstGeom prst="rect">
            <a:avLst/>
          </a:prstGeom>
          <a:noFill/>
          <a:ln/>
        </p:spPr>
        <p:txBody>
          <a:bodyPr wrap="square" lIns="0" tIns="0" rIns="0" bIns="0" rtlCol="0" anchor="ctr"/>
          <a:lstStyle/>
          <a:p>
            <a:pPr marL="0" indent="0">
              <a:buNone/>
            </a:pPr>
            <a:r>
              <a:rPr lang="en-US" sz="1000" b="1" i="1" dirty="0">
                <a:solidFill>
                  <a:srgbClr val="B8CBE3"/>
                </a:solidFill>
                <a:latin typeface="Calibri" pitchFamily="34" charset="0"/>
                <a:ea typeface="Calibri" pitchFamily="34" charset="-122"/>
                <a:cs typeface="Calibri" pitchFamily="34" charset="-120"/>
              </a:rPr>
              <a:t>“Why did profit change?”</a:t>
            </a:r>
            <a:endParaRPr lang="en-US" sz="1000" dirty="0"/>
          </a:p>
        </p:txBody>
      </p:sp>
      <p:sp>
        <p:nvSpPr>
          <p:cNvPr id="33" name="Text 31"/>
          <p:cNvSpPr txBox="1"/>
          <p:nvPr/>
        </p:nvSpPr>
        <p:spPr>
          <a:xfrm>
            <a:off x="9688982" y="2587752"/>
            <a:ext cx="1814170" cy="146304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D9E4F2"/>
                </a:solidFill>
                <a:latin typeface="Calibri" pitchFamily="34" charset="0"/>
                <a:ea typeface="Calibri" pitchFamily="34" charset="-122"/>
                <a:cs typeface="Calibri" pitchFamily="34" charset="-120"/>
              </a:rPr>
              <a:t>Revenue impact</a:t>
            </a:r>
            <a:endParaRPr lang="en-US" sz="1000" dirty="0"/>
          </a:p>
          <a:p>
            <a:pPr marL="342900" indent="-342900">
              <a:spcAft>
                <a:spcPts val="400"/>
              </a:spcAft>
              <a:buSzPct val="100000"/>
              <a:buChar char="•"/>
            </a:pPr>
            <a:r>
              <a:rPr lang="en-US" sz="1000" dirty="0">
                <a:solidFill>
                  <a:srgbClr val="D9E4F2"/>
                </a:solidFill>
                <a:latin typeface="Calibri" pitchFamily="34" charset="0"/>
                <a:ea typeface="Calibri" pitchFamily="34" charset="-122"/>
                <a:cs typeface="Calibri" pitchFamily="34" charset="-120"/>
              </a:rPr>
              <a:t>Cost impact</a:t>
            </a:r>
            <a:endParaRPr lang="en-US" sz="1000" dirty="0"/>
          </a:p>
          <a:p>
            <a:pPr marL="342900" indent="-342900">
              <a:spcAft>
                <a:spcPts val="400"/>
              </a:spcAft>
              <a:buSzPct val="100000"/>
              <a:buChar char="•"/>
            </a:pPr>
            <a:r>
              <a:rPr lang="en-US" sz="1000" dirty="0">
                <a:solidFill>
                  <a:srgbClr val="D9E4F2"/>
                </a:solidFill>
                <a:latin typeface="Calibri" pitchFamily="34" charset="0"/>
                <a:ea typeface="Calibri" pitchFamily="34" charset="-122"/>
                <a:cs typeface="Calibri" pitchFamily="34" charset="-120"/>
              </a:rPr>
              <a:t>Collection impact</a:t>
            </a:r>
            <a:endParaRPr lang="en-US" sz="1000" dirty="0"/>
          </a:p>
          <a:p>
            <a:pPr marL="342900" indent="-342900">
              <a:spcAft>
                <a:spcPts val="400"/>
              </a:spcAft>
              <a:buSzPct val="100000"/>
              <a:buChar char="•"/>
            </a:pPr>
            <a:r>
              <a:rPr lang="en-US" sz="1000" dirty="0">
                <a:solidFill>
                  <a:srgbClr val="D9E4F2"/>
                </a:solidFill>
                <a:latin typeface="Calibri" pitchFamily="34" charset="0"/>
                <a:ea typeface="Calibri" pitchFamily="34" charset="-122"/>
                <a:cs typeface="Calibri" pitchFamily="34" charset="-120"/>
              </a:rPr>
              <a:t>Pricing impact</a:t>
            </a:r>
            <a:endParaRPr lang="en-US" sz="1000" dirty="0"/>
          </a:p>
        </p:txBody>
      </p:sp>
      <p:sp>
        <p:nvSpPr>
          <p:cNvPr id="34" name="Shape 32"/>
          <p:cNvSpPr/>
          <p:nvPr/>
        </p:nvSpPr>
        <p:spPr>
          <a:xfrm>
            <a:off x="548640" y="4370832"/>
            <a:ext cx="11064240" cy="1892808"/>
          </a:xfrm>
          <a:prstGeom prst="roundRect">
            <a:avLst>
              <a:gd name="adj" fmla="val 3865"/>
            </a:avLst>
          </a:prstGeom>
          <a:solidFill>
            <a:srgbClr val="DCE6F2"/>
          </a:solidFill>
          <a:ln w="12700">
            <a:solidFill>
              <a:srgbClr val="1F4E8C"/>
            </a:solidFill>
            <a:prstDash val="solid"/>
          </a:ln>
        </p:spPr>
      </p:sp>
      <p:sp>
        <p:nvSpPr>
          <p:cNvPr id="35" name="Text 33"/>
          <p:cNvSpPr txBox="1"/>
          <p:nvPr/>
        </p:nvSpPr>
        <p:spPr>
          <a:xfrm>
            <a:off x="777240" y="4462272"/>
            <a:ext cx="4572000" cy="201168"/>
          </a:xfrm>
          <a:prstGeom prst="rect">
            <a:avLst/>
          </a:prstGeom>
          <a:noFill/>
          <a:ln/>
        </p:spPr>
        <p:txBody>
          <a:bodyPr wrap="square" lIns="0" tIns="0" rIns="0" bIns="0" rtlCol="0" anchor="ctr"/>
          <a:lstStyle/>
          <a:p>
            <a:pPr marL="0" indent="0">
              <a:buNone/>
            </a:pPr>
            <a:r>
              <a:rPr lang="en-US" sz="850" b="1" kern="0" spc="200" dirty="0">
                <a:solidFill>
                  <a:srgbClr val="1F4E8C"/>
                </a:solidFill>
                <a:latin typeface="Calibri" pitchFamily="34" charset="0"/>
                <a:ea typeface="Calibri" pitchFamily="34" charset="-122"/>
                <a:cs typeface="Calibri" pitchFamily="34" charset="-120"/>
              </a:rPr>
              <a:t>FROM UNDERSTANDING TO PREDICTION</a:t>
            </a:r>
            <a:endParaRPr lang="en-US" sz="850" dirty="0"/>
          </a:p>
        </p:txBody>
      </p:sp>
      <p:sp>
        <p:nvSpPr>
          <p:cNvPr id="36" name="Shape 34"/>
          <p:cNvSpPr/>
          <p:nvPr/>
        </p:nvSpPr>
        <p:spPr>
          <a:xfrm>
            <a:off x="777240" y="4736592"/>
            <a:ext cx="1874520" cy="384048"/>
          </a:xfrm>
          <a:prstGeom prst="roundRect">
            <a:avLst>
              <a:gd name="adj" fmla="val 16667"/>
            </a:avLst>
          </a:prstGeom>
          <a:solidFill>
            <a:srgbClr val="1F4E8C"/>
          </a:solidFill>
          <a:ln w="12700">
            <a:solidFill>
              <a:srgbClr val="1F4E8C"/>
            </a:solidFill>
            <a:prstDash val="solid"/>
          </a:ln>
        </p:spPr>
      </p:sp>
      <p:sp>
        <p:nvSpPr>
          <p:cNvPr id="37" name="Text 35"/>
          <p:cNvSpPr txBox="1"/>
          <p:nvPr/>
        </p:nvSpPr>
        <p:spPr>
          <a:xfrm>
            <a:off x="777240" y="4736592"/>
            <a:ext cx="1874520"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Customer Analysis</a:t>
            </a:r>
            <a:endParaRPr lang="en-US" sz="1000" dirty="0"/>
          </a:p>
        </p:txBody>
      </p:sp>
      <p:sp>
        <p:nvSpPr>
          <p:cNvPr id="38" name="Shape 36"/>
          <p:cNvSpPr/>
          <p:nvPr/>
        </p:nvSpPr>
        <p:spPr>
          <a:xfrm>
            <a:off x="2706624" y="4846320"/>
            <a:ext cx="164592" cy="164592"/>
          </a:xfrm>
          <a:prstGeom prst="rightArrow">
            <a:avLst/>
          </a:prstGeom>
          <a:solidFill>
            <a:srgbClr val="8DA9C4"/>
          </a:solidFill>
          <a:ln w="12700">
            <a:solidFill>
              <a:srgbClr val="8DA9C4"/>
            </a:solidFill>
            <a:prstDash val="solid"/>
          </a:ln>
        </p:spPr>
      </p:sp>
      <p:sp>
        <p:nvSpPr>
          <p:cNvPr id="39" name="Shape 37"/>
          <p:cNvSpPr/>
          <p:nvPr/>
        </p:nvSpPr>
        <p:spPr>
          <a:xfrm>
            <a:off x="2926080" y="4736592"/>
            <a:ext cx="1874520" cy="384048"/>
          </a:xfrm>
          <a:prstGeom prst="roundRect">
            <a:avLst>
              <a:gd name="adj" fmla="val 16667"/>
            </a:avLst>
          </a:prstGeom>
          <a:solidFill>
            <a:srgbClr val="1F4E8C"/>
          </a:solidFill>
          <a:ln w="12700">
            <a:solidFill>
              <a:srgbClr val="1F4E8C"/>
            </a:solidFill>
            <a:prstDash val="solid"/>
          </a:ln>
        </p:spPr>
      </p:sp>
      <p:sp>
        <p:nvSpPr>
          <p:cNvPr id="40" name="Text 38"/>
          <p:cNvSpPr txBox="1"/>
          <p:nvPr/>
        </p:nvSpPr>
        <p:spPr>
          <a:xfrm>
            <a:off x="2926080" y="4736592"/>
            <a:ext cx="1874520"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Country Analysis</a:t>
            </a:r>
            <a:endParaRPr lang="en-US" sz="1000" dirty="0"/>
          </a:p>
        </p:txBody>
      </p:sp>
      <p:sp>
        <p:nvSpPr>
          <p:cNvPr id="41" name="Shape 39"/>
          <p:cNvSpPr/>
          <p:nvPr/>
        </p:nvSpPr>
        <p:spPr>
          <a:xfrm>
            <a:off x="4855464" y="4846320"/>
            <a:ext cx="164592" cy="164592"/>
          </a:xfrm>
          <a:prstGeom prst="rightArrow">
            <a:avLst/>
          </a:prstGeom>
          <a:solidFill>
            <a:srgbClr val="8DA9C4"/>
          </a:solidFill>
          <a:ln w="12700">
            <a:solidFill>
              <a:srgbClr val="8DA9C4"/>
            </a:solidFill>
            <a:prstDash val="solid"/>
          </a:ln>
        </p:spPr>
      </p:sp>
      <p:sp>
        <p:nvSpPr>
          <p:cNvPr id="42" name="Shape 40"/>
          <p:cNvSpPr/>
          <p:nvPr/>
        </p:nvSpPr>
        <p:spPr>
          <a:xfrm>
            <a:off x="5074920" y="4736592"/>
            <a:ext cx="1874520" cy="384048"/>
          </a:xfrm>
          <a:prstGeom prst="roundRect">
            <a:avLst>
              <a:gd name="adj" fmla="val 16667"/>
            </a:avLst>
          </a:prstGeom>
          <a:solidFill>
            <a:srgbClr val="1F4E8C"/>
          </a:solidFill>
          <a:ln w="12700">
            <a:solidFill>
              <a:srgbClr val="1F4E8C"/>
            </a:solidFill>
            <a:prstDash val="solid"/>
          </a:ln>
        </p:spPr>
      </p:sp>
      <p:sp>
        <p:nvSpPr>
          <p:cNvPr id="43" name="Text 41"/>
          <p:cNvSpPr txBox="1"/>
          <p:nvPr/>
        </p:nvSpPr>
        <p:spPr>
          <a:xfrm>
            <a:off x="5074920" y="4736592"/>
            <a:ext cx="1874520"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Tranche Analysis</a:t>
            </a:r>
            <a:endParaRPr lang="en-US" sz="1000" dirty="0"/>
          </a:p>
        </p:txBody>
      </p:sp>
      <p:sp>
        <p:nvSpPr>
          <p:cNvPr id="44" name="Shape 42"/>
          <p:cNvSpPr/>
          <p:nvPr/>
        </p:nvSpPr>
        <p:spPr>
          <a:xfrm>
            <a:off x="7004304" y="4846320"/>
            <a:ext cx="164592" cy="164592"/>
          </a:xfrm>
          <a:prstGeom prst="rightArrow">
            <a:avLst/>
          </a:prstGeom>
          <a:solidFill>
            <a:srgbClr val="8DA9C4"/>
          </a:solidFill>
          <a:ln w="12700">
            <a:solidFill>
              <a:srgbClr val="8DA9C4"/>
            </a:solidFill>
            <a:prstDash val="solid"/>
          </a:ln>
        </p:spPr>
      </p:sp>
      <p:sp>
        <p:nvSpPr>
          <p:cNvPr id="45" name="Shape 43"/>
          <p:cNvSpPr/>
          <p:nvPr/>
        </p:nvSpPr>
        <p:spPr>
          <a:xfrm>
            <a:off x="7223760" y="4736592"/>
            <a:ext cx="1874520" cy="384048"/>
          </a:xfrm>
          <a:prstGeom prst="roundRect">
            <a:avLst>
              <a:gd name="adj" fmla="val 16667"/>
            </a:avLst>
          </a:prstGeom>
          <a:solidFill>
            <a:srgbClr val="2A63AD"/>
          </a:solidFill>
          <a:ln w="12700">
            <a:solidFill>
              <a:srgbClr val="2A63AD"/>
            </a:solidFill>
            <a:prstDash val="solid"/>
          </a:ln>
        </p:spPr>
      </p:sp>
      <p:sp>
        <p:nvSpPr>
          <p:cNvPr id="46" name="Text 44"/>
          <p:cNvSpPr txBox="1"/>
          <p:nvPr/>
        </p:nvSpPr>
        <p:spPr>
          <a:xfrm>
            <a:off x="7223760" y="4736592"/>
            <a:ext cx="1874520"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Pattern Discovery</a:t>
            </a:r>
            <a:endParaRPr lang="en-US" sz="1000" dirty="0"/>
          </a:p>
        </p:txBody>
      </p:sp>
      <p:sp>
        <p:nvSpPr>
          <p:cNvPr id="47" name="Shape 45"/>
          <p:cNvSpPr/>
          <p:nvPr/>
        </p:nvSpPr>
        <p:spPr>
          <a:xfrm>
            <a:off x="9153144" y="4846320"/>
            <a:ext cx="164592" cy="164592"/>
          </a:xfrm>
          <a:prstGeom prst="rightArrow">
            <a:avLst/>
          </a:prstGeom>
          <a:solidFill>
            <a:srgbClr val="8DA9C4"/>
          </a:solidFill>
          <a:ln w="12700">
            <a:solidFill>
              <a:srgbClr val="8DA9C4"/>
            </a:solidFill>
            <a:prstDash val="solid"/>
          </a:ln>
        </p:spPr>
      </p:sp>
      <p:sp>
        <p:nvSpPr>
          <p:cNvPr id="48" name="Shape 46"/>
          <p:cNvSpPr/>
          <p:nvPr/>
        </p:nvSpPr>
        <p:spPr>
          <a:xfrm>
            <a:off x="9372600" y="4736592"/>
            <a:ext cx="1874520" cy="384048"/>
          </a:xfrm>
          <a:prstGeom prst="roundRect">
            <a:avLst>
              <a:gd name="adj" fmla="val 16667"/>
            </a:avLst>
          </a:prstGeom>
          <a:solidFill>
            <a:srgbClr val="5B95DD"/>
          </a:solidFill>
          <a:ln w="12700">
            <a:solidFill>
              <a:srgbClr val="5B95DD"/>
            </a:solidFill>
            <a:prstDash val="solid"/>
          </a:ln>
        </p:spPr>
      </p:sp>
      <p:sp>
        <p:nvSpPr>
          <p:cNvPr id="49" name="Text 47"/>
          <p:cNvSpPr txBox="1"/>
          <p:nvPr/>
        </p:nvSpPr>
        <p:spPr>
          <a:xfrm>
            <a:off x="9372600" y="4736592"/>
            <a:ext cx="1874520"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Business Risk Intelligence</a:t>
            </a:r>
            <a:endParaRPr lang="en-US" sz="1000" dirty="0"/>
          </a:p>
        </p:txBody>
      </p:sp>
      <p:sp>
        <p:nvSpPr>
          <p:cNvPr id="50" name="Text 48"/>
          <p:cNvSpPr txBox="1"/>
          <p:nvPr/>
        </p:nvSpPr>
        <p:spPr>
          <a:xfrm>
            <a:off x="777240" y="5212080"/>
            <a:ext cx="10607040" cy="978408"/>
          </a:xfrm>
          <a:prstGeom prst="rect">
            <a:avLst/>
          </a:prstGeom>
          <a:noFill/>
          <a:ln/>
        </p:spPr>
        <p:txBody>
          <a:bodyPr wrap="square" lIns="0" tIns="0" rIns="0" bIns="0" rtlCol="0" anchor="ctr"/>
          <a:lstStyle/>
          <a:p>
            <a:pPr marL="0" indent="0" algn="ctr">
              <a:buNone/>
            </a:pPr>
            <a:r>
              <a:rPr lang="en-US" sz="1100" b="1" i="1" dirty="0">
                <a:solidFill>
                  <a:srgbClr val="0B2545"/>
                </a:solidFill>
                <a:latin typeface="Calibri" pitchFamily="34" charset="0"/>
                <a:ea typeface="Calibri" pitchFamily="34" charset="-122"/>
                <a:cs typeface="Calibri" pitchFamily="34" charset="-120"/>
              </a:rPr>
              <a:t>Finance Intelligence transforms transaction data into business patterns. </a:t>
            </a:r>
            <a:r>
              <a:rPr lang="en-US" sz="1100" i="1" dirty="0">
                <a:solidFill>
                  <a:srgbClr val="33475B"/>
                </a:solidFill>
                <a:latin typeface="Calibri" pitchFamily="34" charset="0"/>
                <a:ea typeface="Calibri" pitchFamily="34" charset="-122"/>
                <a:cs typeface="Calibri" pitchFamily="34" charset="-120"/>
              </a:rPr>
              <a:t>Business Risk Intelligence uses those patterns to anticipate future risks  →  next page.</a:t>
            </a:r>
            <a:endParaRPr lang="en-US" sz="1100" dirty="0"/>
          </a:p>
        </p:txBody>
      </p:sp>
      <p:sp>
        <p:nvSpPr>
          <p:cNvPr id="51" name="Text 49"/>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900" dirty="0">
                <a:solidFill>
                  <a:srgbClr val="9AA8B8"/>
                </a:solidFill>
                <a:latin typeface="Calibri" pitchFamily="34" charset="0"/>
                <a:ea typeface="Calibri" pitchFamily="34" charset="-122"/>
                <a:cs typeface="Calibri" pitchFamily="34" charset="-120"/>
              </a:rPr>
              <a:t>Nexbill Financial Intelligence Platform</a:t>
            </a:r>
            <a:endParaRPr lang="en-US" sz="900" dirty="0"/>
          </a:p>
        </p:txBody>
      </p:sp>
      <p:sp>
        <p:nvSpPr>
          <p:cNvPr id="52" name="Text 50"/>
          <p:cNvSpPr txBox="1"/>
          <p:nvPr/>
        </p:nvSpPr>
        <p:spPr>
          <a:xfrm>
            <a:off x="11064240" y="6400800"/>
            <a:ext cx="548640" cy="274320"/>
          </a:xfrm>
          <a:prstGeom prst="rect">
            <a:avLst/>
          </a:prstGeom>
          <a:noFill/>
          <a:ln/>
        </p:spPr>
        <p:txBody>
          <a:bodyPr wrap="square" lIns="0" tIns="0" rIns="0" bIns="0" rtlCol="0" anchor="ctr"/>
          <a:lstStyle/>
          <a:p>
            <a:pPr marL="0" indent="0" algn="r">
              <a:buNone/>
            </a:pPr>
            <a:r>
              <a:rPr lang="en-US" sz="900" dirty="0">
                <a:solidFill>
                  <a:srgbClr val="9AA8B8"/>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Business Risk Intelligence Engine</a:t>
            </a:r>
            <a:endParaRPr lang="en-US" sz="3000" dirty="0"/>
          </a:p>
        </p:txBody>
      </p:sp>
      <p:sp>
        <p:nvSpPr>
          <p:cNvPr id="3" name="Text 1"/>
          <p:cNvSpPr txBox="1"/>
          <p:nvPr/>
        </p:nvSpPr>
        <p:spPr>
          <a:xfrm>
            <a:off x="548640" y="1078992"/>
            <a:ext cx="8595360" cy="502920"/>
          </a:xfrm>
          <a:prstGeom prst="rect">
            <a:avLst/>
          </a:prstGeom>
          <a:noFill/>
          <a:ln/>
        </p:spPr>
        <p:txBody>
          <a:bodyPr wrap="square" lIns="0" tIns="0" rIns="0" bIns="0" rtlCol="0" anchor="t"/>
          <a:lstStyle/>
          <a:p>
            <a:pPr marL="0" indent="0">
              <a:buNone/>
            </a:pPr>
            <a:r>
              <a:rPr lang="en-US" sz="1500" i="1" dirty="0">
                <a:solidFill>
                  <a:srgbClr val="5B6B7F"/>
                </a:solidFill>
                <a:latin typeface="Calibri" pitchFamily="34" charset="0"/>
                <a:ea typeface="Calibri" pitchFamily="34" charset="-122"/>
                <a:cs typeface="Calibri" pitchFamily="34" charset="-120"/>
              </a:rPr>
              <a:t>Internal Nexbill signals and external business context, interpreted together, to detect business risk early and support Finance decisions.</a:t>
            </a:r>
            <a:endParaRPr lang="en-US" sz="1500" dirty="0"/>
          </a:p>
        </p:txBody>
      </p:sp>
      <p:sp>
        <p:nvSpPr>
          <p:cNvPr id="4" name="Shape 2"/>
          <p:cNvSpPr/>
          <p:nvPr/>
        </p:nvSpPr>
        <p:spPr>
          <a:xfrm>
            <a:off x="8964778" y="438912"/>
            <a:ext cx="2648102" cy="256032"/>
          </a:xfrm>
          <a:prstGeom prst="rect">
            <a:avLst/>
          </a:prstGeom>
          <a:solidFill>
            <a:srgbClr val="0B2545"/>
          </a:solidFill>
          <a:ln w="12700">
            <a:solidFill>
              <a:srgbClr val="0B2545"/>
            </a:solidFill>
            <a:prstDash val="solid"/>
          </a:ln>
        </p:spPr>
      </p:sp>
      <p:sp>
        <p:nvSpPr>
          <p:cNvPr id="5" name="Text 3"/>
          <p:cNvSpPr txBox="1"/>
          <p:nvPr/>
        </p:nvSpPr>
        <p:spPr>
          <a:xfrm>
            <a:off x="8964778" y="438912"/>
            <a:ext cx="2648102"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latin typeface="Calibri" pitchFamily="34" charset="0"/>
                <a:ea typeface="Calibri" pitchFamily="34" charset="-122"/>
                <a:cs typeface="Calibri" pitchFamily="34" charset="-120"/>
              </a:rPr>
              <a:t>AI PREDICTION LAYER  ·  FLAGSHIP</a:t>
            </a:r>
            <a:endParaRPr lang="en-US" sz="850" dirty="0"/>
          </a:p>
        </p:txBody>
      </p:sp>
      <p:sp>
        <p:nvSpPr>
          <p:cNvPr id="6" name="Shape 4"/>
          <p:cNvSpPr/>
          <p:nvPr/>
        </p:nvSpPr>
        <p:spPr>
          <a:xfrm>
            <a:off x="9427464" y="749808"/>
            <a:ext cx="2185416" cy="292608"/>
          </a:xfrm>
          <a:prstGeom prst="roundRect">
            <a:avLst>
              <a:gd name="adj" fmla="val 50000"/>
            </a:avLst>
          </a:prstGeom>
          <a:solidFill>
            <a:srgbClr val="DCE6F2"/>
          </a:solidFill>
          <a:ln w="12700">
            <a:solidFill>
              <a:srgbClr val="DCE6F2"/>
            </a:solidFill>
            <a:prstDash val="solid"/>
          </a:ln>
        </p:spPr>
      </p:sp>
      <p:sp>
        <p:nvSpPr>
          <p:cNvPr id="7" name="Text 5"/>
          <p:cNvSpPr txBox="1"/>
          <p:nvPr/>
        </p:nvSpPr>
        <p:spPr>
          <a:xfrm>
            <a:off x="9427464" y="749808"/>
            <a:ext cx="2185416" cy="292608"/>
          </a:xfrm>
          <a:prstGeom prst="rect">
            <a:avLst/>
          </a:prstGeom>
          <a:noFill/>
          <a:ln/>
        </p:spPr>
        <p:txBody>
          <a:bodyPr wrap="square" lIns="0" tIns="0" rIns="0" bIns="0" rtlCol="0" anchor="ctr"/>
          <a:lstStyle/>
          <a:p>
            <a:pPr marL="0" indent="0" algn="ctr">
              <a:buNone/>
            </a:pPr>
            <a:r>
              <a:rPr lang="en-US" sz="950" b="1" kern="0" spc="100" dirty="0">
                <a:solidFill>
                  <a:srgbClr val="0B2545"/>
                </a:solidFill>
                <a:latin typeface="Calibri" pitchFamily="34" charset="0"/>
                <a:ea typeface="Calibri" pitchFamily="34" charset="-122"/>
                <a:cs typeface="Calibri" pitchFamily="34" charset="-120"/>
              </a:rPr>
              <a:t>WHAT WILL HAPPEN?</a:t>
            </a:r>
            <a:endParaRPr lang="en-US" sz="950" dirty="0"/>
          </a:p>
        </p:txBody>
      </p:sp>
      <p:sp>
        <p:nvSpPr>
          <p:cNvPr id="8" name="Shape 6"/>
          <p:cNvSpPr/>
          <p:nvPr/>
        </p:nvSpPr>
        <p:spPr>
          <a:xfrm>
            <a:off x="548640" y="1645920"/>
            <a:ext cx="2651760" cy="3383280"/>
          </a:xfrm>
          <a:prstGeom prst="roundRect">
            <a:avLst>
              <a:gd name="adj" fmla="val 2759"/>
            </a:avLst>
          </a:prstGeom>
          <a:solidFill>
            <a:srgbClr val="EEF3FA"/>
          </a:solidFill>
          <a:ln w="9525">
            <a:solidFill>
              <a:srgbClr val="C9D6E6"/>
            </a:solidFill>
            <a:prstDash val="solid"/>
          </a:ln>
        </p:spPr>
      </p:sp>
      <p:sp>
        <p:nvSpPr>
          <p:cNvPr id="9" name="Text 7"/>
          <p:cNvSpPr txBox="1"/>
          <p:nvPr/>
        </p:nvSpPr>
        <p:spPr>
          <a:xfrm>
            <a:off x="731520" y="1828800"/>
            <a:ext cx="2377440" cy="201168"/>
          </a:xfrm>
          <a:prstGeom prst="rect">
            <a:avLst/>
          </a:prstGeom>
          <a:noFill/>
          <a:ln/>
        </p:spPr>
        <p:txBody>
          <a:bodyPr wrap="square" lIns="0" tIns="0" rIns="0" bIns="0" rtlCol="0" anchor="ctr"/>
          <a:lstStyle/>
          <a:p>
            <a:pPr marL="0" indent="0">
              <a:buNone/>
            </a:pPr>
            <a:r>
              <a:rPr lang="en-US" sz="800" b="1" kern="0" spc="100" dirty="0">
                <a:solidFill>
                  <a:srgbClr val="1F4E8C"/>
                </a:solidFill>
                <a:latin typeface="Calibri" pitchFamily="34" charset="0"/>
                <a:ea typeface="Calibri" pitchFamily="34" charset="-122"/>
                <a:cs typeface="Calibri" pitchFamily="34" charset="-120"/>
              </a:rPr>
              <a:t>INTERNAL SIGNALS  ·  NEXBILL</a:t>
            </a:r>
            <a:endParaRPr lang="en-US" sz="800" dirty="0"/>
          </a:p>
        </p:txBody>
      </p:sp>
      <p:sp>
        <p:nvSpPr>
          <p:cNvPr id="10" name="Text 8"/>
          <p:cNvSpPr txBox="1"/>
          <p:nvPr/>
        </p:nvSpPr>
        <p:spPr>
          <a:xfrm>
            <a:off x="731520" y="2048256"/>
            <a:ext cx="2377440" cy="310896"/>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Business Behavior</a:t>
            </a:r>
            <a:endParaRPr lang="en-US" sz="1300" dirty="0"/>
          </a:p>
        </p:txBody>
      </p:sp>
      <p:sp>
        <p:nvSpPr>
          <p:cNvPr id="11" name="Text 9"/>
          <p:cNvSpPr txBox="1"/>
          <p:nvPr/>
        </p:nvSpPr>
        <p:spPr>
          <a:xfrm>
            <a:off x="731520" y="2514600"/>
            <a:ext cx="2286000" cy="18288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3475B"/>
                </a:solidFill>
                <a:latin typeface="Calibri" pitchFamily="34" charset="0"/>
                <a:ea typeface="Calibri" pitchFamily="34" charset="-122"/>
                <a:cs typeface="Calibri" pitchFamily="34" charset="-120"/>
              </a:rPr>
              <a:t>Revenue trends</a:t>
            </a:r>
            <a:endParaRPr lang="en-US" sz="1050" dirty="0"/>
          </a:p>
          <a:p>
            <a:pPr marL="342900" indent="-342900">
              <a:spcAft>
                <a:spcPts val="400"/>
              </a:spcAft>
              <a:buSzPct val="100000"/>
              <a:buChar char="•"/>
            </a:pPr>
            <a:r>
              <a:rPr lang="en-US" sz="1050" dirty="0">
                <a:solidFill>
                  <a:srgbClr val="33475B"/>
                </a:solidFill>
                <a:latin typeface="Calibri" pitchFamily="34" charset="0"/>
                <a:ea typeface="Calibri" pitchFamily="34" charset="-122"/>
                <a:cs typeface="Calibri" pitchFamily="34" charset="-120"/>
              </a:rPr>
              <a:t>Billing trends</a:t>
            </a:r>
            <a:endParaRPr lang="en-US" sz="1050" dirty="0"/>
          </a:p>
          <a:p>
            <a:pPr marL="342900" indent="-342900">
              <a:spcAft>
                <a:spcPts val="400"/>
              </a:spcAft>
              <a:buSzPct val="100000"/>
              <a:buChar char="•"/>
            </a:pPr>
            <a:r>
              <a:rPr lang="en-US" sz="1050" dirty="0">
                <a:solidFill>
                  <a:srgbClr val="33475B"/>
                </a:solidFill>
                <a:latin typeface="Calibri" pitchFamily="34" charset="0"/>
                <a:ea typeface="Calibri" pitchFamily="34" charset="-122"/>
                <a:cs typeface="Calibri" pitchFamily="34" charset="-120"/>
              </a:rPr>
              <a:t>Collection trends</a:t>
            </a:r>
            <a:endParaRPr lang="en-US" sz="1050" dirty="0"/>
          </a:p>
          <a:p>
            <a:pPr marL="342900" indent="-342900">
              <a:spcAft>
                <a:spcPts val="400"/>
              </a:spcAft>
              <a:buSzPct val="100000"/>
              <a:buChar char="•"/>
            </a:pPr>
            <a:r>
              <a:rPr lang="en-US" sz="1050" dirty="0">
                <a:solidFill>
                  <a:srgbClr val="33475B"/>
                </a:solidFill>
                <a:latin typeface="Calibri" pitchFamily="34" charset="0"/>
                <a:ea typeface="Calibri" pitchFamily="34" charset="-122"/>
                <a:cs typeface="Calibri" pitchFamily="34" charset="-120"/>
              </a:rPr>
              <a:t>Asset activity</a:t>
            </a:r>
            <a:endParaRPr lang="en-US" sz="1050" dirty="0"/>
          </a:p>
          <a:p>
            <a:pPr marL="342900" indent="-342900">
              <a:spcAft>
                <a:spcPts val="400"/>
              </a:spcAft>
              <a:buSzPct val="100000"/>
              <a:buChar char="•"/>
            </a:pPr>
            <a:r>
              <a:rPr lang="en-US" sz="1050" dirty="0">
                <a:solidFill>
                  <a:srgbClr val="33475B"/>
                </a:solidFill>
                <a:latin typeface="Calibri" pitchFamily="34" charset="0"/>
                <a:ea typeface="Calibri" pitchFamily="34" charset="-122"/>
                <a:cs typeface="Calibri" pitchFamily="34" charset="-120"/>
              </a:rPr>
              <a:t>Change events</a:t>
            </a:r>
            <a:endParaRPr lang="en-US" sz="1050" dirty="0"/>
          </a:p>
        </p:txBody>
      </p:sp>
      <p:sp>
        <p:nvSpPr>
          <p:cNvPr id="12" name="Text 10"/>
          <p:cNvSpPr txBox="1"/>
          <p:nvPr/>
        </p:nvSpPr>
        <p:spPr>
          <a:xfrm>
            <a:off x="731520" y="4526280"/>
            <a:ext cx="2286000" cy="320040"/>
          </a:xfrm>
          <a:prstGeom prst="rect">
            <a:avLst/>
          </a:prstGeom>
          <a:noFill/>
          <a:ln/>
        </p:spPr>
        <p:txBody>
          <a:bodyPr wrap="square" lIns="0" tIns="0" rIns="0" bIns="0" rtlCol="0" anchor="ctr"/>
          <a:lstStyle/>
          <a:p>
            <a:pPr marL="0" indent="0">
              <a:buNone/>
            </a:pPr>
            <a:r>
              <a:rPr lang="en-US" sz="900" i="1" dirty="0">
                <a:solidFill>
                  <a:srgbClr val="5B6B7F"/>
                </a:solidFill>
                <a:latin typeface="Calibri" pitchFamily="34" charset="0"/>
                <a:ea typeface="Calibri" pitchFamily="34" charset="-122"/>
                <a:cs typeface="Calibri" pitchFamily="34" charset="-120"/>
              </a:rPr>
              <a:t>Used by both Route A and Route B.</a:t>
            </a:r>
            <a:endParaRPr lang="en-US" sz="900" dirty="0"/>
          </a:p>
        </p:txBody>
      </p:sp>
      <p:sp>
        <p:nvSpPr>
          <p:cNvPr id="13" name="Text 11"/>
          <p:cNvSpPr txBox="1"/>
          <p:nvPr/>
        </p:nvSpPr>
        <p:spPr>
          <a:xfrm>
            <a:off x="3200400" y="3063240"/>
            <a:ext cx="365760" cy="548640"/>
          </a:xfrm>
          <a:prstGeom prst="rect">
            <a:avLst/>
          </a:prstGeom>
          <a:noFill/>
          <a:ln/>
        </p:spPr>
        <p:txBody>
          <a:bodyPr wrap="square" lIns="0" tIns="0" rIns="0" bIns="0" rtlCol="0" anchor="ctr"/>
          <a:lstStyle/>
          <a:p>
            <a:pPr marL="0" indent="0" algn="ctr">
              <a:buNone/>
            </a:pPr>
            <a:r>
              <a:rPr lang="en-US" sz="2600" b="1" dirty="0">
                <a:solidFill>
                  <a:srgbClr val="8DA9C4"/>
                </a:solidFill>
                <a:latin typeface="Calibri" pitchFamily="34" charset="0"/>
                <a:ea typeface="Calibri" pitchFamily="34" charset="-122"/>
                <a:cs typeface="Calibri" pitchFamily="34" charset="-120"/>
              </a:rPr>
              <a:t>+</a:t>
            </a:r>
            <a:endParaRPr lang="en-US" sz="2600" dirty="0"/>
          </a:p>
        </p:txBody>
      </p:sp>
      <p:sp>
        <p:nvSpPr>
          <p:cNvPr id="14" name="Shape 12"/>
          <p:cNvSpPr/>
          <p:nvPr/>
        </p:nvSpPr>
        <p:spPr>
          <a:xfrm>
            <a:off x="3566160" y="1645920"/>
            <a:ext cx="4297680" cy="3383280"/>
          </a:xfrm>
          <a:prstGeom prst="roundRect">
            <a:avLst>
              <a:gd name="adj" fmla="val 2162"/>
            </a:avLst>
          </a:prstGeom>
          <a:solidFill>
            <a:srgbClr val="0B2545"/>
          </a:solidFill>
          <a:ln w="12700">
            <a:solidFill>
              <a:srgbClr val="0B2545"/>
            </a:solidFill>
            <a:prstDash val="solid"/>
          </a:ln>
        </p:spPr>
      </p:sp>
      <p:sp>
        <p:nvSpPr>
          <p:cNvPr id="15" name="Text 13"/>
          <p:cNvSpPr txBox="1"/>
          <p:nvPr/>
        </p:nvSpPr>
        <p:spPr>
          <a:xfrm>
            <a:off x="3767328" y="1828800"/>
            <a:ext cx="3657600" cy="201168"/>
          </a:xfrm>
          <a:prstGeom prst="rect">
            <a:avLst/>
          </a:prstGeom>
          <a:noFill/>
          <a:ln/>
        </p:spPr>
        <p:txBody>
          <a:bodyPr wrap="square" lIns="0" tIns="0" rIns="0" bIns="0" rtlCol="0" anchor="ctr"/>
          <a:lstStyle/>
          <a:p>
            <a:pPr marL="0" indent="0">
              <a:buNone/>
            </a:pPr>
            <a:r>
              <a:rPr lang="en-US" sz="800" b="1" kern="0" spc="100" dirty="0">
                <a:solidFill>
                  <a:srgbClr val="8DA9C4"/>
                </a:solidFill>
                <a:latin typeface="Calibri" pitchFamily="34" charset="0"/>
                <a:ea typeface="Calibri" pitchFamily="34" charset="-122"/>
                <a:cs typeface="Calibri" pitchFamily="34" charset="-120"/>
              </a:rPr>
              <a:t>EXTERNAL CONTEXT SIGNALS  ·  ROUTE B</a:t>
            </a:r>
            <a:endParaRPr lang="en-US" sz="800" dirty="0"/>
          </a:p>
        </p:txBody>
      </p:sp>
      <p:sp>
        <p:nvSpPr>
          <p:cNvPr id="16" name="Text 14"/>
          <p:cNvSpPr txBox="1"/>
          <p:nvPr/>
        </p:nvSpPr>
        <p:spPr>
          <a:xfrm>
            <a:off x="3767328" y="2048256"/>
            <a:ext cx="365760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Business Context</a:t>
            </a:r>
            <a:endParaRPr lang="en-US" sz="1300" dirty="0"/>
          </a:p>
        </p:txBody>
      </p:sp>
      <p:sp>
        <p:nvSpPr>
          <p:cNvPr id="17" name="Shape 15"/>
          <p:cNvSpPr/>
          <p:nvPr/>
        </p:nvSpPr>
        <p:spPr>
          <a:xfrm>
            <a:off x="3767328" y="2514600"/>
            <a:ext cx="1901952" cy="932688"/>
          </a:xfrm>
          <a:prstGeom prst="roundRect">
            <a:avLst>
              <a:gd name="adj" fmla="val 5882"/>
            </a:avLst>
          </a:prstGeom>
          <a:solidFill>
            <a:srgbClr val="0F2F5C"/>
          </a:solidFill>
          <a:ln w="9525">
            <a:solidFill>
              <a:srgbClr val="2E4C77"/>
            </a:solidFill>
            <a:prstDash val="solid"/>
          </a:ln>
        </p:spPr>
      </p:sp>
      <p:sp>
        <p:nvSpPr>
          <p:cNvPr id="18" name="Text 16"/>
          <p:cNvSpPr txBox="1"/>
          <p:nvPr/>
        </p:nvSpPr>
        <p:spPr>
          <a:xfrm>
            <a:off x="3877056" y="2569464"/>
            <a:ext cx="1691640" cy="21945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Customer Financial Events</a:t>
            </a:r>
            <a:endParaRPr lang="en-US" sz="900" dirty="0"/>
          </a:p>
        </p:txBody>
      </p:sp>
      <p:sp>
        <p:nvSpPr>
          <p:cNvPr id="19" name="Text 17"/>
          <p:cNvSpPr txBox="1"/>
          <p:nvPr/>
        </p:nvSpPr>
        <p:spPr>
          <a:xfrm>
            <a:off x="3877056" y="2807208"/>
            <a:ext cx="1737360" cy="621792"/>
          </a:xfrm>
          <a:prstGeom prst="rect">
            <a:avLst/>
          </a:prstGeom>
          <a:noFill/>
          <a:ln/>
        </p:spPr>
        <p:txBody>
          <a:bodyPr wrap="square" lIns="0" tIns="0" rIns="0" bIns="0" rtlCol="0" anchor="t"/>
          <a:lstStyle/>
          <a:p>
            <a:pPr marL="342900" indent="-342900">
              <a:spcAft>
                <a:spcPts val="400"/>
              </a:spcAft>
              <a:buSzPct val="100000"/>
              <a:buChar char="•"/>
            </a:pPr>
            <a:r>
              <a:rPr lang="en-US" sz="800" dirty="0">
                <a:solidFill>
                  <a:srgbClr val="B8CBE3"/>
                </a:solidFill>
                <a:latin typeface="Calibri" pitchFamily="34" charset="0"/>
                <a:ea typeface="Calibri" pitchFamily="34" charset="-122"/>
                <a:cs typeface="Calibri" pitchFamily="34" charset="-120"/>
              </a:rPr>
              <a:t>Workforce reduction</a:t>
            </a:r>
            <a:endParaRPr lang="en-US" sz="800" dirty="0"/>
          </a:p>
          <a:p>
            <a:pPr marL="342900" indent="-342900">
              <a:spcAft>
                <a:spcPts val="400"/>
              </a:spcAft>
              <a:buSzPct val="100000"/>
              <a:buChar char="•"/>
            </a:pPr>
            <a:r>
              <a:rPr lang="en-US" sz="800" dirty="0">
                <a:solidFill>
                  <a:srgbClr val="B8CBE3"/>
                </a:solidFill>
                <a:latin typeface="Calibri" pitchFamily="34" charset="0"/>
                <a:ea typeface="Calibri" pitchFamily="34" charset="-122"/>
                <a:cs typeface="Calibri" pitchFamily="34" charset="-120"/>
              </a:rPr>
              <a:t>Restructuring</a:t>
            </a:r>
            <a:endParaRPr lang="en-US" sz="800" dirty="0"/>
          </a:p>
          <a:p>
            <a:pPr marL="342900" indent="-342900">
              <a:spcAft>
                <a:spcPts val="400"/>
              </a:spcAft>
              <a:buSzPct val="100000"/>
              <a:buChar char="•"/>
            </a:pPr>
            <a:r>
              <a:rPr lang="en-US" sz="800" dirty="0">
                <a:solidFill>
                  <a:srgbClr val="B8CBE3"/>
                </a:solidFill>
                <a:latin typeface="Calibri" pitchFamily="34" charset="0"/>
                <a:ea typeface="Calibri" pitchFamily="34" charset="-122"/>
                <a:cs typeface="Calibri" pitchFamily="34" charset="-120"/>
              </a:rPr>
              <a:t>Earnings miss</a:t>
            </a:r>
            <a:endParaRPr lang="en-US" sz="800" dirty="0"/>
          </a:p>
        </p:txBody>
      </p:sp>
      <p:sp>
        <p:nvSpPr>
          <p:cNvPr id="20" name="Shape 18"/>
          <p:cNvSpPr/>
          <p:nvPr/>
        </p:nvSpPr>
        <p:spPr>
          <a:xfrm>
            <a:off x="5760720" y="2514600"/>
            <a:ext cx="1901952" cy="932688"/>
          </a:xfrm>
          <a:prstGeom prst="roundRect">
            <a:avLst>
              <a:gd name="adj" fmla="val 5882"/>
            </a:avLst>
          </a:prstGeom>
          <a:solidFill>
            <a:srgbClr val="0F2F5C"/>
          </a:solidFill>
          <a:ln w="9525">
            <a:solidFill>
              <a:srgbClr val="2E4C77"/>
            </a:solidFill>
            <a:prstDash val="solid"/>
          </a:ln>
        </p:spPr>
      </p:sp>
      <p:sp>
        <p:nvSpPr>
          <p:cNvPr id="21" name="Text 19"/>
          <p:cNvSpPr txBox="1"/>
          <p:nvPr/>
        </p:nvSpPr>
        <p:spPr>
          <a:xfrm>
            <a:off x="5870448" y="2569464"/>
            <a:ext cx="1691640" cy="21945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Credit Signals</a:t>
            </a:r>
            <a:endParaRPr lang="en-US" sz="900" dirty="0"/>
          </a:p>
        </p:txBody>
      </p:sp>
      <p:sp>
        <p:nvSpPr>
          <p:cNvPr id="22" name="Text 20"/>
          <p:cNvSpPr txBox="1"/>
          <p:nvPr/>
        </p:nvSpPr>
        <p:spPr>
          <a:xfrm>
            <a:off x="5870448" y="2807208"/>
            <a:ext cx="1737360" cy="621792"/>
          </a:xfrm>
          <a:prstGeom prst="rect">
            <a:avLst/>
          </a:prstGeom>
          <a:noFill/>
          <a:ln/>
        </p:spPr>
        <p:txBody>
          <a:bodyPr wrap="square" lIns="0" tIns="0" rIns="0" bIns="0" rtlCol="0" anchor="t"/>
          <a:lstStyle/>
          <a:p>
            <a:pPr marL="342900" indent="-342900">
              <a:spcAft>
                <a:spcPts val="400"/>
              </a:spcAft>
              <a:buSzPct val="100000"/>
              <a:buChar char="•"/>
            </a:pPr>
            <a:r>
              <a:rPr lang="en-US" sz="800" dirty="0">
                <a:solidFill>
                  <a:srgbClr val="B8CBE3"/>
                </a:solidFill>
                <a:latin typeface="Calibri" pitchFamily="34" charset="0"/>
                <a:ea typeface="Calibri" pitchFamily="34" charset="-122"/>
                <a:cs typeface="Calibri" pitchFamily="34" charset="-120"/>
              </a:rPr>
              <a:t>Credit rating changes</a:t>
            </a:r>
            <a:endParaRPr lang="en-US" sz="800" dirty="0"/>
          </a:p>
          <a:p>
            <a:pPr marL="342900" indent="-342900">
              <a:spcAft>
                <a:spcPts val="400"/>
              </a:spcAft>
              <a:buSzPct val="100000"/>
              <a:buChar char="•"/>
            </a:pPr>
            <a:r>
              <a:rPr lang="en-US" sz="800" dirty="0">
                <a:solidFill>
                  <a:srgbClr val="B8CBE3"/>
                </a:solidFill>
                <a:latin typeface="Calibri" pitchFamily="34" charset="0"/>
                <a:ea typeface="Calibri" pitchFamily="34" charset="-122"/>
                <a:cs typeface="Calibri" pitchFamily="34" charset="-120"/>
              </a:rPr>
              <a:t>Credit outlook changes</a:t>
            </a:r>
            <a:endParaRPr lang="en-US" sz="800" dirty="0"/>
          </a:p>
        </p:txBody>
      </p:sp>
      <p:sp>
        <p:nvSpPr>
          <p:cNvPr id="23" name="Shape 21"/>
          <p:cNvSpPr/>
          <p:nvPr/>
        </p:nvSpPr>
        <p:spPr>
          <a:xfrm>
            <a:off x="3767328" y="3566160"/>
            <a:ext cx="1901952" cy="932688"/>
          </a:xfrm>
          <a:prstGeom prst="roundRect">
            <a:avLst>
              <a:gd name="adj" fmla="val 5882"/>
            </a:avLst>
          </a:prstGeom>
          <a:solidFill>
            <a:srgbClr val="0F2F5C"/>
          </a:solidFill>
          <a:ln w="9525">
            <a:solidFill>
              <a:srgbClr val="2E4C77"/>
            </a:solidFill>
            <a:prstDash val="solid"/>
          </a:ln>
        </p:spPr>
      </p:sp>
      <p:sp>
        <p:nvSpPr>
          <p:cNvPr id="24" name="Text 22"/>
          <p:cNvSpPr txBox="1"/>
          <p:nvPr/>
        </p:nvSpPr>
        <p:spPr>
          <a:xfrm>
            <a:off x="3877056" y="3621024"/>
            <a:ext cx="1691640" cy="21945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Industry Signals</a:t>
            </a:r>
            <a:endParaRPr lang="en-US" sz="900" dirty="0"/>
          </a:p>
        </p:txBody>
      </p:sp>
      <p:sp>
        <p:nvSpPr>
          <p:cNvPr id="25" name="Text 23"/>
          <p:cNvSpPr txBox="1"/>
          <p:nvPr/>
        </p:nvSpPr>
        <p:spPr>
          <a:xfrm>
            <a:off x="3877056" y="3858768"/>
            <a:ext cx="1737360" cy="621792"/>
          </a:xfrm>
          <a:prstGeom prst="rect">
            <a:avLst/>
          </a:prstGeom>
          <a:noFill/>
          <a:ln/>
        </p:spPr>
        <p:txBody>
          <a:bodyPr wrap="square" lIns="0" tIns="0" rIns="0" bIns="0" rtlCol="0" anchor="t"/>
          <a:lstStyle/>
          <a:p>
            <a:pPr marL="342900" indent="-342900">
              <a:spcAft>
                <a:spcPts val="400"/>
              </a:spcAft>
              <a:buSzPct val="100000"/>
              <a:buChar char="•"/>
            </a:pPr>
            <a:r>
              <a:rPr lang="en-US" sz="800" dirty="0">
                <a:solidFill>
                  <a:srgbClr val="B8CBE3"/>
                </a:solidFill>
                <a:latin typeface="Calibri" pitchFamily="34" charset="0"/>
                <a:ea typeface="Calibri" pitchFamily="34" charset="-122"/>
                <a:cs typeface="Calibri" pitchFamily="34" charset="-120"/>
              </a:rPr>
              <a:t>Investment slowdown</a:t>
            </a:r>
            <a:endParaRPr lang="en-US" sz="800" dirty="0"/>
          </a:p>
          <a:p>
            <a:pPr marL="342900" indent="-342900">
              <a:spcAft>
                <a:spcPts val="400"/>
              </a:spcAft>
              <a:buSzPct val="100000"/>
              <a:buChar char="•"/>
            </a:pPr>
            <a:r>
              <a:rPr lang="en-US" sz="800" dirty="0">
                <a:solidFill>
                  <a:srgbClr val="B8CBE3"/>
                </a:solidFill>
                <a:latin typeface="Calibri" pitchFamily="34" charset="0"/>
                <a:ea typeface="Calibri" pitchFamily="34" charset="-122"/>
                <a:cs typeface="Calibri" pitchFamily="34" charset="-120"/>
              </a:rPr>
              <a:t>Demand shifts</a:t>
            </a:r>
            <a:endParaRPr lang="en-US" sz="800" dirty="0"/>
          </a:p>
        </p:txBody>
      </p:sp>
      <p:sp>
        <p:nvSpPr>
          <p:cNvPr id="26" name="Shape 24"/>
          <p:cNvSpPr/>
          <p:nvPr/>
        </p:nvSpPr>
        <p:spPr>
          <a:xfrm>
            <a:off x="5760720" y="3566160"/>
            <a:ext cx="1901952" cy="932688"/>
          </a:xfrm>
          <a:prstGeom prst="roundRect">
            <a:avLst>
              <a:gd name="adj" fmla="val 5882"/>
            </a:avLst>
          </a:prstGeom>
          <a:solidFill>
            <a:srgbClr val="0F2F5C"/>
          </a:solidFill>
          <a:ln w="9525">
            <a:solidFill>
              <a:srgbClr val="2E4C77"/>
            </a:solidFill>
            <a:prstDash val="solid"/>
          </a:ln>
        </p:spPr>
      </p:sp>
      <p:sp>
        <p:nvSpPr>
          <p:cNvPr id="27" name="Text 25"/>
          <p:cNvSpPr txBox="1"/>
          <p:nvPr/>
        </p:nvSpPr>
        <p:spPr>
          <a:xfrm>
            <a:off x="5870448" y="3621024"/>
            <a:ext cx="1691640" cy="21945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Market Signals</a:t>
            </a:r>
            <a:endParaRPr lang="en-US" sz="900" dirty="0"/>
          </a:p>
        </p:txBody>
      </p:sp>
      <p:sp>
        <p:nvSpPr>
          <p:cNvPr id="28" name="Text 26"/>
          <p:cNvSpPr txBox="1"/>
          <p:nvPr/>
        </p:nvSpPr>
        <p:spPr>
          <a:xfrm>
            <a:off x="5870448" y="3858768"/>
            <a:ext cx="1737360" cy="621792"/>
          </a:xfrm>
          <a:prstGeom prst="rect">
            <a:avLst/>
          </a:prstGeom>
          <a:noFill/>
          <a:ln/>
        </p:spPr>
        <p:txBody>
          <a:bodyPr wrap="square" lIns="0" tIns="0" rIns="0" bIns="0" rtlCol="0" anchor="t"/>
          <a:lstStyle/>
          <a:p>
            <a:pPr marL="342900" indent="-342900">
              <a:spcAft>
                <a:spcPts val="400"/>
              </a:spcAft>
              <a:buSzPct val="100000"/>
              <a:buChar char="•"/>
            </a:pPr>
            <a:r>
              <a:rPr lang="en-US" sz="800" dirty="0">
                <a:solidFill>
                  <a:srgbClr val="B8CBE3"/>
                </a:solidFill>
                <a:latin typeface="Calibri" pitchFamily="34" charset="0"/>
                <a:ea typeface="Calibri" pitchFamily="34" charset="-122"/>
                <a:cs typeface="Calibri" pitchFamily="34" charset="-120"/>
              </a:rPr>
              <a:t>Competitive activity</a:t>
            </a:r>
            <a:endParaRPr lang="en-US" sz="800" dirty="0"/>
          </a:p>
          <a:p>
            <a:pPr marL="342900" indent="-342900">
              <a:spcAft>
                <a:spcPts val="400"/>
              </a:spcAft>
              <a:buSzPct val="100000"/>
              <a:buChar char="•"/>
            </a:pPr>
            <a:r>
              <a:rPr lang="en-US" sz="800" dirty="0">
                <a:solidFill>
                  <a:srgbClr val="B8CBE3"/>
                </a:solidFill>
                <a:latin typeface="Calibri" pitchFamily="34" charset="0"/>
                <a:ea typeface="Calibri" pitchFamily="34" charset="-122"/>
                <a:cs typeface="Calibri" pitchFamily="34" charset="-120"/>
              </a:rPr>
              <a:t>Regulatory changes</a:t>
            </a:r>
            <a:endParaRPr lang="en-US" sz="800" dirty="0"/>
          </a:p>
        </p:txBody>
      </p:sp>
      <p:sp>
        <p:nvSpPr>
          <p:cNvPr id="29" name="Text 27"/>
          <p:cNvSpPr txBox="1"/>
          <p:nvPr/>
        </p:nvSpPr>
        <p:spPr>
          <a:xfrm>
            <a:off x="3767328" y="4572000"/>
            <a:ext cx="3895344" cy="320040"/>
          </a:xfrm>
          <a:prstGeom prst="rect">
            <a:avLst/>
          </a:prstGeom>
          <a:noFill/>
          <a:ln/>
        </p:spPr>
        <p:txBody>
          <a:bodyPr wrap="square" lIns="0" tIns="0" rIns="0" bIns="0" rtlCol="0" anchor="ctr"/>
          <a:lstStyle/>
          <a:p>
            <a:pPr marL="0" indent="0">
              <a:buNone/>
            </a:pPr>
            <a:r>
              <a:rPr lang="en-US" sz="900" i="1" dirty="0">
                <a:solidFill>
                  <a:srgbClr val="B8CBE3"/>
                </a:solidFill>
                <a:latin typeface="Calibri" pitchFamily="34" charset="0"/>
                <a:ea typeface="Calibri" pitchFamily="34" charset="-122"/>
                <a:cs typeface="Calibri" pitchFamily="34" charset="-120"/>
              </a:rPr>
              <a:t>External signals add the reasons behind behavior changes — earlier and with more context.</a:t>
            </a:r>
            <a:endParaRPr lang="en-US" sz="900" dirty="0"/>
          </a:p>
        </p:txBody>
      </p:sp>
      <p:sp>
        <p:nvSpPr>
          <p:cNvPr id="30" name="Shape 28"/>
          <p:cNvSpPr/>
          <p:nvPr/>
        </p:nvSpPr>
        <p:spPr>
          <a:xfrm>
            <a:off x="7955280" y="3154680"/>
            <a:ext cx="365760" cy="365760"/>
          </a:xfrm>
          <a:prstGeom prst="rightArrow">
            <a:avLst/>
          </a:prstGeom>
          <a:solidFill>
            <a:srgbClr val="2A63AD"/>
          </a:solidFill>
          <a:ln w="12700">
            <a:solidFill>
              <a:srgbClr val="2A63AD"/>
            </a:solidFill>
            <a:prstDash val="solid"/>
          </a:ln>
        </p:spPr>
      </p:sp>
      <p:sp>
        <p:nvSpPr>
          <p:cNvPr id="31" name="Shape 29"/>
          <p:cNvSpPr/>
          <p:nvPr/>
        </p:nvSpPr>
        <p:spPr>
          <a:xfrm>
            <a:off x="8412480" y="1645920"/>
            <a:ext cx="3200400" cy="3383280"/>
          </a:xfrm>
          <a:prstGeom prst="roundRect">
            <a:avLst>
              <a:gd name="adj" fmla="val 2286"/>
            </a:avLst>
          </a:prstGeom>
          <a:solidFill>
            <a:srgbClr val="DCE6F2"/>
          </a:solidFill>
          <a:ln w="12700">
            <a:solidFill>
              <a:srgbClr val="2A63AD"/>
            </a:solidFill>
            <a:prstDash val="solid"/>
          </a:ln>
        </p:spPr>
      </p:sp>
      <p:sp>
        <p:nvSpPr>
          <p:cNvPr id="32" name="Text 30"/>
          <p:cNvSpPr txBox="1"/>
          <p:nvPr/>
        </p:nvSpPr>
        <p:spPr>
          <a:xfrm>
            <a:off x="8595360" y="1828800"/>
            <a:ext cx="2834640" cy="201168"/>
          </a:xfrm>
          <a:prstGeom prst="rect">
            <a:avLst/>
          </a:prstGeom>
          <a:noFill/>
          <a:ln/>
        </p:spPr>
        <p:txBody>
          <a:bodyPr wrap="square" lIns="0" tIns="0" rIns="0" bIns="0" rtlCol="0" anchor="ctr"/>
          <a:lstStyle/>
          <a:p>
            <a:pPr marL="0" indent="0">
              <a:buNone/>
            </a:pPr>
            <a:r>
              <a:rPr lang="en-US" sz="800" b="1" kern="0" spc="100" dirty="0">
                <a:solidFill>
                  <a:srgbClr val="1F4E8C"/>
                </a:solidFill>
                <a:latin typeface="Calibri" pitchFamily="34" charset="0"/>
                <a:ea typeface="Calibri" pitchFamily="34" charset="-122"/>
                <a:cs typeface="Calibri" pitchFamily="34" charset="-120"/>
              </a:rPr>
              <a:t>BUSINESS RISK INTELLIGENCE ENGINE</a:t>
            </a:r>
            <a:endParaRPr lang="en-US" sz="800" dirty="0"/>
          </a:p>
        </p:txBody>
      </p:sp>
      <p:sp>
        <p:nvSpPr>
          <p:cNvPr id="33" name="Shape 31"/>
          <p:cNvSpPr/>
          <p:nvPr/>
        </p:nvSpPr>
        <p:spPr>
          <a:xfrm>
            <a:off x="8595360" y="2148840"/>
            <a:ext cx="2834640" cy="502920"/>
          </a:xfrm>
          <a:prstGeom prst="roundRect">
            <a:avLst>
              <a:gd name="adj" fmla="val 10909"/>
            </a:avLst>
          </a:prstGeom>
          <a:solidFill>
            <a:srgbClr val="1F4E8C"/>
          </a:solidFill>
          <a:ln w="12700">
            <a:solidFill>
              <a:srgbClr val="1F4E8C"/>
            </a:solidFill>
            <a:prstDash val="solid"/>
          </a:ln>
        </p:spPr>
      </p:sp>
      <p:sp>
        <p:nvSpPr>
          <p:cNvPr id="34" name="Text 32"/>
          <p:cNvSpPr txBox="1"/>
          <p:nvPr/>
        </p:nvSpPr>
        <p:spPr>
          <a:xfrm>
            <a:off x="8686800" y="2148840"/>
            <a:ext cx="2651760" cy="5029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Internal Signals + External Context Signals</a:t>
            </a:r>
            <a:endParaRPr lang="en-US" sz="950" dirty="0"/>
          </a:p>
        </p:txBody>
      </p:sp>
      <p:sp>
        <p:nvSpPr>
          <p:cNvPr id="35" name="Shape 33"/>
          <p:cNvSpPr/>
          <p:nvPr/>
        </p:nvSpPr>
        <p:spPr>
          <a:xfrm>
            <a:off x="9930384" y="2679192"/>
            <a:ext cx="164592" cy="164592"/>
          </a:xfrm>
          <a:prstGeom prst="downArrow">
            <a:avLst/>
          </a:prstGeom>
          <a:solidFill>
            <a:srgbClr val="8DA9C4"/>
          </a:solidFill>
          <a:ln w="12700">
            <a:solidFill>
              <a:srgbClr val="8DA9C4"/>
            </a:solidFill>
            <a:prstDash val="solid"/>
          </a:ln>
        </p:spPr>
      </p:sp>
      <p:sp>
        <p:nvSpPr>
          <p:cNvPr id="36" name="Shape 34"/>
          <p:cNvSpPr/>
          <p:nvPr/>
        </p:nvSpPr>
        <p:spPr>
          <a:xfrm>
            <a:off x="8595360" y="2871216"/>
            <a:ext cx="2834640" cy="502920"/>
          </a:xfrm>
          <a:prstGeom prst="roundRect">
            <a:avLst>
              <a:gd name="adj" fmla="val 10909"/>
            </a:avLst>
          </a:prstGeom>
          <a:solidFill>
            <a:srgbClr val="2A63AD"/>
          </a:solidFill>
          <a:ln w="12700">
            <a:solidFill>
              <a:srgbClr val="2A63AD"/>
            </a:solidFill>
            <a:prstDash val="solid"/>
          </a:ln>
        </p:spPr>
      </p:sp>
      <p:sp>
        <p:nvSpPr>
          <p:cNvPr id="37" name="Text 35"/>
          <p:cNvSpPr txBox="1"/>
          <p:nvPr/>
        </p:nvSpPr>
        <p:spPr>
          <a:xfrm>
            <a:off x="8686800" y="2871216"/>
            <a:ext cx="2651760" cy="5029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Business Context Understanding</a:t>
            </a:r>
            <a:endParaRPr lang="en-US" sz="950" dirty="0"/>
          </a:p>
        </p:txBody>
      </p:sp>
      <p:sp>
        <p:nvSpPr>
          <p:cNvPr id="38" name="Shape 36"/>
          <p:cNvSpPr/>
          <p:nvPr/>
        </p:nvSpPr>
        <p:spPr>
          <a:xfrm>
            <a:off x="9930384" y="3401568"/>
            <a:ext cx="164592" cy="164592"/>
          </a:xfrm>
          <a:prstGeom prst="downArrow">
            <a:avLst/>
          </a:prstGeom>
          <a:solidFill>
            <a:srgbClr val="8DA9C4"/>
          </a:solidFill>
          <a:ln w="12700">
            <a:solidFill>
              <a:srgbClr val="8DA9C4"/>
            </a:solidFill>
            <a:prstDash val="solid"/>
          </a:ln>
        </p:spPr>
      </p:sp>
      <p:sp>
        <p:nvSpPr>
          <p:cNvPr id="39" name="Shape 37"/>
          <p:cNvSpPr/>
          <p:nvPr/>
        </p:nvSpPr>
        <p:spPr>
          <a:xfrm>
            <a:off x="8595360" y="3593592"/>
            <a:ext cx="2834640" cy="502920"/>
          </a:xfrm>
          <a:prstGeom prst="roundRect">
            <a:avLst>
              <a:gd name="adj" fmla="val 10909"/>
            </a:avLst>
          </a:prstGeom>
          <a:solidFill>
            <a:srgbClr val="3E7CC9"/>
          </a:solidFill>
          <a:ln w="12700">
            <a:solidFill>
              <a:srgbClr val="3E7CC9"/>
            </a:solidFill>
            <a:prstDash val="solid"/>
          </a:ln>
        </p:spPr>
      </p:sp>
      <p:sp>
        <p:nvSpPr>
          <p:cNvPr id="40" name="Text 38"/>
          <p:cNvSpPr txBox="1"/>
          <p:nvPr/>
        </p:nvSpPr>
        <p:spPr>
          <a:xfrm>
            <a:off x="8686800" y="3593592"/>
            <a:ext cx="2651760" cy="5029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Business Risk Intelligence</a:t>
            </a:r>
            <a:endParaRPr lang="en-US" sz="950" dirty="0"/>
          </a:p>
        </p:txBody>
      </p:sp>
      <p:sp>
        <p:nvSpPr>
          <p:cNvPr id="41" name="Shape 39"/>
          <p:cNvSpPr/>
          <p:nvPr/>
        </p:nvSpPr>
        <p:spPr>
          <a:xfrm>
            <a:off x="9930384" y="4123944"/>
            <a:ext cx="164592" cy="164592"/>
          </a:xfrm>
          <a:prstGeom prst="downArrow">
            <a:avLst/>
          </a:prstGeom>
          <a:solidFill>
            <a:srgbClr val="8DA9C4"/>
          </a:solidFill>
          <a:ln w="12700">
            <a:solidFill>
              <a:srgbClr val="8DA9C4"/>
            </a:solidFill>
            <a:prstDash val="solid"/>
          </a:ln>
        </p:spPr>
      </p:sp>
      <p:sp>
        <p:nvSpPr>
          <p:cNvPr id="42" name="Shape 40"/>
          <p:cNvSpPr/>
          <p:nvPr/>
        </p:nvSpPr>
        <p:spPr>
          <a:xfrm>
            <a:off x="8595360" y="4315968"/>
            <a:ext cx="2834640" cy="502920"/>
          </a:xfrm>
          <a:prstGeom prst="roundRect">
            <a:avLst>
              <a:gd name="adj" fmla="val 10909"/>
            </a:avLst>
          </a:prstGeom>
          <a:solidFill>
            <a:srgbClr val="0B2545"/>
          </a:solidFill>
          <a:ln w="12700">
            <a:solidFill>
              <a:srgbClr val="0B2545"/>
            </a:solidFill>
            <a:prstDash val="solid"/>
          </a:ln>
        </p:spPr>
      </p:sp>
      <p:sp>
        <p:nvSpPr>
          <p:cNvPr id="43" name="Text 41"/>
          <p:cNvSpPr txBox="1"/>
          <p:nvPr/>
        </p:nvSpPr>
        <p:spPr>
          <a:xfrm>
            <a:off x="8686800" y="4315968"/>
            <a:ext cx="2651760" cy="5029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Finance Action</a:t>
            </a:r>
            <a:endParaRPr lang="en-US" sz="950" dirty="0"/>
          </a:p>
        </p:txBody>
      </p:sp>
      <p:sp>
        <p:nvSpPr>
          <p:cNvPr id="44" name="Text 42"/>
          <p:cNvSpPr txBox="1"/>
          <p:nvPr/>
        </p:nvSpPr>
        <p:spPr>
          <a:xfrm>
            <a:off x="8595360" y="4572000"/>
            <a:ext cx="2834640" cy="320040"/>
          </a:xfrm>
          <a:prstGeom prst="rect">
            <a:avLst/>
          </a:prstGeom>
          <a:noFill/>
          <a:ln/>
        </p:spPr>
        <p:txBody>
          <a:bodyPr wrap="square" lIns="0" tIns="0" rIns="0" bIns="0" rtlCol="0" anchor="ctr"/>
          <a:lstStyle/>
          <a:p>
            <a:pPr marL="0" indent="0">
              <a:buNone/>
            </a:pPr>
            <a:r>
              <a:rPr lang="en-US" sz="800" i="1" dirty="0">
                <a:solidFill>
                  <a:srgbClr val="0B2545"/>
                </a:solidFill>
                <a:latin typeface="Calibri" pitchFamily="34" charset="0"/>
                <a:ea typeface="Calibri" pitchFamily="34" charset="-122"/>
                <a:cs typeface="Calibri" pitchFamily="34" charset="-120"/>
              </a:rPr>
              <a:t>Outputs: Revenue · Collection · Renewal · Customer risk · Growth opportunity</a:t>
            </a:r>
            <a:endParaRPr lang="en-US" sz="800" dirty="0"/>
          </a:p>
        </p:txBody>
      </p:sp>
      <p:sp>
        <p:nvSpPr>
          <p:cNvPr id="45" name="Shape 43"/>
          <p:cNvSpPr/>
          <p:nvPr/>
        </p:nvSpPr>
        <p:spPr>
          <a:xfrm>
            <a:off x="548640" y="5212080"/>
            <a:ext cx="11064240" cy="566928"/>
          </a:xfrm>
          <a:prstGeom prst="rect">
            <a:avLst/>
          </a:prstGeom>
          <a:solidFill>
            <a:srgbClr val="DCE6F2"/>
          </a:solidFill>
          <a:ln w="12700">
            <a:solidFill>
              <a:srgbClr val="DCE6F2"/>
            </a:solidFill>
            <a:prstDash val="solid"/>
          </a:ln>
        </p:spPr>
      </p:sp>
      <p:sp>
        <p:nvSpPr>
          <p:cNvPr id="46" name="Text 44"/>
          <p:cNvSpPr txBox="1"/>
          <p:nvPr/>
        </p:nvSpPr>
        <p:spPr>
          <a:xfrm>
            <a:off x="777240" y="5212080"/>
            <a:ext cx="10607040" cy="566928"/>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External signals are not the objective. </a:t>
            </a:r>
            <a:r>
              <a:rPr lang="en-US" sz="1200" b="1" dirty="0">
                <a:solidFill>
                  <a:srgbClr val="2A63AD"/>
                </a:solidFill>
                <a:latin typeface="Calibri" pitchFamily="34" charset="0"/>
                <a:ea typeface="Calibri" pitchFamily="34" charset="-122"/>
                <a:cs typeface="Calibri" pitchFamily="34" charset="-120"/>
              </a:rPr>
              <a:t>Early business risk detection is the objective.</a:t>
            </a:r>
            <a:endParaRPr lang="en-US" sz="1200" dirty="0"/>
          </a:p>
        </p:txBody>
      </p:sp>
      <p:sp>
        <p:nvSpPr>
          <p:cNvPr id="47" name="Text 45"/>
          <p:cNvSpPr txBox="1"/>
          <p:nvPr/>
        </p:nvSpPr>
        <p:spPr>
          <a:xfrm>
            <a:off x="548640" y="5943600"/>
            <a:ext cx="11064240" cy="292608"/>
          </a:xfrm>
          <a:prstGeom prst="rect">
            <a:avLst/>
          </a:prstGeom>
          <a:noFill/>
          <a:ln/>
        </p:spPr>
        <p:txBody>
          <a:bodyPr wrap="square" lIns="0" tIns="0" rIns="0" bIns="0" rtlCol="0" anchor="ctr"/>
          <a:lstStyle/>
          <a:p>
            <a:pPr marL="0" indent="0" algn="ctr">
              <a:buNone/>
            </a:pPr>
            <a:r>
              <a:rPr lang="en-US" sz="1250" b="1" i="1" dirty="0">
                <a:solidFill>
                  <a:srgbClr val="0B2545"/>
                </a:solidFill>
                <a:latin typeface="Calibri" pitchFamily="34" charset="0"/>
                <a:ea typeface="Calibri" pitchFamily="34" charset="-122"/>
                <a:cs typeface="Calibri" pitchFamily="34" charset="-120"/>
              </a:rPr>
              <a:t>Move Finance from Understanding to Anticipating.</a:t>
            </a:r>
            <a:endParaRPr lang="en-US" sz="1250" dirty="0"/>
          </a:p>
        </p:txBody>
      </p:sp>
      <p:sp>
        <p:nvSpPr>
          <p:cNvPr id="48" name="Text 46"/>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900" dirty="0">
                <a:solidFill>
                  <a:srgbClr val="9AA8B8"/>
                </a:solidFill>
                <a:latin typeface="Calibri" pitchFamily="34" charset="0"/>
                <a:ea typeface="Calibri" pitchFamily="34" charset="-122"/>
                <a:cs typeface="Calibri" pitchFamily="34" charset="-120"/>
              </a:rPr>
              <a:t>Nexbill Financial Intelligence Platform</a:t>
            </a:r>
            <a:endParaRPr lang="en-US" sz="900" dirty="0"/>
          </a:p>
        </p:txBody>
      </p:sp>
      <p:sp>
        <p:nvSpPr>
          <p:cNvPr id="49" name="Text 47"/>
          <p:cNvSpPr txBox="1"/>
          <p:nvPr/>
        </p:nvSpPr>
        <p:spPr>
          <a:xfrm>
            <a:off x="11064240" y="6400800"/>
            <a:ext cx="548640" cy="274320"/>
          </a:xfrm>
          <a:prstGeom prst="rect">
            <a:avLst/>
          </a:prstGeom>
          <a:noFill/>
          <a:ln/>
        </p:spPr>
        <p:txBody>
          <a:bodyPr wrap="square" lIns="0" tIns="0" rIns="0" bIns="0" rtlCol="0" anchor="ctr"/>
          <a:lstStyle/>
          <a:p>
            <a:pPr marL="0" indent="0" algn="r">
              <a:buNone/>
            </a:pPr>
            <a:r>
              <a:rPr lang="en-US" sz="900" dirty="0">
                <a:solidFill>
                  <a:srgbClr val="9AA8B8"/>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Business Risk Intelligence in Action</a:t>
            </a:r>
            <a:endParaRPr lang="en-US" sz="3000" dirty="0"/>
          </a:p>
        </p:txBody>
      </p:sp>
      <p:sp>
        <p:nvSpPr>
          <p:cNvPr id="3" name="Text 1"/>
          <p:cNvSpPr txBox="1"/>
          <p:nvPr/>
        </p:nvSpPr>
        <p:spPr>
          <a:xfrm>
            <a:off x="548640" y="1078992"/>
            <a:ext cx="8595360" cy="502920"/>
          </a:xfrm>
          <a:prstGeom prst="rect">
            <a:avLst/>
          </a:prstGeom>
          <a:noFill/>
          <a:ln/>
        </p:spPr>
        <p:txBody>
          <a:bodyPr wrap="square" lIns="0" tIns="0" rIns="0" bIns="0" rtlCol="0" anchor="t"/>
          <a:lstStyle/>
          <a:p>
            <a:pPr marL="0" indent="0">
              <a:buNone/>
            </a:pPr>
            <a:r>
              <a:rPr lang="en-US" sz="1500" i="1" dirty="0">
                <a:solidFill>
                  <a:srgbClr val="5B6B7F"/>
                </a:solidFill>
                <a:latin typeface="Calibri" pitchFamily="34" charset="0"/>
                <a:ea typeface="Calibri" pitchFamily="34" charset="-122"/>
                <a:cs typeface="Calibri" pitchFamily="34" charset="-120"/>
              </a:rPr>
              <a:t>Finance decision-support scenarios — how a business event becomes an interpreted risk, a Finance impact and a recommended action.</a:t>
            </a:r>
            <a:endParaRPr lang="en-US" sz="1500" dirty="0"/>
          </a:p>
        </p:txBody>
      </p:sp>
      <p:sp>
        <p:nvSpPr>
          <p:cNvPr id="4" name="Shape 2"/>
          <p:cNvSpPr/>
          <p:nvPr/>
        </p:nvSpPr>
        <p:spPr>
          <a:xfrm>
            <a:off x="8322869" y="438912"/>
            <a:ext cx="3290011" cy="256032"/>
          </a:xfrm>
          <a:prstGeom prst="rect">
            <a:avLst/>
          </a:prstGeom>
          <a:solidFill>
            <a:srgbClr val="0B2545"/>
          </a:solidFill>
          <a:ln w="12700">
            <a:solidFill>
              <a:srgbClr val="0B2545"/>
            </a:solidFill>
            <a:prstDash val="solid"/>
          </a:ln>
        </p:spPr>
      </p:sp>
      <p:sp>
        <p:nvSpPr>
          <p:cNvPr id="5" name="Text 3"/>
          <p:cNvSpPr txBox="1"/>
          <p:nvPr/>
        </p:nvSpPr>
        <p:spPr>
          <a:xfrm>
            <a:off x="8322869" y="438912"/>
            <a:ext cx="3290011"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latin typeface="Calibri" pitchFamily="34" charset="0"/>
                <a:ea typeface="Calibri" pitchFamily="34" charset="-122"/>
                <a:cs typeface="Calibri" pitchFamily="34" charset="-120"/>
              </a:rPr>
              <a:t>FINANCE DECISION SUPPORT  ·  ILLUSTRATIVE</a:t>
            </a:r>
            <a:endParaRPr lang="en-US" sz="850" dirty="0"/>
          </a:p>
        </p:txBody>
      </p:sp>
      <p:sp>
        <p:nvSpPr>
          <p:cNvPr id="6" name="Shape 4"/>
          <p:cNvSpPr/>
          <p:nvPr/>
        </p:nvSpPr>
        <p:spPr>
          <a:xfrm>
            <a:off x="548640" y="2075688"/>
            <a:ext cx="1097280" cy="640080"/>
          </a:xfrm>
          <a:prstGeom prst="rect">
            <a:avLst/>
          </a:prstGeom>
          <a:solidFill>
            <a:srgbClr val="1F4E8C"/>
          </a:solidFill>
          <a:ln w="12700">
            <a:solidFill>
              <a:srgbClr val="1F4E8C"/>
            </a:solidFill>
            <a:prstDash val="solid"/>
          </a:ln>
        </p:spPr>
      </p:sp>
      <p:sp>
        <p:nvSpPr>
          <p:cNvPr id="7" name="Text 5"/>
          <p:cNvSpPr txBox="1"/>
          <p:nvPr/>
        </p:nvSpPr>
        <p:spPr>
          <a:xfrm>
            <a:off x="621792" y="2075688"/>
            <a:ext cx="950976" cy="64008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External Event</a:t>
            </a:r>
            <a:endParaRPr lang="en-US" sz="850" dirty="0"/>
          </a:p>
        </p:txBody>
      </p:sp>
      <p:sp>
        <p:nvSpPr>
          <p:cNvPr id="8" name="Shape 6"/>
          <p:cNvSpPr/>
          <p:nvPr/>
        </p:nvSpPr>
        <p:spPr>
          <a:xfrm>
            <a:off x="1051560" y="2706624"/>
            <a:ext cx="91440" cy="73152"/>
          </a:xfrm>
          <a:prstGeom prst="downArrow">
            <a:avLst/>
          </a:prstGeom>
          <a:solidFill>
            <a:srgbClr val="8DA9C4"/>
          </a:solidFill>
          <a:ln w="12700">
            <a:solidFill>
              <a:srgbClr val="8DA9C4"/>
            </a:solidFill>
            <a:prstDash val="solid"/>
          </a:ln>
        </p:spPr>
      </p:sp>
      <p:sp>
        <p:nvSpPr>
          <p:cNvPr id="9" name="Shape 7"/>
          <p:cNvSpPr/>
          <p:nvPr/>
        </p:nvSpPr>
        <p:spPr>
          <a:xfrm>
            <a:off x="548640" y="2761488"/>
            <a:ext cx="1097280" cy="457200"/>
          </a:xfrm>
          <a:prstGeom prst="rect">
            <a:avLst/>
          </a:prstGeom>
          <a:solidFill>
            <a:srgbClr val="2A63AD"/>
          </a:solidFill>
          <a:ln w="12700">
            <a:solidFill>
              <a:srgbClr val="2A63AD"/>
            </a:solidFill>
            <a:prstDash val="solid"/>
          </a:ln>
        </p:spPr>
      </p:sp>
      <p:sp>
        <p:nvSpPr>
          <p:cNvPr id="10" name="Text 8"/>
          <p:cNvSpPr txBox="1"/>
          <p:nvPr/>
        </p:nvSpPr>
        <p:spPr>
          <a:xfrm>
            <a:off x="621792" y="2761488"/>
            <a:ext cx="950976" cy="45720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AI Interpretation</a:t>
            </a:r>
            <a:endParaRPr lang="en-US" sz="850" dirty="0"/>
          </a:p>
        </p:txBody>
      </p:sp>
      <p:sp>
        <p:nvSpPr>
          <p:cNvPr id="11" name="Shape 9"/>
          <p:cNvSpPr/>
          <p:nvPr/>
        </p:nvSpPr>
        <p:spPr>
          <a:xfrm>
            <a:off x="1051560" y="3209544"/>
            <a:ext cx="91440" cy="73152"/>
          </a:xfrm>
          <a:prstGeom prst="downArrow">
            <a:avLst/>
          </a:prstGeom>
          <a:solidFill>
            <a:srgbClr val="8DA9C4"/>
          </a:solidFill>
          <a:ln w="12700">
            <a:solidFill>
              <a:srgbClr val="8DA9C4"/>
            </a:solidFill>
            <a:prstDash val="solid"/>
          </a:ln>
        </p:spPr>
      </p:sp>
      <p:sp>
        <p:nvSpPr>
          <p:cNvPr id="12" name="Shape 10"/>
          <p:cNvSpPr/>
          <p:nvPr/>
        </p:nvSpPr>
        <p:spPr>
          <a:xfrm>
            <a:off x="548640" y="3264408"/>
            <a:ext cx="1097280" cy="566928"/>
          </a:xfrm>
          <a:prstGeom prst="rect">
            <a:avLst/>
          </a:prstGeom>
          <a:solidFill>
            <a:srgbClr val="3E7CC9"/>
          </a:solidFill>
          <a:ln w="12700">
            <a:solidFill>
              <a:srgbClr val="3E7CC9"/>
            </a:solidFill>
            <a:prstDash val="solid"/>
          </a:ln>
        </p:spPr>
      </p:sp>
      <p:sp>
        <p:nvSpPr>
          <p:cNvPr id="13" name="Text 11"/>
          <p:cNvSpPr txBox="1"/>
          <p:nvPr/>
        </p:nvSpPr>
        <p:spPr>
          <a:xfrm>
            <a:off x="621792" y="3264408"/>
            <a:ext cx="950976" cy="566928"/>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Finance Impact</a:t>
            </a:r>
            <a:endParaRPr lang="en-US" sz="850" dirty="0"/>
          </a:p>
        </p:txBody>
      </p:sp>
      <p:sp>
        <p:nvSpPr>
          <p:cNvPr id="14" name="Shape 12"/>
          <p:cNvSpPr/>
          <p:nvPr/>
        </p:nvSpPr>
        <p:spPr>
          <a:xfrm>
            <a:off x="1051560" y="3822192"/>
            <a:ext cx="91440" cy="73152"/>
          </a:xfrm>
          <a:prstGeom prst="downArrow">
            <a:avLst/>
          </a:prstGeom>
          <a:solidFill>
            <a:srgbClr val="8DA9C4"/>
          </a:solidFill>
          <a:ln w="12700">
            <a:solidFill>
              <a:srgbClr val="8DA9C4"/>
            </a:solidFill>
            <a:prstDash val="solid"/>
          </a:ln>
        </p:spPr>
      </p:sp>
      <p:sp>
        <p:nvSpPr>
          <p:cNvPr id="15" name="Shape 13"/>
          <p:cNvSpPr/>
          <p:nvPr/>
        </p:nvSpPr>
        <p:spPr>
          <a:xfrm>
            <a:off x="548640" y="3877056"/>
            <a:ext cx="1097280" cy="603504"/>
          </a:xfrm>
          <a:prstGeom prst="rect">
            <a:avLst/>
          </a:prstGeom>
          <a:solidFill>
            <a:srgbClr val="0B2545"/>
          </a:solidFill>
          <a:ln w="12700">
            <a:solidFill>
              <a:srgbClr val="0B2545"/>
            </a:solidFill>
            <a:prstDash val="solid"/>
          </a:ln>
        </p:spPr>
      </p:sp>
      <p:sp>
        <p:nvSpPr>
          <p:cNvPr id="16" name="Text 14"/>
          <p:cNvSpPr txBox="1"/>
          <p:nvPr/>
        </p:nvSpPr>
        <p:spPr>
          <a:xfrm>
            <a:off x="621792" y="3877056"/>
            <a:ext cx="950976" cy="603504"/>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Recommended Action</a:t>
            </a:r>
            <a:endParaRPr lang="en-US" sz="850" dirty="0"/>
          </a:p>
        </p:txBody>
      </p:sp>
      <p:sp>
        <p:nvSpPr>
          <p:cNvPr id="17" name="Shape 15"/>
          <p:cNvSpPr/>
          <p:nvPr/>
        </p:nvSpPr>
        <p:spPr>
          <a:xfrm>
            <a:off x="1051560" y="4471416"/>
            <a:ext cx="91440" cy="73152"/>
          </a:xfrm>
          <a:prstGeom prst="downArrow">
            <a:avLst/>
          </a:prstGeom>
          <a:solidFill>
            <a:srgbClr val="8DA9C4"/>
          </a:solidFill>
          <a:ln w="12700">
            <a:solidFill>
              <a:srgbClr val="8DA9C4"/>
            </a:solidFill>
            <a:prstDash val="solid"/>
          </a:ln>
        </p:spPr>
      </p:sp>
      <p:sp>
        <p:nvSpPr>
          <p:cNvPr id="18" name="Shape 16"/>
          <p:cNvSpPr/>
          <p:nvPr/>
        </p:nvSpPr>
        <p:spPr>
          <a:xfrm>
            <a:off x="548640" y="4526280"/>
            <a:ext cx="1097280" cy="822960"/>
          </a:xfrm>
          <a:prstGeom prst="rect">
            <a:avLst/>
          </a:prstGeom>
          <a:solidFill>
            <a:srgbClr val="5B95DD"/>
          </a:solidFill>
          <a:ln w="12700">
            <a:solidFill>
              <a:srgbClr val="5B95DD"/>
            </a:solidFill>
            <a:prstDash val="solid"/>
          </a:ln>
        </p:spPr>
      </p:sp>
      <p:sp>
        <p:nvSpPr>
          <p:cNvPr id="19" name="Text 17"/>
          <p:cNvSpPr txBox="1"/>
          <p:nvPr/>
        </p:nvSpPr>
        <p:spPr>
          <a:xfrm>
            <a:off x="621792" y="4526280"/>
            <a:ext cx="950976" cy="82296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Business Value</a:t>
            </a:r>
            <a:endParaRPr lang="en-US" sz="850" dirty="0"/>
          </a:p>
        </p:txBody>
      </p:sp>
      <p:sp>
        <p:nvSpPr>
          <p:cNvPr id="20" name="Shape 18"/>
          <p:cNvSpPr/>
          <p:nvPr/>
        </p:nvSpPr>
        <p:spPr>
          <a:xfrm>
            <a:off x="1755648" y="1645920"/>
            <a:ext cx="2382012" cy="384048"/>
          </a:xfrm>
          <a:prstGeom prst="rect">
            <a:avLst/>
          </a:prstGeom>
          <a:solidFill>
            <a:srgbClr val="0B2545"/>
          </a:solidFill>
          <a:ln w="12700">
            <a:solidFill>
              <a:srgbClr val="0B2545"/>
            </a:solidFill>
            <a:prstDash val="solid"/>
          </a:ln>
        </p:spPr>
      </p:sp>
      <p:sp>
        <p:nvSpPr>
          <p:cNvPr id="21" name="Text 19"/>
          <p:cNvSpPr txBox="1"/>
          <p:nvPr/>
        </p:nvSpPr>
        <p:spPr>
          <a:xfrm>
            <a:off x="1847088" y="1645920"/>
            <a:ext cx="2199132" cy="384048"/>
          </a:xfrm>
          <a:prstGeom prst="rect">
            <a:avLst/>
          </a:prstGeom>
          <a:noFill/>
          <a:ln/>
        </p:spPr>
        <p:txBody>
          <a:bodyPr wrap="square" lIns="0" tIns="0" rIns="0" bIns="0" rtlCol="0" anchor="ctr"/>
          <a:lstStyle/>
          <a:p>
            <a:pPr marL="0" indent="0">
              <a:buNone/>
            </a:pPr>
            <a:r>
              <a:rPr lang="en-US" sz="700" b="1" dirty="0">
                <a:solidFill>
                  <a:srgbClr val="8DA9C4"/>
                </a:solidFill>
                <a:latin typeface="Calibri" pitchFamily="34" charset="0"/>
                <a:ea typeface="Calibri" pitchFamily="34" charset="-122"/>
                <a:cs typeface="Calibri" pitchFamily="34" charset="-120"/>
              </a:rPr>
              <a:t>SCENARIO 1   </a:t>
            </a:r>
            <a:r>
              <a:rPr lang="en-US" sz="950" b="1" dirty="0">
                <a:solidFill>
                  <a:srgbClr val="FFFFFF"/>
                </a:solidFill>
                <a:latin typeface="Calibri" pitchFamily="34" charset="0"/>
                <a:ea typeface="Calibri" pitchFamily="34" charset="-122"/>
                <a:cs typeface="Calibri" pitchFamily="34" charset="-120"/>
              </a:rPr>
              <a:t>Renewal Decision Support</a:t>
            </a:r>
            <a:endParaRPr lang="en-US" sz="700" dirty="0"/>
          </a:p>
        </p:txBody>
      </p:sp>
      <p:sp>
        <p:nvSpPr>
          <p:cNvPr id="22" name="Shape 20"/>
          <p:cNvSpPr/>
          <p:nvPr/>
        </p:nvSpPr>
        <p:spPr>
          <a:xfrm>
            <a:off x="1755648" y="2075688"/>
            <a:ext cx="2382012" cy="640080"/>
          </a:xfrm>
          <a:prstGeom prst="roundRect">
            <a:avLst>
              <a:gd name="adj" fmla="val 5714"/>
            </a:avLst>
          </a:prstGeom>
          <a:solidFill>
            <a:srgbClr val="EEF3FA"/>
          </a:solidFill>
          <a:ln w="9525">
            <a:solidFill>
              <a:srgbClr val="C9D6E6"/>
            </a:solidFill>
            <a:prstDash val="solid"/>
          </a:ln>
        </p:spPr>
      </p:sp>
      <p:sp>
        <p:nvSpPr>
          <p:cNvPr id="23" name="Text 21"/>
          <p:cNvSpPr txBox="1"/>
          <p:nvPr/>
        </p:nvSpPr>
        <p:spPr>
          <a:xfrm>
            <a:off x="1847088" y="2075688"/>
            <a:ext cx="2199132" cy="640080"/>
          </a:xfrm>
          <a:prstGeom prst="rect">
            <a:avLst/>
          </a:prstGeom>
          <a:noFill/>
          <a:ln/>
        </p:spPr>
        <p:txBody>
          <a:bodyPr wrap="square" lIns="0" tIns="0" rIns="0" bIns="0" rtlCol="0" anchor="ctr"/>
          <a:lstStyle/>
          <a:p>
            <a:pPr marL="0" indent="0">
              <a:buNone/>
            </a:pPr>
            <a:r>
              <a:rPr lang="en-US" sz="850" b="1" dirty="0">
                <a:solidFill>
                  <a:srgbClr val="0B2545"/>
                </a:solidFill>
                <a:latin typeface="Calibri" pitchFamily="34" charset="0"/>
                <a:ea typeface="Calibri" pitchFamily="34" charset="-122"/>
                <a:cs typeface="Calibri" pitchFamily="34" charset="-120"/>
              </a:rPr>
              <a:t>Workforce reduction  ·  Credit deterioration  ·  Industry slowdown</a:t>
            </a:r>
            <a:endParaRPr lang="en-US" sz="850" dirty="0"/>
          </a:p>
        </p:txBody>
      </p:sp>
      <p:sp>
        <p:nvSpPr>
          <p:cNvPr id="24" name="Shape 22"/>
          <p:cNvSpPr/>
          <p:nvPr/>
        </p:nvSpPr>
        <p:spPr>
          <a:xfrm>
            <a:off x="1755648" y="2761488"/>
            <a:ext cx="2382012" cy="457200"/>
          </a:xfrm>
          <a:prstGeom prst="roundRect">
            <a:avLst>
              <a:gd name="adj" fmla="val 8000"/>
            </a:avLst>
          </a:prstGeom>
          <a:solidFill>
            <a:srgbClr val="DCE6F2"/>
          </a:solidFill>
          <a:ln w="12700">
            <a:solidFill>
              <a:srgbClr val="DCE6F2"/>
            </a:solidFill>
            <a:prstDash val="solid"/>
          </a:ln>
        </p:spPr>
      </p:sp>
      <p:sp>
        <p:nvSpPr>
          <p:cNvPr id="25" name="Text 23"/>
          <p:cNvSpPr txBox="1"/>
          <p:nvPr/>
        </p:nvSpPr>
        <p:spPr>
          <a:xfrm>
            <a:off x="1847088" y="2761488"/>
            <a:ext cx="2199132" cy="457200"/>
          </a:xfrm>
          <a:prstGeom prst="rect">
            <a:avLst/>
          </a:prstGeom>
          <a:noFill/>
          <a:ln/>
        </p:spPr>
        <p:txBody>
          <a:bodyPr wrap="square" lIns="0" tIns="0" rIns="0" bIns="0" rtlCol="0" anchor="ctr"/>
          <a:lstStyle/>
          <a:p>
            <a:pPr marL="0" indent="0">
              <a:buNone/>
            </a:pPr>
            <a:r>
              <a:rPr lang="en-US" sz="850" i="1" dirty="0">
                <a:solidFill>
                  <a:srgbClr val="0B2545"/>
                </a:solidFill>
                <a:latin typeface="Calibri" pitchFamily="34" charset="0"/>
                <a:ea typeface="Calibri" pitchFamily="34" charset="-122"/>
                <a:cs typeface="Calibri" pitchFamily="34" charset="-120"/>
              </a:rPr>
              <a:t>Customer financial stress pattern</a:t>
            </a:r>
            <a:endParaRPr lang="en-US" sz="850" dirty="0"/>
          </a:p>
        </p:txBody>
      </p:sp>
      <p:sp>
        <p:nvSpPr>
          <p:cNvPr id="26" name="Shape 24"/>
          <p:cNvSpPr/>
          <p:nvPr/>
        </p:nvSpPr>
        <p:spPr>
          <a:xfrm>
            <a:off x="1755648" y="3264408"/>
            <a:ext cx="2382012" cy="566928"/>
          </a:xfrm>
          <a:prstGeom prst="roundRect">
            <a:avLst>
              <a:gd name="adj" fmla="val 6452"/>
            </a:avLst>
          </a:prstGeom>
          <a:solidFill>
            <a:srgbClr val="FFFFFF"/>
          </a:solidFill>
          <a:ln w="9525">
            <a:solidFill>
              <a:srgbClr val="3E7CC9"/>
            </a:solidFill>
            <a:prstDash val="solid"/>
          </a:ln>
        </p:spPr>
      </p:sp>
      <p:sp>
        <p:nvSpPr>
          <p:cNvPr id="27" name="Text 25"/>
          <p:cNvSpPr txBox="1"/>
          <p:nvPr/>
        </p:nvSpPr>
        <p:spPr>
          <a:xfrm>
            <a:off x="1847088" y="3300984"/>
            <a:ext cx="1284732" cy="246888"/>
          </a:xfrm>
          <a:prstGeom prst="rect">
            <a:avLst/>
          </a:prstGeom>
          <a:noFill/>
          <a:ln/>
        </p:spPr>
        <p:txBody>
          <a:bodyPr wrap="square" lIns="0" tIns="0" rIns="0" bIns="0" rtlCol="0" anchor="ctr"/>
          <a:lstStyle/>
          <a:p>
            <a:pPr marL="0" indent="0">
              <a:buNone/>
            </a:pPr>
            <a:r>
              <a:rPr lang="en-US" sz="750" dirty="0">
                <a:solidFill>
                  <a:srgbClr val="33475B"/>
                </a:solidFill>
                <a:latin typeface="Calibri" pitchFamily="34" charset="0"/>
                <a:ea typeface="Calibri" pitchFamily="34" charset="-122"/>
                <a:cs typeface="Calibri" pitchFamily="34" charset="-120"/>
              </a:rPr>
              <a:t>Revenue risk</a:t>
            </a:r>
            <a:endParaRPr lang="en-US" sz="750" dirty="0"/>
          </a:p>
        </p:txBody>
      </p:sp>
      <p:sp>
        <p:nvSpPr>
          <p:cNvPr id="28" name="Shape 26"/>
          <p:cNvSpPr/>
          <p:nvPr/>
        </p:nvSpPr>
        <p:spPr>
          <a:xfrm>
            <a:off x="3177540" y="3319272"/>
            <a:ext cx="868680" cy="210312"/>
          </a:xfrm>
          <a:prstGeom prst="roundRect">
            <a:avLst>
              <a:gd name="adj" fmla="val 17391"/>
            </a:avLst>
          </a:prstGeom>
          <a:solidFill>
            <a:srgbClr val="1F4E8C"/>
          </a:solidFill>
          <a:ln w="6350">
            <a:solidFill>
              <a:srgbClr val="1F4E8C"/>
            </a:solidFill>
            <a:prstDash val="solid"/>
          </a:ln>
        </p:spPr>
      </p:sp>
      <p:sp>
        <p:nvSpPr>
          <p:cNvPr id="29" name="Text 27"/>
          <p:cNvSpPr txBox="1"/>
          <p:nvPr/>
        </p:nvSpPr>
        <p:spPr>
          <a:xfrm>
            <a:off x="3177540" y="3300984"/>
            <a:ext cx="868680" cy="24688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High</a:t>
            </a:r>
            <a:endParaRPr lang="en-US" sz="750" dirty="0"/>
          </a:p>
        </p:txBody>
      </p:sp>
      <p:sp>
        <p:nvSpPr>
          <p:cNvPr id="30" name="Text 28"/>
          <p:cNvSpPr txBox="1"/>
          <p:nvPr/>
        </p:nvSpPr>
        <p:spPr>
          <a:xfrm>
            <a:off x="1847088" y="3547872"/>
            <a:ext cx="1284732" cy="246888"/>
          </a:xfrm>
          <a:prstGeom prst="rect">
            <a:avLst/>
          </a:prstGeom>
          <a:noFill/>
          <a:ln/>
        </p:spPr>
        <p:txBody>
          <a:bodyPr wrap="square" lIns="0" tIns="0" rIns="0" bIns="0" rtlCol="0" anchor="ctr"/>
          <a:lstStyle/>
          <a:p>
            <a:pPr marL="0" indent="0">
              <a:buNone/>
            </a:pPr>
            <a:r>
              <a:rPr lang="en-US" sz="750" dirty="0">
                <a:solidFill>
                  <a:srgbClr val="33475B"/>
                </a:solidFill>
                <a:latin typeface="Calibri" pitchFamily="34" charset="0"/>
                <a:ea typeface="Calibri" pitchFamily="34" charset="-122"/>
                <a:cs typeface="Calibri" pitchFamily="34" charset="-120"/>
              </a:rPr>
              <a:t>Renewal risk</a:t>
            </a:r>
            <a:endParaRPr lang="en-US" sz="750" dirty="0"/>
          </a:p>
        </p:txBody>
      </p:sp>
      <p:sp>
        <p:nvSpPr>
          <p:cNvPr id="31" name="Shape 29"/>
          <p:cNvSpPr/>
          <p:nvPr/>
        </p:nvSpPr>
        <p:spPr>
          <a:xfrm>
            <a:off x="3177540" y="3566160"/>
            <a:ext cx="868680" cy="210312"/>
          </a:xfrm>
          <a:prstGeom prst="roundRect">
            <a:avLst>
              <a:gd name="adj" fmla="val 17391"/>
            </a:avLst>
          </a:prstGeom>
          <a:solidFill>
            <a:srgbClr val="1F4E8C"/>
          </a:solidFill>
          <a:ln w="6350">
            <a:solidFill>
              <a:srgbClr val="1F4E8C"/>
            </a:solidFill>
            <a:prstDash val="solid"/>
          </a:ln>
        </p:spPr>
      </p:sp>
      <p:sp>
        <p:nvSpPr>
          <p:cNvPr id="32" name="Text 30"/>
          <p:cNvSpPr txBox="1"/>
          <p:nvPr/>
        </p:nvSpPr>
        <p:spPr>
          <a:xfrm>
            <a:off x="3177540" y="3547872"/>
            <a:ext cx="868680" cy="24688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High</a:t>
            </a:r>
            <a:endParaRPr lang="en-US" sz="750" dirty="0"/>
          </a:p>
        </p:txBody>
      </p:sp>
      <p:sp>
        <p:nvSpPr>
          <p:cNvPr id="33" name="Shape 31"/>
          <p:cNvSpPr/>
          <p:nvPr/>
        </p:nvSpPr>
        <p:spPr>
          <a:xfrm>
            <a:off x="1755648" y="3877056"/>
            <a:ext cx="2382012" cy="603504"/>
          </a:xfrm>
          <a:prstGeom prst="roundRect">
            <a:avLst>
              <a:gd name="adj" fmla="val 6061"/>
            </a:avLst>
          </a:prstGeom>
          <a:solidFill>
            <a:srgbClr val="0B2545"/>
          </a:solidFill>
          <a:ln w="12700">
            <a:solidFill>
              <a:srgbClr val="0B2545"/>
            </a:solidFill>
            <a:prstDash val="solid"/>
          </a:ln>
        </p:spPr>
      </p:sp>
      <p:sp>
        <p:nvSpPr>
          <p:cNvPr id="34" name="Text 32"/>
          <p:cNvSpPr txBox="1"/>
          <p:nvPr/>
        </p:nvSpPr>
        <p:spPr>
          <a:xfrm>
            <a:off x="1801368" y="3877056"/>
            <a:ext cx="2290572" cy="603504"/>
          </a:xfrm>
          <a:prstGeom prst="rect">
            <a:avLst/>
          </a:prstGeom>
          <a:noFill/>
          <a:ln/>
        </p:spPr>
        <p:txBody>
          <a:bodyPr wrap="square" lIns="0" tIns="254" rIns="0" bIns="0" rtlCol="0" anchor="ctr"/>
          <a:lstStyle/>
          <a:p>
            <a:pPr marL="342900" indent="-342900">
              <a:buSzPct val="100000"/>
              <a:buChar char="•"/>
            </a:pPr>
            <a:r>
              <a:rPr lang="en-US" sz="800" dirty="0">
                <a:solidFill>
                  <a:srgbClr val="FFFFFF"/>
                </a:solidFill>
                <a:latin typeface="Calibri" pitchFamily="34" charset="0"/>
                <a:ea typeface="Calibri" pitchFamily="34" charset="-122"/>
                <a:cs typeface="Calibri" pitchFamily="34" charset="-120"/>
              </a:rPr>
              <a:t>Retention strategy</a:t>
            </a:r>
            <a:endParaRPr lang="en-US" sz="800" dirty="0"/>
          </a:p>
          <a:p>
            <a:pPr marL="342900" indent="-342900">
              <a:buSzPct val="100000"/>
              <a:buChar char="•"/>
            </a:pPr>
            <a:r>
              <a:rPr lang="en-US" sz="800" dirty="0">
                <a:solidFill>
                  <a:srgbClr val="FFFFFF"/>
                </a:solidFill>
                <a:latin typeface="Calibri" pitchFamily="34" charset="0"/>
                <a:ea typeface="Calibri" pitchFamily="34" charset="-122"/>
                <a:cs typeface="Calibri" pitchFamily="34" charset="-120"/>
              </a:rPr>
              <a:t>Maintain pricing</a:t>
            </a:r>
            <a:endParaRPr lang="en-US" sz="800" dirty="0"/>
          </a:p>
          <a:p>
            <a:pPr marL="342900" indent="-342900">
              <a:buSzPct val="100000"/>
              <a:buChar char="•"/>
            </a:pPr>
            <a:r>
              <a:rPr lang="en-US" sz="800" dirty="0">
                <a:solidFill>
                  <a:srgbClr val="FFFFFF"/>
                </a:solidFill>
                <a:latin typeface="Calibri" pitchFamily="34" charset="0"/>
                <a:ea typeface="Calibri" pitchFamily="34" charset="-122"/>
                <a:cs typeface="Calibri" pitchFamily="34" charset="-120"/>
              </a:rPr>
              <a:t>Executive review</a:t>
            </a:r>
            <a:endParaRPr lang="en-US" sz="800" dirty="0"/>
          </a:p>
        </p:txBody>
      </p:sp>
      <p:sp>
        <p:nvSpPr>
          <p:cNvPr id="35" name="Shape 33"/>
          <p:cNvSpPr/>
          <p:nvPr/>
        </p:nvSpPr>
        <p:spPr>
          <a:xfrm>
            <a:off x="1755648" y="4526280"/>
            <a:ext cx="2382012" cy="822960"/>
          </a:xfrm>
          <a:prstGeom prst="roundRect">
            <a:avLst>
              <a:gd name="adj" fmla="val 4444"/>
            </a:avLst>
          </a:prstGeom>
          <a:solidFill>
            <a:srgbClr val="DCE6F2"/>
          </a:solidFill>
          <a:ln w="9525">
            <a:solidFill>
              <a:srgbClr val="5B95DD"/>
            </a:solidFill>
            <a:prstDash val="solid"/>
          </a:ln>
        </p:spPr>
      </p:sp>
      <p:sp>
        <p:nvSpPr>
          <p:cNvPr id="36" name="Text 34"/>
          <p:cNvSpPr txBox="1"/>
          <p:nvPr/>
        </p:nvSpPr>
        <p:spPr>
          <a:xfrm>
            <a:off x="1847088" y="4526280"/>
            <a:ext cx="2199132" cy="822960"/>
          </a:xfrm>
          <a:prstGeom prst="rect">
            <a:avLst/>
          </a:prstGeom>
          <a:noFill/>
          <a:ln/>
        </p:spPr>
        <p:txBody>
          <a:bodyPr wrap="square" lIns="0" tIns="0" rIns="0" bIns="0" rtlCol="0" anchor="ctr"/>
          <a:lstStyle/>
          <a:p>
            <a:pPr marL="0" indent="0">
              <a:buNone/>
            </a:pPr>
            <a:r>
              <a:rPr lang="en-US" sz="800" i="1" dirty="0">
                <a:solidFill>
                  <a:srgbClr val="5B6B7F"/>
                </a:solidFill>
                <a:latin typeface="Calibri" pitchFamily="34" charset="0"/>
                <a:ea typeface="Calibri" pitchFamily="34" charset="-122"/>
                <a:cs typeface="Calibri" pitchFamily="34" charset="-120"/>
              </a:rPr>
              <a:t>Traditional Finance waits until revenue changes. </a:t>
            </a:r>
            <a:r>
              <a:rPr lang="en-US" sz="800" b="1" dirty="0">
                <a:solidFill>
                  <a:srgbClr val="0B2545"/>
                </a:solidFill>
                <a:latin typeface="Calibri" pitchFamily="34" charset="0"/>
                <a:ea typeface="Calibri" pitchFamily="34" charset="-122"/>
                <a:cs typeface="Calibri" pitchFamily="34" charset="-120"/>
              </a:rPr>
              <a:t>AI identifies future renewal risk before revenue changes.</a:t>
            </a:r>
            <a:endParaRPr lang="en-US" sz="800" dirty="0"/>
          </a:p>
        </p:txBody>
      </p:sp>
      <p:sp>
        <p:nvSpPr>
          <p:cNvPr id="37" name="Shape 35"/>
          <p:cNvSpPr/>
          <p:nvPr/>
        </p:nvSpPr>
        <p:spPr>
          <a:xfrm>
            <a:off x="4247388" y="1645920"/>
            <a:ext cx="2382012" cy="384048"/>
          </a:xfrm>
          <a:prstGeom prst="rect">
            <a:avLst/>
          </a:prstGeom>
          <a:solidFill>
            <a:srgbClr val="0B2545"/>
          </a:solidFill>
          <a:ln w="12700">
            <a:solidFill>
              <a:srgbClr val="0B2545"/>
            </a:solidFill>
            <a:prstDash val="solid"/>
          </a:ln>
        </p:spPr>
      </p:sp>
      <p:sp>
        <p:nvSpPr>
          <p:cNvPr id="38" name="Text 36"/>
          <p:cNvSpPr txBox="1"/>
          <p:nvPr/>
        </p:nvSpPr>
        <p:spPr>
          <a:xfrm>
            <a:off x="4338828" y="1645920"/>
            <a:ext cx="2199132" cy="384048"/>
          </a:xfrm>
          <a:prstGeom prst="rect">
            <a:avLst/>
          </a:prstGeom>
          <a:noFill/>
          <a:ln/>
        </p:spPr>
        <p:txBody>
          <a:bodyPr wrap="square" lIns="0" tIns="0" rIns="0" bIns="0" rtlCol="0" anchor="ctr"/>
          <a:lstStyle/>
          <a:p>
            <a:pPr marL="0" indent="0">
              <a:buNone/>
            </a:pPr>
            <a:r>
              <a:rPr lang="en-US" sz="700" b="1" dirty="0">
                <a:solidFill>
                  <a:srgbClr val="8DA9C4"/>
                </a:solidFill>
                <a:latin typeface="Calibri" pitchFamily="34" charset="0"/>
                <a:ea typeface="Calibri" pitchFamily="34" charset="-122"/>
                <a:cs typeface="Calibri" pitchFamily="34" charset="-120"/>
              </a:rPr>
              <a:t>SCENARIO 2   </a:t>
            </a:r>
            <a:r>
              <a:rPr lang="en-US" sz="950" b="1" dirty="0">
                <a:solidFill>
                  <a:srgbClr val="FFFFFF"/>
                </a:solidFill>
                <a:latin typeface="Calibri" pitchFamily="34" charset="0"/>
                <a:ea typeface="Calibri" pitchFamily="34" charset="-122"/>
                <a:cs typeface="Calibri" pitchFamily="34" charset="-120"/>
              </a:rPr>
              <a:t>Collection Risk Monitoring</a:t>
            </a:r>
            <a:endParaRPr lang="en-US" sz="700" dirty="0"/>
          </a:p>
        </p:txBody>
      </p:sp>
      <p:sp>
        <p:nvSpPr>
          <p:cNvPr id="39" name="Shape 37"/>
          <p:cNvSpPr/>
          <p:nvPr/>
        </p:nvSpPr>
        <p:spPr>
          <a:xfrm>
            <a:off x="4247388" y="2075688"/>
            <a:ext cx="2382012" cy="640080"/>
          </a:xfrm>
          <a:prstGeom prst="roundRect">
            <a:avLst>
              <a:gd name="adj" fmla="val 5714"/>
            </a:avLst>
          </a:prstGeom>
          <a:solidFill>
            <a:srgbClr val="EEF3FA"/>
          </a:solidFill>
          <a:ln w="9525">
            <a:solidFill>
              <a:srgbClr val="C9D6E6"/>
            </a:solidFill>
            <a:prstDash val="solid"/>
          </a:ln>
        </p:spPr>
      </p:sp>
      <p:sp>
        <p:nvSpPr>
          <p:cNvPr id="40" name="Text 38"/>
          <p:cNvSpPr txBox="1"/>
          <p:nvPr/>
        </p:nvSpPr>
        <p:spPr>
          <a:xfrm>
            <a:off x="4338828" y="2075688"/>
            <a:ext cx="2199132" cy="640080"/>
          </a:xfrm>
          <a:prstGeom prst="rect">
            <a:avLst/>
          </a:prstGeom>
          <a:noFill/>
          <a:ln/>
        </p:spPr>
        <p:txBody>
          <a:bodyPr wrap="square" lIns="0" tIns="0" rIns="0" bIns="0" rtlCol="0" anchor="ctr"/>
          <a:lstStyle/>
          <a:p>
            <a:pPr marL="0" indent="0">
              <a:buNone/>
            </a:pPr>
            <a:r>
              <a:rPr lang="en-US" sz="850" b="1" dirty="0">
                <a:solidFill>
                  <a:srgbClr val="0B2545"/>
                </a:solidFill>
                <a:latin typeface="Calibri" pitchFamily="34" charset="0"/>
                <a:ea typeface="Calibri" pitchFamily="34" charset="-122"/>
                <a:cs typeface="Calibri" pitchFamily="34" charset="-120"/>
              </a:rPr>
              <a:t>Credit downgrade</a:t>
            </a:r>
            <a:endParaRPr lang="en-US" sz="850" dirty="0"/>
          </a:p>
        </p:txBody>
      </p:sp>
      <p:sp>
        <p:nvSpPr>
          <p:cNvPr id="41" name="Shape 39"/>
          <p:cNvSpPr/>
          <p:nvPr/>
        </p:nvSpPr>
        <p:spPr>
          <a:xfrm>
            <a:off x="4247388" y="2761488"/>
            <a:ext cx="2382012" cy="457200"/>
          </a:xfrm>
          <a:prstGeom prst="roundRect">
            <a:avLst>
              <a:gd name="adj" fmla="val 8000"/>
            </a:avLst>
          </a:prstGeom>
          <a:solidFill>
            <a:srgbClr val="DCE6F2"/>
          </a:solidFill>
          <a:ln w="12700">
            <a:solidFill>
              <a:srgbClr val="DCE6F2"/>
            </a:solidFill>
            <a:prstDash val="solid"/>
          </a:ln>
        </p:spPr>
      </p:sp>
      <p:sp>
        <p:nvSpPr>
          <p:cNvPr id="42" name="Text 40"/>
          <p:cNvSpPr txBox="1"/>
          <p:nvPr/>
        </p:nvSpPr>
        <p:spPr>
          <a:xfrm>
            <a:off x="4338828" y="2761488"/>
            <a:ext cx="2199132" cy="457200"/>
          </a:xfrm>
          <a:prstGeom prst="rect">
            <a:avLst/>
          </a:prstGeom>
          <a:noFill/>
          <a:ln/>
        </p:spPr>
        <p:txBody>
          <a:bodyPr wrap="square" lIns="0" tIns="0" rIns="0" bIns="0" rtlCol="0" anchor="ctr"/>
          <a:lstStyle/>
          <a:p>
            <a:pPr marL="0" indent="0">
              <a:buNone/>
            </a:pPr>
            <a:r>
              <a:rPr lang="en-US" sz="850" i="1" dirty="0">
                <a:solidFill>
                  <a:srgbClr val="0B2545"/>
                </a:solidFill>
                <a:latin typeface="Calibri" pitchFamily="34" charset="0"/>
                <a:ea typeface="Calibri" pitchFamily="34" charset="-122"/>
                <a:cs typeface="Calibri" pitchFamily="34" charset="-120"/>
              </a:rPr>
              <a:t>Potential collection deterioration</a:t>
            </a:r>
            <a:endParaRPr lang="en-US" sz="850" dirty="0"/>
          </a:p>
        </p:txBody>
      </p:sp>
      <p:sp>
        <p:nvSpPr>
          <p:cNvPr id="43" name="Shape 41"/>
          <p:cNvSpPr/>
          <p:nvPr/>
        </p:nvSpPr>
        <p:spPr>
          <a:xfrm>
            <a:off x="4247388" y="3264408"/>
            <a:ext cx="2382012" cy="566928"/>
          </a:xfrm>
          <a:prstGeom prst="roundRect">
            <a:avLst>
              <a:gd name="adj" fmla="val 6452"/>
            </a:avLst>
          </a:prstGeom>
          <a:solidFill>
            <a:srgbClr val="FFFFFF"/>
          </a:solidFill>
          <a:ln w="9525">
            <a:solidFill>
              <a:srgbClr val="3E7CC9"/>
            </a:solidFill>
            <a:prstDash val="solid"/>
          </a:ln>
        </p:spPr>
      </p:sp>
      <p:sp>
        <p:nvSpPr>
          <p:cNvPr id="44" name="Text 42"/>
          <p:cNvSpPr txBox="1"/>
          <p:nvPr/>
        </p:nvSpPr>
        <p:spPr>
          <a:xfrm>
            <a:off x="4338828" y="3300984"/>
            <a:ext cx="1284732" cy="493776"/>
          </a:xfrm>
          <a:prstGeom prst="rect">
            <a:avLst/>
          </a:prstGeom>
          <a:noFill/>
          <a:ln/>
        </p:spPr>
        <p:txBody>
          <a:bodyPr wrap="square" lIns="0" tIns="0" rIns="0" bIns="0" rtlCol="0" anchor="ctr"/>
          <a:lstStyle/>
          <a:p>
            <a:pPr marL="0" indent="0">
              <a:buNone/>
            </a:pPr>
            <a:r>
              <a:rPr lang="en-US" sz="750" dirty="0">
                <a:solidFill>
                  <a:srgbClr val="33475B"/>
                </a:solidFill>
                <a:latin typeface="Calibri" pitchFamily="34" charset="0"/>
                <a:ea typeface="Calibri" pitchFamily="34" charset="-122"/>
                <a:cs typeface="Calibri" pitchFamily="34" charset="-120"/>
              </a:rPr>
              <a:t>AR exposure</a:t>
            </a:r>
            <a:endParaRPr lang="en-US" sz="750" dirty="0"/>
          </a:p>
        </p:txBody>
      </p:sp>
      <p:sp>
        <p:nvSpPr>
          <p:cNvPr id="45" name="Shape 43"/>
          <p:cNvSpPr/>
          <p:nvPr/>
        </p:nvSpPr>
        <p:spPr>
          <a:xfrm>
            <a:off x="5669280" y="3319272"/>
            <a:ext cx="868680" cy="457200"/>
          </a:xfrm>
          <a:prstGeom prst="roundRect">
            <a:avLst>
              <a:gd name="adj" fmla="val 8000"/>
            </a:avLst>
          </a:prstGeom>
          <a:solidFill>
            <a:srgbClr val="DCE6F2"/>
          </a:solidFill>
          <a:ln w="6350">
            <a:solidFill>
              <a:srgbClr val="3E7CC9"/>
            </a:solidFill>
            <a:prstDash val="solid"/>
          </a:ln>
        </p:spPr>
      </p:sp>
      <p:sp>
        <p:nvSpPr>
          <p:cNvPr id="46" name="Text 44"/>
          <p:cNvSpPr txBox="1"/>
          <p:nvPr/>
        </p:nvSpPr>
        <p:spPr>
          <a:xfrm>
            <a:off x="5669280" y="3300984"/>
            <a:ext cx="868680" cy="493776"/>
          </a:xfrm>
          <a:prstGeom prst="rect">
            <a:avLst/>
          </a:prstGeom>
          <a:noFill/>
          <a:ln/>
        </p:spPr>
        <p:txBody>
          <a:bodyPr wrap="square" lIns="0" tIns="0" rIns="0" bIns="0" rtlCol="0" anchor="ctr"/>
          <a:lstStyle/>
          <a:p>
            <a:pPr marL="0" indent="0" algn="ctr">
              <a:buNone/>
            </a:pPr>
            <a:r>
              <a:rPr lang="en-US" sz="750" b="1" dirty="0">
                <a:solidFill>
                  <a:srgbClr val="0B2545"/>
                </a:solidFill>
                <a:latin typeface="Calibri" pitchFamily="34" charset="0"/>
                <a:ea typeface="Calibri" pitchFamily="34" charset="-122"/>
                <a:cs typeface="Calibri" pitchFamily="34" charset="-120"/>
              </a:rPr>
              <a:t>Increased</a:t>
            </a:r>
            <a:endParaRPr lang="en-US" sz="750" dirty="0"/>
          </a:p>
        </p:txBody>
      </p:sp>
      <p:sp>
        <p:nvSpPr>
          <p:cNvPr id="47" name="Shape 45"/>
          <p:cNvSpPr/>
          <p:nvPr/>
        </p:nvSpPr>
        <p:spPr>
          <a:xfrm>
            <a:off x="4247388" y="3877056"/>
            <a:ext cx="2382012" cy="603504"/>
          </a:xfrm>
          <a:prstGeom prst="roundRect">
            <a:avLst>
              <a:gd name="adj" fmla="val 6061"/>
            </a:avLst>
          </a:prstGeom>
          <a:solidFill>
            <a:srgbClr val="0B2545"/>
          </a:solidFill>
          <a:ln w="12700">
            <a:solidFill>
              <a:srgbClr val="0B2545"/>
            </a:solidFill>
            <a:prstDash val="solid"/>
          </a:ln>
        </p:spPr>
      </p:sp>
      <p:sp>
        <p:nvSpPr>
          <p:cNvPr id="48" name="Text 46"/>
          <p:cNvSpPr txBox="1"/>
          <p:nvPr/>
        </p:nvSpPr>
        <p:spPr>
          <a:xfrm>
            <a:off x="4293108" y="3877056"/>
            <a:ext cx="2290572" cy="603504"/>
          </a:xfrm>
          <a:prstGeom prst="rect">
            <a:avLst/>
          </a:prstGeom>
          <a:noFill/>
          <a:ln/>
        </p:spPr>
        <p:txBody>
          <a:bodyPr wrap="square" lIns="0" tIns="254" rIns="0" bIns="0" rtlCol="0" anchor="ctr"/>
          <a:lstStyle/>
          <a:p>
            <a:pPr marL="342900" indent="-342900">
              <a:buSzPct val="100000"/>
              <a:buChar char="•"/>
            </a:pPr>
            <a:r>
              <a:rPr lang="en-US" sz="800" dirty="0">
                <a:solidFill>
                  <a:srgbClr val="FFFFFF"/>
                </a:solidFill>
                <a:latin typeface="Calibri" pitchFamily="34" charset="0"/>
                <a:ea typeface="Calibri" pitchFamily="34" charset="-122"/>
                <a:cs typeface="Calibri" pitchFamily="34" charset="-120"/>
              </a:rPr>
              <a:t>Review credit limits</a:t>
            </a:r>
            <a:endParaRPr lang="en-US" sz="800" dirty="0"/>
          </a:p>
          <a:p>
            <a:pPr marL="342900" indent="-342900">
              <a:buSzPct val="100000"/>
              <a:buChar char="•"/>
            </a:pPr>
            <a:r>
              <a:rPr lang="en-US" sz="800" dirty="0">
                <a:solidFill>
                  <a:srgbClr val="FFFFFF"/>
                </a:solidFill>
                <a:latin typeface="Calibri" pitchFamily="34" charset="0"/>
                <a:ea typeface="Calibri" pitchFamily="34" charset="-122"/>
                <a:cs typeface="Calibri" pitchFamily="34" charset="-120"/>
              </a:rPr>
              <a:t>Increase follow-up</a:t>
            </a:r>
            <a:endParaRPr lang="en-US" sz="800" dirty="0"/>
          </a:p>
        </p:txBody>
      </p:sp>
      <p:sp>
        <p:nvSpPr>
          <p:cNvPr id="49" name="Shape 47"/>
          <p:cNvSpPr/>
          <p:nvPr/>
        </p:nvSpPr>
        <p:spPr>
          <a:xfrm>
            <a:off x="4247388" y="4526280"/>
            <a:ext cx="2382012" cy="822960"/>
          </a:xfrm>
          <a:prstGeom prst="roundRect">
            <a:avLst>
              <a:gd name="adj" fmla="val 4444"/>
            </a:avLst>
          </a:prstGeom>
          <a:solidFill>
            <a:srgbClr val="DCE6F2"/>
          </a:solidFill>
          <a:ln w="9525">
            <a:solidFill>
              <a:srgbClr val="5B95DD"/>
            </a:solidFill>
            <a:prstDash val="solid"/>
          </a:ln>
        </p:spPr>
      </p:sp>
      <p:sp>
        <p:nvSpPr>
          <p:cNvPr id="50" name="Text 48"/>
          <p:cNvSpPr txBox="1"/>
          <p:nvPr/>
        </p:nvSpPr>
        <p:spPr>
          <a:xfrm>
            <a:off x="4338828" y="4526280"/>
            <a:ext cx="2199132" cy="822960"/>
          </a:xfrm>
          <a:prstGeom prst="rect">
            <a:avLst/>
          </a:prstGeom>
          <a:noFill/>
          <a:ln/>
        </p:spPr>
        <p:txBody>
          <a:bodyPr wrap="square" lIns="0" tIns="0" rIns="0" bIns="0" rtlCol="0" anchor="ctr"/>
          <a:lstStyle/>
          <a:p>
            <a:pPr marL="0" indent="0">
              <a:buNone/>
            </a:pPr>
            <a:r>
              <a:rPr lang="en-US" sz="800" i="1" dirty="0">
                <a:solidFill>
                  <a:srgbClr val="5B6B7F"/>
                </a:solidFill>
                <a:latin typeface="Calibri" pitchFamily="34" charset="0"/>
                <a:ea typeface="Calibri" pitchFamily="34" charset="-122"/>
                <a:cs typeface="Calibri" pitchFamily="34" charset="-120"/>
              </a:rPr>
              <a:t>Traditional Finance manages overdue balances. </a:t>
            </a:r>
            <a:r>
              <a:rPr lang="en-US" sz="800" b="1" dirty="0">
                <a:solidFill>
                  <a:srgbClr val="0B2545"/>
                </a:solidFill>
                <a:latin typeface="Calibri" pitchFamily="34" charset="0"/>
                <a:ea typeface="Calibri" pitchFamily="34" charset="-122"/>
                <a:cs typeface="Calibri" pitchFamily="34" charset="-120"/>
              </a:rPr>
              <a:t>AI identifies customers likely to become overdue.</a:t>
            </a:r>
            <a:endParaRPr lang="en-US" sz="800" dirty="0"/>
          </a:p>
        </p:txBody>
      </p:sp>
      <p:sp>
        <p:nvSpPr>
          <p:cNvPr id="51" name="Shape 49"/>
          <p:cNvSpPr/>
          <p:nvPr/>
        </p:nvSpPr>
        <p:spPr>
          <a:xfrm>
            <a:off x="6739128" y="1645920"/>
            <a:ext cx="2382012" cy="384048"/>
          </a:xfrm>
          <a:prstGeom prst="rect">
            <a:avLst/>
          </a:prstGeom>
          <a:solidFill>
            <a:srgbClr val="0B2545"/>
          </a:solidFill>
          <a:ln w="12700">
            <a:solidFill>
              <a:srgbClr val="0B2545"/>
            </a:solidFill>
            <a:prstDash val="solid"/>
          </a:ln>
        </p:spPr>
      </p:sp>
      <p:sp>
        <p:nvSpPr>
          <p:cNvPr id="52" name="Text 50"/>
          <p:cNvSpPr txBox="1"/>
          <p:nvPr/>
        </p:nvSpPr>
        <p:spPr>
          <a:xfrm>
            <a:off x="6830568" y="1645920"/>
            <a:ext cx="2199132" cy="384048"/>
          </a:xfrm>
          <a:prstGeom prst="rect">
            <a:avLst/>
          </a:prstGeom>
          <a:noFill/>
          <a:ln/>
        </p:spPr>
        <p:txBody>
          <a:bodyPr wrap="square" lIns="0" tIns="0" rIns="0" bIns="0" rtlCol="0" anchor="ctr"/>
          <a:lstStyle/>
          <a:p>
            <a:pPr marL="0" indent="0">
              <a:buNone/>
            </a:pPr>
            <a:r>
              <a:rPr lang="en-US" sz="700" b="1" dirty="0">
                <a:solidFill>
                  <a:srgbClr val="8DA9C4"/>
                </a:solidFill>
                <a:latin typeface="Calibri" pitchFamily="34" charset="0"/>
                <a:ea typeface="Calibri" pitchFamily="34" charset="-122"/>
                <a:cs typeface="Calibri" pitchFamily="34" charset="-120"/>
              </a:rPr>
              <a:t>SCENARIO 3   </a:t>
            </a:r>
            <a:r>
              <a:rPr lang="en-US" sz="950" b="1" dirty="0">
                <a:solidFill>
                  <a:srgbClr val="FFFFFF"/>
                </a:solidFill>
                <a:latin typeface="Calibri" pitchFamily="34" charset="0"/>
                <a:ea typeface="Calibri" pitchFamily="34" charset="-122"/>
                <a:cs typeface="Calibri" pitchFamily="34" charset="-120"/>
              </a:rPr>
              <a:t>Revenue Forecast Validation</a:t>
            </a:r>
            <a:endParaRPr lang="en-US" sz="700" dirty="0"/>
          </a:p>
        </p:txBody>
      </p:sp>
      <p:sp>
        <p:nvSpPr>
          <p:cNvPr id="53" name="Shape 51"/>
          <p:cNvSpPr/>
          <p:nvPr/>
        </p:nvSpPr>
        <p:spPr>
          <a:xfrm>
            <a:off x="6739128" y="2075688"/>
            <a:ext cx="2382012" cy="640080"/>
          </a:xfrm>
          <a:prstGeom prst="roundRect">
            <a:avLst>
              <a:gd name="adj" fmla="val 5714"/>
            </a:avLst>
          </a:prstGeom>
          <a:solidFill>
            <a:srgbClr val="EEF3FA"/>
          </a:solidFill>
          <a:ln w="9525">
            <a:solidFill>
              <a:srgbClr val="C9D6E6"/>
            </a:solidFill>
            <a:prstDash val="solid"/>
          </a:ln>
        </p:spPr>
      </p:sp>
      <p:sp>
        <p:nvSpPr>
          <p:cNvPr id="54" name="Text 52"/>
          <p:cNvSpPr txBox="1"/>
          <p:nvPr/>
        </p:nvSpPr>
        <p:spPr>
          <a:xfrm>
            <a:off x="6830568" y="2075688"/>
            <a:ext cx="2199132" cy="640080"/>
          </a:xfrm>
          <a:prstGeom prst="rect">
            <a:avLst/>
          </a:prstGeom>
          <a:noFill/>
          <a:ln/>
        </p:spPr>
        <p:txBody>
          <a:bodyPr wrap="square" lIns="0" tIns="0" rIns="0" bIns="0" rtlCol="0" anchor="ctr"/>
          <a:lstStyle/>
          <a:p>
            <a:pPr marL="0" indent="0">
              <a:buNone/>
            </a:pPr>
            <a:r>
              <a:rPr lang="en-US" sz="850" b="1" dirty="0">
                <a:solidFill>
                  <a:srgbClr val="0B2545"/>
                </a:solidFill>
                <a:latin typeface="Calibri" pitchFamily="34" charset="0"/>
                <a:ea typeface="Calibri" pitchFamily="34" charset="-122"/>
                <a:cs typeface="Calibri" pitchFamily="34" charset="-120"/>
              </a:rPr>
              <a:t>Industry investment slowdown</a:t>
            </a:r>
            <a:endParaRPr lang="en-US" sz="850" dirty="0"/>
          </a:p>
        </p:txBody>
      </p:sp>
      <p:sp>
        <p:nvSpPr>
          <p:cNvPr id="55" name="Shape 53"/>
          <p:cNvSpPr/>
          <p:nvPr/>
        </p:nvSpPr>
        <p:spPr>
          <a:xfrm>
            <a:off x="6739128" y="2761488"/>
            <a:ext cx="2382012" cy="457200"/>
          </a:xfrm>
          <a:prstGeom prst="roundRect">
            <a:avLst>
              <a:gd name="adj" fmla="val 8000"/>
            </a:avLst>
          </a:prstGeom>
          <a:solidFill>
            <a:srgbClr val="DCE6F2"/>
          </a:solidFill>
          <a:ln w="12700">
            <a:solidFill>
              <a:srgbClr val="DCE6F2"/>
            </a:solidFill>
            <a:prstDash val="solid"/>
          </a:ln>
        </p:spPr>
      </p:sp>
      <p:sp>
        <p:nvSpPr>
          <p:cNvPr id="56" name="Text 54"/>
          <p:cNvSpPr txBox="1"/>
          <p:nvPr/>
        </p:nvSpPr>
        <p:spPr>
          <a:xfrm>
            <a:off x="6830568" y="2761488"/>
            <a:ext cx="2199132" cy="457200"/>
          </a:xfrm>
          <a:prstGeom prst="rect">
            <a:avLst/>
          </a:prstGeom>
          <a:noFill/>
          <a:ln/>
        </p:spPr>
        <p:txBody>
          <a:bodyPr wrap="square" lIns="0" tIns="0" rIns="0" bIns="0" rtlCol="0" anchor="ctr"/>
          <a:lstStyle/>
          <a:p>
            <a:pPr marL="0" indent="0">
              <a:buNone/>
            </a:pPr>
            <a:r>
              <a:rPr lang="en-US" sz="850" i="1" dirty="0">
                <a:solidFill>
                  <a:srgbClr val="0B2545"/>
                </a:solidFill>
                <a:latin typeface="Calibri" pitchFamily="34" charset="0"/>
                <a:ea typeface="Calibri" pitchFamily="34" charset="-122"/>
                <a:cs typeface="Calibri" pitchFamily="34" charset="-120"/>
              </a:rPr>
              <a:t>Segment revenue pressure</a:t>
            </a:r>
            <a:endParaRPr lang="en-US" sz="850" dirty="0"/>
          </a:p>
        </p:txBody>
      </p:sp>
      <p:sp>
        <p:nvSpPr>
          <p:cNvPr id="57" name="Shape 55"/>
          <p:cNvSpPr/>
          <p:nvPr/>
        </p:nvSpPr>
        <p:spPr>
          <a:xfrm>
            <a:off x="6739128" y="3264408"/>
            <a:ext cx="2382012" cy="566928"/>
          </a:xfrm>
          <a:prstGeom prst="roundRect">
            <a:avLst>
              <a:gd name="adj" fmla="val 6452"/>
            </a:avLst>
          </a:prstGeom>
          <a:solidFill>
            <a:srgbClr val="FFFFFF"/>
          </a:solidFill>
          <a:ln w="9525">
            <a:solidFill>
              <a:srgbClr val="3E7CC9"/>
            </a:solidFill>
            <a:prstDash val="solid"/>
          </a:ln>
        </p:spPr>
      </p:sp>
      <p:sp>
        <p:nvSpPr>
          <p:cNvPr id="58" name="Text 56"/>
          <p:cNvSpPr txBox="1"/>
          <p:nvPr/>
        </p:nvSpPr>
        <p:spPr>
          <a:xfrm>
            <a:off x="6830568" y="3300984"/>
            <a:ext cx="1284732" cy="493776"/>
          </a:xfrm>
          <a:prstGeom prst="rect">
            <a:avLst/>
          </a:prstGeom>
          <a:noFill/>
          <a:ln/>
        </p:spPr>
        <p:txBody>
          <a:bodyPr wrap="square" lIns="0" tIns="0" rIns="0" bIns="0" rtlCol="0" anchor="ctr"/>
          <a:lstStyle/>
          <a:p>
            <a:pPr marL="0" indent="0">
              <a:buNone/>
            </a:pPr>
            <a:r>
              <a:rPr lang="en-US" sz="750" dirty="0">
                <a:solidFill>
                  <a:srgbClr val="33475B"/>
                </a:solidFill>
                <a:latin typeface="Calibri" pitchFamily="34" charset="0"/>
                <a:ea typeface="Calibri" pitchFamily="34" charset="-122"/>
                <a:cs typeface="Calibri" pitchFamily="34" charset="-120"/>
              </a:rPr>
              <a:t>Revenue exposure</a:t>
            </a:r>
            <a:endParaRPr lang="en-US" sz="750" dirty="0"/>
          </a:p>
        </p:txBody>
      </p:sp>
      <p:sp>
        <p:nvSpPr>
          <p:cNvPr id="59" name="Shape 57"/>
          <p:cNvSpPr/>
          <p:nvPr/>
        </p:nvSpPr>
        <p:spPr>
          <a:xfrm>
            <a:off x="8161020" y="3319272"/>
            <a:ext cx="868680" cy="457200"/>
          </a:xfrm>
          <a:prstGeom prst="roundRect">
            <a:avLst>
              <a:gd name="adj" fmla="val 8000"/>
            </a:avLst>
          </a:prstGeom>
          <a:solidFill>
            <a:srgbClr val="DCE6F2"/>
          </a:solidFill>
          <a:ln w="6350">
            <a:solidFill>
              <a:srgbClr val="3E7CC9"/>
            </a:solidFill>
            <a:prstDash val="solid"/>
          </a:ln>
        </p:spPr>
      </p:sp>
      <p:sp>
        <p:nvSpPr>
          <p:cNvPr id="60" name="Text 58"/>
          <p:cNvSpPr txBox="1"/>
          <p:nvPr/>
        </p:nvSpPr>
        <p:spPr>
          <a:xfrm>
            <a:off x="8161020" y="3300984"/>
            <a:ext cx="868680" cy="493776"/>
          </a:xfrm>
          <a:prstGeom prst="rect">
            <a:avLst/>
          </a:prstGeom>
          <a:noFill/>
          <a:ln/>
        </p:spPr>
        <p:txBody>
          <a:bodyPr wrap="square" lIns="0" tIns="0" rIns="0" bIns="0" rtlCol="0" anchor="ctr"/>
          <a:lstStyle/>
          <a:p>
            <a:pPr marL="0" indent="0" algn="ctr">
              <a:buNone/>
            </a:pPr>
            <a:r>
              <a:rPr lang="en-US" sz="750" b="1" dirty="0">
                <a:solidFill>
                  <a:srgbClr val="0B2545"/>
                </a:solidFill>
                <a:latin typeface="Calibri" pitchFamily="34" charset="0"/>
                <a:ea typeface="Calibri" pitchFamily="34" charset="-122"/>
                <a:cs typeface="Calibri" pitchFamily="34" charset="-120"/>
              </a:rPr>
              <a:t>$8M–$10M</a:t>
            </a:r>
            <a:endParaRPr lang="en-US" sz="750" dirty="0"/>
          </a:p>
        </p:txBody>
      </p:sp>
      <p:sp>
        <p:nvSpPr>
          <p:cNvPr id="61" name="Shape 59"/>
          <p:cNvSpPr/>
          <p:nvPr/>
        </p:nvSpPr>
        <p:spPr>
          <a:xfrm>
            <a:off x="6739128" y="3877056"/>
            <a:ext cx="2382012" cy="603504"/>
          </a:xfrm>
          <a:prstGeom prst="roundRect">
            <a:avLst>
              <a:gd name="adj" fmla="val 6061"/>
            </a:avLst>
          </a:prstGeom>
          <a:solidFill>
            <a:srgbClr val="0B2545"/>
          </a:solidFill>
          <a:ln w="12700">
            <a:solidFill>
              <a:srgbClr val="0B2545"/>
            </a:solidFill>
            <a:prstDash val="solid"/>
          </a:ln>
        </p:spPr>
      </p:sp>
      <p:sp>
        <p:nvSpPr>
          <p:cNvPr id="62" name="Text 60"/>
          <p:cNvSpPr txBox="1"/>
          <p:nvPr/>
        </p:nvSpPr>
        <p:spPr>
          <a:xfrm>
            <a:off x="6784848" y="3877056"/>
            <a:ext cx="2290572" cy="603504"/>
          </a:xfrm>
          <a:prstGeom prst="rect">
            <a:avLst/>
          </a:prstGeom>
          <a:noFill/>
          <a:ln/>
        </p:spPr>
        <p:txBody>
          <a:bodyPr wrap="square" lIns="0" tIns="254" rIns="0" bIns="0" rtlCol="0" anchor="ctr"/>
          <a:lstStyle/>
          <a:p>
            <a:pPr marL="342900" indent="-342900">
              <a:buSzPct val="100000"/>
              <a:buChar char="•"/>
            </a:pPr>
            <a:r>
              <a:rPr lang="en-US" sz="800" dirty="0">
                <a:solidFill>
                  <a:srgbClr val="FFFFFF"/>
                </a:solidFill>
                <a:latin typeface="Calibri" pitchFamily="34" charset="0"/>
                <a:ea typeface="Calibri" pitchFamily="34" charset="-122"/>
                <a:cs typeface="Calibri" pitchFamily="34" charset="-120"/>
              </a:rPr>
              <a:t>Adjust forecast</a:t>
            </a:r>
            <a:endParaRPr lang="en-US" sz="800" dirty="0"/>
          </a:p>
          <a:p>
            <a:pPr marL="342900" indent="-342900">
              <a:buSzPct val="100000"/>
              <a:buChar char="•"/>
            </a:pPr>
            <a:r>
              <a:rPr lang="en-US" sz="800" dirty="0">
                <a:solidFill>
                  <a:srgbClr val="FFFFFF"/>
                </a:solidFill>
                <a:latin typeface="Calibri" pitchFamily="34" charset="0"/>
                <a:ea typeface="Calibri" pitchFamily="34" charset="-122"/>
                <a:cs typeface="Calibri" pitchFamily="34" charset="-120"/>
              </a:rPr>
              <a:t>Build mitigation plan</a:t>
            </a:r>
            <a:endParaRPr lang="en-US" sz="800" dirty="0"/>
          </a:p>
        </p:txBody>
      </p:sp>
      <p:sp>
        <p:nvSpPr>
          <p:cNvPr id="63" name="Shape 61"/>
          <p:cNvSpPr/>
          <p:nvPr/>
        </p:nvSpPr>
        <p:spPr>
          <a:xfrm>
            <a:off x="6739128" y="4526280"/>
            <a:ext cx="2382012" cy="822960"/>
          </a:xfrm>
          <a:prstGeom prst="roundRect">
            <a:avLst>
              <a:gd name="adj" fmla="val 4444"/>
            </a:avLst>
          </a:prstGeom>
          <a:solidFill>
            <a:srgbClr val="DCE6F2"/>
          </a:solidFill>
          <a:ln w="9525">
            <a:solidFill>
              <a:srgbClr val="5B95DD"/>
            </a:solidFill>
            <a:prstDash val="solid"/>
          </a:ln>
        </p:spPr>
      </p:sp>
      <p:sp>
        <p:nvSpPr>
          <p:cNvPr id="64" name="Text 62"/>
          <p:cNvSpPr txBox="1"/>
          <p:nvPr/>
        </p:nvSpPr>
        <p:spPr>
          <a:xfrm>
            <a:off x="6830568" y="4526280"/>
            <a:ext cx="2199132" cy="822960"/>
          </a:xfrm>
          <a:prstGeom prst="rect">
            <a:avLst/>
          </a:prstGeom>
          <a:noFill/>
          <a:ln/>
        </p:spPr>
        <p:txBody>
          <a:bodyPr wrap="square" lIns="0" tIns="0" rIns="0" bIns="0" rtlCol="0" anchor="ctr"/>
          <a:lstStyle/>
          <a:p>
            <a:pPr marL="0" indent="0">
              <a:buNone/>
            </a:pPr>
            <a:r>
              <a:rPr lang="en-US" sz="800" i="1" dirty="0">
                <a:solidFill>
                  <a:srgbClr val="5B6B7F"/>
                </a:solidFill>
                <a:latin typeface="Calibri" pitchFamily="34" charset="0"/>
                <a:ea typeface="Calibri" pitchFamily="34" charset="-122"/>
                <a:cs typeface="Calibri" pitchFamily="34" charset="-120"/>
              </a:rPr>
              <a:t>Traditional forecasting uses history. </a:t>
            </a:r>
            <a:r>
              <a:rPr lang="en-US" sz="800" b="1" dirty="0">
                <a:solidFill>
                  <a:srgbClr val="0B2545"/>
                </a:solidFill>
                <a:latin typeface="Calibri" pitchFamily="34" charset="0"/>
                <a:ea typeface="Calibri" pitchFamily="34" charset="-122"/>
                <a:cs typeface="Calibri" pitchFamily="34" charset="-120"/>
              </a:rPr>
              <a:t>AI forecasting incorporates future business signals.</a:t>
            </a:r>
            <a:endParaRPr lang="en-US" sz="800" dirty="0"/>
          </a:p>
        </p:txBody>
      </p:sp>
      <p:sp>
        <p:nvSpPr>
          <p:cNvPr id="65" name="Shape 63"/>
          <p:cNvSpPr/>
          <p:nvPr/>
        </p:nvSpPr>
        <p:spPr>
          <a:xfrm>
            <a:off x="9230868" y="1645920"/>
            <a:ext cx="2382012" cy="384048"/>
          </a:xfrm>
          <a:prstGeom prst="rect">
            <a:avLst/>
          </a:prstGeom>
          <a:solidFill>
            <a:srgbClr val="2A63AD"/>
          </a:solidFill>
          <a:ln w="12700">
            <a:solidFill>
              <a:srgbClr val="2A63AD"/>
            </a:solidFill>
            <a:prstDash val="solid"/>
          </a:ln>
        </p:spPr>
      </p:sp>
      <p:sp>
        <p:nvSpPr>
          <p:cNvPr id="66" name="Text 64"/>
          <p:cNvSpPr txBox="1"/>
          <p:nvPr/>
        </p:nvSpPr>
        <p:spPr>
          <a:xfrm>
            <a:off x="9322308" y="1645920"/>
            <a:ext cx="2199132" cy="384048"/>
          </a:xfrm>
          <a:prstGeom prst="rect">
            <a:avLst/>
          </a:prstGeom>
          <a:noFill/>
          <a:ln/>
        </p:spPr>
        <p:txBody>
          <a:bodyPr wrap="square" lIns="0" tIns="0" rIns="0" bIns="0" rtlCol="0" anchor="ctr"/>
          <a:lstStyle/>
          <a:p>
            <a:pPr marL="0" indent="0">
              <a:buNone/>
            </a:pPr>
            <a:r>
              <a:rPr lang="en-US" sz="700" b="1" dirty="0">
                <a:solidFill>
                  <a:srgbClr val="8DA9C4"/>
                </a:solidFill>
                <a:latin typeface="Calibri" pitchFamily="34" charset="0"/>
                <a:ea typeface="Calibri" pitchFamily="34" charset="-122"/>
                <a:cs typeface="Calibri" pitchFamily="34" charset="-120"/>
              </a:rPr>
              <a:t>SCENARIO 4   </a:t>
            </a:r>
            <a:r>
              <a:rPr lang="en-US" sz="950" b="1" dirty="0">
                <a:solidFill>
                  <a:srgbClr val="FFFFFF"/>
                </a:solidFill>
                <a:latin typeface="Calibri" pitchFamily="34" charset="0"/>
                <a:ea typeface="Calibri" pitchFamily="34" charset="-122"/>
                <a:cs typeface="Calibri" pitchFamily="34" charset="-120"/>
              </a:rPr>
              <a:t>Opportunity Discovery</a:t>
            </a:r>
            <a:endParaRPr lang="en-US" sz="700" dirty="0"/>
          </a:p>
        </p:txBody>
      </p:sp>
      <p:sp>
        <p:nvSpPr>
          <p:cNvPr id="67" name="Shape 65"/>
          <p:cNvSpPr/>
          <p:nvPr/>
        </p:nvSpPr>
        <p:spPr>
          <a:xfrm>
            <a:off x="9230868" y="2075688"/>
            <a:ext cx="2382012" cy="640080"/>
          </a:xfrm>
          <a:prstGeom prst="roundRect">
            <a:avLst>
              <a:gd name="adj" fmla="val 5714"/>
            </a:avLst>
          </a:prstGeom>
          <a:solidFill>
            <a:srgbClr val="EEF3FA"/>
          </a:solidFill>
          <a:ln w="9525">
            <a:solidFill>
              <a:srgbClr val="C9D6E6"/>
            </a:solidFill>
            <a:prstDash val="solid"/>
          </a:ln>
        </p:spPr>
      </p:sp>
      <p:sp>
        <p:nvSpPr>
          <p:cNvPr id="68" name="Text 66"/>
          <p:cNvSpPr txBox="1"/>
          <p:nvPr/>
        </p:nvSpPr>
        <p:spPr>
          <a:xfrm>
            <a:off x="9322308" y="2075688"/>
            <a:ext cx="2199132" cy="640080"/>
          </a:xfrm>
          <a:prstGeom prst="rect">
            <a:avLst/>
          </a:prstGeom>
          <a:noFill/>
          <a:ln/>
        </p:spPr>
        <p:txBody>
          <a:bodyPr wrap="square" lIns="0" tIns="0" rIns="0" bIns="0" rtlCol="0" anchor="ctr"/>
          <a:lstStyle/>
          <a:p>
            <a:pPr marL="0" indent="0">
              <a:buNone/>
            </a:pPr>
            <a:r>
              <a:rPr lang="en-US" sz="850" b="1" dirty="0">
                <a:solidFill>
                  <a:srgbClr val="0B2545"/>
                </a:solidFill>
                <a:latin typeface="Calibri" pitchFamily="34" charset="0"/>
                <a:ea typeface="Calibri" pitchFamily="34" charset="-122"/>
                <a:cs typeface="Calibri" pitchFamily="34" charset="-120"/>
              </a:rPr>
              <a:t>New data-center investment  ·  Customer expansion plan</a:t>
            </a:r>
            <a:endParaRPr lang="en-US" sz="850" dirty="0"/>
          </a:p>
        </p:txBody>
      </p:sp>
      <p:sp>
        <p:nvSpPr>
          <p:cNvPr id="69" name="Shape 67"/>
          <p:cNvSpPr/>
          <p:nvPr/>
        </p:nvSpPr>
        <p:spPr>
          <a:xfrm>
            <a:off x="9230868" y="2761488"/>
            <a:ext cx="2382012" cy="457200"/>
          </a:xfrm>
          <a:prstGeom prst="roundRect">
            <a:avLst>
              <a:gd name="adj" fmla="val 8000"/>
            </a:avLst>
          </a:prstGeom>
          <a:solidFill>
            <a:srgbClr val="DCE6F2"/>
          </a:solidFill>
          <a:ln w="12700">
            <a:solidFill>
              <a:srgbClr val="DCE6F2"/>
            </a:solidFill>
            <a:prstDash val="solid"/>
          </a:ln>
        </p:spPr>
      </p:sp>
      <p:sp>
        <p:nvSpPr>
          <p:cNvPr id="70" name="Text 68"/>
          <p:cNvSpPr txBox="1"/>
          <p:nvPr/>
        </p:nvSpPr>
        <p:spPr>
          <a:xfrm>
            <a:off x="9322308" y="2761488"/>
            <a:ext cx="2199132" cy="457200"/>
          </a:xfrm>
          <a:prstGeom prst="rect">
            <a:avLst/>
          </a:prstGeom>
          <a:noFill/>
          <a:ln/>
        </p:spPr>
        <p:txBody>
          <a:bodyPr wrap="square" lIns="0" tIns="0" rIns="0" bIns="0" rtlCol="0" anchor="ctr"/>
          <a:lstStyle/>
          <a:p>
            <a:pPr marL="0" indent="0">
              <a:buNone/>
            </a:pPr>
            <a:r>
              <a:rPr lang="en-US" sz="850" i="1" dirty="0">
                <a:solidFill>
                  <a:srgbClr val="0B2545"/>
                </a:solidFill>
                <a:latin typeface="Calibri" pitchFamily="34" charset="0"/>
                <a:ea typeface="Calibri" pitchFamily="34" charset="-122"/>
                <a:cs typeface="Calibri" pitchFamily="34" charset="-120"/>
              </a:rPr>
              <a:t>Growth opportunity</a:t>
            </a:r>
            <a:endParaRPr lang="en-US" sz="850" dirty="0"/>
          </a:p>
        </p:txBody>
      </p:sp>
      <p:sp>
        <p:nvSpPr>
          <p:cNvPr id="71" name="Shape 69"/>
          <p:cNvSpPr/>
          <p:nvPr/>
        </p:nvSpPr>
        <p:spPr>
          <a:xfrm>
            <a:off x="9230868" y="3264408"/>
            <a:ext cx="2382012" cy="566928"/>
          </a:xfrm>
          <a:prstGeom prst="roundRect">
            <a:avLst>
              <a:gd name="adj" fmla="val 6452"/>
            </a:avLst>
          </a:prstGeom>
          <a:solidFill>
            <a:srgbClr val="FFFFFF"/>
          </a:solidFill>
          <a:ln w="9525">
            <a:solidFill>
              <a:srgbClr val="3E7CC9"/>
            </a:solidFill>
            <a:prstDash val="solid"/>
          </a:ln>
        </p:spPr>
      </p:sp>
      <p:sp>
        <p:nvSpPr>
          <p:cNvPr id="72" name="Text 70"/>
          <p:cNvSpPr txBox="1"/>
          <p:nvPr/>
        </p:nvSpPr>
        <p:spPr>
          <a:xfrm>
            <a:off x="9322308" y="3300984"/>
            <a:ext cx="1284732" cy="493776"/>
          </a:xfrm>
          <a:prstGeom prst="rect">
            <a:avLst/>
          </a:prstGeom>
          <a:noFill/>
          <a:ln/>
        </p:spPr>
        <p:txBody>
          <a:bodyPr wrap="square" lIns="0" tIns="0" rIns="0" bIns="0" rtlCol="0" anchor="ctr"/>
          <a:lstStyle/>
          <a:p>
            <a:pPr marL="0" indent="0">
              <a:buNone/>
            </a:pPr>
            <a:r>
              <a:rPr lang="en-US" sz="750" dirty="0">
                <a:solidFill>
                  <a:srgbClr val="33475B"/>
                </a:solidFill>
                <a:latin typeface="Calibri" pitchFamily="34" charset="0"/>
                <a:ea typeface="Calibri" pitchFamily="34" charset="-122"/>
                <a:cs typeface="Calibri" pitchFamily="34" charset="-120"/>
              </a:rPr>
              <a:t>Revenue upside</a:t>
            </a:r>
            <a:endParaRPr lang="en-US" sz="750" dirty="0"/>
          </a:p>
        </p:txBody>
      </p:sp>
      <p:sp>
        <p:nvSpPr>
          <p:cNvPr id="73" name="Shape 71"/>
          <p:cNvSpPr/>
          <p:nvPr/>
        </p:nvSpPr>
        <p:spPr>
          <a:xfrm>
            <a:off x="10652760" y="3319272"/>
            <a:ext cx="868680" cy="457200"/>
          </a:xfrm>
          <a:prstGeom prst="roundRect">
            <a:avLst>
              <a:gd name="adj" fmla="val 8000"/>
            </a:avLst>
          </a:prstGeom>
          <a:solidFill>
            <a:srgbClr val="DCE6F2"/>
          </a:solidFill>
          <a:ln w="6350">
            <a:solidFill>
              <a:srgbClr val="3E7CC9"/>
            </a:solidFill>
            <a:prstDash val="solid"/>
          </a:ln>
        </p:spPr>
      </p:sp>
      <p:sp>
        <p:nvSpPr>
          <p:cNvPr id="74" name="Text 72"/>
          <p:cNvSpPr txBox="1"/>
          <p:nvPr/>
        </p:nvSpPr>
        <p:spPr>
          <a:xfrm>
            <a:off x="10652760" y="3300984"/>
            <a:ext cx="868680" cy="493776"/>
          </a:xfrm>
          <a:prstGeom prst="rect">
            <a:avLst/>
          </a:prstGeom>
          <a:noFill/>
          <a:ln/>
        </p:spPr>
        <p:txBody>
          <a:bodyPr wrap="square" lIns="0" tIns="0" rIns="0" bIns="0" rtlCol="0" anchor="ctr"/>
          <a:lstStyle/>
          <a:p>
            <a:pPr marL="0" indent="0" algn="ctr">
              <a:buNone/>
            </a:pPr>
            <a:r>
              <a:rPr lang="en-US" sz="750" b="1" dirty="0">
                <a:solidFill>
                  <a:srgbClr val="0B2545"/>
                </a:solidFill>
                <a:latin typeface="Calibri" pitchFamily="34" charset="0"/>
                <a:ea typeface="Calibri" pitchFamily="34" charset="-122"/>
                <a:cs typeface="Calibri" pitchFamily="34" charset="-120"/>
              </a:rPr>
              <a:t>Potential</a:t>
            </a:r>
            <a:endParaRPr lang="en-US" sz="750" dirty="0"/>
          </a:p>
        </p:txBody>
      </p:sp>
      <p:sp>
        <p:nvSpPr>
          <p:cNvPr id="75" name="Shape 73"/>
          <p:cNvSpPr/>
          <p:nvPr/>
        </p:nvSpPr>
        <p:spPr>
          <a:xfrm>
            <a:off x="9230868" y="3877056"/>
            <a:ext cx="2382012" cy="603504"/>
          </a:xfrm>
          <a:prstGeom prst="roundRect">
            <a:avLst>
              <a:gd name="adj" fmla="val 6061"/>
            </a:avLst>
          </a:prstGeom>
          <a:solidFill>
            <a:srgbClr val="2A63AD"/>
          </a:solidFill>
          <a:ln w="12700">
            <a:solidFill>
              <a:srgbClr val="2A63AD"/>
            </a:solidFill>
            <a:prstDash val="solid"/>
          </a:ln>
        </p:spPr>
      </p:sp>
      <p:sp>
        <p:nvSpPr>
          <p:cNvPr id="76" name="Text 74"/>
          <p:cNvSpPr txBox="1"/>
          <p:nvPr/>
        </p:nvSpPr>
        <p:spPr>
          <a:xfrm>
            <a:off x="9276588" y="3877056"/>
            <a:ext cx="2290572" cy="603504"/>
          </a:xfrm>
          <a:prstGeom prst="rect">
            <a:avLst/>
          </a:prstGeom>
          <a:noFill/>
          <a:ln/>
        </p:spPr>
        <p:txBody>
          <a:bodyPr wrap="square" lIns="0" tIns="254" rIns="0" bIns="0" rtlCol="0" anchor="ctr"/>
          <a:lstStyle/>
          <a:p>
            <a:pPr marL="342900" indent="-342900">
              <a:buSzPct val="100000"/>
              <a:buChar char="•"/>
            </a:pPr>
            <a:r>
              <a:rPr lang="en-US" sz="800" dirty="0">
                <a:solidFill>
                  <a:srgbClr val="FFFFFF"/>
                </a:solidFill>
                <a:latin typeface="Calibri" pitchFamily="34" charset="0"/>
                <a:ea typeface="Calibri" pitchFamily="34" charset="-122"/>
                <a:cs typeface="Calibri" pitchFamily="34" charset="-120"/>
              </a:rPr>
              <a:t>Prioritize engagement</a:t>
            </a:r>
            <a:endParaRPr lang="en-US" sz="800" dirty="0"/>
          </a:p>
          <a:p>
            <a:pPr marL="342900" indent="-342900">
              <a:buSzPct val="100000"/>
              <a:buChar char="•"/>
            </a:pPr>
            <a:r>
              <a:rPr lang="en-US" sz="800" dirty="0">
                <a:solidFill>
                  <a:srgbClr val="FFFFFF"/>
                </a:solidFill>
                <a:latin typeface="Calibri" pitchFamily="34" charset="0"/>
                <a:ea typeface="Calibri" pitchFamily="34" charset="-122"/>
                <a:cs typeface="Calibri" pitchFamily="34" charset="-120"/>
              </a:rPr>
              <a:t>Expansion proposal</a:t>
            </a:r>
            <a:endParaRPr lang="en-US" sz="800" dirty="0"/>
          </a:p>
        </p:txBody>
      </p:sp>
      <p:sp>
        <p:nvSpPr>
          <p:cNvPr id="77" name="Shape 75"/>
          <p:cNvSpPr/>
          <p:nvPr/>
        </p:nvSpPr>
        <p:spPr>
          <a:xfrm>
            <a:off x="9230868" y="4526280"/>
            <a:ext cx="2382012" cy="822960"/>
          </a:xfrm>
          <a:prstGeom prst="roundRect">
            <a:avLst>
              <a:gd name="adj" fmla="val 4444"/>
            </a:avLst>
          </a:prstGeom>
          <a:solidFill>
            <a:srgbClr val="DCE6F2"/>
          </a:solidFill>
          <a:ln w="9525">
            <a:solidFill>
              <a:srgbClr val="5B95DD"/>
            </a:solidFill>
            <a:prstDash val="solid"/>
          </a:ln>
        </p:spPr>
      </p:sp>
      <p:sp>
        <p:nvSpPr>
          <p:cNvPr id="78" name="Text 76"/>
          <p:cNvSpPr txBox="1"/>
          <p:nvPr/>
        </p:nvSpPr>
        <p:spPr>
          <a:xfrm>
            <a:off x="9322308" y="4526280"/>
            <a:ext cx="2199132" cy="822960"/>
          </a:xfrm>
          <a:prstGeom prst="rect">
            <a:avLst/>
          </a:prstGeom>
          <a:noFill/>
          <a:ln/>
        </p:spPr>
        <p:txBody>
          <a:bodyPr wrap="square" lIns="0" tIns="0" rIns="0" bIns="0" rtlCol="0" anchor="ctr"/>
          <a:lstStyle/>
          <a:p>
            <a:pPr marL="0" indent="0">
              <a:buNone/>
            </a:pPr>
            <a:r>
              <a:rPr lang="en-US" sz="800" i="1" dirty="0">
                <a:solidFill>
                  <a:srgbClr val="5B6B7F"/>
                </a:solidFill>
                <a:latin typeface="Calibri" pitchFamily="34" charset="0"/>
                <a:ea typeface="Calibri" pitchFamily="34" charset="-122"/>
                <a:cs typeface="Calibri" pitchFamily="34" charset="-120"/>
              </a:rPr>
              <a:t>Traditional Finance waits for orders. </a:t>
            </a:r>
            <a:r>
              <a:rPr lang="en-US" sz="800" b="1" dirty="0">
                <a:solidFill>
                  <a:srgbClr val="0B2545"/>
                </a:solidFill>
                <a:latin typeface="Calibri" pitchFamily="34" charset="0"/>
                <a:ea typeface="Calibri" pitchFamily="34" charset="-122"/>
                <a:cs typeface="Calibri" pitchFamily="34" charset="-120"/>
              </a:rPr>
              <a:t>AI identifies opportunities before orders appear.</a:t>
            </a:r>
            <a:endParaRPr lang="en-US" sz="800" dirty="0"/>
          </a:p>
        </p:txBody>
      </p:sp>
      <p:sp>
        <p:nvSpPr>
          <p:cNvPr id="79" name="Shape 77"/>
          <p:cNvSpPr/>
          <p:nvPr/>
        </p:nvSpPr>
        <p:spPr>
          <a:xfrm>
            <a:off x="548640" y="5486400"/>
            <a:ext cx="11064240" cy="777240"/>
          </a:xfrm>
          <a:prstGeom prst="roundRect">
            <a:avLst>
              <a:gd name="adj" fmla="val 9412"/>
            </a:avLst>
          </a:prstGeom>
          <a:solidFill>
            <a:srgbClr val="DCE6F2"/>
          </a:solidFill>
          <a:ln w="12700">
            <a:solidFill>
              <a:srgbClr val="DCE6F2"/>
            </a:solidFill>
            <a:prstDash val="solid"/>
          </a:ln>
        </p:spPr>
      </p:sp>
      <p:sp>
        <p:nvSpPr>
          <p:cNvPr id="80" name="Shape 78"/>
          <p:cNvSpPr/>
          <p:nvPr/>
        </p:nvSpPr>
        <p:spPr>
          <a:xfrm>
            <a:off x="777240" y="5710428"/>
            <a:ext cx="2103120" cy="329184"/>
          </a:xfrm>
          <a:prstGeom prst="roundRect">
            <a:avLst>
              <a:gd name="adj" fmla="val 19444"/>
            </a:avLst>
          </a:prstGeom>
          <a:solidFill>
            <a:srgbClr val="1F4E8C"/>
          </a:solidFill>
          <a:ln w="12700">
            <a:solidFill>
              <a:srgbClr val="1F4E8C"/>
            </a:solidFill>
            <a:prstDash val="solid"/>
          </a:ln>
        </p:spPr>
      </p:sp>
      <p:sp>
        <p:nvSpPr>
          <p:cNvPr id="81" name="Text 79"/>
          <p:cNvSpPr txBox="1"/>
          <p:nvPr/>
        </p:nvSpPr>
        <p:spPr>
          <a:xfrm>
            <a:off x="777240" y="5710428"/>
            <a:ext cx="2103120"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Business Event</a:t>
            </a:r>
            <a:endParaRPr lang="en-US" sz="950" dirty="0"/>
          </a:p>
        </p:txBody>
      </p:sp>
      <p:sp>
        <p:nvSpPr>
          <p:cNvPr id="82" name="Shape 80"/>
          <p:cNvSpPr/>
          <p:nvPr/>
        </p:nvSpPr>
        <p:spPr>
          <a:xfrm>
            <a:off x="2935224" y="5792724"/>
            <a:ext cx="164592" cy="164592"/>
          </a:xfrm>
          <a:prstGeom prst="rightArrow">
            <a:avLst/>
          </a:prstGeom>
          <a:solidFill>
            <a:srgbClr val="8DA9C4"/>
          </a:solidFill>
          <a:ln w="12700">
            <a:solidFill>
              <a:srgbClr val="8DA9C4"/>
            </a:solidFill>
            <a:prstDash val="solid"/>
          </a:ln>
        </p:spPr>
      </p:sp>
      <p:sp>
        <p:nvSpPr>
          <p:cNvPr id="83" name="Shape 81"/>
          <p:cNvSpPr/>
          <p:nvPr/>
        </p:nvSpPr>
        <p:spPr>
          <a:xfrm>
            <a:off x="3154680" y="5710428"/>
            <a:ext cx="2103120" cy="329184"/>
          </a:xfrm>
          <a:prstGeom prst="roundRect">
            <a:avLst>
              <a:gd name="adj" fmla="val 19444"/>
            </a:avLst>
          </a:prstGeom>
          <a:solidFill>
            <a:srgbClr val="2A63AD"/>
          </a:solidFill>
          <a:ln w="12700">
            <a:solidFill>
              <a:srgbClr val="2A63AD"/>
            </a:solidFill>
            <a:prstDash val="solid"/>
          </a:ln>
        </p:spPr>
      </p:sp>
      <p:sp>
        <p:nvSpPr>
          <p:cNvPr id="84" name="Text 82"/>
          <p:cNvSpPr txBox="1"/>
          <p:nvPr/>
        </p:nvSpPr>
        <p:spPr>
          <a:xfrm>
            <a:off x="3154680" y="5710428"/>
            <a:ext cx="2103120"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AI Interpretation</a:t>
            </a:r>
            <a:endParaRPr lang="en-US" sz="950" dirty="0"/>
          </a:p>
        </p:txBody>
      </p:sp>
      <p:sp>
        <p:nvSpPr>
          <p:cNvPr id="85" name="Shape 83"/>
          <p:cNvSpPr/>
          <p:nvPr/>
        </p:nvSpPr>
        <p:spPr>
          <a:xfrm>
            <a:off x="5312664" y="5792724"/>
            <a:ext cx="164592" cy="164592"/>
          </a:xfrm>
          <a:prstGeom prst="rightArrow">
            <a:avLst/>
          </a:prstGeom>
          <a:solidFill>
            <a:srgbClr val="8DA9C4"/>
          </a:solidFill>
          <a:ln w="12700">
            <a:solidFill>
              <a:srgbClr val="8DA9C4"/>
            </a:solidFill>
            <a:prstDash val="solid"/>
          </a:ln>
        </p:spPr>
      </p:sp>
      <p:sp>
        <p:nvSpPr>
          <p:cNvPr id="86" name="Shape 84"/>
          <p:cNvSpPr/>
          <p:nvPr/>
        </p:nvSpPr>
        <p:spPr>
          <a:xfrm>
            <a:off x="5532120" y="5710428"/>
            <a:ext cx="2103120" cy="329184"/>
          </a:xfrm>
          <a:prstGeom prst="roundRect">
            <a:avLst>
              <a:gd name="adj" fmla="val 19444"/>
            </a:avLst>
          </a:prstGeom>
          <a:solidFill>
            <a:srgbClr val="3E7CC9"/>
          </a:solidFill>
          <a:ln w="12700">
            <a:solidFill>
              <a:srgbClr val="3E7CC9"/>
            </a:solidFill>
            <a:prstDash val="solid"/>
          </a:ln>
        </p:spPr>
      </p:sp>
      <p:sp>
        <p:nvSpPr>
          <p:cNvPr id="87" name="Text 85"/>
          <p:cNvSpPr txBox="1"/>
          <p:nvPr/>
        </p:nvSpPr>
        <p:spPr>
          <a:xfrm>
            <a:off x="5532120" y="5710428"/>
            <a:ext cx="2103120"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Finance Impact</a:t>
            </a:r>
            <a:endParaRPr lang="en-US" sz="950" dirty="0"/>
          </a:p>
        </p:txBody>
      </p:sp>
      <p:sp>
        <p:nvSpPr>
          <p:cNvPr id="88" name="Shape 86"/>
          <p:cNvSpPr/>
          <p:nvPr/>
        </p:nvSpPr>
        <p:spPr>
          <a:xfrm>
            <a:off x="7690104" y="5792724"/>
            <a:ext cx="164592" cy="164592"/>
          </a:xfrm>
          <a:prstGeom prst="rightArrow">
            <a:avLst/>
          </a:prstGeom>
          <a:solidFill>
            <a:srgbClr val="8DA9C4"/>
          </a:solidFill>
          <a:ln w="12700">
            <a:solidFill>
              <a:srgbClr val="8DA9C4"/>
            </a:solidFill>
            <a:prstDash val="solid"/>
          </a:ln>
        </p:spPr>
      </p:sp>
      <p:sp>
        <p:nvSpPr>
          <p:cNvPr id="89" name="Shape 87"/>
          <p:cNvSpPr/>
          <p:nvPr/>
        </p:nvSpPr>
        <p:spPr>
          <a:xfrm>
            <a:off x="7909560" y="5710428"/>
            <a:ext cx="2103120" cy="329184"/>
          </a:xfrm>
          <a:prstGeom prst="roundRect">
            <a:avLst>
              <a:gd name="adj" fmla="val 19444"/>
            </a:avLst>
          </a:prstGeom>
          <a:solidFill>
            <a:srgbClr val="0B2545"/>
          </a:solidFill>
          <a:ln w="12700">
            <a:solidFill>
              <a:srgbClr val="0B2545"/>
            </a:solidFill>
            <a:prstDash val="solid"/>
          </a:ln>
        </p:spPr>
      </p:sp>
      <p:sp>
        <p:nvSpPr>
          <p:cNvPr id="90" name="Text 88"/>
          <p:cNvSpPr txBox="1"/>
          <p:nvPr/>
        </p:nvSpPr>
        <p:spPr>
          <a:xfrm>
            <a:off x="7909560" y="5710428"/>
            <a:ext cx="2103120"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Recommended Action</a:t>
            </a:r>
            <a:endParaRPr lang="en-US" sz="950" dirty="0"/>
          </a:p>
        </p:txBody>
      </p:sp>
      <p:sp>
        <p:nvSpPr>
          <p:cNvPr id="91" name="Text 89"/>
          <p:cNvSpPr txBox="1"/>
          <p:nvPr/>
        </p:nvSpPr>
        <p:spPr>
          <a:xfrm>
            <a:off x="10058400" y="5486400"/>
            <a:ext cx="1554480" cy="777240"/>
          </a:xfrm>
          <a:prstGeom prst="rect">
            <a:avLst/>
          </a:prstGeom>
          <a:noFill/>
          <a:ln/>
        </p:spPr>
        <p:txBody>
          <a:bodyPr wrap="square" lIns="0" tIns="0" rIns="0" bIns="0" rtlCol="0" anchor="ctr"/>
          <a:lstStyle/>
          <a:p>
            <a:pPr marL="0" indent="0">
              <a:buNone/>
            </a:pPr>
            <a:r>
              <a:rPr lang="en-US" sz="800" b="1" i="1" dirty="0">
                <a:solidFill>
                  <a:srgbClr val="5B6B7F"/>
                </a:solidFill>
                <a:latin typeface="Calibri" pitchFamily="34" charset="0"/>
                <a:ea typeface="Calibri" pitchFamily="34" charset="-122"/>
                <a:cs typeface="Calibri" pitchFamily="34" charset="-120"/>
              </a:rPr>
              <a:t>AI does not monitor news. </a:t>
            </a:r>
            <a:r>
              <a:rPr lang="en-US" sz="800" b="1" i="1" dirty="0">
                <a:solidFill>
                  <a:srgbClr val="0B2545"/>
                </a:solidFill>
                <a:latin typeface="Calibri" pitchFamily="34" charset="0"/>
                <a:ea typeface="Calibri" pitchFamily="34" charset="-122"/>
                <a:cs typeface="Calibri" pitchFamily="34" charset="-120"/>
              </a:rPr>
              <a:t>AI converts business events into Finance decisions.</a:t>
            </a:r>
            <a:endParaRPr lang="en-US" sz="800" dirty="0"/>
          </a:p>
        </p:txBody>
      </p:sp>
      <p:sp>
        <p:nvSpPr>
          <p:cNvPr id="92" name="Text 90"/>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900" dirty="0">
                <a:solidFill>
                  <a:srgbClr val="9AA8B8"/>
                </a:solidFill>
                <a:latin typeface="Calibri" pitchFamily="34" charset="0"/>
                <a:ea typeface="Calibri" pitchFamily="34" charset="-122"/>
                <a:cs typeface="Calibri" pitchFamily="34" charset="-120"/>
              </a:rPr>
              <a:t>Nexbill Financial Intelligence Platform</a:t>
            </a:r>
            <a:endParaRPr lang="en-US" sz="900" dirty="0"/>
          </a:p>
        </p:txBody>
      </p:sp>
      <p:sp>
        <p:nvSpPr>
          <p:cNvPr id="93" name="Text 91"/>
          <p:cNvSpPr txBox="1"/>
          <p:nvPr/>
        </p:nvSpPr>
        <p:spPr>
          <a:xfrm>
            <a:off x="11064240" y="6400800"/>
            <a:ext cx="548640" cy="274320"/>
          </a:xfrm>
          <a:prstGeom prst="rect">
            <a:avLst/>
          </a:prstGeom>
          <a:noFill/>
          <a:ln/>
        </p:spPr>
        <p:txBody>
          <a:bodyPr wrap="square" lIns="0" tIns="0" rIns="0" bIns="0" rtlCol="0" anchor="ctr"/>
          <a:lstStyle/>
          <a:p>
            <a:pPr marL="0" indent="0" algn="r">
              <a:buNone/>
            </a:pPr>
            <a:r>
              <a:rPr lang="en-US" sz="900" dirty="0">
                <a:solidFill>
                  <a:srgbClr val="9AA8B8"/>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Readiness Assessment &amp; Key Decisions</a:t>
            </a:r>
            <a:endParaRPr lang="en-US" sz="3000" dirty="0"/>
          </a:p>
        </p:txBody>
      </p:sp>
      <p:sp>
        <p:nvSpPr>
          <p:cNvPr id="3" name="Text 1"/>
          <p:cNvSpPr txBox="1"/>
          <p:nvPr/>
        </p:nvSpPr>
        <p:spPr>
          <a:xfrm>
            <a:off x="548640" y="1078992"/>
            <a:ext cx="8595360" cy="502920"/>
          </a:xfrm>
          <a:prstGeom prst="rect">
            <a:avLst/>
          </a:prstGeom>
          <a:noFill/>
          <a:ln/>
        </p:spPr>
        <p:txBody>
          <a:bodyPr wrap="square" lIns="0" tIns="0" rIns="0" bIns="0" rtlCol="0" anchor="t"/>
          <a:lstStyle/>
          <a:p>
            <a:pPr marL="0" indent="0">
              <a:buNone/>
            </a:pPr>
            <a:r>
              <a:rPr lang="en-US" sz="1500" i="1" dirty="0">
                <a:solidFill>
                  <a:srgbClr val="5B6B7F"/>
                </a:solidFill>
                <a:latin typeface="Calibri" pitchFamily="34" charset="0"/>
                <a:ea typeface="Calibri" pitchFamily="34" charset="-122"/>
                <a:cs typeface="Calibri" pitchFamily="34" charset="-120"/>
              </a:rPr>
              <a:t>What must be validated for each intelligence layer — and the recommended sequence to build them.</a:t>
            </a:r>
            <a:endParaRPr lang="en-US" sz="1500" dirty="0"/>
          </a:p>
        </p:txBody>
      </p:sp>
      <p:sp>
        <p:nvSpPr>
          <p:cNvPr id="4" name="Shape 2"/>
          <p:cNvSpPr/>
          <p:nvPr/>
        </p:nvSpPr>
        <p:spPr>
          <a:xfrm>
            <a:off x="548640" y="1627632"/>
            <a:ext cx="3520440" cy="2331720"/>
          </a:xfrm>
          <a:prstGeom prst="roundRect">
            <a:avLst>
              <a:gd name="adj" fmla="val 3137"/>
            </a:avLst>
          </a:prstGeom>
          <a:solidFill>
            <a:srgbClr val="EEF3FA"/>
          </a:solidFill>
          <a:ln w="9525">
            <a:solidFill>
              <a:srgbClr val="C9D6E6"/>
            </a:solidFill>
            <a:prstDash val="solid"/>
          </a:ln>
        </p:spPr>
      </p:sp>
      <p:sp>
        <p:nvSpPr>
          <p:cNvPr id="5" name="Shape 3"/>
          <p:cNvSpPr/>
          <p:nvPr/>
        </p:nvSpPr>
        <p:spPr>
          <a:xfrm>
            <a:off x="749808" y="1828800"/>
            <a:ext cx="329184" cy="329184"/>
          </a:xfrm>
          <a:prstGeom prst="ellipse">
            <a:avLst/>
          </a:prstGeom>
          <a:solidFill>
            <a:srgbClr val="0B2545"/>
          </a:solidFill>
          <a:ln w="12700">
            <a:solidFill>
              <a:srgbClr val="0B2545"/>
            </a:solidFill>
            <a:prstDash val="solid"/>
          </a:ln>
        </p:spPr>
      </p:sp>
      <p:sp>
        <p:nvSpPr>
          <p:cNvPr id="6" name="Text 4"/>
          <p:cNvSpPr txBox="1"/>
          <p:nvPr/>
        </p:nvSpPr>
        <p:spPr>
          <a:xfrm>
            <a:off x="749808" y="1828800"/>
            <a:ext cx="329184"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a:t>
            </a:r>
            <a:endParaRPr lang="en-US" sz="1150" dirty="0"/>
          </a:p>
        </p:txBody>
      </p:sp>
      <p:sp>
        <p:nvSpPr>
          <p:cNvPr id="7" name="Text 5"/>
          <p:cNvSpPr txBox="1"/>
          <p:nvPr/>
        </p:nvSpPr>
        <p:spPr>
          <a:xfrm>
            <a:off x="1188720" y="1773936"/>
            <a:ext cx="2697480" cy="182880"/>
          </a:xfrm>
          <a:prstGeom prst="rect">
            <a:avLst/>
          </a:prstGeom>
          <a:noFill/>
          <a:ln/>
        </p:spPr>
        <p:txBody>
          <a:bodyPr wrap="square" lIns="0" tIns="0" rIns="0" bIns="0" rtlCol="0" anchor="ctr"/>
          <a:lstStyle/>
          <a:p>
            <a:pPr marL="0" indent="0">
              <a:buNone/>
            </a:pPr>
            <a:r>
              <a:rPr lang="en-US" sz="800" b="1" kern="0" spc="100" dirty="0">
                <a:solidFill>
                  <a:srgbClr val="1F4E8C"/>
                </a:solidFill>
                <a:latin typeface="Calibri" pitchFamily="34" charset="0"/>
                <a:ea typeface="Calibri" pitchFamily="34" charset="-122"/>
                <a:cs typeface="Calibri" pitchFamily="34" charset="-120"/>
              </a:rPr>
              <a:t>WHY DID IT HAPPEN?</a:t>
            </a:r>
            <a:endParaRPr lang="en-US" sz="800" dirty="0"/>
          </a:p>
        </p:txBody>
      </p:sp>
      <p:sp>
        <p:nvSpPr>
          <p:cNvPr id="8" name="Text 6"/>
          <p:cNvSpPr txBox="1"/>
          <p:nvPr/>
        </p:nvSpPr>
        <p:spPr>
          <a:xfrm>
            <a:off x="1188720" y="1956816"/>
            <a:ext cx="2697480" cy="292608"/>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Finance Intelligence</a:t>
            </a:r>
            <a:endParaRPr lang="en-US" sz="1300" dirty="0"/>
          </a:p>
        </p:txBody>
      </p:sp>
      <p:sp>
        <p:nvSpPr>
          <p:cNvPr id="9" name="Text 7"/>
          <p:cNvSpPr txBox="1"/>
          <p:nvPr/>
        </p:nvSpPr>
        <p:spPr>
          <a:xfrm>
            <a:off x="777240" y="2404872"/>
            <a:ext cx="3063240" cy="100584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33475B"/>
                </a:solidFill>
                <a:latin typeface="Calibri" pitchFamily="34" charset="0"/>
                <a:ea typeface="Calibri" pitchFamily="34" charset="-122"/>
                <a:cs typeface="Calibri" pitchFamily="34" charset="-120"/>
              </a:rPr>
              <a:t>Cost allocation</a:t>
            </a:r>
            <a:endParaRPr lang="en-US" sz="1100" dirty="0"/>
          </a:p>
          <a:p>
            <a:pPr marL="342900" indent="-342900">
              <a:spcAft>
                <a:spcPts val="400"/>
              </a:spcAft>
              <a:buSzPct val="100000"/>
              <a:buChar char="•"/>
            </a:pPr>
            <a:r>
              <a:rPr lang="en-US" sz="1100" dirty="0">
                <a:solidFill>
                  <a:srgbClr val="33475B"/>
                </a:solidFill>
                <a:latin typeface="Calibri" pitchFamily="34" charset="0"/>
                <a:ea typeface="Calibri" pitchFamily="34" charset="-122"/>
                <a:cs typeface="Calibri" pitchFamily="34" charset="-120"/>
              </a:rPr>
              <a:t>Margin availability</a:t>
            </a:r>
            <a:endParaRPr lang="en-US" sz="1100" dirty="0"/>
          </a:p>
        </p:txBody>
      </p:sp>
      <p:sp>
        <p:nvSpPr>
          <p:cNvPr id="10" name="Text 8"/>
          <p:cNvSpPr txBox="1"/>
          <p:nvPr/>
        </p:nvSpPr>
        <p:spPr>
          <a:xfrm>
            <a:off x="777240" y="3392424"/>
            <a:ext cx="3063240" cy="457200"/>
          </a:xfrm>
          <a:prstGeom prst="rect">
            <a:avLst/>
          </a:prstGeom>
          <a:noFill/>
          <a:ln/>
        </p:spPr>
        <p:txBody>
          <a:bodyPr wrap="square" lIns="0" tIns="0" rIns="0" bIns="0" rtlCol="0" anchor="ctr"/>
          <a:lstStyle/>
          <a:p>
            <a:pPr marL="0" indent="0">
              <a:buNone/>
            </a:pPr>
            <a:r>
              <a:rPr lang="en-US" sz="900" i="1" dirty="0">
                <a:solidFill>
                  <a:srgbClr val="0B2545"/>
                </a:solidFill>
                <a:latin typeface="Calibri" pitchFamily="34" charset="0"/>
                <a:ea typeface="Calibri" pitchFamily="34" charset="-122"/>
                <a:cs typeface="Calibri" pitchFamily="34" charset="-120"/>
              </a:rPr>
              <a:t>Can profitability be measured by Customer / Country / Tranche / Hardware vs Service?</a:t>
            </a:r>
            <a:endParaRPr lang="en-US" sz="900" dirty="0"/>
          </a:p>
        </p:txBody>
      </p:sp>
      <p:sp>
        <p:nvSpPr>
          <p:cNvPr id="11" name="Shape 9"/>
          <p:cNvSpPr/>
          <p:nvPr/>
        </p:nvSpPr>
        <p:spPr>
          <a:xfrm>
            <a:off x="4315968" y="1627632"/>
            <a:ext cx="3520440" cy="2331720"/>
          </a:xfrm>
          <a:prstGeom prst="roundRect">
            <a:avLst>
              <a:gd name="adj" fmla="val 3137"/>
            </a:avLst>
          </a:prstGeom>
          <a:solidFill>
            <a:srgbClr val="EEF3FA"/>
          </a:solidFill>
          <a:ln w="9525">
            <a:solidFill>
              <a:srgbClr val="C9D6E6"/>
            </a:solidFill>
            <a:prstDash val="solid"/>
          </a:ln>
        </p:spPr>
      </p:sp>
      <p:sp>
        <p:nvSpPr>
          <p:cNvPr id="12" name="Shape 10"/>
          <p:cNvSpPr/>
          <p:nvPr/>
        </p:nvSpPr>
        <p:spPr>
          <a:xfrm>
            <a:off x="4517136" y="1828800"/>
            <a:ext cx="329184" cy="329184"/>
          </a:xfrm>
          <a:prstGeom prst="ellipse">
            <a:avLst/>
          </a:prstGeom>
          <a:solidFill>
            <a:srgbClr val="0B2545"/>
          </a:solidFill>
          <a:ln w="12700">
            <a:solidFill>
              <a:srgbClr val="0B2545"/>
            </a:solidFill>
            <a:prstDash val="solid"/>
          </a:ln>
        </p:spPr>
      </p:sp>
      <p:sp>
        <p:nvSpPr>
          <p:cNvPr id="13" name="Text 11"/>
          <p:cNvSpPr txBox="1"/>
          <p:nvPr/>
        </p:nvSpPr>
        <p:spPr>
          <a:xfrm>
            <a:off x="4517136" y="1828800"/>
            <a:ext cx="329184"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B</a:t>
            </a:r>
            <a:endParaRPr lang="en-US" sz="1150" dirty="0"/>
          </a:p>
        </p:txBody>
      </p:sp>
      <p:sp>
        <p:nvSpPr>
          <p:cNvPr id="14" name="Text 12"/>
          <p:cNvSpPr txBox="1"/>
          <p:nvPr/>
        </p:nvSpPr>
        <p:spPr>
          <a:xfrm>
            <a:off x="4956048" y="1773936"/>
            <a:ext cx="2697480" cy="182880"/>
          </a:xfrm>
          <a:prstGeom prst="rect">
            <a:avLst/>
          </a:prstGeom>
          <a:noFill/>
          <a:ln/>
        </p:spPr>
        <p:txBody>
          <a:bodyPr wrap="square" lIns="0" tIns="0" rIns="0" bIns="0" rtlCol="0" anchor="ctr"/>
          <a:lstStyle/>
          <a:p>
            <a:pPr marL="0" indent="0">
              <a:buNone/>
            </a:pPr>
            <a:r>
              <a:rPr lang="en-US" sz="800" b="1" kern="0" spc="100" dirty="0">
                <a:solidFill>
                  <a:srgbClr val="1F4E8C"/>
                </a:solidFill>
                <a:latin typeface="Calibri" pitchFamily="34" charset="0"/>
                <a:ea typeface="Calibri" pitchFamily="34" charset="-122"/>
                <a:cs typeface="Calibri" pitchFamily="34" charset="-120"/>
              </a:rPr>
              <a:t>WHAT WILL HAPPEN?</a:t>
            </a:r>
            <a:endParaRPr lang="en-US" sz="800" dirty="0"/>
          </a:p>
        </p:txBody>
      </p:sp>
      <p:sp>
        <p:nvSpPr>
          <p:cNvPr id="15" name="Text 13"/>
          <p:cNvSpPr txBox="1"/>
          <p:nvPr/>
        </p:nvSpPr>
        <p:spPr>
          <a:xfrm>
            <a:off x="4956048" y="1956816"/>
            <a:ext cx="2697480" cy="292608"/>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Business Risk Intelligence</a:t>
            </a:r>
            <a:endParaRPr lang="en-US" sz="1300" dirty="0"/>
          </a:p>
        </p:txBody>
      </p:sp>
      <p:sp>
        <p:nvSpPr>
          <p:cNvPr id="16" name="Text 14"/>
          <p:cNvSpPr txBox="1"/>
          <p:nvPr/>
        </p:nvSpPr>
        <p:spPr>
          <a:xfrm>
            <a:off x="4544568" y="2404872"/>
            <a:ext cx="3063240" cy="100584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33475B"/>
                </a:solidFill>
                <a:latin typeface="Calibri" pitchFamily="34" charset="0"/>
                <a:ea typeface="Calibri" pitchFamily="34" charset="-122"/>
                <a:cs typeface="Calibri" pitchFamily="34" charset="-120"/>
              </a:rPr>
              <a:t>External data sources</a:t>
            </a:r>
            <a:endParaRPr lang="en-US" sz="1100" dirty="0"/>
          </a:p>
          <a:p>
            <a:pPr marL="342900" indent="-342900">
              <a:spcAft>
                <a:spcPts val="400"/>
              </a:spcAft>
              <a:buSzPct val="100000"/>
              <a:buChar char="•"/>
            </a:pPr>
            <a:r>
              <a:rPr lang="en-US" sz="1100" dirty="0">
                <a:solidFill>
                  <a:srgbClr val="33475B"/>
                </a:solidFill>
                <a:latin typeface="Calibri" pitchFamily="34" charset="0"/>
                <a:ea typeface="Calibri" pitchFamily="34" charset="-122"/>
                <a:cs typeface="Calibri" pitchFamily="34" charset="-120"/>
              </a:rPr>
              <a:t>Customer mapping</a:t>
            </a:r>
            <a:endParaRPr lang="en-US" sz="1100" dirty="0"/>
          </a:p>
          <a:p>
            <a:pPr marL="342900" indent="-342900">
              <a:spcAft>
                <a:spcPts val="400"/>
              </a:spcAft>
              <a:buSzPct val="100000"/>
              <a:buChar char="•"/>
            </a:pPr>
            <a:r>
              <a:rPr lang="en-US" sz="1100" dirty="0">
                <a:solidFill>
                  <a:srgbClr val="33475B"/>
                </a:solidFill>
                <a:latin typeface="Calibri" pitchFamily="34" charset="0"/>
                <a:ea typeface="Calibri" pitchFamily="34" charset="-122"/>
                <a:cs typeface="Calibri" pitchFamily="34" charset="-120"/>
              </a:rPr>
              <a:t>Signal coverage</a:t>
            </a:r>
            <a:endParaRPr lang="en-US" sz="1100" dirty="0"/>
          </a:p>
          <a:p>
            <a:pPr marL="342900" indent="-342900">
              <a:spcAft>
                <a:spcPts val="400"/>
              </a:spcAft>
              <a:buSzPct val="100000"/>
              <a:buChar char="•"/>
            </a:pPr>
            <a:r>
              <a:rPr lang="en-US" sz="1100" dirty="0">
                <a:solidFill>
                  <a:srgbClr val="33475B"/>
                </a:solidFill>
                <a:latin typeface="Calibri" pitchFamily="34" charset="0"/>
                <a:ea typeface="Calibri" pitchFamily="34" charset="-122"/>
                <a:cs typeface="Calibri" pitchFamily="34" charset="-120"/>
              </a:rPr>
              <a:t>Governance</a:t>
            </a:r>
            <a:endParaRPr lang="en-US" sz="1100" dirty="0"/>
          </a:p>
        </p:txBody>
      </p:sp>
      <p:sp>
        <p:nvSpPr>
          <p:cNvPr id="17" name="Text 15"/>
          <p:cNvSpPr txBox="1"/>
          <p:nvPr/>
        </p:nvSpPr>
        <p:spPr>
          <a:xfrm>
            <a:off x="4544568" y="3392424"/>
            <a:ext cx="3063240" cy="457200"/>
          </a:xfrm>
          <a:prstGeom prst="rect">
            <a:avLst/>
          </a:prstGeom>
          <a:noFill/>
          <a:ln/>
        </p:spPr>
        <p:txBody>
          <a:bodyPr wrap="square" lIns="0" tIns="0" rIns="0" bIns="0" rtlCol="0" anchor="ctr"/>
          <a:lstStyle/>
          <a:p>
            <a:pPr marL="0" indent="0">
              <a:buNone/>
            </a:pPr>
            <a:r>
              <a:rPr lang="en-US" sz="900" i="1" dirty="0">
                <a:solidFill>
                  <a:srgbClr val="0B2545"/>
                </a:solidFill>
                <a:latin typeface="Calibri" pitchFamily="34" charset="0"/>
                <a:ea typeface="Calibri" pitchFamily="34" charset="-122"/>
                <a:cs typeface="Calibri" pitchFamily="34" charset="-120"/>
              </a:rPr>
              <a:t>Objective: early business risk detection — not news monitoring.</a:t>
            </a:r>
            <a:endParaRPr lang="en-US" sz="900" dirty="0"/>
          </a:p>
        </p:txBody>
      </p:sp>
      <p:sp>
        <p:nvSpPr>
          <p:cNvPr id="18" name="Shape 16"/>
          <p:cNvSpPr/>
          <p:nvPr/>
        </p:nvSpPr>
        <p:spPr>
          <a:xfrm>
            <a:off x="8083296" y="1627632"/>
            <a:ext cx="3520440" cy="2331720"/>
          </a:xfrm>
          <a:prstGeom prst="roundRect">
            <a:avLst>
              <a:gd name="adj" fmla="val 3137"/>
            </a:avLst>
          </a:prstGeom>
          <a:solidFill>
            <a:srgbClr val="EEF3FA"/>
          </a:solidFill>
          <a:ln w="9525">
            <a:solidFill>
              <a:srgbClr val="C9D6E6"/>
            </a:solidFill>
            <a:prstDash val="solid"/>
          </a:ln>
        </p:spPr>
      </p:sp>
      <p:sp>
        <p:nvSpPr>
          <p:cNvPr id="19" name="Shape 17"/>
          <p:cNvSpPr/>
          <p:nvPr/>
        </p:nvSpPr>
        <p:spPr>
          <a:xfrm>
            <a:off x="8284464" y="1828800"/>
            <a:ext cx="329184" cy="329184"/>
          </a:xfrm>
          <a:prstGeom prst="ellipse">
            <a:avLst/>
          </a:prstGeom>
          <a:solidFill>
            <a:srgbClr val="0B2545"/>
          </a:solidFill>
          <a:ln w="12700">
            <a:solidFill>
              <a:srgbClr val="0B2545"/>
            </a:solidFill>
            <a:prstDash val="solid"/>
          </a:ln>
        </p:spPr>
      </p:sp>
      <p:sp>
        <p:nvSpPr>
          <p:cNvPr id="20" name="Text 18"/>
          <p:cNvSpPr txBox="1"/>
          <p:nvPr/>
        </p:nvSpPr>
        <p:spPr>
          <a:xfrm>
            <a:off x="8284464" y="1828800"/>
            <a:ext cx="329184"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a:t>
            </a:r>
            <a:endParaRPr lang="en-US" sz="1150" dirty="0"/>
          </a:p>
        </p:txBody>
      </p:sp>
      <p:sp>
        <p:nvSpPr>
          <p:cNvPr id="21" name="Text 19"/>
          <p:cNvSpPr txBox="1"/>
          <p:nvPr/>
        </p:nvSpPr>
        <p:spPr>
          <a:xfrm>
            <a:off x="8723376" y="1773936"/>
            <a:ext cx="2697480" cy="182880"/>
          </a:xfrm>
          <a:prstGeom prst="rect">
            <a:avLst/>
          </a:prstGeom>
          <a:noFill/>
          <a:ln/>
        </p:spPr>
        <p:txBody>
          <a:bodyPr wrap="square" lIns="0" tIns="0" rIns="0" bIns="0" rtlCol="0" anchor="ctr"/>
          <a:lstStyle/>
          <a:p>
            <a:pPr marL="0" indent="0">
              <a:buNone/>
            </a:pPr>
            <a:r>
              <a:rPr lang="en-US" sz="800" b="1" kern="0" spc="100" dirty="0">
                <a:solidFill>
                  <a:srgbClr val="1F4E8C"/>
                </a:solidFill>
                <a:latin typeface="Calibri" pitchFamily="34" charset="0"/>
                <a:ea typeface="Calibri" pitchFamily="34" charset="-122"/>
                <a:cs typeface="Calibri" pitchFamily="34" charset="-120"/>
              </a:rPr>
              <a:t>WHAT SHOULD WE DO?</a:t>
            </a:r>
            <a:endParaRPr lang="en-US" sz="800" dirty="0"/>
          </a:p>
        </p:txBody>
      </p:sp>
      <p:sp>
        <p:nvSpPr>
          <p:cNvPr id="22" name="Text 20"/>
          <p:cNvSpPr txBox="1"/>
          <p:nvPr/>
        </p:nvSpPr>
        <p:spPr>
          <a:xfrm>
            <a:off x="8723376" y="1956816"/>
            <a:ext cx="2697480" cy="292608"/>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Finance Decision Support</a:t>
            </a:r>
            <a:endParaRPr lang="en-US" sz="1300" dirty="0"/>
          </a:p>
        </p:txBody>
      </p:sp>
      <p:sp>
        <p:nvSpPr>
          <p:cNvPr id="23" name="Text 21"/>
          <p:cNvSpPr txBox="1"/>
          <p:nvPr/>
        </p:nvSpPr>
        <p:spPr>
          <a:xfrm>
            <a:off x="8311896" y="2404872"/>
            <a:ext cx="3063240" cy="100584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33475B"/>
                </a:solidFill>
                <a:latin typeface="Calibri" pitchFamily="34" charset="0"/>
                <a:ea typeface="Calibri" pitchFamily="34" charset="-122"/>
                <a:cs typeface="Calibri" pitchFamily="34" charset="-120"/>
              </a:rPr>
              <a:t>Pricing history</a:t>
            </a:r>
            <a:endParaRPr lang="en-US" sz="1100" dirty="0"/>
          </a:p>
          <a:p>
            <a:pPr marL="342900" indent="-342900">
              <a:spcAft>
                <a:spcPts val="400"/>
              </a:spcAft>
              <a:buSzPct val="100000"/>
              <a:buChar char="•"/>
            </a:pPr>
            <a:r>
              <a:rPr lang="en-US" sz="1100" dirty="0">
                <a:solidFill>
                  <a:srgbClr val="33475B"/>
                </a:solidFill>
                <a:latin typeface="Calibri" pitchFamily="34" charset="0"/>
                <a:ea typeface="Calibri" pitchFamily="34" charset="-122"/>
                <a:cs typeface="Calibri" pitchFamily="34" charset="-120"/>
              </a:rPr>
              <a:t>Renewal outcomes</a:t>
            </a:r>
            <a:endParaRPr lang="en-US" sz="1100" dirty="0"/>
          </a:p>
          <a:p>
            <a:pPr marL="342900" indent="-342900">
              <a:spcAft>
                <a:spcPts val="400"/>
              </a:spcAft>
              <a:buSzPct val="100000"/>
              <a:buChar char="•"/>
            </a:pPr>
            <a:r>
              <a:rPr lang="en-US" sz="1100" dirty="0">
                <a:solidFill>
                  <a:srgbClr val="33475B"/>
                </a:solidFill>
                <a:latin typeface="Calibri" pitchFamily="34" charset="0"/>
                <a:ea typeface="Calibri" pitchFamily="34" charset="-122"/>
                <a:cs typeface="Calibri" pitchFamily="34" charset="-120"/>
              </a:rPr>
              <a:t>Commercial outcome data</a:t>
            </a:r>
            <a:endParaRPr lang="en-US" sz="1100" dirty="0"/>
          </a:p>
        </p:txBody>
      </p:sp>
      <p:sp>
        <p:nvSpPr>
          <p:cNvPr id="24" name="Text 22"/>
          <p:cNvSpPr txBox="1"/>
          <p:nvPr/>
        </p:nvSpPr>
        <p:spPr>
          <a:xfrm>
            <a:off x="8311896" y="3392424"/>
            <a:ext cx="3063240" cy="457200"/>
          </a:xfrm>
          <a:prstGeom prst="rect">
            <a:avLst/>
          </a:prstGeom>
          <a:noFill/>
          <a:ln/>
        </p:spPr>
        <p:txBody>
          <a:bodyPr wrap="square" lIns="0" tIns="0" rIns="0" bIns="0" rtlCol="0" anchor="ctr"/>
          <a:lstStyle/>
          <a:p>
            <a:pPr marL="0" indent="0">
              <a:buNone/>
            </a:pPr>
            <a:r>
              <a:rPr lang="en-US" sz="900" i="1" dirty="0">
                <a:solidFill>
                  <a:srgbClr val="0B2545"/>
                </a:solidFill>
                <a:latin typeface="Calibri" pitchFamily="34" charset="0"/>
                <a:ea typeface="Calibri" pitchFamily="34" charset="-122"/>
                <a:cs typeface="Calibri" pitchFamily="34" charset="-120"/>
              </a:rPr>
              <a:t>Recommendation quality depends on outcome history.</a:t>
            </a:r>
            <a:endParaRPr lang="en-US" sz="900" dirty="0"/>
          </a:p>
        </p:txBody>
      </p:sp>
      <p:sp>
        <p:nvSpPr>
          <p:cNvPr id="25" name="Shape 23"/>
          <p:cNvSpPr/>
          <p:nvPr/>
        </p:nvSpPr>
        <p:spPr>
          <a:xfrm>
            <a:off x="548640" y="4160520"/>
            <a:ext cx="11064240" cy="1783080"/>
          </a:xfrm>
          <a:prstGeom prst="roundRect">
            <a:avLst>
              <a:gd name="adj" fmla="val 4103"/>
            </a:avLst>
          </a:prstGeom>
          <a:solidFill>
            <a:srgbClr val="0B2545"/>
          </a:solidFill>
          <a:ln w="12700">
            <a:solidFill>
              <a:srgbClr val="0B2545"/>
            </a:solidFill>
            <a:prstDash val="solid"/>
          </a:ln>
        </p:spPr>
      </p:sp>
      <p:sp>
        <p:nvSpPr>
          <p:cNvPr id="26" name="Text 24"/>
          <p:cNvSpPr txBox="1"/>
          <p:nvPr/>
        </p:nvSpPr>
        <p:spPr>
          <a:xfrm>
            <a:off x="777240" y="4343400"/>
            <a:ext cx="3657600" cy="219456"/>
          </a:xfrm>
          <a:prstGeom prst="rect">
            <a:avLst/>
          </a:prstGeom>
          <a:noFill/>
          <a:ln/>
        </p:spPr>
        <p:txBody>
          <a:bodyPr wrap="square" lIns="0" tIns="0" rIns="0" bIns="0" rtlCol="0" anchor="ctr"/>
          <a:lstStyle/>
          <a:p>
            <a:pPr marL="0" indent="0">
              <a:buNone/>
            </a:pPr>
            <a:r>
              <a:rPr lang="en-US" sz="900" b="1" kern="0" spc="200" dirty="0">
                <a:solidFill>
                  <a:srgbClr val="8DA9C4"/>
                </a:solidFill>
                <a:latin typeface="Calibri" pitchFamily="34" charset="0"/>
                <a:ea typeface="Calibri" pitchFamily="34" charset="-122"/>
                <a:cs typeface="Calibri" pitchFamily="34" charset="-120"/>
              </a:rPr>
              <a:t>RECOMMENDED ROADMAP</a:t>
            </a:r>
            <a:endParaRPr lang="en-US" sz="900" dirty="0"/>
          </a:p>
        </p:txBody>
      </p:sp>
      <p:sp>
        <p:nvSpPr>
          <p:cNvPr id="27" name="Shape 25"/>
          <p:cNvSpPr/>
          <p:nvPr/>
        </p:nvSpPr>
        <p:spPr>
          <a:xfrm>
            <a:off x="777240" y="4709160"/>
            <a:ext cx="3291840" cy="914400"/>
          </a:xfrm>
          <a:prstGeom prst="roundRect">
            <a:avLst>
              <a:gd name="adj" fmla="val 8000"/>
            </a:avLst>
          </a:prstGeom>
          <a:solidFill>
            <a:srgbClr val="1F4E8C"/>
          </a:solidFill>
          <a:ln w="12700">
            <a:solidFill>
              <a:srgbClr val="1F4E8C"/>
            </a:solidFill>
            <a:prstDash val="solid"/>
          </a:ln>
        </p:spPr>
      </p:sp>
      <p:sp>
        <p:nvSpPr>
          <p:cNvPr id="28" name="Text 26"/>
          <p:cNvSpPr txBox="1"/>
          <p:nvPr/>
        </p:nvSpPr>
        <p:spPr>
          <a:xfrm>
            <a:off x="960120" y="4800600"/>
            <a:ext cx="2926080" cy="182880"/>
          </a:xfrm>
          <a:prstGeom prst="rect">
            <a:avLst/>
          </a:prstGeom>
          <a:noFill/>
          <a:ln/>
        </p:spPr>
        <p:txBody>
          <a:bodyPr wrap="square" lIns="0" tIns="0" rIns="0" bIns="0" rtlCol="0" anchor="ctr"/>
          <a:lstStyle/>
          <a:p>
            <a:pPr marL="0" indent="0">
              <a:buNone/>
            </a:pPr>
            <a:r>
              <a:rPr lang="en-US" sz="750" b="1" kern="0" spc="200" dirty="0">
                <a:solidFill>
                  <a:srgbClr val="DCE6F2"/>
                </a:solidFill>
                <a:latin typeface="Calibri" pitchFamily="34" charset="0"/>
                <a:ea typeface="Calibri" pitchFamily="34" charset="-122"/>
                <a:cs typeface="Calibri" pitchFamily="34" charset="-120"/>
              </a:rPr>
              <a:t>PHASE 1</a:t>
            </a:r>
            <a:endParaRPr lang="en-US" sz="750" dirty="0"/>
          </a:p>
        </p:txBody>
      </p:sp>
      <p:sp>
        <p:nvSpPr>
          <p:cNvPr id="29" name="Text 27"/>
          <p:cNvSpPr txBox="1"/>
          <p:nvPr/>
        </p:nvSpPr>
        <p:spPr>
          <a:xfrm>
            <a:off x="960120" y="4983480"/>
            <a:ext cx="2926080"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Finance Intelligence</a:t>
            </a:r>
            <a:endParaRPr lang="en-US" sz="1400" dirty="0"/>
          </a:p>
        </p:txBody>
      </p:sp>
      <p:sp>
        <p:nvSpPr>
          <p:cNvPr id="30" name="Text 28"/>
          <p:cNvSpPr txBox="1"/>
          <p:nvPr/>
        </p:nvSpPr>
        <p:spPr>
          <a:xfrm>
            <a:off x="960120" y="5312664"/>
            <a:ext cx="2926080" cy="237744"/>
          </a:xfrm>
          <a:prstGeom prst="rect">
            <a:avLst/>
          </a:prstGeom>
          <a:noFill/>
          <a:ln/>
        </p:spPr>
        <p:txBody>
          <a:bodyPr wrap="square" lIns="0" tIns="0" rIns="0" bIns="0" rtlCol="0" anchor="ctr"/>
          <a:lstStyle/>
          <a:p>
            <a:pPr marL="0" indent="0">
              <a:buNone/>
            </a:pPr>
            <a:r>
              <a:rPr lang="en-US" sz="950" i="1" dirty="0">
                <a:solidFill>
                  <a:srgbClr val="DCE6F2"/>
                </a:solidFill>
                <a:latin typeface="Calibri" pitchFamily="34" charset="0"/>
                <a:ea typeface="Calibri" pitchFamily="34" charset="-122"/>
                <a:cs typeface="Calibri" pitchFamily="34" charset="-120"/>
              </a:rPr>
              <a:t>Understand — build the patterns</a:t>
            </a:r>
            <a:endParaRPr lang="en-US" sz="950" dirty="0"/>
          </a:p>
        </p:txBody>
      </p:sp>
      <p:sp>
        <p:nvSpPr>
          <p:cNvPr id="31" name="Shape 29"/>
          <p:cNvSpPr/>
          <p:nvPr/>
        </p:nvSpPr>
        <p:spPr>
          <a:xfrm>
            <a:off x="4160520" y="5047488"/>
            <a:ext cx="237744" cy="237744"/>
          </a:xfrm>
          <a:prstGeom prst="rightArrow">
            <a:avLst/>
          </a:prstGeom>
          <a:solidFill>
            <a:srgbClr val="8DA9C4"/>
          </a:solidFill>
          <a:ln w="12700">
            <a:solidFill>
              <a:srgbClr val="8DA9C4"/>
            </a:solidFill>
            <a:prstDash val="solid"/>
          </a:ln>
        </p:spPr>
      </p:sp>
      <p:sp>
        <p:nvSpPr>
          <p:cNvPr id="32" name="Shape 30"/>
          <p:cNvSpPr/>
          <p:nvPr/>
        </p:nvSpPr>
        <p:spPr>
          <a:xfrm>
            <a:off x="4480560" y="4709160"/>
            <a:ext cx="3291840" cy="914400"/>
          </a:xfrm>
          <a:prstGeom prst="roundRect">
            <a:avLst>
              <a:gd name="adj" fmla="val 8000"/>
            </a:avLst>
          </a:prstGeom>
          <a:solidFill>
            <a:srgbClr val="2A63AD"/>
          </a:solidFill>
          <a:ln w="12700">
            <a:solidFill>
              <a:srgbClr val="2A63AD"/>
            </a:solidFill>
            <a:prstDash val="solid"/>
          </a:ln>
        </p:spPr>
      </p:sp>
      <p:sp>
        <p:nvSpPr>
          <p:cNvPr id="33" name="Text 31"/>
          <p:cNvSpPr txBox="1"/>
          <p:nvPr/>
        </p:nvSpPr>
        <p:spPr>
          <a:xfrm>
            <a:off x="4663440" y="4800600"/>
            <a:ext cx="2926080" cy="182880"/>
          </a:xfrm>
          <a:prstGeom prst="rect">
            <a:avLst/>
          </a:prstGeom>
          <a:noFill/>
          <a:ln/>
        </p:spPr>
        <p:txBody>
          <a:bodyPr wrap="square" lIns="0" tIns="0" rIns="0" bIns="0" rtlCol="0" anchor="ctr"/>
          <a:lstStyle/>
          <a:p>
            <a:pPr marL="0" indent="0">
              <a:buNone/>
            </a:pPr>
            <a:r>
              <a:rPr lang="en-US" sz="750" b="1" kern="0" spc="200" dirty="0">
                <a:solidFill>
                  <a:srgbClr val="DCE6F2"/>
                </a:solidFill>
                <a:latin typeface="Calibri" pitchFamily="34" charset="0"/>
                <a:ea typeface="Calibri" pitchFamily="34" charset="-122"/>
                <a:cs typeface="Calibri" pitchFamily="34" charset="-120"/>
              </a:rPr>
              <a:t>PHASE 2</a:t>
            </a:r>
            <a:endParaRPr lang="en-US" sz="750" dirty="0"/>
          </a:p>
        </p:txBody>
      </p:sp>
      <p:sp>
        <p:nvSpPr>
          <p:cNvPr id="34" name="Text 32"/>
          <p:cNvSpPr txBox="1"/>
          <p:nvPr/>
        </p:nvSpPr>
        <p:spPr>
          <a:xfrm>
            <a:off x="4663440" y="4983480"/>
            <a:ext cx="2926080"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Business Risk Intelligence</a:t>
            </a:r>
            <a:endParaRPr lang="en-US" sz="1400" dirty="0"/>
          </a:p>
        </p:txBody>
      </p:sp>
      <p:sp>
        <p:nvSpPr>
          <p:cNvPr id="35" name="Text 33"/>
          <p:cNvSpPr txBox="1"/>
          <p:nvPr/>
        </p:nvSpPr>
        <p:spPr>
          <a:xfrm>
            <a:off x="4663440" y="5312664"/>
            <a:ext cx="2926080" cy="237744"/>
          </a:xfrm>
          <a:prstGeom prst="rect">
            <a:avLst/>
          </a:prstGeom>
          <a:noFill/>
          <a:ln/>
        </p:spPr>
        <p:txBody>
          <a:bodyPr wrap="square" lIns="0" tIns="0" rIns="0" bIns="0" rtlCol="0" anchor="ctr"/>
          <a:lstStyle/>
          <a:p>
            <a:pPr marL="0" indent="0">
              <a:buNone/>
            </a:pPr>
            <a:r>
              <a:rPr lang="en-US" sz="950" i="1" dirty="0">
                <a:solidFill>
                  <a:srgbClr val="DCE6F2"/>
                </a:solidFill>
                <a:latin typeface="Calibri" pitchFamily="34" charset="0"/>
                <a:ea typeface="Calibri" pitchFamily="34" charset="-122"/>
                <a:cs typeface="Calibri" pitchFamily="34" charset="-120"/>
              </a:rPr>
              <a:t>Anticipate — detect risk early</a:t>
            </a:r>
            <a:endParaRPr lang="en-US" sz="950" dirty="0"/>
          </a:p>
        </p:txBody>
      </p:sp>
      <p:sp>
        <p:nvSpPr>
          <p:cNvPr id="36" name="Shape 34"/>
          <p:cNvSpPr/>
          <p:nvPr/>
        </p:nvSpPr>
        <p:spPr>
          <a:xfrm>
            <a:off x="7863840" y="5047488"/>
            <a:ext cx="237744" cy="237744"/>
          </a:xfrm>
          <a:prstGeom prst="rightArrow">
            <a:avLst/>
          </a:prstGeom>
          <a:solidFill>
            <a:srgbClr val="8DA9C4"/>
          </a:solidFill>
          <a:ln w="12700">
            <a:solidFill>
              <a:srgbClr val="8DA9C4"/>
            </a:solidFill>
            <a:prstDash val="solid"/>
          </a:ln>
        </p:spPr>
      </p:sp>
      <p:sp>
        <p:nvSpPr>
          <p:cNvPr id="37" name="Shape 35"/>
          <p:cNvSpPr/>
          <p:nvPr/>
        </p:nvSpPr>
        <p:spPr>
          <a:xfrm>
            <a:off x="8183880" y="4709160"/>
            <a:ext cx="3291840" cy="914400"/>
          </a:xfrm>
          <a:prstGeom prst="roundRect">
            <a:avLst>
              <a:gd name="adj" fmla="val 8000"/>
            </a:avLst>
          </a:prstGeom>
          <a:solidFill>
            <a:srgbClr val="5B95DD"/>
          </a:solidFill>
          <a:ln w="12700">
            <a:solidFill>
              <a:srgbClr val="5B95DD"/>
            </a:solidFill>
            <a:prstDash val="solid"/>
          </a:ln>
        </p:spPr>
      </p:sp>
      <p:sp>
        <p:nvSpPr>
          <p:cNvPr id="38" name="Text 36"/>
          <p:cNvSpPr txBox="1"/>
          <p:nvPr/>
        </p:nvSpPr>
        <p:spPr>
          <a:xfrm>
            <a:off x="8366760" y="4800600"/>
            <a:ext cx="2926080" cy="182880"/>
          </a:xfrm>
          <a:prstGeom prst="rect">
            <a:avLst/>
          </a:prstGeom>
          <a:noFill/>
          <a:ln/>
        </p:spPr>
        <p:txBody>
          <a:bodyPr wrap="square" lIns="0" tIns="0" rIns="0" bIns="0" rtlCol="0" anchor="ctr"/>
          <a:lstStyle/>
          <a:p>
            <a:pPr marL="0" indent="0">
              <a:buNone/>
            </a:pPr>
            <a:r>
              <a:rPr lang="en-US" sz="750" b="1" kern="0" spc="200" dirty="0">
                <a:solidFill>
                  <a:srgbClr val="DCE6F2"/>
                </a:solidFill>
                <a:latin typeface="Calibri" pitchFamily="34" charset="0"/>
                <a:ea typeface="Calibri" pitchFamily="34" charset="-122"/>
                <a:cs typeface="Calibri" pitchFamily="34" charset="-120"/>
              </a:rPr>
              <a:t>PHASE 3</a:t>
            </a:r>
            <a:endParaRPr lang="en-US" sz="750" dirty="0"/>
          </a:p>
        </p:txBody>
      </p:sp>
      <p:sp>
        <p:nvSpPr>
          <p:cNvPr id="39" name="Text 37"/>
          <p:cNvSpPr txBox="1"/>
          <p:nvPr/>
        </p:nvSpPr>
        <p:spPr>
          <a:xfrm>
            <a:off x="8366760" y="4983480"/>
            <a:ext cx="2926080"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Finance Decision Support</a:t>
            </a:r>
            <a:endParaRPr lang="en-US" sz="1400" dirty="0"/>
          </a:p>
        </p:txBody>
      </p:sp>
      <p:sp>
        <p:nvSpPr>
          <p:cNvPr id="40" name="Text 38"/>
          <p:cNvSpPr txBox="1"/>
          <p:nvPr/>
        </p:nvSpPr>
        <p:spPr>
          <a:xfrm>
            <a:off x="8366760" y="5312664"/>
            <a:ext cx="2926080" cy="237744"/>
          </a:xfrm>
          <a:prstGeom prst="rect">
            <a:avLst/>
          </a:prstGeom>
          <a:noFill/>
          <a:ln/>
        </p:spPr>
        <p:txBody>
          <a:bodyPr wrap="square" lIns="0" tIns="0" rIns="0" bIns="0" rtlCol="0" anchor="ctr"/>
          <a:lstStyle/>
          <a:p>
            <a:pPr marL="0" indent="0">
              <a:buNone/>
            </a:pPr>
            <a:r>
              <a:rPr lang="en-US" sz="950" i="1" dirty="0">
                <a:solidFill>
                  <a:srgbClr val="DCE6F2"/>
                </a:solidFill>
                <a:latin typeface="Calibri" pitchFamily="34" charset="0"/>
                <a:ea typeface="Calibri" pitchFamily="34" charset="-122"/>
                <a:cs typeface="Calibri" pitchFamily="34" charset="-120"/>
              </a:rPr>
              <a:t>Influence — recommend and act</a:t>
            </a:r>
            <a:endParaRPr lang="en-US" sz="950" dirty="0"/>
          </a:p>
        </p:txBody>
      </p:sp>
      <p:sp>
        <p:nvSpPr>
          <p:cNvPr id="41" name="Text 39"/>
          <p:cNvSpPr txBox="1"/>
          <p:nvPr/>
        </p:nvSpPr>
        <p:spPr>
          <a:xfrm>
            <a:off x="548640" y="6053328"/>
            <a:ext cx="11064240" cy="228600"/>
          </a:xfrm>
          <a:prstGeom prst="rect">
            <a:avLst/>
          </a:prstGeom>
          <a:noFill/>
          <a:ln/>
        </p:spPr>
        <p:txBody>
          <a:bodyPr wrap="square" lIns="0" tIns="0" rIns="0" bIns="0" rtlCol="0" anchor="ctr"/>
          <a:lstStyle/>
          <a:p>
            <a:pPr marL="0" indent="0" algn="ctr">
              <a:buNone/>
            </a:pPr>
            <a:r>
              <a:rPr lang="en-US" sz="950" i="1" dirty="0">
                <a:solidFill>
                  <a:srgbClr val="5B6B7F"/>
                </a:solidFill>
                <a:latin typeface="Calibri" pitchFamily="34" charset="0"/>
                <a:ea typeface="Calibri" pitchFamily="34" charset="-122"/>
                <a:cs typeface="Calibri" pitchFamily="34" charset="-120"/>
              </a:rPr>
              <a:t>Each phase validates the layer the next one depends on.</a:t>
            </a:r>
            <a:endParaRPr lang="en-US" sz="950" dirty="0"/>
          </a:p>
        </p:txBody>
      </p:sp>
      <p:sp>
        <p:nvSpPr>
          <p:cNvPr id="42" name="Text 40"/>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900" dirty="0">
                <a:solidFill>
                  <a:srgbClr val="9AA8B8"/>
                </a:solidFill>
                <a:latin typeface="Calibri" pitchFamily="34" charset="0"/>
                <a:ea typeface="Calibri" pitchFamily="34" charset="-122"/>
                <a:cs typeface="Calibri" pitchFamily="34" charset="-120"/>
              </a:rPr>
              <a:t>Nexbill Financial Intelligence Platform</a:t>
            </a:r>
            <a:endParaRPr lang="en-US" sz="900" dirty="0"/>
          </a:p>
        </p:txBody>
      </p:sp>
      <p:sp>
        <p:nvSpPr>
          <p:cNvPr id="43" name="Text 41"/>
          <p:cNvSpPr txBox="1"/>
          <p:nvPr/>
        </p:nvSpPr>
        <p:spPr>
          <a:xfrm>
            <a:off x="11064240" y="6400800"/>
            <a:ext cx="548640" cy="274320"/>
          </a:xfrm>
          <a:prstGeom prst="rect">
            <a:avLst/>
          </a:prstGeom>
          <a:noFill/>
          <a:ln/>
        </p:spPr>
        <p:txBody>
          <a:bodyPr wrap="square" lIns="0" tIns="0" rIns="0" bIns="0" rtlCol="0" anchor="ctr"/>
          <a:lstStyle/>
          <a:p>
            <a:pPr marL="0" indent="0" algn="r">
              <a:buNone/>
            </a:pPr>
            <a:r>
              <a:rPr lang="en-US" sz="900" dirty="0">
                <a:solidFill>
                  <a:srgbClr val="9AA8B8"/>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731520" y="502920"/>
            <a:ext cx="5486400" cy="274320"/>
          </a:xfrm>
          <a:prstGeom prst="rect">
            <a:avLst/>
          </a:prstGeom>
          <a:noFill/>
          <a:ln/>
        </p:spPr>
        <p:txBody>
          <a:bodyPr wrap="square" lIns="0" tIns="0" rIns="0" bIns="0" rtlCol="0" anchor="ctr"/>
          <a:lstStyle/>
          <a:p>
            <a:pPr marL="0" indent="0">
              <a:buNone/>
            </a:pPr>
            <a:r>
              <a:rPr lang="en-US" sz="1100" kern="0" spc="300" dirty="0">
                <a:solidFill>
                  <a:srgbClr val="8DA9C4"/>
                </a:solidFill>
                <a:latin typeface="Calibri" pitchFamily="34" charset="0"/>
                <a:ea typeface="Calibri" pitchFamily="34" charset="-122"/>
                <a:cs typeface="Calibri" pitchFamily="34" charset="-120"/>
              </a:rPr>
              <a:t>FUTURE VISION</a:t>
            </a:r>
            <a:endParaRPr lang="en-US" sz="1100" dirty="0"/>
          </a:p>
        </p:txBody>
      </p:sp>
      <p:sp>
        <p:nvSpPr>
          <p:cNvPr id="3" name="Text 1"/>
          <p:cNvSpPr txBox="1"/>
          <p:nvPr/>
        </p:nvSpPr>
        <p:spPr>
          <a:xfrm>
            <a:off x="731520" y="822960"/>
            <a:ext cx="1069848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From a transaction platform to a Finance Intelligence Platform</a:t>
            </a:r>
            <a:endParaRPr lang="en-US" sz="2600" dirty="0"/>
          </a:p>
        </p:txBody>
      </p:sp>
      <p:sp>
        <p:nvSpPr>
          <p:cNvPr id="4" name="Shape 2"/>
          <p:cNvSpPr/>
          <p:nvPr/>
        </p:nvSpPr>
        <p:spPr>
          <a:xfrm>
            <a:off x="731520" y="1737360"/>
            <a:ext cx="3246120" cy="822960"/>
          </a:xfrm>
          <a:prstGeom prst="roundRect">
            <a:avLst>
              <a:gd name="adj" fmla="val 11111"/>
            </a:avLst>
          </a:prstGeom>
          <a:solidFill>
            <a:srgbClr val="1F4E8C"/>
          </a:solidFill>
          <a:ln w="12700">
            <a:solidFill>
              <a:srgbClr val="1F4E8C"/>
            </a:solidFill>
            <a:prstDash val="solid"/>
          </a:ln>
        </p:spPr>
      </p:sp>
      <p:sp>
        <p:nvSpPr>
          <p:cNvPr id="5" name="Text 3"/>
          <p:cNvSpPr txBox="1"/>
          <p:nvPr/>
        </p:nvSpPr>
        <p:spPr>
          <a:xfrm>
            <a:off x="868680" y="1828800"/>
            <a:ext cx="29718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Transaction Platform</a:t>
            </a:r>
            <a:endParaRPr lang="en-US" sz="1400" dirty="0"/>
          </a:p>
        </p:txBody>
      </p:sp>
      <p:sp>
        <p:nvSpPr>
          <p:cNvPr id="6" name="Text 4"/>
          <p:cNvSpPr txBox="1"/>
          <p:nvPr/>
        </p:nvSpPr>
        <p:spPr>
          <a:xfrm>
            <a:off x="868680" y="2194560"/>
            <a:ext cx="2971800" cy="292608"/>
          </a:xfrm>
          <a:prstGeom prst="rect">
            <a:avLst/>
          </a:prstGeom>
          <a:noFill/>
          <a:ln/>
        </p:spPr>
        <p:txBody>
          <a:bodyPr wrap="square" lIns="0" tIns="0" rIns="0" bIns="0" rtlCol="0" anchor="ctr"/>
          <a:lstStyle/>
          <a:p>
            <a:pPr marL="0" indent="0" algn="ctr">
              <a:buNone/>
            </a:pPr>
            <a:r>
              <a:rPr lang="en-US" sz="950" i="1" dirty="0">
                <a:solidFill>
                  <a:srgbClr val="DCE6F2"/>
                </a:solidFill>
                <a:latin typeface="Calibri" pitchFamily="34" charset="0"/>
                <a:ea typeface="Calibri" pitchFamily="34" charset="-122"/>
                <a:cs typeface="Calibri" pitchFamily="34" charset="-120"/>
              </a:rPr>
              <a:t>What happened?</a:t>
            </a:r>
            <a:endParaRPr lang="en-US" sz="950" dirty="0"/>
          </a:p>
        </p:txBody>
      </p:sp>
      <p:sp>
        <p:nvSpPr>
          <p:cNvPr id="7" name="Shape 5"/>
          <p:cNvSpPr/>
          <p:nvPr/>
        </p:nvSpPr>
        <p:spPr>
          <a:xfrm>
            <a:off x="4069080" y="2002536"/>
            <a:ext cx="292608" cy="292608"/>
          </a:xfrm>
          <a:prstGeom prst="rightArrow">
            <a:avLst/>
          </a:prstGeom>
          <a:solidFill>
            <a:srgbClr val="8DA9C4"/>
          </a:solidFill>
          <a:ln w="12700">
            <a:solidFill>
              <a:srgbClr val="8DA9C4"/>
            </a:solidFill>
            <a:prstDash val="solid"/>
          </a:ln>
        </p:spPr>
      </p:sp>
      <p:sp>
        <p:nvSpPr>
          <p:cNvPr id="8" name="Shape 6"/>
          <p:cNvSpPr/>
          <p:nvPr/>
        </p:nvSpPr>
        <p:spPr>
          <a:xfrm>
            <a:off x="4453128" y="1737360"/>
            <a:ext cx="3246120" cy="822960"/>
          </a:xfrm>
          <a:prstGeom prst="roundRect">
            <a:avLst>
              <a:gd name="adj" fmla="val 11111"/>
            </a:avLst>
          </a:prstGeom>
          <a:solidFill>
            <a:srgbClr val="3E7CC9"/>
          </a:solidFill>
          <a:ln w="12700">
            <a:solidFill>
              <a:srgbClr val="3E7CC9"/>
            </a:solidFill>
            <a:prstDash val="solid"/>
          </a:ln>
        </p:spPr>
      </p:sp>
      <p:sp>
        <p:nvSpPr>
          <p:cNvPr id="9" name="Text 7"/>
          <p:cNvSpPr txBox="1"/>
          <p:nvPr/>
        </p:nvSpPr>
        <p:spPr>
          <a:xfrm>
            <a:off x="4590288" y="1828800"/>
            <a:ext cx="29718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Finance Intelligence Platform</a:t>
            </a:r>
            <a:endParaRPr lang="en-US" sz="1400" dirty="0"/>
          </a:p>
        </p:txBody>
      </p:sp>
      <p:sp>
        <p:nvSpPr>
          <p:cNvPr id="10" name="Text 8"/>
          <p:cNvSpPr txBox="1"/>
          <p:nvPr/>
        </p:nvSpPr>
        <p:spPr>
          <a:xfrm>
            <a:off x="4590288" y="2194560"/>
            <a:ext cx="2971800" cy="292608"/>
          </a:xfrm>
          <a:prstGeom prst="rect">
            <a:avLst/>
          </a:prstGeom>
          <a:noFill/>
          <a:ln/>
        </p:spPr>
        <p:txBody>
          <a:bodyPr wrap="square" lIns="0" tIns="0" rIns="0" bIns="0" rtlCol="0" anchor="ctr"/>
          <a:lstStyle/>
          <a:p>
            <a:pPr marL="0" indent="0" algn="ctr">
              <a:buNone/>
            </a:pPr>
            <a:r>
              <a:rPr lang="en-US" sz="950" i="1" dirty="0">
                <a:solidFill>
                  <a:srgbClr val="DCE6F2"/>
                </a:solidFill>
                <a:latin typeface="Calibri" pitchFamily="34" charset="0"/>
                <a:ea typeface="Calibri" pitchFamily="34" charset="-122"/>
                <a:cs typeface="Calibri" pitchFamily="34" charset="-120"/>
              </a:rPr>
              <a:t>Why did it happen? What will happen?</a:t>
            </a:r>
            <a:endParaRPr lang="en-US" sz="950" dirty="0"/>
          </a:p>
        </p:txBody>
      </p:sp>
      <p:sp>
        <p:nvSpPr>
          <p:cNvPr id="11" name="Shape 9"/>
          <p:cNvSpPr/>
          <p:nvPr/>
        </p:nvSpPr>
        <p:spPr>
          <a:xfrm>
            <a:off x="7790688" y="2002536"/>
            <a:ext cx="292608" cy="292608"/>
          </a:xfrm>
          <a:prstGeom prst="rightArrow">
            <a:avLst/>
          </a:prstGeom>
          <a:solidFill>
            <a:srgbClr val="8DA9C4"/>
          </a:solidFill>
          <a:ln w="12700">
            <a:solidFill>
              <a:srgbClr val="8DA9C4"/>
            </a:solidFill>
            <a:prstDash val="solid"/>
          </a:ln>
        </p:spPr>
      </p:sp>
      <p:sp>
        <p:nvSpPr>
          <p:cNvPr id="12" name="Shape 10"/>
          <p:cNvSpPr/>
          <p:nvPr/>
        </p:nvSpPr>
        <p:spPr>
          <a:xfrm>
            <a:off x="8174736" y="1737360"/>
            <a:ext cx="3246120" cy="822960"/>
          </a:xfrm>
          <a:prstGeom prst="roundRect">
            <a:avLst>
              <a:gd name="adj" fmla="val 11111"/>
            </a:avLst>
          </a:prstGeom>
          <a:solidFill>
            <a:srgbClr val="5B95DD"/>
          </a:solidFill>
          <a:ln w="12700">
            <a:solidFill>
              <a:srgbClr val="5B95DD"/>
            </a:solidFill>
            <a:prstDash val="solid"/>
          </a:ln>
        </p:spPr>
      </p:sp>
      <p:sp>
        <p:nvSpPr>
          <p:cNvPr id="13" name="Text 11"/>
          <p:cNvSpPr txBox="1"/>
          <p:nvPr/>
        </p:nvSpPr>
        <p:spPr>
          <a:xfrm>
            <a:off x="8311896" y="1828800"/>
            <a:ext cx="29718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Decision Intelligence Platform</a:t>
            </a:r>
            <a:endParaRPr lang="en-US" sz="1400" dirty="0"/>
          </a:p>
        </p:txBody>
      </p:sp>
      <p:sp>
        <p:nvSpPr>
          <p:cNvPr id="14" name="Text 12"/>
          <p:cNvSpPr txBox="1"/>
          <p:nvPr/>
        </p:nvSpPr>
        <p:spPr>
          <a:xfrm>
            <a:off x="8311896" y="2194560"/>
            <a:ext cx="2971800" cy="292608"/>
          </a:xfrm>
          <a:prstGeom prst="rect">
            <a:avLst/>
          </a:prstGeom>
          <a:noFill/>
          <a:ln/>
        </p:spPr>
        <p:txBody>
          <a:bodyPr wrap="square" lIns="0" tIns="0" rIns="0" bIns="0" rtlCol="0" anchor="ctr"/>
          <a:lstStyle/>
          <a:p>
            <a:pPr marL="0" indent="0" algn="ctr">
              <a:buNone/>
            </a:pPr>
            <a:r>
              <a:rPr lang="en-US" sz="950" i="1" dirty="0">
                <a:solidFill>
                  <a:srgbClr val="DCE6F2"/>
                </a:solidFill>
                <a:latin typeface="Calibri" pitchFamily="34" charset="0"/>
                <a:ea typeface="Calibri" pitchFamily="34" charset="-122"/>
                <a:cs typeface="Calibri" pitchFamily="34" charset="-120"/>
              </a:rPr>
              <a:t>What should we do?</a:t>
            </a:r>
            <a:endParaRPr lang="en-US" sz="950" dirty="0"/>
          </a:p>
        </p:txBody>
      </p:sp>
      <p:sp>
        <p:nvSpPr>
          <p:cNvPr id="15" name="Shape 13"/>
          <p:cNvSpPr/>
          <p:nvPr/>
        </p:nvSpPr>
        <p:spPr>
          <a:xfrm>
            <a:off x="731520" y="2880360"/>
            <a:ext cx="3246120" cy="2194560"/>
          </a:xfrm>
          <a:prstGeom prst="roundRect">
            <a:avLst>
              <a:gd name="adj" fmla="val 3333"/>
            </a:avLst>
          </a:prstGeom>
          <a:solidFill>
            <a:srgbClr val="0F2F5C"/>
          </a:solidFill>
          <a:ln w="9525">
            <a:solidFill>
              <a:srgbClr val="2E4C77"/>
            </a:solidFill>
            <a:prstDash val="solid"/>
          </a:ln>
        </p:spPr>
      </p:sp>
      <p:sp>
        <p:nvSpPr>
          <p:cNvPr id="16" name="Text 14"/>
          <p:cNvSpPr txBox="1"/>
          <p:nvPr/>
        </p:nvSpPr>
        <p:spPr>
          <a:xfrm>
            <a:off x="960120" y="3108960"/>
            <a:ext cx="2788920" cy="219456"/>
          </a:xfrm>
          <a:prstGeom prst="rect">
            <a:avLst/>
          </a:prstGeom>
          <a:noFill/>
          <a:ln/>
        </p:spPr>
        <p:txBody>
          <a:bodyPr wrap="square" lIns="0" tIns="0" rIns="0" bIns="0" rtlCol="0" anchor="ctr"/>
          <a:lstStyle/>
          <a:p>
            <a:pPr marL="0" indent="0">
              <a:buNone/>
            </a:pPr>
            <a:r>
              <a:rPr lang="en-US" sz="900" b="1" kern="0" spc="200" dirty="0">
                <a:solidFill>
                  <a:srgbClr val="8DA9C4"/>
                </a:solidFill>
                <a:latin typeface="Calibri" pitchFamily="34" charset="0"/>
                <a:ea typeface="Calibri" pitchFamily="34" charset="-122"/>
                <a:cs typeface="Calibri" pitchFamily="34" charset="-120"/>
              </a:rPr>
              <a:t>TRADITIONAL FINANCE</a:t>
            </a:r>
            <a:endParaRPr lang="en-US" sz="900" dirty="0"/>
          </a:p>
        </p:txBody>
      </p:sp>
      <p:sp>
        <p:nvSpPr>
          <p:cNvPr id="17" name="Text 15"/>
          <p:cNvSpPr txBox="1"/>
          <p:nvPr/>
        </p:nvSpPr>
        <p:spPr>
          <a:xfrm>
            <a:off x="960120" y="3429000"/>
            <a:ext cx="2788920" cy="13716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Uses the past to explain today.</a:t>
            </a:r>
            <a:endParaRPr lang="en-US" sz="1700" dirty="0"/>
          </a:p>
        </p:txBody>
      </p:sp>
      <p:sp>
        <p:nvSpPr>
          <p:cNvPr id="18" name="Shape 16"/>
          <p:cNvSpPr/>
          <p:nvPr/>
        </p:nvSpPr>
        <p:spPr>
          <a:xfrm>
            <a:off x="4069080" y="3831336"/>
            <a:ext cx="292608" cy="292608"/>
          </a:xfrm>
          <a:prstGeom prst="rightArrow">
            <a:avLst/>
          </a:prstGeom>
          <a:solidFill>
            <a:srgbClr val="8DA9C4"/>
          </a:solidFill>
          <a:ln w="12700">
            <a:solidFill>
              <a:srgbClr val="8DA9C4"/>
            </a:solidFill>
            <a:prstDash val="solid"/>
          </a:ln>
        </p:spPr>
      </p:sp>
      <p:sp>
        <p:nvSpPr>
          <p:cNvPr id="19" name="Shape 17"/>
          <p:cNvSpPr/>
          <p:nvPr/>
        </p:nvSpPr>
        <p:spPr>
          <a:xfrm>
            <a:off x="4453128" y="2880360"/>
            <a:ext cx="3246120" cy="2194560"/>
          </a:xfrm>
          <a:prstGeom prst="roundRect">
            <a:avLst>
              <a:gd name="adj" fmla="val 3333"/>
            </a:avLst>
          </a:prstGeom>
          <a:solidFill>
            <a:srgbClr val="1F4E8C"/>
          </a:solidFill>
          <a:ln w="9525">
            <a:solidFill>
              <a:srgbClr val="1F4E8C"/>
            </a:solidFill>
            <a:prstDash val="solid"/>
          </a:ln>
        </p:spPr>
      </p:sp>
      <p:sp>
        <p:nvSpPr>
          <p:cNvPr id="20" name="Text 18"/>
          <p:cNvSpPr txBox="1"/>
          <p:nvPr/>
        </p:nvSpPr>
        <p:spPr>
          <a:xfrm>
            <a:off x="4681728" y="3108960"/>
            <a:ext cx="2788920" cy="219456"/>
          </a:xfrm>
          <a:prstGeom prst="rect">
            <a:avLst/>
          </a:prstGeom>
          <a:noFill/>
          <a:ln/>
        </p:spPr>
        <p:txBody>
          <a:bodyPr wrap="square" lIns="0" tIns="0" rIns="0" bIns="0" rtlCol="0" anchor="ctr"/>
          <a:lstStyle/>
          <a:p>
            <a:pPr marL="0" indent="0">
              <a:buNone/>
            </a:pPr>
            <a:r>
              <a:rPr lang="en-US" sz="900" b="1" kern="0" spc="200" dirty="0">
                <a:solidFill>
                  <a:srgbClr val="8DA9C4"/>
                </a:solidFill>
                <a:latin typeface="Calibri" pitchFamily="34" charset="0"/>
                <a:ea typeface="Calibri" pitchFamily="34" charset="-122"/>
                <a:cs typeface="Calibri" pitchFamily="34" charset="-120"/>
              </a:rPr>
              <a:t>AI-POWERED FINANCE</a:t>
            </a:r>
            <a:endParaRPr lang="en-US" sz="900" dirty="0"/>
          </a:p>
        </p:txBody>
      </p:sp>
      <p:sp>
        <p:nvSpPr>
          <p:cNvPr id="21" name="Text 19"/>
          <p:cNvSpPr txBox="1"/>
          <p:nvPr/>
        </p:nvSpPr>
        <p:spPr>
          <a:xfrm>
            <a:off x="4681728" y="3429000"/>
            <a:ext cx="2788920" cy="13716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Uses business signals to anticipate future outcomes.</a:t>
            </a:r>
            <a:endParaRPr lang="en-US" sz="1700" dirty="0"/>
          </a:p>
        </p:txBody>
      </p:sp>
      <p:sp>
        <p:nvSpPr>
          <p:cNvPr id="22" name="Shape 20"/>
          <p:cNvSpPr/>
          <p:nvPr/>
        </p:nvSpPr>
        <p:spPr>
          <a:xfrm>
            <a:off x="7790688" y="3831336"/>
            <a:ext cx="292608" cy="292608"/>
          </a:xfrm>
          <a:prstGeom prst="rightArrow">
            <a:avLst/>
          </a:prstGeom>
          <a:solidFill>
            <a:srgbClr val="8DA9C4"/>
          </a:solidFill>
          <a:ln w="12700">
            <a:solidFill>
              <a:srgbClr val="8DA9C4"/>
            </a:solidFill>
            <a:prstDash val="solid"/>
          </a:ln>
        </p:spPr>
      </p:sp>
      <p:sp>
        <p:nvSpPr>
          <p:cNvPr id="23" name="Shape 21"/>
          <p:cNvSpPr/>
          <p:nvPr/>
        </p:nvSpPr>
        <p:spPr>
          <a:xfrm>
            <a:off x="8174736" y="2880360"/>
            <a:ext cx="3246120" cy="2194560"/>
          </a:xfrm>
          <a:prstGeom prst="roundRect">
            <a:avLst>
              <a:gd name="adj" fmla="val 3333"/>
            </a:avLst>
          </a:prstGeom>
          <a:solidFill>
            <a:srgbClr val="3E7CC9"/>
          </a:solidFill>
          <a:ln w="9525">
            <a:solidFill>
              <a:srgbClr val="3E7CC9"/>
            </a:solidFill>
            <a:prstDash val="solid"/>
          </a:ln>
        </p:spPr>
      </p:sp>
      <p:sp>
        <p:nvSpPr>
          <p:cNvPr id="24" name="Text 22"/>
          <p:cNvSpPr txBox="1"/>
          <p:nvPr/>
        </p:nvSpPr>
        <p:spPr>
          <a:xfrm>
            <a:off x="8403336" y="3108960"/>
            <a:ext cx="2788920" cy="219456"/>
          </a:xfrm>
          <a:prstGeom prst="rect">
            <a:avLst/>
          </a:prstGeom>
          <a:noFill/>
          <a:ln/>
        </p:spPr>
        <p:txBody>
          <a:bodyPr wrap="square" lIns="0" tIns="0" rIns="0" bIns="0" rtlCol="0" anchor="ctr"/>
          <a:lstStyle/>
          <a:p>
            <a:pPr marL="0" indent="0">
              <a:buNone/>
            </a:pPr>
            <a:r>
              <a:rPr lang="en-US" sz="900" b="1" kern="0" spc="200" dirty="0">
                <a:solidFill>
                  <a:srgbClr val="8DA9C4"/>
                </a:solidFill>
                <a:latin typeface="Calibri" pitchFamily="34" charset="0"/>
                <a:ea typeface="Calibri" pitchFamily="34" charset="-122"/>
                <a:cs typeface="Calibri" pitchFamily="34" charset="-120"/>
              </a:rPr>
              <a:t>DECISION INTELLIGENCE</a:t>
            </a:r>
            <a:endParaRPr lang="en-US" sz="900" dirty="0"/>
          </a:p>
        </p:txBody>
      </p:sp>
      <p:sp>
        <p:nvSpPr>
          <p:cNvPr id="25" name="Text 23"/>
          <p:cNvSpPr txBox="1"/>
          <p:nvPr/>
        </p:nvSpPr>
        <p:spPr>
          <a:xfrm>
            <a:off x="8403336" y="3429000"/>
            <a:ext cx="2788920" cy="13716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Uses future insights to influence today's decisions.</a:t>
            </a:r>
            <a:endParaRPr lang="en-US" sz="1700" dirty="0"/>
          </a:p>
        </p:txBody>
      </p:sp>
      <p:sp>
        <p:nvSpPr>
          <p:cNvPr id="26" name="Shape 24"/>
          <p:cNvSpPr/>
          <p:nvPr/>
        </p:nvSpPr>
        <p:spPr>
          <a:xfrm>
            <a:off x="731520" y="5349240"/>
            <a:ext cx="10698480" cy="0"/>
          </a:xfrm>
          <a:prstGeom prst="line">
            <a:avLst/>
          </a:prstGeom>
          <a:noFill/>
          <a:ln w="12700">
            <a:solidFill>
              <a:srgbClr val="2E4C77"/>
            </a:solidFill>
            <a:prstDash val="solid"/>
          </a:ln>
        </p:spPr>
      </p:sp>
      <p:sp>
        <p:nvSpPr>
          <p:cNvPr id="27" name="Text 25"/>
          <p:cNvSpPr txBox="1"/>
          <p:nvPr/>
        </p:nvSpPr>
        <p:spPr>
          <a:xfrm>
            <a:off x="731520" y="5440680"/>
            <a:ext cx="10698480" cy="731520"/>
          </a:xfrm>
          <a:prstGeom prst="rect">
            <a:avLst/>
          </a:prstGeom>
          <a:noFill/>
          <a:ln/>
        </p:spPr>
        <p:txBody>
          <a:bodyPr wrap="square" lIns="0" tIns="0" rIns="0" bIns="0" rtlCol="0" anchor="ctr"/>
          <a:lstStyle/>
          <a:p>
            <a:pPr marL="0" indent="0">
              <a:buNone/>
            </a:pPr>
            <a:r>
              <a:rPr lang="en-US" sz="1700" b="1" i="1" dirty="0">
                <a:solidFill>
                  <a:srgbClr val="B8CBE3"/>
                </a:solidFill>
                <a:latin typeface="Calibri" pitchFamily="34" charset="0"/>
                <a:ea typeface="Calibri" pitchFamily="34" charset="-122"/>
                <a:cs typeface="Calibri" pitchFamily="34" charset="-120"/>
              </a:rPr>
              <a:t>Traditional Finance uses the past to explain today. </a:t>
            </a:r>
            <a:r>
              <a:rPr lang="en-US" sz="1700" b="1" i="1" dirty="0">
                <a:solidFill>
                  <a:srgbClr val="FFFFFF"/>
                </a:solidFill>
                <a:latin typeface="Calibri" pitchFamily="34" charset="0"/>
                <a:ea typeface="Calibri" pitchFamily="34" charset="-122"/>
                <a:cs typeface="Calibri" pitchFamily="34" charset="-120"/>
              </a:rPr>
              <a:t>AI uses signals about the future to influence today's decisions.</a:t>
            </a:r>
            <a:endParaRPr lang="en-US" sz="1700" dirty="0"/>
          </a:p>
        </p:txBody>
      </p:sp>
      <p:sp>
        <p:nvSpPr>
          <p:cNvPr id="28" name="Text 26"/>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900" dirty="0">
                <a:solidFill>
                  <a:srgbClr val="7F98B8"/>
                </a:solidFill>
                <a:latin typeface="Calibri" pitchFamily="34" charset="0"/>
                <a:ea typeface="Calibri" pitchFamily="34" charset="-122"/>
                <a:cs typeface="Calibri" pitchFamily="34" charset="-120"/>
              </a:rPr>
              <a:t>Nexbill Financial Intelligence Platform</a:t>
            </a:r>
            <a:endParaRPr lang="en-US" sz="900" dirty="0"/>
          </a:p>
        </p:txBody>
      </p:sp>
      <p:sp>
        <p:nvSpPr>
          <p:cNvPr id="29" name="Text 27"/>
          <p:cNvSpPr txBox="1"/>
          <p:nvPr/>
        </p:nvSpPr>
        <p:spPr>
          <a:xfrm>
            <a:off x="11064240" y="6400800"/>
            <a:ext cx="548640" cy="274320"/>
          </a:xfrm>
          <a:prstGeom prst="rect">
            <a:avLst/>
          </a:prstGeom>
          <a:noFill/>
          <a:ln/>
        </p:spPr>
        <p:txBody>
          <a:bodyPr wrap="square" lIns="0" tIns="0" rIns="0" bIns="0" rtlCol="0" anchor="ctr"/>
          <a:lstStyle/>
          <a:p>
            <a:pPr marL="0" indent="0" algn="r">
              <a:buNone/>
            </a:pPr>
            <a:r>
              <a:rPr lang="en-US" sz="900" dirty="0">
                <a:solidFill>
                  <a:srgbClr val="7F98B8"/>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731520" y="2011680"/>
            <a:ext cx="5486400" cy="274320"/>
          </a:xfrm>
          <a:prstGeom prst="rect">
            <a:avLst/>
          </a:prstGeom>
          <a:noFill/>
          <a:ln/>
        </p:spPr>
        <p:txBody>
          <a:bodyPr wrap="square" lIns="0" tIns="0" rIns="0" bIns="0" rtlCol="0" anchor="ctr"/>
          <a:lstStyle/>
          <a:p>
            <a:pPr marL="0" indent="0">
              <a:buNone/>
            </a:pPr>
            <a:r>
              <a:rPr lang="en-US" sz="1100" kern="0" spc="300" dirty="0">
                <a:solidFill>
                  <a:srgbClr val="8DA9C4"/>
                </a:solidFill>
                <a:latin typeface="Calibri" pitchFamily="34" charset="0"/>
                <a:ea typeface="Calibri" pitchFamily="34" charset="-122"/>
                <a:cs typeface="Calibri" pitchFamily="34" charset="-120"/>
              </a:rPr>
              <a:t>APPENDIX</a:t>
            </a:r>
            <a:endParaRPr lang="en-US" sz="1100" dirty="0"/>
          </a:p>
        </p:txBody>
      </p:sp>
      <p:sp>
        <p:nvSpPr>
          <p:cNvPr id="3" name="Text 1"/>
          <p:cNvSpPr txBox="1"/>
          <p:nvPr/>
        </p:nvSpPr>
        <p:spPr>
          <a:xfrm>
            <a:off x="731520" y="2331720"/>
            <a:ext cx="5486400" cy="9144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Backup</a:t>
            </a:r>
            <a:endParaRPr lang="en-US" sz="4000" dirty="0"/>
          </a:p>
        </p:txBody>
      </p:sp>
      <p:sp>
        <p:nvSpPr>
          <p:cNvPr id="4" name="Text 2"/>
          <p:cNvSpPr txBox="1"/>
          <p:nvPr/>
        </p:nvSpPr>
        <p:spPr>
          <a:xfrm>
            <a:off x="6766560" y="2103120"/>
            <a:ext cx="548640" cy="365760"/>
          </a:xfrm>
          <a:prstGeom prst="rect">
            <a:avLst/>
          </a:prstGeom>
          <a:noFill/>
          <a:ln/>
        </p:spPr>
        <p:txBody>
          <a:bodyPr wrap="square" lIns="0" tIns="0" rIns="0" bIns="0" rtlCol="0" anchor="ctr"/>
          <a:lstStyle/>
          <a:p>
            <a:pPr marL="0" indent="0">
              <a:buNone/>
            </a:pPr>
            <a:r>
              <a:rPr lang="en-US" sz="1200" b="1" dirty="0">
                <a:solidFill>
                  <a:srgbClr val="5B95DD"/>
                </a:solidFill>
                <a:latin typeface="Calibri" pitchFamily="34" charset="0"/>
                <a:ea typeface="Calibri" pitchFamily="34" charset="-122"/>
                <a:cs typeface="Calibri" pitchFamily="34" charset="-120"/>
              </a:rPr>
              <a:t>11</a:t>
            </a:r>
            <a:endParaRPr lang="en-US" sz="1200" dirty="0"/>
          </a:p>
        </p:txBody>
      </p:sp>
      <p:sp>
        <p:nvSpPr>
          <p:cNvPr id="5" name="Text 3"/>
          <p:cNvSpPr txBox="1"/>
          <p:nvPr/>
        </p:nvSpPr>
        <p:spPr>
          <a:xfrm>
            <a:off x="7406640" y="2103120"/>
            <a:ext cx="4114800" cy="3657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Data Readiness Assessment</a:t>
            </a:r>
            <a:endParaRPr lang="en-US" sz="1400" dirty="0"/>
          </a:p>
        </p:txBody>
      </p:sp>
      <p:sp>
        <p:nvSpPr>
          <p:cNvPr id="6" name="Shape 4"/>
          <p:cNvSpPr/>
          <p:nvPr/>
        </p:nvSpPr>
        <p:spPr>
          <a:xfrm>
            <a:off x="6766560" y="2532888"/>
            <a:ext cx="4754880" cy="0"/>
          </a:xfrm>
          <a:prstGeom prst="line">
            <a:avLst/>
          </a:prstGeom>
          <a:noFill/>
          <a:ln w="9525">
            <a:solidFill>
              <a:srgbClr val="2E4C77"/>
            </a:solidFill>
            <a:prstDash val="solid"/>
          </a:ln>
        </p:spPr>
      </p:sp>
      <p:sp>
        <p:nvSpPr>
          <p:cNvPr id="7" name="Text 5"/>
          <p:cNvSpPr txBox="1"/>
          <p:nvPr/>
        </p:nvSpPr>
        <p:spPr>
          <a:xfrm>
            <a:off x="6766560" y="2651760"/>
            <a:ext cx="548640" cy="365760"/>
          </a:xfrm>
          <a:prstGeom prst="rect">
            <a:avLst/>
          </a:prstGeom>
          <a:noFill/>
          <a:ln/>
        </p:spPr>
        <p:txBody>
          <a:bodyPr wrap="square" lIns="0" tIns="0" rIns="0" bIns="0" rtlCol="0" anchor="ctr"/>
          <a:lstStyle/>
          <a:p>
            <a:pPr marL="0" indent="0">
              <a:buNone/>
            </a:pPr>
            <a:r>
              <a:rPr lang="en-US" sz="1200" b="1" dirty="0">
                <a:solidFill>
                  <a:srgbClr val="5B95DD"/>
                </a:solidFill>
                <a:latin typeface="Calibri" pitchFamily="34" charset="0"/>
                <a:ea typeface="Calibri" pitchFamily="34" charset="-122"/>
                <a:cs typeface="Calibri" pitchFamily="34" charset="-120"/>
              </a:rPr>
              <a:t>12</a:t>
            </a:r>
            <a:endParaRPr lang="en-US" sz="1200" dirty="0"/>
          </a:p>
        </p:txBody>
      </p:sp>
      <p:sp>
        <p:nvSpPr>
          <p:cNvPr id="8" name="Text 6"/>
          <p:cNvSpPr txBox="1"/>
          <p:nvPr/>
        </p:nvSpPr>
        <p:spPr>
          <a:xfrm>
            <a:off x="7406640" y="2651760"/>
            <a:ext cx="4114800" cy="3657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Stakeholder &amp; Data Ownership</a:t>
            </a:r>
            <a:endParaRPr lang="en-US" sz="1400" dirty="0"/>
          </a:p>
        </p:txBody>
      </p:sp>
      <p:sp>
        <p:nvSpPr>
          <p:cNvPr id="9" name="Shape 7"/>
          <p:cNvSpPr/>
          <p:nvPr/>
        </p:nvSpPr>
        <p:spPr>
          <a:xfrm>
            <a:off x="6766560" y="3081528"/>
            <a:ext cx="4754880" cy="0"/>
          </a:xfrm>
          <a:prstGeom prst="line">
            <a:avLst/>
          </a:prstGeom>
          <a:noFill/>
          <a:ln w="9525">
            <a:solidFill>
              <a:srgbClr val="2E4C77"/>
            </a:solidFill>
            <a:prstDash val="solid"/>
          </a:ln>
        </p:spPr>
      </p:sp>
      <p:sp>
        <p:nvSpPr>
          <p:cNvPr id="10" name="Text 8"/>
          <p:cNvSpPr txBox="1"/>
          <p:nvPr/>
        </p:nvSpPr>
        <p:spPr>
          <a:xfrm>
            <a:off x="6766560" y="3200400"/>
            <a:ext cx="548640" cy="365760"/>
          </a:xfrm>
          <a:prstGeom prst="rect">
            <a:avLst/>
          </a:prstGeom>
          <a:noFill/>
          <a:ln/>
        </p:spPr>
        <p:txBody>
          <a:bodyPr wrap="square" lIns="0" tIns="0" rIns="0" bIns="0" rtlCol="0" anchor="ctr"/>
          <a:lstStyle/>
          <a:p>
            <a:pPr marL="0" indent="0">
              <a:buNone/>
            </a:pPr>
            <a:r>
              <a:rPr lang="en-US" sz="1200" b="1" dirty="0">
                <a:solidFill>
                  <a:srgbClr val="5B95DD"/>
                </a:solidFill>
                <a:latin typeface="Calibri" pitchFamily="34" charset="0"/>
                <a:ea typeface="Calibri" pitchFamily="34" charset="-122"/>
                <a:cs typeface="Calibri" pitchFamily="34" charset="-120"/>
              </a:rPr>
              <a:t>13</a:t>
            </a:r>
            <a:endParaRPr lang="en-US" sz="1200" dirty="0"/>
          </a:p>
        </p:txBody>
      </p:sp>
      <p:sp>
        <p:nvSpPr>
          <p:cNvPr id="11" name="Text 9"/>
          <p:cNvSpPr txBox="1"/>
          <p:nvPr/>
        </p:nvSpPr>
        <p:spPr>
          <a:xfrm>
            <a:off x="7406640" y="3200400"/>
            <a:ext cx="4114800" cy="3657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Capability Prioritization</a:t>
            </a:r>
            <a:endParaRPr lang="en-US" sz="1400" dirty="0"/>
          </a:p>
        </p:txBody>
      </p:sp>
      <p:sp>
        <p:nvSpPr>
          <p:cNvPr id="12" name="Shape 10"/>
          <p:cNvSpPr/>
          <p:nvPr/>
        </p:nvSpPr>
        <p:spPr>
          <a:xfrm>
            <a:off x="6766560" y="3630168"/>
            <a:ext cx="4754880" cy="0"/>
          </a:xfrm>
          <a:prstGeom prst="line">
            <a:avLst/>
          </a:prstGeom>
          <a:noFill/>
          <a:ln w="9525">
            <a:solidFill>
              <a:srgbClr val="2E4C77"/>
            </a:solidFill>
            <a:prstDash val="solid"/>
          </a:ln>
        </p:spPr>
      </p:sp>
      <p:sp>
        <p:nvSpPr>
          <p:cNvPr id="13" name="Text 11"/>
          <p:cNvSpPr txBox="1"/>
          <p:nvPr/>
        </p:nvSpPr>
        <p:spPr>
          <a:xfrm>
            <a:off x="6766560" y="3749040"/>
            <a:ext cx="548640" cy="365760"/>
          </a:xfrm>
          <a:prstGeom prst="rect">
            <a:avLst/>
          </a:prstGeom>
          <a:noFill/>
          <a:ln/>
        </p:spPr>
        <p:txBody>
          <a:bodyPr wrap="square" lIns="0" tIns="0" rIns="0" bIns="0" rtlCol="0" anchor="ctr"/>
          <a:lstStyle/>
          <a:p>
            <a:pPr marL="0" indent="0">
              <a:buNone/>
            </a:pPr>
            <a:r>
              <a:rPr lang="en-US" sz="1200" b="1" dirty="0">
                <a:solidFill>
                  <a:srgbClr val="5B95DD"/>
                </a:solidFill>
                <a:latin typeface="Calibri" pitchFamily="34" charset="0"/>
                <a:ea typeface="Calibri" pitchFamily="34" charset="-122"/>
                <a:cs typeface="Calibri" pitchFamily="34" charset="-120"/>
              </a:rPr>
              <a:t>14</a:t>
            </a:r>
            <a:endParaRPr lang="en-US" sz="1200" dirty="0"/>
          </a:p>
        </p:txBody>
      </p:sp>
      <p:sp>
        <p:nvSpPr>
          <p:cNvPr id="14" name="Text 12"/>
          <p:cNvSpPr txBox="1"/>
          <p:nvPr/>
        </p:nvSpPr>
        <p:spPr>
          <a:xfrm>
            <a:off x="7406640" y="3749040"/>
            <a:ext cx="4114800" cy="3657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Business Risk Intelligence Center  (Product Mockup)</a:t>
            </a:r>
            <a:endParaRPr lang="en-US" sz="1400" dirty="0"/>
          </a:p>
        </p:txBody>
      </p:sp>
      <p:sp>
        <p:nvSpPr>
          <p:cNvPr id="15" name="Shape 13"/>
          <p:cNvSpPr/>
          <p:nvPr/>
        </p:nvSpPr>
        <p:spPr>
          <a:xfrm>
            <a:off x="6766560" y="4178808"/>
            <a:ext cx="4754880" cy="0"/>
          </a:xfrm>
          <a:prstGeom prst="line">
            <a:avLst/>
          </a:prstGeom>
          <a:noFill/>
          <a:ln w="9525">
            <a:solidFill>
              <a:srgbClr val="2E4C77"/>
            </a:solidFill>
            <a:prstDash val="solid"/>
          </a:ln>
        </p:spPr>
      </p:sp>
      <p:sp>
        <p:nvSpPr>
          <p:cNvPr id="16" name="Text 14"/>
          <p:cNvSpPr txBox="1"/>
          <p:nvPr/>
        </p:nvSpPr>
        <p:spPr>
          <a:xfrm>
            <a:off x="6766560" y="4297680"/>
            <a:ext cx="548640" cy="365760"/>
          </a:xfrm>
          <a:prstGeom prst="rect">
            <a:avLst/>
          </a:prstGeom>
          <a:noFill/>
          <a:ln/>
        </p:spPr>
        <p:txBody>
          <a:bodyPr wrap="square" lIns="0" tIns="0" rIns="0" bIns="0" rtlCol="0" anchor="ctr"/>
          <a:lstStyle/>
          <a:p>
            <a:pPr marL="0" indent="0">
              <a:buNone/>
            </a:pPr>
            <a:r>
              <a:rPr lang="en-US" sz="1200" b="1" dirty="0">
                <a:solidFill>
                  <a:srgbClr val="5B95DD"/>
                </a:solidFill>
                <a:latin typeface="Calibri" pitchFamily="34" charset="0"/>
                <a:ea typeface="Calibri" pitchFamily="34" charset="-122"/>
                <a:cs typeface="Calibri" pitchFamily="34" charset="-120"/>
              </a:rPr>
              <a:t>15</a:t>
            </a:r>
            <a:endParaRPr lang="en-US" sz="1200" dirty="0"/>
          </a:p>
        </p:txBody>
      </p:sp>
      <p:sp>
        <p:nvSpPr>
          <p:cNvPr id="17" name="Text 15"/>
          <p:cNvSpPr txBox="1"/>
          <p:nvPr/>
        </p:nvSpPr>
        <p:spPr>
          <a:xfrm>
            <a:off x="7406640" y="4297680"/>
            <a:ext cx="4114800" cy="3657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Customer 360 Risk Assessment  (Product Mockup)</a:t>
            </a:r>
            <a:endParaRPr lang="en-US" sz="1400" dirty="0"/>
          </a:p>
        </p:txBody>
      </p:sp>
      <p:sp>
        <p:nvSpPr>
          <p:cNvPr id="18" name="Shape 16"/>
          <p:cNvSpPr/>
          <p:nvPr/>
        </p:nvSpPr>
        <p:spPr>
          <a:xfrm>
            <a:off x="6766560" y="4727448"/>
            <a:ext cx="4754880" cy="0"/>
          </a:xfrm>
          <a:prstGeom prst="line">
            <a:avLst/>
          </a:prstGeom>
          <a:noFill/>
          <a:ln w="9525">
            <a:solidFill>
              <a:srgbClr val="2E4C77"/>
            </a:solidFill>
            <a:prstDash val="solid"/>
          </a:ln>
        </p:spPr>
      </p:sp>
      <p:sp>
        <p:nvSpPr>
          <p:cNvPr id="19" name="Text 17"/>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900" dirty="0">
                <a:solidFill>
                  <a:srgbClr val="7F98B8"/>
                </a:solidFill>
                <a:latin typeface="Calibri" pitchFamily="34" charset="0"/>
                <a:ea typeface="Calibri" pitchFamily="34" charset="-122"/>
                <a:cs typeface="Calibri" pitchFamily="34" charset="-120"/>
              </a:rPr>
              <a:t>Nexbill Financial Intelligence Platform</a:t>
            </a:r>
            <a:endParaRPr lang="en-US" sz="900" dirty="0"/>
          </a:p>
        </p:txBody>
      </p:sp>
      <p:sp>
        <p:nvSpPr>
          <p:cNvPr id="20" name="Text 18"/>
          <p:cNvSpPr txBox="1"/>
          <p:nvPr/>
        </p:nvSpPr>
        <p:spPr>
          <a:xfrm>
            <a:off x="11064240" y="6400800"/>
            <a:ext cx="548640" cy="274320"/>
          </a:xfrm>
          <a:prstGeom prst="rect">
            <a:avLst/>
          </a:prstGeom>
          <a:noFill/>
          <a:ln/>
        </p:spPr>
        <p:txBody>
          <a:bodyPr wrap="square" lIns="0" tIns="0" rIns="0" bIns="0" rtlCol="0" anchor="ctr"/>
          <a:lstStyle/>
          <a:p>
            <a:pPr marL="0" indent="0" algn="r">
              <a:buNone/>
            </a:pPr>
            <a:r>
              <a:rPr lang="en-US" sz="900" dirty="0">
                <a:solidFill>
                  <a:srgbClr val="7F98B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Data Readiness Assessment</a:t>
            </a:r>
            <a:endParaRPr lang="en-US" sz="3000" dirty="0"/>
          </a:p>
        </p:txBody>
      </p:sp>
      <p:sp>
        <p:nvSpPr>
          <p:cNvPr id="3" name="Text 1"/>
          <p:cNvSpPr txBox="1"/>
          <p:nvPr/>
        </p:nvSpPr>
        <p:spPr>
          <a:xfrm>
            <a:off x="548640" y="1078992"/>
            <a:ext cx="8595360" cy="502920"/>
          </a:xfrm>
          <a:prstGeom prst="rect">
            <a:avLst/>
          </a:prstGeom>
          <a:noFill/>
          <a:ln/>
        </p:spPr>
        <p:txBody>
          <a:bodyPr wrap="square" lIns="0" tIns="0" rIns="0" bIns="0" rtlCol="0" anchor="t"/>
          <a:lstStyle/>
          <a:p>
            <a:pPr marL="0" indent="0">
              <a:buNone/>
            </a:pPr>
            <a:r>
              <a:rPr lang="en-US" sz="1500" i="1" dirty="0">
                <a:solidFill>
                  <a:srgbClr val="5B6B7F"/>
                </a:solidFill>
                <a:latin typeface="Calibri" pitchFamily="34" charset="0"/>
                <a:ea typeface="Calibri" pitchFamily="34" charset="-122"/>
                <a:cs typeface="Calibri" pitchFamily="34" charset="-120"/>
              </a:rPr>
              <a:t>Assess whether current Nexbill data is sufficient to support the proposed AI capabilities.</a:t>
            </a:r>
            <a:endParaRPr lang="en-US" sz="1500" dirty="0"/>
          </a:p>
        </p:txBody>
      </p:sp>
      <p:sp>
        <p:nvSpPr>
          <p:cNvPr id="4" name="Shape 2"/>
          <p:cNvSpPr/>
          <p:nvPr/>
        </p:nvSpPr>
        <p:spPr>
          <a:xfrm>
            <a:off x="10819181" y="438912"/>
            <a:ext cx="793699" cy="256032"/>
          </a:xfrm>
          <a:prstGeom prst="rect">
            <a:avLst/>
          </a:prstGeom>
          <a:solidFill>
            <a:srgbClr val="0B2545"/>
          </a:solidFill>
          <a:ln w="12700">
            <a:solidFill>
              <a:srgbClr val="0B2545"/>
            </a:solidFill>
            <a:prstDash val="solid"/>
          </a:ln>
        </p:spPr>
      </p:sp>
      <p:sp>
        <p:nvSpPr>
          <p:cNvPr id="5" name="Text 3"/>
          <p:cNvSpPr txBox="1"/>
          <p:nvPr/>
        </p:nvSpPr>
        <p:spPr>
          <a:xfrm>
            <a:off x="10819181" y="438912"/>
            <a:ext cx="793699"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latin typeface="Calibri" pitchFamily="34" charset="0"/>
                <a:ea typeface="Calibri" pitchFamily="34" charset="-122"/>
                <a:cs typeface="Calibri" pitchFamily="34" charset="-120"/>
              </a:rPr>
              <a:t>BACKUP</a:t>
            </a:r>
            <a:endParaRPr lang="en-US" sz="850" dirty="0"/>
          </a:p>
        </p:txBody>
      </p:sp>
      <p:sp>
        <p:nvSpPr>
          <p:cNvPr id="6" name="Shape 4"/>
          <p:cNvSpPr/>
          <p:nvPr/>
        </p:nvSpPr>
        <p:spPr>
          <a:xfrm>
            <a:off x="9098280" y="749808"/>
            <a:ext cx="2514600" cy="292608"/>
          </a:xfrm>
          <a:prstGeom prst="roundRect">
            <a:avLst>
              <a:gd name="adj" fmla="val 50000"/>
            </a:avLst>
          </a:prstGeom>
          <a:solidFill>
            <a:srgbClr val="DCE6F2"/>
          </a:solidFill>
          <a:ln w="12700">
            <a:solidFill>
              <a:srgbClr val="DCE6F2"/>
            </a:solidFill>
            <a:prstDash val="solid"/>
          </a:ln>
        </p:spPr>
      </p:sp>
      <p:sp>
        <p:nvSpPr>
          <p:cNvPr id="7" name="Text 5"/>
          <p:cNvSpPr txBox="1"/>
          <p:nvPr/>
        </p:nvSpPr>
        <p:spPr>
          <a:xfrm>
            <a:off x="9098280" y="749808"/>
            <a:ext cx="2514600" cy="292608"/>
          </a:xfrm>
          <a:prstGeom prst="rect">
            <a:avLst/>
          </a:prstGeom>
          <a:noFill/>
          <a:ln/>
        </p:spPr>
        <p:txBody>
          <a:bodyPr wrap="square" lIns="0" tIns="0" rIns="0" bIns="0" rtlCol="0" anchor="ctr"/>
          <a:lstStyle/>
          <a:p>
            <a:pPr marL="0" indent="0" algn="ctr">
              <a:buNone/>
            </a:pPr>
            <a:r>
              <a:rPr lang="en-US" sz="950" b="1" kern="0" spc="100" dirty="0">
                <a:solidFill>
                  <a:srgbClr val="0B2545"/>
                </a:solidFill>
                <a:latin typeface="Calibri" pitchFamily="34" charset="0"/>
                <a:ea typeface="Calibri" pitchFamily="34" charset="-122"/>
                <a:cs typeface="Calibri" pitchFamily="34" charset="-120"/>
              </a:rPr>
              <a:t>DO WE HAVE THE DATA?</a:t>
            </a:r>
            <a:endParaRPr lang="en-US" sz="950" dirty="0"/>
          </a:p>
        </p:txBody>
      </p:sp>
      <p:sp>
        <p:nvSpPr>
          <p:cNvPr id="8" name="Text 6"/>
          <p:cNvSpPr txBox="1"/>
          <p:nvPr/>
        </p:nvSpPr>
        <p:spPr>
          <a:xfrm>
            <a:off x="548640" y="1600200"/>
            <a:ext cx="5029200" cy="201168"/>
          </a:xfrm>
          <a:prstGeom prst="rect">
            <a:avLst/>
          </a:prstGeom>
          <a:noFill/>
          <a:ln/>
        </p:spPr>
        <p:txBody>
          <a:bodyPr wrap="square" lIns="0" tIns="0" rIns="0" bIns="0" rtlCol="0" anchor="ctr"/>
          <a:lstStyle/>
          <a:p>
            <a:pPr marL="0" indent="0">
              <a:buNone/>
            </a:pPr>
            <a:r>
              <a:rPr lang="en-US" sz="1000" b="1" dirty="0">
                <a:solidFill>
                  <a:srgbClr val="0B2545"/>
                </a:solidFill>
                <a:latin typeface="Calibri" pitchFamily="34" charset="0"/>
                <a:ea typeface="Calibri" pitchFamily="34" charset="-122"/>
                <a:cs typeface="Calibri" pitchFamily="34" charset="-120"/>
              </a:rPr>
              <a:t>1  ·  Finance Intelligence Readiness</a:t>
            </a:r>
            <a:endParaRPr lang="en-US" sz="1000" dirty="0"/>
          </a:p>
        </p:txBody>
      </p:sp>
      <p:sp>
        <p:nvSpPr>
          <p:cNvPr id="9" name="Text 7"/>
          <p:cNvSpPr txBox="1"/>
          <p:nvPr/>
        </p:nvSpPr>
        <p:spPr>
          <a:xfrm>
            <a:off x="5577840" y="1600200"/>
            <a:ext cx="2286000" cy="201168"/>
          </a:xfrm>
          <a:prstGeom prst="rect">
            <a:avLst/>
          </a:prstGeom>
          <a:noFill/>
          <a:ln/>
        </p:spPr>
        <p:txBody>
          <a:bodyPr wrap="square" lIns="0" tIns="0" rIns="0" bIns="0" rtlCol="0" anchor="ctr"/>
          <a:lstStyle/>
          <a:p>
            <a:pPr marL="0" indent="0" algn="r">
              <a:buNone/>
            </a:pPr>
            <a:r>
              <a:rPr lang="en-US" sz="900" i="1" dirty="0">
                <a:solidFill>
                  <a:srgbClr val="5B6B7F"/>
                </a:solidFill>
                <a:latin typeface="Calibri" pitchFamily="34" charset="0"/>
                <a:ea typeface="Calibri" pitchFamily="34" charset="-122"/>
                <a:cs typeface="Calibri" pitchFamily="34" charset="-120"/>
              </a:rPr>
              <a:t>Why did it happen?</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7315200" cy="914400"/>
        </p:xfrm>
        <a:graphic>
          <a:graphicData uri="http://schemas.openxmlformats.org/drawingml/2006/table">
            <a:tbl>
              <a:tblPr/>
              <a:tblGrid>
                <a:gridCol w="21488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tblGrid>
              <a:tr h="224028">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Capability</a:t>
                      </a:r>
                      <a:endParaRPr lang="en-US" sz="85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0B2545"/>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Required Data</a:t>
                      </a:r>
                      <a:endParaRPr lang="en-US" sz="85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0B2545"/>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Status</a:t>
                      </a:r>
                      <a:endParaRPr lang="en-US" sz="850" dirty="0">
                        <a:latin typeface="Calibri" charset="0"/>
                        <a:ea typeface="Calibri" charset="0"/>
                        <a:cs typeface="Calibri" charset="0"/>
                      </a:endParaRPr>
                    </a:p>
                  </a:txBody>
                  <a:tcPr marL="0"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224028">
                <a:tc>
                  <a:txBody>
                    <a:bodyPr/>
                    <a:lstStyle/>
                    <a:p>
                      <a:pPr marL="0" indent="0">
                        <a:buNone/>
                      </a:pPr>
                      <a:r>
                        <a:rPr lang="en-US" sz="900" b="1" dirty="0">
                          <a:solidFill>
                            <a:srgbClr val="0B2545"/>
                          </a:solidFill>
                          <a:latin typeface="Calibri" pitchFamily="34" charset="0"/>
                          <a:ea typeface="Calibri" pitchFamily="34" charset="-122"/>
                          <a:cs typeface="Calibri" pitchFamily="34" charset="-120"/>
                        </a:rPr>
                        <a:t>Customer Profitability</a:t>
                      </a:r>
                      <a:endParaRPr lang="en-US" sz="90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EEF3FA"/>
                    </a:solidFill>
                  </a:tcPr>
                </a:tc>
                <a:tc>
                  <a:txBody>
                    <a:bodyPr/>
                    <a:lstStyle/>
                    <a:p>
                      <a:pPr marL="0" indent="0">
                        <a:buNone/>
                      </a:pPr>
                      <a:r>
                        <a:rPr lang="en-US" sz="900" dirty="0">
                          <a:solidFill>
                            <a:srgbClr val="33475B"/>
                          </a:solidFill>
                          <a:latin typeface="Calibri" pitchFamily="34" charset="0"/>
                          <a:ea typeface="Calibri" pitchFamily="34" charset="-122"/>
                          <a:cs typeface="Calibri" pitchFamily="34" charset="-120"/>
                        </a:rPr>
                        <a:t>Revenue + Cost + Margin</a:t>
                      </a:r>
                      <a:endParaRPr lang="en-US" sz="90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EEF3FA"/>
                    </a:solidFill>
                  </a:tcPr>
                </a:tc>
                <a:tc>
                  <a:txBody>
                    <a:bodyPr/>
                    <a:lstStyle/>
                    <a:p>
                      <a:pPr marL="0" indent="0" algn="ctr">
                        <a:buNone/>
                      </a:pPr>
                      <a:r>
                        <a:rPr lang="en-US" sz="850" b="1" dirty="0">
                          <a:solidFill>
                            <a:srgbClr val="1F4E8C"/>
                          </a:solidFill>
                          <a:latin typeface="Calibri" pitchFamily="34" charset="0"/>
                          <a:ea typeface="Calibri" pitchFamily="34" charset="-122"/>
                          <a:cs typeface="Calibri" pitchFamily="34" charset="-120"/>
                        </a:rPr>
                        <a:t>TBD</a:t>
                      </a:r>
                      <a:endParaRPr lang="en-US" sz="850" dirty="0">
                        <a:latin typeface="Calibri" charset="0"/>
                        <a:ea typeface="Calibri" charset="0"/>
                        <a:cs typeface="Calibri" charset="0"/>
                      </a:endParaRPr>
                    </a:p>
                  </a:txBody>
                  <a:tcPr marL="0"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EEF3FA"/>
                    </a:solidFill>
                  </a:tcPr>
                </a:tc>
                <a:extLst>
                  <a:ext uri="{0D108BD9-81ED-4DB2-BD59-A6C34878D82A}">
                    <a16:rowId xmlns:a16="http://schemas.microsoft.com/office/drawing/2014/main" val="10001"/>
                  </a:ext>
                </a:extLst>
              </a:tr>
              <a:tr h="224028">
                <a:tc>
                  <a:txBody>
                    <a:bodyPr/>
                    <a:lstStyle/>
                    <a:p>
                      <a:pPr marL="0" indent="0">
                        <a:buNone/>
                      </a:pPr>
                      <a:r>
                        <a:rPr lang="en-US" sz="900" b="1" dirty="0">
                          <a:solidFill>
                            <a:srgbClr val="0B2545"/>
                          </a:solidFill>
                          <a:latin typeface="Calibri" pitchFamily="34" charset="0"/>
                          <a:ea typeface="Calibri" pitchFamily="34" charset="-122"/>
                          <a:cs typeface="Calibri" pitchFamily="34" charset="-120"/>
                        </a:rPr>
                        <a:t>Country Performance</a:t>
                      </a:r>
                      <a:endParaRPr lang="en-US" sz="90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FFFFFF"/>
                    </a:solidFill>
                  </a:tcPr>
                </a:tc>
                <a:tc>
                  <a:txBody>
                    <a:bodyPr/>
                    <a:lstStyle/>
                    <a:p>
                      <a:pPr marL="0" indent="0">
                        <a:buNone/>
                      </a:pPr>
                      <a:r>
                        <a:rPr lang="en-US" sz="900" dirty="0">
                          <a:solidFill>
                            <a:srgbClr val="33475B"/>
                          </a:solidFill>
                          <a:latin typeface="Calibri" pitchFamily="34" charset="0"/>
                          <a:ea typeface="Calibri" pitchFamily="34" charset="-122"/>
                          <a:cs typeface="Calibri" pitchFamily="34" charset="-120"/>
                        </a:rPr>
                        <a:t>Revenue + Cost + Geography</a:t>
                      </a:r>
                      <a:endParaRPr lang="en-US" sz="90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F4E8C"/>
                          </a:solidFill>
                          <a:latin typeface="Calibri" pitchFamily="34" charset="0"/>
                          <a:ea typeface="Calibri" pitchFamily="34" charset="-122"/>
                          <a:cs typeface="Calibri" pitchFamily="34" charset="-120"/>
                        </a:rPr>
                        <a:t>TBD</a:t>
                      </a:r>
                      <a:endParaRPr lang="en-US" sz="850" dirty="0">
                        <a:latin typeface="Calibri" charset="0"/>
                        <a:ea typeface="Calibri" charset="0"/>
                        <a:cs typeface="Calibri" charset="0"/>
                      </a:endParaRPr>
                    </a:p>
                  </a:txBody>
                  <a:tcPr marL="0"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24028">
                <a:tc>
                  <a:txBody>
                    <a:bodyPr/>
                    <a:lstStyle/>
                    <a:p>
                      <a:pPr marL="0" indent="0">
                        <a:buNone/>
                      </a:pPr>
                      <a:r>
                        <a:rPr lang="en-US" sz="900" b="1" dirty="0">
                          <a:solidFill>
                            <a:srgbClr val="0B2545"/>
                          </a:solidFill>
                          <a:latin typeface="Calibri" pitchFamily="34" charset="0"/>
                          <a:ea typeface="Calibri" pitchFamily="34" charset="-122"/>
                          <a:cs typeface="Calibri" pitchFamily="34" charset="-120"/>
                        </a:rPr>
                        <a:t>Tranche Analysis</a:t>
                      </a:r>
                      <a:endParaRPr lang="en-US" sz="90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EEF3FA"/>
                    </a:solidFill>
                  </a:tcPr>
                </a:tc>
                <a:tc>
                  <a:txBody>
                    <a:bodyPr/>
                    <a:lstStyle/>
                    <a:p>
                      <a:pPr marL="0" indent="0">
                        <a:buNone/>
                      </a:pPr>
                      <a:r>
                        <a:rPr lang="en-US" sz="900" dirty="0">
                          <a:solidFill>
                            <a:srgbClr val="33475B"/>
                          </a:solidFill>
                          <a:latin typeface="Calibri" pitchFamily="34" charset="0"/>
                          <a:ea typeface="Calibri" pitchFamily="34" charset="-122"/>
                          <a:cs typeface="Calibri" pitchFamily="34" charset="-120"/>
                        </a:rPr>
                        <a:t>Tranche Attributes + Revenue + Return</a:t>
                      </a:r>
                      <a:endParaRPr lang="en-US" sz="90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EEF3FA"/>
                    </a:solidFill>
                  </a:tcPr>
                </a:tc>
                <a:tc>
                  <a:txBody>
                    <a:bodyPr/>
                    <a:lstStyle/>
                    <a:p>
                      <a:pPr marL="0" indent="0" algn="ctr">
                        <a:buNone/>
                      </a:pPr>
                      <a:r>
                        <a:rPr lang="en-US" sz="850" b="1" dirty="0">
                          <a:solidFill>
                            <a:srgbClr val="1F4E8C"/>
                          </a:solidFill>
                          <a:latin typeface="Calibri" pitchFamily="34" charset="0"/>
                          <a:ea typeface="Calibri" pitchFamily="34" charset="-122"/>
                          <a:cs typeface="Calibri" pitchFamily="34" charset="-120"/>
                        </a:rPr>
                        <a:t>TBD</a:t>
                      </a:r>
                      <a:endParaRPr lang="en-US" sz="850" dirty="0">
                        <a:latin typeface="Calibri" charset="0"/>
                        <a:ea typeface="Calibri" charset="0"/>
                        <a:cs typeface="Calibri" charset="0"/>
                      </a:endParaRPr>
                    </a:p>
                  </a:txBody>
                  <a:tcPr marL="0"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EEF3FA"/>
                    </a:solidFill>
                  </a:tcPr>
                </a:tc>
                <a:extLst>
                  <a:ext uri="{0D108BD9-81ED-4DB2-BD59-A6C34878D82A}">
                    <a16:rowId xmlns:a16="http://schemas.microsoft.com/office/drawing/2014/main" val="10003"/>
                  </a:ext>
                </a:extLst>
              </a:tr>
              <a:tr h="224028">
                <a:tc>
                  <a:txBody>
                    <a:bodyPr/>
                    <a:lstStyle/>
                    <a:p>
                      <a:pPr marL="0" indent="0">
                        <a:buNone/>
                      </a:pPr>
                      <a:r>
                        <a:rPr lang="en-US" sz="900" b="1" dirty="0">
                          <a:solidFill>
                            <a:srgbClr val="0B2545"/>
                          </a:solidFill>
                          <a:latin typeface="Calibri" pitchFamily="34" charset="0"/>
                          <a:ea typeface="Calibri" pitchFamily="34" charset="-122"/>
                          <a:cs typeface="Calibri" pitchFamily="34" charset="-120"/>
                        </a:rPr>
                        <a:t>Hardware vs Service Analysis</a:t>
                      </a:r>
                      <a:endParaRPr lang="en-US" sz="90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FFFFFF"/>
                    </a:solidFill>
                  </a:tcPr>
                </a:tc>
                <a:tc>
                  <a:txBody>
                    <a:bodyPr/>
                    <a:lstStyle/>
                    <a:p>
                      <a:pPr marL="0" indent="0">
                        <a:buNone/>
                      </a:pPr>
                      <a:r>
                        <a:rPr lang="en-US" sz="900" dirty="0">
                          <a:solidFill>
                            <a:srgbClr val="33475B"/>
                          </a:solidFill>
                          <a:latin typeface="Calibri" pitchFamily="34" charset="0"/>
                          <a:ea typeface="Calibri" pitchFamily="34" charset="-122"/>
                          <a:cs typeface="Calibri" pitchFamily="34" charset="-120"/>
                        </a:rPr>
                        <a:t>Revenue Type + Cost Type</a:t>
                      </a:r>
                      <a:endParaRPr lang="en-US" sz="90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F4E8C"/>
                          </a:solidFill>
                          <a:latin typeface="Calibri" pitchFamily="34" charset="0"/>
                          <a:ea typeface="Calibri" pitchFamily="34" charset="-122"/>
                          <a:cs typeface="Calibri" pitchFamily="34" charset="-120"/>
                        </a:rPr>
                        <a:t>TBD</a:t>
                      </a:r>
                      <a:endParaRPr lang="en-US" sz="850" dirty="0">
                        <a:latin typeface="Calibri" charset="0"/>
                        <a:ea typeface="Calibri" charset="0"/>
                        <a:cs typeface="Calibri" charset="0"/>
                      </a:endParaRPr>
                    </a:p>
                  </a:txBody>
                  <a:tcPr marL="0"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24028">
                <a:tc>
                  <a:txBody>
                    <a:bodyPr/>
                    <a:lstStyle/>
                    <a:p>
                      <a:pPr marL="0" indent="0">
                        <a:buNone/>
                      </a:pPr>
                      <a:r>
                        <a:rPr lang="en-US" sz="900" b="1" dirty="0">
                          <a:solidFill>
                            <a:srgbClr val="0B2545"/>
                          </a:solidFill>
                          <a:latin typeface="Calibri" pitchFamily="34" charset="0"/>
                          <a:ea typeface="Calibri" pitchFamily="34" charset="-122"/>
                          <a:cs typeface="Calibri" pitchFamily="34" charset="-120"/>
                        </a:rPr>
                        <a:t>Driver Analysis</a:t>
                      </a:r>
                      <a:endParaRPr lang="en-US" sz="90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EEF3FA"/>
                    </a:solidFill>
                  </a:tcPr>
                </a:tc>
                <a:tc>
                  <a:txBody>
                    <a:bodyPr/>
                    <a:lstStyle/>
                    <a:p>
                      <a:pPr marL="0" indent="0">
                        <a:buNone/>
                      </a:pPr>
                      <a:r>
                        <a:rPr lang="en-US" sz="900" dirty="0">
                          <a:solidFill>
                            <a:srgbClr val="33475B"/>
                          </a:solidFill>
                          <a:latin typeface="Calibri" pitchFamily="34" charset="0"/>
                          <a:ea typeface="Calibri" pitchFamily="34" charset="-122"/>
                          <a:cs typeface="Calibri" pitchFamily="34" charset="-120"/>
                        </a:rPr>
                        <a:t>Revenue + Cost + Collection + Pricing</a:t>
                      </a:r>
                      <a:endParaRPr lang="en-US" sz="90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EEF3FA"/>
                    </a:solidFill>
                  </a:tcPr>
                </a:tc>
                <a:tc>
                  <a:txBody>
                    <a:bodyPr/>
                    <a:lstStyle/>
                    <a:p>
                      <a:pPr marL="0" indent="0" algn="ctr">
                        <a:buNone/>
                      </a:pPr>
                      <a:r>
                        <a:rPr lang="en-US" sz="850" b="1" dirty="0">
                          <a:solidFill>
                            <a:srgbClr val="1F4E8C"/>
                          </a:solidFill>
                          <a:latin typeface="Calibri" pitchFamily="34" charset="0"/>
                          <a:ea typeface="Calibri" pitchFamily="34" charset="-122"/>
                          <a:cs typeface="Calibri" pitchFamily="34" charset="-120"/>
                        </a:rPr>
                        <a:t>TBD</a:t>
                      </a:r>
                      <a:endParaRPr lang="en-US" sz="850" dirty="0">
                        <a:latin typeface="Calibri" charset="0"/>
                        <a:ea typeface="Calibri" charset="0"/>
                        <a:cs typeface="Calibri" charset="0"/>
                      </a:endParaRPr>
                    </a:p>
                  </a:txBody>
                  <a:tcPr marL="0"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EEF3FA"/>
                    </a:solidFill>
                  </a:tcPr>
                </a:tc>
                <a:extLst>
                  <a:ext uri="{0D108BD9-81ED-4DB2-BD59-A6C34878D82A}">
                    <a16:rowId xmlns:a16="http://schemas.microsoft.com/office/drawing/2014/main" val="10005"/>
                  </a:ext>
                </a:extLst>
              </a:tr>
            </a:tbl>
          </a:graphicData>
        </a:graphic>
      </p:graphicFrame>
      <p:sp>
        <p:nvSpPr>
          <p:cNvPr id="11" name="Text 8"/>
          <p:cNvSpPr txBox="1"/>
          <p:nvPr/>
        </p:nvSpPr>
        <p:spPr>
          <a:xfrm>
            <a:off x="548640" y="3282696"/>
            <a:ext cx="5029200" cy="201168"/>
          </a:xfrm>
          <a:prstGeom prst="rect">
            <a:avLst/>
          </a:prstGeom>
          <a:noFill/>
          <a:ln/>
        </p:spPr>
        <p:txBody>
          <a:bodyPr wrap="square" lIns="0" tIns="0" rIns="0" bIns="0" rtlCol="0" anchor="ctr"/>
          <a:lstStyle/>
          <a:p>
            <a:pPr marL="0" indent="0">
              <a:buNone/>
            </a:pPr>
            <a:r>
              <a:rPr lang="en-US" sz="1000" b="1" dirty="0">
                <a:solidFill>
                  <a:srgbClr val="0B2545"/>
                </a:solidFill>
                <a:latin typeface="Calibri" pitchFamily="34" charset="0"/>
                <a:ea typeface="Calibri" pitchFamily="34" charset="-122"/>
                <a:cs typeface="Calibri" pitchFamily="34" charset="-120"/>
              </a:rPr>
              <a:t>2  ·  Business Risk Intelligence Readiness</a:t>
            </a:r>
            <a:endParaRPr lang="en-US" sz="1000" dirty="0"/>
          </a:p>
        </p:txBody>
      </p:sp>
      <p:sp>
        <p:nvSpPr>
          <p:cNvPr id="10" name="Text 9"/>
          <p:cNvSpPr txBox="1"/>
          <p:nvPr/>
        </p:nvSpPr>
        <p:spPr>
          <a:xfrm>
            <a:off x="5577840" y="3282696"/>
            <a:ext cx="2286000" cy="201168"/>
          </a:xfrm>
          <a:prstGeom prst="rect">
            <a:avLst/>
          </a:prstGeom>
          <a:noFill/>
          <a:ln/>
        </p:spPr>
        <p:txBody>
          <a:bodyPr wrap="square" lIns="0" tIns="0" rIns="0" bIns="0" rtlCol="0" anchor="ctr"/>
          <a:lstStyle/>
          <a:p>
            <a:pPr marL="0" indent="0" algn="r">
              <a:buNone/>
            </a:pPr>
            <a:r>
              <a:rPr lang="en-US" sz="900" i="1" dirty="0">
                <a:solidFill>
                  <a:srgbClr val="5B6B7F"/>
                </a:solidFill>
                <a:latin typeface="Calibri" pitchFamily="34" charset="0"/>
                <a:ea typeface="Calibri" pitchFamily="34" charset="-122"/>
                <a:cs typeface="Calibri" pitchFamily="34" charset="-120"/>
              </a:rPr>
              <a:t>What will happen?</a:t>
            </a:r>
            <a:endParaRPr lang="en-US" sz="9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548640" y="3511296"/>
          <a:ext cx="7315200" cy="914400"/>
        </p:xfrm>
        <a:graphic>
          <a:graphicData uri="http://schemas.openxmlformats.org/drawingml/2006/table">
            <a:tbl>
              <a:tblPr/>
              <a:tblGrid>
                <a:gridCol w="21488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tblGrid>
              <a:tr h="224028">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Capability</a:t>
                      </a:r>
                      <a:endParaRPr lang="en-US" sz="85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0B2545"/>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Required Data</a:t>
                      </a:r>
                      <a:endParaRPr lang="en-US" sz="85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0B2545"/>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Status</a:t>
                      </a:r>
                      <a:endParaRPr lang="en-US" sz="850" dirty="0">
                        <a:latin typeface="Calibri" charset="0"/>
                        <a:ea typeface="Calibri" charset="0"/>
                        <a:cs typeface="Calibri" charset="0"/>
                      </a:endParaRPr>
                    </a:p>
                  </a:txBody>
                  <a:tcPr marL="0"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224028">
                <a:tc>
                  <a:txBody>
                    <a:bodyPr/>
                    <a:lstStyle/>
                    <a:p>
                      <a:pPr marL="0" indent="0">
                        <a:buNone/>
                      </a:pPr>
                      <a:r>
                        <a:rPr lang="en-US" sz="900" b="1" dirty="0">
                          <a:solidFill>
                            <a:srgbClr val="0B2545"/>
                          </a:solidFill>
                          <a:latin typeface="Calibri" pitchFamily="34" charset="0"/>
                          <a:ea typeface="Calibri" pitchFamily="34" charset="-122"/>
                          <a:cs typeface="Calibri" pitchFamily="34" charset="-120"/>
                        </a:rPr>
                        <a:t>Revenue Forecast</a:t>
                      </a:r>
                      <a:endParaRPr lang="en-US" sz="90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EEF3FA"/>
                    </a:solidFill>
                  </a:tcPr>
                </a:tc>
                <a:tc>
                  <a:txBody>
                    <a:bodyPr/>
                    <a:lstStyle/>
                    <a:p>
                      <a:pPr marL="0" indent="0">
                        <a:buNone/>
                      </a:pPr>
                      <a:r>
                        <a:rPr lang="en-US" sz="900" dirty="0">
                          <a:solidFill>
                            <a:srgbClr val="33475B"/>
                          </a:solidFill>
                          <a:latin typeface="Calibri" pitchFamily="34" charset="0"/>
                          <a:ea typeface="Calibri" pitchFamily="34" charset="-122"/>
                          <a:cs typeface="Calibri" pitchFamily="34" charset="-120"/>
                        </a:rPr>
                        <a:t>Historical Revenue + Billing History</a:t>
                      </a:r>
                      <a:endParaRPr lang="en-US" sz="90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EEF3FA"/>
                    </a:solidFill>
                  </a:tcPr>
                </a:tc>
                <a:tc>
                  <a:txBody>
                    <a:bodyPr/>
                    <a:lstStyle/>
                    <a:p>
                      <a:pPr marL="0" indent="0" algn="ctr">
                        <a:buNone/>
                      </a:pPr>
                      <a:r>
                        <a:rPr lang="en-US" sz="850" b="1" dirty="0">
                          <a:solidFill>
                            <a:srgbClr val="1F4E8C"/>
                          </a:solidFill>
                          <a:latin typeface="Calibri" pitchFamily="34" charset="0"/>
                          <a:ea typeface="Calibri" pitchFamily="34" charset="-122"/>
                          <a:cs typeface="Calibri" pitchFamily="34" charset="-120"/>
                        </a:rPr>
                        <a:t>TBD</a:t>
                      </a:r>
                      <a:endParaRPr lang="en-US" sz="850" dirty="0">
                        <a:latin typeface="Calibri" charset="0"/>
                        <a:ea typeface="Calibri" charset="0"/>
                        <a:cs typeface="Calibri" charset="0"/>
                      </a:endParaRPr>
                    </a:p>
                  </a:txBody>
                  <a:tcPr marL="0"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EEF3FA"/>
                    </a:solidFill>
                  </a:tcPr>
                </a:tc>
                <a:extLst>
                  <a:ext uri="{0D108BD9-81ED-4DB2-BD59-A6C34878D82A}">
                    <a16:rowId xmlns:a16="http://schemas.microsoft.com/office/drawing/2014/main" val="10001"/>
                  </a:ext>
                </a:extLst>
              </a:tr>
              <a:tr h="224028">
                <a:tc>
                  <a:txBody>
                    <a:bodyPr/>
                    <a:lstStyle/>
                    <a:p>
                      <a:pPr marL="0" indent="0">
                        <a:buNone/>
                      </a:pPr>
                      <a:r>
                        <a:rPr lang="en-US" sz="900" b="1" dirty="0">
                          <a:solidFill>
                            <a:srgbClr val="0B2545"/>
                          </a:solidFill>
                          <a:latin typeface="Calibri" pitchFamily="34" charset="0"/>
                          <a:ea typeface="Calibri" pitchFamily="34" charset="-122"/>
                          <a:cs typeface="Calibri" pitchFamily="34" charset="-120"/>
                        </a:rPr>
                        <a:t>Customer Risk</a:t>
                      </a:r>
                      <a:endParaRPr lang="en-US" sz="90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FFFFFF"/>
                    </a:solidFill>
                  </a:tcPr>
                </a:tc>
                <a:tc>
                  <a:txBody>
                    <a:bodyPr/>
                    <a:lstStyle/>
                    <a:p>
                      <a:pPr marL="0" indent="0">
                        <a:buNone/>
                      </a:pPr>
                      <a:r>
                        <a:rPr lang="en-US" sz="900" dirty="0">
                          <a:solidFill>
                            <a:srgbClr val="33475B"/>
                          </a:solidFill>
                          <a:latin typeface="Calibri" pitchFamily="34" charset="0"/>
                          <a:ea typeface="Calibri" pitchFamily="34" charset="-122"/>
                          <a:cs typeface="Calibri" pitchFamily="34" charset="-120"/>
                        </a:rPr>
                        <a:t>Revenue Trend + Asset Activity + Collection History</a:t>
                      </a:r>
                      <a:endParaRPr lang="en-US" sz="90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F4E8C"/>
                          </a:solidFill>
                          <a:latin typeface="Calibri" pitchFamily="34" charset="0"/>
                          <a:ea typeface="Calibri" pitchFamily="34" charset="-122"/>
                          <a:cs typeface="Calibri" pitchFamily="34" charset="-120"/>
                        </a:rPr>
                        <a:t>TBD</a:t>
                      </a:r>
                      <a:endParaRPr lang="en-US" sz="850" dirty="0">
                        <a:latin typeface="Calibri" charset="0"/>
                        <a:ea typeface="Calibri" charset="0"/>
                        <a:cs typeface="Calibri" charset="0"/>
                      </a:endParaRPr>
                    </a:p>
                  </a:txBody>
                  <a:tcPr marL="0"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24028">
                <a:tc>
                  <a:txBody>
                    <a:bodyPr/>
                    <a:lstStyle/>
                    <a:p>
                      <a:pPr marL="0" indent="0">
                        <a:buNone/>
                      </a:pPr>
                      <a:r>
                        <a:rPr lang="en-US" sz="900" b="1" dirty="0">
                          <a:solidFill>
                            <a:srgbClr val="0B2545"/>
                          </a:solidFill>
                          <a:latin typeface="Calibri" pitchFamily="34" charset="0"/>
                          <a:ea typeface="Calibri" pitchFamily="34" charset="-122"/>
                          <a:cs typeface="Calibri" pitchFamily="34" charset="-120"/>
                        </a:rPr>
                        <a:t>Collection Risk</a:t>
                      </a:r>
                      <a:endParaRPr lang="en-US" sz="90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EEF3FA"/>
                    </a:solidFill>
                  </a:tcPr>
                </a:tc>
                <a:tc>
                  <a:txBody>
                    <a:bodyPr/>
                    <a:lstStyle/>
                    <a:p>
                      <a:pPr marL="0" indent="0">
                        <a:buNone/>
                      </a:pPr>
                      <a:r>
                        <a:rPr lang="en-US" sz="900" dirty="0">
                          <a:solidFill>
                            <a:srgbClr val="33475B"/>
                          </a:solidFill>
                          <a:latin typeface="Calibri" pitchFamily="34" charset="0"/>
                          <a:ea typeface="Calibri" pitchFamily="34" charset="-122"/>
                          <a:cs typeface="Calibri" pitchFamily="34" charset="-120"/>
                        </a:rPr>
                        <a:t>AR Aging + Payment History</a:t>
                      </a:r>
                      <a:endParaRPr lang="en-US" sz="90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EEF3FA"/>
                    </a:solidFill>
                  </a:tcPr>
                </a:tc>
                <a:tc>
                  <a:txBody>
                    <a:bodyPr/>
                    <a:lstStyle/>
                    <a:p>
                      <a:pPr marL="0" indent="0" algn="ctr">
                        <a:buNone/>
                      </a:pPr>
                      <a:r>
                        <a:rPr lang="en-US" sz="850" b="1" dirty="0">
                          <a:solidFill>
                            <a:srgbClr val="1F4E8C"/>
                          </a:solidFill>
                          <a:latin typeface="Calibri" pitchFamily="34" charset="0"/>
                          <a:ea typeface="Calibri" pitchFamily="34" charset="-122"/>
                          <a:cs typeface="Calibri" pitchFamily="34" charset="-120"/>
                        </a:rPr>
                        <a:t>TBD</a:t>
                      </a:r>
                      <a:endParaRPr lang="en-US" sz="850" dirty="0">
                        <a:latin typeface="Calibri" charset="0"/>
                        <a:ea typeface="Calibri" charset="0"/>
                        <a:cs typeface="Calibri" charset="0"/>
                      </a:endParaRPr>
                    </a:p>
                  </a:txBody>
                  <a:tcPr marL="0"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EEF3FA"/>
                    </a:solidFill>
                  </a:tcPr>
                </a:tc>
                <a:extLst>
                  <a:ext uri="{0D108BD9-81ED-4DB2-BD59-A6C34878D82A}">
                    <a16:rowId xmlns:a16="http://schemas.microsoft.com/office/drawing/2014/main" val="10003"/>
                  </a:ext>
                </a:extLst>
              </a:tr>
              <a:tr h="224028">
                <a:tc>
                  <a:txBody>
                    <a:bodyPr/>
                    <a:lstStyle/>
                    <a:p>
                      <a:pPr marL="0" indent="0">
                        <a:buNone/>
                      </a:pPr>
                      <a:r>
                        <a:rPr lang="en-US" sz="900" b="1" dirty="0">
                          <a:solidFill>
                            <a:srgbClr val="0B2545"/>
                          </a:solidFill>
                          <a:latin typeface="Calibri" pitchFamily="34" charset="0"/>
                          <a:ea typeface="Calibri" pitchFamily="34" charset="-122"/>
                          <a:cs typeface="Calibri" pitchFamily="34" charset="-120"/>
                        </a:rPr>
                        <a:t>Renewal Risk</a:t>
                      </a:r>
                      <a:endParaRPr lang="en-US" sz="90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FFFFFF"/>
                    </a:solidFill>
                  </a:tcPr>
                </a:tc>
                <a:tc>
                  <a:txBody>
                    <a:bodyPr/>
                    <a:lstStyle/>
                    <a:p>
                      <a:pPr marL="0" indent="0">
                        <a:buNone/>
                      </a:pPr>
                      <a:r>
                        <a:rPr lang="en-US" sz="900" dirty="0">
                          <a:solidFill>
                            <a:srgbClr val="33475B"/>
                          </a:solidFill>
                          <a:latin typeface="Calibri" pitchFamily="34" charset="0"/>
                          <a:ea typeface="Calibri" pitchFamily="34" charset="-122"/>
                          <a:cs typeface="Calibri" pitchFamily="34" charset="-120"/>
                        </a:rPr>
                        <a:t>Renewal Outcomes + Contract Events</a:t>
                      </a:r>
                      <a:endParaRPr lang="en-US" sz="90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F4E8C"/>
                          </a:solidFill>
                          <a:latin typeface="Calibri" pitchFamily="34" charset="0"/>
                          <a:ea typeface="Calibri" pitchFamily="34" charset="-122"/>
                          <a:cs typeface="Calibri" pitchFamily="34" charset="-120"/>
                        </a:rPr>
                        <a:t>TBD</a:t>
                      </a:r>
                      <a:endParaRPr lang="en-US" sz="850" dirty="0">
                        <a:latin typeface="Calibri" charset="0"/>
                        <a:ea typeface="Calibri" charset="0"/>
                        <a:cs typeface="Calibri" charset="0"/>
                      </a:endParaRPr>
                    </a:p>
                  </a:txBody>
                  <a:tcPr marL="0"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4" name="Text 10"/>
          <p:cNvSpPr txBox="1"/>
          <p:nvPr/>
        </p:nvSpPr>
        <p:spPr>
          <a:xfrm>
            <a:off x="548640" y="4741164"/>
            <a:ext cx="5029200" cy="201168"/>
          </a:xfrm>
          <a:prstGeom prst="rect">
            <a:avLst/>
          </a:prstGeom>
          <a:noFill/>
          <a:ln/>
        </p:spPr>
        <p:txBody>
          <a:bodyPr wrap="square" lIns="0" tIns="0" rIns="0" bIns="0" rtlCol="0" anchor="ctr"/>
          <a:lstStyle/>
          <a:p>
            <a:pPr marL="0" indent="0">
              <a:buNone/>
            </a:pPr>
            <a:r>
              <a:rPr lang="en-US" sz="1000" b="1" dirty="0">
                <a:solidFill>
                  <a:srgbClr val="0B2545"/>
                </a:solidFill>
                <a:latin typeface="Calibri" pitchFamily="34" charset="0"/>
                <a:ea typeface="Calibri" pitchFamily="34" charset="-122"/>
                <a:cs typeface="Calibri" pitchFamily="34" charset="-120"/>
              </a:rPr>
              <a:t>3  ·  Commercial Recommendation Readiness</a:t>
            </a:r>
            <a:endParaRPr lang="en-US" sz="1000" dirty="0"/>
          </a:p>
        </p:txBody>
      </p:sp>
      <p:sp>
        <p:nvSpPr>
          <p:cNvPr id="15" name="Text 11"/>
          <p:cNvSpPr txBox="1"/>
          <p:nvPr/>
        </p:nvSpPr>
        <p:spPr>
          <a:xfrm>
            <a:off x="5577840" y="4741164"/>
            <a:ext cx="2286000" cy="201168"/>
          </a:xfrm>
          <a:prstGeom prst="rect">
            <a:avLst/>
          </a:prstGeom>
          <a:noFill/>
          <a:ln/>
        </p:spPr>
        <p:txBody>
          <a:bodyPr wrap="square" lIns="0" tIns="0" rIns="0" bIns="0" rtlCol="0" anchor="ctr"/>
          <a:lstStyle/>
          <a:p>
            <a:pPr marL="0" indent="0" algn="r">
              <a:buNone/>
            </a:pPr>
            <a:r>
              <a:rPr lang="en-US" sz="900" i="1" dirty="0">
                <a:solidFill>
                  <a:srgbClr val="5B6B7F"/>
                </a:solidFill>
                <a:latin typeface="Calibri" pitchFamily="34" charset="0"/>
                <a:ea typeface="Calibri" pitchFamily="34" charset="-122"/>
                <a:cs typeface="Calibri" pitchFamily="34" charset="-120"/>
              </a:rPr>
              <a:t>What should we do?</a:t>
            </a:r>
            <a:endParaRPr lang="en-US" sz="900" dirty="0"/>
          </a:p>
        </p:txBody>
      </p:sp>
      <p:graphicFrame>
        <p:nvGraphicFramePr>
          <p:cNvPr id="34" name="Table 2"/>
          <p:cNvGraphicFramePr>
            <a:graphicFrameLocks noGrp="1"/>
          </p:cNvGraphicFramePr>
          <p:nvPr>
            <p:extLst>
              <p:ext uri="{D42A27DB-BD31-4B8C-83A1-F6EECF244321}">
                <p14:modId xmlns:p14="http://schemas.microsoft.com/office/powerpoint/2010/main" val="1579011935"/>
              </p:ext>
            </p:extLst>
          </p:nvPr>
        </p:nvGraphicFramePr>
        <p:xfrm>
          <a:off x="548640" y="4969764"/>
          <a:ext cx="7315200" cy="914400"/>
        </p:xfrm>
        <a:graphic>
          <a:graphicData uri="http://schemas.openxmlformats.org/drawingml/2006/table">
            <a:tbl>
              <a:tblPr/>
              <a:tblGrid>
                <a:gridCol w="21488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tblGrid>
              <a:tr h="224028">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Capability</a:t>
                      </a:r>
                      <a:endParaRPr lang="en-US" sz="85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0B2545"/>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Required Data</a:t>
                      </a:r>
                      <a:endParaRPr lang="en-US" sz="85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0B2545"/>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Status</a:t>
                      </a:r>
                      <a:endParaRPr lang="en-US" sz="850" dirty="0">
                        <a:latin typeface="Calibri" charset="0"/>
                        <a:ea typeface="Calibri" charset="0"/>
                        <a:cs typeface="Calibri" charset="0"/>
                      </a:endParaRPr>
                    </a:p>
                  </a:txBody>
                  <a:tcPr marL="0"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224028">
                <a:tc>
                  <a:txBody>
                    <a:bodyPr/>
                    <a:lstStyle/>
                    <a:p>
                      <a:pPr marL="0" indent="0">
                        <a:buNone/>
                      </a:pPr>
                      <a:r>
                        <a:rPr lang="en-US" sz="900" b="1" dirty="0">
                          <a:solidFill>
                            <a:srgbClr val="0B2545"/>
                          </a:solidFill>
                          <a:latin typeface="Calibri" pitchFamily="34" charset="0"/>
                          <a:ea typeface="Calibri" pitchFamily="34" charset="-122"/>
                          <a:cs typeface="Calibri" pitchFamily="34" charset="-120"/>
                        </a:rPr>
                        <a:t>Repricing Recommendation</a:t>
                      </a:r>
                      <a:endParaRPr lang="en-US" sz="90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EEF3FA"/>
                    </a:solidFill>
                  </a:tcPr>
                </a:tc>
                <a:tc>
                  <a:txBody>
                    <a:bodyPr/>
                    <a:lstStyle/>
                    <a:p>
                      <a:pPr marL="0" indent="0">
                        <a:buNone/>
                      </a:pPr>
                      <a:r>
                        <a:rPr lang="en-US" sz="900" dirty="0">
                          <a:solidFill>
                            <a:srgbClr val="33475B"/>
                          </a:solidFill>
                          <a:latin typeface="Calibri" pitchFamily="34" charset="0"/>
                          <a:ea typeface="Calibri" pitchFamily="34" charset="-122"/>
                          <a:cs typeface="Calibri" pitchFamily="34" charset="-120"/>
                        </a:rPr>
                        <a:t>Pricing History + Margin History</a:t>
                      </a:r>
                      <a:endParaRPr lang="en-US" sz="90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EEF3FA"/>
                    </a:solidFill>
                  </a:tcPr>
                </a:tc>
                <a:tc>
                  <a:txBody>
                    <a:bodyPr/>
                    <a:lstStyle/>
                    <a:p>
                      <a:pPr marL="0" indent="0" algn="ctr">
                        <a:buNone/>
                      </a:pPr>
                      <a:r>
                        <a:rPr lang="en-US" sz="850" b="1" dirty="0">
                          <a:solidFill>
                            <a:srgbClr val="1F4E8C"/>
                          </a:solidFill>
                          <a:latin typeface="Calibri" pitchFamily="34" charset="0"/>
                          <a:ea typeface="Calibri" pitchFamily="34" charset="-122"/>
                          <a:cs typeface="Calibri" pitchFamily="34" charset="-120"/>
                        </a:rPr>
                        <a:t>TBD</a:t>
                      </a:r>
                      <a:endParaRPr lang="en-US" sz="850" dirty="0">
                        <a:latin typeface="Calibri" charset="0"/>
                        <a:ea typeface="Calibri" charset="0"/>
                        <a:cs typeface="Calibri" charset="0"/>
                      </a:endParaRPr>
                    </a:p>
                  </a:txBody>
                  <a:tcPr marL="0"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EEF3FA"/>
                    </a:solidFill>
                  </a:tcPr>
                </a:tc>
                <a:extLst>
                  <a:ext uri="{0D108BD9-81ED-4DB2-BD59-A6C34878D82A}">
                    <a16:rowId xmlns:a16="http://schemas.microsoft.com/office/drawing/2014/main" val="10001"/>
                  </a:ext>
                </a:extLst>
              </a:tr>
              <a:tr h="224028">
                <a:tc>
                  <a:txBody>
                    <a:bodyPr/>
                    <a:lstStyle/>
                    <a:p>
                      <a:pPr marL="0" indent="0">
                        <a:buNone/>
                      </a:pPr>
                      <a:r>
                        <a:rPr lang="en-US" sz="900" b="1" dirty="0">
                          <a:solidFill>
                            <a:srgbClr val="0B2545"/>
                          </a:solidFill>
                          <a:latin typeface="Calibri" pitchFamily="34" charset="0"/>
                          <a:ea typeface="Calibri" pitchFamily="34" charset="-122"/>
                          <a:cs typeface="Calibri" pitchFamily="34" charset="-120"/>
                        </a:rPr>
                        <a:t>Renewal Strategy</a:t>
                      </a:r>
                      <a:endParaRPr lang="en-US" sz="90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FFFFFF"/>
                    </a:solidFill>
                  </a:tcPr>
                </a:tc>
                <a:tc>
                  <a:txBody>
                    <a:bodyPr/>
                    <a:lstStyle/>
                    <a:p>
                      <a:pPr marL="0" indent="0">
                        <a:buNone/>
                      </a:pPr>
                      <a:r>
                        <a:rPr lang="en-US" sz="900" dirty="0">
                          <a:solidFill>
                            <a:srgbClr val="33475B"/>
                          </a:solidFill>
                          <a:latin typeface="Calibri" pitchFamily="34" charset="0"/>
                          <a:ea typeface="Calibri" pitchFamily="34" charset="-122"/>
                          <a:cs typeface="Calibri" pitchFamily="34" charset="-120"/>
                        </a:rPr>
                        <a:t>Customer Performance + Renewal Outcomes</a:t>
                      </a:r>
                      <a:endParaRPr lang="en-US" sz="90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F4E8C"/>
                          </a:solidFill>
                          <a:latin typeface="Calibri" pitchFamily="34" charset="0"/>
                          <a:ea typeface="Calibri" pitchFamily="34" charset="-122"/>
                          <a:cs typeface="Calibri" pitchFamily="34" charset="-120"/>
                        </a:rPr>
                        <a:t>TBD</a:t>
                      </a:r>
                      <a:endParaRPr lang="en-US" sz="850" dirty="0">
                        <a:latin typeface="Calibri" charset="0"/>
                        <a:ea typeface="Calibri" charset="0"/>
                        <a:cs typeface="Calibri" charset="0"/>
                      </a:endParaRPr>
                    </a:p>
                  </a:txBody>
                  <a:tcPr marL="0"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24028">
                <a:tc>
                  <a:txBody>
                    <a:bodyPr/>
                    <a:lstStyle/>
                    <a:p>
                      <a:pPr marL="0" indent="0">
                        <a:buNone/>
                      </a:pPr>
                      <a:r>
                        <a:rPr lang="en-US" sz="900" b="1" dirty="0">
                          <a:solidFill>
                            <a:srgbClr val="0B2545"/>
                          </a:solidFill>
                          <a:latin typeface="Calibri" pitchFamily="34" charset="0"/>
                          <a:ea typeface="Calibri" pitchFamily="34" charset="-122"/>
                          <a:cs typeface="Calibri" pitchFamily="34" charset="-120"/>
                        </a:rPr>
                        <a:t>Commercial Optimization</a:t>
                      </a:r>
                      <a:endParaRPr lang="en-US" sz="90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EEF3FA"/>
                    </a:solidFill>
                  </a:tcPr>
                </a:tc>
                <a:tc>
                  <a:txBody>
                    <a:bodyPr/>
                    <a:lstStyle/>
                    <a:p>
                      <a:pPr marL="0" indent="0">
                        <a:buNone/>
                      </a:pPr>
                      <a:r>
                        <a:rPr lang="en-US" sz="900" dirty="0">
                          <a:solidFill>
                            <a:srgbClr val="33475B"/>
                          </a:solidFill>
                          <a:latin typeface="Calibri" pitchFamily="34" charset="0"/>
                          <a:ea typeface="Calibri" pitchFamily="34" charset="-122"/>
                          <a:cs typeface="Calibri" pitchFamily="34" charset="-120"/>
                        </a:rPr>
                        <a:t>Contract Structure + Billing Structure</a:t>
                      </a:r>
                      <a:endParaRPr lang="en-US" sz="900" dirty="0">
                        <a:latin typeface="Calibri" charset="0"/>
                        <a:ea typeface="Calibri" charset="0"/>
                        <a:cs typeface="Calibri" charset="0"/>
                      </a:endParaRPr>
                    </a:p>
                  </a:txBody>
                  <a:tcPr marL="73152"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EEF3FA"/>
                    </a:solidFill>
                  </a:tcPr>
                </a:tc>
                <a:tc>
                  <a:txBody>
                    <a:bodyPr/>
                    <a:lstStyle/>
                    <a:p>
                      <a:pPr marL="0" indent="0" algn="ctr">
                        <a:buNone/>
                      </a:pPr>
                      <a:r>
                        <a:rPr lang="en-US" sz="850" b="1" dirty="0">
                          <a:solidFill>
                            <a:srgbClr val="1F4E8C"/>
                          </a:solidFill>
                          <a:latin typeface="Calibri" pitchFamily="34" charset="0"/>
                          <a:ea typeface="Calibri" pitchFamily="34" charset="-122"/>
                          <a:cs typeface="Calibri" pitchFamily="34" charset="-120"/>
                        </a:rPr>
                        <a:t>TBD</a:t>
                      </a:r>
                      <a:endParaRPr lang="en-US" sz="850" dirty="0">
                        <a:latin typeface="Calibri" charset="0"/>
                        <a:ea typeface="Calibri" charset="0"/>
                        <a:cs typeface="Calibri" charset="0"/>
                      </a:endParaRPr>
                    </a:p>
                  </a:txBody>
                  <a:tcPr marL="0" marR="0" marT="0" marB="0" anchor="ctr">
                    <a:lnL w="6350" cap="flat" cmpd="sng" algn="ctr">
                      <a:solidFill>
                        <a:srgbClr val="C9D6E6"/>
                      </a:solidFill>
                      <a:prstDash val="solid"/>
                      <a:round/>
                      <a:headEnd type="none" w="med" len="med"/>
                      <a:tailEnd type="none" w="med" len="med"/>
                    </a:lnL>
                    <a:lnR w="6350" cap="flat" cmpd="sng" algn="ctr">
                      <a:solidFill>
                        <a:srgbClr val="C9D6E6"/>
                      </a:solidFill>
                      <a:prstDash val="solid"/>
                      <a:round/>
                      <a:headEnd type="none" w="med" len="med"/>
                      <a:tailEnd type="none" w="med" len="med"/>
                    </a:lnR>
                    <a:lnT w="6350" cap="flat" cmpd="sng" algn="ctr">
                      <a:solidFill>
                        <a:srgbClr val="C9D6E6"/>
                      </a:solidFill>
                      <a:prstDash val="solid"/>
                      <a:round/>
                      <a:headEnd type="none" w="med" len="med"/>
                      <a:tailEnd type="none" w="med" len="med"/>
                    </a:lnT>
                    <a:lnB w="6350" cap="flat" cmpd="sng" algn="ctr">
                      <a:solidFill>
                        <a:srgbClr val="C9D6E6"/>
                      </a:solidFill>
                      <a:prstDash val="solid"/>
                      <a:round/>
                      <a:headEnd type="none" w="med" len="med"/>
                      <a:tailEnd type="none" w="med" len="med"/>
                    </a:lnB>
                    <a:solidFill>
                      <a:srgbClr val="EEF3FA"/>
                    </a:solidFill>
                  </a:tcPr>
                </a:tc>
                <a:extLst>
                  <a:ext uri="{0D108BD9-81ED-4DB2-BD59-A6C34878D82A}">
                    <a16:rowId xmlns:a16="http://schemas.microsoft.com/office/drawing/2014/main" val="10003"/>
                  </a:ext>
                </a:extLst>
              </a:tr>
            </a:tbl>
          </a:graphicData>
        </a:graphic>
      </p:graphicFrame>
      <p:sp>
        <p:nvSpPr>
          <p:cNvPr id="17" name="Shape 12"/>
          <p:cNvSpPr/>
          <p:nvPr/>
        </p:nvSpPr>
        <p:spPr>
          <a:xfrm>
            <a:off x="8138160" y="1600200"/>
            <a:ext cx="3474720" cy="4265676"/>
          </a:xfrm>
          <a:prstGeom prst="roundRect">
            <a:avLst>
              <a:gd name="adj" fmla="val 2105"/>
            </a:avLst>
          </a:prstGeom>
          <a:solidFill>
            <a:srgbClr val="0B2545"/>
          </a:solidFill>
          <a:ln w="12700">
            <a:solidFill>
              <a:srgbClr val="0B2545"/>
            </a:solidFill>
            <a:prstDash val="solid"/>
          </a:ln>
        </p:spPr>
      </p:sp>
      <p:sp>
        <p:nvSpPr>
          <p:cNvPr id="18" name="Text 13"/>
          <p:cNvSpPr txBox="1"/>
          <p:nvPr/>
        </p:nvSpPr>
        <p:spPr>
          <a:xfrm>
            <a:off x="8366760" y="1801368"/>
            <a:ext cx="3017520" cy="219456"/>
          </a:xfrm>
          <a:prstGeom prst="rect">
            <a:avLst/>
          </a:prstGeom>
          <a:noFill/>
          <a:ln/>
        </p:spPr>
        <p:txBody>
          <a:bodyPr wrap="square" lIns="0" tIns="0" rIns="0" bIns="0" rtlCol="0" anchor="ctr"/>
          <a:lstStyle/>
          <a:p>
            <a:pPr marL="0" indent="0">
              <a:buNone/>
            </a:pPr>
            <a:r>
              <a:rPr lang="en-US" sz="850" b="1" kern="0" spc="200" dirty="0">
                <a:solidFill>
                  <a:srgbClr val="8DA9C4"/>
                </a:solidFill>
                <a:latin typeface="Calibri" pitchFamily="34" charset="0"/>
                <a:ea typeface="Calibri" pitchFamily="34" charset="-122"/>
                <a:cs typeface="Calibri" pitchFamily="34" charset="-120"/>
              </a:rPr>
              <a:t>KEY DATA VALIDATION QUESTIONS</a:t>
            </a:r>
            <a:endParaRPr lang="en-US" sz="850" dirty="0"/>
          </a:p>
        </p:txBody>
      </p:sp>
      <p:sp>
        <p:nvSpPr>
          <p:cNvPr id="19" name="Text 14"/>
          <p:cNvSpPr txBox="1"/>
          <p:nvPr/>
        </p:nvSpPr>
        <p:spPr>
          <a:xfrm>
            <a:off x="8366760" y="2103120"/>
            <a:ext cx="3017520" cy="201168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D9E4F2"/>
                </a:solidFill>
                <a:latin typeface="Calibri" pitchFamily="34" charset="0"/>
                <a:ea typeface="Calibri" pitchFamily="34" charset="-122"/>
                <a:cs typeface="Calibri" pitchFamily="34" charset="-120"/>
              </a:rPr>
              <a:t>Are cost data available at Customer level?</a:t>
            </a:r>
            <a:endParaRPr lang="en-US" sz="1000" dirty="0"/>
          </a:p>
          <a:p>
            <a:pPr marL="342900" indent="-342900">
              <a:spcAft>
                <a:spcPts val="400"/>
              </a:spcAft>
              <a:buSzPct val="100000"/>
              <a:buChar char="•"/>
            </a:pPr>
            <a:r>
              <a:rPr lang="en-US" sz="1000" dirty="0">
                <a:solidFill>
                  <a:srgbClr val="D9E4F2"/>
                </a:solidFill>
                <a:latin typeface="Calibri" pitchFamily="34" charset="0"/>
                <a:ea typeface="Calibri" pitchFamily="34" charset="-122"/>
                <a:cs typeface="Calibri" pitchFamily="34" charset="-120"/>
              </a:rPr>
              <a:t>Are cost data available at Country level?</a:t>
            </a:r>
            <a:endParaRPr lang="en-US" sz="1000" dirty="0"/>
          </a:p>
          <a:p>
            <a:pPr marL="342900" indent="-342900">
              <a:spcAft>
                <a:spcPts val="400"/>
              </a:spcAft>
              <a:buSzPct val="100000"/>
              <a:buChar char="•"/>
            </a:pPr>
            <a:r>
              <a:rPr lang="en-US" sz="1000" dirty="0">
                <a:solidFill>
                  <a:srgbClr val="D9E4F2"/>
                </a:solidFill>
                <a:latin typeface="Calibri" pitchFamily="34" charset="0"/>
                <a:ea typeface="Calibri" pitchFamily="34" charset="-122"/>
                <a:cs typeface="Calibri" pitchFamily="34" charset="-120"/>
              </a:rPr>
              <a:t>Can profitability be measured at Tranche level?</a:t>
            </a:r>
            <a:endParaRPr lang="en-US" sz="1000" dirty="0"/>
          </a:p>
          <a:p>
            <a:pPr marL="342900" indent="-342900">
              <a:spcAft>
                <a:spcPts val="400"/>
              </a:spcAft>
              <a:buSzPct val="100000"/>
              <a:buChar char="•"/>
            </a:pPr>
            <a:r>
              <a:rPr lang="en-US" sz="1000" dirty="0">
                <a:solidFill>
                  <a:srgbClr val="D9E4F2"/>
                </a:solidFill>
                <a:latin typeface="Calibri" pitchFamily="34" charset="0"/>
                <a:ea typeface="Calibri" pitchFamily="34" charset="-122"/>
                <a:cs typeface="Calibri" pitchFamily="34" charset="-120"/>
              </a:rPr>
              <a:t>Is pricing history available?</a:t>
            </a:r>
            <a:endParaRPr lang="en-US" sz="1000" dirty="0"/>
          </a:p>
          <a:p>
            <a:pPr marL="342900" indent="-342900">
              <a:spcAft>
                <a:spcPts val="400"/>
              </a:spcAft>
              <a:buSzPct val="100000"/>
              <a:buChar char="•"/>
            </a:pPr>
            <a:r>
              <a:rPr lang="en-US" sz="1000" dirty="0">
                <a:solidFill>
                  <a:srgbClr val="D9E4F2"/>
                </a:solidFill>
                <a:latin typeface="Calibri" pitchFamily="34" charset="0"/>
                <a:ea typeface="Calibri" pitchFamily="34" charset="-122"/>
                <a:cs typeface="Calibri" pitchFamily="34" charset="-120"/>
              </a:rPr>
              <a:t>How many years of historical data are available?</a:t>
            </a:r>
            <a:endParaRPr lang="en-US" sz="1000" dirty="0"/>
          </a:p>
        </p:txBody>
      </p:sp>
      <p:sp>
        <p:nvSpPr>
          <p:cNvPr id="20" name="Shape 15"/>
          <p:cNvSpPr/>
          <p:nvPr/>
        </p:nvSpPr>
        <p:spPr>
          <a:xfrm>
            <a:off x="8366760" y="4265676"/>
            <a:ext cx="3017520" cy="0"/>
          </a:xfrm>
          <a:prstGeom prst="line">
            <a:avLst/>
          </a:prstGeom>
          <a:noFill/>
          <a:ln w="12700">
            <a:solidFill>
              <a:srgbClr val="2E4C77"/>
            </a:solidFill>
            <a:prstDash val="solid"/>
          </a:ln>
        </p:spPr>
      </p:sp>
      <p:sp>
        <p:nvSpPr>
          <p:cNvPr id="21" name="Text 16"/>
          <p:cNvSpPr txBox="1"/>
          <p:nvPr/>
        </p:nvSpPr>
        <p:spPr>
          <a:xfrm>
            <a:off x="8366760" y="4384548"/>
            <a:ext cx="3017520" cy="219456"/>
          </a:xfrm>
          <a:prstGeom prst="rect">
            <a:avLst/>
          </a:prstGeom>
          <a:noFill/>
          <a:ln/>
        </p:spPr>
        <p:txBody>
          <a:bodyPr wrap="square" lIns="0" tIns="0" rIns="0" bIns="0" rtlCol="0" anchor="ctr"/>
          <a:lstStyle/>
          <a:p>
            <a:pPr marL="0" indent="0">
              <a:buNone/>
            </a:pPr>
            <a:r>
              <a:rPr lang="en-US" sz="850" b="1" kern="0" spc="200" dirty="0">
                <a:solidFill>
                  <a:srgbClr val="8DA9C4"/>
                </a:solidFill>
                <a:latin typeface="Calibri" pitchFamily="34" charset="0"/>
                <a:ea typeface="Calibri" pitchFamily="34" charset="-122"/>
                <a:cs typeface="Calibri" pitchFamily="34" charset="-120"/>
              </a:rPr>
              <a:t>EXECUTIVE TAKEAWAY</a:t>
            </a:r>
            <a:endParaRPr lang="en-US" sz="850" dirty="0"/>
          </a:p>
        </p:txBody>
      </p:sp>
      <p:sp>
        <p:nvSpPr>
          <p:cNvPr id="22" name="Text 17"/>
          <p:cNvSpPr txBox="1"/>
          <p:nvPr/>
        </p:nvSpPr>
        <p:spPr>
          <a:xfrm>
            <a:off x="8366760" y="4631436"/>
            <a:ext cx="3017520" cy="1051560"/>
          </a:xfrm>
          <a:prstGeom prst="rect">
            <a:avLst/>
          </a:prstGeom>
          <a:noFill/>
          <a:ln/>
        </p:spPr>
        <p:txBody>
          <a:bodyPr wrap="square" lIns="0" tIns="0" rIns="0" bIns="0" rtlCol="0" anchor="t"/>
          <a:lstStyle/>
          <a:p>
            <a:pPr marL="0" indent="0">
              <a:buNone/>
            </a:pPr>
            <a:r>
              <a:rPr lang="en-US" sz="1050" b="1" dirty="0">
                <a:solidFill>
                  <a:srgbClr val="FFFFFF"/>
                </a:solidFill>
                <a:latin typeface="Calibri" pitchFamily="34" charset="0"/>
                <a:ea typeface="Calibri" pitchFamily="34" charset="-122"/>
                <a:cs typeface="Calibri" pitchFamily="34" charset="-120"/>
              </a:rPr>
              <a:t>Revenue data is likely available. </a:t>
            </a:r>
            <a:r>
              <a:rPr lang="en-US" sz="1050" dirty="0">
                <a:solidFill>
                  <a:srgbClr val="D9E4F2"/>
                </a:solidFill>
                <a:latin typeface="Calibri" pitchFamily="34" charset="0"/>
                <a:ea typeface="Calibri" pitchFamily="34" charset="-122"/>
                <a:cs typeface="Calibri" pitchFamily="34" charset="-120"/>
              </a:rPr>
              <a:t>Cost attribution, profitability allocation and pricing history are expected to be the biggest readiness challenges.</a:t>
            </a:r>
            <a:endParaRPr lang="en-US" sz="1050" dirty="0"/>
          </a:p>
        </p:txBody>
      </p:sp>
      <p:sp>
        <p:nvSpPr>
          <p:cNvPr id="13" name="Text 18"/>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900" dirty="0">
                <a:solidFill>
                  <a:srgbClr val="9AA8B8"/>
                </a:solidFill>
                <a:latin typeface="Calibri" pitchFamily="34" charset="0"/>
                <a:ea typeface="Calibri" pitchFamily="34" charset="-122"/>
                <a:cs typeface="Calibri" pitchFamily="34" charset="-120"/>
              </a:rPr>
              <a:t>Nexbill Financial Intelligence Platform</a:t>
            </a:r>
            <a:endParaRPr lang="en-US" sz="900" dirty="0"/>
          </a:p>
        </p:txBody>
      </p:sp>
      <p:sp>
        <p:nvSpPr>
          <p:cNvPr id="24" name="Text 19"/>
          <p:cNvSpPr txBox="1"/>
          <p:nvPr/>
        </p:nvSpPr>
        <p:spPr>
          <a:xfrm>
            <a:off x="11064240" y="6400800"/>
            <a:ext cx="548640" cy="274320"/>
          </a:xfrm>
          <a:prstGeom prst="rect">
            <a:avLst/>
          </a:prstGeom>
          <a:noFill/>
          <a:ln/>
        </p:spPr>
        <p:txBody>
          <a:bodyPr wrap="square" lIns="0" tIns="0" rIns="0" bIns="0" rtlCol="0" anchor="ctr"/>
          <a:lstStyle/>
          <a:p>
            <a:pPr marL="0" indent="0" algn="r">
              <a:buNone/>
            </a:pPr>
            <a:r>
              <a:rPr lang="en-US" sz="900" dirty="0">
                <a:solidFill>
                  <a:srgbClr val="9AA8B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Stakeholder &amp; Data Ownership Assessment</a:t>
            </a:r>
            <a:endParaRPr lang="en-US" sz="3000" dirty="0"/>
          </a:p>
        </p:txBody>
      </p:sp>
      <p:sp>
        <p:nvSpPr>
          <p:cNvPr id="3" name="Text 1"/>
          <p:cNvSpPr txBox="1"/>
          <p:nvPr/>
        </p:nvSpPr>
        <p:spPr>
          <a:xfrm>
            <a:off x="548640" y="1078992"/>
            <a:ext cx="8595360" cy="502920"/>
          </a:xfrm>
          <a:prstGeom prst="rect">
            <a:avLst/>
          </a:prstGeom>
          <a:noFill/>
          <a:ln/>
        </p:spPr>
        <p:txBody>
          <a:bodyPr wrap="square" lIns="0" tIns="0" rIns="0" bIns="0" rtlCol="0" anchor="t"/>
          <a:lstStyle/>
          <a:p>
            <a:pPr marL="0" indent="0">
              <a:buNone/>
            </a:pPr>
            <a:r>
              <a:rPr lang="en-US" sz="1500" i="1" dirty="0">
                <a:solidFill>
                  <a:srgbClr val="5B6B7F"/>
                </a:solidFill>
                <a:latin typeface="Calibri" pitchFamily="34" charset="0"/>
                <a:ea typeface="Calibri" pitchFamily="34" charset="-122"/>
                <a:cs typeface="Calibri" pitchFamily="34" charset="-120"/>
              </a:rPr>
              <a:t>Identify the organizational roles required to validate assumptions, data availability and business priorities — who to engage next.</a:t>
            </a:r>
            <a:endParaRPr lang="en-US" sz="1500" dirty="0"/>
          </a:p>
        </p:txBody>
      </p:sp>
      <p:sp>
        <p:nvSpPr>
          <p:cNvPr id="4" name="Shape 2"/>
          <p:cNvSpPr/>
          <p:nvPr/>
        </p:nvSpPr>
        <p:spPr>
          <a:xfrm>
            <a:off x="10819181" y="438912"/>
            <a:ext cx="793699" cy="256032"/>
          </a:xfrm>
          <a:prstGeom prst="rect">
            <a:avLst/>
          </a:prstGeom>
          <a:solidFill>
            <a:srgbClr val="0B2545"/>
          </a:solidFill>
          <a:ln w="12700">
            <a:solidFill>
              <a:srgbClr val="0B2545"/>
            </a:solidFill>
            <a:prstDash val="solid"/>
          </a:ln>
        </p:spPr>
      </p:sp>
      <p:sp>
        <p:nvSpPr>
          <p:cNvPr id="5" name="Text 3"/>
          <p:cNvSpPr txBox="1"/>
          <p:nvPr/>
        </p:nvSpPr>
        <p:spPr>
          <a:xfrm>
            <a:off x="10819181" y="438912"/>
            <a:ext cx="793699"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latin typeface="Calibri" pitchFamily="34" charset="0"/>
                <a:ea typeface="Calibri" pitchFamily="34" charset="-122"/>
                <a:cs typeface="Calibri" pitchFamily="34" charset="-120"/>
              </a:rPr>
              <a:t>BACKUP</a:t>
            </a:r>
            <a:endParaRPr lang="en-US" sz="850" dirty="0"/>
          </a:p>
        </p:txBody>
      </p:sp>
      <p:sp>
        <p:nvSpPr>
          <p:cNvPr id="6" name="Shape 4"/>
          <p:cNvSpPr/>
          <p:nvPr/>
        </p:nvSpPr>
        <p:spPr>
          <a:xfrm>
            <a:off x="548640" y="1627632"/>
            <a:ext cx="2103120" cy="2788920"/>
          </a:xfrm>
          <a:prstGeom prst="roundRect">
            <a:avLst>
              <a:gd name="adj" fmla="val 3478"/>
            </a:avLst>
          </a:prstGeom>
          <a:solidFill>
            <a:srgbClr val="EEF3FA"/>
          </a:solidFill>
          <a:ln w="9525">
            <a:solidFill>
              <a:srgbClr val="C9D6E6"/>
            </a:solidFill>
            <a:prstDash val="solid"/>
          </a:ln>
        </p:spPr>
      </p:sp>
      <p:sp>
        <p:nvSpPr>
          <p:cNvPr id="7" name="Shape 5"/>
          <p:cNvSpPr/>
          <p:nvPr/>
        </p:nvSpPr>
        <p:spPr>
          <a:xfrm>
            <a:off x="685800" y="1764792"/>
            <a:ext cx="274320" cy="274320"/>
          </a:xfrm>
          <a:prstGeom prst="ellipse">
            <a:avLst/>
          </a:prstGeom>
          <a:solidFill>
            <a:srgbClr val="0B2545"/>
          </a:solidFill>
          <a:ln w="12700">
            <a:solidFill>
              <a:srgbClr val="0B2545"/>
            </a:solidFill>
            <a:prstDash val="solid"/>
          </a:ln>
        </p:spPr>
      </p:sp>
      <p:sp>
        <p:nvSpPr>
          <p:cNvPr id="8" name="Text 6"/>
          <p:cNvSpPr txBox="1"/>
          <p:nvPr/>
        </p:nvSpPr>
        <p:spPr>
          <a:xfrm>
            <a:off x="685800" y="176479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024128" y="1719072"/>
            <a:ext cx="1536192" cy="384048"/>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Business Sponsor</a:t>
            </a:r>
            <a:endParaRPr lang="en-US" sz="1050" dirty="0"/>
          </a:p>
        </p:txBody>
      </p:sp>
      <p:sp>
        <p:nvSpPr>
          <p:cNvPr id="10" name="Text 8"/>
          <p:cNvSpPr txBox="1"/>
          <p:nvPr/>
        </p:nvSpPr>
        <p:spPr>
          <a:xfrm>
            <a:off x="685800" y="2157984"/>
            <a:ext cx="1828800" cy="164592"/>
          </a:xfrm>
          <a:prstGeom prst="rect">
            <a:avLst/>
          </a:prstGeom>
          <a:noFill/>
          <a:ln/>
        </p:spPr>
        <p:txBody>
          <a:bodyPr wrap="square" lIns="0" tIns="0" rIns="0" bIns="0" rtlCol="0" anchor="ctr"/>
          <a:lstStyle/>
          <a:p>
            <a:pPr marL="0" indent="0">
              <a:buNone/>
            </a:pPr>
            <a:r>
              <a:rPr lang="en-US" sz="800" i="1" dirty="0">
                <a:solidFill>
                  <a:srgbClr val="5B6B7F"/>
                </a:solidFill>
                <a:latin typeface="Calibri" pitchFamily="34" charset="0"/>
                <a:ea typeface="Calibri" pitchFamily="34" charset="-122"/>
                <a:cs typeface="Calibri" pitchFamily="34" charset="-120"/>
              </a:rPr>
              <a:t>Role</a:t>
            </a:r>
            <a:endParaRPr lang="en-US" sz="800" dirty="0"/>
          </a:p>
        </p:txBody>
      </p:sp>
      <p:sp>
        <p:nvSpPr>
          <p:cNvPr id="11" name="Text 9"/>
          <p:cNvSpPr txBox="1"/>
          <p:nvPr/>
        </p:nvSpPr>
        <p:spPr>
          <a:xfrm>
            <a:off x="685800" y="2331720"/>
            <a:ext cx="1828800" cy="384048"/>
          </a:xfrm>
          <a:prstGeom prst="rect">
            <a:avLst/>
          </a:prstGeom>
          <a:noFill/>
          <a:ln/>
        </p:spPr>
        <p:txBody>
          <a:bodyPr wrap="square" lIns="0" tIns="0" rIns="0" bIns="0" rtlCol="0" anchor="t"/>
          <a:lstStyle/>
          <a:p>
            <a:pPr marL="0" indent="0">
              <a:buNone/>
            </a:pPr>
            <a:r>
              <a:rPr lang="en-US" sz="800" dirty="0">
                <a:solidFill>
                  <a:srgbClr val="33475B"/>
                </a:solidFill>
                <a:latin typeface="Calibri" pitchFamily="34" charset="0"/>
                <a:ea typeface="Calibri" pitchFamily="34" charset="-122"/>
                <a:cs typeface="Calibri" pitchFamily="34" charset="-120"/>
              </a:rPr>
              <a:t>Business Sponsor</a:t>
            </a:r>
            <a:endParaRPr lang="en-US" sz="800" dirty="0"/>
          </a:p>
        </p:txBody>
      </p:sp>
      <p:sp>
        <p:nvSpPr>
          <p:cNvPr id="12" name="Text 10"/>
          <p:cNvSpPr txBox="1"/>
          <p:nvPr/>
        </p:nvSpPr>
        <p:spPr>
          <a:xfrm>
            <a:off x="685800" y="2752344"/>
            <a:ext cx="1828800" cy="164592"/>
          </a:xfrm>
          <a:prstGeom prst="rect">
            <a:avLst/>
          </a:prstGeom>
          <a:noFill/>
          <a:ln/>
        </p:spPr>
        <p:txBody>
          <a:bodyPr wrap="square" lIns="0" tIns="0" rIns="0" bIns="0" rtlCol="0" anchor="ctr"/>
          <a:lstStyle/>
          <a:p>
            <a:pPr marL="0" indent="0">
              <a:buNone/>
            </a:pPr>
            <a:r>
              <a:rPr lang="en-US" sz="800" i="1" dirty="0">
                <a:solidFill>
                  <a:srgbClr val="5B6B7F"/>
                </a:solidFill>
                <a:latin typeface="Calibri" pitchFamily="34" charset="0"/>
                <a:ea typeface="Calibri" pitchFamily="34" charset="-122"/>
                <a:cs typeface="Calibri" pitchFamily="34" charset="-120"/>
              </a:rPr>
              <a:t>Key questions</a:t>
            </a:r>
            <a:endParaRPr lang="en-US" sz="800" dirty="0"/>
          </a:p>
        </p:txBody>
      </p:sp>
      <p:sp>
        <p:nvSpPr>
          <p:cNvPr id="13" name="Text 11"/>
          <p:cNvSpPr txBox="1"/>
          <p:nvPr/>
        </p:nvSpPr>
        <p:spPr>
          <a:xfrm>
            <a:off x="685800" y="2935224"/>
            <a:ext cx="1847088" cy="932688"/>
          </a:xfrm>
          <a:prstGeom prst="rect">
            <a:avLst/>
          </a:prstGeom>
          <a:noFill/>
          <a:ln/>
        </p:spPr>
        <p:txBody>
          <a:bodyPr wrap="square" lIns="0" tIns="0" rIns="0" bIns="0" rtlCol="0" anchor="t"/>
          <a:lstStyle/>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Is the roadmap direction correct?</a:t>
            </a:r>
            <a:endParaRPr lang="en-US" sz="800" dirty="0"/>
          </a:p>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Phase 1: Insight or Prediction?</a:t>
            </a:r>
            <a:endParaRPr lang="en-US" sz="800" dirty="0"/>
          </a:p>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Is Route B a future phase?</a:t>
            </a:r>
            <a:endParaRPr lang="en-US" sz="800" dirty="0"/>
          </a:p>
        </p:txBody>
      </p:sp>
      <p:sp>
        <p:nvSpPr>
          <p:cNvPr id="14" name="Shape 12"/>
          <p:cNvSpPr/>
          <p:nvPr/>
        </p:nvSpPr>
        <p:spPr>
          <a:xfrm>
            <a:off x="685800" y="3867912"/>
            <a:ext cx="1828800" cy="420624"/>
          </a:xfrm>
          <a:prstGeom prst="rect">
            <a:avLst/>
          </a:prstGeom>
          <a:solidFill>
            <a:srgbClr val="0B2545"/>
          </a:solidFill>
          <a:ln w="12700">
            <a:solidFill>
              <a:srgbClr val="0B2545"/>
            </a:solidFill>
            <a:prstDash val="solid"/>
          </a:ln>
        </p:spPr>
      </p:sp>
      <p:sp>
        <p:nvSpPr>
          <p:cNvPr id="15" name="Text 13"/>
          <p:cNvSpPr txBox="1"/>
          <p:nvPr/>
        </p:nvSpPr>
        <p:spPr>
          <a:xfrm>
            <a:off x="777240" y="3886200"/>
            <a:ext cx="1645920" cy="137160"/>
          </a:xfrm>
          <a:prstGeom prst="rect">
            <a:avLst/>
          </a:prstGeom>
          <a:noFill/>
          <a:ln/>
        </p:spPr>
        <p:txBody>
          <a:bodyPr wrap="square" lIns="0" tIns="0" rIns="0" bIns="0" rtlCol="0" anchor="ctr"/>
          <a:lstStyle/>
          <a:p>
            <a:pPr marL="0" indent="0">
              <a:buNone/>
            </a:pPr>
            <a:r>
              <a:rPr lang="en-US" sz="650" b="1" kern="0" spc="200" dirty="0">
                <a:solidFill>
                  <a:srgbClr val="8DA9C4"/>
                </a:solidFill>
                <a:latin typeface="Calibri" pitchFamily="34" charset="0"/>
                <a:ea typeface="Calibri" pitchFamily="34" charset="-122"/>
                <a:cs typeface="Calibri" pitchFamily="34" charset="-120"/>
              </a:rPr>
              <a:t>OUTPUT</a:t>
            </a:r>
            <a:endParaRPr lang="en-US" sz="650" dirty="0"/>
          </a:p>
        </p:txBody>
      </p:sp>
      <p:sp>
        <p:nvSpPr>
          <p:cNvPr id="16" name="Text 14"/>
          <p:cNvSpPr txBox="1"/>
          <p:nvPr/>
        </p:nvSpPr>
        <p:spPr>
          <a:xfrm>
            <a:off x="777240" y="4014216"/>
            <a:ext cx="1645920" cy="256032"/>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Business Vision Alignment</a:t>
            </a:r>
            <a:endParaRPr lang="en-US" sz="850" dirty="0"/>
          </a:p>
        </p:txBody>
      </p:sp>
      <p:sp>
        <p:nvSpPr>
          <p:cNvPr id="17" name="Shape 15"/>
          <p:cNvSpPr/>
          <p:nvPr/>
        </p:nvSpPr>
        <p:spPr>
          <a:xfrm>
            <a:off x="2788920" y="1627632"/>
            <a:ext cx="2103120" cy="2788920"/>
          </a:xfrm>
          <a:prstGeom prst="roundRect">
            <a:avLst>
              <a:gd name="adj" fmla="val 3478"/>
            </a:avLst>
          </a:prstGeom>
          <a:solidFill>
            <a:srgbClr val="EEF3FA"/>
          </a:solidFill>
          <a:ln w="9525">
            <a:solidFill>
              <a:srgbClr val="C9D6E6"/>
            </a:solidFill>
            <a:prstDash val="solid"/>
          </a:ln>
        </p:spPr>
      </p:sp>
      <p:sp>
        <p:nvSpPr>
          <p:cNvPr id="18" name="Shape 16"/>
          <p:cNvSpPr/>
          <p:nvPr/>
        </p:nvSpPr>
        <p:spPr>
          <a:xfrm>
            <a:off x="2926080" y="1764792"/>
            <a:ext cx="274320" cy="274320"/>
          </a:xfrm>
          <a:prstGeom prst="ellipse">
            <a:avLst/>
          </a:prstGeom>
          <a:solidFill>
            <a:srgbClr val="0B2545"/>
          </a:solidFill>
          <a:ln w="12700">
            <a:solidFill>
              <a:srgbClr val="0B2545"/>
            </a:solidFill>
            <a:prstDash val="solid"/>
          </a:ln>
        </p:spPr>
      </p:sp>
      <p:sp>
        <p:nvSpPr>
          <p:cNvPr id="19" name="Text 17"/>
          <p:cNvSpPr txBox="1"/>
          <p:nvPr/>
        </p:nvSpPr>
        <p:spPr>
          <a:xfrm>
            <a:off x="2926080" y="176479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0" name="Text 18"/>
          <p:cNvSpPr txBox="1"/>
          <p:nvPr/>
        </p:nvSpPr>
        <p:spPr>
          <a:xfrm>
            <a:off x="3264408" y="1719072"/>
            <a:ext cx="1536192" cy="384048"/>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Finance SMEs</a:t>
            </a:r>
            <a:endParaRPr lang="en-US" sz="1050" dirty="0"/>
          </a:p>
        </p:txBody>
      </p:sp>
      <p:sp>
        <p:nvSpPr>
          <p:cNvPr id="21" name="Text 19"/>
          <p:cNvSpPr txBox="1"/>
          <p:nvPr/>
        </p:nvSpPr>
        <p:spPr>
          <a:xfrm>
            <a:off x="2926080" y="2157984"/>
            <a:ext cx="1828800" cy="164592"/>
          </a:xfrm>
          <a:prstGeom prst="rect">
            <a:avLst/>
          </a:prstGeom>
          <a:noFill/>
          <a:ln/>
        </p:spPr>
        <p:txBody>
          <a:bodyPr wrap="square" lIns="0" tIns="0" rIns="0" bIns="0" rtlCol="0" anchor="ctr"/>
          <a:lstStyle/>
          <a:p>
            <a:pPr marL="0" indent="0">
              <a:buNone/>
            </a:pPr>
            <a:r>
              <a:rPr lang="en-US" sz="800" i="1" dirty="0">
                <a:solidFill>
                  <a:srgbClr val="5B6B7F"/>
                </a:solidFill>
                <a:latin typeface="Calibri" pitchFamily="34" charset="0"/>
                <a:ea typeface="Calibri" pitchFamily="34" charset="-122"/>
                <a:cs typeface="Calibri" pitchFamily="34" charset="-120"/>
              </a:rPr>
              <a:t>Examples</a:t>
            </a:r>
            <a:endParaRPr lang="en-US" sz="800" dirty="0"/>
          </a:p>
        </p:txBody>
      </p:sp>
      <p:sp>
        <p:nvSpPr>
          <p:cNvPr id="22" name="Text 20"/>
          <p:cNvSpPr txBox="1"/>
          <p:nvPr/>
        </p:nvSpPr>
        <p:spPr>
          <a:xfrm>
            <a:off x="2926080" y="2331720"/>
            <a:ext cx="1828800" cy="384048"/>
          </a:xfrm>
          <a:prstGeom prst="rect">
            <a:avLst/>
          </a:prstGeom>
          <a:noFill/>
          <a:ln/>
        </p:spPr>
        <p:txBody>
          <a:bodyPr wrap="square" lIns="0" tIns="0" rIns="0" bIns="0" rtlCol="0" anchor="t"/>
          <a:lstStyle/>
          <a:p>
            <a:pPr marL="0" indent="0">
              <a:buNone/>
            </a:pPr>
            <a:r>
              <a:rPr lang="en-US" sz="800" dirty="0">
                <a:solidFill>
                  <a:srgbClr val="33475B"/>
                </a:solidFill>
                <a:latin typeface="Calibri" pitchFamily="34" charset="0"/>
                <a:ea typeface="Calibri" pitchFamily="34" charset="-122"/>
                <a:cs typeface="Calibri" pitchFamily="34" charset="-120"/>
              </a:rPr>
              <a:t>Finance Controllers  ·  Finance Business Partners  ·  Accounting SMEs</a:t>
            </a:r>
            <a:endParaRPr lang="en-US" sz="800" dirty="0"/>
          </a:p>
        </p:txBody>
      </p:sp>
      <p:sp>
        <p:nvSpPr>
          <p:cNvPr id="23" name="Text 21"/>
          <p:cNvSpPr txBox="1"/>
          <p:nvPr/>
        </p:nvSpPr>
        <p:spPr>
          <a:xfrm>
            <a:off x="2926080" y="2752344"/>
            <a:ext cx="1828800" cy="164592"/>
          </a:xfrm>
          <a:prstGeom prst="rect">
            <a:avLst/>
          </a:prstGeom>
          <a:noFill/>
          <a:ln/>
        </p:spPr>
        <p:txBody>
          <a:bodyPr wrap="square" lIns="0" tIns="0" rIns="0" bIns="0" rtlCol="0" anchor="ctr"/>
          <a:lstStyle/>
          <a:p>
            <a:pPr marL="0" indent="0">
              <a:buNone/>
            </a:pPr>
            <a:r>
              <a:rPr lang="en-US" sz="800" i="1" dirty="0">
                <a:solidFill>
                  <a:srgbClr val="5B6B7F"/>
                </a:solidFill>
                <a:latin typeface="Calibri" pitchFamily="34" charset="0"/>
                <a:ea typeface="Calibri" pitchFamily="34" charset="-122"/>
                <a:cs typeface="Calibri" pitchFamily="34" charset="-120"/>
              </a:rPr>
              <a:t>Key questions</a:t>
            </a:r>
            <a:endParaRPr lang="en-US" sz="800" dirty="0"/>
          </a:p>
        </p:txBody>
      </p:sp>
      <p:sp>
        <p:nvSpPr>
          <p:cNvPr id="24" name="Text 22"/>
          <p:cNvSpPr txBox="1"/>
          <p:nvPr/>
        </p:nvSpPr>
        <p:spPr>
          <a:xfrm>
            <a:off x="2926080" y="2935224"/>
            <a:ext cx="1847088" cy="932688"/>
          </a:xfrm>
          <a:prstGeom prst="rect">
            <a:avLst/>
          </a:prstGeom>
          <a:noFill/>
          <a:ln/>
        </p:spPr>
        <p:txBody>
          <a:bodyPr wrap="square" lIns="0" tIns="0" rIns="0" bIns="0" rtlCol="0" anchor="t"/>
          <a:lstStyle/>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How is profitability calculated today?</a:t>
            </a:r>
            <a:endParaRPr lang="en-US" sz="800" dirty="0"/>
          </a:p>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Which profitability drivers matter most?</a:t>
            </a:r>
            <a:endParaRPr lang="en-US" sz="800" dirty="0"/>
          </a:p>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Which reporting dimensions matter most?</a:t>
            </a:r>
            <a:endParaRPr lang="en-US" sz="800" dirty="0"/>
          </a:p>
        </p:txBody>
      </p:sp>
      <p:sp>
        <p:nvSpPr>
          <p:cNvPr id="25" name="Shape 23"/>
          <p:cNvSpPr/>
          <p:nvPr/>
        </p:nvSpPr>
        <p:spPr>
          <a:xfrm>
            <a:off x="2926080" y="3867912"/>
            <a:ext cx="1828800" cy="420624"/>
          </a:xfrm>
          <a:prstGeom prst="rect">
            <a:avLst/>
          </a:prstGeom>
          <a:solidFill>
            <a:srgbClr val="0B2545"/>
          </a:solidFill>
          <a:ln w="12700">
            <a:solidFill>
              <a:srgbClr val="0B2545"/>
            </a:solidFill>
            <a:prstDash val="solid"/>
          </a:ln>
        </p:spPr>
      </p:sp>
      <p:sp>
        <p:nvSpPr>
          <p:cNvPr id="26" name="Text 24"/>
          <p:cNvSpPr txBox="1"/>
          <p:nvPr/>
        </p:nvSpPr>
        <p:spPr>
          <a:xfrm>
            <a:off x="3017520" y="3886200"/>
            <a:ext cx="1645920" cy="137160"/>
          </a:xfrm>
          <a:prstGeom prst="rect">
            <a:avLst/>
          </a:prstGeom>
          <a:noFill/>
          <a:ln/>
        </p:spPr>
        <p:txBody>
          <a:bodyPr wrap="square" lIns="0" tIns="0" rIns="0" bIns="0" rtlCol="0" anchor="ctr"/>
          <a:lstStyle/>
          <a:p>
            <a:pPr marL="0" indent="0">
              <a:buNone/>
            </a:pPr>
            <a:r>
              <a:rPr lang="en-US" sz="650" b="1" kern="0" spc="200" dirty="0">
                <a:solidFill>
                  <a:srgbClr val="8DA9C4"/>
                </a:solidFill>
                <a:latin typeface="Calibri" pitchFamily="34" charset="0"/>
                <a:ea typeface="Calibri" pitchFamily="34" charset="-122"/>
                <a:cs typeface="Calibri" pitchFamily="34" charset="-120"/>
              </a:rPr>
              <a:t>OUTPUT</a:t>
            </a:r>
            <a:endParaRPr lang="en-US" sz="650" dirty="0"/>
          </a:p>
        </p:txBody>
      </p:sp>
      <p:sp>
        <p:nvSpPr>
          <p:cNvPr id="27" name="Text 25"/>
          <p:cNvSpPr txBox="1"/>
          <p:nvPr/>
        </p:nvSpPr>
        <p:spPr>
          <a:xfrm>
            <a:off x="3017520" y="4014216"/>
            <a:ext cx="1645920" cy="256032"/>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Profitability Intelligence Requirements</a:t>
            </a:r>
            <a:endParaRPr lang="en-US" sz="850" dirty="0"/>
          </a:p>
        </p:txBody>
      </p:sp>
      <p:sp>
        <p:nvSpPr>
          <p:cNvPr id="28" name="Shape 26"/>
          <p:cNvSpPr/>
          <p:nvPr/>
        </p:nvSpPr>
        <p:spPr>
          <a:xfrm>
            <a:off x="5029200" y="1627632"/>
            <a:ext cx="2103120" cy="2788920"/>
          </a:xfrm>
          <a:prstGeom prst="roundRect">
            <a:avLst>
              <a:gd name="adj" fmla="val 3478"/>
            </a:avLst>
          </a:prstGeom>
          <a:solidFill>
            <a:srgbClr val="EEF3FA"/>
          </a:solidFill>
          <a:ln w="9525">
            <a:solidFill>
              <a:srgbClr val="C9D6E6"/>
            </a:solidFill>
            <a:prstDash val="solid"/>
          </a:ln>
        </p:spPr>
      </p:sp>
      <p:sp>
        <p:nvSpPr>
          <p:cNvPr id="29" name="Shape 27"/>
          <p:cNvSpPr/>
          <p:nvPr/>
        </p:nvSpPr>
        <p:spPr>
          <a:xfrm>
            <a:off x="5166360" y="1764792"/>
            <a:ext cx="274320" cy="274320"/>
          </a:xfrm>
          <a:prstGeom prst="ellipse">
            <a:avLst/>
          </a:prstGeom>
          <a:solidFill>
            <a:srgbClr val="0B2545"/>
          </a:solidFill>
          <a:ln w="12700">
            <a:solidFill>
              <a:srgbClr val="0B2545"/>
            </a:solidFill>
            <a:prstDash val="solid"/>
          </a:ln>
        </p:spPr>
      </p:sp>
      <p:sp>
        <p:nvSpPr>
          <p:cNvPr id="30" name="Text 28"/>
          <p:cNvSpPr txBox="1"/>
          <p:nvPr/>
        </p:nvSpPr>
        <p:spPr>
          <a:xfrm>
            <a:off x="5166360" y="176479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1" name="Text 29"/>
          <p:cNvSpPr txBox="1"/>
          <p:nvPr/>
        </p:nvSpPr>
        <p:spPr>
          <a:xfrm>
            <a:off x="5504688" y="1719072"/>
            <a:ext cx="1536192" cy="384048"/>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Nexbill Data Owners</a:t>
            </a:r>
            <a:endParaRPr lang="en-US" sz="1050" dirty="0"/>
          </a:p>
        </p:txBody>
      </p:sp>
      <p:sp>
        <p:nvSpPr>
          <p:cNvPr id="32" name="Text 30"/>
          <p:cNvSpPr txBox="1"/>
          <p:nvPr/>
        </p:nvSpPr>
        <p:spPr>
          <a:xfrm>
            <a:off x="5166360" y="2157984"/>
            <a:ext cx="1828800" cy="164592"/>
          </a:xfrm>
          <a:prstGeom prst="rect">
            <a:avLst/>
          </a:prstGeom>
          <a:noFill/>
          <a:ln/>
        </p:spPr>
        <p:txBody>
          <a:bodyPr wrap="square" lIns="0" tIns="0" rIns="0" bIns="0" rtlCol="0" anchor="ctr"/>
          <a:lstStyle/>
          <a:p>
            <a:pPr marL="0" indent="0">
              <a:buNone/>
            </a:pPr>
            <a:r>
              <a:rPr lang="en-US" sz="800" i="1" dirty="0">
                <a:solidFill>
                  <a:srgbClr val="5B6B7F"/>
                </a:solidFill>
                <a:latin typeface="Calibri" pitchFamily="34" charset="0"/>
                <a:ea typeface="Calibri" pitchFamily="34" charset="-122"/>
                <a:cs typeface="Calibri" pitchFamily="34" charset="-120"/>
              </a:rPr>
              <a:t>Examples</a:t>
            </a:r>
            <a:endParaRPr lang="en-US" sz="800" dirty="0"/>
          </a:p>
        </p:txBody>
      </p:sp>
      <p:sp>
        <p:nvSpPr>
          <p:cNvPr id="33" name="Text 31"/>
          <p:cNvSpPr txBox="1"/>
          <p:nvPr/>
        </p:nvSpPr>
        <p:spPr>
          <a:xfrm>
            <a:off x="5166360" y="2331720"/>
            <a:ext cx="1828800" cy="384048"/>
          </a:xfrm>
          <a:prstGeom prst="rect">
            <a:avLst/>
          </a:prstGeom>
          <a:noFill/>
          <a:ln/>
        </p:spPr>
        <p:txBody>
          <a:bodyPr wrap="square" lIns="0" tIns="0" rIns="0" bIns="0" rtlCol="0" anchor="t"/>
          <a:lstStyle/>
          <a:p>
            <a:pPr marL="0" indent="0">
              <a:buNone/>
            </a:pPr>
            <a:r>
              <a:rPr lang="en-US" sz="800" dirty="0">
                <a:solidFill>
                  <a:srgbClr val="33475B"/>
                </a:solidFill>
                <a:latin typeface="Calibri" pitchFamily="34" charset="0"/>
                <a:ea typeface="Calibri" pitchFamily="34" charset="-122"/>
                <a:cs typeface="Calibri" pitchFamily="34" charset="-120"/>
              </a:rPr>
              <a:t>Nexbill Product Owners  ·  Solution Architects  ·  Reporting Owners</a:t>
            </a:r>
            <a:endParaRPr lang="en-US" sz="800" dirty="0"/>
          </a:p>
        </p:txBody>
      </p:sp>
      <p:sp>
        <p:nvSpPr>
          <p:cNvPr id="34" name="Text 32"/>
          <p:cNvSpPr txBox="1"/>
          <p:nvPr/>
        </p:nvSpPr>
        <p:spPr>
          <a:xfrm>
            <a:off x="5166360" y="2752344"/>
            <a:ext cx="1828800" cy="164592"/>
          </a:xfrm>
          <a:prstGeom prst="rect">
            <a:avLst/>
          </a:prstGeom>
          <a:noFill/>
          <a:ln/>
        </p:spPr>
        <p:txBody>
          <a:bodyPr wrap="square" lIns="0" tIns="0" rIns="0" bIns="0" rtlCol="0" anchor="ctr"/>
          <a:lstStyle/>
          <a:p>
            <a:pPr marL="0" indent="0">
              <a:buNone/>
            </a:pPr>
            <a:r>
              <a:rPr lang="en-US" sz="800" i="1" dirty="0">
                <a:solidFill>
                  <a:srgbClr val="5B6B7F"/>
                </a:solidFill>
                <a:latin typeface="Calibri" pitchFamily="34" charset="0"/>
                <a:ea typeface="Calibri" pitchFamily="34" charset="-122"/>
                <a:cs typeface="Calibri" pitchFamily="34" charset="-120"/>
              </a:rPr>
              <a:t>Key questions</a:t>
            </a:r>
            <a:endParaRPr lang="en-US" sz="800" dirty="0"/>
          </a:p>
        </p:txBody>
      </p:sp>
      <p:sp>
        <p:nvSpPr>
          <p:cNvPr id="35" name="Text 33"/>
          <p:cNvSpPr txBox="1"/>
          <p:nvPr/>
        </p:nvSpPr>
        <p:spPr>
          <a:xfrm>
            <a:off x="5166360" y="2935224"/>
            <a:ext cx="1847088" cy="932688"/>
          </a:xfrm>
          <a:prstGeom prst="rect">
            <a:avLst/>
          </a:prstGeom>
          <a:noFill/>
          <a:ln/>
        </p:spPr>
        <p:txBody>
          <a:bodyPr wrap="square" lIns="0" tIns="0" rIns="0" bIns="0" rtlCol="0" anchor="t"/>
          <a:lstStyle/>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Which data fields are available?</a:t>
            </a:r>
            <a:endParaRPr lang="en-US" sz="800" dirty="0"/>
          </a:p>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How much history exists?</a:t>
            </a:r>
            <a:endParaRPr lang="en-US" sz="800" dirty="0"/>
          </a:p>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What event-level data is captured?</a:t>
            </a:r>
            <a:endParaRPr lang="en-US" sz="800" dirty="0"/>
          </a:p>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Customer–Contract–Tranche links?</a:t>
            </a:r>
            <a:endParaRPr lang="en-US" sz="800" dirty="0"/>
          </a:p>
        </p:txBody>
      </p:sp>
      <p:sp>
        <p:nvSpPr>
          <p:cNvPr id="36" name="Shape 34"/>
          <p:cNvSpPr/>
          <p:nvPr/>
        </p:nvSpPr>
        <p:spPr>
          <a:xfrm>
            <a:off x="5166360" y="3867912"/>
            <a:ext cx="1828800" cy="420624"/>
          </a:xfrm>
          <a:prstGeom prst="rect">
            <a:avLst/>
          </a:prstGeom>
          <a:solidFill>
            <a:srgbClr val="0B2545"/>
          </a:solidFill>
          <a:ln w="12700">
            <a:solidFill>
              <a:srgbClr val="0B2545"/>
            </a:solidFill>
            <a:prstDash val="solid"/>
          </a:ln>
        </p:spPr>
      </p:sp>
      <p:sp>
        <p:nvSpPr>
          <p:cNvPr id="37" name="Text 35"/>
          <p:cNvSpPr txBox="1"/>
          <p:nvPr/>
        </p:nvSpPr>
        <p:spPr>
          <a:xfrm>
            <a:off x="5257800" y="3886200"/>
            <a:ext cx="1645920" cy="137160"/>
          </a:xfrm>
          <a:prstGeom prst="rect">
            <a:avLst/>
          </a:prstGeom>
          <a:noFill/>
          <a:ln/>
        </p:spPr>
        <p:txBody>
          <a:bodyPr wrap="square" lIns="0" tIns="0" rIns="0" bIns="0" rtlCol="0" anchor="ctr"/>
          <a:lstStyle/>
          <a:p>
            <a:pPr marL="0" indent="0">
              <a:buNone/>
            </a:pPr>
            <a:r>
              <a:rPr lang="en-US" sz="650" b="1" kern="0" spc="200" dirty="0">
                <a:solidFill>
                  <a:srgbClr val="8DA9C4"/>
                </a:solidFill>
                <a:latin typeface="Calibri" pitchFamily="34" charset="0"/>
                <a:ea typeface="Calibri" pitchFamily="34" charset="-122"/>
                <a:cs typeface="Calibri" pitchFamily="34" charset="-120"/>
              </a:rPr>
              <a:t>OUTPUT</a:t>
            </a:r>
            <a:endParaRPr lang="en-US" sz="650" dirty="0"/>
          </a:p>
        </p:txBody>
      </p:sp>
      <p:sp>
        <p:nvSpPr>
          <p:cNvPr id="38" name="Text 36"/>
          <p:cNvSpPr txBox="1"/>
          <p:nvPr/>
        </p:nvSpPr>
        <p:spPr>
          <a:xfrm>
            <a:off x="5257800" y="4014216"/>
            <a:ext cx="1645920" cy="256032"/>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Data Inventory Validation</a:t>
            </a:r>
            <a:endParaRPr lang="en-US" sz="850" dirty="0"/>
          </a:p>
        </p:txBody>
      </p:sp>
      <p:sp>
        <p:nvSpPr>
          <p:cNvPr id="39" name="Shape 37"/>
          <p:cNvSpPr/>
          <p:nvPr/>
        </p:nvSpPr>
        <p:spPr>
          <a:xfrm>
            <a:off x="7269480" y="1627632"/>
            <a:ext cx="2103120" cy="2788920"/>
          </a:xfrm>
          <a:prstGeom prst="roundRect">
            <a:avLst>
              <a:gd name="adj" fmla="val 3478"/>
            </a:avLst>
          </a:prstGeom>
          <a:solidFill>
            <a:srgbClr val="EEF3FA"/>
          </a:solidFill>
          <a:ln w="9525">
            <a:solidFill>
              <a:srgbClr val="C9D6E6"/>
            </a:solidFill>
            <a:prstDash val="solid"/>
          </a:ln>
        </p:spPr>
      </p:sp>
      <p:sp>
        <p:nvSpPr>
          <p:cNvPr id="40" name="Shape 38"/>
          <p:cNvSpPr/>
          <p:nvPr/>
        </p:nvSpPr>
        <p:spPr>
          <a:xfrm>
            <a:off x="7406640" y="1764792"/>
            <a:ext cx="274320" cy="274320"/>
          </a:xfrm>
          <a:prstGeom prst="ellipse">
            <a:avLst/>
          </a:prstGeom>
          <a:solidFill>
            <a:srgbClr val="0B2545"/>
          </a:solidFill>
          <a:ln w="12700">
            <a:solidFill>
              <a:srgbClr val="0B2545"/>
            </a:solidFill>
            <a:prstDash val="solid"/>
          </a:ln>
        </p:spPr>
      </p:sp>
      <p:sp>
        <p:nvSpPr>
          <p:cNvPr id="41" name="Text 39"/>
          <p:cNvSpPr txBox="1"/>
          <p:nvPr/>
        </p:nvSpPr>
        <p:spPr>
          <a:xfrm>
            <a:off x="7406640" y="176479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2" name="Text 40"/>
          <p:cNvSpPr txBox="1"/>
          <p:nvPr/>
        </p:nvSpPr>
        <p:spPr>
          <a:xfrm>
            <a:off x="7744968" y="1719072"/>
            <a:ext cx="1536192" cy="384048"/>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Reporting Owners</a:t>
            </a:r>
            <a:endParaRPr lang="en-US" sz="1050" dirty="0"/>
          </a:p>
        </p:txBody>
      </p:sp>
      <p:sp>
        <p:nvSpPr>
          <p:cNvPr id="43" name="Text 41"/>
          <p:cNvSpPr txBox="1"/>
          <p:nvPr/>
        </p:nvSpPr>
        <p:spPr>
          <a:xfrm>
            <a:off x="7406640" y="2157984"/>
            <a:ext cx="1828800" cy="164592"/>
          </a:xfrm>
          <a:prstGeom prst="rect">
            <a:avLst/>
          </a:prstGeom>
          <a:noFill/>
          <a:ln/>
        </p:spPr>
        <p:txBody>
          <a:bodyPr wrap="square" lIns="0" tIns="0" rIns="0" bIns="0" rtlCol="0" anchor="ctr"/>
          <a:lstStyle/>
          <a:p>
            <a:pPr marL="0" indent="0">
              <a:buNone/>
            </a:pPr>
            <a:r>
              <a:rPr lang="en-US" sz="800" i="1" dirty="0">
                <a:solidFill>
                  <a:srgbClr val="5B6B7F"/>
                </a:solidFill>
                <a:latin typeface="Calibri" pitchFamily="34" charset="0"/>
                <a:ea typeface="Calibri" pitchFamily="34" charset="-122"/>
                <a:cs typeface="Calibri" pitchFamily="34" charset="-120"/>
              </a:rPr>
              <a:t>Examples</a:t>
            </a:r>
            <a:endParaRPr lang="en-US" sz="800" dirty="0"/>
          </a:p>
        </p:txBody>
      </p:sp>
      <p:sp>
        <p:nvSpPr>
          <p:cNvPr id="44" name="Text 42"/>
          <p:cNvSpPr txBox="1"/>
          <p:nvPr/>
        </p:nvSpPr>
        <p:spPr>
          <a:xfrm>
            <a:off x="7406640" y="2331720"/>
            <a:ext cx="1828800" cy="384048"/>
          </a:xfrm>
          <a:prstGeom prst="rect">
            <a:avLst/>
          </a:prstGeom>
          <a:noFill/>
          <a:ln/>
        </p:spPr>
        <p:txBody>
          <a:bodyPr wrap="square" lIns="0" tIns="0" rIns="0" bIns="0" rtlCol="0" anchor="t"/>
          <a:lstStyle/>
          <a:p>
            <a:pPr marL="0" indent="0">
              <a:buNone/>
            </a:pPr>
            <a:r>
              <a:rPr lang="en-US" sz="800" dirty="0">
                <a:solidFill>
                  <a:srgbClr val="33475B"/>
                </a:solidFill>
                <a:latin typeface="Calibri" pitchFamily="34" charset="0"/>
                <a:ea typeface="Calibri" pitchFamily="34" charset="-122"/>
                <a:cs typeface="Calibri" pitchFamily="34" charset="-120"/>
              </a:rPr>
              <a:t>Revenue Reporting Owners  ·  Forecast Reporting Owners  ·  Management Reporting Owners</a:t>
            </a:r>
            <a:endParaRPr lang="en-US" sz="800" dirty="0"/>
          </a:p>
        </p:txBody>
      </p:sp>
      <p:sp>
        <p:nvSpPr>
          <p:cNvPr id="45" name="Text 43"/>
          <p:cNvSpPr txBox="1"/>
          <p:nvPr/>
        </p:nvSpPr>
        <p:spPr>
          <a:xfrm>
            <a:off x="7406640" y="2752344"/>
            <a:ext cx="1828800" cy="164592"/>
          </a:xfrm>
          <a:prstGeom prst="rect">
            <a:avLst/>
          </a:prstGeom>
          <a:noFill/>
          <a:ln/>
        </p:spPr>
        <p:txBody>
          <a:bodyPr wrap="square" lIns="0" tIns="0" rIns="0" bIns="0" rtlCol="0" anchor="ctr"/>
          <a:lstStyle/>
          <a:p>
            <a:pPr marL="0" indent="0">
              <a:buNone/>
            </a:pPr>
            <a:r>
              <a:rPr lang="en-US" sz="800" i="1" dirty="0">
                <a:solidFill>
                  <a:srgbClr val="5B6B7F"/>
                </a:solidFill>
                <a:latin typeface="Calibri" pitchFamily="34" charset="0"/>
                <a:ea typeface="Calibri" pitchFamily="34" charset="-122"/>
                <a:cs typeface="Calibri" pitchFamily="34" charset="-120"/>
              </a:rPr>
              <a:t>Key questions</a:t>
            </a:r>
            <a:endParaRPr lang="en-US" sz="800" dirty="0"/>
          </a:p>
        </p:txBody>
      </p:sp>
      <p:sp>
        <p:nvSpPr>
          <p:cNvPr id="46" name="Text 44"/>
          <p:cNvSpPr txBox="1"/>
          <p:nvPr/>
        </p:nvSpPr>
        <p:spPr>
          <a:xfrm>
            <a:off x="7406640" y="2935224"/>
            <a:ext cx="1847088" cy="932688"/>
          </a:xfrm>
          <a:prstGeom prst="rect">
            <a:avLst/>
          </a:prstGeom>
          <a:noFill/>
          <a:ln/>
        </p:spPr>
        <p:txBody>
          <a:bodyPr wrap="square" lIns="0" tIns="0" rIns="0" bIns="0" rtlCol="0" anchor="t"/>
          <a:lstStyle/>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What reports already exist?</a:t>
            </a:r>
            <a:endParaRPr lang="en-US" sz="800" dirty="0"/>
          </a:p>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What KPIs are already tracked?</a:t>
            </a:r>
            <a:endParaRPr lang="en-US" sz="800" dirty="0"/>
          </a:p>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Which reporting gaps remain?</a:t>
            </a:r>
            <a:endParaRPr lang="en-US" sz="800" dirty="0"/>
          </a:p>
        </p:txBody>
      </p:sp>
      <p:sp>
        <p:nvSpPr>
          <p:cNvPr id="47" name="Shape 45"/>
          <p:cNvSpPr/>
          <p:nvPr/>
        </p:nvSpPr>
        <p:spPr>
          <a:xfrm>
            <a:off x="7406640" y="3867912"/>
            <a:ext cx="1828800" cy="420624"/>
          </a:xfrm>
          <a:prstGeom prst="rect">
            <a:avLst/>
          </a:prstGeom>
          <a:solidFill>
            <a:srgbClr val="0B2545"/>
          </a:solidFill>
          <a:ln w="12700">
            <a:solidFill>
              <a:srgbClr val="0B2545"/>
            </a:solidFill>
            <a:prstDash val="solid"/>
          </a:ln>
        </p:spPr>
      </p:sp>
      <p:sp>
        <p:nvSpPr>
          <p:cNvPr id="48" name="Text 46"/>
          <p:cNvSpPr txBox="1"/>
          <p:nvPr/>
        </p:nvSpPr>
        <p:spPr>
          <a:xfrm>
            <a:off x="7498080" y="3886200"/>
            <a:ext cx="1645920" cy="137160"/>
          </a:xfrm>
          <a:prstGeom prst="rect">
            <a:avLst/>
          </a:prstGeom>
          <a:noFill/>
          <a:ln/>
        </p:spPr>
        <p:txBody>
          <a:bodyPr wrap="square" lIns="0" tIns="0" rIns="0" bIns="0" rtlCol="0" anchor="ctr"/>
          <a:lstStyle/>
          <a:p>
            <a:pPr marL="0" indent="0">
              <a:buNone/>
            </a:pPr>
            <a:r>
              <a:rPr lang="en-US" sz="650" b="1" kern="0" spc="200" dirty="0">
                <a:solidFill>
                  <a:srgbClr val="8DA9C4"/>
                </a:solidFill>
                <a:latin typeface="Calibri" pitchFamily="34" charset="0"/>
                <a:ea typeface="Calibri" pitchFamily="34" charset="-122"/>
                <a:cs typeface="Calibri" pitchFamily="34" charset="-120"/>
              </a:rPr>
              <a:t>OUTPUT</a:t>
            </a:r>
            <a:endParaRPr lang="en-US" sz="650" dirty="0"/>
          </a:p>
        </p:txBody>
      </p:sp>
      <p:sp>
        <p:nvSpPr>
          <p:cNvPr id="49" name="Text 47"/>
          <p:cNvSpPr txBox="1"/>
          <p:nvPr/>
        </p:nvSpPr>
        <p:spPr>
          <a:xfrm>
            <a:off x="7498080" y="4014216"/>
            <a:ext cx="1645920" cy="256032"/>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Current-State Reporting Baseline</a:t>
            </a:r>
            <a:endParaRPr lang="en-US" sz="850" dirty="0"/>
          </a:p>
        </p:txBody>
      </p:sp>
      <p:sp>
        <p:nvSpPr>
          <p:cNvPr id="50" name="Shape 48"/>
          <p:cNvSpPr/>
          <p:nvPr/>
        </p:nvSpPr>
        <p:spPr>
          <a:xfrm>
            <a:off x="9509760" y="1627632"/>
            <a:ext cx="2103120" cy="2788920"/>
          </a:xfrm>
          <a:prstGeom prst="roundRect">
            <a:avLst>
              <a:gd name="adj" fmla="val 3478"/>
            </a:avLst>
          </a:prstGeom>
          <a:solidFill>
            <a:srgbClr val="DCE6F2"/>
          </a:solidFill>
          <a:ln w="12700">
            <a:solidFill>
              <a:srgbClr val="2A63AD"/>
            </a:solidFill>
            <a:prstDash val="solid"/>
          </a:ln>
        </p:spPr>
      </p:sp>
      <p:sp>
        <p:nvSpPr>
          <p:cNvPr id="51" name="Shape 49"/>
          <p:cNvSpPr/>
          <p:nvPr/>
        </p:nvSpPr>
        <p:spPr>
          <a:xfrm>
            <a:off x="9646920" y="1764792"/>
            <a:ext cx="274320" cy="274320"/>
          </a:xfrm>
          <a:prstGeom prst="ellipse">
            <a:avLst/>
          </a:prstGeom>
          <a:solidFill>
            <a:srgbClr val="0B2545"/>
          </a:solidFill>
          <a:ln w="12700">
            <a:solidFill>
              <a:srgbClr val="0B2545"/>
            </a:solidFill>
            <a:prstDash val="solid"/>
          </a:ln>
        </p:spPr>
      </p:sp>
      <p:sp>
        <p:nvSpPr>
          <p:cNvPr id="52" name="Text 50"/>
          <p:cNvSpPr txBox="1"/>
          <p:nvPr/>
        </p:nvSpPr>
        <p:spPr>
          <a:xfrm>
            <a:off x="9646920" y="176479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53" name="Text 51"/>
          <p:cNvSpPr txBox="1"/>
          <p:nvPr/>
        </p:nvSpPr>
        <p:spPr>
          <a:xfrm>
            <a:off x="9985248" y="1719072"/>
            <a:ext cx="1536192" cy="384048"/>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External Intelligence Stakeholders</a:t>
            </a:r>
            <a:endParaRPr lang="en-US" sz="950" dirty="0"/>
          </a:p>
        </p:txBody>
      </p:sp>
      <p:sp>
        <p:nvSpPr>
          <p:cNvPr id="54" name="Text 52"/>
          <p:cNvSpPr txBox="1"/>
          <p:nvPr/>
        </p:nvSpPr>
        <p:spPr>
          <a:xfrm>
            <a:off x="9646920" y="2157984"/>
            <a:ext cx="1828800" cy="164592"/>
          </a:xfrm>
          <a:prstGeom prst="rect">
            <a:avLst/>
          </a:prstGeom>
          <a:noFill/>
          <a:ln/>
        </p:spPr>
        <p:txBody>
          <a:bodyPr wrap="square" lIns="0" tIns="0" rIns="0" bIns="0" rtlCol="0" anchor="ctr"/>
          <a:lstStyle/>
          <a:p>
            <a:pPr marL="0" indent="0">
              <a:buNone/>
            </a:pPr>
            <a:r>
              <a:rPr lang="en-US" sz="800" i="1" dirty="0">
                <a:solidFill>
                  <a:srgbClr val="5B6B7F"/>
                </a:solidFill>
                <a:latin typeface="Calibri" pitchFamily="34" charset="0"/>
                <a:ea typeface="Calibri" pitchFamily="34" charset="-122"/>
                <a:cs typeface="Calibri" pitchFamily="34" charset="-120"/>
              </a:rPr>
              <a:t>Examples</a:t>
            </a:r>
            <a:endParaRPr lang="en-US" sz="800" dirty="0"/>
          </a:p>
        </p:txBody>
      </p:sp>
      <p:sp>
        <p:nvSpPr>
          <p:cNvPr id="55" name="Text 53"/>
          <p:cNvSpPr txBox="1"/>
          <p:nvPr/>
        </p:nvSpPr>
        <p:spPr>
          <a:xfrm>
            <a:off x="9646920" y="2331720"/>
            <a:ext cx="1828800" cy="384048"/>
          </a:xfrm>
          <a:prstGeom prst="rect">
            <a:avLst/>
          </a:prstGeom>
          <a:noFill/>
          <a:ln/>
        </p:spPr>
        <p:txBody>
          <a:bodyPr wrap="square" lIns="0" tIns="0" rIns="0" bIns="0" rtlCol="0" anchor="t"/>
          <a:lstStyle/>
          <a:p>
            <a:pPr marL="0" indent="0">
              <a:buNone/>
            </a:pPr>
            <a:r>
              <a:rPr lang="en-US" sz="800" dirty="0">
                <a:solidFill>
                  <a:srgbClr val="33475B"/>
                </a:solidFill>
                <a:latin typeface="Calibri" pitchFamily="34" charset="0"/>
                <a:ea typeface="Calibri" pitchFamily="34" charset="-122"/>
                <a:cs typeface="Calibri" pitchFamily="34" charset="-120"/>
              </a:rPr>
              <a:t>Finance · Procurement  ·  IT · Data &amp; Analytics</a:t>
            </a:r>
            <a:endParaRPr lang="en-US" sz="800" dirty="0"/>
          </a:p>
        </p:txBody>
      </p:sp>
      <p:sp>
        <p:nvSpPr>
          <p:cNvPr id="56" name="Text 54"/>
          <p:cNvSpPr txBox="1"/>
          <p:nvPr/>
        </p:nvSpPr>
        <p:spPr>
          <a:xfrm>
            <a:off x="9646920" y="2752344"/>
            <a:ext cx="1828800" cy="164592"/>
          </a:xfrm>
          <a:prstGeom prst="rect">
            <a:avLst/>
          </a:prstGeom>
          <a:noFill/>
          <a:ln/>
        </p:spPr>
        <p:txBody>
          <a:bodyPr wrap="square" lIns="0" tIns="0" rIns="0" bIns="0" rtlCol="0" anchor="ctr"/>
          <a:lstStyle/>
          <a:p>
            <a:pPr marL="0" indent="0">
              <a:buNone/>
            </a:pPr>
            <a:r>
              <a:rPr lang="en-US" sz="800" i="1" dirty="0">
                <a:solidFill>
                  <a:srgbClr val="5B6B7F"/>
                </a:solidFill>
                <a:latin typeface="Calibri" pitchFamily="34" charset="0"/>
                <a:ea typeface="Calibri" pitchFamily="34" charset="-122"/>
                <a:cs typeface="Calibri" pitchFamily="34" charset="-120"/>
              </a:rPr>
              <a:t>Validation topics</a:t>
            </a:r>
            <a:endParaRPr lang="en-US" sz="800" dirty="0"/>
          </a:p>
        </p:txBody>
      </p:sp>
      <p:sp>
        <p:nvSpPr>
          <p:cNvPr id="57" name="Text 55"/>
          <p:cNvSpPr txBox="1"/>
          <p:nvPr/>
        </p:nvSpPr>
        <p:spPr>
          <a:xfrm>
            <a:off x="9646920" y="2935224"/>
            <a:ext cx="1847088" cy="932688"/>
          </a:xfrm>
          <a:prstGeom prst="rect">
            <a:avLst/>
          </a:prstGeom>
          <a:noFill/>
          <a:ln/>
        </p:spPr>
        <p:txBody>
          <a:bodyPr wrap="square" lIns="0" tIns="0" rIns="0" bIns="0" rtlCol="0" anchor="t"/>
          <a:lstStyle/>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News providers</a:t>
            </a:r>
            <a:endParaRPr lang="en-US" sz="800" dirty="0"/>
          </a:p>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Credit providers</a:t>
            </a:r>
            <a:endParaRPr lang="en-US" sz="800" dirty="0"/>
          </a:p>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Industry intelligence providers</a:t>
            </a:r>
            <a:endParaRPr lang="en-US" sz="800" dirty="0"/>
          </a:p>
          <a:p>
            <a:pPr marL="342900" indent="-342900">
              <a:spcAft>
                <a:spcPts val="400"/>
              </a:spcAft>
              <a:buSzPct val="100000"/>
              <a:buChar char="•"/>
            </a:pPr>
            <a:r>
              <a:rPr lang="en-US" sz="800" dirty="0">
                <a:solidFill>
                  <a:srgbClr val="33475B"/>
                </a:solidFill>
                <a:latin typeface="Calibri" pitchFamily="34" charset="0"/>
                <a:ea typeface="Calibri" pitchFamily="34" charset="-122"/>
                <a:cs typeface="Calibri" pitchFamily="34" charset="-120"/>
              </a:rPr>
              <a:t>Licensing and compliance</a:t>
            </a:r>
            <a:endParaRPr lang="en-US" sz="800" dirty="0"/>
          </a:p>
        </p:txBody>
      </p:sp>
      <p:sp>
        <p:nvSpPr>
          <p:cNvPr id="58" name="Shape 56"/>
          <p:cNvSpPr/>
          <p:nvPr/>
        </p:nvSpPr>
        <p:spPr>
          <a:xfrm>
            <a:off x="9646920" y="3867912"/>
            <a:ext cx="1828800" cy="420624"/>
          </a:xfrm>
          <a:prstGeom prst="rect">
            <a:avLst/>
          </a:prstGeom>
          <a:solidFill>
            <a:srgbClr val="0B2545"/>
          </a:solidFill>
          <a:ln w="12700">
            <a:solidFill>
              <a:srgbClr val="0B2545"/>
            </a:solidFill>
            <a:prstDash val="solid"/>
          </a:ln>
        </p:spPr>
      </p:sp>
      <p:sp>
        <p:nvSpPr>
          <p:cNvPr id="59" name="Text 57"/>
          <p:cNvSpPr txBox="1"/>
          <p:nvPr/>
        </p:nvSpPr>
        <p:spPr>
          <a:xfrm>
            <a:off x="9738360" y="3886200"/>
            <a:ext cx="1645920" cy="137160"/>
          </a:xfrm>
          <a:prstGeom prst="rect">
            <a:avLst/>
          </a:prstGeom>
          <a:noFill/>
          <a:ln/>
        </p:spPr>
        <p:txBody>
          <a:bodyPr wrap="square" lIns="0" tIns="0" rIns="0" bIns="0" rtlCol="0" anchor="ctr"/>
          <a:lstStyle/>
          <a:p>
            <a:pPr marL="0" indent="0">
              <a:buNone/>
            </a:pPr>
            <a:r>
              <a:rPr lang="en-US" sz="650" b="1" kern="0" spc="200" dirty="0">
                <a:solidFill>
                  <a:srgbClr val="8DA9C4"/>
                </a:solidFill>
                <a:latin typeface="Calibri" pitchFamily="34" charset="0"/>
                <a:ea typeface="Calibri" pitchFamily="34" charset="-122"/>
                <a:cs typeface="Calibri" pitchFamily="34" charset="-120"/>
              </a:rPr>
              <a:t>OUTPUT</a:t>
            </a:r>
            <a:endParaRPr lang="en-US" sz="650" dirty="0"/>
          </a:p>
        </p:txBody>
      </p:sp>
      <p:sp>
        <p:nvSpPr>
          <p:cNvPr id="60" name="Text 58"/>
          <p:cNvSpPr txBox="1"/>
          <p:nvPr/>
        </p:nvSpPr>
        <p:spPr>
          <a:xfrm>
            <a:off x="9738360" y="4014216"/>
            <a:ext cx="1645920" cy="256032"/>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Route B Feasibility Assessment</a:t>
            </a:r>
            <a:endParaRPr lang="en-US" sz="850" dirty="0"/>
          </a:p>
        </p:txBody>
      </p:sp>
      <p:sp>
        <p:nvSpPr>
          <p:cNvPr id="61" name="Shape 59"/>
          <p:cNvSpPr/>
          <p:nvPr/>
        </p:nvSpPr>
        <p:spPr>
          <a:xfrm>
            <a:off x="548640" y="4526280"/>
            <a:ext cx="11064240" cy="676656"/>
          </a:xfrm>
          <a:prstGeom prst="roundRect">
            <a:avLst>
              <a:gd name="adj" fmla="val 10811"/>
            </a:avLst>
          </a:prstGeom>
          <a:solidFill>
            <a:srgbClr val="EEF3FA"/>
          </a:solidFill>
          <a:ln w="9525">
            <a:solidFill>
              <a:srgbClr val="C9D6E6"/>
            </a:solidFill>
            <a:prstDash val="solid"/>
          </a:ln>
        </p:spPr>
      </p:sp>
      <p:sp>
        <p:nvSpPr>
          <p:cNvPr id="62" name="Text 60"/>
          <p:cNvSpPr txBox="1"/>
          <p:nvPr/>
        </p:nvSpPr>
        <p:spPr>
          <a:xfrm>
            <a:off x="777240" y="4590288"/>
            <a:ext cx="2743200" cy="182880"/>
          </a:xfrm>
          <a:prstGeom prst="rect">
            <a:avLst/>
          </a:prstGeom>
          <a:noFill/>
          <a:ln/>
        </p:spPr>
        <p:txBody>
          <a:bodyPr wrap="square" lIns="0" tIns="0" rIns="0" bIns="0" rtlCol="0" anchor="ctr"/>
          <a:lstStyle/>
          <a:p>
            <a:pPr marL="0" indent="0">
              <a:buNone/>
            </a:pPr>
            <a:r>
              <a:rPr lang="en-US" sz="850" b="1" kern="0" spc="200" dirty="0">
                <a:solidFill>
                  <a:srgbClr val="1F4E8C"/>
                </a:solidFill>
                <a:latin typeface="Calibri" pitchFamily="34" charset="0"/>
                <a:ea typeface="Calibri" pitchFamily="34" charset="-122"/>
                <a:cs typeface="Calibri" pitchFamily="34" charset="-120"/>
              </a:rPr>
              <a:t>OWNERSHIP MODEL</a:t>
            </a:r>
            <a:endParaRPr lang="en-US" sz="850" dirty="0"/>
          </a:p>
        </p:txBody>
      </p:sp>
      <p:sp>
        <p:nvSpPr>
          <p:cNvPr id="63" name="Text 61"/>
          <p:cNvSpPr txBox="1"/>
          <p:nvPr/>
        </p:nvSpPr>
        <p:spPr>
          <a:xfrm>
            <a:off x="3291840" y="4590288"/>
            <a:ext cx="8138160" cy="182880"/>
          </a:xfrm>
          <a:prstGeom prst="rect">
            <a:avLst/>
          </a:prstGeom>
          <a:noFill/>
          <a:ln/>
        </p:spPr>
        <p:txBody>
          <a:bodyPr wrap="square" lIns="0" tIns="0" rIns="0" bIns="0" rtlCol="0" anchor="ctr"/>
          <a:lstStyle/>
          <a:p>
            <a:pPr marL="0" indent="0" algn="r">
              <a:buNone/>
            </a:pPr>
            <a:r>
              <a:rPr lang="en-US" sz="950" i="1" dirty="0">
                <a:solidFill>
                  <a:srgbClr val="0B2545"/>
                </a:solidFill>
                <a:latin typeface="Calibri" pitchFamily="34" charset="0"/>
                <a:ea typeface="Calibri" pitchFamily="34" charset="-122"/>
                <a:cs typeface="Calibri" pitchFamily="34" charset="-120"/>
              </a:rPr>
              <a:t>Successful AI initiatives require alignment of business ownership, data ownership and reporting ownership.</a:t>
            </a:r>
            <a:endParaRPr lang="en-US" sz="950" dirty="0"/>
          </a:p>
        </p:txBody>
      </p:sp>
      <p:sp>
        <p:nvSpPr>
          <p:cNvPr id="64" name="Shape 62"/>
          <p:cNvSpPr/>
          <p:nvPr/>
        </p:nvSpPr>
        <p:spPr>
          <a:xfrm>
            <a:off x="777240" y="4818888"/>
            <a:ext cx="1874520" cy="292608"/>
          </a:xfrm>
          <a:prstGeom prst="roundRect">
            <a:avLst>
              <a:gd name="adj" fmla="val 21875"/>
            </a:avLst>
          </a:prstGeom>
          <a:solidFill>
            <a:srgbClr val="0B2545"/>
          </a:solidFill>
          <a:ln w="12700">
            <a:solidFill>
              <a:srgbClr val="0B2545"/>
            </a:solidFill>
            <a:prstDash val="solid"/>
          </a:ln>
        </p:spPr>
      </p:sp>
      <p:sp>
        <p:nvSpPr>
          <p:cNvPr id="65" name="Text 63"/>
          <p:cNvSpPr txBox="1"/>
          <p:nvPr/>
        </p:nvSpPr>
        <p:spPr>
          <a:xfrm>
            <a:off x="777240" y="4818888"/>
            <a:ext cx="187452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Business Sponsor</a:t>
            </a:r>
            <a:endParaRPr lang="en-US" sz="950" dirty="0"/>
          </a:p>
        </p:txBody>
      </p:sp>
      <p:sp>
        <p:nvSpPr>
          <p:cNvPr id="66" name="Shape 64"/>
          <p:cNvSpPr/>
          <p:nvPr/>
        </p:nvSpPr>
        <p:spPr>
          <a:xfrm>
            <a:off x="2706624" y="4882896"/>
            <a:ext cx="164592" cy="164592"/>
          </a:xfrm>
          <a:prstGeom prst="rightArrow">
            <a:avLst/>
          </a:prstGeom>
          <a:solidFill>
            <a:srgbClr val="8DA9C4"/>
          </a:solidFill>
          <a:ln w="12700">
            <a:solidFill>
              <a:srgbClr val="8DA9C4"/>
            </a:solidFill>
            <a:prstDash val="solid"/>
          </a:ln>
        </p:spPr>
      </p:sp>
      <p:sp>
        <p:nvSpPr>
          <p:cNvPr id="67" name="Shape 65"/>
          <p:cNvSpPr/>
          <p:nvPr/>
        </p:nvSpPr>
        <p:spPr>
          <a:xfrm>
            <a:off x="2926080" y="4818888"/>
            <a:ext cx="1874520" cy="292608"/>
          </a:xfrm>
          <a:prstGeom prst="roundRect">
            <a:avLst>
              <a:gd name="adj" fmla="val 21875"/>
            </a:avLst>
          </a:prstGeom>
          <a:solidFill>
            <a:srgbClr val="1F4E8C"/>
          </a:solidFill>
          <a:ln w="12700">
            <a:solidFill>
              <a:srgbClr val="1F4E8C"/>
            </a:solidFill>
            <a:prstDash val="solid"/>
          </a:ln>
        </p:spPr>
      </p:sp>
      <p:sp>
        <p:nvSpPr>
          <p:cNvPr id="68" name="Text 66"/>
          <p:cNvSpPr txBox="1"/>
          <p:nvPr/>
        </p:nvSpPr>
        <p:spPr>
          <a:xfrm>
            <a:off x="2926080" y="4818888"/>
            <a:ext cx="187452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Finance SMEs</a:t>
            </a:r>
            <a:endParaRPr lang="en-US" sz="950" dirty="0"/>
          </a:p>
        </p:txBody>
      </p:sp>
      <p:sp>
        <p:nvSpPr>
          <p:cNvPr id="69" name="Shape 67"/>
          <p:cNvSpPr/>
          <p:nvPr/>
        </p:nvSpPr>
        <p:spPr>
          <a:xfrm>
            <a:off x="4855464" y="4882896"/>
            <a:ext cx="164592" cy="164592"/>
          </a:xfrm>
          <a:prstGeom prst="rightArrow">
            <a:avLst/>
          </a:prstGeom>
          <a:solidFill>
            <a:srgbClr val="8DA9C4"/>
          </a:solidFill>
          <a:ln w="12700">
            <a:solidFill>
              <a:srgbClr val="8DA9C4"/>
            </a:solidFill>
            <a:prstDash val="solid"/>
          </a:ln>
        </p:spPr>
      </p:sp>
      <p:sp>
        <p:nvSpPr>
          <p:cNvPr id="70" name="Shape 68"/>
          <p:cNvSpPr/>
          <p:nvPr/>
        </p:nvSpPr>
        <p:spPr>
          <a:xfrm>
            <a:off x="5074920" y="4818888"/>
            <a:ext cx="1874520" cy="292608"/>
          </a:xfrm>
          <a:prstGeom prst="roundRect">
            <a:avLst>
              <a:gd name="adj" fmla="val 21875"/>
            </a:avLst>
          </a:prstGeom>
          <a:solidFill>
            <a:srgbClr val="2A63AD"/>
          </a:solidFill>
          <a:ln w="12700">
            <a:solidFill>
              <a:srgbClr val="2A63AD"/>
            </a:solidFill>
            <a:prstDash val="solid"/>
          </a:ln>
        </p:spPr>
      </p:sp>
      <p:sp>
        <p:nvSpPr>
          <p:cNvPr id="71" name="Text 69"/>
          <p:cNvSpPr txBox="1"/>
          <p:nvPr/>
        </p:nvSpPr>
        <p:spPr>
          <a:xfrm>
            <a:off x="5074920" y="4818888"/>
            <a:ext cx="187452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Data Owners</a:t>
            </a:r>
            <a:endParaRPr lang="en-US" sz="950" dirty="0"/>
          </a:p>
        </p:txBody>
      </p:sp>
      <p:sp>
        <p:nvSpPr>
          <p:cNvPr id="72" name="Shape 70"/>
          <p:cNvSpPr/>
          <p:nvPr/>
        </p:nvSpPr>
        <p:spPr>
          <a:xfrm>
            <a:off x="7004304" y="4882896"/>
            <a:ext cx="164592" cy="164592"/>
          </a:xfrm>
          <a:prstGeom prst="rightArrow">
            <a:avLst/>
          </a:prstGeom>
          <a:solidFill>
            <a:srgbClr val="8DA9C4"/>
          </a:solidFill>
          <a:ln w="12700">
            <a:solidFill>
              <a:srgbClr val="8DA9C4"/>
            </a:solidFill>
            <a:prstDash val="solid"/>
          </a:ln>
        </p:spPr>
      </p:sp>
      <p:sp>
        <p:nvSpPr>
          <p:cNvPr id="73" name="Shape 71"/>
          <p:cNvSpPr/>
          <p:nvPr/>
        </p:nvSpPr>
        <p:spPr>
          <a:xfrm>
            <a:off x="7223760" y="4818888"/>
            <a:ext cx="1874520" cy="292608"/>
          </a:xfrm>
          <a:prstGeom prst="roundRect">
            <a:avLst>
              <a:gd name="adj" fmla="val 21875"/>
            </a:avLst>
          </a:prstGeom>
          <a:solidFill>
            <a:srgbClr val="3E7CC9"/>
          </a:solidFill>
          <a:ln w="12700">
            <a:solidFill>
              <a:srgbClr val="3E7CC9"/>
            </a:solidFill>
            <a:prstDash val="solid"/>
          </a:ln>
        </p:spPr>
      </p:sp>
      <p:sp>
        <p:nvSpPr>
          <p:cNvPr id="74" name="Text 72"/>
          <p:cNvSpPr txBox="1"/>
          <p:nvPr/>
        </p:nvSpPr>
        <p:spPr>
          <a:xfrm>
            <a:off x="7223760" y="4818888"/>
            <a:ext cx="187452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Reporting Owners</a:t>
            </a:r>
            <a:endParaRPr lang="en-US" sz="950" dirty="0"/>
          </a:p>
        </p:txBody>
      </p:sp>
      <p:sp>
        <p:nvSpPr>
          <p:cNvPr id="75" name="Shape 73"/>
          <p:cNvSpPr/>
          <p:nvPr/>
        </p:nvSpPr>
        <p:spPr>
          <a:xfrm>
            <a:off x="9153144" y="4882896"/>
            <a:ext cx="164592" cy="164592"/>
          </a:xfrm>
          <a:prstGeom prst="rightArrow">
            <a:avLst/>
          </a:prstGeom>
          <a:solidFill>
            <a:srgbClr val="8DA9C4"/>
          </a:solidFill>
          <a:ln w="12700">
            <a:solidFill>
              <a:srgbClr val="8DA9C4"/>
            </a:solidFill>
            <a:prstDash val="solid"/>
          </a:ln>
        </p:spPr>
      </p:sp>
      <p:sp>
        <p:nvSpPr>
          <p:cNvPr id="76" name="Shape 74"/>
          <p:cNvSpPr/>
          <p:nvPr/>
        </p:nvSpPr>
        <p:spPr>
          <a:xfrm>
            <a:off x="9372600" y="4818888"/>
            <a:ext cx="1874520" cy="292608"/>
          </a:xfrm>
          <a:prstGeom prst="roundRect">
            <a:avLst>
              <a:gd name="adj" fmla="val 21875"/>
            </a:avLst>
          </a:prstGeom>
          <a:solidFill>
            <a:srgbClr val="5B95DD"/>
          </a:solidFill>
          <a:ln w="12700">
            <a:solidFill>
              <a:srgbClr val="5B95DD"/>
            </a:solidFill>
            <a:prstDash val="solid"/>
          </a:ln>
        </p:spPr>
      </p:sp>
      <p:sp>
        <p:nvSpPr>
          <p:cNvPr id="77" name="Text 75"/>
          <p:cNvSpPr txBox="1"/>
          <p:nvPr/>
        </p:nvSpPr>
        <p:spPr>
          <a:xfrm>
            <a:off x="9372600" y="4818888"/>
            <a:ext cx="187452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External Intelligence Providers</a:t>
            </a:r>
            <a:endParaRPr lang="en-US" sz="950" dirty="0"/>
          </a:p>
        </p:txBody>
      </p:sp>
      <p:sp>
        <p:nvSpPr>
          <p:cNvPr id="78" name="Shape 76"/>
          <p:cNvSpPr/>
          <p:nvPr/>
        </p:nvSpPr>
        <p:spPr>
          <a:xfrm>
            <a:off x="548640" y="5321808"/>
            <a:ext cx="11064240" cy="621792"/>
          </a:xfrm>
          <a:prstGeom prst="roundRect">
            <a:avLst>
              <a:gd name="adj" fmla="val 11765"/>
            </a:avLst>
          </a:prstGeom>
          <a:solidFill>
            <a:srgbClr val="DCE6F2"/>
          </a:solidFill>
          <a:ln w="12700">
            <a:solidFill>
              <a:srgbClr val="DCE6F2"/>
            </a:solidFill>
            <a:prstDash val="solid"/>
          </a:ln>
        </p:spPr>
      </p:sp>
      <p:sp>
        <p:nvSpPr>
          <p:cNvPr id="79" name="Text 77"/>
          <p:cNvSpPr txBox="1"/>
          <p:nvPr/>
        </p:nvSpPr>
        <p:spPr>
          <a:xfrm>
            <a:off x="777240" y="5385816"/>
            <a:ext cx="3657600" cy="182880"/>
          </a:xfrm>
          <a:prstGeom prst="rect">
            <a:avLst/>
          </a:prstGeom>
          <a:noFill/>
          <a:ln/>
        </p:spPr>
        <p:txBody>
          <a:bodyPr wrap="square" lIns="0" tIns="0" rIns="0" bIns="0" rtlCol="0" anchor="ctr"/>
          <a:lstStyle/>
          <a:p>
            <a:pPr marL="0" indent="0">
              <a:buNone/>
            </a:pPr>
            <a:r>
              <a:rPr lang="en-US" sz="850" b="1" kern="0" spc="200" dirty="0">
                <a:solidFill>
                  <a:srgbClr val="1F4E8C"/>
                </a:solidFill>
                <a:latin typeface="Calibri" pitchFamily="34" charset="0"/>
                <a:ea typeface="Calibri" pitchFamily="34" charset="-122"/>
                <a:cs typeface="Calibri" pitchFamily="34" charset="-120"/>
              </a:rPr>
              <a:t>RECOMMENDED NEXT STEPS</a:t>
            </a:r>
            <a:endParaRPr lang="en-US" sz="850" dirty="0"/>
          </a:p>
        </p:txBody>
      </p:sp>
      <p:sp>
        <p:nvSpPr>
          <p:cNvPr id="80" name="Shape 78"/>
          <p:cNvSpPr/>
          <p:nvPr/>
        </p:nvSpPr>
        <p:spPr>
          <a:xfrm>
            <a:off x="777240" y="5596128"/>
            <a:ext cx="2514600" cy="292608"/>
          </a:xfrm>
          <a:prstGeom prst="roundRect">
            <a:avLst>
              <a:gd name="adj" fmla="val 21875"/>
            </a:avLst>
          </a:prstGeom>
          <a:solidFill>
            <a:srgbClr val="0B2545"/>
          </a:solidFill>
          <a:ln w="12700">
            <a:solidFill>
              <a:srgbClr val="0B2545"/>
            </a:solidFill>
            <a:prstDash val="solid"/>
          </a:ln>
        </p:spPr>
      </p:sp>
      <p:sp>
        <p:nvSpPr>
          <p:cNvPr id="81" name="Text 79"/>
          <p:cNvSpPr txBox="1"/>
          <p:nvPr/>
        </p:nvSpPr>
        <p:spPr>
          <a:xfrm>
            <a:off x="868680" y="5596128"/>
            <a:ext cx="2331720" cy="292608"/>
          </a:xfrm>
          <a:prstGeom prst="rect">
            <a:avLst/>
          </a:prstGeom>
          <a:noFill/>
          <a:ln/>
        </p:spPr>
        <p:txBody>
          <a:bodyPr wrap="square" lIns="0" tIns="0" rIns="0" bIns="0" rtlCol="0" anchor="ctr"/>
          <a:lstStyle/>
          <a:p>
            <a:pPr marL="0" indent="0">
              <a:buNone/>
            </a:pPr>
            <a:r>
              <a:rPr lang="en-US" sz="800" b="1" dirty="0">
                <a:solidFill>
                  <a:srgbClr val="DCE6F2"/>
                </a:solidFill>
                <a:latin typeface="Calibri" pitchFamily="34" charset="0"/>
                <a:ea typeface="Calibri" pitchFamily="34" charset="-122"/>
                <a:cs typeface="Calibri" pitchFamily="34" charset="-120"/>
              </a:rPr>
              <a:t>Phase 1   </a:t>
            </a:r>
            <a:r>
              <a:rPr lang="en-US" sz="950" b="1" dirty="0">
                <a:solidFill>
                  <a:srgbClr val="FFFFFF"/>
                </a:solidFill>
                <a:latin typeface="Calibri" pitchFamily="34" charset="0"/>
                <a:ea typeface="Calibri" pitchFamily="34" charset="-122"/>
                <a:cs typeface="Calibri" pitchFamily="34" charset="-120"/>
              </a:rPr>
              <a:t>Validate Data Readiness</a:t>
            </a:r>
            <a:endParaRPr lang="en-US" sz="800" dirty="0"/>
          </a:p>
        </p:txBody>
      </p:sp>
      <p:sp>
        <p:nvSpPr>
          <p:cNvPr id="82" name="Shape 80"/>
          <p:cNvSpPr/>
          <p:nvPr/>
        </p:nvSpPr>
        <p:spPr>
          <a:xfrm>
            <a:off x="3310128" y="5669280"/>
            <a:ext cx="146304" cy="146304"/>
          </a:xfrm>
          <a:prstGeom prst="rightArrow">
            <a:avLst/>
          </a:prstGeom>
          <a:solidFill>
            <a:srgbClr val="8DA9C4"/>
          </a:solidFill>
          <a:ln w="12700">
            <a:solidFill>
              <a:srgbClr val="8DA9C4"/>
            </a:solidFill>
            <a:prstDash val="solid"/>
          </a:ln>
        </p:spPr>
      </p:sp>
      <p:sp>
        <p:nvSpPr>
          <p:cNvPr id="83" name="Shape 81"/>
          <p:cNvSpPr/>
          <p:nvPr/>
        </p:nvSpPr>
        <p:spPr>
          <a:xfrm>
            <a:off x="3474720" y="5596128"/>
            <a:ext cx="2514600" cy="292608"/>
          </a:xfrm>
          <a:prstGeom prst="roundRect">
            <a:avLst>
              <a:gd name="adj" fmla="val 21875"/>
            </a:avLst>
          </a:prstGeom>
          <a:solidFill>
            <a:srgbClr val="1F4E8C"/>
          </a:solidFill>
          <a:ln w="12700">
            <a:solidFill>
              <a:srgbClr val="1F4E8C"/>
            </a:solidFill>
            <a:prstDash val="solid"/>
          </a:ln>
        </p:spPr>
      </p:sp>
      <p:sp>
        <p:nvSpPr>
          <p:cNvPr id="84" name="Text 82"/>
          <p:cNvSpPr txBox="1"/>
          <p:nvPr/>
        </p:nvSpPr>
        <p:spPr>
          <a:xfrm>
            <a:off x="3566160" y="5596128"/>
            <a:ext cx="2331720" cy="292608"/>
          </a:xfrm>
          <a:prstGeom prst="rect">
            <a:avLst/>
          </a:prstGeom>
          <a:noFill/>
          <a:ln/>
        </p:spPr>
        <p:txBody>
          <a:bodyPr wrap="square" lIns="0" tIns="0" rIns="0" bIns="0" rtlCol="0" anchor="ctr"/>
          <a:lstStyle/>
          <a:p>
            <a:pPr marL="0" indent="0">
              <a:buNone/>
            </a:pPr>
            <a:r>
              <a:rPr lang="en-US" sz="800" b="1" dirty="0">
                <a:solidFill>
                  <a:srgbClr val="DCE6F2"/>
                </a:solidFill>
                <a:latin typeface="Calibri" pitchFamily="34" charset="0"/>
                <a:ea typeface="Calibri" pitchFamily="34" charset="-122"/>
                <a:cs typeface="Calibri" pitchFamily="34" charset="-120"/>
              </a:rPr>
              <a:t>Phase 2   </a:t>
            </a:r>
            <a:r>
              <a:rPr lang="en-US" sz="950" b="1" dirty="0">
                <a:solidFill>
                  <a:srgbClr val="FFFFFF"/>
                </a:solidFill>
                <a:latin typeface="Calibri" pitchFamily="34" charset="0"/>
                <a:ea typeface="Calibri" pitchFamily="34" charset="-122"/>
                <a:cs typeface="Calibri" pitchFamily="34" charset="-120"/>
              </a:rPr>
              <a:t>Confirm Business Scope</a:t>
            </a:r>
            <a:endParaRPr lang="en-US" sz="800" dirty="0"/>
          </a:p>
        </p:txBody>
      </p:sp>
      <p:sp>
        <p:nvSpPr>
          <p:cNvPr id="85" name="Shape 83"/>
          <p:cNvSpPr/>
          <p:nvPr/>
        </p:nvSpPr>
        <p:spPr>
          <a:xfrm>
            <a:off x="6007608" y="5669280"/>
            <a:ext cx="146304" cy="146304"/>
          </a:xfrm>
          <a:prstGeom prst="rightArrow">
            <a:avLst/>
          </a:prstGeom>
          <a:solidFill>
            <a:srgbClr val="8DA9C4"/>
          </a:solidFill>
          <a:ln w="12700">
            <a:solidFill>
              <a:srgbClr val="8DA9C4"/>
            </a:solidFill>
            <a:prstDash val="solid"/>
          </a:ln>
        </p:spPr>
      </p:sp>
      <p:sp>
        <p:nvSpPr>
          <p:cNvPr id="86" name="Shape 84"/>
          <p:cNvSpPr/>
          <p:nvPr/>
        </p:nvSpPr>
        <p:spPr>
          <a:xfrm>
            <a:off x="6172200" y="5596128"/>
            <a:ext cx="2514600" cy="292608"/>
          </a:xfrm>
          <a:prstGeom prst="roundRect">
            <a:avLst>
              <a:gd name="adj" fmla="val 21875"/>
            </a:avLst>
          </a:prstGeom>
          <a:solidFill>
            <a:srgbClr val="2A63AD"/>
          </a:solidFill>
          <a:ln w="12700">
            <a:solidFill>
              <a:srgbClr val="2A63AD"/>
            </a:solidFill>
            <a:prstDash val="solid"/>
          </a:ln>
        </p:spPr>
      </p:sp>
      <p:sp>
        <p:nvSpPr>
          <p:cNvPr id="87" name="Text 85"/>
          <p:cNvSpPr txBox="1"/>
          <p:nvPr/>
        </p:nvSpPr>
        <p:spPr>
          <a:xfrm>
            <a:off x="6263640" y="5596128"/>
            <a:ext cx="2331720" cy="292608"/>
          </a:xfrm>
          <a:prstGeom prst="rect">
            <a:avLst/>
          </a:prstGeom>
          <a:noFill/>
          <a:ln/>
        </p:spPr>
        <p:txBody>
          <a:bodyPr wrap="square" lIns="0" tIns="0" rIns="0" bIns="0" rtlCol="0" anchor="ctr"/>
          <a:lstStyle/>
          <a:p>
            <a:pPr marL="0" indent="0">
              <a:buNone/>
            </a:pPr>
            <a:r>
              <a:rPr lang="en-US" sz="800" b="1" dirty="0">
                <a:solidFill>
                  <a:srgbClr val="DCE6F2"/>
                </a:solidFill>
                <a:latin typeface="Calibri" pitchFamily="34" charset="0"/>
                <a:ea typeface="Calibri" pitchFamily="34" charset="-122"/>
                <a:cs typeface="Calibri" pitchFamily="34" charset="-120"/>
              </a:rPr>
              <a:t>Phase 3   </a:t>
            </a:r>
            <a:r>
              <a:rPr lang="en-US" sz="950" b="1" dirty="0">
                <a:solidFill>
                  <a:srgbClr val="FFFFFF"/>
                </a:solidFill>
                <a:latin typeface="Calibri" pitchFamily="34" charset="0"/>
                <a:ea typeface="Calibri" pitchFamily="34" charset="-122"/>
                <a:cs typeface="Calibri" pitchFamily="34" charset="-120"/>
              </a:rPr>
              <a:t>Assess Route A Feasibility</a:t>
            </a:r>
            <a:endParaRPr lang="en-US" sz="800" dirty="0"/>
          </a:p>
        </p:txBody>
      </p:sp>
      <p:sp>
        <p:nvSpPr>
          <p:cNvPr id="88" name="Shape 86"/>
          <p:cNvSpPr/>
          <p:nvPr/>
        </p:nvSpPr>
        <p:spPr>
          <a:xfrm>
            <a:off x="8705088" y="5669280"/>
            <a:ext cx="146304" cy="146304"/>
          </a:xfrm>
          <a:prstGeom prst="rightArrow">
            <a:avLst/>
          </a:prstGeom>
          <a:solidFill>
            <a:srgbClr val="8DA9C4"/>
          </a:solidFill>
          <a:ln w="12700">
            <a:solidFill>
              <a:srgbClr val="8DA9C4"/>
            </a:solidFill>
            <a:prstDash val="solid"/>
          </a:ln>
        </p:spPr>
      </p:sp>
      <p:sp>
        <p:nvSpPr>
          <p:cNvPr id="89" name="Shape 87"/>
          <p:cNvSpPr/>
          <p:nvPr/>
        </p:nvSpPr>
        <p:spPr>
          <a:xfrm>
            <a:off x="8869680" y="5596128"/>
            <a:ext cx="2514600" cy="292608"/>
          </a:xfrm>
          <a:prstGeom prst="roundRect">
            <a:avLst>
              <a:gd name="adj" fmla="val 21875"/>
            </a:avLst>
          </a:prstGeom>
          <a:solidFill>
            <a:srgbClr val="5B95DD"/>
          </a:solidFill>
          <a:ln w="12700">
            <a:solidFill>
              <a:srgbClr val="5B95DD"/>
            </a:solidFill>
            <a:prstDash val="solid"/>
          </a:ln>
        </p:spPr>
      </p:sp>
      <p:sp>
        <p:nvSpPr>
          <p:cNvPr id="90" name="Text 88"/>
          <p:cNvSpPr txBox="1"/>
          <p:nvPr/>
        </p:nvSpPr>
        <p:spPr>
          <a:xfrm>
            <a:off x="8961120" y="5596128"/>
            <a:ext cx="2331720" cy="292608"/>
          </a:xfrm>
          <a:prstGeom prst="rect">
            <a:avLst/>
          </a:prstGeom>
          <a:noFill/>
          <a:ln/>
        </p:spPr>
        <p:txBody>
          <a:bodyPr wrap="square" lIns="0" tIns="0" rIns="0" bIns="0" rtlCol="0" anchor="ctr"/>
          <a:lstStyle/>
          <a:p>
            <a:pPr marL="0" indent="0">
              <a:buNone/>
            </a:pPr>
            <a:r>
              <a:rPr lang="en-US" sz="800" b="1" dirty="0">
                <a:solidFill>
                  <a:srgbClr val="DCE6F2"/>
                </a:solidFill>
                <a:latin typeface="Calibri" pitchFamily="34" charset="0"/>
                <a:ea typeface="Calibri" pitchFamily="34" charset="-122"/>
                <a:cs typeface="Calibri" pitchFamily="34" charset="-120"/>
              </a:rPr>
              <a:t>Phase 4   </a:t>
            </a:r>
            <a:r>
              <a:rPr lang="en-US" sz="950" b="1" dirty="0">
                <a:solidFill>
                  <a:srgbClr val="FFFFFF"/>
                </a:solidFill>
                <a:latin typeface="Calibri" pitchFamily="34" charset="0"/>
                <a:ea typeface="Calibri" pitchFamily="34" charset="-122"/>
                <a:cs typeface="Calibri" pitchFamily="34" charset="-120"/>
              </a:rPr>
              <a:t>Evaluate Route B Enhancement</a:t>
            </a:r>
            <a:endParaRPr lang="en-US" sz="800" dirty="0"/>
          </a:p>
        </p:txBody>
      </p:sp>
      <p:sp>
        <p:nvSpPr>
          <p:cNvPr id="91" name="Text 89"/>
          <p:cNvSpPr txBox="1"/>
          <p:nvPr/>
        </p:nvSpPr>
        <p:spPr>
          <a:xfrm>
            <a:off x="548640" y="5989320"/>
            <a:ext cx="11064240" cy="274320"/>
          </a:xfrm>
          <a:prstGeom prst="rect">
            <a:avLst/>
          </a:prstGeom>
          <a:noFill/>
          <a:ln/>
        </p:spPr>
        <p:txBody>
          <a:bodyPr wrap="square" lIns="0" tIns="0" rIns="0" bIns="0" rtlCol="0" anchor="ctr"/>
          <a:lstStyle/>
          <a:p>
            <a:pPr marL="0" indent="0" algn="ctr">
              <a:buNone/>
            </a:pPr>
            <a:r>
              <a:rPr lang="en-US" sz="1050" b="1" dirty="0">
                <a:solidFill>
                  <a:srgbClr val="0B2545"/>
                </a:solidFill>
                <a:latin typeface="Calibri" pitchFamily="34" charset="0"/>
                <a:ea typeface="Calibri" pitchFamily="34" charset="-122"/>
                <a:cs typeface="Calibri" pitchFamily="34" charset="-120"/>
              </a:rPr>
              <a:t>Executive takeaway:  </a:t>
            </a:r>
            <a:r>
              <a:rPr lang="en-US" sz="1050" i="1" dirty="0">
                <a:solidFill>
                  <a:srgbClr val="33475B"/>
                </a:solidFill>
                <a:latin typeface="Calibri" pitchFamily="34" charset="0"/>
                <a:ea typeface="Calibri" pitchFamily="34" charset="-122"/>
                <a:cs typeface="Calibri" pitchFamily="34" charset="-120"/>
              </a:rPr>
              <a:t>The next discussion should focus on data availability, business scope and ownership rather than AI technology.</a:t>
            </a:r>
            <a:endParaRPr lang="en-US" sz="1050" dirty="0"/>
          </a:p>
        </p:txBody>
      </p:sp>
      <p:sp>
        <p:nvSpPr>
          <p:cNvPr id="92" name="Text 90"/>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900" dirty="0">
                <a:solidFill>
                  <a:srgbClr val="9AA8B8"/>
                </a:solidFill>
                <a:latin typeface="Calibri" pitchFamily="34" charset="0"/>
                <a:ea typeface="Calibri" pitchFamily="34" charset="-122"/>
                <a:cs typeface="Calibri" pitchFamily="34" charset="-120"/>
              </a:rPr>
              <a:t>Nexbill Financial Intelligence Platform</a:t>
            </a:r>
            <a:endParaRPr lang="en-US" sz="900" dirty="0"/>
          </a:p>
        </p:txBody>
      </p:sp>
      <p:sp>
        <p:nvSpPr>
          <p:cNvPr id="93" name="Text 91"/>
          <p:cNvSpPr txBox="1"/>
          <p:nvPr/>
        </p:nvSpPr>
        <p:spPr>
          <a:xfrm>
            <a:off x="11064240" y="6400800"/>
            <a:ext cx="548640" cy="274320"/>
          </a:xfrm>
          <a:prstGeom prst="rect">
            <a:avLst/>
          </a:prstGeom>
          <a:noFill/>
          <a:ln/>
        </p:spPr>
        <p:txBody>
          <a:bodyPr wrap="square" lIns="0" tIns="0" rIns="0" bIns="0" rtlCol="0" anchor="ctr"/>
          <a:lstStyle/>
          <a:p>
            <a:pPr marL="0" indent="0" algn="r">
              <a:buNone/>
            </a:pPr>
            <a:r>
              <a:rPr lang="en-US" sz="900" dirty="0">
                <a:solidFill>
                  <a:srgbClr val="9AA8B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AI Capability Prioritization Matrix</a:t>
            </a:r>
            <a:endParaRPr lang="en-US" sz="3000" dirty="0"/>
          </a:p>
        </p:txBody>
      </p:sp>
      <p:sp>
        <p:nvSpPr>
          <p:cNvPr id="3" name="Text 1"/>
          <p:cNvSpPr txBox="1"/>
          <p:nvPr/>
        </p:nvSpPr>
        <p:spPr>
          <a:xfrm>
            <a:off x="548640" y="1078992"/>
            <a:ext cx="8595360" cy="502920"/>
          </a:xfrm>
          <a:prstGeom prst="rect">
            <a:avLst/>
          </a:prstGeom>
          <a:noFill/>
          <a:ln/>
        </p:spPr>
        <p:txBody>
          <a:bodyPr wrap="square" lIns="0" tIns="0" rIns="0" bIns="0" rtlCol="0" anchor="t"/>
          <a:lstStyle/>
          <a:p>
            <a:pPr marL="0" indent="0">
              <a:buNone/>
            </a:pPr>
            <a:r>
              <a:rPr lang="en-US" sz="1500" i="1" dirty="0">
                <a:solidFill>
                  <a:srgbClr val="5B6B7F"/>
                </a:solidFill>
                <a:latin typeface="Calibri"/>
                <a:ea typeface="Calibri"/>
                <a:cs typeface="Calibri"/>
              </a:rPr>
              <a:t>Prioritize AI capabilities based on business value, implementation complexity and data readiness — a clear view .</a:t>
            </a:r>
            <a:endParaRPr lang="en-US" sz="1500" dirty="0">
              <a:latin typeface="Calibri"/>
              <a:ea typeface="Calibri"/>
              <a:cs typeface="Calibri"/>
            </a:endParaRPr>
          </a:p>
        </p:txBody>
      </p:sp>
      <p:sp>
        <p:nvSpPr>
          <p:cNvPr id="4" name="Shape 2"/>
          <p:cNvSpPr/>
          <p:nvPr/>
        </p:nvSpPr>
        <p:spPr>
          <a:xfrm>
            <a:off x="10819181" y="438912"/>
            <a:ext cx="793699" cy="256032"/>
          </a:xfrm>
          <a:prstGeom prst="rect">
            <a:avLst/>
          </a:prstGeom>
          <a:solidFill>
            <a:srgbClr val="0B2545"/>
          </a:solidFill>
          <a:ln w="12700">
            <a:solidFill>
              <a:srgbClr val="0B2545"/>
            </a:solidFill>
            <a:prstDash val="solid"/>
          </a:ln>
        </p:spPr>
      </p:sp>
      <p:sp>
        <p:nvSpPr>
          <p:cNvPr id="5" name="Text 3"/>
          <p:cNvSpPr txBox="1"/>
          <p:nvPr/>
        </p:nvSpPr>
        <p:spPr>
          <a:xfrm>
            <a:off x="10819181" y="438912"/>
            <a:ext cx="793699"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latin typeface="Calibri" pitchFamily="34" charset="0"/>
                <a:ea typeface="Calibri" pitchFamily="34" charset="-122"/>
                <a:cs typeface="Calibri" pitchFamily="34" charset="-120"/>
              </a:rPr>
              <a:t>BACKUP</a:t>
            </a:r>
            <a:endParaRPr lang="en-US" sz="850" dirty="0"/>
          </a:p>
        </p:txBody>
      </p:sp>
      <p:sp>
        <p:nvSpPr>
          <p:cNvPr id="6" name="Shape 4"/>
          <p:cNvSpPr/>
          <p:nvPr/>
        </p:nvSpPr>
        <p:spPr>
          <a:xfrm>
            <a:off x="9756648" y="749808"/>
            <a:ext cx="1856232" cy="292608"/>
          </a:xfrm>
          <a:prstGeom prst="roundRect">
            <a:avLst>
              <a:gd name="adj" fmla="val 50000"/>
            </a:avLst>
          </a:prstGeom>
          <a:solidFill>
            <a:srgbClr val="DCE6F2"/>
          </a:solidFill>
          <a:ln w="12700">
            <a:solidFill>
              <a:srgbClr val="DCE6F2"/>
            </a:solidFill>
            <a:prstDash val="solid"/>
          </a:ln>
        </p:spPr>
      </p:sp>
      <p:sp>
        <p:nvSpPr>
          <p:cNvPr id="7" name="Text 5"/>
          <p:cNvSpPr txBox="1"/>
          <p:nvPr/>
        </p:nvSpPr>
        <p:spPr>
          <a:xfrm>
            <a:off x="9756648" y="749808"/>
            <a:ext cx="1856232" cy="292608"/>
          </a:xfrm>
          <a:prstGeom prst="rect">
            <a:avLst/>
          </a:prstGeom>
          <a:noFill/>
          <a:ln/>
        </p:spPr>
        <p:txBody>
          <a:bodyPr wrap="square" lIns="0" tIns="0" rIns="0" bIns="0" rtlCol="0" anchor="ctr"/>
          <a:lstStyle/>
          <a:p>
            <a:pPr marL="0" indent="0" algn="ctr">
              <a:buNone/>
            </a:pPr>
            <a:r>
              <a:rPr lang="en-US" sz="950" b="1" kern="0" spc="100" dirty="0">
                <a:solidFill>
                  <a:srgbClr val="0B2545"/>
                </a:solidFill>
                <a:latin typeface="Calibri" pitchFamily="34" charset="0"/>
                <a:ea typeface="Calibri" pitchFamily="34" charset="-122"/>
                <a:cs typeface="Calibri" pitchFamily="34" charset="-120"/>
              </a:rPr>
              <a:t>WHERE TO START</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406640" cy="2926080"/>
        </p:xfrm>
        <a:graphic>
          <a:graphicData uri="http://schemas.openxmlformats.org/drawingml/2006/table">
            <a:tbl>
              <a:tblPr/>
              <a:tblGrid>
                <a:gridCol w="26517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65760">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Capability</a:t>
                      </a:r>
                      <a:endParaRPr lang="en-US" sz="900" dirty="0">
                        <a:latin typeface="Calibri" charset="0"/>
                        <a:ea typeface="Calibri" charset="0"/>
                        <a:cs typeface="Calibri" charset="0"/>
                      </a:endParaRPr>
                    </a:p>
                  </a:txBody>
                  <a:tcPr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2545"/>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Business Value</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2545"/>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Complexity</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2545"/>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Data Readiness</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2545"/>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Recommendation</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65760">
                <a:tc>
                  <a:txBody>
                    <a:bodyPr/>
                    <a:lstStyle/>
                    <a:p>
                      <a:pPr marL="0" indent="0">
                        <a:buNone/>
                      </a:pPr>
                      <a:r>
                        <a:rPr lang="en-US" sz="950" b="1" dirty="0">
                          <a:solidFill>
                            <a:srgbClr val="0B2545"/>
                          </a:solidFill>
                          <a:latin typeface="Calibri" pitchFamily="34" charset="0"/>
                          <a:ea typeface="Calibri" pitchFamily="34" charset="-122"/>
                          <a:cs typeface="Calibri" pitchFamily="34" charset="-120"/>
                        </a:rPr>
                        <a:t>Customer Profitability</a:t>
                      </a:r>
                      <a:endParaRPr lang="en-US" sz="950" dirty="0">
                        <a:latin typeface="Calibri" charset="0"/>
                        <a:ea typeface="Calibri" charset="0"/>
                        <a:cs typeface="Calibri" charset="0"/>
                      </a:endParaRPr>
                    </a:p>
                  </a:txBody>
                  <a:tcPr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4E8C"/>
                    </a:solidFill>
                  </a:tcPr>
                </a:tc>
                <a:tc>
                  <a:txBody>
                    <a:bodyPr/>
                    <a:lstStyle/>
                    <a:p>
                      <a:pPr marL="0" indent="0" algn="ctr">
                        <a:buNone/>
                      </a:pPr>
                      <a:r>
                        <a:rPr lang="en-US" sz="900" b="1" dirty="0">
                          <a:solidFill>
                            <a:srgbClr val="0B2545"/>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2"/>
                    </a:solidFill>
                  </a:tcPr>
                </a:tc>
                <a:tc>
                  <a:txBody>
                    <a:bodyPr/>
                    <a:lstStyle/>
                    <a:p>
                      <a:pPr marL="0" indent="0" algn="ctr">
                        <a:buNone/>
                      </a:pPr>
                      <a:r>
                        <a:rPr lang="en-US" sz="900" b="1" dirty="0">
                          <a:solidFill>
                            <a:srgbClr val="0B2545"/>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DA9C4"/>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Phase 1</a:t>
                      </a:r>
                      <a:endParaRPr lang="en-US" sz="95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2545"/>
                    </a:solidFill>
                  </a:tcPr>
                </a:tc>
                <a:extLst>
                  <a:ext uri="{0D108BD9-81ED-4DB2-BD59-A6C34878D82A}">
                    <a16:rowId xmlns:a16="http://schemas.microsoft.com/office/drawing/2014/main" val="10001"/>
                  </a:ext>
                </a:extLst>
              </a:tr>
              <a:tr h="365760">
                <a:tc>
                  <a:txBody>
                    <a:bodyPr/>
                    <a:lstStyle/>
                    <a:p>
                      <a:pPr marL="0" indent="0">
                        <a:buNone/>
                      </a:pPr>
                      <a:r>
                        <a:rPr lang="en-US" sz="950" b="1" dirty="0">
                          <a:solidFill>
                            <a:srgbClr val="0B2545"/>
                          </a:solidFill>
                          <a:latin typeface="Calibri" pitchFamily="34" charset="0"/>
                          <a:ea typeface="Calibri" pitchFamily="34" charset="-122"/>
                          <a:cs typeface="Calibri" pitchFamily="34" charset="-120"/>
                        </a:rPr>
                        <a:t>Driver Analysis</a:t>
                      </a:r>
                      <a:endParaRPr lang="en-US" sz="950" dirty="0">
                        <a:latin typeface="Calibri" charset="0"/>
                        <a:ea typeface="Calibri" charset="0"/>
                        <a:cs typeface="Calibri" charset="0"/>
                      </a:endParaRPr>
                    </a:p>
                  </a:txBody>
                  <a:tcPr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4E8C"/>
                    </a:solidFill>
                  </a:tcPr>
                </a:tc>
                <a:tc>
                  <a:txBody>
                    <a:bodyPr/>
                    <a:lstStyle/>
                    <a:p>
                      <a:pPr marL="0" indent="0" algn="ctr">
                        <a:buNone/>
                      </a:pPr>
                      <a:r>
                        <a:rPr lang="en-US" sz="900" b="1" dirty="0">
                          <a:solidFill>
                            <a:srgbClr val="0B2545"/>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DA9C4"/>
                    </a:solidFill>
                  </a:tcPr>
                </a:tc>
                <a:tc>
                  <a:txBody>
                    <a:bodyPr/>
                    <a:lstStyle/>
                    <a:p>
                      <a:pPr marL="0" indent="0" algn="ctr">
                        <a:buNone/>
                      </a:pPr>
                      <a:r>
                        <a:rPr lang="en-US" sz="900" b="1" dirty="0">
                          <a:solidFill>
                            <a:srgbClr val="0B2545"/>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DA9C4"/>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Phase 1</a:t>
                      </a:r>
                      <a:endParaRPr lang="en-US" sz="95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2545"/>
                    </a:solidFill>
                  </a:tcPr>
                </a:tc>
                <a:extLst>
                  <a:ext uri="{0D108BD9-81ED-4DB2-BD59-A6C34878D82A}">
                    <a16:rowId xmlns:a16="http://schemas.microsoft.com/office/drawing/2014/main" val="10002"/>
                  </a:ext>
                </a:extLst>
              </a:tr>
              <a:tr h="365760">
                <a:tc>
                  <a:txBody>
                    <a:bodyPr/>
                    <a:lstStyle/>
                    <a:p>
                      <a:pPr marL="0" indent="0">
                        <a:buNone/>
                      </a:pPr>
                      <a:r>
                        <a:rPr lang="en-US" sz="950" b="1" dirty="0">
                          <a:solidFill>
                            <a:srgbClr val="0B2545"/>
                          </a:solidFill>
                          <a:latin typeface="Calibri" pitchFamily="34" charset="0"/>
                          <a:ea typeface="Calibri" pitchFamily="34" charset="-122"/>
                          <a:cs typeface="Calibri" pitchFamily="34" charset="-120"/>
                        </a:rPr>
                        <a:t>Revenue Forecast</a:t>
                      </a:r>
                      <a:endParaRPr lang="en-US" sz="950" dirty="0">
                        <a:latin typeface="Calibri" charset="0"/>
                        <a:ea typeface="Calibri" charset="0"/>
                        <a:cs typeface="Calibri" charset="0"/>
                      </a:endParaRPr>
                    </a:p>
                  </a:txBody>
                  <a:tcPr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4E8C"/>
                    </a:solidFill>
                  </a:tcPr>
                </a:tc>
                <a:tc>
                  <a:txBody>
                    <a:bodyPr/>
                    <a:lstStyle/>
                    <a:p>
                      <a:pPr marL="0" indent="0" algn="ctr">
                        <a:buNone/>
                      </a:pPr>
                      <a:r>
                        <a:rPr lang="en-US" sz="900" b="1" dirty="0">
                          <a:solidFill>
                            <a:srgbClr val="0B2545"/>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DA9C4"/>
                    </a:solidFill>
                  </a:tcPr>
                </a:tc>
                <a:tc>
                  <a:txBody>
                    <a:bodyPr/>
                    <a:lstStyle/>
                    <a:p>
                      <a:pPr marL="0" indent="0" algn="ctr">
                        <a:buNone/>
                      </a:pPr>
                      <a:r>
                        <a:rPr lang="en-US" sz="900" b="1" dirty="0">
                          <a:solidFill>
                            <a:srgbClr val="0B2545"/>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DA9C4"/>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Phase 1</a:t>
                      </a:r>
                      <a:endParaRPr lang="en-US" sz="95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2545"/>
                    </a:solidFill>
                  </a:tcPr>
                </a:tc>
                <a:extLst>
                  <a:ext uri="{0D108BD9-81ED-4DB2-BD59-A6C34878D82A}">
                    <a16:rowId xmlns:a16="http://schemas.microsoft.com/office/drawing/2014/main" val="10003"/>
                  </a:ext>
                </a:extLst>
              </a:tr>
              <a:tr h="365760">
                <a:tc>
                  <a:txBody>
                    <a:bodyPr/>
                    <a:lstStyle/>
                    <a:p>
                      <a:pPr marL="0" indent="0">
                        <a:buNone/>
                      </a:pPr>
                      <a:r>
                        <a:rPr lang="en-US" sz="950" b="1" dirty="0">
                          <a:solidFill>
                            <a:srgbClr val="0B2545"/>
                          </a:solidFill>
                          <a:latin typeface="Calibri" pitchFamily="34" charset="0"/>
                          <a:ea typeface="Calibri" pitchFamily="34" charset="-122"/>
                          <a:cs typeface="Calibri" pitchFamily="34" charset="-120"/>
                        </a:rPr>
                        <a:t>Customer Risk Prediction</a:t>
                      </a:r>
                      <a:endParaRPr lang="en-US" sz="950" dirty="0">
                        <a:latin typeface="Calibri" charset="0"/>
                        <a:ea typeface="Calibri" charset="0"/>
                        <a:cs typeface="Calibri" charset="0"/>
                      </a:endParaRPr>
                    </a:p>
                  </a:txBody>
                  <a:tcPr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4E8C"/>
                    </a:solidFill>
                  </a:tcPr>
                </a:tc>
                <a:tc>
                  <a:txBody>
                    <a:bodyPr/>
                    <a:lstStyle/>
                    <a:p>
                      <a:pPr marL="0" indent="0" algn="ctr">
                        <a:buNone/>
                      </a:pPr>
                      <a:r>
                        <a:rPr lang="en-US" sz="900" b="1" dirty="0">
                          <a:solidFill>
                            <a:srgbClr val="0B2545"/>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DA9C4"/>
                    </a:solidFill>
                  </a:tcPr>
                </a:tc>
                <a:tc>
                  <a:txBody>
                    <a:bodyPr/>
                    <a:lstStyle/>
                    <a:p>
                      <a:pPr marL="0" indent="0" algn="ctr">
                        <a:buNone/>
                      </a:pPr>
                      <a:r>
                        <a:rPr lang="en-US" sz="900" b="1" dirty="0">
                          <a:solidFill>
                            <a:srgbClr val="0B2545"/>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DA9C4"/>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Phase 1</a:t>
                      </a:r>
                      <a:endParaRPr lang="en-US" sz="95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2545"/>
                    </a:solidFill>
                  </a:tcPr>
                </a:tc>
                <a:extLst>
                  <a:ext uri="{0D108BD9-81ED-4DB2-BD59-A6C34878D82A}">
                    <a16:rowId xmlns:a16="http://schemas.microsoft.com/office/drawing/2014/main" val="10004"/>
                  </a:ext>
                </a:extLst>
              </a:tr>
              <a:tr h="365760">
                <a:tc>
                  <a:txBody>
                    <a:bodyPr/>
                    <a:lstStyle/>
                    <a:p>
                      <a:pPr marL="0" indent="0">
                        <a:buNone/>
                      </a:pPr>
                      <a:r>
                        <a:rPr lang="en-US" sz="950" b="1" dirty="0">
                          <a:solidFill>
                            <a:srgbClr val="0B2545"/>
                          </a:solidFill>
                          <a:latin typeface="Calibri" pitchFamily="34" charset="0"/>
                          <a:ea typeface="Calibri" pitchFamily="34" charset="-122"/>
                          <a:cs typeface="Calibri" pitchFamily="34" charset="-120"/>
                        </a:rPr>
                        <a:t>Collection Risk Prediction</a:t>
                      </a:r>
                      <a:endParaRPr lang="en-US" sz="950" dirty="0">
                        <a:latin typeface="Calibri" charset="0"/>
                        <a:ea typeface="Calibri" charset="0"/>
                        <a:cs typeface="Calibri" charset="0"/>
                      </a:endParaRPr>
                    </a:p>
                  </a:txBody>
                  <a:tcPr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4E8C"/>
                    </a:solidFill>
                  </a:tcPr>
                </a:tc>
                <a:tc>
                  <a:txBody>
                    <a:bodyPr/>
                    <a:lstStyle/>
                    <a:p>
                      <a:pPr marL="0" indent="0" algn="ctr">
                        <a:buNone/>
                      </a:pPr>
                      <a:r>
                        <a:rPr lang="en-US" sz="900" b="1" dirty="0">
                          <a:solidFill>
                            <a:srgbClr val="0B2545"/>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DA9C4"/>
                    </a:solidFill>
                  </a:tcPr>
                </a:tc>
                <a:tc>
                  <a:txBody>
                    <a:bodyPr/>
                    <a:lstStyle/>
                    <a:p>
                      <a:pPr marL="0" indent="0" algn="ctr">
                        <a:buNone/>
                      </a:pPr>
                      <a:r>
                        <a:rPr lang="en-US" sz="900" b="1" dirty="0">
                          <a:solidFill>
                            <a:srgbClr val="0B2545"/>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DA9C4"/>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Phase 1</a:t>
                      </a:r>
                      <a:endParaRPr lang="en-US" sz="95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2545"/>
                    </a:solidFill>
                  </a:tcPr>
                </a:tc>
                <a:extLst>
                  <a:ext uri="{0D108BD9-81ED-4DB2-BD59-A6C34878D82A}">
                    <a16:rowId xmlns:a16="http://schemas.microsoft.com/office/drawing/2014/main" val="10005"/>
                  </a:ext>
                </a:extLst>
              </a:tr>
              <a:tr h="365760">
                <a:tc>
                  <a:txBody>
                    <a:bodyPr/>
                    <a:lstStyle/>
                    <a:p>
                      <a:pPr marL="0" indent="0">
                        <a:buNone/>
                      </a:pPr>
                      <a:r>
                        <a:rPr lang="en-US" sz="950" b="1" dirty="0">
                          <a:solidFill>
                            <a:srgbClr val="0B2545"/>
                          </a:solidFill>
                          <a:latin typeface="Calibri" pitchFamily="34" charset="0"/>
                          <a:ea typeface="Calibri" pitchFamily="34" charset="-122"/>
                          <a:cs typeface="Calibri" pitchFamily="34" charset="-120"/>
                        </a:rPr>
                        <a:t>External Intelligence Enhancement</a:t>
                      </a:r>
                      <a:endParaRPr lang="en-US" sz="950" dirty="0">
                        <a:latin typeface="Calibri" charset="0"/>
                        <a:ea typeface="Calibri" charset="0"/>
                        <a:cs typeface="Calibri" charset="0"/>
                      </a:endParaRPr>
                    </a:p>
                  </a:txBody>
                  <a:tcPr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0B2545"/>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DA9C4"/>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4E8C"/>
                    </a:solidFill>
                  </a:tcPr>
                </a:tc>
                <a:tc>
                  <a:txBody>
                    <a:bodyPr/>
                    <a:lstStyle/>
                    <a:p>
                      <a:pPr marL="0" indent="0" algn="ctr">
                        <a:buNone/>
                      </a:pPr>
                      <a:r>
                        <a:rPr lang="en-US" sz="900" b="1" dirty="0">
                          <a:solidFill>
                            <a:srgbClr val="0B2545"/>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2"/>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Phase 2</a:t>
                      </a:r>
                      <a:endParaRPr lang="en-US" sz="95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63AD"/>
                    </a:solidFill>
                  </a:tcPr>
                </a:tc>
                <a:extLst>
                  <a:ext uri="{0D108BD9-81ED-4DB2-BD59-A6C34878D82A}">
                    <a16:rowId xmlns:a16="http://schemas.microsoft.com/office/drawing/2014/main" val="10006"/>
                  </a:ext>
                </a:extLst>
              </a:tr>
              <a:tr h="365760">
                <a:tc>
                  <a:txBody>
                    <a:bodyPr/>
                    <a:lstStyle/>
                    <a:p>
                      <a:pPr marL="0" indent="0">
                        <a:buNone/>
                      </a:pPr>
                      <a:r>
                        <a:rPr lang="en-US" sz="950" b="1" dirty="0">
                          <a:solidFill>
                            <a:srgbClr val="0B2545"/>
                          </a:solidFill>
                          <a:latin typeface="Calibri" pitchFamily="34" charset="0"/>
                          <a:ea typeface="Calibri" pitchFamily="34" charset="-122"/>
                          <a:cs typeface="Calibri" pitchFamily="34" charset="-120"/>
                        </a:rPr>
                        <a:t>Commercial Recommendation Engine</a:t>
                      </a:r>
                      <a:endParaRPr lang="en-US" sz="950" dirty="0">
                        <a:latin typeface="Calibri" charset="0"/>
                        <a:ea typeface="Calibri" charset="0"/>
                        <a:cs typeface="Calibri" charset="0"/>
                      </a:endParaRPr>
                    </a:p>
                  </a:txBody>
                  <a:tcPr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4E8C"/>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4E8C"/>
                    </a:solidFill>
                  </a:tcPr>
                </a:tc>
                <a:tc>
                  <a:txBody>
                    <a:bodyPr/>
                    <a:lstStyle/>
                    <a:p>
                      <a:pPr marL="0" indent="0" algn="ctr">
                        <a:buNone/>
                      </a:pPr>
                      <a:r>
                        <a:rPr lang="en-US" sz="900" b="1" dirty="0">
                          <a:solidFill>
                            <a:srgbClr val="0B2545"/>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2"/>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Phase 3</a:t>
                      </a:r>
                      <a:endParaRPr lang="en-US" sz="95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5DD"/>
                    </a:solidFill>
                  </a:tcPr>
                </a:tc>
                <a:extLst>
                  <a:ext uri="{0D108BD9-81ED-4DB2-BD59-A6C34878D82A}">
                    <a16:rowId xmlns:a16="http://schemas.microsoft.com/office/drawing/2014/main" val="10007"/>
                  </a:ext>
                </a:extLst>
              </a:tr>
            </a:tbl>
          </a:graphicData>
        </a:graphic>
      </p:graphicFrame>
      <p:sp>
        <p:nvSpPr>
          <p:cNvPr id="9" name="Text 6"/>
          <p:cNvSpPr txBox="1"/>
          <p:nvPr/>
        </p:nvSpPr>
        <p:spPr>
          <a:xfrm>
            <a:off x="548640" y="4709160"/>
            <a:ext cx="914400" cy="201168"/>
          </a:xfrm>
          <a:prstGeom prst="rect">
            <a:avLst/>
          </a:prstGeom>
          <a:noFill/>
          <a:ln/>
        </p:spPr>
        <p:txBody>
          <a:bodyPr wrap="square" lIns="0" tIns="0" rIns="0" bIns="0" rtlCol="0" anchor="ctr"/>
          <a:lstStyle/>
          <a:p>
            <a:pPr marL="0" indent="0">
              <a:buNone/>
            </a:pPr>
            <a:r>
              <a:rPr lang="en-US" sz="800" i="1" dirty="0">
                <a:solidFill>
                  <a:srgbClr val="5B6B7F"/>
                </a:solidFill>
                <a:latin typeface="Calibri" pitchFamily="34" charset="0"/>
                <a:ea typeface="Calibri" pitchFamily="34" charset="-122"/>
                <a:cs typeface="Calibri" pitchFamily="34" charset="-120"/>
              </a:rPr>
              <a:t>Rating scale:</a:t>
            </a:r>
            <a:endParaRPr lang="en-US" sz="800" dirty="0"/>
          </a:p>
        </p:txBody>
      </p:sp>
      <p:sp>
        <p:nvSpPr>
          <p:cNvPr id="10" name="Shape 7"/>
          <p:cNvSpPr/>
          <p:nvPr/>
        </p:nvSpPr>
        <p:spPr>
          <a:xfrm>
            <a:off x="1463040" y="4727448"/>
            <a:ext cx="685800" cy="164592"/>
          </a:xfrm>
          <a:prstGeom prst="roundRect">
            <a:avLst>
              <a:gd name="adj" fmla="val 27778"/>
            </a:avLst>
          </a:prstGeom>
          <a:solidFill>
            <a:srgbClr val="1F4E8C"/>
          </a:solidFill>
          <a:ln w="12700">
            <a:solidFill>
              <a:srgbClr val="1F4E8C"/>
            </a:solidFill>
            <a:prstDash val="solid"/>
          </a:ln>
        </p:spPr>
      </p:sp>
      <p:sp>
        <p:nvSpPr>
          <p:cNvPr id="11" name="Text 8"/>
          <p:cNvSpPr txBox="1"/>
          <p:nvPr/>
        </p:nvSpPr>
        <p:spPr>
          <a:xfrm>
            <a:off x="1463040" y="4727448"/>
            <a:ext cx="685800" cy="164592"/>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High</a:t>
            </a:r>
            <a:endParaRPr lang="en-US" sz="750" dirty="0"/>
          </a:p>
        </p:txBody>
      </p:sp>
      <p:sp>
        <p:nvSpPr>
          <p:cNvPr id="12" name="Shape 9"/>
          <p:cNvSpPr/>
          <p:nvPr/>
        </p:nvSpPr>
        <p:spPr>
          <a:xfrm>
            <a:off x="2240280" y="4727448"/>
            <a:ext cx="685800" cy="164592"/>
          </a:xfrm>
          <a:prstGeom prst="roundRect">
            <a:avLst>
              <a:gd name="adj" fmla="val 27778"/>
            </a:avLst>
          </a:prstGeom>
          <a:solidFill>
            <a:srgbClr val="8DA9C4"/>
          </a:solidFill>
          <a:ln w="12700">
            <a:solidFill>
              <a:srgbClr val="8DA9C4"/>
            </a:solidFill>
            <a:prstDash val="solid"/>
          </a:ln>
        </p:spPr>
      </p:sp>
      <p:sp>
        <p:nvSpPr>
          <p:cNvPr id="13" name="Text 10"/>
          <p:cNvSpPr txBox="1"/>
          <p:nvPr/>
        </p:nvSpPr>
        <p:spPr>
          <a:xfrm>
            <a:off x="2240280" y="4727448"/>
            <a:ext cx="685800" cy="164592"/>
          </a:xfrm>
          <a:prstGeom prst="rect">
            <a:avLst/>
          </a:prstGeom>
          <a:noFill/>
          <a:ln/>
        </p:spPr>
        <p:txBody>
          <a:bodyPr wrap="square" lIns="0" tIns="0" rIns="0" bIns="0" rtlCol="0" anchor="ctr"/>
          <a:lstStyle/>
          <a:p>
            <a:pPr marL="0" indent="0" algn="ctr">
              <a:buNone/>
            </a:pPr>
            <a:r>
              <a:rPr lang="en-US" sz="750" b="1" dirty="0">
                <a:solidFill>
                  <a:srgbClr val="0B2545"/>
                </a:solidFill>
                <a:latin typeface="Calibri" pitchFamily="34" charset="0"/>
                <a:ea typeface="Calibri" pitchFamily="34" charset="-122"/>
                <a:cs typeface="Calibri" pitchFamily="34" charset="-120"/>
              </a:rPr>
              <a:t>Medium</a:t>
            </a:r>
            <a:endParaRPr lang="en-US" sz="750" dirty="0"/>
          </a:p>
        </p:txBody>
      </p:sp>
      <p:sp>
        <p:nvSpPr>
          <p:cNvPr id="8" name="Shape 11"/>
          <p:cNvSpPr/>
          <p:nvPr/>
        </p:nvSpPr>
        <p:spPr>
          <a:xfrm>
            <a:off x="3017520" y="4727448"/>
            <a:ext cx="685800" cy="164592"/>
          </a:xfrm>
          <a:prstGeom prst="roundRect">
            <a:avLst>
              <a:gd name="adj" fmla="val 27778"/>
            </a:avLst>
          </a:prstGeom>
          <a:solidFill>
            <a:srgbClr val="DCE6F2"/>
          </a:solidFill>
          <a:ln w="12700">
            <a:solidFill>
              <a:srgbClr val="DCE6F2"/>
            </a:solidFill>
            <a:prstDash val="solid"/>
          </a:ln>
        </p:spPr>
      </p:sp>
      <p:sp>
        <p:nvSpPr>
          <p:cNvPr id="15" name="Text 12"/>
          <p:cNvSpPr txBox="1"/>
          <p:nvPr/>
        </p:nvSpPr>
        <p:spPr>
          <a:xfrm>
            <a:off x="3017520" y="4727448"/>
            <a:ext cx="685800" cy="164592"/>
          </a:xfrm>
          <a:prstGeom prst="rect">
            <a:avLst/>
          </a:prstGeom>
          <a:noFill/>
          <a:ln/>
        </p:spPr>
        <p:txBody>
          <a:bodyPr wrap="square" lIns="0" tIns="0" rIns="0" bIns="0" rtlCol="0" anchor="ctr"/>
          <a:lstStyle/>
          <a:p>
            <a:pPr marL="0" indent="0" algn="ctr">
              <a:buNone/>
            </a:pPr>
            <a:r>
              <a:rPr lang="en-US" sz="750" b="1" dirty="0">
                <a:solidFill>
                  <a:srgbClr val="0B2545"/>
                </a:solidFill>
                <a:latin typeface="Calibri" pitchFamily="34" charset="0"/>
                <a:ea typeface="Calibri" pitchFamily="34" charset="-122"/>
                <a:cs typeface="Calibri" pitchFamily="34" charset="-120"/>
              </a:rPr>
              <a:t>Low</a:t>
            </a:r>
            <a:endParaRPr lang="en-US" sz="750" dirty="0"/>
          </a:p>
        </p:txBody>
      </p:sp>
      <p:sp>
        <p:nvSpPr>
          <p:cNvPr id="16" name="Text 13"/>
          <p:cNvSpPr txBox="1"/>
          <p:nvPr/>
        </p:nvSpPr>
        <p:spPr>
          <a:xfrm>
            <a:off x="3931920" y="4709160"/>
            <a:ext cx="4023360" cy="201168"/>
          </a:xfrm>
          <a:prstGeom prst="rect">
            <a:avLst/>
          </a:prstGeom>
          <a:noFill/>
          <a:ln/>
        </p:spPr>
        <p:txBody>
          <a:bodyPr wrap="square" lIns="0" tIns="0" rIns="0" bIns="0" rtlCol="0" anchor="ctr"/>
          <a:lstStyle/>
          <a:p>
            <a:pPr marL="0" indent="0" algn="r">
              <a:buNone/>
            </a:pPr>
            <a:r>
              <a:rPr lang="en-US" sz="800" i="1" dirty="0">
                <a:solidFill>
                  <a:srgbClr val="5B6B7F"/>
                </a:solidFill>
                <a:latin typeface="Calibri" pitchFamily="34" charset="0"/>
                <a:ea typeface="Calibri" pitchFamily="34" charset="-122"/>
                <a:cs typeface="Calibri" pitchFamily="34" charset="-120"/>
              </a:rPr>
              <a:t>Complexity: High = harder to deliver   ·   Data readiness: Low = larger data gap</a:t>
            </a:r>
            <a:endParaRPr lang="en-US" sz="800" dirty="0"/>
          </a:p>
        </p:txBody>
      </p:sp>
      <p:sp>
        <p:nvSpPr>
          <p:cNvPr id="17" name="Shape 14"/>
          <p:cNvSpPr/>
          <p:nvPr/>
        </p:nvSpPr>
        <p:spPr>
          <a:xfrm>
            <a:off x="8183880" y="1691640"/>
            <a:ext cx="3429000" cy="3218688"/>
          </a:xfrm>
          <a:prstGeom prst="roundRect">
            <a:avLst>
              <a:gd name="adj" fmla="val 2273"/>
            </a:avLst>
          </a:prstGeom>
          <a:solidFill>
            <a:srgbClr val="0B2545"/>
          </a:solidFill>
          <a:ln w="12700">
            <a:solidFill>
              <a:srgbClr val="0B2545"/>
            </a:solidFill>
            <a:prstDash val="solid"/>
          </a:ln>
        </p:spPr>
      </p:sp>
      <p:sp>
        <p:nvSpPr>
          <p:cNvPr id="18" name="Text 15"/>
          <p:cNvSpPr txBox="1"/>
          <p:nvPr/>
        </p:nvSpPr>
        <p:spPr>
          <a:xfrm>
            <a:off x="8412480" y="1874520"/>
            <a:ext cx="2971800" cy="219456"/>
          </a:xfrm>
          <a:prstGeom prst="rect">
            <a:avLst/>
          </a:prstGeom>
          <a:noFill/>
          <a:ln/>
        </p:spPr>
        <p:txBody>
          <a:bodyPr wrap="square" lIns="0" tIns="0" rIns="0" bIns="0" rtlCol="0" anchor="ctr"/>
          <a:lstStyle/>
          <a:p>
            <a:pPr marL="0" indent="0">
              <a:buNone/>
            </a:pPr>
            <a:r>
              <a:rPr lang="en-US" sz="850" b="1" kern="0" spc="200" dirty="0">
                <a:solidFill>
                  <a:srgbClr val="8DA9C4"/>
                </a:solidFill>
                <a:latin typeface="Calibri" pitchFamily="34" charset="0"/>
                <a:ea typeface="Calibri" pitchFamily="34" charset="-122"/>
                <a:cs typeface="Calibri" pitchFamily="34" charset="-120"/>
              </a:rPr>
              <a:t>RECOMMENDED TRANSFORMATION PATH</a:t>
            </a:r>
            <a:endParaRPr lang="en-US" sz="850" dirty="0"/>
          </a:p>
        </p:txBody>
      </p:sp>
      <p:sp>
        <p:nvSpPr>
          <p:cNvPr id="19" name="Shape 16"/>
          <p:cNvSpPr/>
          <p:nvPr/>
        </p:nvSpPr>
        <p:spPr>
          <a:xfrm>
            <a:off x="8412480" y="2221992"/>
            <a:ext cx="2971800" cy="713232"/>
          </a:xfrm>
          <a:prstGeom prst="roundRect">
            <a:avLst>
              <a:gd name="adj" fmla="val 8974"/>
            </a:avLst>
          </a:prstGeom>
          <a:solidFill>
            <a:srgbClr val="5B95DD"/>
          </a:solidFill>
          <a:ln w="15875">
            <a:solidFill>
              <a:srgbClr val="FFFFFF"/>
            </a:solidFill>
            <a:prstDash val="solid"/>
          </a:ln>
        </p:spPr>
      </p:sp>
      <p:sp>
        <p:nvSpPr>
          <p:cNvPr id="20" name="Text 17"/>
          <p:cNvSpPr txBox="1"/>
          <p:nvPr/>
        </p:nvSpPr>
        <p:spPr>
          <a:xfrm>
            <a:off x="8549640" y="2295144"/>
            <a:ext cx="1828800" cy="182880"/>
          </a:xfrm>
          <a:prstGeom prst="rect">
            <a:avLst/>
          </a:prstGeom>
          <a:noFill/>
          <a:ln/>
        </p:spPr>
        <p:txBody>
          <a:bodyPr wrap="square" lIns="0" tIns="0" rIns="0" bIns="0" rtlCol="0" anchor="ctr"/>
          <a:lstStyle/>
          <a:p>
            <a:pPr marL="0" indent="0">
              <a:buNone/>
            </a:pPr>
            <a:r>
              <a:rPr lang="en-US" sz="750" b="1" kern="0" spc="200" dirty="0">
                <a:solidFill>
                  <a:srgbClr val="FFFFFF"/>
                </a:solidFill>
                <a:latin typeface="Calibri" pitchFamily="34" charset="0"/>
                <a:ea typeface="Calibri" pitchFamily="34" charset="-122"/>
                <a:cs typeface="Calibri" pitchFamily="34" charset="-120"/>
              </a:rPr>
              <a:t>PHASE 1</a:t>
            </a:r>
            <a:endParaRPr lang="en-US" sz="750" dirty="0"/>
          </a:p>
        </p:txBody>
      </p:sp>
      <p:sp>
        <p:nvSpPr>
          <p:cNvPr id="21" name="Text 18"/>
          <p:cNvSpPr txBox="1"/>
          <p:nvPr/>
        </p:nvSpPr>
        <p:spPr>
          <a:xfrm>
            <a:off x="8549640" y="2478024"/>
            <a:ext cx="2697480" cy="4114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Finance Intelligence  +  Internal Business Risk Intelligence</a:t>
            </a:r>
            <a:endParaRPr lang="en-US" sz="1050" dirty="0"/>
          </a:p>
        </p:txBody>
      </p:sp>
      <p:sp>
        <p:nvSpPr>
          <p:cNvPr id="22" name="Shape 19"/>
          <p:cNvSpPr/>
          <p:nvPr/>
        </p:nvSpPr>
        <p:spPr>
          <a:xfrm>
            <a:off x="10378440" y="2304288"/>
            <a:ext cx="914400" cy="164592"/>
          </a:xfrm>
          <a:prstGeom prst="roundRect">
            <a:avLst>
              <a:gd name="adj" fmla="val 50000"/>
            </a:avLst>
          </a:prstGeom>
          <a:solidFill>
            <a:srgbClr val="FFFFFF"/>
          </a:solidFill>
          <a:ln w="12700">
            <a:solidFill>
              <a:srgbClr val="FFFFFF"/>
            </a:solidFill>
            <a:prstDash val="solid"/>
          </a:ln>
        </p:spPr>
      </p:sp>
      <p:sp>
        <p:nvSpPr>
          <p:cNvPr id="23" name="Text 20"/>
          <p:cNvSpPr txBox="1"/>
          <p:nvPr/>
        </p:nvSpPr>
        <p:spPr>
          <a:xfrm>
            <a:off x="10378440" y="2304288"/>
            <a:ext cx="914400" cy="164592"/>
          </a:xfrm>
          <a:prstGeom prst="rect">
            <a:avLst/>
          </a:prstGeom>
          <a:noFill/>
          <a:ln/>
        </p:spPr>
        <p:txBody>
          <a:bodyPr wrap="square" lIns="0" tIns="0" rIns="0" bIns="0" rtlCol="0" anchor="ctr"/>
          <a:lstStyle/>
          <a:p>
            <a:pPr marL="0" indent="0" algn="ctr">
              <a:buNone/>
            </a:pPr>
            <a:r>
              <a:rPr lang="en-US" sz="650" b="1" kern="0" spc="100" dirty="0">
                <a:solidFill>
                  <a:srgbClr val="2A63AD"/>
                </a:solidFill>
                <a:latin typeface="Calibri" pitchFamily="34" charset="0"/>
                <a:ea typeface="Calibri" pitchFamily="34" charset="-122"/>
                <a:cs typeface="Calibri" pitchFamily="34" charset="-120"/>
              </a:rPr>
              <a:t>START HERE</a:t>
            </a:r>
            <a:endParaRPr lang="en-US" sz="650" dirty="0"/>
          </a:p>
        </p:txBody>
      </p:sp>
      <p:sp>
        <p:nvSpPr>
          <p:cNvPr id="24" name="Shape 21"/>
          <p:cNvSpPr/>
          <p:nvPr/>
        </p:nvSpPr>
        <p:spPr>
          <a:xfrm>
            <a:off x="9825228" y="2944368"/>
            <a:ext cx="146304" cy="109728"/>
          </a:xfrm>
          <a:prstGeom prst="downArrow">
            <a:avLst/>
          </a:prstGeom>
          <a:solidFill>
            <a:srgbClr val="8DA9C4"/>
          </a:solidFill>
          <a:ln w="12700">
            <a:solidFill>
              <a:srgbClr val="8DA9C4"/>
            </a:solidFill>
            <a:prstDash val="solid"/>
          </a:ln>
        </p:spPr>
      </p:sp>
      <p:sp>
        <p:nvSpPr>
          <p:cNvPr id="25" name="Shape 22"/>
          <p:cNvSpPr/>
          <p:nvPr/>
        </p:nvSpPr>
        <p:spPr>
          <a:xfrm>
            <a:off x="8412480" y="3063240"/>
            <a:ext cx="2971800" cy="713232"/>
          </a:xfrm>
          <a:prstGeom prst="roundRect">
            <a:avLst>
              <a:gd name="adj" fmla="val 8974"/>
            </a:avLst>
          </a:prstGeom>
          <a:solidFill>
            <a:srgbClr val="0F2F5C"/>
          </a:solidFill>
          <a:ln w="9525">
            <a:solidFill>
              <a:srgbClr val="2E4C77"/>
            </a:solidFill>
            <a:prstDash val="solid"/>
          </a:ln>
        </p:spPr>
      </p:sp>
      <p:sp>
        <p:nvSpPr>
          <p:cNvPr id="26" name="Text 23"/>
          <p:cNvSpPr txBox="1"/>
          <p:nvPr/>
        </p:nvSpPr>
        <p:spPr>
          <a:xfrm>
            <a:off x="8549640" y="3136392"/>
            <a:ext cx="1828800" cy="182880"/>
          </a:xfrm>
          <a:prstGeom prst="rect">
            <a:avLst/>
          </a:prstGeom>
          <a:noFill/>
          <a:ln/>
        </p:spPr>
        <p:txBody>
          <a:bodyPr wrap="square" lIns="0" tIns="0" rIns="0" bIns="0" rtlCol="0" anchor="ctr"/>
          <a:lstStyle/>
          <a:p>
            <a:pPr marL="0" indent="0">
              <a:buNone/>
            </a:pPr>
            <a:r>
              <a:rPr lang="en-US" sz="750" b="1" kern="0" spc="200" dirty="0">
                <a:solidFill>
                  <a:srgbClr val="8DA9C4"/>
                </a:solidFill>
                <a:latin typeface="Calibri" pitchFamily="34" charset="0"/>
                <a:ea typeface="Calibri" pitchFamily="34" charset="-122"/>
                <a:cs typeface="Calibri" pitchFamily="34" charset="-120"/>
              </a:rPr>
              <a:t>PHASE 2</a:t>
            </a:r>
            <a:endParaRPr lang="en-US" sz="750" dirty="0"/>
          </a:p>
        </p:txBody>
      </p:sp>
      <p:sp>
        <p:nvSpPr>
          <p:cNvPr id="27" name="Text 24"/>
          <p:cNvSpPr txBox="1"/>
          <p:nvPr/>
        </p:nvSpPr>
        <p:spPr>
          <a:xfrm>
            <a:off x="8549640" y="3319272"/>
            <a:ext cx="2697480" cy="4114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External Intelligence Enhancement</a:t>
            </a:r>
            <a:endParaRPr lang="en-US" sz="1050" dirty="0"/>
          </a:p>
        </p:txBody>
      </p:sp>
      <p:sp>
        <p:nvSpPr>
          <p:cNvPr id="28" name="Shape 25"/>
          <p:cNvSpPr/>
          <p:nvPr/>
        </p:nvSpPr>
        <p:spPr>
          <a:xfrm>
            <a:off x="9825228" y="3785616"/>
            <a:ext cx="146304" cy="109728"/>
          </a:xfrm>
          <a:prstGeom prst="downArrow">
            <a:avLst/>
          </a:prstGeom>
          <a:solidFill>
            <a:srgbClr val="8DA9C4"/>
          </a:solidFill>
          <a:ln w="12700">
            <a:solidFill>
              <a:srgbClr val="8DA9C4"/>
            </a:solidFill>
            <a:prstDash val="solid"/>
          </a:ln>
        </p:spPr>
      </p:sp>
      <p:sp>
        <p:nvSpPr>
          <p:cNvPr id="29" name="Shape 26"/>
          <p:cNvSpPr/>
          <p:nvPr/>
        </p:nvSpPr>
        <p:spPr>
          <a:xfrm>
            <a:off x="8412480" y="3904488"/>
            <a:ext cx="2971800" cy="713232"/>
          </a:xfrm>
          <a:prstGeom prst="roundRect">
            <a:avLst>
              <a:gd name="adj" fmla="val 8974"/>
            </a:avLst>
          </a:prstGeom>
          <a:solidFill>
            <a:srgbClr val="0F2F5C"/>
          </a:solidFill>
          <a:ln w="9525">
            <a:solidFill>
              <a:srgbClr val="2E4C77"/>
            </a:solidFill>
            <a:prstDash val="solid"/>
          </a:ln>
        </p:spPr>
      </p:sp>
      <p:sp>
        <p:nvSpPr>
          <p:cNvPr id="30" name="Text 27"/>
          <p:cNvSpPr txBox="1"/>
          <p:nvPr/>
        </p:nvSpPr>
        <p:spPr>
          <a:xfrm>
            <a:off x="8549640" y="3977640"/>
            <a:ext cx="1828800" cy="182880"/>
          </a:xfrm>
          <a:prstGeom prst="rect">
            <a:avLst/>
          </a:prstGeom>
          <a:noFill/>
          <a:ln/>
        </p:spPr>
        <p:txBody>
          <a:bodyPr wrap="square" lIns="0" tIns="0" rIns="0" bIns="0" rtlCol="0" anchor="ctr"/>
          <a:lstStyle/>
          <a:p>
            <a:pPr marL="0" indent="0">
              <a:buNone/>
            </a:pPr>
            <a:r>
              <a:rPr lang="en-US" sz="750" b="1" kern="0" spc="200" dirty="0">
                <a:solidFill>
                  <a:srgbClr val="8DA9C4"/>
                </a:solidFill>
                <a:latin typeface="Calibri" pitchFamily="34" charset="0"/>
                <a:ea typeface="Calibri" pitchFamily="34" charset="-122"/>
                <a:cs typeface="Calibri" pitchFamily="34" charset="-120"/>
              </a:rPr>
              <a:t>PHASE 3</a:t>
            </a:r>
            <a:endParaRPr lang="en-US" sz="750" dirty="0"/>
          </a:p>
        </p:txBody>
      </p:sp>
      <p:sp>
        <p:nvSpPr>
          <p:cNvPr id="31" name="Text 28"/>
          <p:cNvSpPr txBox="1"/>
          <p:nvPr/>
        </p:nvSpPr>
        <p:spPr>
          <a:xfrm>
            <a:off x="8549640" y="4160520"/>
            <a:ext cx="2697480" cy="4114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Commercial Recommendation Engine</a:t>
            </a:r>
            <a:endParaRPr lang="en-US" sz="1050" dirty="0"/>
          </a:p>
        </p:txBody>
      </p:sp>
      <p:sp>
        <p:nvSpPr>
          <p:cNvPr id="32" name="Shape 29"/>
          <p:cNvSpPr/>
          <p:nvPr/>
        </p:nvSpPr>
        <p:spPr>
          <a:xfrm>
            <a:off x="548640" y="5074920"/>
            <a:ext cx="11064240" cy="1188720"/>
          </a:xfrm>
          <a:prstGeom prst="roundRect">
            <a:avLst>
              <a:gd name="adj" fmla="val 6154"/>
            </a:avLst>
          </a:prstGeom>
          <a:solidFill>
            <a:srgbClr val="DCE6F2"/>
          </a:solidFill>
          <a:ln w="12700">
            <a:solidFill>
              <a:srgbClr val="DCE6F2"/>
            </a:solidFill>
            <a:prstDash val="solid"/>
          </a:ln>
        </p:spPr>
      </p:sp>
      <p:sp>
        <p:nvSpPr>
          <p:cNvPr id="33" name="Text 30"/>
          <p:cNvSpPr txBox="1"/>
          <p:nvPr/>
        </p:nvSpPr>
        <p:spPr>
          <a:xfrm>
            <a:off x="777240" y="5166360"/>
            <a:ext cx="3657600" cy="201168"/>
          </a:xfrm>
          <a:prstGeom prst="rect">
            <a:avLst/>
          </a:prstGeom>
          <a:noFill/>
          <a:ln/>
        </p:spPr>
        <p:txBody>
          <a:bodyPr wrap="square" lIns="0" tIns="0" rIns="0" bIns="0" rtlCol="0" anchor="ctr"/>
          <a:lstStyle/>
          <a:p>
            <a:pPr marL="0" indent="0">
              <a:buNone/>
            </a:pPr>
            <a:r>
              <a:rPr lang="en-US" sz="850" b="1" kern="0" spc="200" dirty="0">
                <a:solidFill>
                  <a:srgbClr val="1F4E8C"/>
                </a:solidFill>
                <a:latin typeface="Calibri" pitchFamily="34" charset="0"/>
                <a:ea typeface="Calibri" pitchFamily="34" charset="-122"/>
                <a:cs typeface="Calibri" pitchFamily="34" charset="-120"/>
              </a:rPr>
              <a:t>EXECUTIVE TAKEAWAY</a:t>
            </a:r>
            <a:endParaRPr lang="en-US" sz="850" dirty="0"/>
          </a:p>
        </p:txBody>
      </p:sp>
      <p:sp>
        <p:nvSpPr>
          <p:cNvPr id="34" name="Text 31"/>
          <p:cNvSpPr txBox="1"/>
          <p:nvPr/>
        </p:nvSpPr>
        <p:spPr>
          <a:xfrm>
            <a:off x="777240" y="5404104"/>
            <a:ext cx="2926080" cy="274320"/>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Start with the capabilities that:</a:t>
            </a:r>
            <a:endParaRPr lang="en-US" sz="1100" dirty="0"/>
          </a:p>
        </p:txBody>
      </p:sp>
      <p:sp>
        <p:nvSpPr>
          <p:cNvPr id="35" name="Shape 32"/>
          <p:cNvSpPr/>
          <p:nvPr/>
        </p:nvSpPr>
        <p:spPr>
          <a:xfrm>
            <a:off x="3611880" y="5404104"/>
            <a:ext cx="2194560" cy="274320"/>
          </a:xfrm>
          <a:prstGeom prst="roundRect">
            <a:avLst>
              <a:gd name="adj" fmla="val 50000"/>
            </a:avLst>
          </a:prstGeom>
          <a:solidFill>
            <a:srgbClr val="FFFFFF"/>
          </a:solidFill>
          <a:ln w="9525">
            <a:solidFill>
              <a:srgbClr val="1F4E8C"/>
            </a:solidFill>
            <a:prstDash val="solid"/>
          </a:ln>
        </p:spPr>
      </p:sp>
      <p:sp>
        <p:nvSpPr>
          <p:cNvPr id="36" name="Text 33"/>
          <p:cNvSpPr txBox="1"/>
          <p:nvPr/>
        </p:nvSpPr>
        <p:spPr>
          <a:xfrm>
            <a:off x="3611880" y="5404104"/>
            <a:ext cx="2194560" cy="274320"/>
          </a:xfrm>
          <a:prstGeom prst="rect">
            <a:avLst/>
          </a:prstGeom>
          <a:noFill/>
          <a:ln/>
        </p:spPr>
        <p:txBody>
          <a:bodyPr wrap="square" lIns="0" tIns="0" rIns="0" bIns="0" rtlCol="0" anchor="ctr"/>
          <a:lstStyle/>
          <a:p>
            <a:pPr marL="0" indent="0" algn="ctr">
              <a:buNone/>
            </a:pPr>
            <a:r>
              <a:rPr lang="en-US" sz="850" dirty="0">
                <a:solidFill>
                  <a:srgbClr val="0B2545"/>
                </a:solidFill>
                <a:latin typeface="Calibri" pitchFamily="34" charset="0"/>
                <a:ea typeface="Calibri" pitchFamily="34" charset="-122"/>
                <a:cs typeface="Calibri" pitchFamily="34" charset="-120"/>
              </a:rPr>
              <a:t>Create the highest business value</a:t>
            </a:r>
            <a:endParaRPr lang="en-US" sz="850" dirty="0"/>
          </a:p>
        </p:txBody>
      </p:sp>
      <p:sp>
        <p:nvSpPr>
          <p:cNvPr id="37" name="Shape 34"/>
          <p:cNvSpPr/>
          <p:nvPr/>
        </p:nvSpPr>
        <p:spPr>
          <a:xfrm>
            <a:off x="5943600" y="5404104"/>
            <a:ext cx="2194560" cy="274320"/>
          </a:xfrm>
          <a:prstGeom prst="roundRect">
            <a:avLst>
              <a:gd name="adj" fmla="val 50000"/>
            </a:avLst>
          </a:prstGeom>
          <a:solidFill>
            <a:srgbClr val="FFFFFF"/>
          </a:solidFill>
          <a:ln w="9525">
            <a:solidFill>
              <a:srgbClr val="1F4E8C"/>
            </a:solidFill>
            <a:prstDash val="solid"/>
          </a:ln>
        </p:spPr>
      </p:sp>
      <p:sp>
        <p:nvSpPr>
          <p:cNvPr id="38" name="Text 35"/>
          <p:cNvSpPr txBox="1"/>
          <p:nvPr/>
        </p:nvSpPr>
        <p:spPr>
          <a:xfrm>
            <a:off x="5943600" y="5404104"/>
            <a:ext cx="2194560" cy="274320"/>
          </a:xfrm>
          <a:prstGeom prst="rect">
            <a:avLst/>
          </a:prstGeom>
          <a:noFill/>
          <a:ln/>
        </p:spPr>
        <p:txBody>
          <a:bodyPr wrap="square" lIns="0" tIns="0" rIns="0" bIns="0" rtlCol="0" anchor="ctr"/>
          <a:lstStyle/>
          <a:p>
            <a:pPr marL="0" indent="0" algn="ctr">
              <a:buNone/>
            </a:pPr>
            <a:r>
              <a:rPr lang="en-US" sz="850" dirty="0">
                <a:solidFill>
                  <a:srgbClr val="0B2545"/>
                </a:solidFill>
                <a:latin typeface="Calibri" pitchFamily="34" charset="0"/>
                <a:ea typeface="Calibri" pitchFamily="34" charset="-122"/>
                <a:cs typeface="Calibri" pitchFamily="34" charset="-120"/>
              </a:rPr>
              <a:t>Leverage existing Nexbill data</a:t>
            </a:r>
            <a:endParaRPr lang="en-US" sz="850" dirty="0"/>
          </a:p>
        </p:txBody>
      </p:sp>
      <p:sp>
        <p:nvSpPr>
          <p:cNvPr id="39" name="Shape 36"/>
          <p:cNvSpPr/>
          <p:nvPr/>
        </p:nvSpPr>
        <p:spPr>
          <a:xfrm>
            <a:off x="8275320" y="5404104"/>
            <a:ext cx="2194560" cy="274320"/>
          </a:xfrm>
          <a:prstGeom prst="roundRect">
            <a:avLst>
              <a:gd name="adj" fmla="val 50000"/>
            </a:avLst>
          </a:prstGeom>
          <a:solidFill>
            <a:srgbClr val="FFFFFF"/>
          </a:solidFill>
          <a:ln w="9525">
            <a:solidFill>
              <a:srgbClr val="1F4E8C"/>
            </a:solidFill>
            <a:prstDash val="solid"/>
          </a:ln>
        </p:spPr>
      </p:sp>
      <p:sp>
        <p:nvSpPr>
          <p:cNvPr id="40" name="Text 37"/>
          <p:cNvSpPr txBox="1"/>
          <p:nvPr/>
        </p:nvSpPr>
        <p:spPr>
          <a:xfrm>
            <a:off x="8275320" y="5404104"/>
            <a:ext cx="2194560" cy="274320"/>
          </a:xfrm>
          <a:prstGeom prst="rect">
            <a:avLst/>
          </a:prstGeom>
          <a:noFill/>
          <a:ln/>
        </p:spPr>
        <p:txBody>
          <a:bodyPr wrap="square" lIns="0" tIns="0" rIns="0" bIns="0" rtlCol="0" anchor="ctr"/>
          <a:lstStyle/>
          <a:p>
            <a:pPr marL="0" indent="0" algn="ctr">
              <a:buNone/>
            </a:pPr>
            <a:r>
              <a:rPr lang="en-US" sz="850" dirty="0">
                <a:solidFill>
                  <a:srgbClr val="0B2545"/>
                </a:solidFill>
                <a:latin typeface="Calibri" pitchFamily="34" charset="0"/>
                <a:ea typeface="Calibri" pitchFamily="34" charset="-122"/>
                <a:cs typeface="Calibri" pitchFamily="34" charset="-120"/>
              </a:rPr>
              <a:t>Require the lowest organizational change</a:t>
            </a:r>
            <a:endParaRPr lang="en-US" sz="850" dirty="0"/>
          </a:p>
        </p:txBody>
      </p:sp>
      <p:sp>
        <p:nvSpPr>
          <p:cNvPr id="41" name="Text 38"/>
          <p:cNvSpPr txBox="1"/>
          <p:nvPr/>
        </p:nvSpPr>
        <p:spPr>
          <a:xfrm>
            <a:off x="777240" y="5733288"/>
            <a:ext cx="10607040" cy="457200"/>
          </a:xfrm>
          <a:prstGeom prst="rect">
            <a:avLst/>
          </a:prstGeom>
          <a:noFill/>
          <a:ln/>
        </p:spPr>
        <p:txBody>
          <a:bodyPr wrap="square" lIns="0" tIns="0" rIns="0" bIns="0" rtlCol="0" anchor="ctr"/>
          <a:lstStyle/>
          <a:p>
            <a:pPr marL="0" indent="0">
              <a:buNone/>
            </a:pPr>
            <a:r>
              <a:rPr lang="en-US" sz="1050" i="1" dirty="0">
                <a:solidFill>
                  <a:srgbClr val="33475B"/>
                </a:solidFill>
                <a:latin typeface="Calibri" pitchFamily="34" charset="0"/>
                <a:ea typeface="Calibri" pitchFamily="34" charset="-122"/>
                <a:cs typeface="Calibri" pitchFamily="34" charset="-120"/>
              </a:rPr>
              <a:t>Build external intelligence and recommendation capabilities only after the foundational intelligence layers are validated.</a:t>
            </a:r>
            <a:endParaRPr lang="en-US" sz="1050" dirty="0"/>
          </a:p>
        </p:txBody>
      </p:sp>
      <p:sp>
        <p:nvSpPr>
          <p:cNvPr id="42" name="Text 39"/>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900" dirty="0">
                <a:solidFill>
                  <a:srgbClr val="9AA8B8"/>
                </a:solidFill>
                <a:latin typeface="Calibri" pitchFamily="34" charset="0"/>
                <a:ea typeface="Calibri" pitchFamily="34" charset="-122"/>
                <a:cs typeface="Calibri" pitchFamily="34" charset="-120"/>
              </a:rPr>
              <a:t>Nexbill Financial Intelligence Platform</a:t>
            </a:r>
            <a:endParaRPr lang="en-US" sz="900" dirty="0"/>
          </a:p>
        </p:txBody>
      </p:sp>
      <p:sp>
        <p:nvSpPr>
          <p:cNvPr id="43" name="Text 40"/>
          <p:cNvSpPr txBox="1"/>
          <p:nvPr/>
        </p:nvSpPr>
        <p:spPr>
          <a:xfrm>
            <a:off x="11064240" y="6400800"/>
            <a:ext cx="548640" cy="274320"/>
          </a:xfrm>
          <a:prstGeom prst="rect">
            <a:avLst/>
          </a:prstGeom>
          <a:noFill/>
          <a:ln/>
        </p:spPr>
        <p:txBody>
          <a:bodyPr wrap="square" lIns="0" tIns="0" rIns="0" bIns="0" rtlCol="0" anchor="ctr"/>
          <a:lstStyle/>
          <a:p>
            <a:pPr marL="0" indent="0" algn="r">
              <a:buNone/>
            </a:pPr>
            <a:r>
              <a:rPr lang="en-US" sz="900" dirty="0">
                <a:solidFill>
                  <a:srgbClr val="9AA8B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Business Risk Intelligence Center</a:t>
            </a:r>
            <a:endParaRPr lang="en-US" sz="3000" dirty="0"/>
          </a:p>
        </p:txBody>
      </p:sp>
      <p:sp>
        <p:nvSpPr>
          <p:cNvPr id="3" name="Text 1"/>
          <p:cNvSpPr txBox="1"/>
          <p:nvPr/>
        </p:nvSpPr>
        <p:spPr>
          <a:xfrm>
            <a:off x="548640" y="1078992"/>
            <a:ext cx="8595360" cy="502920"/>
          </a:xfrm>
          <a:prstGeom prst="rect">
            <a:avLst/>
          </a:prstGeom>
          <a:noFill/>
          <a:ln/>
        </p:spPr>
        <p:txBody>
          <a:bodyPr wrap="square" lIns="0" tIns="0" rIns="0" bIns="0" rtlCol="0" anchor="t"/>
          <a:lstStyle/>
          <a:p>
            <a:pPr marL="0" indent="0">
              <a:buNone/>
            </a:pPr>
            <a:r>
              <a:rPr lang="en-US" sz="1500" i="1" dirty="0">
                <a:solidFill>
                  <a:srgbClr val="5B6B7F"/>
                </a:solidFill>
                <a:latin typeface="Calibri" pitchFamily="34" charset="0"/>
                <a:ea typeface="Calibri" pitchFamily="34" charset="-122"/>
                <a:cs typeface="Calibri" pitchFamily="34" charset="-120"/>
              </a:rPr>
              <a:t>Illustrative product mockup — a Finance Command Center: portfolio-level view of risk and opportunity in one interface.</a:t>
            </a:r>
            <a:endParaRPr lang="en-US" sz="1500" dirty="0"/>
          </a:p>
        </p:txBody>
      </p:sp>
      <p:sp>
        <p:nvSpPr>
          <p:cNvPr id="4" name="Shape 2"/>
          <p:cNvSpPr/>
          <p:nvPr/>
        </p:nvSpPr>
        <p:spPr>
          <a:xfrm>
            <a:off x="9107424" y="438912"/>
            <a:ext cx="2505456" cy="256032"/>
          </a:xfrm>
          <a:prstGeom prst="rect">
            <a:avLst/>
          </a:prstGeom>
          <a:solidFill>
            <a:srgbClr val="0B2545"/>
          </a:solidFill>
          <a:ln w="12700">
            <a:solidFill>
              <a:srgbClr val="0B2545"/>
            </a:solidFill>
            <a:prstDash val="solid"/>
          </a:ln>
        </p:spPr>
      </p:sp>
      <p:sp>
        <p:nvSpPr>
          <p:cNvPr id="5" name="Text 3"/>
          <p:cNvSpPr txBox="1"/>
          <p:nvPr/>
        </p:nvSpPr>
        <p:spPr>
          <a:xfrm>
            <a:off x="9107424" y="438912"/>
            <a:ext cx="2505456"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latin typeface="Calibri" pitchFamily="34" charset="0"/>
                <a:ea typeface="Calibri" pitchFamily="34" charset="-122"/>
                <a:cs typeface="Calibri" pitchFamily="34" charset="-120"/>
              </a:rPr>
              <a:t>BACKUP  ·  ILLUSTRATIVE MOCKUP</a:t>
            </a:r>
            <a:endParaRPr lang="en-US" sz="850" dirty="0"/>
          </a:p>
        </p:txBody>
      </p:sp>
      <p:sp>
        <p:nvSpPr>
          <p:cNvPr id="6" name="Shape 4"/>
          <p:cNvSpPr/>
          <p:nvPr/>
        </p:nvSpPr>
        <p:spPr>
          <a:xfrm>
            <a:off x="548640" y="1600200"/>
            <a:ext cx="8229600" cy="4160520"/>
          </a:xfrm>
          <a:prstGeom prst="roundRect">
            <a:avLst>
              <a:gd name="adj" fmla="val 2198"/>
            </a:avLst>
          </a:prstGeom>
          <a:solidFill>
            <a:srgbClr val="FFFFFF"/>
          </a:solidFill>
          <a:ln w="12700">
            <a:solidFill>
              <a:srgbClr val="C9D6E6"/>
            </a:solidFill>
            <a:prstDash val="solid"/>
          </a:ln>
          <a:effectLst>
            <a:outerShdw blurRad="101600" dist="38100" dir="5400000" algn="bl" rotWithShape="0">
              <a:srgbClr val="9AA8B8">
                <a:alpha val="35000"/>
              </a:srgbClr>
            </a:outerShdw>
          </a:effectLst>
        </p:spPr>
      </p:sp>
      <p:sp>
        <p:nvSpPr>
          <p:cNvPr id="7" name="Shape 5"/>
          <p:cNvSpPr/>
          <p:nvPr/>
        </p:nvSpPr>
        <p:spPr>
          <a:xfrm>
            <a:off x="557784" y="1609344"/>
            <a:ext cx="8211312" cy="365760"/>
          </a:xfrm>
          <a:prstGeom prst="rect">
            <a:avLst/>
          </a:prstGeom>
          <a:solidFill>
            <a:srgbClr val="0B2545"/>
          </a:solidFill>
          <a:ln w="12700">
            <a:solidFill>
              <a:srgbClr val="0B2545"/>
            </a:solidFill>
            <a:prstDash val="solid"/>
          </a:ln>
        </p:spPr>
      </p:sp>
      <p:sp>
        <p:nvSpPr>
          <p:cNvPr id="8" name="Shape 6"/>
          <p:cNvSpPr/>
          <p:nvPr/>
        </p:nvSpPr>
        <p:spPr>
          <a:xfrm>
            <a:off x="685800" y="1737360"/>
            <a:ext cx="100584" cy="100584"/>
          </a:xfrm>
          <a:prstGeom prst="ellipse">
            <a:avLst/>
          </a:prstGeom>
          <a:solidFill>
            <a:srgbClr val="FF6B6B"/>
          </a:solidFill>
          <a:ln w="12700">
            <a:solidFill>
              <a:srgbClr val="FF6B6B"/>
            </a:solidFill>
            <a:prstDash val="solid"/>
          </a:ln>
        </p:spPr>
      </p:sp>
      <p:sp>
        <p:nvSpPr>
          <p:cNvPr id="9" name="Shape 7"/>
          <p:cNvSpPr/>
          <p:nvPr/>
        </p:nvSpPr>
        <p:spPr>
          <a:xfrm>
            <a:off x="841248" y="1737360"/>
            <a:ext cx="100584" cy="100584"/>
          </a:xfrm>
          <a:prstGeom prst="ellipse">
            <a:avLst/>
          </a:prstGeom>
          <a:solidFill>
            <a:srgbClr val="FFD166"/>
          </a:solidFill>
          <a:ln w="12700">
            <a:solidFill>
              <a:srgbClr val="FFD166"/>
            </a:solidFill>
            <a:prstDash val="solid"/>
          </a:ln>
        </p:spPr>
      </p:sp>
      <p:sp>
        <p:nvSpPr>
          <p:cNvPr id="10" name="Shape 8"/>
          <p:cNvSpPr/>
          <p:nvPr/>
        </p:nvSpPr>
        <p:spPr>
          <a:xfrm>
            <a:off x="996696" y="1737360"/>
            <a:ext cx="100584" cy="100584"/>
          </a:xfrm>
          <a:prstGeom prst="ellipse">
            <a:avLst/>
          </a:prstGeom>
          <a:solidFill>
            <a:srgbClr val="6BCB77"/>
          </a:solidFill>
          <a:ln w="12700">
            <a:solidFill>
              <a:srgbClr val="6BCB77"/>
            </a:solidFill>
            <a:prstDash val="solid"/>
          </a:ln>
        </p:spPr>
      </p:sp>
      <p:sp>
        <p:nvSpPr>
          <p:cNvPr id="11" name="Text 9"/>
          <p:cNvSpPr txBox="1"/>
          <p:nvPr/>
        </p:nvSpPr>
        <p:spPr>
          <a:xfrm>
            <a:off x="1280160" y="1609344"/>
            <a:ext cx="7315200" cy="365760"/>
          </a:xfrm>
          <a:prstGeom prst="rect">
            <a:avLst/>
          </a:prstGeom>
          <a:noFill/>
          <a:ln/>
        </p:spPr>
        <p:txBody>
          <a:bodyPr wrap="square" lIns="0" tIns="0" rIns="0" bIns="0" rtlCol="0" anchor="ctr"/>
          <a:lstStyle/>
          <a:p>
            <a:pPr marL="0" indent="0">
              <a:buNone/>
            </a:pPr>
            <a:r>
              <a:rPr lang="en-US" sz="900" b="1" kern="0" spc="100" dirty="0">
                <a:solidFill>
                  <a:srgbClr val="FFFFFF"/>
                </a:solidFill>
                <a:latin typeface="Calibri" pitchFamily="34" charset="0"/>
                <a:ea typeface="Calibri" pitchFamily="34" charset="-122"/>
                <a:cs typeface="Calibri" pitchFamily="34" charset="-120"/>
              </a:rPr>
              <a:t>NEXBILL  ·  BUSINESS RISK INTELLIGENCE CENTER  ·  FINANCE COMMAND CENTER</a:t>
            </a:r>
            <a:endParaRPr lang="en-US" sz="900" dirty="0"/>
          </a:p>
        </p:txBody>
      </p:sp>
      <p:sp>
        <p:nvSpPr>
          <p:cNvPr id="12" name="Shape 10"/>
          <p:cNvSpPr/>
          <p:nvPr/>
        </p:nvSpPr>
        <p:spPr>
          <a:xfrm>
            <a:off x="731520" y="2130552"/>
            <a:ext cx="1863090" cy="749808"/>
          </a:xfrm>
          <a:prstGeom prst="roundRect">
            <a:avLst>
              <a:gd name="adj" fmla="val 7317"/>
            </a:avLst>
          </a:prstGeom>
          <a:solidFill>
            <a:srgbClr val="0B2545"/>
          </a:solidFill>
          <a:ln w="12700">
            <a:solidFill>
              <a:srgbClr val="0B2545"/>
            </a:solidFill>
            <a:prstDash val="solid"/>
          </a:ln>
        </p:spPr>
      </p:sp>
      <p:sp>
        <p:nvSpPr>
          <p:cNvPr id="13" name="Text 11"/>
          <p:cNvSpPr txBox="1"/>
          <p:nvPr/>
        </p:nvSpPr>
        <p:spPr>
          <a:xfrm>
            <a:off x="868680" y="2221992"/>
            <a:ext cx="1588770" cy="182880"/>
          </a:xfrm>
          <a:prstGeom prst="rect">
            <a:avLst/>
          </a:prstGeom>
          <a:noFill/>
          <a:ln/>
        </p:spPr>
        <p:txBody>
          <a:bodyPr wrap="square" lIns="0" tIns="0" rIns="0" bIns="0" rtlCol="0" anchor="ctr"/>
          <a:lstStyle/>
          <a:p>
            <a:pPr marL="0" indent="0">
              <a:buNone/>
            </a:pPr>
            <a:r>
              <a:rPr lang="en-US" sz="700" b="1" kern="0" spc="100" dirty="0">
                <a:solidFill>
                  <a:srgbClr val="8DA9C4"/>
                </a:solidFill>
                <a:latin typeface="Calibri" pitchFamily="34" charset="0"/>
                <a:ea typeface="Calibri" pitchFamily="34" charset="-122"/>
                <a:cs typeface="Calibri" pitchFamily="34" charset="-120"/>
              </a:rPr>
              <a:t>REVENUE AT RISK</a:t>
            </a:r>
            <a:endParaRPr lang="en-US" sz="700" dirty="0"/>
          </a:p>
        </p:txBody>
      </p:sp>
      <p:sp>
        <p:nvSpPr>
          <p:cNvPr id="14" name="Text 12"/>
          <p:cNvSpPr txBox="1"/>
          <p:nvPr/>
        </p:nvSpPr>
        <p:spPr>
          <a:xfrm>
            <a:off x="868680" y="2404872"/>
            <a:ext cx="1588770" cy="4114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$18.5M</a:t>
            </a:r>
            <a:endParaRPr lang="en-US" sz="2000" dirty="0"/>
          </a:p>
        </p:txBody>
      </p:sp>
      <p:sp>
        <p:nvSpPr>
          <p:cNvPr id="15" name="Shape 13"/>
          <p:cNvSpPr/>
          <p:nvPr/>
        </p:nvSpPr>
        <p:spPr>
          <a:xfrm>
            <a:off x="2731770" y="2130552"/>
            <a:ext cx="1863090" cy="749808"/>
          </a:xfrm>
          <a:prstGeom prst="roundRect">
            <a:avLst>
              <a:gd name="adj" fmla="val 7317"/>
            </a:avLst>
          </a:prstGeom>
          <a:solidFill>
            <a:srgbClr val="0B2545"/>
          </a:solidFill>
          <a:ln w="12700">
            <a:solidFill>
              <a:srgbClr val="0B2545"/>
            </a:solidFill>
            <a:prstDash val="solid"/>
          </a:ln>
        </p:spPr>
      </p:sp>
      <p:sp>
        <p:nvSpPr>
          <p:cNvPr id="16" name="Text 14"/>
          <p:cNvSpPr txBox="1"/>
          <p:nvPr/>
        </p:nvSpPr>
        <p:spPr>
          <a:xfrm>
            <a:off x="2868930" y="2221992"/>
            <a:ext cx="1588770" cy="182880"/>
          </a:xfrm>
          <a:prstGeom prst="rect">
            <a:avLst/>
          </a:prstGeom>
          <a:noFill/>
          <a:ln/>
        </p:spPr>
        <p:txBody>
          <a:bodyPr wrap="square" lIns="0" tIns="0" rIns="0" bIns="0" rtlCol="0" anchor="ctr"/>
          <a:lstStyle/>
          <a:p>
            <a:pPr marL="0" indent="0">
              <a:buNone/>
            </a:pPr>
            <a:r>
              <a:rPr lang="en-US" sz="700" b="1" kern="0" spc="100" dirty="0">
                <a:solidFill>
                  <a:srgbClr val="8DA9C4"/>
                </a:solidFill>
                <a:latin typeface="Calibri" pitchFamily="34" charset="0"/>
                <a:ea typeface="Calibri" pitchFamily="34" charset="-122"/>
                <a:cs typeface="Calibri" pitchFamily="34" charset="-120"/>
              </a:rPr>
              <a:t>HIGH-RISK CUSTOMERS</a:t>
            </a:r>
            <a:endParaRPr lang="en-US" sz="700" dirty="0"/>
          </a:p>
        </p:txBody>
      </p:sp>
      <p:sp>
        <p:nvSpPr>
          <p:cNvPr id="17" name="Text 15"/>
          <p:cNvSpPr txBox="1"/>
          <p:nvPr/>
        </p:nvSpPr>
        <p:spPr>
          <a:xfrm>
            <a:off x="2868930" y="2404872"/>
            <a:ext cx="1588770" cy="4114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12</a:t>
            </a:r>
            <a:endParaRPr lang="en-US" sz="2000" dirty="0"/>
          </a:p>
        </p:txBody>
      </p:sp>
      <p:sp>
        <p:nvSpPr>
          <p:cNvPr id="18" name="Shape 16"/>
          <p:cNvSpPr/>
          <p:nvPr/>
        </p:nvSpPr>
        <p:spPr>
          <a:xfrm>
            <a:off x="4732020" y="2130552"/>
            <a:ext cx="1863090" cy="749808"/>
          </a:xfrm>
          <a:prstGeom prst="roundRect">
            <a:avLst>
              <a:gd name="adj" fmla="val 7317"/>
            </a:avLst>
          </a:prstGeom>
          <a:solidFill>
            <a:srgbClr val="0B2545"/>
          </a:solidFill>
          <a:ln w="12700">
            <a:solidFill>
              <a:srgbClr val="0B2545"/>
            </a:solidFill>
            <a:prstDash val="solid"/>
          </a:ln>
        </p:spPr>
      </p:sp>
      <p:sp>
        <p:nvSpPr>
          <p:cNvPr id="19" name="Text 17"/>
          <p:cNvSpPr txBox="1"/>
          <p:nvPr/>
        </p:nvSpPr>
        <p:spPr>
          <a:xfrm>
            <a:off x="4869180" y="2221992"/>
            <a:ext cx="1588770" cy="182880"/>
          </a:xfrm>
          <a:prstGeom prst="rect">
            <a:avLst/>
          </a:prstGeom>
          <a:noFill/>
          <a:ln/>
        </p:spPr>
        <p:txBody>
          <a:bodyPr wrap="square" lIns="0" tIns="0" rIns="0" bIns="0" rtlCol="0" anchor="ctr"/>
          <a:lstStyle/>
          <a:p>
            <a:pPr marL="0" indent="0">
              <a:buNone/>
            </a:pPr>
            <a:r>
              <a:rPr lang="en-US" sz="700" b="1" kern="0" spc="100" dirty="0">
                <a:solidFill>
                  <a:srgbClr val="8DA9C4"/>
                </a:solidFill>
                <a:latin typeface="Calibri" pitchFamily="34" charset="0"/>
                <a:ea typeface="Calibri" pitchFamily="34" charset="-122"/>
                <a:cs typeface="Calibri" pitchFamily="34" charset="-120"/>
              </a:rPr>
              <a:t>COLLECTION EXPOSURE</a:t>
            </a:r>
            <a:endParaRPr lang="en-US" sz="700" dirty="0"/>
          </a:p>
        </p:txBody>
      </p:sp>
      <p:sp>
        <p:nvSpPr>
          <p:cNvPr id="20" name="Text 18"/>
          <p:cNvSpPr txBox="1"/>
          <p:nvPr/>
        </p:nvSpPr>
        <p:spPr>
          <a:xfrm>
            <a:off x="4869180" y="2404872"/>
            <a:ext cx="1588770" cy="4114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$6.3M</a:t>
            </a:r>
            <a:endParaRPr lang="en-US" sz="2000" dirty="0"/>
          </a:p>
        </p:txBody>
      </p:sp>
      <p:sp>
        <p:nvSpPr>
          <p:cNvPr id="21" name="Shape 19"/>
          <p:cNvSpPr/>
          <p:nvPr/>
        </p:nvSpPr>
        <p:spPr>
          <a:xfrm>
            <a:off x="6732270" y="2130552"/>
            <a:ext cx="1863090" cy="749808"/>
          </a:xfrm>
          <a:prstGeom prst="roundRect">
            <a:avLst>
              <a:gd name="adj" fmla="val 7317"/>
            </a:avLst>
          </a:prstGeom>
          <a:solidFill>
            <a:srgbClr val="0B2545"/>
          </a:solidFill>
          <a:ln w="12700">
            <a:solidFill>
              <a:srgbClr val="0B2545"/>
            </a:solidFill>
            <a:prstDash val="solid"/>
          </a:ln>
        </p:spPr>
      </p:sp>
      <p:sp>
        <p:nvSpPr>
          <p:cNvPr id="22" name="Text 20"/>
          <p:cNvSpPr txBox="1"/>
          <p:nvPr/>
        </p:nvSpPr>
        <p:spPr>
          <a:xfrm>
            <a:off x="6869430" y="2221992"/>
            <a:ext cx="1588770" cy="182880"/>
          </a:xfrm>
          <a:prstGeom prst="rect">
            <a:avLst/>
          </a:prstGeom>
          <a:noFill/>
          <a:ln/>
        </p:spPr>
        <p:txBody>
          <a:bodyPr wrap="square" lIns="0" tIns="0" rIns="0" bIns="0" rtlCol="0" anchor="ctr"/>
          <a:lstStyle/>
          <a:p>
            <a:pPr marL="0" indent="0">
              <a:buNone/>
            </a:pPr>
            <a:r>
              <a:rPr lang="en-US" sz="700" b="1" kern="0" spc="100" dirty="0">
                <a:solidFill>
                  <a:srgbClr val="8DA9C4"/>
                </a:solidFill>
                <a:latin typeface="Calibri" pitchFamily="34" charset="0"/>
                <a:ea typeface="Calibri" pitchFamily="34" charset="-122"/>
                <a:cs typeface="Calibri" pitchFamily="34" charset="-120"/>
              </a:rPr>
              <a:t>RENEWALS AT RISK</a:t>
            </a:r>
            <a:endParaRPr lang="en-US" sz="700" dirty="0"/>
          </a:p>
        </p:txBody>
      </p:sp>
      <p:sp>
        <p:nvSpPr>
          <p:cNvPr id="23" name="Text 21"/>
          <p:cNvSpPr txBox="1"/>
          <p:nvPr/>
        </p:nvSpPr>
        <p:spPr>
          <a:xfrm>
            <a:off x="6869430" y="2404872"/>
            <a:ext cx="1588770" cy="4114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8</a:t>
            </a:r>
            <a:endParaRPr lang="en-US" sz="2000" dirty="0"/>
          </a:p>
        </p:txBody>
      </p:sp>
      <p:sp>
        <p:nvSpPr>
          <p:cNvPr id="24" name="Shape 22"/>
          <p:cNvSpPr/>
          <p:nvPr/>
        </p:nvSpPr>
        <p:spPr>
          <a:xfrm>
            <a:off x="731520" y="3044952"/>
            <a:ext cx="1874520" cy="2532888"/>
          </a:xfrm>
          <a:prstGeom prst="roundRect">
            <a:avLst>
              <a:gd name="adj" fmla="val 2927"/>
            </a:avLst>
          </a:prstGeom>
          <a:solidFill>
            <a:srgbClr val="EEF3FA"/>
          </a:solidFill>
          <a:ln w="6350">
            <a:solidFill>
              <a:srgbClr val="C9D6E6"/>
            </a:solidFill>
            <a:prstDash val="solid"/>
          </a:ln>
        </p:spPr>
      </p:sp>
      <p:sp>
        <p:nvSpPr>
          <p:cNvPr id="25" name="Text 23"/>
          <p:cNvSpPr txBox="1"/>
          <p:nvPr/>
        </p:nvSpPr>
        <p:spPr>
          <a:xfrm>
            <a:off x="841248" y="3118104"/>
            <a:ext cx="1655064" cy="182880"/>
          </a:xfrm>
          <a:prstGeom prst="rect">
            <a:avLst/>
          </a:prstGeom>
          <a:noFill/>
          <a:ln/>
        </p:spPr>
        <p:txBody>
          <a:bodyPr wrap="square" lIns="0" tIns="0" rIns="0" bIns="0" rtlCol="0" anchor="ctr"/>
          <a:lstStyle/>
          <a:p>
            <a:pPr marL="0" indent="0">
              <a:buNone/>
            </a:pPr>
            <a:r>
              <a:rPr lang="en-US" sz="750" b="1" kern="0" spc="100" dirty="0">
                <a:solidFill>
                  <a:srgbClr val="1F4E8C"/>
                </a:solidFill>
                <a:latin typeface="Calibri" pitchFamily="34" charset="0"/>
                <a:ea typeface="Calibri" pitchFamily="34" charset="-122"/>
                <a:cs typeface="Calibri" pitchFamily="34" charset="-120"/>
              </a:rPr>
              <a:t>TOP CUSTOMER RISKS</a:t>
            </a:r>
            <a:endParaRPr lang="en-US" sz="750" dirty="0"/>
          </a:p>
        </p:txBody>
      </p:sp>
      <p:sp>
        <p:nvSpPr>
          <p:cNvPr id="26" name="Text 24"/>
          <p:cNvSpPr txBox="1"/>
          <p:nvPr/>
        </p:nvSpPr>
        <p:spPr>
          <a:xfrm>
            <a:off x="841248" y="3374136"/>
            <a:ext cx="1024128" cy="347472"/>
          </a:xfrm>
          <a:prstGeom prst="rect">
            <a:avLst/>
          </a:prstGeom>
          <a:noFill/>
          <a:ln/>
        </p:spPr>
        <p:txBody>
          <a:bodyPr wrap="square" lIns="0" tIns="0" rIns="0" bIns="0" rtlCol="0" anchor="ctr"/>
          <a:lstStyle/>
          <a:p>
            <a:pPr marL="0" indent="0">
              <a:buNone/>
            </a:pPr>
            <a:r>
              <a:rPr lang="en-US" sz="800" b="1" dirty="0">
                <a:solidFill>
                  <a:srgbClr val="0B2545"/>
                </a:solidFill>
                <a:latin typeface="Calibri" pitchFamily="34" charset="0"/>
                <a:ea typeface="Calibri" pitchFamily="34" charset="-122"/>
                <a:cs typeface="Calibri" pitchFamily="34" charset="-120"/>
              </a:rPr>
              <a:t>Global Telecom Operator</a:t>
            </a:r>
            <a:endParaRPr lang="en-US" sz="800" dirty="0"/>
          </a:p>
        </p:txBody>
      </p:sp>
      <p:sp>
        <p:nvSpPr>
          <p:cNvPr id="27" name="Shape 25"/>
          <p:cNvSpPr/>
          <p:nvPr/>
        </p:nvSpPr>
        <p:spPr>
          <a:xfrm>
            <a:off x="1856232" y="3447288"/>
            <a:ext cx="640080" cy="182880"/>
          </a:xfrm>
          <a:prstGeom prst="roundRect">
            <a:avLst>
              <a:gd name="adj" fmla="val 25000"/>
            </a:avLst>
          </a:prstGeom>
          <a:solidFill>
            <a:srgbClr val="1F4E8C"/>
          </a:solidFill>
          <a:ln w="12700">
            <a:solidFill>
              <a:srgbClr val="1F4E8C"/>
            </a:solidFill>
            <a:prstDash val="solid"/>
          </a:ln>
        </p:spPr>
      </p:sp>
      <p:sp>
        <p:nvSpPr>
          <p:cNvPr id="28" name="Text 26"/>
          <p:cNvSpPr txBox="1"/>
          <p:nvPr/>
        </p:nvSpPr>
        <p:spPr>
          <a:xfrm>
            <a:off x="1856232" y="3447288"/>
            <a:ext cx="640080"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High</a:t>
            </a:r>
            <a:endParaRPr lang="en-US" sz="700" dirty="0"/>
          </a:p>
        </p:txBody>
      </p:sp>
      <p:sp>
        <p:nvSpPr>
          <p:cNvPr id="29" name="Text 27"/>
          <p:cNvSpPr txBox="1"/>
          <p:nvPr/>
        </p:nvSpPr>
        <p:spPr>
          <a:xfrm>
            <a:off x="841248" y="3831336"/>
            <a:ext cx="1024128" cy="347472"/>
          </a:xfrm>
          <a:prstGeom prst="rect">
            <a:avLst/>
          </a:prstGeom>
          <a:noFill/>
          <a:ln/>
        </p:spPr>
        <p:txBody>
          <a:bodyPr wrap="square" lIns="0" tIns="0" rIns="0" bIns="0" rtlCol="0" anchor="ctr"/>
          <a:lstStyle/>
          <a:p>
            <a:pPr marL="0" indent="0">
              <a:buNone/>
            </a:pPr>
            <a:r>
              <a:rPr lang="en-US" sz="800" b="1" dirty="0">
                <a:solidFill>
                  <a:srgbClr val="0B2545"/>
                </a:solidFill>
                <a:latin typeface="Calibri" pitchFamily="34" charset="0"/>
                <a:ea typeface="Calibri" pitchFamily="34" charset="-122"/>
                <a:cs typeface="Calibri" pitchFamily="34" charset="-120"/>
              </a:rPr>
              <a:t>Retail Technology Group</a:t>
            </a:r>
            <a:endParaRPr lang="en-US" sz="800" dirty="0"/>
          </a:p>
        </p:txBody>
      </p:sp>
      <p:sp>
        <p:nvSpPr>
          <p:cNvPr id="30" name="Shape 28"/>
          <p:cNvSpPr/>
          <p:nvPr/>
        </p:nvSpPr>
        <p:spPr>
          <a:xfrm>
            <a:off x="1856232" y="3904488"/>
            <a:ext cx="640080" cy="182880"/>
          </a:xfrm>
          <a:prstGeom prst="roundRect">
            <a:avLst>
              <a:gd name="adj" fmla="val 25000"/>
            </a:avLst>
          </a:prstGeom>
          <a:solidFill>
            <a:srgbClr val="1F4E8C"/>
          </a:solidFill>
          <a:ln w="12700">
            <a:solidFill>
              <a:srgbClr val="1F4E8C"/>
            </a:solidFill>
            <a:prstDash val="solid"/>
          </a:ln>
        </p:spPr>
      </p:sp>
      <p:sp>
        <p:nvSpPr>
          <p:cNvPr id="31" name="Text 29"/>
          <p:cNvSpPr txBox="1"/>
          <p:nvPr/>
        </p:nvSpPr>
        <p:spPr>
          <a:xfrm>
            <a:off x="1856232" y="3904488"/>
            <a:ext cx="640080"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High</a:t>
            </a:r>
            <a:endParaRPr lang="en-US" sz="700" dirty="0"/>
          </a:p>
        </p:txBody>
      </p:sp>
      <p:sp>
        <p:nvSpPr>
          <p:cNvPr id="32" name="Text 30"/>
          <p:cNvSpPr txBox="1"/>
          <p:nvPr/>
        </p:nvSpPr>
        <p:spPr>
          <a:xfrm>
            <a:off x="841248" y="4288536"/>
            <a:ext cx="1024128" cy="347472"/>
          </a:xfrm>
          <a:prstGeom prst="rect">
            <a:avLst/>
          </a:prstGeom>
          <a:noFill/>
          <a:ln/>
        </p:spPr>
        <p:txBody>
          <a:bodyPr wrap="square" lIns="0" tIns="0" rIns="0" bIns="0" rtlCol="0" anchor="ctr"/>
          <a:lstStyle/>
          <a:p>
            <a:pPr marL="0" indent="0">
              <a:buNone/>
            </a:pPr>
            <a:r>
              <a:rPr lang="en-US" sz="800" b="1" dirty="0">
                <a:solidFill>
                  <a:srgbClr val="0B2545"/>
                </a:solidFill>
                <a:latin typeface="Calibri" pitchFamily="34" charset="0"/>
                <a:ea typeface="Calibri" pitchFamily="34" charset="-122"/>
                <a:cs typeface="Calibri" pitchFamily="34" charset="-120"/>
              </a:rPr>
              <a:t>Healthcare Equipment Lessor</a:t>
            </a:r>
            <a:endParaRPr lang="en-US" sz="800" dirty="0"/>
          </a:p>
        </p:txBody>
      </p:sp>
      <p:sp>
        <p:nvSpPr>
          <p:cNvPr id="33" name="Shape 31"/>
          <p:cNvSpPr/>
          <p:nvPr/>
        </p:nvSpPr>
        <p:spPr>
          <a:xfrm>
            <a:off x="1856232" y="4361688"/>
            <a:ext cx="640080" cy="182880"/>
          </a:xfrm>
          <a:prstGeom prst="roundRect">
            <a:avLst>
              <a:gd name="adj" fmla="val 25000"/>
            </a:avLst>
          </a:prstGeom>
          <a:solidFill>
            <a:srgbClr val="8DA9C4"/>
          </a:solidFill>
          <a:ln w="12700">
            <a:solidFill>
              <a:srgbClr val="8DA9C4"/>
            </a:solidFill>
            <a:prstDash val="solid"/>
          </a:ln>
        </p:spPr>
      </p:sp>
      <p:sp>
        <p:nvSpPr>
          <p:cNvPr id="34" name="Text 32"/>
          <p:cNvSpPr txBox="1"/>
          <p:nvPr/>
        </p:nvSpPr>
        <p:spPr>
          <a:xfrm>
            <a:off x="1856232" y="4361688"/>
            <a:ext cx="640080" cy="182880"/>
          </a:xfrm>
          <a:prstGeom prst="rect">
            <a:avLst/>
          </a:prstGeom>
          <a:noFill/>
          <a:ln/>
        </p:spPr>
        <p:txBody>
          <a:bodyPr wrap="square" lIns="0" tIns="0" rIns="0" bIns="0" rtlCol="0" anchor="ctr"/>
          <a:lstStyle/>
          <a:p>
            <a:pPr marL="0" indent="0" algn="ctr">
              <a:buNone/>
            </a:pPr>
            <a:r>
              <a:rPr lang="en-US" sz="700" b="1" dirty="0">
                <a:solidFill>
                  <a:srgbClr val="0B2545"/>
                </a:solidFill>
                <a:latin typeface="Calibri" pitchFamily="34" charset="0"/>
                <a:ea typeface="Calibri" pitchFamily="34" charset="-122"/>
                <a:cs typeface="Calibri" pitchFamily="34" charset="-120"/>
              </a:rPr>
              <a:t>Medium</a:t>
            </a:r>
            <a:endParaRPr lang="en-US" sz="700" dirty="0"/>
          </a:p>
        </p:txBody>
      </p:sp>
      <p:sp>
        <p:nvSpPr>
          <p:cNvPr id="35" name="Shape 33"/>
          <p:cNvSpPr/>
          <p:nvPr/>
        </p:nvSpPr>
        <p:spPr>
          <a:xfrm>
            <a:off x="2743200" y="3044952"/>
            <a:ext cx="1874520" cy="2532888"/>
          </a:xfrm>
          <a:prstGeom prst="roundRect">
            <a:avLst>
              <a:gd name="adj" fmla="val 2927"/>
            </a:avLst>
          </a:prstGeom>
          <a:solidFill>
            <a:srgbClr val="EEF3FA"/>
          </a:solidFill>
          <a:ln w="6350">
            <a:solidFill>
              <a:srgbClr val="C9D6E6"/>
            </a:solidFill>
            <a:prstDash val="solid"/>
          </a:ln>
        </p:spPr>
      </p:sp>
      <p:sp>
        <p:nvSpPr>
          <p:cNvPr id="36" name="Text 34"/>
          <p:cNvSpPr txBox="1"/>
          <p:nvPr/>
        </p:nvSpPr>
        <p:spPr>
          <a:xfrm>
            <a:off x="2852928" y="3118104"/>
            <a:ext cx="1655064" cy="182880"/>
          </a:xfrm>
          <a:prstGeom prst="rect">
            <a:avLst/>
          </a:prstGeom>
          <a:noFill/>
          <a:ln/>
        </p:spPr>
        <p:txBody>
          <a:bodyPr wrap="square" lIns="0" tIns="0" rIns="0" bIns="0" rtlCol="0" anchor="ctr"/>
          <a:lstStyle/>
          <a:p>
            <a:pPr marL="0" indent="0">
              <a:buNone/>
            </a:pPr>
            <a:r>
              <a:rPr lang="en-US" sz="750" b="1" kern="0" spc="100" dirty="0">
                <a:solidFill>
                  <a:srgbClr val="1F4E8C"/>
                </a:solidFill>
                <a:latin typeface="Calibri" pitchFamily="34" charset="0"/>
                <a:ea typeface="Calibri" pitchFamily="34" charset="-122"/>
                <a:cs typeface="Calibri" pitchFamily="34" charset="-120"/>
              </a:rPr>
              <a:t>INDUSTRY RISK</a:t>
            </a:r>
            <a:endParaRPr lang="en-US" sz="750" dirty="0"/>
          </a:p>
        </p:txBody>
      </p:sp>
      <p:sp>
        <p:nvSpPr>
          <p:cNvPr id="37" name="Text 35"/>
          <p:cNvSpPr txBox="1"/>
          <p:nvPr/>
        </p:nvSpPr>
        <p:spPr>
          <a:xfrm>
            <a:off x="2852928" y="3429000"/>
            <a:ext cx="1005840" cy="219456"/>
          </a:xfrm>
          <a:prstGeom prst="rect">
            <a:avLst/>
          </a:prstGeom>
          <a:noFill/>
          <a:ln/>
        </p:spPr>
        <p:txBody>
          <a:bodyPr wrap="square" lIns="0" tIns="0" rIns="0" bIns="0" rtlCol="0" anchor="ctr"/>
          <a:lstStyle/>
          <a:p>
            <a:pPr marL="0" indent="0">
              <a:buNone/>
            </a:pPr>
            <a:r>
              <a:rPr lang="en-US" sz="900" b="1" dirty="0">
                <a:solidFill>
                  <a:srgbClr val="0B2545"/>
                </a:solidFill>
                <a:latin typeface="Calibri" pitchFamily="34" charset="0"/>
                <a:ea typeface="Calibri" pitchFamily="34" charset="-122"/>
                <a:cs typeface="Calibri" pitchFamily="34" charset="-120"/>
              </a:rPr>
              <a:t>Telecom</a:t>
            </a:r>
            <a:endParaRPr lang="en-US" sz="900" dirty="0"/>
          </a:p>
        </p:txBody>
      </p:sp>
      <p:sp>
        <p:nvSpPr>
          <p:cNvPr id="38" name="Shape 36"/>
          <p:cNvSpPr/>
          <p:nvPr/>
        </p:nvSpPr>
        <p:spPr>
          <a:xfrm>
            <a:off x="3867912" y="3447288"/>
            <a:ext cx="640080" cy="182880"/>
          </a:xfrm>
          <a:prstGeom prst="roundRect">
            <a:avLst>
              <a:gd name="adj" fmla="val 25000"/>
            </a:avLst>
          </a:prstGeom>
          <a:solidFill>
            <a:srgbClr val="1F4E8C"/>
          </a:solidFill>
          <a:ln w="12700">
            <a:solidFill>
              <a:srgbClr val="1F4E8C"/>
            </a:solidFill>
            <a:prstDash val="solid"/>
          </a:ln>
        </p:spPr>
      </p:sp>
      <p:sp>
        <p:nvSpPr>
          <p:cNvPr id="39" name="Text 37"/>
          <p:cNvSpPr txBox="1"/>
          <p:nvPr/>
        </p:nvSpPr>
        <p:spPr>
          <a:xfrm>
            <a:off x="3867912" y="3447288"/>
            <a:ext cx="640080"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High</a:t>
            </a:r>
            <a:endParaRPr lang="en-US" sz="700" dirty="0"/>
          </a:p>
        </p:txBody>
      </p:sp>
      <p:sp>
        <p:nvSpPr>
          <p:cNvPr id="40" name="Text 38"/>
          <p:cNvSpPr txBox="1"/>
          <p:nvPr/>
        </p:nvSpPr>
        <p:spPr>
          <a:xfrm>
            <a:off x="2852928" y="3886200"/>
            <a:ext cx="1005840" cy="219456"/>
          </a:xfrm>
          <a:prstGeom prst="rect">
            <a:avLst/>
          </a:prstGeom>
          <a:noFill/>
          <a:ln/>
        </p:spPr>
        <p:txBody>
          <a:bodyPr wrap="square" lIns="0" tIns="0" rIns="0" bIns="0" rtlCol="0" anchor="ctr"/>
          <a:lstStyle/>
          <a:p>
            <a:pPr marL="0" indent="0">
              <a:buNone/>
            </a:pPr>
            <a:r>
              <a:rPr lang="en-US" sz="900" b="1" dirty="0">
                <a:solidFill>
                  <a:srgbClr val="0B2545"/>
                </a:solidFill>
                <a:latin typeface="Calibri" pitchFamily="34" charset="0"/>
                <a:ea typeface="Calibri" pitchFamily="34" charset="-122"/>
                <a:cs typeface="Calibri" pitchFamily="34" charset="-120"/>
              </a:rPr>
              <a:t>Retail</a:t>
            </a:r>
            <a:endParaRPr lang="en-US" sz="900" dirty="0"/>
          </a:p>
        </p:txBody>
      </p:sp>
      <p:sp>
        <p:nvSpPr>
          <p:cNvPr id="41" name="Shape 39"/>
          <p:cNvSpPr/>
          <p:nvPr/>
        </p:nvSpPr>
        <p:spPr>
          <a:xfrm>
            <a:off x="3867912" y="3904488"/>
            <a:ext cx="640080" cy="182880"/>
          </a:xfrm>
          <a:prstGeom prst="roundRect">
            <a:avLst>
              <a:gd name="adj" fmla="val 25000"/>
            </a:avLst>
          </a:prstGeom>
          <a:solidFill>
            <a:srgbClr val="8DA9C4"/>
          </a:solidFill>
          <a:ln w="12700">
            <a:solidFill>
              <a:srgbClr val="8DA9C4"/>
            </a:solidFill>
            <a:prstDash val="solid"/>
          </a:ln>
        </p:spPr>
      </p:sp>
      <p:sp>
        <p:nvSpPr>
          <p:cNvPr id="42" name="Text 40"/>
          <p:cNvSpPr txBox="1"/>
          <p:nvPr/>
        </p:nvSpPr>
        <p:spPr>
          <a:xfrm>
            <a:off x="3867912" y="3904488"/>
            <a:ext cx="640080" cy="182880"/>
          </a:xfrm>
          <a:prstGeom prst="rect">
            <a:avLst/>
          </a:prstGeom>
          <a:noFill/>
          <a:ln/>
        </p:spPr>
        <p:txBody>
          <a:bodyPr wrap="square" lIns="0" tIns="0" rIns="0" bIns="0" rtlCol="0" anchor="ctr"/>
          <a:lstStyle/>
          <a:p>
            <a:pPr marL="0" indent="0" algn="ctr">
              <a:buNone/>
            </a:pPr>
            <a:r>
              <a:rPr lang="en-US" sz="700" b="1" dirty="0">
                <a:solidFill>
                  <a:srgbClr val="0B2545"/>
                </a:solidFill>
                <a:latin typeface="Calibri" pitchFamily="34" charset="0"/>
                <a:ea typeface="Calibri" pitchFamily="34" charset="-122"/>
                <a:cs typeface="Calibri" pitchFamily="34" charset="-120"/>
              </a:rPr>
              <a:t>Medium</a:t>
            </a:r>
            <a:endParaRPr lang="en-US" sz="700" dirty="0"/>
          </a:p>
        </p:txBody>
      </p:sp>
      <p:sp>
        <p:nvSpPr>
          <p:cNvPr id="43" name="Text 41"/>
          <p:cNvSpPr txBox="1"/>
          <p:nvPr/>
        </p:nvSpPr>
        <p:spPr>
          <a:xfrm>
            <a:off x="2852928" y="4343400"/>
            <a:ext cx="1005840" cy="219456"/>
          </a:xfrm>
          <a:prstGeom prst="rect">
            <a:avLst/>
          </a:prstGeom>
          <a:noFill/>
          <a:ln/>
        </p:spPr>
        <p:txBody>
          <a:bodyPr wrap="square" lIns="0" tIns="0" rIns="0" bIns="0" rtlCol="0" anchor="ctr"/>
          <a:lstStyle/>
          <a:p>
            <a:pPr marL="0" indent="0">
              <a:buNone/>
            </a:pPr>
            <a:r>
              <a:rPr lang="en-US" sz="900" b="1" dirty="0">
                <a:solidFill>
                  <a:srgbClr val="0B2545"/>
                </a:solidFill>
                <a:latin typeface="Calibri" pitchFamily="34" charset="0"/>
                <a:ea typeface="Calibri" pitchFamily="34" charset="-122"/>
                <a:cs typeface="Calibri" pitchFamily="34" charset="-120"/>
              </a:rPr>
              <a:t>Cloud</a:t>
            </a:r>
            <a:endParaRPr lang="en-US" sz="900" dirty="0"/>
          </a:p>
        </p:txBody>
      </p:sp>
      <p:sp>
        <p:nvSpPr>
          <p:cNvPr id="44" name="Shape 42"/>
          <p:cNvSpPr/>
          <p:nvPr/>
        </p:nvSpPr>
        <p:spPr>
          <a:xfrm>
            <a:off x="3867912" y="4361688"/>
            <a:ext cx="640080" cy="182880"/>
          </a:xfrm>
          <a:prstGeom prst="roundRect">
            <a:avLst>
              <a:gd name="adj" fmla="val 25000"/>
            </a:avLst>
          </a:prstGeom>
          <a:solidFill>
            <a:srgbClr val="DCE6F2"/>
          </a:solidFill>
          <a:ln w="12700">
            <a:solidFill>
              <a:srgbClr val="DCE6F2"/>
            </a:solidFill>
            <a:prstDash val="solid"/>
          </a:ln>
        </p:spPr>
      </p:sp>
      <p:sp>
        <p:nvSpPr>
          <p:cNvPr id="45" name="Text 43"/>
          <p:cNvSpPr txBox="1"/>
          <p:nvPr/>
        </p:nvSpPr>
        <p:spPr>
          <a:xfrm>
            <a:off x="3867912" y="4361688"/>
            <a:ext cx="640080" cy="182880"/>
          </a:xfrm>
          <a:prstGeom prst="rect">
            <a:avLst/>
          </a:prstGeom>
          <a:noFill/>
          <a:ln/>
        </p:spPr>
        <p:txBody>
          <a:bodyPr wrap="square" lIns="0" tIns="0" rIns="0" bIns="0" rtlCol="0" anchor="ctr"/>
          <a:lstStyle/>
          <a:p>
            <a:pPr marL="0" indent="0" algn="ctr">
              <a:buNone/>
            </a:pPr>
            <a:r>
              <a:rPr lang="en-US" sz="700" b="1" dirty="0">
                <a:solidFill>
                  <a:srgbClr val="0B2545"/>
                </a:solidFill>
                <a:latin typeface="Calibri" pitchFamily="34" charset="0"/>
                <a:ea typeface="Calibri" pitchFamily="34" charset="-122"/>
                <a:cs typeface="Calibri" pitchFamily="34" charset="-120"/>
              </a:rPr>
              <a:t>Low</a:t>
            </a:r>
            <a:endParaRPr lang="en-US" sz="700" dirty="0"/>
          </a:p>
        </p:txBody>
      </p:sp>
      <p:sp>
        <p:nvSpPr>
          <p:cNvPr id="46" name="Shape 44"/>
          <p:cNvSpPr/>
          <p:nvPr/>
        </p:nvSpPr>
        <p:spPr>
          <a:xfrm>
            <a:off x="4754880" y="3044952"/>
            <a:ext cx="1874520" cy="2532888"/>
          </a:xfrm>
          <a:prstGeom prst="roundRect">
            <a:avLst>
              <a:gd name="adj" fmla="val 2927"/>
            </a:avLst>
          </a:prstGeom>
          <a:solidFill>
            <a:srgbClr val="EEF3FA"/>
          </a:solidFill>
          <a:ln w="6350">
            <a:solidFill>
              <a:srgbClr val="C9D6E6"/>
            </a:solidFill>
            <a:prstDash val="solid"/>
          </a:ln>
        </p:spPr>
      </p:sp>
      <p:sp>
        <p:nvSpPr>
          <p:cNvPr id="47" name="Text 45"/>
          <p:cNvSpPr txBox="1"/>
          <p:nvPr/>
        </p:nvSpPr>
        <p:spPr>
          <a:xfrm>
            <a:off x="4864608" y="3118104"/>
            <a:ext cx="1655064" cy="182880"/>
          </a:xfrm>
          <a:prstGeom prst="rect">
            <a:avLst/>
          </a:prstGeom>
          <a:noFill/>
          <a:ln/>
        </p:spPr>
        <p:txBody>
          <a:bodyPr wrap="square" lIns="0" tIns="0" rIns="0" bIns="0" rtlCol="0" anchor="ctr"/>
          <a:lstStyle/>
          <a:p>
            <a:pPr marL="0" indent="0">
              <a:buNone/>
            </a:pPr>
            <a:r>
              <a:rPr lang="en-US" sz="750" b="1" kern="0" spc="100" dirty="0">
                <a:solidFill>
                  <a:srgbClr val="1F4E8C"/>
                </a:solidFill>
                <a:latin typeface="Calibri" pitchFamily="34" charset="0"/>
                <a:ea typeface="Calibri" pitchFamily="34" charset="-122"/>
                <a:cs typeface="Calibri" pitchFamily="34" charset="-120"/>
              </a:rPr>
              <a:t>GROWTH OPPORTUNITIES</a:t>
            </a:r>
            <a:endParaRPr lang="en-US" sz="750" dirty="0"/>
          </a:p>
        </p:txBody>
      </p:sp>
      <p:sp>
        <p:nvSpPr>
          <p:cNvPr id="48" name="Shape 46"/>
          <p:cNvSpPr/>
          <p:nvPr/>
        </p:nvSpPr>
        <p:spPr>
          <a:xfrm>
            <a:off x="4882896" y="3474720"/>
            <a:ext cx="128016" cy="128016"/>
          </a:xfrm>
          <a:prstGeom prst="ellipse">
            <a:avLst/>
          </a:prstGeom>
          <a:solidFill>
            <a:srgbClr val="5B95DD"/>
          </a:solidFill>
          <a:ln w="12700">
            <a:solidFill>
              <a:srgbClr val="5B95DD"/>
            </a:solidFill>
            <a:prstDash val="solid"/>
          </a:ln>
        </p:spPr>
      </p:sp>
      <p:sp>
        <p:nvSpPr>
          <p:cNvPr id="49" name="Text 47"/>
          <p:cNvSpPr txBox="1"/>
          <p:nvPr/>
        </p:nvSpPr>
        <p:spPr>
          <a:xfrm>
            <a:off x="5084064" y="3374136"/>
            <a:ext cx="1207008" cy="347472"/>
          </a:xfrm>
          <a:prstGeom prst="rect">
            <a:avLst/>
          </a:prstGeom>
          <a:noFill/>
          <a:ln/>
        </p:spPr>
        <p:txBody>
          <a:bodyPr wrap="square" lIns="0" tIns="0" rIns="0" bIns="0" rtlCol="0" anchor="ctr"/>
          <a:lstStyle/>
          <a:p>
            <a:pPr marL="0" indent="0">
              <a:buNone/>
            </a:pPr>
            <a:r>
              <a:rPr lang="en-US" sz="800" b="1" dirty="0">
                <a:solidFill>
                  <a:srgbClr val="0B2545"/>
                </a:solidFill>
                <a:latin typeface="Calibri" pitchFamily="34" charset="0"/>
                <a:ea typeface="Calibri" pitchFamily="34" charset="-122"/>
                <a:cs typeface="Calibri" pitchFamily="34" charset="-120"/>
              </a:rPr>
              <a:t>NA Data Center Operator</a:t>
            </a:r>
            <a:endParaRPr lang="en-US" sz="800" dirty="0"/>
          </a:p>
        </p:txBody>
      </p:sp>
      <p:sp>
        <p:nvSpPr>
          <p:cNvPr id="50" name="Text 48"/>
          <p:cNvSpPr txBox="1"/>
          <p:nvPr/>
        </p:nvSpPr>
        <p:spPr>
          <a:xfrm>
            <a:off x="6263640" y="3429000"/>
            <a:ext cx="256032" cy="219456"/>
          </a:xfrm>
          <a:prstGeom prst="rect">
            <a:avLst/>
          </a:prstGeom>
          <a:noFill/>
          <a:ln/>
        </p:spPr>
        <p:txBody>
          <a:bodyPr wrap="square" lIns="0" tIns="0" rIns="0" bIns="0" rtlCol="0" anchor="ctr"/>
          <a:lstStyle/>
          <a:p>
            <a:pPr marL="0" indent="0" algn="ctr">
              <a:buNone/>
            </a:pPr>
            <a:r>
              <a:rPr lang="en-US" sz="1000" b="1" dirty="0">
                <a:solidFill>
                  <a:srgbClr val="2A63AD"/>
                </a:solidFill>
                <a:latin typeface="Calibri" pitchFamily="34" charset="0"/>
                <a:ea typeface="Calibri" pitchFamily="34" charset="-122"/>
                <a:cs typeface="Calibri" pitchFamily="34" charset="-120"/>
              </a:rPr>
              <a:t>↑</a:t>
            </a:r>
            <a:endParaRPr lang="en-US" sz="1000" dirty="0"/>
          </a:p>
        </p:txBody>
      </p:sp>
      <p:sp>
        <p:nvSpPr>
          <p:cNvPr id="51" name="Shape 49"/>
          <p:cNvSpPr/>
          <p:nvPr/>
        </p:nvSpPr>
        <p:spPr>
          <a:xfrm>
            <a:off x="4882896" y="3931920"/>
            <a:ext cx="128016" cy="128016"/>
          </a:xfrm>
          <a:prstGeom prst="ellipse">
            <a:avLst/>
          </a:prstGeom>
          <a:solidFill>
            <a:srgbClr val="5B95DD"/>
          </a:solidFill>
          <a:ln w="12700">
            <a:solidFill>
              <a:srgbClr val="5B95DD"/>
            </a:solidFill>
            <a:prstDash val="solid"/>
          </a:ln>
        </p:spPr>
      </p:sp>
      <p:sp>
        <p:nvSpPr>
          <p:cNvPr id="52" name="Text 50"/>
          <p:cNvSpPr txBox="1"/>
          <p:nvPr/>
        </p:nvSpPr>
        <p:spPr>
          <a:xfrm>
            <a:off x="5084064" y="3831336"/>
            <a:ext cx="1207008" cy="347472"/>
          </a:xfrm>
          <a:prstGeom prst="rect">
            <a:avLst/>
          </a:prstGeom>
          <a:noFill/>
          <a:ln/>
        </p:spPr>
        <p:txBody>
          <a:bodyPr wrap="square" lIns="0" tIns="0" rIns="0" bIns="0" rtlCol="0" anchor="ctr"/>
          <a:lstStyle/>
          <a:p>
            <a:pPr marL="0" indent="0">
              <a:buNone/>
            </a:pPr>
            <a:r>
              <a:rPr lang="en-US" sz="800" b="1" dirty="0">
                <a:solidFill>
                  <a:srgbClr val="0B2545"/>
                </a:solidFill>
                <a:latin typeface="Calibri" pitchFamily="34" charset="0"/>
                <a:ea typeface="Calibri" pitchFamily="34" charset="-122"/>
                <a:cs typeface="Calibri" pitchFamily="34" charset="-120"/>
              </a:rPr>
              <a:t>Cloud Infrastructure Provider</a:t>
            </a:r>
            <a:endParaRPr lang="en-US" sz="800" dirty="0"/>
          </a:p>
        </p:txBody>
      </p:sp>
      <p:sp>
        <p:nvSpPr>
          <p:cNvPr id="53" name="Text 51"/>
          <p:cNvSpPr txBox="1"/>
          <p:nvPr/>
        </p:nvSpPr>
        <p:spPr>
          <a:xfrm>
            <a:off x="6263640" y="3886200"/>
            <a:ext cx="256032" cy="219456"/>
          </a:xfrm>
          <a:prstGeom prst="rect">
            <a:avLst/>
          </a:prstGeom>
          <a:noFill/>
          <a:ln/>
        </p:spPr>
        <p:txBody>
          <a:bodyPr wrap="square" lIns="0" tIns="0" rIns="0" bIns="0" rtlCol="0" anchor="ctr"/>
          <a:lstStyle/>
          <a:p>
            <a:pPr marL="0" indent="0" algn="ctr">
              <a:buNone/>
            </a:pPr>
            <a:r>
              <a:rPr lang="en-US" sz="1000" b="1" dirty="0">
                <a:solidFill>
                  <a:srgbClr val="2A63AD"/>
                </a:solidFill>
                <a:latin typeface="Calibri" pitchFamily="34" charset="0"/>
                <a:ea typeface="Calibri" pitchFamily="34" charset="-122"/>
                <a:cs typeface="Calibri" pitchFamily="34" charset="-120"/>
              </a:rPr>
              <a:t>↑</a:t>
            </a:r>
            <a:endParaRPr lang="en-US" sz="1000" dirty="0"/>
          </a:p>
        </p:txBody>
      </p:sp>
      <p:sp>
        <p:nvSpPr>
          <p:cNvPr id="54" name="Shape 52"/>
          <p:cNvSpPr/>
          <p:nvPr/>
        </p:nvSpPr>
        <p:spPr>
          <a:xfrm>
            <a:off x="4882896" y="4389120"/>
            <a:ext cx="128016" cy="128016"/>
          </a:xfrm>
          <a:prstGeom prst="ellipse">
            <a:avLst/>
          </a:prstGeom>
          <a:solidFill>
            <a:srgbClr val="5B95DD"/>
          </a:solidFill>
          <a:ln w="12700">
            <a:solidFill>
              <a:srgbClr val="5B95DD"/>
            </a:solidFill>
            <a:prstDash val="solid"/>
          </a:ln>
        </p:spPr>
      </p:sp>
      <p:sp>
        <p:nvSpPr>
          <p:cNvPr id="55" name="Text 53"/>
          <p:cNvSpPr txBox="1"/>
          <p:nvPr/>
        </p:nvSpPr>
        <p:spPr>
          <a:xfrm>
            <a:off x="5084064" y="4288536"/>
            <a:ext cx="1207008" cy="347472"/>
          </a:xfrm>
          <a:prstGeom prst="rect">
            <a:avLst/>
          </a:prstGeom>
          <a:noFill/>
          <a:ln/>
        </p:spPr>
        <p:txBody>
          <a:bodyPr wrap="square" lIns="0" tIns="0" rIns="0" bIns="0" rtlCol="0" anchor="ctr"/>
          <a:lstStyle/>
          <a:p>
            <a:pPr marL="0" indent="0">
              <a:buNone/>
            </a:pPr>
            <a:r>
              <a:rPr lang="en-US" sz="800" b="1" dirty="0">
                <a:solidFill>
                  <a:srgbClr val="0B2545"/>
                </a:solidFill>
                <a:latin typeface="Calibri" pitchFamily="34" charset="0"/>
                <a:ea typeface="Calibri" pitchFamily="34" charset="-122"/>
                <a:cs typeface="Calibri" pitchFamily="34" charset="-120"/>
              </a:rPr>
              <a:t>APAC Network Solutions</a:t>
            </a:r>
            <a:endParaRPr lang="en-US" sz="800" dirty="0"/>
          </a:p>
        </p:txBody>
      </p:sp>
      <p:sp>
        <p:nvSpPr>
          <p:cNvPr id="56" name="Text 54"/>
          <p:cNvSpPr txBox="1"/>
          <p:nvPr/>
        </p:nvSpPr>
        <p:spPr>
          <a:xfrm>
            <a:off x="6263640" y="4343400"/>
            <a:ext cx="256032" cy="219456"/>
          </a:xfrm>
          <a:prstGeom prst="rect">
            <a:avLst/>
          </a:prstGeom>
          <a:noFill/>
          <a:ln/>
        </p:spPr>
        <p:txBody>
          <a:bodyPr wrap="square" lIns="0" tIns="0" rIns="0" bIns="0" rtlCol="0" anchor="ctr"/>
          <a:lstStyle/>
          <a:p>
            <a:pPr marL="0" indent="0" algn="ctr">
              <a:buNone/>
            </a:pPr>
            <a:r>
              <a:rPr lang="en-US" sz="1000" b="1" dirty="0">
                <a:solidFill>
                  <a:srgbClr val="2A63AD"/>
                </a:solidFill>
                <a:latin typeface="Calibri" pitchFamily="34" charset="0"/>
                <a:ea typeface="Calibri" pitchFamily="34" charset="-122"/>
                <a:cs typeface="Calibri" pitchFamily="34" charset="-120"/>
              </a:rPr>
              <a:t>↑</a:t>
            </a:r>
            <a:endParaRPr lang="en-US" sz="1000" dirty="0"/>
          </a:p>
        </p:txBody>
      </p:sp>
      <p:sp>
        <p:nvSpPr>
          <p:cNvPr id="57" name="Shape 55"/>
          <p:cNvSpPr/>
          <p:nvPr/>
        </p:nvSpPr>
        <p:spPr>
          <a:xfrm>
            <a:off x="6766560" y="3044952"/>
            <a:ext cx="1828800" cy="2532888"/>
          </a:xfrm>
          <a:prstGeom prst="roundRect">
            <a:avLst>
              <a:gd name="adj" fmla="val 3000"/>
            </a:avLst>
          </a:prstGeom>
          <a:solidFill>
            <a:srgbClr val="DCE6F2"/>
          </a:solidFill>
          <a:ln w="9525">
            <a:solidFill>
              <a:srgbClr val="2A63AD"/>
            </a:solidFill>
            <a:prstDash val="solid"/>
          </a:ln>
        </p:spPr>
      </p:sp>
      <p:sp>
        <p:nvSpPr>
          <p:cNvPr id="58" name="Text 56"/>
          <p:cNvSpPr txBox="1"/>
          <p:nvPr/>
        </p:nvSpPr>
        <p:spPr>
          <a:xfrm>
            <a:off x="6876288" y="3118104"/>
            <a:ext cx="1609344" cy="182880"/>
          </a:xfrm>
          <a:prstGeom prst="rect">
            <a:avLst/>
          </a:prstGeom>
          <a:noFill/>
          <a:ln/>
        </p:spPr>
        <p:txBody>
          <a:bodyPr wrap="square" lIns="0" tIns="0" rIns="0" bIns="0" rtlCol="0" anchor="ctr"/>
          <a:lstStyle/>
          <a:p>
            <a:pPr marL="0" indent="0">
              <a:buNone/>
            </a:pPr>
            <a:r>
              <a:rPr lang="en-US" sz="750" b="1" kern="0" spc="100" dirty="0">
                <a:solidFill>
                  <a:srgbClr val="1F4E8C"/>
                </a:solidFill>
                <a:latin typeface="Calibri" pitchFamily="34" charset="0"/>
                <a:ea typeface="Calibri" pitchFamily="34" charset="-122"/>
                <a:cs typeface="Calibri" pitchFamily="34" charset="-120"/>
              </a:rPr>
              <a:t>AI HIGHLIGHTS</a:t>
            </a:r>
            <a:endParaRPr lang="en-US" sz="750" dirty="0"/>
          </a:p>
        </p:txBody>
      </p:sp>
      <p:sp>
        <p:nvSpPr>
          <p:cNvPr id="59" name="Shape 57"/>
          <p:cNvSpPr/>
          <p:nvPr/>
        </p:nvSpPr>
        <p:spPr>
          <a:xfrm>
            <a:off x="6894576" y="3483864"/>
            <a:ext cx="91440" cy="91440"/>
          </a:xfrm>
          <a:prstGeom prst="ellipse">
            <a:avLst/>
          </a:prstGeom>
          <a:solidFill>
            <a:srgbClr val="1F4E8C"/>
          </a:solidFill>
          <a:ln w="12700">
            <a:solidFill>
              <a:srgbClr val="1F4E8C"/>
            </a:solidFill>
            <a:prstDash val="solid"/>
          </a:ln>
        </p:spPr>
      </p:sp>
      <p:sp>
        <p:nvSpPr>
          <p:cNvPr id="60" name="Text 58"/>
          <p:cNvSpPr txBox="1"/>
          <p:nvPr/>
        </p:nvSpPr>
        <p:spPr>
          <a:xfrm>
            <a:off x="7059168" y="3410712"/>
            <a:ext cx="1444752" cy="329184"/>
          </a:xfrm>
          <a:prstGeom prst="rect">
            <a:avLst/>
          </a:prstGeom>
          <a:noFill/>
          <a:ln/>
        </p:spPr>
        <p:txBody>
          <a:bodyPr wrap="square" lIns="0" tIns="0" rIns="0" bIns="0" rtlCol="0" anchor="t"/>
          <a:lstStyle/>
          <a:p>
            <a:pPr marL="0" indent="0">
              <a:buNone/>
            </a:pPr>
            <a:r>
              <a:rPr lang="en-US" sz="800" dirty="0">
                <a:solidFill>
                  <a:srgbClr val="0B2545"/>
                </a:solidFill>
                <a:latin typeface="Calibri" pitchFamily="34" charset="0"/>
                <a:ea typeface="Calibri" pitchFamily="34" charset="-122"/>
                <a:cs typeface="Calibri" pitchFamily="34" charset="-120"/>
              </a:rPr>
              <a:t>Global Telecom Operator announced workforce reduction</a:t>
            </a:r>
            <a:endParaRPr lang="en-US" sz="800" dirty="0"/>
          </a:p>
        </p:txBody>
      </p:sp>
      <p:sp>
        <p:nvSpPr>
          <p:cNvPr id="61" name="Shape 59"/>
          <p:cNvSpPr/>
          <p:nvPr/>
        </p:nvSpPr>
        <p:spPr>
          <a:xfrm>
            <a:off x="6894576" y="3867912"/>
            <a:ext cx="91440" cy="91440"/>
          </a:xfrm>
          <a:prstGeom prst="ellipse">
            <a:avLst/>
          </a:prstGeom>
          <a:solidFill>
            <a:srgbClr val="1F4E8C"/>
          </a:solidFill>
          <a:ln w="12700">
            <a:solidFill>
              <a:srgbClr val="1F4E8C"/>
            </a:solidFill>
            <a:prstDash val="solid"/>
          </a:ln>
        </p:spPr>
      </p:sp>
      <p:sp>
        <p:nvSpPr>
          <p:cNvPr id="62" name="Text 60"/>
          <p:cNvSpPr txBox="1"/>
          <p:nvPr/>
        </p:nvSpPr>
        <p:spPr>
          <a:xfrm>
            <a:off x="7059168" y="3794760"/>
            <a:ext cx="1444752" cy="329184"/>
          </a:xfrm>
          <a:prstGeom prst="rect">
            <a:avLst/>
          </a:prstGeom>
          <a:noFill/>
          <a:ln/>
        </p:spPr>
        <p:txBody>
          <a:bodyPr wrap="square" lIns="0" tIns="0" rIns="0" bIns="0" rtlCol="0" anchor="t"/>
          <a:lstStyle/>
          <a:p>
            <a:pPr marL="0" indent="0">
              <a:buNone/>
            </a:pPr>
            <a:r>
              <a:rPr lang="en-US" sz="800" dirty="0">
                <a:solidFill>
                  <a:srgbClr val="0B2545"/>
                </a:solidFill>
                <a:latin typeface="Calibri" pitchFamily="34" charset="0"/>
                <a:ea typeface="Calibri" pitchFamily="34" charset="-122"/>
                <a:cs typeface="Calibri" pitchFamily="34" charset="-120"/>
              </a:rPr>
              <a:t>Telecom CAPEX investment slowing</a:t>
            </a:r>
            <a:endParaRPr lang="en-US" sz="800" dirty="0"/>
          </a:p>
        </p:txBody>
      </p:sp>
      <p:sp>
        <p:nvSpPr>
          <p:cNvPr id="63" name="Shape 61"/>
          <p:cNvSpPr/>
          <p:nvPr/>
        </p:nvSpPr>
        <p:spPr>
          <a:xfrm>
            <a:off x="6894576" y="4251960"/>
            <a:ext cx="91440" cy="91440"/>
          </a:xfrm>
          <a:prstGeom prst="ellipse">
            <a:avLst/>
          </a:prstGeom>
          <a:solidFill>
            <a:srgbClr val="5B95DD"/>
          </a:solidFill>
          <a:ln w="12700">
            <a:solidFill>
              <a:srgbClr val="5B95DD"/>
            </a:solidFill>
            <a:prstDash val="solid"/>
          </a:ln>
        </p:spPr>
      </p:sp>
      <p:sp>
        <p:nvSpPr>
          <p:cNvPr id="64" name="Text 62"/>
          <p:cNvSpPr txBox="1"/>
          <p:nvPr/>
        </p:nvSpPr>
        <p:spPr>
          <a:xfrm>
            <a:off x="7059168" y="4178808"/>
            <a:ext cx="1444752" cy="329184"/>
          </a:xfrm>
          <a:prstGeom prst="rect">
            <a:avLst/>
          </a:prstGeom>
          <a:noFill/>
          <a:ln/>
        </p:spPr>
        <p:txBody>
          <a:bodyPr wrap="square" lIns="0" tIns="0" rIns="0" bIns="0" rtlCol="0" anchor="t"/>
          <a:lstStyle/>
          <a:p>
            <a:pPr marL="0" indent="0">
              <a:buNone/>
            </a:pPr>
            <a:r>
              <a:rPr lang="en-US" sz="800" dirty="0">
                <a:solidFill>
                  <a:srgbClr val="0B2545"/>
                </a:solidFill>
                <a:latin typeface="Calibri" pitchFamily="34" charset="0"/>
                <a:ea typeface="Calibri" pitchFamily="34" charset="-122"/>
                <a:cs typeface="Calibri" pitchFamily="34" charset="-120"/>
              </a:rPr>
              <a:t>NA Data Center Operator expanding footprint</a:t>
            </a:r>
            <a:endParaRPr lang="en-US" sz="800" dirty="0"/>
          </a:p>
        </p:txBody>
      </p:sp>
      <p:sp>
        <p:nvSpPr>
          <p:cNvPr id="65" name="Shape 63"/>
          <p:cNvSpPr/>
          <p:nvPr/>
        </p:nvSpPr>
        <p:spPr>
          <a:xfrm>
            <a:off x="6894576" y="4636008"/>
            <a:ext cx="91440" cy="91440"/>
          </a:xfrm>
          <a:prstGeom prst="ellipse">
            <a:avLst/>
          </a:prstGeom>
          <a:solidFill>
            <a:srgbClr val="1F4E8C"/>
          </a:solidFill>
          <a:ln w="12700">
            <a:solidFill>
              <a:srgbClr val="1F4E8C"/>
            </a:solidFill>
            <a:prstDash val="solid"/>
          </a:ln>
        </p:spPr>
      </p:sp>
      <p:sp>
        <p:nvSpPr>
          <p:cNvPr id="66" name="Text 64"/>
          <p:cNvSpPr txBox="1"/>
          <p:nvPr/>
        </p:nvSpPr>
        <p:spPr>
          <a:xfrm>
            <a:off x="7059168" y="4562856"/>
            <a:ext cx="1444752" cy="329184"/>
          </a:xfrm>
          <a:prstGeom prst="rect">
            <a:avLst/>
          </a:prstGeom>
          <a:noFill/>
          <a:ln/>
        </p:spPr>
        <p:txBody>
          <a:bodyPr wrap="square" lIns="0" tIns="0" rIns="0" bIns="0" rtlCol="0" anchor="t"/>
          <a:lstStyle/>
          <a:p>
            <a:pPr marL="0" indent="0">
              <a:buNone/>
            </a:pPr>
            <a:r>
              <a:rPr lang="en-US" sz="800" dirty="0">
                <a:solidFill>
                  <a:srgbClr val="0B2545"/>
                </a:solidFill>
                <a:latin typeface="Calibri" pitchFamily="34" charset="0"/>
                <a:ea typeface="Calibri" pitchFamily="34" charset="-122"/>
                <a:cs typeface="Calibri" pitchFamily="34" charset="-120"/>
              </a:rPr>
              <a:t>Credit downgrade detected for Retail Technology Group</a:t>
            </a:r>
            <a:endParaRPr lang="en-US" sz="800" dirty="0"/>
          </a:p>
        </p:txBody>
      </p:sp>
      <p:sp>
        <p:nvSpPr>
          <p:cNvPr id="67" name="Shape 65"/>
          <p:cNvSpPr/>
          <p:nvPr/>
        </p:nvSpPr>
        <p:spPr>
          <a:xfrm>
            <a:off x="9006840" y="1600200"/>
            <a:ext cx="2606040" cy="4160520"/>
          </a:xfrm>
          <a:prstGeom prst="roundRect">
            <a:avLst>
              <a:gd name="adj" fmla="val 2807"/>
            </a:avLst>
          </a:prstGeom>
          <a:solidFill>
            <a:srgbClr val="0B2545"/>
          </a:solidFill>
          <a:ln w="12700">
            <a:solidFill>
              <a:srgbClr val="0B2545"/>
            </a:solidFill>
            <a:prstDash val="solid"/>
          </a:ln>
        </p:spPr>
      </p:sp>
      <p:sp>
        <p:nvSpPr>
          <p:cNvPr id="68" name="Text 66"/>
          <p:cNvSpPr txBox="1"/>
          <p:nvPr/>
        </p:nvSpPr>
        <p:spPr>
          <a:xfrm>
            <a:off x="9235440" y="1801368"/>
            <a:ext cx="2148840" cy="201168"/>
          </a:xfrm>
          <a:prstGeom prst="rect">
            <a:avLst/>
          </a:prstGeom>
          <a:noFill/>
          <a:ln/>
        </p:spPr>
        <p:txBody>
          <a:bodyPr wrap="square" lIns="0" tIns="0" rIns="0" bIns="0" rtlCol="0" anchor="ctr"/>
          <a:lstStyle/>
          <a:p>
            <a:pPr marL="0" indent="0">
              <a:buNone/>
            </a:pPr>
            <a:r>
              <a:rPr lang="en-US" sz="850" b="1" kern="0" spc="200" dirty="0">
                <a:solidFill>
                  <a:srgbClr val="8DA9C4"/>
                </a:solidFill>
                <a:latin typeface="Calibri" pitchFamily="34" charset="0"/>
                <a:ea typeface="Calibri" pitchFamily="34" charset="-122"/>
                <a:cs typeface="Calibri" pitchFamily="34" charset="-120"/>
              </a:rPr>
              <a:t>WHAT FINANCE SEES</a:t>
            </a:r>
            <a:endParaRPr lang="en-US" sz="850" dirty="0"/>
          </a:p>
        </p:txBody>
      </p:sp>
      <p:sp>
        <p:nvSpPr>
          <p:cNvPr id="69" name="Text 67"/>
          <p:cNvSpPr txBox="1"/>
          <p:nvPr/>
        </p:nvSpPr>
        <p:spPr>
          <a:xfrm>
            <a:off x="9235440" y="2057400"/>
            <a:ext cx="2148840" cy="146304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Instead of reviewing dozens of reports, Finance receives a portfolio-level view of risk and opportunity in real time.</a:t>
            </a:r>
            <a:endParaRPr lang="en-US" sz="1200" dirty="0"/>
          </a:p>
        </p:txBody>
      </p:sp>
      <p:sp>
        <p:nvSpPr>
          <p:cNvPr id="70" name="Shape 68"/>
          <p:cNvSpPr/>
          <p:nvPr/>
        </p:nvSpPr>
        <p:spPr>
          <a:xfrm>
            <a:off x="9235440" y="3931920"/>
            <a:ext cx="2148840" cy="0"/>
          </a:xfrm>
          <a:prstGeom prst="line">
            <a:avLst/>
          </a:prstGeom>
          <a:noFill/>
          <a:ln w="12700">
            <a:solidFill>
              <a:srgbClr val="2E4C77"/>
            </a:solidFill>
            <a:prstDash val="solid"/>
          </a:ln>
        </p:spPr>
      </p:sp>
      <p:sp>
        <p:nvSpPr>
          <p:cNvPr id="71" name="Text 69"/>
          <p:cNvSpPr txBox="1"/>
          <p:nvPr/>
        </p:nvSpPr>
        <p:spPr>
          <a:xfrm>
            <a:off x="9235440" y="4041648"/>
            <a:ext cx="2148840" cy="201168"/>
          </a:xfrm>
          <a:prstGeom prst="rect">
            <a:avLst/>
          </a:prstGeom>
          <a:noFill/>
          <a:ln/>
        </p:spPr>
        <p:txBody>
          <a:bodyPr wrap="square" lIns="0" tIns="0" rIns="0" bIns="0" rtlCol="0" anchor="ctr"/>
          <a:lstStyle/>
          <a:p>
            <a:pPr marL="0" indent="0">
              <a:buNone/>
            </a:pPr>
            <a:r>
              <a:rPr lang="en-US" sz="850" b="1" kern="0" spc="200" dirty="0">
                <a:solidFill>
                  <a:srgbClr val="8DA9C4"/>
                </a:solidFill>
                <a:latin typeface="Calibri" pitchFamily="34" charset="0"/>
                <a:ea typeface="Calibri" pitchFamily="34" charset="-122"/>
                <a:cs typeface="Calibri" pitchFamily="34" charset="-120"/>
              </a:rPr>
              <a:t>EXECUTIVE TAKEAWAY</a:t>
            </a:r>
            <a:endParaRPr lang="en-US" sz="850" dirty="0"/>
          </a:p>
        </p:txBody>
      </p:sp>
      <p:sp>
        <p:nvSpPr>
          <p:cNvPr id="72" name="Text 70"/>
          <p:cNvSpPr txBox="1"/>
          <p:nvPr/>
        </p:nvSpPr>
        <p:spPr>
          <a:xfrm>
            <a:off x="9235440" y="4279392"/>
            <a:ext cx="2148840" cy="1325880"/>
          </a:xfrm>
          <a:prstGeom prst="rect">
            <a:avLst/>
          </a:prstGeom>
          <a:noFill/>
          <a:ln/>
        </p:spPr>
        <p:txBody>
          <a:bodyPr wrap="square" lIns="0" tIns="0" rIns="0" bIns="0" rtlCol="0" anchor="t"/>
          <a:lstStyle/>
          <a:p>
            <a:pPr marL="0" indent="0">
              <a:buNone/>
            </a:pPr>
            <a:r>
              <a:rPr lang="en-US" sz="1050" i="1" dirty="0">
                <a:solidFill>
                  <a:srgbClr val="D9E4F2"/>
                </a:solidFill>
                <a:latin typeface="Calibri" pitchFamily="34" charset="0"/>
                <a:ea typeface="Calibri" pitchFamily="34" charset="-122"/>
                <a:cs typeface="Calibri" pitchFamily="34" charset="-120"/>
              </a:rPr>
              <a:t>Business Risk Intelligence allows Finance to continuously monitor customers, industries and opportunities from a single interface.</a:t>
            </a:r>
            <a:endParaRPr lang="en-US" sz="1050" dirty="0"/>
          </a:p>
        </p:txBody>
      </p:sp>
      <p:sp>
        <p:nvSpPr>
          <p:cNvPr id="73" name="Text 71"/>
          <p:cNvSpPr txBox="1"/>
          <p:nvPr/>
        </p:nvSpPr>
        <p:spPr>
          <a:xfrm>
            <a:off x="548640" y="5897880"/>
            <a:ext cx="11064240" cy="228600"/>
          </a:xfrm>
          <a:prstGeom prst="rect">
            <a:avLst/>
          </a:prstGeom>
          <a:noFill/>
          <a:ln/>
        </p:spPr>
        <p:txBody>
          <a:bodyPr wrap="square" lIns="0" tIns="0" rIns="0" bIns="0" rtlCol="0" anchor="ctr"/>
          <a:lstStyle/>
          <a:p>
            <a:pPr marL="0" indent="0" algn="ctr">
              <a:buNone/>
            </a:pPr>
            <a:r>
              <a:rPr lang="en-US" sz="850" i="1" dirty="0">
                <a:solidFill>
                  <a:srgbClr val="5B6B7F"/>
                </a:solidFill>
                <a:latin typeface="Calibri" pitchFamily="34" charset="0"/>
                <a:ea typeface="Calibri" pitchFamily="34" charset="-122"/>
                <a:cs typeface="Calibri" pitchFamily="34" charset="-120"/>
              </a:rPr>
              <a:t>Illustrative data — for concept purposes only.</a:t>
            </a:r>
            <a:endParaRPr lang="en-US" sz="850" dirty="0"/>
          </a:p>
        </p:txBody>
      </p:sp>
      <p:sp>
        <p:nvSpPr>
          <p:cNvPr id="74" name="Text 72"/>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900" dirty="0">
                <a:solidFill>
                  <a:srgbClr val="9AA8B8"/>
                </a:solidFill>
                <a:latin typeface="Calibri" pitchFamily="34" charset="0"/>
                <a:ea typeface="Calibri" pitchFamily="34" charset="-122"/>
                <a:cs typeface="Calibri" pitchFamily="34" charset="-120"/>
              </a:rPr>
              <a:t>Nexbill Financial Intelligence Platform</a:t>
            </a:r>
            <a:endParaRPr lang="en-US" sz="900" dirty="0"/>
          </a:p>
        </p:txBody>
      </p:sp>
      <p:sp>
        <p:nvSpPr>
          <p:cNvPr id="75" name="Text 73"/>
          <p:cNvSpPr txBox="1"/>
          <p:nvPr/>
        </p:nvSpPr>
        <p:spPr>
          <a:xfrm>
            <a:off x="11064240" y="6400800"/>
            <a:ext cx="548640" cy="274320"/>
          </a:xfrm>
          <a:prstGeom prst="rect">
            <a:avLst/>
          </a:prstGeom>
          <a:noFill/>
          <a:ln/>
        </p:spPr>
        <p:txBody>
          <a:bodyPr wrap="square" lIns="0" tIns="0" rIns="0" bIns="0" rtlCol="0" anchor="ctr"/>
          <a:lstStyle/>
          <a:p>
            <a:pPr marL="0" indent="0" algn="r">
              <a:buNone/>
            </a:pPr>
            <a:r>
              <a:rPr lang="en-US" sz="900" dirty="0">
                <a:solidFill>
                  <a:srgbClr val="9AA8B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Customer 360 Risk Assessment</a:t>
            </a:r>
            <a:endParaRPr lang="en-US" sz="3000" dirty="0"/>
          </a:p>
        </p:txBody>
      </p:sp>
      <p:sp>
        <p:nvSpPr>
          <p:cNvPr id="3" name="Text 1"/>
          <p:cNvSpPr txBox="1"/>
          <p:nvPr/>
        </p:nvSpPr>
        <p:spPr>
          <a:xfrm>
            <a:off x="548640" y="1078992"/>
            <a:ext cx="8595360" cy="502920"/>
          </a:xfrm>
          <a:prstGeom prst="rect">
            <a:avLst/>
          </a:prstGeom>
          <a:noFill/>
          <a:ln/>
        </p:spPr>
        <p:txBody>
          <a:bodyPr wrap="square" lIns="0" tIns="0" rIns="0" bIns="0" rtlCol="0" anchor="t"/>
          <a:lstStyle/>
          <a:p>
            <a:pPr marL="0" indent="0">
              <a:buNone/>
            </a:pPr>
            <a:r>
              <a:rPr lang="en-US" sz="1500" i="1" dirty="0">
                <a:solidFill>
                  <a:srgbClr val="5B6B7F"/>
                </a:solidFill>
                <a:latin typeface="Calibri" pitchFamily="34" charset="0"/>
                <a:ea typeface="Calibri" pitchFamily="34" charset="-122"/>
                <a:cs typeface="Calibri" pitchFamily="34" charset="-120"/>
              </a:rPr>
              <a:t>Illustrative product mockup — how AI converts internal and external signals into a single Finance recommendation.</a:t>
            </a:r>
            <a:endParaRPr lang="en-US" sz="1500" dirty="0"/>
          </a:p>
        </p:txBody>
      </p:sp>
      <p:sp>
        <p:nvSpPr>
          <p:cNvPr id="4" name="Shape 2"/>
          <p:cNvSpPr/>
          <p:nvPr/>
        </p:nvSpPr>
        <p:spPr>
          <a:xfrm>
            <a:off x="9107424" y="438912"/>
            <a:ext cx="2505456" cy="256032"/>
          </a:xfrm>
          <a:prstGeom prst="rect">
            <a:avLst/>
          </a:prstGeom>
          <a:solidFill>
            <a:srgbClr val="0B2545"/>
          </a:solidFill>
          <a:ln w="12700">
            <a:solidFill>
              <a:srgbClr val="0B2545"/>
            </a:solidFill>
            <a:prstDash val="solid"/>
          </a:ln>
        </p:spPr>
      </p:sp>
      <p:sp>
        <p:nvSpPr>
          <p:cNvPr id="5" name="Text 3"/>
          <p:cNvSpPr txBox="1"/>
          <p:nvPr/>
        </p:nvSpPr>
        <p:spPr>
          <a:xfrm>
            <a:off x="9107424" y="438912"/>
            <a:ext cx="2505456"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latin typeface="Calibri" pitchFamily="34" charset="0"/>
                <a:ea typeface="Calibri" pitchFamily="34" charset="-122"/>
                <a:cs typeface="Calibri" pitchFamily="34" charset="-120"/>
              </a:rPr>
              <a:t>BACKUP  ·  ILLUSTRATIVE MOCKUP</a:t>
            </a:r>
            <a:endParaRPr lang="en-US" sz="850" dirty="0"/>
          </a:p>
        </p:txBody>
      </p:sp>
      <p:sp>
        <p:nvSpPr>
          <p:cNvPr id="6" name="Shape 4"/>
          <p:cNvSpPr/>
          <p:nvPr/>
        </p:nvSpPr>
        <p:spPr>
          <a:xfrm>
            <a:off x="548640" y="1600200"/>
            <a:ext cx="8229600" cy="4160520"/>
          </a:xfrm>
          <a:prstGeom prst="roundRect">
            <a:avLst>
              <a:gd name="adj" fmla="val 2198"/>
            </a:avLst>
          </a:prstGeom>
          <a:solidFill>
            <a:srgbClr val="FFFFFF"/>
          </a:solidFill>
          <a:ln w="12700">
            <a:solidFill>
              <a:srgbClr val="C9D6E6"/>
            </a:solidFill>
            <a:prstDash val="solid"/>
          </a:ln>
          <a:effectLst>
            <a:outerShdw blurRad="101600" dist="38100" dir="5400000" algn="bl" rotWithShape="0">
              <a:srgbClr val="9AA8B8">
                <a:alpha val="35000"/>
              </a:srgbClr>
            </a:outerShdw>
          </a:effectLst>
        </p:spPr>
      </p:sp>
      <p:sp>
        <p:nvSpPr>
          <p:cNvPr id="7" name="Shape 5"/>
          <p:cNvSpPr/>
          <p:nvPr/>
        </p:nvSpPr>
        <p:spPr>
          <a:xfrm>
            <a:off x="557784" y="1609344"/>
            <a:ext cx="8211312" cy="365760"/>
          </a:xfrm>
          <a:prstGeom prst="rect">
            <a:avLst/>
          </a:prstGeom>
          <a:solidFill>
            <a:srgbClr val="0B2545"/>
          </a:solidFill>
          <a:ln w="12700">
            <a:solidFill>
              <a:srgbClr val="0B2545"/>
            </a:solidFill>
            <a:prstDash val="solid"/>
          </a:ln>
        </p:spPr>
      </p:sp>
      <p:sp>
        <p:nvSpPr>
          <p:cNvPr id="8" name="Shape 6"/>
          <p:cNvSpPr/>
          <p:nvPr/>
        </p:nvSpPr>
        <p:spPr>
          <a:xfrm>
            <a:off x="685800" y="1737360"/>
            <a:ext cx="100584" cy="100584"/>
          </a:xfrm>
          <a:prstGeom prst="ellipse">
            <a:avLst/>
          </a:prstGeom>
          <a:solidFill>
            <a:srgbClr val="FF6B6B"/>
          </a:solidFill>
          <a:ln w="12700">
            <a:solidFill>
              <a:srgbClr val="FF6B6B"/>
            </a:solidFill>
            <a:prstDash val="solid"/>
          </a:ln>
        </p:spPr>
      </p:sp>
      <p:sp>
        <p:nvSpPr>
          <p:cNvPr id="9" name="Shape 7"/>
          <p:cNvSpPr/>
          <p:nvPr/>
        </p:nvSpPr>
        <p:spPr>
          <a:xfrm>
            <a:off x="841248" y="1737360"/>
            <a:ext cx="100584" cy="100584"/>
          </a:xfrm>
          <a:prstGeom prst="ellipse">
            <a:avLst/>
          </a:prstGeom>
          <a:solidFill>
            <a:srgbClr val="FFD166"/>
          </a:solidFill>
          <a:ln w="12700">
            <a:solidFill>
              <a:srgbClr val="FFD166"/>
            </a:solidFill>
            <a:prstDash val="solid"/>
          </a:ln>
        </p:spPr>
      </p:sp>
      <p:sp>
        <p:nvSpPr>
          <p:cNvPr id="10" name="Shape 8"/>
          <p:cNvSpPr/>
          <p:nvPr/>
        </p:nvSpPr>
        <p:spPr>
          <a:xfrm>
            <a:off x="996696" y="1737360"/>
            <a:ext cx="100584" cy="100584"/>
          </a:xfrm>
          <a:prstGeom prst="ellipse">
            <a:avLst/>
          </a:prstGeom>
          <a:solidFill>
            <a:srgbClr val="6BCB77"/>
          </a:solidFill>
          <a:ln w="12700">
            <a:solidFill>
              <a:srgbClr val="6BCB77"/>
            </a:solidFill>
            <a:prstDash val="solid"/>
          </a:ln>
        </p:spPr>
      </p:sp>
      <p:sp>
        <p:nvSpPr>
          <p:cNvPr id="11" name="Text 9"/>
          <p:cNvSpPr txBox="1"/>
          <p:nvPr/>
        </p:nvSpPr>
        <p:spPr>
          <a:xfrm>
            <a:off x="1280160" y="1609344"/>
            <a:ext cx="7315200" cy="365760"/>
          </a:xfrm>
          <a:prstGeom prst="rect">
            <a:avLst/>
          </a:prstGeom>
          <a:noFill/>
          <a:ln/>
        </p:spPr>
        <p:txBody>
          <a:bodyPr wrap="square" lIns="0" tIns="0" rIns="0" bIns="0" rtlCol="0" anchor="ctr"/>
          <a:lstStyle/>
          <a:p>
            <a:pPr marL="0" indent="0">
              <a:buNone/>
            </a:pPr>
            <a:r>
              <a:rPr lang="en-US" sz="900" b="1" kern="0" spc="100" dirty="0">
                <a:solidFill>
                  <a:srgbClr val="FFFFFF"/>
                </a:solidFill>
                <a:latin typeface="Calibri" pitchFamily="34" charset="0"/>
                <a:ea typeface="Calibri" pitchFamily="34" charset="-122"/>
                <a:cs typeface="Calibri" pitchFamily="34" charset="-120"/>
              </a:rPr>
              <a:t>NEXBILL  ·  CUSTOMER 360  ·  RISK ASSESSMENT</a:t>
            </a:r>
            <a:endParaRPr lang="en-US" sz="900" dirty="0"/>
          </a:p>
        </p:txBody>
      </p:sp>
      <p:sp>
        <p:nvSpPr>
          <p:cNvPr id="12" name="Shape 10"/>
          <p:cNvSpPr/>
          <p:nvPr/>
        </p:nvSpPr>
        <p:spPr>
          <a:xfrm>
            <a:off x="731520" y="2103120"/>
            <a:ext cx="7863840" cy="502920"/>
          </a:xfrm>
          <a:prstGeom prst="rect">
            <a:avLst/>
          </a:prstGeom>
          <a:solidFill>
            <a:srgbClr val="0B2545"/>
          </a:solidFill>
          <a:ln w="12700">
            <a:solidFill>
              <a:srgbClr val="0B2545"/>
            </a:solidFill>
            <a:prstDash val="solid"/>
          </a:ln>
        </p:spPr>
      </p:sp>
      <p:sp>
        <p:nvSpPr>
          <p:cNvPr id="13" name="Text 11"/>
          <p:cNvSpPr txBox="1"/>
          <p:nvPr/>
        </p:nvSpPr>
        <p:spPr>
          <a:xfrm>
            <a:off x="868680" y="2103120"/>
            <a:ext cx="2377440" cy="5029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Global Telecom Operator</a:t>
            </a:r>
            <a:endParaRPr lang="en-US" sz="1300" dirty="0"/>
          </a:p>
        </p:txBody>
      </p:sp>
      <p:sp>
        <p:nvSpPr>
          <p:cNvPr id="14" name="Text 12"/>
          <p:cNvSpPr txBox="1"/>
          <p:nvPr/>
        </p:nvSpPr>
        <p:spPr>
          <a:xfrm>
            <a:off x="3566160" y="2167128"/>
            <a:ext cx="1463040" cy="164592"/>
          </a:xfrm>
          <a:prstGeom prst="rect">
            <a:avLst/>
          </a:prstGeom>
          <a:noFill/>
          <a:ln/>
        </p:spPr>
        <p:txBody>
          <a:bodyPr wrap="square" lIns="0" tIns="0" rIns="0" bIns="0" rtlCol="0" anchor="ctr"/>
          <a:lstStyle/>
          <a:p>
            <a:pPr marL="0" indent="0">
              <a:buNone/>
            </a:pPr>
            <a:r>
              <a:rPr lang="en-US" sz="650" b="1" kern="0" spc="100" dirty="0">
                <a:solidFill>
                  <a:srgbClr val="8DA9C4"/>
                </a:solidFill>
                <a:latin typeface="Calibri" pitchFamily="34" charset="0"/>
                <a:ea typeface="Calibri" pitchFamily="34" charset="-122"/>
                <a:cs typeface="Calibri" pitchFamily="34" charset="-120"/>
              </a:rPr>
              <a:t>ANNUAL REVENUE</a:t>
            </a:r>
            <a:endParaRPr lang="en-US" sz="650" dirty="0"/>
          </a:p>
        </p:txBody>
      </p:sp>
      <p:sp>
        <p:nvSpPr>
          <p:cNvPr id="15" name="Text 13"/>
          <p:cNvSpPr txBox="1"/>
          <p:nvPr/>
        </p:nvSpPr>
        <p:spPr>
          <a:xfrm>
            <a:off x="3566160" y="2322576"/>
            <a:ext cx="146304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$25M</a:t>
            </a:r>
            <a:endParaRPr lang="en-US" sz="1200" dirty="0"/>
          </a:p>
        </p:txBody>
      </p:sp>
      <p:sp>
        <p:nvSpPr>
          <p:cNvPr id="16" name="Text 14"/>
          <p:cNvSpPr txBox="1"/>
          <p:nvPr/>
        </p:nvSpPr>
        <p:spPr>
          <a:xfrm>
            <a:off x="4800600" y="2167128"/>
            <a:ext cx="1463040" cy="164592"/>
          </a:xfrm>
          <a:prstGeom prst="rect">
            <a:avLst/>
          </a:prstGeom>
          <a:noFill/>
          <a:ln/>
        </p:spPr>
        <p:txBody>
          <a:bodyPr wrap="square" lIns="0" tIns="0" rIns="0" bIns="0" rtlCol="0" anchor="ctr"/>
          <a:lstStyle/>
          <a:p>
            <a:pPr marL="0" indent="0">
              <a:buNone/>
            </a:pPr>
            <a:r>
              <a:rPr lang="en-US" sz="650" b="1" kern="0" spc="100" dirty="0">
                <a:solidFill>
                  <a:srgbClr val="8DA9C4"/>
                </a:solidFill>
                <a:latin typeface="Calibri" pitchFamily="34" charset="0"/>
                <a:ea typeface="Calibri" pitchFamily="34" charset="-122"/>
                <a:cs typeface="Calibri" pitchFamily="34" charset="-120"/>
              </a:rPr>
              <a:t>MARGIN</a:t>
            </a:r>
            <a:endParaRPr lang="en-US" sz="650" dirty="0"/>
          </a:p>
        </p:txBody>
      </p:sp>
      <p:sp>
        <p:nvSpPr>
          <p:cNvPr id="17" name="Text 15"/>
          <p:cNvSpPr txBox="1"/>
          <p:nvPr/>
        </p:nvSpPr>
        <p:spPr>
          <a:xfrm>
            <a:off x="4800600" y="2322576"/>
            <a:ext cx="146304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18%</a:t>
            </a:r>
            <a:endParaRPr lang="en-US" sz="1200" dirty="0"/>
          </a:p>
        </p:txBody>
      </p:sp>
      <p:sp>
        <p:nvSpPr>
          <p:cNvPr id="18" name="Text 16"/>
          <p:cNvSpPr txBox="1"/>
          <p:nvPr/>
        </p:nvSpPr>
        <p:spPr>
          <a:xfrm>
            <a:off x="6035040" y="2167128"/>
            <a:ext cx="1463040" cy="164592"/>
          </a:xfrm>
          <a:prstGeom prst="rect">
            <a:avLst/>
          </a:prstGeom>
          <a:noFill/>
          <a:ln/>
        </p:spPr>
        <p:txBody>
          <a:bodyPr wrap="square" lIns="0" tIns="0" rIns="0" bIns="0" rtlCol="0" anchor="ctr"/>
          <a:lstStyle/>
          <a:p>
            <a:pPr marL="0" indent="0">
              <a:buNone/>
            </a:pPr>
            <a:r>
              <a:rPr lang="en-US" sz="650" b="1" kern="0" spc="100" dirty="0">
                <a:solidFill>
                  <a:srgbClr val="8DA9C4"/>
                </a:solidFill>
                <a:latin typeface="Calibri" pitchFamily="34" charset="0"/>
                <a:ea typeface="Calibri" pitchFamily="34" charset="-122"/>
                <a:cs typeface="Calibri" pitchFamily="34" charset="-120"/>
              </a:rPr>
              <a:t>OPEN AR</a:t>
            </a:r>
            <a:endParaRPr lang="en-US" sz="650" dirty="0"/>
          </a:p>
        </p:txBody>
      </p:sp>
      <p:sp>
        <p:nvSpPr>
          <p:cNvPr id="19" name="Text 17"/>
          <p:cNvSpPr txBox="1"/>
          <p:nvPr/>
        </p:nvSpPr>
        <p:spPr>
          <a:xfrm>
            <a:off x="6035040" y="2322576"/>
            <a:ext cx="146304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$2M</a:t>
            </a:r>
            <a:endParaRPr lang="en-US" sz="1200" dirty="0"/>
          </a:p>
        </p:txBody>
      </p:sp>
      <p:sp>
        <p:nvSpPr>
          <p:cNvPr id="20" name="Shape 18"/>
          <p:cNvSpPr/>
          <p:nvPr/>
        </p:nvSpPr>
        <p:spPr>
          <a:xfrm>
            <a:off x="7589520" y="2240280"/>
            <a:ext cx="868680" cy="237744"/>
          </a:xfrm>
          <a:prstGeom prst="roundRect">
            <a:avLst>
              <a:gd name="adj" fmla="val 19231"/>
            </a:avLst>
          </a:prstGeom>
          <a:solidFill>
            <a:srgbClr val="1F4E8C"/>
          </a:solidFill>
          <a:ln w="12700">
            <a:solidFill>
              <a:srgbClr val="1F4E8C"/>
            </a:solidFill>
            <a:prstDash val="solid"/>
          </a:ln>
        </p:spPr>
      </p:sp>
      <p:sp>
        <p:nvSpPr>
          <p:cNvPr id="21" name="Text 19"/>
          <p:cNvSpPr txBox="1"/>
          <p:nvPr/>
        </p:nvSpPr>
        <p:spPr>
          <a:xfrm>
            <a:off x="7589520" y="2240280"/>
            <a:ext cx="868680" cy="23774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HIGH</a:t>
            </a:r>
            <a:endParaRPr lang="en-US" sz="700" dirty="0"/>
          </a:p>
        </p:txBody>
      </p:sp>
      <p:sp>
        <p:nvSpPr>
          <p:cNvPr id="22" name="Text 20"/>
          <p:cNvSpPr txBox="1"/>
          <p:nvPr/>
        </p:nvSpPr>
        <p:spPr>
          <a:xfrm>
            <a:off x="6812280" y="2240280"/>
            <a:ext cx="731520" cy="237744"/>
          </a:xfrm>
          <a:prstGeom prst="rect">
            <a:avLst/>
          </a:prstGeom>
          <a:noFill/>
          <a:ln/>
        </p:spPr>
        <p:txBody>
          <a:bodyPr wrap="square" lIns="0" tIns="0" rIns="0" bIns="0" rtlCol="0" anchor="ctr"/>
          <a:lstStyle/>
          <a:p>
            <a:pPr marL="0" indent="0" algn="r">
              <a:buNone/>
            </a:pPr>
            <a:r>
              <a:rPr lang="en-US" sz="650" b="1" kern="0" spc="100" dirty="0">
                <a:solidFill>
                  <a:srgbClr val="8DA9C4"/>
                </a:solidFill>
                <a:latin typeface="Calibri" pitchFamily="34" charset="0"/>
                <a:ea typeface="Calibri" pitchFamily="34" charset="-122"/>
                <a:cs typeface="Calibri" pitchFamily="34" charset="-120"/>
              </a:rPr>
              <a:t>OVERALL</a:t>
            </a:r>
            <a:endParaRPr lang="en-US" sz="650" dirty="0"/>
          </a:p>
        </p:txBody>
      </p:sp>
      <p:sp>
        <p:nvSpPr>
          <p:cNvPr id="23" name="Shape 21"/>
          <p:cNvSpPr/>
          <p:nvPr/>
        </p:nvSpPr>
        <p:spPr>
          <a:xfrm>
            <a:off x="731520" y="2743200"/>
            <a:ext cx="2514600" cy="960120"/>
          </a:xfrm>
          <a:prstGeom prst="roundRect">
            <a:avLst>
              <a:gd name="adj" fmla="val 5714"/>
            </a:avLst>
          </a:prstGeom>
          <a:solidFill>
            <a:srgbClr val="EEF3FA"/>
          </a:solidFill>
          <a:ln w="6350">
            <a:solidFill>
              <a:srgbClr val="C9D6E6"/>
            </a:solidFill>
            <a:prstDash val="solid"/>
          </a:ln>
        </p:spPr>
      </p:sp>
      <p:sp>
        <p:nvSpPr>
          <p:cNvPr id="24" name="Text 22"/>
          <p:cNvSpPr txBox="1"/>
          <p:nvPr/>
        </p:nvSpPr>
        <p:spPr>
          <a:xfrm>
            <a:off x="841248" y="2816352"/>
            <a:ext cx="2295144" cy="182880"/>
          </a:xfrm>
          <a:prstGeom prst="rect">
            <a:avLst/>
          </a:prstGeom>
          <a:noFill/>
          <a:ln/>
        </p:spPr>
        <p:txBody>
          <a:bodyPr wrap="square" lIns="0" tIns="0" rIns="0" bIns="0" rtlCol="0" anchor="ctr"/>
          <a:lstStyle/>
          <a:p>
            <a:pPr marL="0" indent="0">
              <a:buNone/>
            </a:pPr>
            <a:r>
              <a:rPr lang="en-US" sz="750" b="1" kern="0" spc="100" dirty="0">
                <a:solidFill>
                  <a:srgbClr val="1F4E8C"/>
                </a:solidFill>
                <a:latin typeface="Calibri" pitchFamily="34" charset="0"/>
                <a:ea typeface="Calibri" pitchFamily="34" charset="-122"/>
                <a:cs typeface="Calibri" pitchFamily="34" charset="-120"/>
              </a:rPr>
              <a:t>CURRENT BUSINESS STATUS  ·  NEXBILL</a:t>
            </a:r>
            <a:endParaRPr lang="en-US" sz="750" dirty="0"/>
          </a:p>
        </p:txBody>
      </p:sp>
      <p:sp>
        <p:nvSpPr>
          <p:cNvPr id="25" name="Text 23"/>
          <p:cNvSpPr txBox="1"/>
          <p:nvPr/>
        </p:nvSpPr>
        <p:spPr>
          <a:xfrm>
            <a:off x="841248" y="3054096"/>
            <a:ext cx="1371600" cy="182880"/>
          </a:xfrm>
          <a:prstGeom prst="rect">
            <a:avLst/>
          </a:prstGeom>
          <a:noFill/>
          <a:ln/>
        </p:spPr>
        <p:txBody>
          <a:bodyPr wrap="square" lIns="0" tIns="0" rIns="0" bIns="0" rtlCol="0" anchor="ctr"/>
          <a:lstStyle/>
          <a:p>
            <a:pPr marL="0" indent="0">
              <a:buNone/>
            </a:pPr>
            <a:r>
              <a:rPr lang="en-US" sz="800" dirty="0">
                <a:solidFill>
                  <a:srgbClr val="33475B"/>
                </a:solidFill>
                <a:latin typeface="Calibri" pitchFamily="34" charset="0"/>
                <a:ea typeface="Calibri" pitchFamily="34" charset="-122"/>
                <a:cs typeface="Calibri" pitchFamily="34" charset="-120"/>
              </a:rPr>
              <a:t>Revenue trend</a:t>
            </a:r>
            <a:endParaRPr lang="en-US" sz="800" dirty="0"/>
          </a:p>
        </p:txBody>
      </p:sp>
      <p:sp>
        <p:nvSpPr>
          <p:cNvPr id="26" name="Shape 24"/>
          <p:cNvSpPr/>
          <p:nvPr/>
        </p:nvSpPr>
        <p:spPr>
          <a:xfrm>
            <a:off x="2496312" y="3063240"/>
            <a:ext cx="640080" cy="164592"/>
          </a:xfrm>
          <a:prstGeom prst="roundRect">
            <a:avLst>
              <a:gd name="adj" fmla="val 27778"/>
            </a:avLst>
          </a:prstGeom>
          <a:solidFill>
            <a:srgbClr val="DCE6F2"/>
          </a:solidFill>
          <a:ln w="12700">
            <a:solidFill>
              <a:srgbClr val="DCE6F2"/>
            </a:solidFill>
            <a:prstDash val="solid"/>
          </a:ln>
        </p:spPr>
      </p:sp>
      <p:sp>
        <p:nvSpPr>
          <p:cNvPr id="27" name="Text 25"/>
          <p:cNvSpPr txBox="1"/>
          <p:nvPr/>
        </p:nvSpPr>
        <p:spPr>
          <a:xfrm>
            <a:off x="2496312" y="3063240"/>
            <a:ext cx="640080" cy="164592"/>
          </a:xfrm>
          <a:prstGeom prst="rect">
            <a:avLst/>
          </a:prstGeom>
          <a:noFill/>
          <a:ln/>
        </p:spPr>
        <p:txBody>
          <a:bodyPr wrap="square" lIns="0" tIns="0" rIns="0" bIns="0" rtlCol="0" anchor="ctr"/>
          <a:lstStyle/>
          <a:p>
            <a:pPr marL="0" indent="0" algn="ctr">
              <a:buNone/>
            </a:pPr>
            <a:r>
              <a:rPr lang="en-US" sz="700" b="1" dirty="0">
                <a:solidFill>
                  <a:srgbClr val="0B2545"/>
                </a:solidFill>
                <a:latin typeface="Calibri" pitchFamily="34" charset="0"/>
                <a:ea typeface="Calibri" pitchFamily="34" charset="-122"/>
                <a:cs typeface="Calibri" pitchFamily="34" charset="-120"/>
              </a:rPr>
              <a:t>Stable</a:t>
            </a:r>
            <a:endParaRPr lang="en-US" sz="700" dirty="0"/>
          </a:p>
        </p:txBody>
      </p:sp>
      <p:sp>
        <p:nvSpPr>
          <p:cNvPr id="28" name="Text 26"/>
          <p:cNvSpPr txBox="1"/>
          <p:nvPr/>
        </p:nvSpPr>
        <p:spPr>
          <a:xfrm>
            <a:off x="841248" y="3255264"/>
            <a:ext cx="1371600" cy="182880"/>
          </a:xfrm>
          <a:prstGeom prst="rect">
            <a:avLst/>
          </a:prstGeom>
          <a:noFill/>
          <a:ln/>
        </p:spPr>
        <p:txBody>
          <a:bodyPr wrap="square" lIns="0" tIns="0" rIns="0" bIns="0" rtlCol="0" anchor="ctr"/>
          <a:lstStyle/>
          <a:p>
            <a:pPr marL="0" indent="0">
              <a:buNone/>
            </a:pPr>
            <a:r>
              <a:rPr lang="en-US" sz="800" dirty="0">
                <a:solidFill>
                  <a:srgbClr val="33475B"/>
                </a:solidFill>
                <a:latin typeface="Calibri" pitchFamily="34" charset="0"/>
                <a:ea typeface="Calibri" pitchFamily="34" charset="-122"/>
                <a:cs typeface="Calibri" pitchFamily="34" charset="-120"/>
              </a:rPr>
              <a:t>Billing trend</a:t>
            </a:r>
            <a:endParaRPr lang="en-US" sz="800" dirty="0"/>
          </a:p>
        </p:txBody>
      </p:sp>
      <p:sp>
        <p:nvSpPr>
          <p:cNvPr id="29" name="Shape 27"/>
          <p:cNvSpPr/>
          <p:nvPr/>
        </p:nvSpPr>
        <p:spPr>
          <a:xfrm>
            <a:off x="2496312" y="3264408"/>
            <a:ext cx="640080" cy="164592"/>
          </a:xfrm>
          <a:prstGeom prst="roundRect">
            <a:avLst>
              <a:gd name="adj" fmla="val 27778"/>
            </a:avLst>
          </a:prstGeom>
          <a:solidFill>
            <a:srgbClr val="DCE6F2"/>
          </a:solidFill>
          <a:ln w="12700">
            <a:solidFill>
              <a:srgbClr val="DCE6F2"/>
            </a:solidFill>
            <a:prstDash val="solid"/>
          </a:ln>
        </p:spPr>
      </p:sp>
      <p:sp>
        <p:nvSpPr>
          <p:cNvPr id="30" name="Text 28"/>
          <p:cNvSpPr txBox="1"/>
          <p:nvPr/>
        </p:nvSpPr>
        <p:spPr>
          <a:xfrm>
            <a:off x="2496312" y="3264408"/>
            <a:ext cx="640080" cy="164592"/>
          </a:xfrm>
          <a:prstGeom prst="rect">
            <a:avLst/>
          </a:prstGeom>
          <a:noFill/>
          <a:ln/>
        </p:spPr>
        <p:txBody>
          <a:bodyPr wrap="square" lIns="0" tIns="0" rIns="0" bIns="0" rtlCol="0" anchor="ctr"/>
          <a:lstStyle/>
          <a:p>
            <a:pPr marL="0" indent="0" algn="ctr">
              <a:buNone/>
            </a:pPr>
            <a:r>
              <a:rPr lang="en-US" sz="700" b="1" dirty="0">
                <a:solidFill>
                  <a:srgbClr val="0B2545"/>
                </a:solidFill>
                <a:latin typeface="Calibri" pitchFamily="34" charset="0"/>
                <a:ea typeface="Calibri" pitchFamily="34" charset="-122"/>
                <a:cs typeface="Calibri" pitchFamily="34" charset="-120"/>
              </a:rPr>
              <a:t>Stable</a:t>
            </a:r>
            <a:endParaRPr lang="en-US" sz="700" dirty="0"/>
          </a:p>
        </p:txBody>
      </p:sp>
      <p:sp>
        <p:nvSpPr>
          <p:cNvPr id="31" name="Text 29"/>
          <p:cNvSpPr txBox="1"/>
          <p:nvPr/>
        </p:nvSpPr>
        <p:spPr>
          <a:xfrm>
            <a:off x="841248" y="3456432"/>
            <a:ext cx="1371600" cy="182880"/>
          </a:xfrm>
          <a:prstGeom prst="rect">
            <a:avLst/>
          </a:prstGeom>
          <a:noFill/>
          <a:ln/>
        </p:spPr>
        <p:txBody>
          <a:bodyPr wrap="square" lIns="0" tIns="0" rIns="0" bIns="0" rtlCol="0" anchor="ctr"/>
          <a:lstStyle/>
          <a:p>
            <a:pPr marL="0" indent="0">
              <a:buNone/>
            </a:pPr>
            <a:r>
              <a:rPr lang="en-US" sz="800" dirty="0">
                <a:solidFill>
                  <a:srgbClr val="33475B"/>
                </a:solidFill>
                <a:latin typeface="Calibri" pitchFamily="34" charset="0"/>
                <a:ea typeface="Calibri" pitchFamily="34" charset="-122"/>
                <a:cs typeface="Calibri" pitchFamily="34" charset="-120"/>
              </a:rPr>
              <a:t>Collection trend</a:t>
            </a:r>
            <a:endParaRPr lang="en-US" sz="800" dirty="0"/>
          </a:p>
        </p:txBody>
      </p:sp>
      <p:sp>
        <p:nvSpPr>
          <p:cNvPr id="32" name="Shape 30"/>
          <p:cNvSpPr/>
          <p:nvPr/>
        </p:nvSpPr>
        <p:spPr>
          <a:xfrm>
            <a:off x="2496312" y="3465576"/>
            <a:ext cx="640080" cy="164592"/>
          </a:xfrm>
          <a:prstGeom prst="roundRect">
            <a:avLst>
              <a:gd name="adj" fmla="val 27778"/>
            </a:avLst>
          </a:prstGeom>
          <a:solidFill>
            <a:srgbClr val="DCE6F2"/>
          </a:solidFill>
          <a:ln w="12700">
            <a:solidFill>
              <a:srgbClr val="DCE6F2"/>
            </a:solidFill>
            <a:prstDash val="solid"/>
          </a:ln>
        </p:spPr>
      </p:sp>
      <p:sp>
        <p:nvSpPr>
          <p:cNvPr id="33" name="Text 31"/>
          <p:cNvSpPr txBox="1"/>
          <p:nvPr/>
        </p:nvSpPr>
        <p:spPr>
          <a:xfrm>
            <a:off x="2496312" y="3465576"/>
            <a:ext cx="640080" cy="164592"/>
          </a:xfrm>
          <a:prstGeom prst="rect">
            <a:avLst/>
          </a:prstGeom>
          <a:noFill/>
          <a:ln/>
        </p:spPr>
        <p:txBody>
          <a:bodyPr wrap="square" lIns="0" tIns="0" rIns="0" bIns="0" rtlCol="0" anchor="ctr"/>
          <a:lstStyle/>
          <a:p>
            <a:pPr marL="0" indent="0" algn="ctr">
              <a:buNone/>
            </a:pPr>
            <a:r>
              <a:rPr lang="en-US" sz="700" b="1" dirty="0">
                <a:solidFill>
                  <a:srgbClr val="0B2545"/>
                </a:solidFill>
                <a:latin typeface="Calibri" pitchFamily="34" charset="0"/>
                <a:ea typeface="Calibri" pitchFamily="34" charset="-122"/>
                <a:cs typeface="Calibri" pitchFamily="34" charset="-120"/>
              </a:rPr>
              <a:t>Stable</a:t>
            </a:r>
            <a:endParaRPr lang="en-US" sz="700" dirty="0"/>
          </a:p>
        </p:txBody>
      </p:sp>
      <p:sp>
        <p:nvSpPr>
          <p:cNvPr id="34" name="Shape 32"/>
          <p:cNvSpPr/>
          <p:nvPr/>
        </p:nvSpPr>
        <p:spPr>
          <a:xfrm>
            <a:off x="731520" y="3813048"/>
            <a:ext cx="2514600" cy="1764792"/>
          </a:xfrm>
          <a:prstGeom prst="roundRect">
            <a:avLst>
              <a:gd name="adj" fmla="val 3109"/>
            </a:avLst>
          </a:prstGeom>
          <a:solidFill>
            <a:srgbClr val="EEF3FA"/>
          </a:solidFill>
          <a:ln w="6350">
            <a:solidFill>
              <a:srgbClr val="C9D6E6"/>
            </a:solidFill>
            <a:prstDash val="solid"/>
          </a:ln>
        </p:spPr>
      </p:sp>
      <p:sp>
        <p:nvSpPr>
          <p:cNvPr id="35" name="Text 33"/>
          <p:cNvSpPr txBox="1"/>
          <p:nvPr/>
        </p:nvSpPr>
        <p:spPr>
          <a:xfrm>
            <a:off x="841248" y="3886200"/>
            <a:ext cx="2295144" cy="182880"/>
          </a:xfrm>
          <a:prstGeom prst="rect">
            <a:avLst/>
          </a:prstGeom>
          <a:noFill/>
          <a:ln/>
        </p:spPr>
        <p:txBody>
          <a:bodyPr wrap="square" lIns="0" tIns="0" rIns="0" bIns="0" rtlCol="0" anchor="ctr"/>
          <a:lstStyle/>
          <a:p>
            <a:pPr marL="0" indent="0">
              <a:buNone/>
            </a:pPr>
            <a:r>
              <a:rPr lang="en-US" sz="750" b="1" kern="0" spc="100" dirty="0">
                <a:solidFill>
                  <a:srgbClr val="1F4E8C"/>
                </a:solidFill>
                <a:latin typeface="Calibri" pitchFamily="34" charset="0"/>
                <a:ea typeface="Calibri" pitchFamily="34" charset="-122"/>
                <a:cs typeface="Calibri" pitchFamily="34" charset="-120"/>
              </a:rPr>
              <a:t>EXTERNAL SIGNALS DETECTED</a:t>
            </a:r>
            <a:endParaRPr lang="en-US" sz="750" dirty="0"/>
          </a:p>
        </p:txBody>
      </p:sp>
      <p:sp>
        <p:nvSpPr>
          <p:cNvPr id="36" name="Shape 34"/>
          <p:cNvSpPr/>
          <p:nvPr/>
        </p:nvSpPr>
        <p:spPr>
          <a:xfrm>
            <a:off x="859536" y="4206240"/>
            <a:ext cx="100584" cy="100584"/>
          </a:xfrm>
          <a:prstGeom prst="ellipse">
            <a:avLst/>
          </a:prstGeom>
          <a:solidFill>
            <a:srgbClr val="1F4E8C"/>
          </a:solidFill>
          <a:ln w="12700">
            <a:solidFill>
              <a:srgbClr val="1F4E8C"/>
            </a:solidFill>
            <a:prstDash val="solid"/>
          </a:ln>
        </p:spPr>
      </p:sp>
      <p:sp>
        <p:nvSpPr>
          <p:cNvPr id="37" name="Shape 35"/>
          <p:cNvSpPr/>
          <p:nvPr/>
        </p:nvSpPr>
        <p:spPr>
          <a:xfrm>
            <a:off x="909828" y="4306824"/>
            <a:ext cx="0" cy="356616"/>
          </a:xfrm>
          <a:prstGeom prst="line">
            <a:avLst/>
          </a:prstGeom>
          <a:noFill/>
          <a:ln w="9525">
            <a:solidFill>
              <a:srgbClr val="8DA9C4"/>
            </a:solidFill>
            <a:prstDash val="solid"/>
          </a:ln>
        </p:spPr>
      </p:sp>
      <p:sp>
        <p:nvSpPr>
          <p:cNvPr id="38" name="Text 36"/>
          <p:cNvSpPr txBox="1"/>
          <p:nvPr/>
        </p:nvSpPr>
        <p:spPr>
          <a:xfrm>
            <a:off x="1024128" y="4142232"/>
            <a:ext cx="457200" cy="219456"/>
          </a:xfrm>
          <a:prstGeom prst="rect">
            <a:avLst/>
          </a:prstGeom>
          <a:noFill/>
          <a:ln/>
        </p:spPr>
        <p:txBody>
          <a:bodyPr wrap="square" lIns="0" tIns="0" rIns="0" bIns="0" rtlCol="0" anchor="ctr"/>
          <a:lstStyle/>
          <a:p>
            <a:pPr marL="0" indent="0">
              <a:buNone/>
            </a:pPr>
            <a:r>
              <a:rPr lang="en-US" sz="700" dirty="0">
                <a:solidFill>
                  <a:srgbClr val="5B6B7F"/>
                </a:solidFill>
                <a:latin typeface="Calibri" pitchFamily="34" charset="0"/>
                <a:ea typeface="Calibri" pitchFamily="34" charset="-122"/>
                <a:cs typeface="Calibri" pitchFamily="34" charset="-120"/>
              </a:rPr>
              <a:t>09/10</a:t>
            </a:r>
            <a:endParaRPr lang="en-US" sz="700" dirty="0"/>
          </a:p>
        </p:txBody>
      </p:sp>
      <p:sp>
        <p:nvSpPr>
          <p:cNvPr id="39" name="Text 37"/>
          <p:cNvSpPr txBox="1"/>
          <p:nvPr/>
        </p:nvSpPr>
        <p:spPr>
          <a:xfrm>
            <a:off x="1444752" y="4142232"/>
            <a:ext cx="1188720" cy="219456"/>
          </a:xfrm>
          <a:prstGeom prst="rect">
            <a:avLst/>
          </a:prstGeom>
          <a:noFill/>
          <a:ln/>
        </p:spPr>
        <p:txBody>
          <a:bodyPr wrap="square" lIns="0" tIns="0" rIns="0" bIns="0" rtlCol="0" anchor="ctr"/>
          <a:lstStyle/>
          <a:p>
            <a:pPr marL="0" indent="0">
              <a:buNone/>
            </a:pPr>
            <a:r>
              <a:rPr lang="en-US" sz="750" b="1" dirty="0">
                <a:solidFill>
                  <a:srgbClr val="0B2545"/>
                </a:solidFill>
                <a:latin typeface="Calibri" pitchFamily="34" charset="0"/>
                <a:ea typeface="Calibri" pitchFamily="34" charset="-122"/>
                <a:cs typeface="Calibri" pitchFamily="34" charset="-120"/>
              </a:rPr>
              <a:t>Workforce Reduction</a:t>
            </a:r>
            <a:endParaRPr lang="en-US" sz="750" dirty="0"/>
          </a:p>
        </p:txBody>
      </p:sp>
      <p:sp>
        <p:nvSpPr>
          <p:cNvPr id="40" name="Shape 38"/>
          <p:cNvSpPr/>
          <p:nvPr/>
        </p:nvSpPr>
        <p:spPr>
          <a:xfrm>
            <a:off x="2642616" y="4160520"/>
            <a:ext cx="493776" cy="182880"/>
          </a:xfrm>
          <a:prstGeom prst="roundRect">
            <a:avLst>
              <a:gd name="adj" fmla="val 25000"/>
            </a:avLst>
          </a:prstGeom>
          <a:solidFill>
            <a:srgbClr val="1F4E8C"/>
          </a:solidFill>
          <a:ln w="12700">
            <a:solidFill>
              <a:srgbClr val="1F4E8C"/>
            </a:solidFill>
            <a:prstDash val="solid"/>
          </a:ln>
        </p:spPr>
      </p:sp>
      <p:sp>
        <p:nvSpPr>
          <p:cNvPr id="41" name="Text 39"/>
          <p:cNvSpPr txBox="1"/>
          <p:nvPr/>
        </p:nvSpPr>
        <p:spPr>
          <a:xfrm>
            <a:off x="2642616" y="4160520"/>
            <a:ext cx="493776"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High</a:t>
            </a:r>
            <a:endParaRPr lang="en-US" sz="700" dirty="0"/>
          </a:p>
        </p:txBody>
      </p:sp>
      <p:sp>
        <p:nvSpPr>
          <p:cNvPr id="42" name="Shape 40"/>
          <p:cNvSpPr/>
          <p:nvPr/>
        </p:nvSpPr>
        <p:spPr>
          <a:xfrm>
            <a:off x="859536" y="4663440"/>
            <a:ext cx="100584" cy="100584"/>
          </a:xfrm>
          <a:prstGeom prst="ellipse">
            <a:avLst/>
          </a:prstGeom>
          <a:solidFill>
            <a:srgbClr val="1F4E8C"/>
          </a:solidFill>
          <a:ln w="12700">
            <a:solidFill>
              <a:srgbClr val="1F4E8C"/>
            </a:solidFill>
            <a:prstDash val="solid"/>
          </a:ln>
        </p:spPr>
      </p:sp>
      <p:sp>
        <p:nvSpPr>
          <p:cNvPr id="43" name="Shape 41"/>
          <p:cNvSpPr/>
          <p:nvPr/>
        </p:nvSpPr>
        <p:spPr>
          <a:xfrm>
            <a:off x="909828" y="4764024"/>
            <a:ext cx="0" cy="356616"/>
          </a:xfrm>
          <a:prstGeom prst="line">
            <a:avLst/>
          </a:prstGeom>
          <a:noFill/>
          <a:ln w="9525">
            <a:solidFill>
              <a:srgbClr val="8DA9C4"/>
            </a:solidFill>
            <a:prstDash val="solid"/>
          </a:ln>
        </p:spPr>
      </p:sp>
      <p:sp>
        <p:nvSpPr>
          <p:cNvPr id="44" name="Text 42"/>
          <p:cNvSpPr txBox="1"/>
          <p:nvPr/>
        </p:nvSpPr>
        <p:spPr>
          <a:xfrm>
            <a:off x="1024128" y="4599432"/>
            <a:ext cx="457200" cy="219456"/>
          </a:xfrm>
          <a:prstGeom prst="rect">
            <a:avLst/>
          </a:prstGeom>
          <a:noFill/>
          <a:ln/>
        </p:spPr>
        <p:txBody>
          <a:bodyPr wrap="square" lIns="0" tIns="0" rIns="0" bIns="0" rtlCol="0" anchor="ctr"/>
          <a:lstStyle/>
          <a:p>
            <a:pPr marL="0" indent="0">
              <a:buNone/>
            </a:pPr>
            <a:r>
              <a:rPr lang="en-US" sz="700" dirty="0">
                <a:solidFill>
                  <a:srgbClr val="5B6B7F"/>
                </a:solidFill>
                <a:latin typeface="Calibri" pitchFamily="34" charset="0"/>
                <a:ea typeface="Calibri" pitchFamily="34" charset="-122"/>
                <a:cs typeface="Calibri" pitchFamily="34" charset="-120"/>
              </a:rPr>
              <a:t>09/05</a:t>
            </a:r>
            <a:endParaRPr lang="en-US" sz="700" dirty="0"/>
          </a:p>
        </p:txBody>
      </p:sp>
      <p:sp>
        <p:nvSpPr>
          <p:cNvPr id="45" name="Text 43"/>
          <p:cNvSpPr txBox="1"/>
          <p:nvPr/>
        </p:nvSpPr>
        <p:spPr>
          <a:xfrm>
            <a:off x="1444752" y="4599432"/>
            <a:ext cx="1188720" cy="219456"/>
          </a:xfrm>
          <a:prstGeom prst="rect">
            <a:avLst/>
          </a:prstGeom>
          <a:noFill/>
          <a:ln/>
        </p:spPr>
        <p:txBody>
          <a:bodyPr wrap="square" lIns="0" tIns="0" rIns="0" bIns="0" rtlCol="0" anchor="ctr"/>
          <a:lstStyle/>
          <a:p>
            <a:pPr marL="0" indent="0">
              <a:buNone/>
            </a:pPr>
            <a:r>
              <a:rPr lang="en-US" sz="750" b="1" dirty="0">
                <a:solidFill>
                  <a:srgbClr val="0B2545"/>
                </a:solidFill>
                <a:latin typeface="Calibri" pitchFamily="34" charset="0"/>
                <a:ea typeface="Calibri" pitchFamily="34" charset="-122"/>
                <a:cs typeface="Calibri" pitchFamily="34" charset="-120"/>
              </a:rPr>
              <a:t>Credit Outlook Downgrade</a:t>
            </a:r>
            <a:endParaRPr lang="en-US" sz="750" dirty="0"/>
          </a:p>
        </p:txBody>
      </p:sp>
      <p:sp>
        <p:nvSpPr>
          <p:cNvPr id="46" name="Shape 44"/>
          <p:cNvSpPr/>
          <p:nvPr/>
        </p:nvSpPr>
        <p:spPr>
          <a:xfrm>
            <a:off x="2642616" y="4617720"/>
            <a:ext cx="493776" cy="182880"/>
          </a:xfrm>
          <a:prstGeom prst="roundRect">
            <a:avLst>
              <a:gd name="adj" fmla="val 25000"/>
            </a:avLst>
          </a:prstGeom>
          <a:solidFill>
            <a:srgbClr val="8DA9C4"/>
          </a:solidFill>
          <a:ln w="12700">
            <a:solidFill>
              <a:srgbClr val="8DA9C4"/>
            </a:solidFill>
            <a:prstDash val="solid"/>
          </a:ln>
        </p:spPr>
      </p:sp>
      <p:sp>
        <p:nvSpPr>
          <p:cNvPr id="47" name="Text 45"/>
          <p:cNvSpPr txBox="1"/>
          <p:nvPr/>
        </p:nvSpPr>
        <p:spPr>
          <a:xfrm>
            <a:off x="2642616" y="4617720"/>
            <a:ext cx="493776" cy="182880"/>
          </a:xfrm>
          <a:prstGeom prst="rect">
            <a:avLst/>
          </a:prstGeom>
          <a:noFill/>
          <a:ln/>
        </p:spPr>
        <p:txBody>
          <a:bodyPr wrap="square" lIns="0" tIns="0" rIns="0" bIns="0" rtlCol="0" anchor="ctr"/>
          <a:lstStyle/>
          <a:p>
            <a:pPr marL="0" indent="0" algn="ctr">
              <a:buNone/>
            </a:pPr>
            <a:r>
              <a:rPr lang="en-US" sz="700" b="1" dirty="0">
                <a:solidFill>
                  <a:srgbClr val="0B2545"/>
                </a:solidFill>
                <a:latin typeface="Calibri" pitchFamily="34" charset="0"/>
                <a:ea typeface="Calibri" pitchFamily="34" charset="-122"/>
                <a:cs typeface="Calibri" pitchFamily="34" charset="-120"/>
              </a:rPr>
              <a:t>Medium</a:t>
            </a:r>
            <a:endParaRPr lang="en-US" sz="700" dirty="0"/>
          </a:p>
        </p:txBody>
      </p:sp>
      <p:sp>
        <p:nvSpPr>
          <p:cNvPr id="48" name="Shape 46"/>
          <p:cNvSpPr/>
          <p:nvPr/>
        </p:nvSpPr>
        <p:spPr>
          <a:xfrm>
            <a:off x="859536" y="5120640"/>
            <a:ext cx="100584" cy="100584"/>
          </a:xfrm>
          <a:prstGeom prst="ellipse">
            <a:avLst/>
          </a:prstGeom>
          <a:solidFill>
            <a:srgbClr val="1F4E8C"/>
          </a:solidFill>
          <a:ln w="12700">
            <a:solidFill>
              <a:srgbClr val="1F4E8C"/>
            </a:solidFill>
            <a:prstDash val="solid"/>
          </a:ln>
        </p:spPr>
      </p:sp>
      <p:sp>
        <p:nvSpPr>
          <p:cNvPr id="49" name="Text 47"/>
          <p:cNvSpPr txBox="1"/>
          <p:nvPr/>
        </p:nvSpPr>
        <p:spPr>
          <a:xfrm>
            <a:off x="1024128" y="5056632"/>
            <a:ext cx="457200" cy="219456"/>
          </a:xfrm>
          <a:prstGeom prst="rect">
            <a:avLst/>
          </a:prstGeom>
          <a:noFill/>
          <a:ln/>
        </p:spPr>
        <p:txBody>
          <a:bodyPr wrap="square" lIns="0" tIns="0" rIns="0" bIns="0" rtlCol="0" anchor="ctr"/>
          <a:lstStyle/>
          <a:p>
            <a:pPr marL="0" indent="0">
              <a:buNone/>
            </a:pPr>
            <a:r>
              <a:rPr lang="en-US" sz="700" dirty="0">
                <a:solidFill>
                  <a:srgbClr val="5B6B7F"/>
                </a:solidFill>
                <a:latin typeface="Calibri" pitchFamily="34" charset="0"/>
                <a:ea typeface="Calibri" pitchFamily="34" charset="-122"/>
                <a:cs typeface="Calibri" pitchFamily="34" charset="-120"/>
              </a:rPr>
              <a:t>08/28</a:t>
            </a:r>
            <a:endParaRPr lang="en-US" sz="700" dirty="0"/>
          </a:p>
        </p:txBody>
      </p:sp>
      <p:sp>
        <p:nvSpPr>
          <p:cNvPr id="50" name="Text 48"/>
          <p:cNvSpPr txBox="1"/>
          <p:nvPr/>
        </p:nvSpPr>
        <p:spPr>
          <a:xfrm>
            <a:off x="1444752" y="5056632"/>
            <a:ext cx="1188720" cy="219456"/>
          </a:xfrm>
          <a:prstGeom prst="rect">
            <a:avLst/>
          </a:prstGeom>
          <a:noFill/>
          <a:ln/>
        </p:spPr>
        <p:txBody>
          <a:bodyPr wrap="square" lIns="0" tIns="0" rIns="0" bIns="0" rtlCol="0" anchor="ctr"/>
          <a:lstStyle/>
          <a:p>
            <a:pPr marL="0" indent="0">
              <a:buNone/>
            </a:pPr>
            <a:r>
              <a:rPr lang="en-US" sz="750" b="1" dirty="0">
                <a:solidFill>
                  <a:srgbClr val="0B2545"/>
                </a:solidFill>
                <a:latin typeface="Calibri" pitchFamily="34" charset="0"/>
                <a:ea typeface="Calibri" pitchFamily="34" charset="-122"/>
                <a:cs typeface="Calibri" pitchFamily="34" charset="-120"/>
              </a:rPr>
              <a:t>Earnings Miss</a:t>
            </a:r>
            <a:endParaRPr lang="en-US" sz="750" dirty="0"/>
          </a:p>
        </p:txBody>
      </p:sp>
      <p:sp>
        <p:nvSpPr>
          <p:cNvPr id="51" name="Shape 49"/>
          <p:cNvSpPr/>
          <p:nvPr/>
        </p:nvSpPr>
        <p:spPr>
          <a:xfrm>
            <a:off x="2642616" y="5074920"/>
            <a:ext cx="493776" cy="182880"/>
          </a:xfrm>
          <a:prstGeom prst="roundRect">
            <a:avLst>
              <a:gd name="adj" fmla="val 25000"/>
            </a:avLst>
          </a:prstGeom>
          <a:solidFill>
            <a:srgbClr val="8DA9C4"/>
          </a:solidFill>
          <a:ln w="12700">
            <a:solidFill>
              <a:srgbClr val="8DA9C4"/>
            </a:solidFill>
            <a:prstDash val="solid"/>
          </a:ln>
        </p:spPr>
      </p:sp>
      <p:sp>
        <p:nvSpPr>
          <p:cNvPr id="52" name="Text 50"/>
          <p:cNvSpPr txBox="1"/>
          <p:nvPr/>
        </p:nvSpPr>
        <p:spPr>
          <a:xfrm>
            <a:off x="2642616" y="5074920"/>
            <a:ext cx="493776" cy="182880"/>
          </a:xfrm>
          <a:prstGeom prst="rect">
            <a:avLst/>
          </a:prstGeom>
          <a:noFill/>
          <a:ln/>
        </p:spPr>
        <p:txBody>
          <a:bodyPr wrap="square" lIns="0" tIns="0" rIns="0" bIns="0" rtlCol="0" anchor="ctr"/>
          <a:lstStyle/>
          <a:p>
            <a:pPr marL="0" indent="0" algn="ctr">
              <a:buNone/>
            </a:pPr>
            <a:r>
              <a:rPr lang="en-US" sz="700" b="1" dirty="0">
                <a:solidFill>
                  <a:srgbClr val="0B2545"/>
                </a:solidFill>
                <a:latin typeface="Calibri" pitchFamily="34" charset="0"/>
                <a:ea typeface="Calibri" pitchFamily="34" charset="-122"/>
                <a:cs typeface="Calibri" pitchFamily="34" charset="-120"/>
              </a:rPr>
              <a:t>Medium</a:t>
            </a:r>
            <a:endParaRPr lang="en-US" sz="700" dirty="0"/>
          </a:p>
        </p:txBody>
      </p:sp>
      <p:sp>
        <p:nvSpPr>
          <p:cNvPr id="53" name="Shape 51"/>
          <p:cNvSpPr/>
          <p:nvPr/>
        </p:nvSpPr>
        <p:spPr>
          <a:xfrm>
            <a:off x="3383280" y="2743200"/>
            <a:ext cx="2148840" cy="2834640"/>
          </a:xfrm>
          <a:prstGeom prst="roundRect">
            <a:avLst>
              <a:gd name="adj" fmla="val 2553"/>
            </a:avLst>
          </a:prstGeom>
          <a:solidFill>
            <a:srgbClr val="0B2545"/>
          </a:solidFill>
          <a:ln w="12700">
            <a:solidFill>
              <a:srgbClr val="0B2545"/>
            </a:solidFill>
            <a:prstDash val="solid"/>
          </a:ln>
        </p:spPr>
      </p:sp>
      <p:sp>
        <p:nvSpPr>
          <p:cNvPr id="54" name="Text 52"/>
          <p:cNvSpPr txBox="1"/>
          <p:nvPr/>
        </p:nvSpPr>
        <p:spPr>
          <a:xfrm>
            <a:off x="3520440" y="2834640"/>
            <a:ext cx="1874520" cy="182880"/>
          </a:xfrm>
          <a:prstGeom prst="rect">
            <a:avLst/>
          </a:prstGeom>
          <a:noFill/>
          <a:ln/>
        </p:spPr>
        <p:txBody>
          <a:bodyPr wrap="square" lIns="0" tIns="0" rIns="0" bIns="0" rtlCol="0" anchor="ctr"/>
          <a:lstStyle/>
          <a:p>
            <a:pPr marL="0" indent="0">
              <a:buNone/>
            </a:pPr>
            <a:r>
              <a:rPr lang="en-US" sz="750" b="1" kern="0" spc="100" dirty="0">
                <a:solidFill>
                  <a:srgbClr val="8DA9C4"/>
                </a:solidFill>
                <a:latin typeface="Calibri" pitchFamily="34" charset="0"/>
                <a:ea typeface="Calibri" pitchFamily="34" charset="-122"/>
                <a:cs typeface="Calibri" pitchFamily="34" charset="-120"/>
              </a:rPr>
              <a:t>AI ASSESSMENT</a:t>
            </a:r>
            <a:endParaRPr lang="en-US" sz="750" dirty="0"/>
          </a:p>
        </p:txBody>
      </p:sp>
      <p:sp>
        <p:nvSpPr>
          <p:cNvPr id="55" name="Text 53"/>
          <p:cNvSpPr txBox="1"/>
          <p:nvPr/>
        </p:nvSpPr>
        <p:spPr>
          <a:xfrm>
            <a:off x="3520440" y="3154680"/>
            <a:ext cx="1874520" cy="182880"/>
          </a:xfrm>
          <a:prstGeom prst="rect">
            <a:avLst/>
          </a:prstGeom>
          <a:noFill/>
          <a:ln/>
        </p:spPr>
        <p:txBody>
          <a:bodyPr wrap="square" lIns="0" tIns="0" rIns="0" bIns="0" rtlCol="0" anchor="ctr"/>
          <a:lstStyle/>
          <a:p>
            <a:pPr marL="0" indent="0">
              <a:buNone/>
            </a:pPr>
            <a:r>
              <a:rPr lang="en-US" sz="800" dirty="0">
                <a:solidFill>
                  <a:srgbClr val="B8CBE3"/>
                </a:solidFill>
                <a:latin typeface="Calibri" pitchFamily="34" charset="0"/>
                <a:ea typeface="Calibri" pitchFamily="34" charset="-122"/>
                <a:cs typeface="Calibri" pitchFamily="34" charset="-120"/>
              </a:rPr>
              <a:t>Revenue Risk</a:t>
            </a:r>
            <a:endParaRPr lang="en-US" sz="800" dirty="0"/>
          </a:p>
        </p:txBody>
      </p:sp>
      <p:sp>
        <p:nvSpPr>
          <p:cNvPr id="56" name="Shape 54"/>
          <p:cNvSpPr/>
          <p:nvPr/>
        </p:nvSpPr>
        <p:spPr>
          <a:xfrm>
            <a:off x="3520440" y="3355848"/>
            <a:ext cx="1874520" cy="274320"/>
          </a:xfrm>
          <a:prstGeom prst="roundRect">
            <a:avLst>
              <a:gd name="adj" fmla="val 16667"/>
            </a:avLst>
          </a:prstGeom>
          <a:solidFill>
            <a:srgbClr val="5B95DD"/>
          </a:solidFill>
          <a:ln w="12700">
            <a:solidFill>
              <a:srgbClr val="5B95DD"/>
            </a:solidFill>
            <a:prstDash val="solid"/>
          </a:ln>
        </p:spPr>
      </p:sp>
      <p:sp>
        <p:nvSpPr>
          <p:cNvPr id="57" name="Text 55"/>
          <p:cNvSpPr txBox="1"/>
          <p:nvPr/>
        </p:nvSpPr>
        <p:spPr>
          <a:xfrm>
            <a:off x="3520440" y="3355848"/>
            <a:ext cx="18745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58" name="Text 56"/>
          <p:cNvSpPr txBox="1"/>
          <p:nvPr/>
        </p:nvSpPr>
        <p:spPr>
          <a:xfrm>
            <a:off x="3520440" y="3721608"/>
            <a:ext cx="1874520" cy="182880"/>
          </a:xfrm>
          <a:prstGeom prst="rect">
            <a:avLst/>
          </a:prstGeom>
          <a:noFill/>
          <a:ln/>
        </p:spPr>
        <p:txBody>
          <a:bodyPr wrap="square" lIns="0" tIns="0" rIns="0" bIns="0" rtlCol="0" anchor="ctr"/>
          <a:lstStyle/>
          <a:p>
            <a:pPr marL="0" indent="0">
              <a:buNone/>
            </a:pPr>
            <a:r>
              <a:rPr lang="en-US" sz="800" dirty="0">
                <a:solidFill>
                  <a:srgbClr val="B8CBE3"/>
                </a:solidFill>
                <a:latin typeface="Calibri" pitchFamily="34" charset="0"/>
                <a:ea typeface="Calibri" pitchFamily="34" charset="-122"/>
                <a:cs typeface="Calibri" pitchFamily="34" charset="-120"/>
              </a:rPr>
              <a:t>Collection Risk</a:t>
            </a:r>
            <a:endParaRPr lang="en-US" sz="800" dirty="0"/>
          </a:p>
        </p:txBody>
      </p:sp>
      <p:sp>
        <p:nvSpPr>
          <p:cNvPr id="59" name="Shape 57"/>
          <p:cNvSpPr/>
          <p:nvPr/>
        </p:nvSpPr>
        <p:spPr>
          <a:xfrm>
            <a:off x="3520440" y="3922776"/>
            <a:ext cx="1874520" cy="274320"/>
          </a:xfrm>
          <a:prstGeom prst="roundRect">
            <a:avLst>
              <a:gd name="adj" fmla="val 16667"/>
            </a:avLst>
          </a:prstGeom>
          <a:solidFill>
            <a:srgbClr val="2E4C77"/>
          </a:solidFill>
          <a:ln w="12700">
            <a:solidFill>
              <a:srgbClr val="2E4C77"/>
            </a:solidFill>
            <a:prstDash val="solid"/>
          </a:ln>
        </p:spPr>
      </p:sp>
      <p:sp>
        <p:nvSpPr>
          <p:cNvPr id="60" name="Text 58"/>
          <p:cNvSpPr txBox="1"/>
          <p:nvPr/>
        </p:nvSpPr>
        <p:spPr>
          <a:xfrm>
            <a:off x="3520440" y="3922776"/>
            <a:ext cx="18745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61" name="Text 59"/>
          <p:cNvSpPr txBox="1"/>
          <p:nvPr/>
        </p:nvSpPr>
        <p:spPr>
          <a:xfrm>
            <a:off x="3520440" y="4288536"/>
            <a:ext cx="1874520" cy="182880"/>
          </a:xfrm>
          <a:prstGeom prst="rect">
            <a:avLst/>
          </a:prstGeom>
          <a:noFill/>
          <a:ln/>
        </p:spPr>
        <p:txBody>
          <a:bodyPr wrap="square" lIns="0" tIns="0" rIns="0" bIns="0" rtlCol="0" anchor="ctr"/>
          <a:lstStyle/>
          <a:p>
            <a:pPr marL="0" indent="0">
              <a:buNone/>
            </a:pPr>
            <a:r>
              <a:rPr lang="en-US" sz="800" dirty="0">
                <a:solidFill>
                  <a:srgbClr val="B8CBE3"/>
                </a:solidFill>
                <a:latin typeface="Calibri" pitchFamily="34" charset="0"/>
                <a:ea typeface="Calibri" pitchFamily="34" charset="-122"/>
                <a:cs typeface="Calibri" pitchFamily="34" charset="-120"/>
              </a:rPr>
              <a:t>Renewal Risk</a:t>
            </a:r>
            <a:endParaRPr lang="en-US" sz="800" dirty="0"/>
          </a:p>
        </p:txBody>
      </p:sp>
      <p:sp>
        <p:nvSpPr>
          <p:cNvPr id="62" name="Shape 60"/>
          <p:cNvSpPr/>
          <p:nvPr/>
        </p:nvSpPr>
        <p:spPr>
          <a:xfrm>
            <a:off x="3520440" y="4489704"/>
            <a:ext cx="1874520" cy="274320"/>
          </a:xfrm>
          <a:prstGeom prst="roundRect">
            <a:avLst>
              <a:gd name="adj" fmla="val 16667"/>
            </a:avLst>
          </a:prstGeom>
          <a:solidFill>
            <a:srgbClr val="5B95DD"/>
          </a:solidFill>
          <a:ln w="12700">
            <a:solidFill>
              <a:srgbClr val="5B95DD"/>
            </a:solidFill>
            <a:prstDash val="solid"/>
          </a:ln>
        </p:spPr>
      </p:sp>
      <p:sp>
        <p:nvSpPr>
          <p:cNvPr id="63" name="Text 61"/>
          <p:cNvSpPr txBox="1"/>
          <p:nvPr/>
        </p:nvSpPr>
        <p:spPr>
          <a:xfrm>
            <a:off x="3520440" y="4489704"/>
            <a:ext cx="18745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64" name="Shape 62"/>
          <p:cNvSpPr/>
          <p:nvPr/>
        </p:nvSpPr>
        <p:spPr>
          <a:xfrm>
            <a:off x="3520440" y="4937760"/>
            <a:ext cx="1874520" cy="0"/>
          </a:xfrm>
          <a:prstGeom prst="line">
            <a:avLst/>
          </a:prstGeom>
          <a:noFill/>
          <a:ln w="9525">
            <a:solidFill>
              <a:srgbClr val="2E4C77"/>
            </a:solidFill>
            <a:prstDash val="solid"/>
          </a:ln>
        </p:spPr>
      </p:sp>
      <p:sp>
        <p:nvSpPr>
          <p:cNvPr id="65" name="Text 63"/>
          <p:cNvSpPr txBox="1"/>
          <p:nvPr/>
        </p:nvSpPr>
        <p:spPr>
          <a:xfrm>
            <a:off x="3520440" y="5029200"/>
            <a:ext cx="1874520" cy="182880"/>
          </a:xfrm>
          <a:prstGeom prst="rect">
            <a:avLst/>
          </a:prstGeom>
          <a:noFill/>
          <a:ln/>
        </p:spPr>
        <p:txBody>
          <a:bodyPr wrap="square" lIns="0" tIns="0" rIns="0" bIns="0" rtlCol="0" anchor="ctr"/>
          <a:lstStyle/>
          <a:p>
            <a:pPr marL="0" indent="0">
              <a:buNone/>
            </a:pPr>
            <a:r>
              <a:rPr lang="en-US" sz="700" b="1" kern="0" spc="100" dirty="0">
                <a:solidFill>
                  <a:srgbClr val="8DA9C4"/>
                </a:solidFill>
                <a:latin typeface="Calibri" pitchFamily="34" charset="0"/>
                <a:ea typeface="Calibri" pitchFamily="34" charset="-122"/>
                <a:cs typeface="Calibri" pitchFamily="34" charset="-120"/>
              </a:rPr>
              <a:t>CONFIDENCE SCORE</a:t>
            </a:r>
            <a:endParaRPr lang="en-US" sz="700" dirty="0"/>
          </a:p>
        </p:txBody>
      </p:sp>
      <p:sp>
        <p:nvSpPr>
          <p:cNvPr id="66" name="Text 64"/>
          <p:cNvSpPr txBox="1"/>
          <p:nvPr/>
        </p:nvSpPr>
        <p:spPr>
          <a:xfrm>
            <a:off x="3520440" y="5212080"/>
            <a:ext cx="1874520" cy="4114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83%</a:t>
            </a:r>
            <a:endParaRPr lang="en-US" sz="2200" dirty="0"/>
          </a:p>
        </p:txBody>
      </p:sp>
      <p:sp>
        <p:nvSpPr>
          <p:cNvPr id="67" name="Shape 65"/>
          <p:cNvSpPr/>
          <p:nvPr/>
        </p:nvSpPr>
        <p:spPr>
          <a:xfrm>
            <a:off x="5669280" y="2743200"/>
            <a:ext cx="2926080" cy="1645920"/>
          </a:xfrm>
          <a:prstGeom prst="roundRect">
            <a:avLst>
              <a:gd name="adj" fmla="val 3333"/>
            </a:avLst>
          </a:prstGeom>
          <a:solidFill>
            <a:srgbClr val="DCE6F2"/>
          </a:solidFill>
          <a:ln w="9525">
            <a:solidFill>
              <a:srgbClr val="2A63AD"/>
            </a:solidFill>
            <a:prstDash val="dash"/>
          </a:ln>
        </p:spPr>
      </p:sp>
      <p:sp>
        <p:nvSpPr>
          <p:cNvPr id="68" name="Text 66"/>
          <p:cNvSpPr txBox="1"/>
          <p:nvPr/>
        </p:nvSpPr>
        <p:spPr>
          <a:xfrm>
            <a:off x="5779008" y="2816352"/>
            <a:ext cx="2706624" cy="182880"/>
          </a:xfrm>
          <a:prstGeom prst="rect">
            <a:avLst/>
          </a:prstGeom>
          <a:noFill/>
          <a:ln/>
        </p:spPr>
        <p:txBody>
          <a:bodyPr wrap="square" lIns="0" tIns="0" rIns="0" bIns="0" rtlCol="0" anchor="ctr"/>
          <a:lstStyle/>
          <a:p>
            <a:pPr marL="0" indent="0">
              <a:buNone/>
            </a:pPr>
            <a:r>
              <a:rPr lang="en-US" sz="750" b="1" kern="0" spc="100" dirty="0">
                <a:solidFill>
                  <a:srgbClr val="1F4E8C"/>
                </a:solidFill>
                <a:latin typeface="Calibri" pitchFamily="34" charset="0"/>
                <a:ea typeface="Calibri" pitchFamily="34" charset="-122"/>
                <a:cs typeface="Calibri" pitchFamily="34" charset="-120"/>
              </a:rPr>
              <a:t>FINANCE COPILOT</a:t>
            </a:r>
            <a:endParaRPr lang="en-US" sz="750" dirty="0"/>
          </a:p>
        </p:txBody>
      </p:sp>
      <p:sp>
        <p:nvSpPr>
          <p:cNvPr id="69" name="Shape 67"/>
          <p:cNvSpPr/>
          <p:nvPr/>
        </p:nvSpPr>
        <p:spPr>
          <a:xfrm>
            <a:off x="5779008" y="3035808"/>
            <a:ext cx="2706624" cy="274320"/>
          </a:xfrm>
          <a:prstGeom prst="roundRect">
            <a:avLst>
              <a:gd name="adj" fmla="val 33333"/>
            </a:avLst>
          </a:prstGeom>
          <a:solidFill>
            <a:srgbClr val="FFFFFF"/>
          </a:solidFill>
          <a:ln w="6350">
            <a:solidFill>
              <a:srgbClr val="C9D6E6"/>
            </a:solidFill>
            <a:prstDash val="solid"/>
          </a:ln>
        </p:spPr>
      </p:sp>
      <p:sp>
        <p:nvSpPr>
          <p:cNvPr id="70" name="Text 68"/>
          <p:cNvSpPr txBox="1"/>
          <p:nvPr/>
        </p:nvSpPr>
        <p:spPr>
          <a:xfrm>
            <a:off x="5870448" y="3035808"/>
            <a:ext cx="2523744" cy="274320"/>
          </a:xfrm>
          <a:prstGeom prst="rect">
            <a:avLst/>
          </a:prstGeom>
          <a:noFill/>
          <a:ln/>
        </p:spPr>
        <p:txBody>
          <a:bodyPr wrap="square" lIns="0" tIns="0" rIns="0" bIns="0" rtlCol="0" anchor="ctr"/>
          <a:lstStyle/>
          <a:p>
            <a:pPr marL="0" indent="0">
              <a:buNone/>
            </a:pPr>
            <a:r>
              <a:rPr lang="en-US" sz="800" b="1" i="1" dirty="0">
                <a:solidFill>
                  <a:srgbClr val="0B2545"/>
                </a:solidFill>
                <a:latin typeface="Calibri" pitchFamily="34" charset="0"/>
                <a:ea typeface="Calibri" pitchFamily="34" charset="-122"/>
                <a:cs typeface="Calibri" pitchFamily="34" charset="-120"/>
              </a:rPr>
              <a:t>“Why is this customer considered high risk?”</a:t>
            </a:r>
            <a:endParaRPr lang="en-US" sz="800" dirty="0"/>
          </a:p>
        </p:txBody>
      </p:sp>
      <p:sp>
        <p:nvSpPr>
          <p:cNvPr id="71" name="Text 69"/>
          <p:cNvSpPr txBox="1"/>
          <p:nvPr/>
        </p:nvSpPr>
        <p:spPr>
          <a:xfrm>
            <a:off x="5779008" y="3364992"/>
            <a:ext cx="2706624" cy="960120"/>
          </a:xfrm>
          <a:prstGeom prst="rect">
            <a:avLst/>
          </a:prstGeom>
          <a:noFill/>
          <a:ln/>
        </p:spPr>
        <p:txBody>
          <a:bodyPr wrap="square" lIns="0" tIns="0" rIns="0" bIns="0" rtlCol="0" anchor="t"/>
          <a:lstStyle/>
          <a:p>
            <a:pPr marL="0" indent="0">
              <a:buNone/>
            </a:pPr>
            <a:r>
              <a:rPr lang="en-US" sz="750" dirty="0">
                <a:solidFill>
                  <a:srgbClr val="33475B"/>
                </a:solidFill>
                <a:latin typeface="Calibri" pitchFamily="34" charset="0"/>
                <a:ea typeface="Calibri" pitchFamily="34" charset="-122"/>
                <a:cs typeface="Calibri" pitchFamily="34" charset="-120"/>
              </a:rPr>
              <a:t>Although revenue and billing remain stable, external business signals indicate increasing financial stress. The combination of workforce reduction, credit deterioration and weaker earnings historically correlates with increased renewal pressure and collection risk.</a:t>
            </a:r>
            <a:endParaRPr lang="en-US" sz="750" dirty="0"/>
          </a:p>
        </p:txBody>
      </p:sp>
      <p:sp>
        <p:nvSpPr>
          <p:cNvPr id="72" name="Shape 70"/>
          <p:cNvSpPr/>
          <p:nvPr/>
        </p:nvSpPr>
        <p:spPr>
          <a:xfrm>
            <a:off x="5669280" y="4498848"/>
            <a:ext cx="2926080" cy="1078992"/>
          </a:xfrm>
          <a:prstGeom prst="roundRect">
            <a:avLst>
              <a:gd name="adj" fmla="val 5085"/>
            </a:avLst>
          </a:prstGeom>
          <a:solidFill>
            <a:srgbClr val="2A63AD"/>
          </a:solidFill>
          <a:ln w="12700">
            <a:solidFill>
              <a:srgbClr val="2A63AD"/>
            </a:solidFill>
            <a:prstDash val="solid"/>
          </a:ln>
        </p:spPr>
      </p:sp>
      <p:sp>
        <p:nvSpPr>
          <p:cNvPr id="73" name="Text 71"/>
          <p:cNvSpPr txBox="1"/>
          <p:nvPr/>
        </p:nvSpPr>
        <p:spPr>
          <a:xfrm>
            <a:off x="5779008" y="4572000"/>
            <a:ext cx="2706624" cy="182880"/>
          </a:xfrm>
          <a:prstGeom prst="rect">
            <a:avLst/>
          </a:prstGeom>
          <a:noFill/>
          <a:ln/>
        </p:spPr>
        <p:txBody>
          <a:bodyPr wrap="square" lIns="0" tIns="0" rIns="0" bIns="0" rtlCol="0" anchor="ctr"/>
          <a:lstStyle/>
          <a:p>
            <a:pPr marL="0" indent="0">
              <a:buNone/>
            </a:pPr>
            <a:r>
              <a:rPr lang="en-US" sz="750" b="1" kern="0" spc="100" dirty="0">
                <a:solidFill>
                  <a:srgbClr val="C9D9EE"/>
                </a:solidFill>
                <a:latin typeface="Calibri" pitchFamily="34" charset="0"/>
                <a:ea typeface="Calibri" pitchFamily="34" charset="-122"/>
                <a:cs typeface="Calibri" pitchFamily="34" charset="-120"/>
              </a:rPr>
              <a:t>RECOMMENDED ACTIONS</a:t>
            </a:r>
            <a:endParaRPr lang="en-US" sz="750" dirty="0"/>
          </a:p>
        </p:txBody>
      </p:sp>
      <p:sp>
        <p:nvSpPr>
          <p:cNvPr id="74" name="Shape 72"/>
          <p:cNvSpPr/>
          <p:nvPr/>
        </p:nvSpPr>
        <p:spPr>
          <a:xfrm>
            <a:off x="5779008" y="4809744"/>
            <a:ext cx="164592" cy="164592"/>
          </a:xfrm>
          <a:prstGeom prst="ellipse">
            <a:avLst/>
          </a:prstGeom>
          <a:solidFill>
            <a:srgbClr val="FFFFFF"/>
          </a:solidFill>
          <a:ln w="12700">
            <a:solidFill>
              <a:srgbClr val="FFFFFF"/>
            </a:solidFill>
            <a:prstDash val="solid"/>
          </a:ln>
        </p:spPr>
      </p:sp>
      <p:sp>
        <p:nvSpPr>
          <p:cNvPr id="75" name="Text 73"/>
          <p:cNvSpPr txBox="1"/>
          <p:nvPr/>
        </p:nvSpPr>
        <p:spPr>
          <a:xfrm>
            <a:off x="5779008" y="4809744"/>
            <a:ext cx="164592" cy="164592"/>
          </a:xfrm>
          <a:prstGeom prst="rect">
            <a:avLst/>
          </a:prstGeom>
          <a:noFill/>
          <a:ln/>
        </p:spPr>
        <p:txBody>
          <a:bodyPr wrap="square" lIns="0" tIns="0" rIns="0" bIns="0" rtlCol="0" anchor="ctr"/>
          <a:lstStyle/>
          <a:p>
            <a:pPr marL="0" indent="0" algn="ctr">
              <a:buNone/>
            </a:pPr>
            <a:r>
              <a:rPr lang="en-US" sz="700" b="1" dirty="0">
                <a:solidFill>
                  <a:srgbClr val="2A63AD"/>
                </a:solidFill>
                <a:latin typeface="Calibri" pitchFamily="34" charset="0"/>
                <a:ea typeface="Calibri" pitchFamily="34" charset="-122"/>
                <a:cs typeface="Calibri" pitchFamily="34" charset="-120"/>
              </a:rPr>
              <a:t>1</a:t>
            </a:r>
            <a:endParaRPr lang="en-US" sz="700" dirty="0"/>
          </a:p>
        </p:txBody>
      </p:sp>
      <p:sp>
        <p:nvSpPr>
          <p:cNvPr id="76" name="Text 74"/>
          <p:cNvSpPr txBox="1"/>
          <p:nvPr/>
        </p:nvSpPr>
        <p:spPr>
          <a:xfrm>
            <a:off x="6016752" y="4791456"/>
            <a:ext cx="2468880" cy="201168"/>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Review customer exposure</a:t>
            </a:r>
            <a:endParaRPr lang="en-US" sz="800" dirty="0"/>
          </a:p>
        </p:txBody>
      </p:sp>
      <p:sp>
        <p:nvSpPr>
          <p:cNvPr id="77" name="Shape 75"/>
          <p:cNvSpPr/>
          <p:nvPr/>
        </p:nvSpPr>
        <p:spPr>
          <a:xfrm>
            <a:off x="5779008" y="5047488"/>
            <a:ext cx="164592" cy="164592"/>
          </a:xfrm>
          <a:prstGeom prst="ellipse">
            <a:avLst/>
          </a:prstGeom>
          <a:solidFill>
            <a:srgbClr val="FFFFFF"/>
          </a:solidFill>
          <a:ln w="12700">
            <a:solidFill>
              <a:srgbClr val="FFFFFF"/>
            </a:solidFill>
            <a:prstDash val="solid"/>
          </a:ln>
        </p:spPr>
      </p:sp>
      <p:sp>
        <p:nvSpPr>
          <p:cNvPr id="78" name="Text 76"/>
          <p:cNvSpPr txBox="1"/>
          <p:nvPr/>
        </p:nvSpPr>
        <p:spPr>
          <a:xfrm>
            <a:off x="5779008" y="5047488"/>
            <a:ext cx="164592" cy="164592"/>
          </a:xfrm>
          <a:prstGeom prst="rect">
            <a:avLst/>
          </a:prstGeom>
          <a:noFill/>
          <a:ln/>
        </p:spPr>
        <p:txBody>
          <a:bodyPr wrap="square" lIns="0" tIns="0" rIns="0" bIns="0" rtlCol="0" anchor="ctr"/>
          <a:lstStyle/>
          <a:p>
            <a:pPr marL="0" indent="0" algn="ctr">
              <a:buNone/>
            </a:pPr>
            <a:r>
              <a:rPr lang="en-US" sz="700" b="1" dirty="0">
                <a:solidFill>
                  <a:srgbClr val="2A63AD"/>
                </a:solidFill>
                <a:latin typeface="Calibri" pitchFamily="34" charset="0"/>
                <a:ea typeface="Calibri" pitchFamily="34" charset="-122"/>
                <a:cs typeface="Calibri" pitchFamily="34" charset="-120"/>
              </a:rPr>
              <a:t>2</a:t>
            </a:r>
            <a:endParaRPr lang="en-US" sz="700" dirty="0"/>
          </a:p>
        </p:txBody>
      </p:sp>
      <p:sp>
        <p:nvSpPr>
          <p:cNvPr id="79" name="Text 77"/>
          <p:cNvSpPr txBox="1"/>
          <p:nvPr/>
        </p:nvSpPr>
        <p:spPr>
          <a:xfrm>
            <a:off x="6016752" y="5029200"/>
            <a:ext cx="2468880" cy="201168"/>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Increase monitoring frequency</a:t>
            </a:r>
            <a:endParaRPr lang="en-US" sz="800" dirty="0"/>
          </a:p>
        </p:txBody>
      </p:sp>
      <p:sp>
        <p:nvSpPr>
          <p:cNvPr id="80" name="Shape 78"/>
          <p:cNvSpPr/>
          <p:nvPr/>
        </p:nvSpPr>
        <p:spPr>
          <a:xfrm>
            <a:off x="5779008" y="5285232"/>
            <a:ext cx="164592" cy="164592"/>
          </a:xfrm>
          <a:prstGeom prst="ellipse">
            <a:avLst/>
          </a:prstGeom>
          <a:solidFill>
            <a:srgbClr val="FFFFFF"/>
          </a:solidFill>
          <a:ln w="12700">
            <a:solidFill>
              <a:srgbClr val="FFFFFF"/>
            </a:solidFill>
            <a:prstDash val="solid"/>
          </a:ln>
        </p:spPr>
      </p:sp>
      <p:sp>
        <p:nvSpPr>
          <p:cNvPr id="81" name="Text 79"/>
          <p:cNvSpPr txBox="1"/>
          <p:nvPr/>
        </p:nvSpPr>
        <p:spPr>
          <a:xfrm>
            <a:off x="5779008" y="5285232"/>
            <a:ext cx="164592" cy="164592"/>
          </a:xfrm>
          <a:prstGeom prst="rect">
            <a:avLst/>
          </a:prstGeom>
          <a:noFill/>
          <a:ln/>
        </p:spPr>
        <p:txBody>
          <a:bodyPr wrap="square" lIns="0" tIns="0" rIns="0" bIns="0" rtlCol="0" anchor="ctr"/>
          <a:lstStyle/>
          <a:p>
            <a:pPr marL="0" indent="0" algn="ctr">
              <a:buNone/>
            </a:pPr>
            <a:r>
              <a:rPr lang="en-US" sz="700" b="1" dirty="0">
                <a:solidFill>
                  <a:srgbClr val="2A63AD"/>
                </a:solidFill>
                <a:latin typeface="Calibri" pitchFamily="34" charset="0"/>
                <a:ea typeface="Calibri" pitchFamily="34" charset="-122"/>
                <a:cs typeface="Calibri" pitchFamily="34" charset="-120"/>
              </a:rPr>
              <a:t>3</a:t>
            </a:r>
            <a:endParaRPr lang="en-US" sz="700" dirty="0"/>
          </a:p>
        </p:txBody>
      </p:sp>
      <p:sp>
        <p:nvSpPr>
          <p:cNvPr id="82" name="Text 80"/>
          <p:cNvSpPr txBox="1"/>
          <p:nvPr/>
        </p:nvSpPr>
        <p:spPr>
          <a:xfrm>
            <a:off x="6016752" y="5266944"/>
            <a:ext cx="2468880" cy="201168"/>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Prepare renewal retention strategy</a:t>
            </a:r>
            <a:endParaRPr lang="en-US" sz="800" dirty="0"/>
          </a:p>
        </p:txBody>
      </p:sp>
      <p:sp>
        <p:nvSpPr>
          <p:cNvPr id="83" name="Shape 81"/>
          <p:cNvSpPr/>
          <p:nvPr/>
        </p:nvSpPr>
        <p:spPr>
          <a:xfrm>
            <a:off x="9006840" y="1600200"/>
            <a:ext cx="2606040" cy="4160520"/>
          </a:xfrm>
          <a:prstGeom prst="roundRect">
            <a:avLst>
              <a:gd name="adj" fmla="val 2807"/>
            </a:avLst>
          </a:prstGeom>
          <a:solidFill>
            <a:srgbClr val="0B2545"/>
          </a:solidFill>
          <a:ln w="12700">
            <a:solidFill>
              <a:srgbClr val="0B2545"/>
            </a:solidFill>
            <a:prstDash val="solid"/>
          </a:ln>
        </p:spPr>
      </p:sp>
      <p:sp>
        <p:nvSpPr>
          <p:cNvPr id="84" name="Text 82"/>
          <p:cNvSpPr txBox="1"/>
          <p:nvPr/>
        </p:nvSpPr>
        <p:spPr>
          <a:xfrm>
            <a:off x="9235440" y="1801368"/>
            <a:ext cx="2148840" cy="201168"/>
          </a:xfrm>
          <a:prstGeom prst="rect">
            <a:avLst/>
          </a:prstGeom>
          <a:noFill/>
          <a:ln/>
        </p:spPr>
        <p:txBody>
          <a:bodyPr wrap="square" lIns="0" tIns="0" rIns="0" bIns="0" rtlCol="0" anchor="ctr"/>
          <a:lstStyle/>
          <a:p>
            <a:pPr marL="0" indent="0">
              <a:buNone/>
            </a:pPr>
            <a:r>
              <a:rPr lang="en-US" sz="850" b="1" kern="0" spc="200" dirty="0">
                <a:solidFill>
                  <a:srgbClr val="8DA9C4"/>
                </a:solidFill>
                <a:latin typeface="Calibri" pitchFamily="34" charset="0"/>
                <a:ea typeface="Calibri" pitchFamily="34" charset="-122"/>
                <a:cs typeface="Calibri" pitchFamily="34" charset="-120"/>
              </a:rPr>
              <a:t>WHAT FINANCE SEES</a:t>
            </a:r>
            <a:endParaRPr lang="en-US" sz="850" dirty="0"/>
          </a:p>
        </p:txBody>
      </p:sp>
      <p:sp>
        <p:nvSpPr>
          <p:cNvPr id="85" name="Text 83"/>
          <p:cNvSpPr txBox="1"/>
          <p:nvPr/>
        </p:nvSpPr>
        <p:spPr>
          <a:xfrm>
            <a:off x="9235440" y="2057400"/>
            <a:ext cx="2148840" cy="146304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AI converts hundreds of internal and external signals into a single Finance recommendation.</a:t>
            </a:r>
            <a:endParaRPr lang="en-US" sz="1200" dirty="0"/>
          </a:p>
        </p:txBody>
      </p:sp>
      <p:sp>
        <p:nvSpPr>
          <p:cNvPr id="86" name="Shape 84"/>
          <p:cNvSpPr/>
          <p:nvPr/>
        </p:nvSpPr>
        <p:spPr>
          <a:xfrm>
            <a:off x="9235440" y="3931920"/>
            <a:ext cx="2148840" cy="0"/>
          </a:xfrm>
          <a:prstGeom prst="line">
            <a:avLst/>
          </a:prstGeom>
          <a:noFill/>
          <a:ln w="12700">
            <a:solidFill>
              <a:srgbClr val="2E4C77"/>
            </a:solidFill>
            <a:prstDash val="solid"/>
          </a:ln>
        </p:spPr>
      </p:sp>
      <p:sp>
        <p:nvSpPr>
          <p:cNvPr id="87" name="Text 85"/>
          <p:cNvSpPr txBox="1"/>
          <p:nvPr/>
        </p:nvSpPr>
        <p:spPr>
          <a:xfrm>
            <a:off x="9235440" y="4041648"/>
            <a:ext cx="2148840" cy="201168"/>
          </a:xfrm>
          <a:prstGeom prst="rect">
            <a:avLst/>
          </a:prstGeom>
          <a:noFill/>
          <a:ln/>
        </p:spPr>
        <p:txBody>
          <a:bodyPr wrap="square" lIns="0" tIns="0" rIns="0" bIns="0" rtlCol="0" anchor="ctr"/>
          <a:lstStyle/>
          <a:p>
            <a:pPr marL="0" indent="0">
              <a:buNone/>
            </a:pPr>
            <a:r>
              <a:rPr lang="en-US" sz="850" b="1" kern="0" spc="200" dirty="0">
                <a:solidFill>
                  <a:srgbClr val="8DA9C4"/>
                </a:solidFill>
                <a:latin typeface="Calibri" pitchFamily="34" charset="0"/>
                <a:ea typeface="Calibri" pitchFamily="34" charset="-122"/>
                <a:cs typeface="Calibri" pitchFamily="34" charset="-120"/>
              </a:rPr>
              <a:t>THE ROUTE B OPERATING MODEL</a:t>
            </a:r>
            <a:endParaRPr lang="en-US" sz="850" dirty="0"/>
          </a:p>
        </p:txBody>
      </p:sp>
      <p:sp>
        <p:nvSpPr>
          <p:cNvPr id="88" name="Text 86"/>
          <p:cNvSpPr txBox="1"/>
          <p:nvPr/>
        </p:nvSpPr>
        <p:spPr>
          <a:xfrm>
            <a:off x="9235440" y="4279392"/>
            <a:ext cx="2148840" cy="1325880"/>
          </a:xfrm>
          <a:prstGeom prst="rect">
            <a:avLst/>
          </a:prstGeom>
          <a:noFill/>
          <a:ln/>
        </p:spPr>
        <p:txBody>
          <a:bodyPr wrap="square" lIns="0" tIns="0" rIns="0" bIns="0" rtlCol="0" anchor="t"/>
          <a:lstStyle/>
          <a:p>
            <a:pPr marL="0" indent="0">
              <a:buNone/>
            </a:pPr>
            <a:r>
              <a:rPr lang="en-US" sz="1050" i="1" dirty="0">
                <a:solidFill>
                  <a:srgbClr val="D9E4F2"/>
                </a:solidFill>
                <a:latin typeface="Calibri" pitchFamily="34" charset="0"/>
                <a:ea typeface="Calibri" pitchFamily="34" charset="-122"/>
                <a:cs typeface="Calibri" pitchFamily="34" charset="-120"/>
              </a:rPr>
              <a:t>Business signals  →  Risk assessment  →  Finance recommendation</a:t>
            </a:r>
            <a:endParaRPr lang="en-US" sz="1050" dirty="0"/>
          </a:p>
        </p:txBody>
      </p:sp>
      <p:sp>
        <p:nvSpPr>
          <p:cNvPr id="89" name="Text 87"/>
          <p:cNvSpPr txBox="1"/>
          <p:nvPr/>
        </p:nvSpPr>
        <p:spPr>
          <a:xfrm>
            <a:off x="548640" y="5897880"/>
            <a:ext cx="11064240" cy="228600"/>
          </a:xfrm>
          <a:prstGeom prst="rect">
            <a:avLst/>
          </a:prstGeom>
          <a:noFill/>
          <a:ln/>
        </p:spPr>
        <p:txBody>
          <a:bodyPr wrap="square" lIns="0" tIns="0" rIns="0" bIns="0" rtlCol="0" anchor="ctr"/>
          <a:lstStyle/>
          <a:p>
            <a:pPr marL="0" indent="0" algn="ctr">
              <a:buNone/>
            </a:pPr>
            <a:r>
              <a:rPr lang="en-US" sz="850" i="1" dirty="0">
                <a:solidFill>
                  <a:srgbClr val="5B6B7F"/>
                </a:solidFill>
                <a:latin typeface="Calibri" pitchFamily="34" charset="0"/>
                <a:ea typeface="Calibri" pitchFamily="34" charset="-122"/>
                <a:cs typeface="Calibri" pitchFamily="34" charset="-120"/>
              </a:rPr>
              <a:t>Illustrative data — for concept purposes only.</a:t>
            </a:r>
            <a:endParaRPr lang="en-US" sz="850" dirty="0"/>
          </a:p>
        </p:txBody>
      </p:sp>
      <p:sp>
        <p:nvSpPr>
          <p:cNvPr id="90" name="Text 88"/>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900" dirty="0">
                <a:solidFill>
                  <a:srgbClr val="9AA8B8"/>
                </a:solidFill>
                <a:latin typeface="Calibri" pitchFamily="34" charset="0"/>
                <a:ea typeface="Calibri" pitchFamily="34" charset="-122"/>
                <a:cs typeface="Calibri" pitchFamily="34" charset="-120"/>
              </a:rPr>
              <a:t>Nexbill Financial Intelligence Platform</a:t>
            </a:r>
            <a:endParaRPr lang="en-US" sz="900" dirty="0"/>
          </a:p>
        </p:txBody>
      </p:sp>
      <p:sp>
        <p:nvSpPr>
          <p:cNvPr id="91" name="Text 89"/>
          <p:cNvSpPr txBox="1"/>
          <p:nvPr/>
        </p:nvSpPr>
        <p:spPr>
          <a:xfrm>
            <a:off x="11064240" y="6400800"/>
            <a:ext cx="548640" cy="274320"/>
          </a:xfrm>
          <a:prstGeom prst="rect">
            <a:avLst/>
          </a:prstGeom>
          <a:noFill/>
          <a:ln/>
        </p:spPr>
        <p:txBody>
          <a:bodyPr wrap="square" lIns="0" tIns="0" rIns="0" bIns="0" rtlCol="0" anchor="ctr"/>
          <a:lstStyle/>
          <a:p>
            <a:pPr marL="0" indent="0" algn="r">
              <a:buNone/>
            </a:pPr>
            <a:r>
              <a:rPr lang="en-US" sz="900" dirty="0">
                <a:solidFill>
                  <a:srgbClr val="9AA8B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9</cp:revision>
  <dcterms:created xsi:type="dcterms:W3CDTF">2026-09-17T19:26:10Z</dcterms:created>
  <dcterms:modified xsi:type="dcterms:W3CDTF">2026-09-17T20:56:07Z</dcterms:modified>
</cp:coreProperties>
</file>