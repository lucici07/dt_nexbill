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1.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7060" r:id="rId4"/>
    <p:sldMasterId id="2147487091" r:id="rId5"/>
    <p:sldMasterId id="2147487109" r:id="rId6"/>
    <p:sldMasterId id="2147486953" r:id="rId7"/>
  </p:sldMasterIdLst>
  <p:notesMasterIdLst>
    <p:notesMasterId r:id="rId206"/>
  </p:notesMasterIdLst>
  <p:handoutMasterIdLst>
    <p:handoutMasterId r:id="rId207"/>
  </p:handoutMasterIdLst>
  <p:sldIdLst>
    <p:sldId id="2076137554" r:id="rId8"/>
    <p:sldId id="2076137555" r:id="rId9"/>
    <p:sldId id="2076137819" r:id="rId10"/>
    <p:sldId id="2147483643" r:id="rId11"/>
    <p:sldId id="2076137817" r:id="rId12"/>
    <p:sldId id="2076137818" r:id="rId13"/>
    <p:sldId id="2147483644" r:id="rId14"/>
    <p:sldId id="2076137575" r:id="rId15"/>
    <p:sldId id="2076137585" r:id="rId16"/>
    <p:sldId id="2076137590" r:id="rId17"/>
    <p:sldId id="2076137592" r:id="rId18"/>
    <p:sldId id="2076137563" r:id="rId19"/>
    <p:sldId id="2147483645" r:id="rId20"/>
    <p:sldId id="2076137645" r:id="rId21"/>
    <p:sldId id="2076137774" r:id="rId22"/>
    <p:sldId id="2076137647" r:id="rId23"/>
    <p:sldId id="2076137775" r:id="rId24"/>
    <p:sldId id="2076137776" r:id="rId25"/>
    <p:sldId id="2076137595" r:id="rId26"/>
    <p:sldId id="2076137596" r:id="rId27"/>
    <p:sldId id="2076137597" r:id="rId28"/>
    <p:sldId id="2076137598" r:id="rId29"/>
    <p:sldId id="2076137599" r:id="rId30"/>
    <p:sldId id="2076137567" r:id="rId31"/>
    <p:sldId id="2147483646" r:id="rId32"/>
    <p:sldId id="2076137697" r:id="rId33"/>
    <p:sldId id="2076137586" r:id="rId34"/>
    <p:sldId id="2076137605" r:id="rId35"/>
    <p:sldId id="2076137608" r:id="rId36"/>
    <p:sldId id="2076137696" r:id="rId37"/>
    <p:sldId id="2076137602" r:id="rId38"/>
    <p:sldId id="2076137607" r:id="rId39"/>
    <p:sldId id="2076137698" r:id="rId40"/>
    <p:sldId id="2076137628" r:id="rId41"/>
    <p:sldId id="2076137632" r:id="rId42"/>
    <p:sldId id="2076137633" r:id="rId43"/>
    <p:sldId id="2076137634" r:id="rId44"/>
    <p:sldId id="2076137630" r:id="rId45"/>
    <p:sldId id="2076137635" r:id="rId46"/>
    <p:sldId id="2076137566" r:id="rId47"/>
    <p:sldId id="2147483647" r:id="rId48"/>
    <p:sldId id="2076137688" r:id="rId49"/>
    <p:sldId id="2076137636" r:id="rId50"/>
    <p:sldId id="2076137644" r:id="rId51"/>
    <p:sldId id="2076137642" r:id="rId52"/>
    <p:sldId id="2076137711" r:id="rId53"/>
    <p:sldId id="2076137638" r:id="rId54"/>
    <p:sldId id="2076137643" r:id="rId55"/>
    <p:sldId id="2076137641" r:id="rId56"/>
    <p:sldId id="2076137568" r:id="rId57"/>
    <p:sldId id="2076137687" r:id="rId58"/>
    <p:sldId id="2076137646" r:id="rId59"/>
    <p:sldId id="2076137650" r:id="rId60"/>
    <p:sldId id="2076137748" r:id="rId61"/>
    <p:sldId id="2076137747" r:id="rId62"/>
    <p:sldId id="2076137651" r:id="rId63"/>
    <p:sldId id="2076137656" r:id="rId64"/>
    <p:sldId id="2076137768" r:id="rId65"/>
    <p:sldId id="2076137653" r:id="rId66"/>
    <p:sldId id="2076137655" r:id="rId67"/>
    <p:sldId id="2076137749" r:id="rId68"/>
    <p:sldId id="2076137587" r:id="rId69"/>
    <p:sldId id="2076137659" r:id="rId70"/>
    <p:sldId id="2076137660" r:id="rId71"/>
    <p:sldId id="2076137663" r:id="rId72"/>
    <p:sldId id="2076137691" r:id="rId73"/>
    <p:sldId id="2076137588" r:id="rId74"/>
    <p:sldId id="2076137664" r:id="rId75"/>
    <p:sldId id="2076137665" r:id="rId76"/>
    <p:sldId id="2076137666" r:id="rId77"/>
    <p:sldId id="2076137668" r:id="rId78"/>
    <p:sldId id="2076137667" r:id="rId79"/>
    <p:sldId id="2076137569" r:id="rId80"/>
    <p:sldId id="2076137778" r:id="rId81"/>
    <p:sldId id="2076137589" r:id="rId82"/>
    <p:sldId id="257" r:id="rId83"/>
    <p:sldId id="2076137579" r:id="rId84"/>
    <p:sldId id="2076137591" r:id="rId85"/>
    <p:sldId id="2076137593" r:id="rId86"/>
    <p:sldId id="2076137780" r:id="rId87"/>
    <p:sldId id="2076137594" r:id="rId88"/>
    <p:sldId id="2076137781" r:id="rId89"/>
    <p:sldId id="2076137782" r:id="rId90"/>
    <p:sldId id="2076137601" r:id="rId91"/>
    <p:sldId id="2076137783" r:id="rId92"/>
    <p:sldId id="2076137603" r:id="rId93"/>
    <p:sldId id="2076137784" r:id="rId94"/>
    <p:sldId id="2076137785" r:id="rId95"/>
    <p:sldId id="2076137786" r:id="rId96"/>
    <p:sldId id="2076137787" r:id="rId97"/>
    <p:sldId id="2076137609" r:id="rId98"/>
    <p:sldId id="2076137788" r:id="rId99"/>
    <p:sldId id="2076137789" r:id="rId100"/>
    <p:sldId id="2076137790" r:id="rId101"/>
    <p:sldId id="2076137791" r:id="rId102"/>
    <p:sldId id="2076137792" r:id="rId103"/>
    <p:sldId id="2076137637" r:id="rId104"/>
    <p:sldId id="2076137793" r:id="rId105"/>
    <p:sldId id="2076137750" r:id="rId106"/>
    <p:sldId id="2076137751" r:id="rId107"/>
    <p:sldId id="2076137752" r:id="rId108"/>
    <p:sldId id="2076137600" r:id="rId109"/>
    <p:sldId id="2076137753" r:id="rId110"/>
    <p:sldId id="2076137754" r:id="rId111"/>
    <p:sldId id="2076137755" r:id="rId112"/>
    <p:sldId id="2076137756" r:id="rId113"/>
    <p:sldId id="2076137757" r:id="rId114"/>
    <p:sldId id="2076137758" r:id="rId115"/>
    <p:sldId id="2076137759" r:id="rId116"/>
    <p:sldId id="2076137760" r:id="rId117"/>
    <p:sldId id="2076137761" r:id="rId118"/>
    <p:sldId id="2076137762" r:id="rId119"/>
    <p:sldId id="2076137763" r:id="rId120"/>
    <p:sldId id="2076137764" r:id="rId121"/>
    <p:sldId id="2076137794" r:id="rId122"/>
    <p:sldId id="2076137765" r:id="rId123"/>
    <p:sldId id="2076137766" r:id="rId124"/>
    <p:sldId id="2076137767" r:id="rId125"/>
    <p:sldId id="2076137795" r:id="rId126"/>
    <p:sldId id="2076137796" r:id="rId127"/>
    <p:sldId id="2076137797" r:id="rId128"/>
    <p:sldId id="2076137798" r:id="rId129"/>
    <p:sldId id="2076137799" r:id="rId130"/>
    <p:sldId id="2076137800" r:id="rId131"/>
    <p:sldId id="2076137801" r:id="rId132"/>
    <p:sldId id="2076137802" r:id="rId133"/>
    <p:sldId id="2076137803" r:id="rId134"/>
    <p:sldId id="2076137804" r:id="rId135"/>
    <p:sldId id="2076137805" r:id="rId136"/>
    <p:sldId id="2076137614" r:id="rId137"/>
    <p:sldId id="2076137806" r:id="rId138"/>
    <p:sldId id="2076137807" r:id="rId139"/>
    <p:sldId id="2076137627" r:id="rId140"/>
    <p:sldId id="2076137808" r:id="rId141"/>
    <p:sldId id="2076137809" r:id="rId142"/>
    <p:sldId id="2076137639" r:id="rId143"/>
    <p:sldId id="2076137629" r:id="rId144"/>
    <p:sldId id="2076137631" r:id="rId145"/>
    <p:sldId id="2076137810" r:id="rId146"/>
    <p:sldId id="2076137640" r:id="rId147"/>
    <p:sldId id="2076137811" r:id="rId148"/>
    <p:sldId id="2076137812" r:id="rId149"/>
    <p:sldId id="2076137813" r:id="rId150"/>
    <p:sldId id="2076137570" r:id="rId151"/>
    <p:sldId id="275" r:id="rId152"/>
    <p:sldId id="2147477341" r:id="rId153"/>
    <p:sldId id="2076137620" r:id="rId154"/>
    <p:sldId id="260" r:id="rId155"/>
    <p:sldId id="259" r:id="rId156"/>
    <p:sldId id="2076137622" r:id="rId157"/>
    <p:sldId id="2076137604" r:id="rId158"/>
    <p:sldId id="2076137623" r:id="rId159"/>
    <p:sldId id="2076137606" r:id="rId160"/>
    <p:sldId id="2076137625" r:id="rId161"/>
    <p:sldId id="2076137626" r:id="rId162"/>
    <p:sldId id="2076137571" r:id="rId163"/>
    <p:sldId id="258" r:id="rId164"/>
    <p:sldId id="2076137581" r:id="rId165"/>
    <p:sldId id="2076137670" r:id="rId166"/>
    <p:sldId id="2076137572" r:id="rId167"/>
    <p:sldId id="256" r:id="rId168"/>
    <p:sldId id="2076137582" r:id="rId169"/>
    <p:sldId id="2076137676" r:id="rId170"/>
    <p:sldId id="2076137677" r:id="rId171"/>
    <p:sldId id="2076137678" r:id="rId172"/>
    <p:sldId id="2076137573" r:id="rId173"/>
    <p:sldId id="2076137679" r:id="rId174"/>
    <p:sldId id="2076137680" r:id="rId175"/>
    <p:sldId id="2076137681" r:id="rId176"/>
    <p:sldId id="2076137814" r:id="rId177"/>
    <p:sldId id="2076137815" r:id="rId178"/>
    <p:sldId id="2076137816" r:id="rId179"/>
    <p:sldId id="2076137611" r:id="rId180"/>
    <p:sldId id="2076137615" r:id="rId181"/>
    <p:sldId id="2076137616" r:id="rId182"/>
    <p:sldId id="2076137617" r:id="rId183"/>
    <p:sldId id="2076137619" r:id="rId184"/>
    <p:sldId id="2076137618" r:id="rId185"/>
    <p:sldId id="2076137769" r:id="rId186"/>
    <p:sldId id="2076137770" r:id="rId187"/>
    <p:sldId id="2076137772" r:id="rId188"/>
    <p:sldId id="2076137773" r:id="rId189"/>
    <p:sldId id="2076137661" r:id="rId190"/>
    <p:sldId id="2076137777" r:id="rId191"/>
    <p:sldId id="2076137699" r:id="rId192"/>
    <p:sldId id="2076137669" r:id="rId193"/>
    <p:sldId id="2076137689" r:id="rId194"/>
    <p:sldId id="2076137690" r:id="rId195"/>
    <p:sldId id="2076137693" r:id="rId196"/>
    <p:sldId id="2076137694" r:id="rId197"/>
    <p:sldId id="2076137695" r:id="rId198"/>
    <p:sldId id="2076137574" r:id="rId199"/>
    <p:sldId id="2076137771" r:id="rId200"/>
    <p:sldId id="2076137686" r:id="rId201"/>
    <p:sldId id="2076137684" r:id="rId202"/>
    <p:sldId id="2076137685" r:id="rId203"/>
    <p:sldId id="426" r:id="rId204"/>
    <p:sldId id="2076137779" r:id="rId205"/>
  </p:sldIdLst>
  <p:sldSz cx="12192000" cy="6858000"/>
  <p:notesSz cx="6858000" cy="9144000"/>
  <p:custDataLst>
    <p:tags r:id="rId20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FB08F06-38A9-4E57-93BF-84E9EB7FD349}">
          <p14:sldIdLst>
            <p14:sldId id="2076137554"/>
            <p14:sldId id="2076137555"/>
          </p14:sldIdLst>
        </p14:section>
        <p14:section name="Overall Introduction" id="{217AAED1-437C-4061-AD80-E7E2BA391D31}">
          <p14:sldIdLst>
            <p14:sldId id="2076137819"/>
            <p14:sldId id="2147483643"/>
            <p14:sldId id="2076137817"/>
            <p14:sldId id="2076137818"/>
            <p14:sldId id="2147483644"/>
          </p14:sldIdLst>
        </p14:section>
        <p14:section name="Login &amp; Setting" id="{9AEA1258-E5B1-470A-B578-229D4321D186}">
          <p14:sldIdLst>
            <p14:sldId id="2076137575"/>
            <p14:sldId id="2076137585"/>
            <p14:sldId id="2076137590"/>
            <p14:sldId id="2076137592"/>
          </p14:sldIdLst>
        </p14:section>
        <p14:section name="Home" id="{C92D4E9D-A01E-441F-83E8-E589A85FD967}">
          <p14:sldIdLst>
            <p14:sldId id="2076137563"/>
            <p14:sldId id="2147483645"/>
            <p14:sldId id="2076137645"/>
            <p14:sldId id="2076137774"/>
            <p14:sldId id="2076137647"/>
            <p14:sldId id="2076137775"/>
            <p14:sldId id="2076137776"/>
            <p14:sldId id="2076137595"/>
            <p14:sldId id="2076137596"/>
            <p14:sldId id="2076137597"/>
            <p14:sldId id="2076137598"/>
            <p14:sldId id="2076137599"/>
          </p14:sldIdLst>
        </p14:section>
        <p14:section name="Master Data" id="{02E72E06-A039-44D9-A1B8-3DBE3AD225AE}">
          <p14:sldIdLst>
            <p14:sldId id="2076137567"/>
            <p14:sldId id="2147483646"/>
            <p14:sldId id="2076137697"/>
            <p14:sldId id="2076137586"/>
            <p14:sldId id="2076137605"/>
            <p14:sldId id="2076137608"/>
            <p14:sldId id="2076137696"/>
            <p14:sldId id="2076137602"/>
            <p14:sldId id="2076137607"/>
            <p14:sldId id="2076137698"/>
            <p14:sldId id="2076137628"/>
            <p14:sldId id="2076137632"/>
            <p14:sldId id="2076137633"/>
            <p14:sldId id="2076137634"/>
            <p14:sldId id="2076137630"/>
            <p14:sldId id="2076137635"/>
          </p14:sldIdLst>
        </p14:section>
        <p14:section name="Entitled Price Record" id="{F1EC694B-6641-4DE7-AC71-CD0681442878}">
          <p14:sldIdLst>
            <p14:sldId id="2076137566"/>
            <p14:sldId id="2147483647"/>
            <p14:sldId id="2076137688"/>
            <p14:sldId id="2076137636"/>
            <p14:sldId id="2076137644"/>
            <p14:sldId id="2076137642"/>
            <p14:sldId id="2076137711"/>
            <p14:sldId id="2076137638"/>
            <p14:sldId id="2076137643"/>
            <p14:sldId id="2076137641"/>
          </p14:sldIdLst>
        </p14:section>
        <p14:section name="Order Management" id="{E37BDE96-AEAB-4AF2-9054-5AF0EDD3DBF0}">
          <p14:sldIdLst>
            <p14:sldId id="2076137568"/>
            <p14:sldId id="2076137687"/>
            <p14:sldId id="2076137646"/>
            <p14:sldId id="2076137650"/>
            <p14:sldId id="2076137748"/>
            <p14:sldId id="2076137747"/>
            <p14:sldId id="2076137651"/>
            <p14:sldId id="2076137656"/>
            <p14:sldId id="2076137768"/>
            <p14:sldId id="2076137653"/>
            <p14:sldId id="2076137655"/>
            <p14:sldId id="2076137749"/>
            <p14:sldId id="2076137587"/>
            <p14:sldId id="2076137659"/>
            <p14:sldId id="2076137660"/>
            <p14:sldId id="2076137663"/>
            <p14:sldId id="2076137691"/>
            <p14:sldId id="2076137588"/>
            <p14:sldId id="2076137664"/>
            <p14:sldId id="2076137665"/>
            <p14:sldId id="2076137666"/>
            <p14:sldId id="2076137668"/>
            <p14:sldId id="2076137667"/>
          </p14:sldIdLst>
        </p14:section>
        <p14:section name="Invoice Management" id="{4E7F3141-FF03-4385-98CB-B298F4B71077}">
          <p14:sldIdLst>
            <p14:sldId id="2076137569"/>
            <p14:sldId id="2076137778"/>
            <p14:sldId id="2076137589"/>
            <p14:sldId id="257"/>
            <p14:sldId id="2076137579"/>
            <p14:sldId id="2076137591"/>
            <p14:sldId id="2076137593"/>
            <p14:sldId id="2076137780"/>
            <p14:sldId id="2076137594"/>
            <p14:sldId id="2076137781"/>
            <p14:sldId id="2076137782"/>
            <p14:sldId id="2076137601"/>
            <p14:sldId id="2076137783"/>
            <p14:sldId id="2076137603"/>
            <p14:sldId id="2076137784"/>
            <p14:sldId id="2076137785"/>
            <p14:sldId id="2076137786"/>
            <p14:sldId id="2076137787"/>
            <p14:sldId id="2076137609"/>
            <p14:sldId id="2076137788"/>
            <p14:sldId id="2076137789"/>
            <p14:sldId id="2076137790"/>
            <p14:sldId id="2076137791"/>
            <p14:sldId id="2076137792"/>
            <p14:sldId id="2076137637"/>
            <p14:sldId id="2076137793"/>
            <p14:sldId id="2076137750"/>
            <p14:sldId id="2076137751"/>
            <p14:sldId id="2076137752"/>
            <p14:sldId id="2076137600"/>
            <p14:sldId id="2076137753"/>
            <p14:sldId id="2076137754"/>
            <p14:sldId id="2076137755"/>
            <p14:sldId id="2076137756"/>
            <p14:sldId id="2076137757"/>
            <p14:sldId id="2076137758"/>
            <p14:sldId id="2076137759"/>
            <p14:sldId id="2076137760"/>
            <p14:sldId id="2076137761"/>
            <p14:sldId id="2076137762"/>
            <p14:sldId id="2076137763"/>
            <p14:sldId id="2076137764"/>
            <p14:sldId id="2076137794"/>
            <p14:sldId id="2076137765"/>
            <p14:sldId id="2076137766"/>
            <p14:sldId id="2076137767"/>
            <p14:sldId id="2076137795"/>
            <p14:sldId id="2076137796"/>
            <p14:sldId id="2076137797"/>
            <p14:sldId id="2076137798"/>
            <p14:sldId id="2076137799"/>
            <p14:sldId id="2076137800"/>
            <p14:sldId id="2076137801"/>
            <p14:sldId id="2076137802"/>
            <p14:sldId id="2076137803"/>
            <p14:sldId id="2076137804"/>
            <p14:sldId id="2076137805"/>
            <p14:sldId id="2076137614"/>
            <p14:sldId id="2076137806"/>
            <p14:sldId id="2076137807"/>
            <p14:sldId id="2076137627"/>
            <p14:sldId id="2076137808"/>
            <p14:sldId id="2076137809"/>
            <p14:sldId id="2076137639"/>
            <p14:sldId id="2076137629"/>
            <p14:sldId id="2076137631"/>
            <p14:sldId id="2076137810"/>
            <p14:sldId id="2076137640"/>
            <p14:sldId id="2076137811"/>
            <p14:sldId id="2076137812"/>
            <p14:sldId id="2076137813"/>
          </p14:sldIdLst>
        </p14:section>
        <p14:section name="Finance &amp; Accounting" id="{7265AA97-98DB-4776-AB98-6F5B4061FD68}">
          <p14:sldIdLst>
            <p14:sldId id="2076137570"/>
            <p14:sldId id="275"/>
            <p14:sldId id="2147477341"/>
            <p14:sldId id="2076137620"/>
            <p14:sldId id="260"/>
            <p14:sldId id="259"/>
            <p14:sldId id="2076137622"/>
            <p14:sldId id="2076137604"/>
            <p14:sldId id="2076137623"/>
            <p14:sldId id="2076137606"/>
            <p14:sldId id="2076137625"/>
            <p14:sldId id="2076137626"/>
          </p14:sldIdLst>
        </p14:section>
        <p14:section name="Device List" id="{FF13EB3C-5628-41C5-9D25-06FA3D22E866}">
          <p14:sldIdLst>
            <p14:sldId id="2076137571"/>
            <p14:sldId id="258"/>
            <p14:sldId id="2076137581"/>
            <p14:sldId id="2076137670"/>
          </p14:sldIdLst>
        </p14:section>
        <p14:section name="Usage Metering" id="{555F3856-27E8-4352-A2A9-2DBFB1A4C8BB}">
          <p14:sldIdLst>
            <p14:sldId id="2076137572"/>
            <p14:sldId id="256"/>
            <p14:sldId id="2076137582"/>
            <p14:sldId id="2076137676"/>
            <p14:sldId id="2076137677"/>
            <p14:sldId id="2076137678"/>
          </p14:sldIdLst>
        </p14:section>
        <p14:section name="Report" id="{D6334763-0CD3-4715-8820-F39AAB5198EF}">
          <p14:sldIdLst>
            <p14:sldId id="2076137573"/>
            <p14:sldId id="2076137679"/>
            <p14:sldId id="2076137680"/>
            <p14:sldId id="2076137681"/>
            <p14:sldId id="2076137814"/>
            <p14:sldId id="2076137815"/>
            <p14:sldId id="2076137816"/>
            <p14:sldId id="2076137611"/>
            <p14:sldId id="2076137615"/>
            <p14:sldId id="2076137616"/>
            <p14:sldId id="2076137617"/>
            <p14:sldId id="2076137619"/>
            <p14:sldId id="2076137618"/>
            <p14:sldId id="2076137769"/>
            <p14:sldId id="2076137770"/>
            <p14:sldId id="2076137772"/>
            <p14:sldId id="2076137773"/>
            <p14:sldId id="2076137661"/>
            <p14:sldId id="2076137777"/>
            <p14:sldId id="2076137699"/>
            <p14:sldId id="2076137669"/>
            <p14:sldId id="2076137689"/>
            <p14:sldId id="2076137690"/>
            <p14:sldId id="2076137693"/>
            <p14:sldId id="2076137694"/>
            <p14:sldId id="2076137695"/>
          </p14:sldIdLst>
        </p14:section>
        <p14:section name="Approval Center" id="{9D3818A4-05FC-4CEF-8371-73866E870A26}">
          <p14:sldIdLst>
            <p14:sldId id="2076137574"/>
            <p14:sldId id="2076137771"/>
            <p14:sldId id="2076137686"/>
            <p14:sldId id="2076137684"/>
            <p14:sldId id="2076137685"/>
            <p14:sldId id="426"/>
            <p14:sldId id="2076137779"/>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606C01-B8D3-FE4C-551D-0F86F936C39D}" name="Eric GQ11 Wang" initials="EW" userId="S::wanggq11@lenovo.com::6ecf9a85-9875-48bf-869a-8bf2d1be0f20" providerId="AD"/>
  <p188:author id="{F7766C1E-B9D6-CE90-E97E-609D0C95743E}" name="Eric GQ11 Wang" initials="GW" userId="S::wanggq11@Lenovo.com::6ecf9a85-9875-48bf-869a-8bf2d1be0f20" providerId="AD"/>
  <p188:author id="{08A4CA31-F330-6A1A-295F-F66A72876B21}" name="Michaela Hric" initials="MH" userId="S::cehlarov@lenovo.com::25f9c990-8061-4a9f-b40c-444a3ebe6c77" providerId="AD"/>
  <p188:author id="{D7019141-BED2-AD3F-7C11-A7FD9122B906}" name="Kathleen Testar" initials="KT" userId="S::ktestar@Lenovo.com::849c100c-b2d1-4f20-8433-dce85edd5f91" providerId="AD"/>
  <p188:author id="{9ACCF643-99AF-50A4-0E88-24DB07626C8D}" name="Kathleen Testar" initials="KT" userId="S::ktestar@lenovo.com::849c100c-b2d1-4f20-8433-dce85edd5f91" providerId="AD"/>
  <p188:author id="{2557FC58-80CB-57F9-AA1E-70245A006C45}" name="Rishi Sheth" initials="RS" userId="S::rsheth@Lenovo.com::08ced302-5250-4bb5-bc87-01695314626b" providerId="AD"/>
  <p188:author id="{88F26370-F6F8-C3CE-8330-623D9D131C62}" name="Jing Yuan YJ" initials="JYY" userId="S::jyuan4@Lenovo.com::050b3416-c238-4299-9963-8ee763d26abb" providerId="AD"/>
  <p188:author id="{F10A4B80-55B6-8281-8447-7AD1E02022C4}" name="Jeanine Holtmann" initials="JH" userId="S::jholtmann@lenovo.com::55ff4d8d-971e-4dd5-a87b-2e4b8180687f" providerId="AD"/>
  <p188:author id="{F57719B6-BEC9-A465-87C5-BD86BF6ACD45}" name="Julian Mikkelsen" initials="JM" userId="S::jmikkelsen@Lenovo.com::e59fb020-b9ca-487c-b7f6-67b5c6c4dbcd" providerId="AD"/>
  <p188:author id="{0E4137D6-89CB-8246-F456-B1A680A181BE}" name="Eric Xun3 Wang" initials="" userId="S::wangxun3@LENOVO.COM::287a0c5b-2201-4d31-862e-6cde525765a5" providerId="AD"/>
  <p188:author id="{DBB97ADA-1F82-5743-F235-5446849B007F}" name="Emma Cameron" initials="EC" userId="S::ecameron@Lenovo.com::0477a9a8-c446-41d8-b76b-07e33a2e3625" providerId="AD"/>
  <p188:author id="{9CDB4AEF-2764-A185-9E68-1AC3B87F1159}" name="G K Deepthi" initials="GD" userId="S::gchandrasekh@lenovo.com::eba9f42a-205d-4bac-ab84-6f7d0a5e906a" providerId="AD"/>
  <p188:author id="{F4EAEBFA-AC48-92D1-04F2-ED75A1F8E4F0}" name="James ZX9 Wang | 王振兴" initials="J王" userId="S::wangzx9@lenovo.com::f643d828-8091-44cc-a4a1-49dbe700931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126C36"/>
    <a:srgbClr val="0070C0"/>
    <a:srgbClr val="F26A52"/>
    <a:srgbClr val="4646C3"/>
    <a:srgbClr val="6B6BCF"/>
    <a:srgbClr val="E243F7"/>
    <a:srgbClr val="00B0F0"/>
    <a:srgbClr val="404040"/>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FC03DB-61B3-4AF6-98E4-E27FC416B870}" v="337" dt="2026-09-23T03:22:42.220"/>
    <p1510:client id="{6AD2E8F3-0DAC-46BD-BCD5-7C1A2D106775}" v="2081" dt="2026-09-23T10:11:16.545"/>
    <p1510:client id="{8E4A02DE-33CD-4E3E-8E74-3D2B0C743434}" v="72" dt="2026-09-22T13:45:20.366"/>
    <p1510:client id="{97ADBE34-FAD5-4AC3-97D9-5A676781804D}" v="109" dt="2026-09-23T13:18:13.003"/>
    <p1510:client id="{AC5F1E7F-BE8A-41F7-AB2B-3AEF8E3E40BB}" v="365" dt="2026-09-23T14:25:48.728"/>
    <p1510:client id="{BF9C6B50-F5C7-D571-30BC-963E866FC4D4}" v="77" dt="2026-09-22T14:43:54.5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110.xml" Id="rId117" /><Relationship Type="http://schemas.openxmlformats.org/officeDocument/2006/relationships/slide" Target="slides/slide14.xml" Id="rId21" /><Relationship Type="http://schemas.openxmlformats.org/officeDocument/2006/relationships/slide" Target="slides/slide35.xml" Id="rId42" /><Relationship Type="http://schemas.openxmlformats.org/officeDocument/2006/relationships/slide" Target="slides/slide56.xml" Id="rId63" /><Relationship Type="http://schemas.openxmlformats.org/officeDocument/2006/relationships/slide" Target="slides/slide77.xml" Id="rId84" /><Relationship Type="http://schemas.openxmlformats.org/officeDocument/2006/relationships/slide" Target="slides/slide131.xml" Id="rId138" /><Relationship Type="http://schemas.openxmlformats.org/officeDocument/2006/relationships/slide" Target="slides/slide152.xml" Id="rId159" /><Relationship Type="http://schemas.openxmlformats.org/officeDocument/2006/relationships/slide" Target="slides/slide163.xml" Id="rId170" /><Relationship Type="http://schemas.openxmlformats.org/officeDocument/2006/relationships/slide" Target="slides/slide184.xml" Id="rId191" /><Relationship Type="http://schemas.openxmlformats.org/officeDocument/2006/relationships/slide" Target="slides/slide198.xml" Id="rId205" /><Relationship Type="http://schemas.openxmlformats.org/officeDocument/2006/relationships/slide" Target="slides/slide100.xml" Id="rId107" /><Relationship Type="http://schemas.openxmlformats.org/officeDocument/2006/relationships/slide" Target="slides/slide4.xml" Id="rId11" /><Relationship Type="http://schemas.openxmlformats.org/officeDocument/2006/relationships/slide" Target="slides/slide25.xml" Id="rId32" /><Relationship Type="http://schemas.openxmlformats.org/officeDocument/2006/relationships/slide" Target="slides/slide46.xml" Id="rId53" /><Relationship Type="http://schemas.openxmlformats.org/officeDocument/2006/relationships/slide" Target="slides/slide67.xml" Id="rId74" /><Relationship Type="http://schemas.openxmlformats.org/officeDocument/2006/relationships/slide" Target="slides/slide121.xml" Id="rId128" /><Relationship Type="http://schemas.openxmlformats.org/officeDocument/2006/relationships/slide" Target="slides/slide142.xml" Id="rId149" /><Relationship Type="http://schemas.openxmlformats.org/officeDocument/2006/relationships/slideMaster" Target="slideMasters/slideMaster2.xml" Id="rId5" /><Relationship Type="http://schemas.openxmlformats.org/officeDocument/2006/relationships/slide" Target="slides/slide88.xml" Id="rId95" /><Relationship Type="http://schemas.openxmlformats.org/officeDocument/2006/relationships/slide" Target="slides/slide153.xml" Id="rId160" /><Relationship Type="http://schemas.openxmlformats.org/officeDocument/2006/relationships/slide" Target="slides/slide174.xml" Id="rId181" /><Relationship Type="http://schemas.openxmlformats.org/officeDocument/2006/relationships/slide" Target="slides/slide15.xml" Id="rId22" /><Relationship Type="http://schemas.openxmlformats.org/officeDocument/2006/relationships/slide" Target="slides/slide36.xml" Id="rId43" /><Relationship Type="http://schemas.openxmlformats.org/officeDocument/2006/relationships/slide" Target="slides/slide57.xml" Id="rId64" /><Relationship Type="http://schemas.openxmlformats.org/officeDocument/2006/relationships/slide" Target="slides/slide111.xml" Id="rId118" /><Relationship Type="http://schemas.openxmlformats.org/officeDocument/2006/relationships/slide" Target="slides/slide132.xml" Id="rId139" /><Relationship Type="http://schemas.openxmlformats.org/officeDocument/2006/relationships/slide" Target="slides/slide78.xml" Id="rId85" /><Relationship Type="http://schemas.openxmlformats.org/officeDocument/2006/relationships/slide" Target="slides/slide143.xml" Id="rId150" /><Relationship Type="http://schemas.openxmlformats.org/officeDocument/2006/relationships/slide" Target="slides/slide164.xml" Id="rId171" /><Relationship Type="http://schemas.openxmlformats.org/officeDocument/2006/relationships/slide" Target="slides/slide185.xml" Id="rId192" /><Relationship Type="http://schemas.openxmlformats.org/officeDocument/2006/relationships/notesMaster" Target="notesMasters/notesMaster1.xml" Id="rId206" /><Relationship Type="http://schemas.openxmlformats.org/officeDocument/2006/relationships/slide" Target="slides/slide5.xml" Id="rId12" /><Relationship Type="http://schemas.openxmlformats.org/officeDocument/2006/relationships/slide" Target="slides/slide26.xml" Id="rId33" /><Relationship Type="http://schemas.openxmlformats.org/officeDocument/2006/relationships/slide" Target="slides/slide101.xml" Id="rId108" /><Relationship Type="http://schemas.openxmlformats.org/officeDocument/2006/relationships/slide" Target="slides/slide122.xml" Id="rId129" /><Relationship Type="http://schemas.openxmlformats.org/officeDocument/2006/relationships/slide" Target="slides/slide47.xml" Id="rId54" /><Relationship Type="http://schemas.openxmlformats.org/officeDocument/2006/relationships/slide" Target="slides/slide68.xml" Id="rId75" /><Relationship Type="http://schemas.openxmlformats.org/officeDocument/2006/relationships/slide" Target="slides/slide89.xml" Id="rId96" /><Relationship Type="http://schemas.openxmlformats.org/officeDocument/2006/relationships/slide" Target="slides/slide133.xml" Id="rId140" /><Relationship Type="http://schemas.openxmlformats.org/officeDocument/2006/relationships/slide" Target="slides/slide154.xml" Id="rId161" /><Relationship Type="http://schemas.openxmlformats.org/officeDocument/2006/relationships/slide" Target="slides/slide175.xml" Id="rId182" /><Relationship Type="http://schemas.openxmlformats.org/officeDocument/2006/relationships/slideMaster" Target="slideMasters/slideMaster3.xml" Id="rId6" /><Relationship Type="http://schemas.openxmlformats.org/officeDocument/2006/relationships/slide" Target="slides/slide16.xml" Id="rId23" /><Relationship Type="http://schemas.openxmlformats.org/officeDocument/2006/relationships/slide" Target="slides/slide112.xml" Id="rId119" /><Relationship Type="http://schemas.openxmlformats.org/officeDocument/2006/relationships/slide" Target="slides/slide37.xml" Id="rId44" /><Relationship Type="http://schemas.openxmlformats.org/officeDocument/2006/relationships/slide" Target="slides/slide58.xml" Id="rId65" /><Relationship Type="http://schemas.openxmlformats.org/officeDocument/2006/relationships/slide" Target="slides/slide79.xml" Id="rId86" /><Relationship Type="http://schemas.openxmlformats.org/officeDocument/2006/relationships/slide" Target="slides/slide123.xml" Id="rId130" /><Relationship Type="http://schemas.openxmlformats.org/officeDocument/2006/relationships/slide" Target="slides/slide144.xml" Id="rId151" /><Relationship Type="http://schemas.openxmlformats.org/officeDocument/2006/relationships/slide" Target="slides/slide165.xml" Id="rId172" /><Relationship Type="http://schemas.openxmlformats.org/officeDocument/2006/relationships/slide" Target="slides/slide186.xml" Id="rId193" /><Relationship Type="http://schemas.openxmlformats.org/officeDocument/2006/relationships/handoutMaster" Target="handoutMasters/handoutMaster1.xml" Id="rId207" /><Relationship Type="http://schemas.openxmlformats.org/officeDocument/2006/relationships/slide" Target="slides/slide6.xml" Id="rId13" /><Relationship Type="http://schemas.openxmlformats.org/officeDocument/2006/relationships/slide" Target="slides/slide102.xml" Id="rId109" /><Relationship Type="http://schemas.openxmlformats.org/officeDocument/2006/relationships/slide" Target="slides/slide27.xml" Id="rId34" /><Relationship Type="http://schemas.openxmlformats.org/officeDocument/2006/relationships/slide" Target="slides/slide48.xml" Id="rId55" /><Relationship Type="http://schemas.openxmlformats.org/officeDocument/2006/relationships/slide" Target="slides/slide69.xml" Id="rId76" /><Relationship Type="http://schemas.openxmlformats.org/officeDocument/2006/relationships/slide" Target="slides/slide90.xml" Id="rId97" /><Relationship Type="http://schemas.openxmlformats.org/officeDocument/2006/relationships/slide" Target="slides/slide113.xml" Id="rId120" /><Relationship Type="http://schemas.openxmlformats.org/officeDocument/2006/relationships/slide" Target="slides/slide134.xml" Id="rId141" /><Relationship Type="http://schemas.openxmlformats.org/officeDocument/2006/relationships/slideMaster" Target="slideMasters/slideMaster4.xml" Id="rId7" /><Relationship Type="http://schemas.openxmlformats.org/officeDocument/2006/relationships/slide" Target="slides/slide155.xml" Id="rId162" /><Relationship Type="http://schemas.openxmlformats.org/officeDocument/2006/relationships/slide" Target="slides/slide176.xml" Id="rId183" /><Relationship Type="http://schemas.openxmlformats.org/officeDocument/2006/relationships/slide" Target="slides/slide17.xml" Id="rId24" /><Relationship Type="http://schemas.openxmlformats.org/officeDocument/2006/relationships/slide" Target="slides/slide38.xml" Id="rId45" /><Relationship Type="http://schemas.openxmlformats.org/officeDocument/2006/relationships/slide" Target="slides/slide59.xml" Id="rId66" /><Relationship Type="http://schemas.openxmlformats.org/officeDocument/2006/relationships/slide" Target="slides/slide80.xml" Id="rId87" /><Relationship Type="http://schemas.openxmlformats.org/officeDocument/2006/relationships/slide" Target="slides/slide103.xml" Id="rId110" /><Relationship Type="http://schemas.openxmlformats.org/officeDocument/2006/relationships/slide" Target="slides/slide124.xml" Id="rId131" /><Relationship Type="http://schemas.openxmlformats.org/officeDocument/2006/relationships/slide" Target="slides/slide145.xml" Id="rId152" /><Relationship Type="http://schemas.openxmlformats.org/officeDocument/2006/relationships/slide" Target="slides/slide166.xml" Id="rId173" /><Relationship Type="http://schemas.openxmlformats.org/officeDocument/2006/relationships/slide" Target="slides/slide187.xml" Id="rId194" /><Relationship Type="http://schemas.openxmlformats.org/officeDocument/2006/relationships/tags" Target="tags/tag1.xml" Id="rId208" /><Relationship Type="http://schemas.openxmlformats.org/officeDocument/2006/relationships/slide" Target="slides/slide12.xml" Id="rId19" /><Relationship Type="http://schemas.openxmlformats.org/officeDocument/2006/relationships/slide" Target="slides/slide7.xml" Id="rId14" /><Relationship Type="http://schemas.openxmlformats.org/officeDocument/2006/relationships/slide" Target="slides/slide23.xml" Id="rId30" /><Relationship Type="http://schemas.openxmlformats.org/officeDocument/2006/relationships/slide" Target="slides/slide28.xml" Id="rId35" /><Relationship Type="http://schemas.openxmlformats.org/officeDocument/2006/relationships/slide" Target="slides/slide49.xml" Id="rId56" /><Relationship Type="http://schemas.openxmlformats.org/officeDocument/2006/relationships/slide" Target="slides/slide70.xml" Id="rId77" /><Relationship Type="http://schemas.openxmlformats.org/officeDocument/2006/relationships/slide" Target="slides/slide93.xml" Id="rId100" /><Relationship Type="http://schemas.openxmlformats.org/officeDocument/2006/relationships/slide" Target="slides/slide98.xml" Id="rId105" /><Relationship Type="http://schemas.openxmlformats.org/officeDocument/2006/relationships/slide" Target="slides/slide119.xml" Id="rId126" /><Relationship Type="http://schemas.openxmlformats.org/officeDocument/2006/relationships/slide" Target="slides/slide140.xml" Id="rId147" /><Relationship Type="http://schemas.openxmlformats.org/officeDocument/2006/relationships/slide" Target="slides/slide161.xml" Id="rId168" /><Relationship Type="http://schemas.openxmlformats.org/officeDocument/2006/relationships/slide" Target="slides/slide1.xml" Id="rId8" /><Relationship Type="http://schemas.openxmlformats.org/officeDocument/2006/relationships/slide" Target="slides/slide44.xml" Id="rId51" /><Relationship Type="http://schemas.openxmlformats.org/officeDocument/2006/relationships/slide" Target="slides/slide65.xml" Id="rId72" /><Relationship Type="http://schemas.openxmlformats.org/officeDocument/2006/relationships/slide" Target="slides/slide86.xml" Id="rId93" /><Relationship Type="http://schemas.openxmlformats.org/officeDocument/2006/relationships/slide" Target="slides/slide91.xml" Id="rId98" /><Relationship Type="http://schemas.openxmlformats.org/officeDocument/2006/relationships/slide" Target="slides/slide114.xml" Id="rId121" /><Relationship Type="http://schemas.openxmlformats.org/officeDocument/2006/relationships/slide" Target="slides/slide135.xml" Id="rId142" /><Relationship Type="http://schemas.openxmlformats.org/officeDocument/2006/relationships/slide" Target="slides/slide156.xml" Id="rId163" /><Relationship Type="http://schemas.openxmlformats.org/officeDocument/2006/relationships/slide" Target="slides/slide177.xml" Id="rId184" /><Relationship Type="http://schemas.openxmlformats.org/officeDocument/2006/relationships/slide" Target="slides/slide182.xml" Id="rId189" /><Relationship Type="http://schemas.openxmlformats.org/officeDocument/2006/relationships/customXml" Target="../customXml/item3.xml" Id="rId3" /><Relationship Type="http://schemas.microsoft.com/office/2015/10/relationships/revisionInfo" Target="revisionInfo.xml" Id="rId214" /><Relationship Type="http://schemas.openxmlformats.org/officeDocument/2006/relationships/slide" Target="slides/slide18.xml" Id="rId25" /><Relationship Type="http://schemas.openxmlformats.org/officeDocument/2006/relationships/slide" Target="slides/slide39.xml" Id="rId46" /><Relationship Type="http://schemas.openxmlformats.org/officeDocument/2006/relationships/slide" Target="slides/slide60.xml" Id="rId67" /><Relationship Type="http://schemas.openxmlformats.org/officeDocument/2006/relationships/slide" Target="slides/slide109.xml" Id="rId116" /><Relationship Type="http://schemas.openxmlformats.org/officeDocument/2006/relationships/slide" Target="slides/slide130.xml" Id="rId137" /><Relationship Type="http://schemas.openxmlformats.org/officeDocument/2006/relationships/slide" Target="slides/slide151.xml" Id="rId158" /><Relationship Type="http://schemas.openxmlformats.org/officeDocument/2006/relationships/slide" Target="slides/slide13.xml" Id="rId20" /><Relationship Type="http://schemas.openxmlformats.org/officeDocument/2006/relationships/slide" Target="slides/slide34.xml" Id="rId41" /><Relationship Type="http://schemas.openxmlformats.org/officeDocument/2006/relationships/slide" Target="slides/slide55.xml" Id="rId62" /><Relationship Type="http://schemas.openxmlformats.org/officeDocument/2006/relationships/slide" Target="slides/slide76.xml" Id="rId83" /><Relationship Type="http://schemas.openxmlformats.org/officeDocument/2006/relationships/slide" Target="slides/slide81.xml" Id="rId88" /><Relationship Type="http://schemas.openxmlformats.org/officeDocument/2006/relationships/slide" Target="slides/slide104.xml" Id="rId111" /><Relationship Type="http://schemas.openxmlformats.org/officeDocument/2006/relationships/slide" Target="slides/slide125.xml" Id="rId132" /><Relationship Type="http://schemas.openxmlformats.org/officeDocument/2006/relationships/slide" Target="slides/slide146.xml" Id="rId153" /><Relationship Type="http://schemas.openxmlformats.org/officeDocument/2006/relationships/slide" Target="slides/slide167.xml" Id="rId174" /><Relationship Type="http://schemas.openxmlformats.org/officeDocument/2006/relationships/slide" Target="slides/slide172.xml" Id="rId179" /><Relationship Type="http://schemas.openxmlformats.org/officeDocument/2006/relationships/slide" Target="slides/slide188.xml" Id="rId195" /><Relationship Type="http://schemas.openxmlformats.org/officeDocument/2006/relationships/presProps" Target="presProps.xml" Id="rId209" /><Relationship Type="http://schemas.openxmlformats.org/officeDocument/2006/relationships/slide" Target="slides/slide183.xml" Id="rId190" /><Relationship Type="http://schemas.openxmlformats.org/officeDocument/2006/relationships/slide" Target="slides/slide197.xml" Id="rId204" /><Relationship Type="http://schemas.openxmlformats.org/officeDocument/2006/relationships/slide" Target="slides/slide8.xml" Id="rId15" /><Relationship Type="http://schemas.openxmlformats.org/officeDocument/2006/relationships/slide" Target="slides/slide29.xml" Id="rId36" /><Relationship Type="http://schemas.openxmlformats.org/officeDocument/2006/relationships/slide" Target="slides/slide50.xml" Id="rId57" /><Relationship Type="http://schemas.openxmlformats.org/officeDocument/2006/relationships/slide" Target="slides/slide99.xml" Id="rId106" /><Relationship Type="http://schemas.openxmlformats.org/officeDocument/2006/relationships/slide" Target="slides/slide120.xml" Id="rId127" /><Relationship Type="http://schemas.openxmlformats.org/officeDocument/2006/relationships/slide" Target="slides/slide3.xml" Id="rId10" /><Relationship Type="http://schemas.openxmlformats.org/officeDocument/2006/relationships/slide" Target="slides/slide24.xml" Id="rId31" /><Relationship Type="http://schemas.openxmlformats.org/officeDocument/2006/relationships/slide" Target="slides/slide45.xml" Id="rId52" /><Relationship Type="http://schemas.openxmlformats.org/officeDocument/2006/relationships/slide" Target="slides/slide66.xml" Id="rId73" /><Relationship Type="http://schemas.openxmlformats.org/officeDocument/2006/relationships/slide" Target="slides/slide71.xml" Id="rId78" /><Relationship Type="http://schemas.openxmlformats.org/officeDocument/2006/relationships/slide" Target="slides/slide87.xml" Id="rId94" /><Relationship Type="http://schemas.openxmlformats.org/officeDocument/2006/relationships/slide" Target="slides/slide92.xml" Id="rId99" /><Relationship Type="http://schemas.openxmlformats.org/officeDocument/2006/relationships/slide" Target="slides/slide94.xml" Id="rId101" /><Relationship Type="http://schemas.openxmlformats.org/officeDocument/2006/relationships/slide" Target="slides/slide115.xml" Id="rId122" /><Relationship Type="http://schemas.openxmlformats.org/officeDocument/2006/relationships/slide" Target="slides/slide136.xml" Id="rId143" /><Relationship Type="http://schemas.openxmlformats.org/officeDocument/2006/relationships/slide" Target="slides/slide141.xml" Id="rId148" /><Relationship Type="http://schemas.openxmlformats.org/officeDocument/2006/relationships/slide" Target="slides/slide157.xml" Id="rId164" /><Relationship Type="http://schemas.openxmlformats.org/officeDocument/2006/relationships/slide" Target="slides/slide162.xml" Id="rId169" /><Relationship Type="http://schemas.openxmlformats.org/officeDocument/2006/relationships/slide" Target="slides/slide178.xml" Id="rId185" /><Relationship Type="http://schemas.openxmlformats.org/officeDocument/2006/relationships/slideMaster" Target="slideMasters/slideMaster1.xml" Id="rId4" /><Relationship Type="http://schemas.openxmlformats.org/officeDocument/2006/relationships/slide" Target="slides/slide2.xml" Id="rId9" /><Relationship Type="http://schemas.openxmlformats.org/officeDocument/2006/relationships/slide" Target="slides/slide173.xml" Id="rId180" /><Relationship Type="http://schemas.openxmlformats.org/officeDocument/2006/relationships/viewProps" Target="viewProps.xml" Id="rId210" /><Relationship Type="http://schemas.microsoft.com/office/2018/10/relationships/authors" Target="authors.xml" Id="rId215" /><Relationship Type="http://schemas.openxmlformats.org/officeDocument/2006/relationships/slide" Target="slides/slide19.xml" Id="rId26" /><Relationship Type="http://schemas.openxmlformats.org/officeDocument/2006/relationships/slide" Target="slides/slide40.xml" Id="rId47" /><Relationship Type="http://schemas.openxmlformats.org/officeDocument/2006/relationships/slide" Target="slides/slide61.xml" Id="rId68" /><Relationship Type="http://schemas.openxmlformats.org/officeDocument/2006/relationships/slide" Target="slides/slide82.xml" Id="rId89" /><Relationship Type="http://schemas.openxmlformats.org/officeDocument/2006/relationships/slide" Target="slides/slide105.xml" Id="rId112" /><Relationship Type="http://schemas.openxmlformats.org/officeDocument/2006/relationships/slide" Target="slides/slide126.xml" Id="rId133" /><Relationship Type="http://schemas.openxmlformats.org/officeDocument/2006/relationships/slide" Target="slides/slide147.xml" Id="rId154" /><Relationship Type="http://schemas.openxmlformats.org/officeDocument/2006/relationships/slide" Target="slides/slide168.xml" Id="rId175" /><Relationship Type="http://schemas.openxmlformats.org/officeDocument/2006/relationships/slide" Target="slides/slide189.xml" Id="rId196" /><Relationship Type="http://schemas.openxmlformats.org/officeDocument/2006/relationships/slide" Target="slides/slide193.xml" Id="rId200" /><Relationship Type="http://schemas.openxmlformats.org/officeDocument/2006/relationships/slide" Target="slides/slide9.xml" Id="rId16" /><Relationship Type="http://schemas.openxmlformats.org/officeDocument/2006/relationships/slide" Target="slides/slide30.xml" Id="rId37" /><Relationship Type="http://schemas.openxmlformats.org/officeDocument/2006/relationships/slide" Target="slides/slide51.xml" Id="rId58" /><Relationship Type="http://schemas.openxmlformats.org/officeDocument/2006/relationships/slide" Target="slides/slide72.xml" Id="rId79" /><Relationship Type="http://schemas.openxmlformats.org/officeDocument/2006/relationships/slide" Target="slides/slide95.xml" Id="rId102" /><Relationship Type="http://schemas.openxmlformats.org/officeDocument/2006/relationships/slide" Target="slides/slide116.xml" Id="rId123" /><Relationship Type="http://schemas.openxmlformats.org/officeDocument/2006/relationships/slide" Target="slides/slide137.xml" Id="rId144" /><Relationship Type="http://schemas.openxmlformats.org/officeDocument/2006/relationships/slide" Target="slides/slide83.xml" Id="rId90" /><Relationship Type="http://schemas.openxmlformats.org/officeDocument/2006/relationships/slide" Target="slides/slide158.xml" Id="rId165" /><Relationship Type="http://schemas.openxmlformats.org/officeDocument/2006/relationships/slide" Target="slides/slide179.xml" Id="rId186" /><Relationship Type="http://schemas.openxmlformats.org/officeDocument/2006/relationships/theme" Target="theme/theme1.xml" Id="rId211" /><Relationship Type="http://schemas.openxmlformats.org/officeDocument/2006/relationships/slide" Target="slides/slide20.xml" Id="rId27" /><Relationship Type="http://schemas.openxmlformats.org/officeDocument/2006/relationships/slide" Target="slides/slide41.xml" Id="rId48" /><Relationship Type="http://schemas.openxmlformats.org/officeDocument/2006/relationships/slide" Target="slides/slide62.xml" Id="rId69" /><Relationship Type="http://schemas.openxmlformats.org/officeDocument/2006/relationships/slide" Target="slides/slide106.xml" Id="rId113" /><Relationship Type="http://schemas.openxmlformats.org/officeDocument/2006/relationships/slide" Target="slides/slide127.xml" Id="rId134" /><Relationship Type="http://schemas.openxmlformats.org/officeDocument/2006/relationships/slide" Target="slides/slide73.xml" Id="rId80" /><Relationship Type="http://schemas.openxmlformats.org/officeDocument/2006/relationships/slide" Target="slides/slide148.xml" Id="rId155" /><Relationship Type="http://schemas.openxmlformats.org/officeDocument/2006/relationships/slide" Target="slides/slide169.xml" Id="rId176" /><Relationship Type="http://schemas.openxmlformats.org/officeDocument/2006/relationships/slide" Target="slides/slide190.xml" Id="rId197" /><Relationship Type="http://schemas.openxmlformats.org/officeDocument/2006/relationships/slide" Target="slides/slide194.xml" Id="rId201" /><Relationship Type="http://schemas.openxmlformats.org/officeDocument/2006/relationships/slide" Target="slides/slide10.xml" Id="rId17" /><Relationship Type="http://schemas.openxmlformats.org/officeDocument/2006/relationships/slide" Target="slides/slide31.xml" Id="rId38" /><Relationship Type="http://schemas.openxmlformats.org/officeDocument/2006/relationships/slide" Target="slides/slide52.xml" Id="rId59" /><Relationship Type="http://schemas.openxmlformats.org/officeDocument/2006/relationships/slide" Target="slides/slide96.xml" Id="rId103" /><Relationship Type="http://schemas.openxmlformats.org/officeDocument/2006/relationships/slide" Target="slides/slide117.xml" Id="rId124" /><Relationship Type="http://schemas.openxmlformats.org/officeDocument/2006/relationships/slide" Target="slides/slide63.xml" Id="rId70" /><Relationship Type="http://schemas.openxmlformats.org/officeDocument/2006/relationships/slide" Target="slides/slide84.xml" Id="rId91" /><Relationship Type="http://schemas.openxmlformats.org/officeDocument/2006/relationships/slide" Target="slides/slide138.xml" Id="rId145" /><Relationship Type="http://schemas.openxmlformats.org/officeDocument/2006/relationships/slide" Target="slides/slide159.xml" Id="rId166" /><Relationship Type="http://schemas.openxmlformats.org/officeDocument/2006/relationships/slide" Target="slides/slide180.xml" Id="rId187" /><Relationship Type="http://schemas.openxmlformats.org/officeDocument/2006/relationships/customXml" Target="../customXml/item1.xml" Id="rId1" /><Relationship Type="http://schemas.openxmlformats.org/officeDocument/2006/relationships/tableStyles" Target="tableStyles.xml" Id="rId212" /><Relationship Type="http://schemas.openxmlformats.org/officeDocument/2006/relationships/slide" Target="slides/slide21.xml" Id="rId28" /><Relationship Type="http://schemas.openxmlformats.org/officeDocument/2006/relationships/slide" Target="slides/slide42.xml" Id="rId49" /><Relationship Type="http://schemas.openxmlformats.org/officeDocument/2006/relationships/slide" Target="slides/slide107.xml" Id="rId114" /><Relationship Type="http://schemas.openxmlformats.org/officeDocument/2006/relationships/slide" Target="slides/slide53.xml" Id="rId60" /><Relationship Type="http://schemas.openxmlformats.org/officeDocument/2006/relationships/slide" Target="slides/slide74.xml" Id="rId81" /><Relationship Type="http://schemas.openxmlformats.org/officeDocument/2006/relationships/slide" Target="slides/slide128.xml" Id="rId135" /><Relationship Type="http://schemas.openxmlformats.org/officeDocument/2006/relationships/slide" Target="slides/slide149.xml" Id="rId156" /><Relationship Type="http://schemas.openxmlformats.org/officeDocument/2006/relationships/slide" Target="slides/slide170.xml" Id="rId177" /><Relationship Type="http://schemas.openxmlformats.org/officeDocument/2006/relationships/slide" Target="slides/slide191.xml" Id="rId198" /><Relationship Type="http://schemas.openxmlformats.org/officeDocument/2006/relationships/slide" Target="slides/slide195.xml" Id="rId202" /><Relationship Type="http://schemas.openxmlformats.org/officeDocument/2006/relationships/slide" Target="slides/slide11.xml" Id="rId18" /><Relationship Type="http://schemas.openxmlformats.org/officeDocument/2006/relationships/slide" Target="slides/slide32.xml" Id="rId39" /><Relationship Type="http://schemas.openxmlformats.org/officeDocument/2006/relationships/slide" Target="slides/slide43.xml" Id="rId50" /><Relationship Type="http://schemas.openxmlformats.org/officeDocument/2006/relationships/slide" Target="slides/slide97.xml" Id="rId104" /><Relationship Type="http://schemas.openxmlformats.org/officeDocument/2006/relationships/slide" Target="slides/slide118.xml" Id="rId125" /><Relationship Type="http://schemas.openxmlformats.org/officeDocument/2006/relationships/slide" Target="slides/slide139.xml" Id="rId146" /><Relationship Type="http://schemas.openxmlformats.org/officeDocument/2006/relationships/slide" Target="slides/slide160.xml" Id="rId167" /><Relationship Type="http://schemas.openxmlformats.org/officeDocument/2006/relationships/slide" Target="slides/slide181.xml" Id="rId188" /><Relationship Type="http://schemas.openxmlformats.org/officeDocument/2006/relationships/slide" Target="slides/slide64.xml" Id="rId71" /><Relationship Type="http://schemas.openxmlformats.org/officeDocument/2006/relationships/slide" Target="slides/slide85.xml" Id="rId92" /><Relationship Type="http://schemas.openxmlformats.org/officeDocument/2006/relationships/customXml" Target="../customXml/item2.xml" Id="rId2" /><Relationship Type="http://schemas.openxmlformats.org/officeDocument/2006/relationships/slide" Target="slides/slide22.xml" Id="rId29" /><Relationship Type="http://schemas.openxmlformats.org/officeDocument/2006/relationships/slide" Target="slides/slide33.xml" Id="rId40" /><Relationship Type="http://schemas.openxmlformats.org/officeDocument/2006/relationships/slide" Target="slides/slide108.xml" Id="rId115" /><Relationship Type="http://schemas.openxmlformats.org/officeDocument/2006/relationships/slide" Target="slides/slide129.xml" Id="rId136" /><Relationship Type="http://schemas.openxmlformats.org/officeDocument/2006/relationships/slide" Target="slides/slide150.xml" Id="rId157" /><Relationship Type="http://schemas.openxmlformats.org/officeDocument/2006/relationships/slide" Target="slides/slide171.xml" Id="rId178" /><Relationship Type="http://schemas.openxmlformats.org/officeDocument/2006/relationships/slide" Target="slides/slide54.xml" Id="rId61" /><Relationship Type="http://schemas.openxmlformats.org/officeDocument/2006/relationships/slide" Target="slides/slide75.xml" Id="rId82" /><Relationship Type="http://schemas.openxmlformats.org/officeDocument/2006/relationships/slide" Target="slides/slide192.xml" Id="rId199" /><Relationship Type="http://schemas.openxmlformats.org/officeDocument/2006/relationships/slide" Target="slides/slide196.xml" Id="rId203"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0BA14A-0866-4892-B03E-2C70EE53FC1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20872EC-E26F-4AB6-B624-DFEF4C1FCA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C3D89A-C03E-462B-968D-DF0E67F624A8}" type="datetimeFigureOut">
              <a:rPr lang="en-US" smtClean="0"/>
              <a:t>9/23/2026</a:t>
            </a:fld>
            <a:endParaRPr lang="en-US"/>
          </a:p>
        </p:txBody>
      </p:sp>
      <p:sp>
        <p:nvSpPr>
          <p:cNvPr id="4" name="Footer Placeholder 3">
            <a:extLst>
              <a:ext uri="{FF2B5EF4-FFF2-40B4-BE49-F238E27FC236}">
                <a16:creationId xmlns:a16="http://schemas.microsoft.com/office/drawing/2014/main" id="{0F3C1B98-B726-4128-A5DE-8297EA2EA9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83998C0-177D-4351-AB6B-BD50314368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84472BC-11D5-451F-9C24-67A530DE496E}" type="slidenum">
              <a:rPr lang="en-US" smtClean="0"/>
              <a:t>‹#›</a:t>
            </a:fld>
            <a:endParaRPr lang="en-US"/>
          </a:p>
        </p:txBody>
      </p:sp>
    </p:spTree>
    <p:extLst>
      <p:ext uri="{BB962C8B-B14F-4D97-AF65-F5344CB8AC3E}">
        <p14:creationId xmlns:p14="http://schemas.microsoft.com/office/powerpoint/2010/main" val="6442588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174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1</a:t>
            </a:fld>
            <a:endParaRPr lang="zh-CN" altLang="en-US"/>
          </a:p>
        </p:txBody>
      </p:sp>
    </p:spTree>
    <p:extLst>
      <p:ext uri="{BB962C8B-B14F-4D97-AF65-F5344CB8AC3E}">
        <p14:creationId xmlns:p14="http://schemas.microsoft.com/office/powerpoint/2010/main" val="806036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2</a:t>
            </a:fld>
            <a:endParaRPr lang="zh-CN" altLang="en-US"/>
          </a:p>
        </p:txBody>
      </p:sp>
    </p:spTree>
    <p:extLst>
      <p:ext uri="{BB962C8B-B14F-4D97-AF65-F5344CB8AC3E}">
        <p14:creationId xmlns:p14="http://schemas.microsoft.com/office/powerpoint/2010/main" val="188542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1DCF-D13A-0F79-2F65-D09EDF798C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E1574E-D6F8-DE4C-ED4A-EFA882E0FA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D03B7B-04B5-BE86-50A0-62E969C97BF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942765F-33CA-6796-2746-F5081C589A7F}"/>
              </a:ext>
            </a:extLst>
          </p:cNvPr>
          <p:cNvSpPr>
            <a:spLocks noGrp="1"/>
          </p:cNvSpPr>
          <p:nvPr>
            <p:ph type="sldNum" sz="quarter" idx="5"/>
          </p:nvPr>
        </p:nvSpPr>
        <p:spPr/>
        <p:txBody>
          <a:bodyPr/>
          <a:lstStyle/>
          <a:p>
            <a:fld id="{F3476F67-9F13-4B23-B1D4-ABD268E7D94E}" type="slidenum">
              <a:rPr lang="en-US" altLang="zh-CN" smtClean="0"/>
              <a:t>8</a:t>
            </a:fld>
            <a:endParaRPr lang="zh-CN" altLang="en-US"/>
          </a:p>
        </p:txBody>
      </p:sp>
    </p:spTree>
    <p:extLst>
      <p:ext uri="{BB962C8B-B14F-4D97-AF65-F5344CB8AC3E}">
        <p14:creationId xmlns:p14="http://schemas.microsoft.com/office/powerpoint/2010/main" val="3386336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10</a:t>
            </a:fld>
            <a:endParaRPr lang="zh-CN" altLang="en-US"/>
          </a:p>
        </p:txBody>
      </p:sp>
    </p:spTree>
    <p:extLst>
      <p:ext uri="{BB962C8B-B14F-4D97-AF65-F5344CB8AC3E}">
        <p14:creationId xmlns:p14="http://schemas.microsoft.com/office/powerpoint/2010/main" val="3684291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12</a:t>
            </a:fld>
            <a:endParaRPr lang="zh-CN" altLang="en-US"/>
          </a:p>
        </p:txBody>
      </p:sp>
    </p:spTree>
    <p:extLst>
      <p:ext uri="{BB962C8B-B14F-4D97-AF65-F5344CB8AC3E}">
        <p14:creationId xmlns:p14="http://schemas.microsoft.com/office/powerpoint/2010/main" val="2857155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76F67-9F13-4B23-B1D4-ABD268E7D94E}" type="slidenum">
              <a:rPr kumimoji="0" lang="en-US" altLang="zh-CN"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89983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7CF91-C4B0-4717-B321-17BE93F66A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ADF7D7-6FEA-F656-81F3-ACF7FA4A23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6AA794-BEE8-B0CC-22D2-6E7099CF3FA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2904DFA-4C02-C94B-5E66-2647195EAB0B}"/>
              </a:ext>
            </a:extLst>
          </p:cNvPr>
          <p:cNvSpPr>
            <a:spLocks noGrp="1"/>
          </p:cNvSpPr>
          <p:nvPr>
            <p:ph type="sldNum" sz="quarter" idx="5"/>
          </p:nvPr>
        </p:nvSpPr>
        <p:spPr/>
        <p:txBody>
          <a:bodyPr/>
          <a:lstStyle/>
          <a:p>
            <a:fld id="{F3476F67-9F13-4B23-B1D4-ABD268E7D94E}" type="slidenum">
              <a:rPr lang="en-US" altLang="zh-CN" smtClean="0"/>
              <a:t>24</a:t>
            </a:fld>
            <a:endParaRPr lang="zh-CN" altLang="en-US"/>
          </a:p>
        </p:txBody>
      </p:sp>
    </p:spTree>
    <p:extLst>
      <p:ext uri="{BB962C8B-B14F-4D97-AF65-F5344CB8AC3E}">
        <p14:creationId xmlns:p14="http://schemas.microsoft.com/office/powerpoint/2010/main" val="3777047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33</a:t>
            </a:fld>
            <a:endParaRPr lang="zh-CN" altLang="en-US"/>
          </a:p>
        </p:txBody>
      </p:sp>
    </p:spTree>
    <p:extLst>
      <p:ext uri="{BB962C8B-B14F-4D97-AF65-F5344CB8AC3E}">
        <p14:creationId xmlns:p14="http://schemas.microsoft.com/office/powerpoint/2010/main" val="2892422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B5CC4-D836-6602-1233-B14470C05A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FF5B48-D5BA-9986-F346-CEE69D790E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69CD75-F769-3FC2-275D-2750455BFFA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38B2B1C-1DDF-4A6B-4376-D68216423948}"/>
              </a:ext>
            </a:extLst>
          </p:cNvPr>
          <p:cNvSpPr>
            <a:spLocks noGrp="1"/>
          </p:cNvSpPr>
          <p:nvPr>
            <p:ph type="sldNum" sz="quarter" idx="5"/>
          </p:nvPr>
        </p:nvSpPr>
        <p:spPr/>
        <p:txBody>
          <a:bodyPr/>
          <a:lstStyle/>
          <a:p>
            <a:fld id="{F3476F67-9F13-4B23-B1D4-ABD268E7D94E}" type="slidenum">
              <a:rPr lang="en-US" altLang="zh-CN" smtClean="0"/>
              <a:t>40</a:t>
            </a:fld>
            <a:endParaRPr lang="zh-CN" altLang="en-US"/>
          </a:p>
        </p:txBody>
      </p:sp>
    </p:spTree>
    <p:extLst>
      <p:ext uri="{BB962C8B-B14F-4D97-AF65-F5344CB8AC3E}">
        <p14:creationId xmlns:p14="http://schemas.microsoft.com/office/powerpoint/2010/main" val="628385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D9BA-AEE1-59D4-2189-66BDF38861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82CCD-9FC6-2127-7143-2D367A5FC9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F41718-6BDE-2235-B1D8-7CC7189762C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CFD6CDA-DBE1-559B-AF7B-30B5157D0B3D}"/>
              </a:ext>
            </a:extLst>
          </p:cNvPr>
          <p:cNvSpPr>
            <a:spLocks noGrp="1"/>
          </p:cNvSpPr>
          <p:nvPr>
            <p:ph type="sldNum" sz="quarter" idx="5"/>
          </p:nvPr>
        </p:nvSpPr>
        <p:spPr/>
        <p:txBody>
          <a:bodyPr/>
          <a:lstStyle/>
          <a:p>
            <a:fld id="{F3476F67-9F13-4B23-B1D4-ABD268E7D94E}" type="slidenum">
              <a:rPr lang="en-US" altLang="zh-CN" smtClean="0"/>
              <a:t>50</a:t>
            </a:fld>
            <a:endParaRPr lang="zh-CN" altLang="en-US"/>
          </a:p>
        </p:txBody>
      </p:sp>
    </p:spTree>
    <p:extLst>
      <p:ext uri="{BB962C8B-B14F-4D97-AF65-F5344CB8AC3E}">
        <p14:creationId xmlns:p14="http://schemas.microsoft.com/office/powerpoint/2010/main" val="3982778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55</a:t>
            </a:fld>
            <a:endParaRPr lang="zh-CN" altLang="en-US"/>
          </a:p>
        </p:txBody>
      </p:sp>
    </p:spTree>
    <p:extLst>
      <p:ext uri="{BB962C8B-B14F-4D97-AF65-F5344CB8AC3E}">
        <p14:creationId xmlns:p14="http://schemas.microsoft.com/office/powerpoint/2010/main" val="1918915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DCBB1-7BEC-D046-2869-55A8CD1A02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01FFD9-1598-8F79-BB6F-336DC44C34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035CD0-E26B-6865-72ED-7B9CF508369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BB9EA90-DC37-819B-6D5F-CB57B5444EE0}"/>
              </a:ext>
            </a:extLst>
          </p:cNvPr>
          <p:cNvSpPr>
            <a:spLocks noGrp="1"/>
          </p:cNvSpPr>
          <p:nvPr>
            <p:ph type="sldNum" sz="quarter" idx="5"/>
          </p:nvPr>
        </p:nvSpPr>
        <p:spPr/>
        <p:txBody>
          <a:bodyPr/>
          <a:lstStyle/>
          <a:p>
            <a:fld id="{F3476F67-9F13-4B23-B1D4-ABD268E7D94E}" type="slidenum">
              <a:rPr lang="en-US" altLang="zh-CN" smtClean="0"/>
              <a:t>73</a:t>
            </a:fld>
            <a:endParaRPr lang="zh-CN" altLang="en-US"/>
          </a:p>
        </p:txBody>
      </p:sp>
    </p:spTree>
    <p:extLst>
      <p:ext uri="{BB962C8B-B14F-4D97-AF65-F5344CB8AC3E}">
        <p14:creationId xmlns:p14="http://schemas.microsoft.com/office/powerpoint/2010/main" val="962805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C9B2-C8C9-FAA1-521B-F4B46E7CDF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BAA195-9997-6837-05BD-02BB55BC82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01330D-B01B-836D-1CEE-39AF9BD5CA0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7C3E1AB-63B7-6FDF-FA02-A8C65EF1474C}"/>
              </a:ext>
            </a:extLst>
          </p:cNvPr>
          <p:cNvSpPr>
            <a:spLocks noGrp="1"/>
          </p:cNvSpPr>
          <p:nvPr>
            <p:ph type="sldNum" sz="quarter" idx="5"/>
          </p:nvPr>
        </p:nvSpPr>
        <p:spPr/>
        <p:txBody>
          <a:bodyPr/>
          <a:lstStyle/>
          <a:p>
            <a:fld id="{F3476F67-9F13-4B23-B1D4-ABD268E7D94E}" type="slidenum">
              <a:rPr lang="en-US" altLang="zh-CN" smtClean="0"/>
              <a:t>74</a:t>
            </a:fld>
            <a:endParaRPr lang="zh-CN" altLang="en-US"/>
          </a:p>
        </p:txBody>
      </p:sp>
    </p:spTree>
    <p:extLst>
      <p:ext uri="{BB962C8B-B14F-4D97-AF65-F5344CB8AC3E}">
        <p14:creationId xmlns:p14="http://schemas.microsoft.com/office/powerpoint/2010/main" val="3471960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78</a:t>
            </a:fld>
            <a:endParaRPr lang="zh-CN" altLang="en-US"/>
          </a:p>
        </p:txBody>
      </p:sp>
    </p:spTree>
    <p:extLst>
      <p:ext uri="{BB962C8B-B14F-4D97-AF65-F5344CB8AC3E}">
        <p14:creationId xmlns:p14="http://schemas.microsoft.com/office/powerpoint/2010/main" val="3909672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84</a:t>
            </a:fld>
            <a:endParaRPr lang="zh-CN" altLang="en-US"/>
          </a:p>
        </p:txBody>
      </p:sp>
    </p:spTree>
    <p:extLst>
      <p:ext uri="{BB962C8B-B14F-4D97-AF65-F5344CB8AC3E}">
        <p14:creationId xmlns:p14="http://schemas.microsoft.com/office/powerpoint/2010/main" val="1171281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4D39-4967-7ECE-1D01-6864BA816D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BF65B9-0FB2-9AAF-CEC6-67664B34F4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973953-DD21-E8A7-42FE-9570C518DA9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691D328-9303-58EE-19C5-E549FE7A9AE1}"/>
              </a:ext>
            </a:extLst>
          </p:cNvPr>
          <p:cNvSpPr>
            <a:spLocks noGrp="1"/>
          </p:cNvSpPr>
          <p:nvPr>
            <p:ph type="sldNum" sz="quarter" idx="5"/>
          </p:nvPr>
        </p:nvSpPr>
        <p:spPr/>
        <p:txBody>
          <a:bodyPr/>
          <a:lstStyle/>
          <a:p>
            <a:fld id="{F3476F67-9F13-4B23-B1D4-ABD268E7D94E}" type="slidenum">
              <a:rPr lang="en-US" altLang="zh-CN" smtClean="0"/>
              <a:t>99</a:t>
            </a:fld>
            <a:endParaRPr lang="zh-CN" altLang="en-US"/>
          </a:p>
        </p:txBody>
      </p:sp>
    </p:spTree>
    <p:extLst>
      <p:ext uri="{BB962C8B-B14F-4D97-AF65-F5344CB8AC3E}">
        <p14:creationId xmlns:p14="http://schemas.microsoft.com/office/powerpoint/2010/main" val="3293903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101</a:t>
            </a:fld>
            <a:endParaRPr lang="zh-CN" altLang="en-US"/>
          </a:p>
        </p:txBody>
      </p:sp>
    </p:spTree>
    <p:extLst>
      <p:ext uri="{BB962C8B-B14F-4D97-AF65-F5344CB8AC3E}">
        <p14:creationId xmlns:p14="http://schemas.microsoft.com/office/powerpoint/2010/main" val="3693156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A25DD-4534-4983-D9EE-B22C64B69C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DBFACC-2073-40CF-EE4F-24C9CAE9B5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B3595B-F220-48D2-E0B3-A0AE589ED74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9AAC521-FABE-F726-96EF-54301E70207F}"/>
              </a:ext>
            </a:extLst>
          </p:cNvPr>
          <p:cNvSpPr>
            <a:spLocks noGrp="1"/>
          </p:cNvSpPr>
          <p:nvPr>
            <p:ph type="sldNum" sz="quarter" idx="5"/>
          </p:nvPr>
        </p:nvSpPr>
        <p:spPr/>
        <p:txBody>
          <a:bodyPr/>
          <a:lstStyle/>
          <a:p>
            <a:fld id="{F3476F67-9F13-4B23-B1D4-ABD268E7D94E}" type="slidenum">
              <a:rPr lang="en-US" altLang="zh-CN" smtClean="0"/>
              <a:t>108</a:t>
            </a:fld>
            <a:endParaRPr lang="zh-CN" altLang="en-US"/>
          </a:p>
        </p:txBody>
      </p:sp>
    </p:spTree>
    <p:extLst>
      <p:ext uri="{BB962C8B-B14F-4D97-AF65-F5344CB8AC3E}">
        <p14:creationId xmlns:p14="http://schemas.microsoft.com/office/powerpoint/2010/main" val="2056370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51868-B1A9-AEA1-AE48-67311E54B8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DD0729-D95B-C7C6-D8FD-482E37D685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555560-078E-A9BE-348A-EB808799640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C926D09-3373-5FF3-5FD3-E023B77CD69B}"/>
              </a:ext>
            </a:extLst>
          </p:cNvPr>
          <p:cNvSpPr>
            <a:spLocks noGrp="1"/>
          </p:cNvSpPr>
          <p:nvPr>
            <p:ph type="sldNum" sz="quarter" idx="5"/>
          </p:nvPr>
        </p:nvSpPr>
        <p:spPr/>
        <p:txBody>
          <a:bodyPr/>
          <a:lstStyle/>
          <a:p>
            <a:fld id="{F3476F67-9F13-4B23-B1D4-ABD268E7D94E}" type="slidenum">
              <a:rPr lang="en-US" altLang="zh-CN" smtClean="0"/>
              <a:t>122</a:t>
            </a:fld>
            <a:endParaRPr lang="zh-CN" altLang="en-US"/>
          </a:p>
        </p:txBody>
      </p:sp>
    </p:spTree>
    <p:extLst>
      <p:ext uri="{BB962C8B-B14F-4D97-AF65-F5344CB8AC3E}">
        <p14:creationId xmlns:p14="http://schemas.microsoft.com/office/powerpoint/2010/main" val="4040074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80B89-F914-8441-D1B3-F102A91DA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F2BC45-4ABF-2B8C-272B-B7F3F5E8B5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690255-70EC-A538-A438-9CFE5452036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BB19AAC-42BE-57B9-EBB3-5720F02FFED7}"/>
              </a:ext>
            </a:extLst>
          </p:cNvPr>
          <p:cNvSpPr>
            <a:spLocks noGrp="1"/>
          </p:cNvSpPr>
          <p:nvPr>
            <p:ph type="sldNum" sz="quarter" idx="5"/>
          </p:nvPr>
        </p:nvSpPr>
        <p:spPr/>
        <p:txBody>
          <a:bodyPr/>
          <a:lstStyle/>
          <a:p>
            <a:fld id="{F3476F67-9F13-4B23-B1D4-ABD268E7D94E}" type="slidenum">
              <a:rPr lang="en-US" altLang="zh-CN" smtClean="0"/>
              <a:t>129</a:t>
            </a:fld>
            <a:endParaRPr lang="zh-CN" altLang="en-US"/>
          </a:p>
        </p:txBody>
      </p:sp>
    </p:spTree>
    <p:extLst>
      <p:ext uri="{BB962C8B-B14F-4D97-AF65-F5344CB8AC3E}">
        <p14:creationId xmlns:p14="http://schemas.microsoft.com/office/powerpoint/2010/main" val="2596259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F54C-98A8-0DB6-DF36-7F68B5F109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530458-3B3F-877A-4DD0-6CE077C7D9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E2B56B-978F-71E3-0A09-7ADA8F8667C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CC297EA-6096-9A79-4AA0-6018B76C613B}"/>
              </a:ext>
            </a:extLst>
          </p:cNvPr>
          <p:cNvSpPr>
            <a:spLocks noGrp="1"/>
          </p:cNvSpPr>
          <p:nvPr>
            <p:ph type="sldNum" sz="quarter" idx="5"/>
          </p:nvPr>
        </p:nvSpPr>
        <p:spPr/>
        <p:txBody>
          <a:bodyPr/>
          <a:lstStyle/>
          <a:p>
            <a:fld id="{F3476F67-9F13-4B23-B1D4-ABD268E7D94E}" type="slidenum">
              <a:rPr lang="en-US" altLang="zh-CN" smtClean="0"/>
              <a:t>136</a:t>
            </a:fld>
            <a:endParaRPr lang="zh-CN" altLang="en-US"/>
          </a:p>
        </p:txBody>
      </p:sp>
    </p:spTree>
    <p:extLst>
      <p:ext uri="{BB962C8B-B14F-4D97-AF65-F5344CB8AC3E}">
        <p14:creationId xmlns:p14="http://schemas.microsoft.com/office/powerpoint/2010/main" val="4952350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A26C-8E9D-0B68-A49E-EE0431AAF7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42DE1D-3051-54DD-7D1E-76F58E23EF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5149A4-AD68-61A0-2436-C9C88D4C58E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F2A7EDF-69EE-B400-8F2D-286F53652BAB}"/>
              </a:ext>
            </a:extLst>
          </p:cNvPr>
          <p:cNvSpPr>
            <a:spLocks noGrp="1"/>
          </p:cNvSpPr>
          <p:nvPr>
            <p:ph type="sldNum" sz="quarter" idx="5"/>
          </p:nvPr>
        </p:nvSpPr>
        <p:spPr/>
        <p:txBody>
          <a:bodyPr/>
          <a:lstStyle/>
          <a:p>
            <a:fld id="{F3476F67-9F13-4B23-B1D4-ABD268E7D94E}" type="slidenum">
              <a:rPr lang="en-US" altLang="zh-CN" smtClean="0"/>
              <a:t>144</a:t>
            </a:fld>
            <a:endParaRPr lang="zh-CN" altLang="en-US"/>
          </a:p>
        </p:txBody>
      </p:sp>
    </p:spTree>
    <p:extLst>
      <p:ext uri="{BB962C8B-B14F-4D97-AF65-F5344CB8AC3E}">
        <p14:creationId xmlns:p14="http://schemas.microsoft.com/office/powerpoint/2010/main" val="2910641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5CBB-F989-754F-95CE-726BE3537E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E6B72D-FBE8-B34D-A800-846BDD1BEAC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47801CA-2D46-3EBB-27C5-1487A95B1BBA}"/>
              </a:ext>
            </a:extLst>
          </p:cNvPr>
          <p:cNvSpPr>
            <a:spLocks noGrp="1"/>
          </p:cNvSpPr>
          <p:nvPr>
            <p:ph type="body" idx="1"/>
          </p:nvPr>
        </p:nvSpPr>
        <p:spPr/>
        <p:txBody>
          <a:bodyPr/>
          <a:lstStyle/>
          <a:p>
            <a:pPr marL="0" indent="0">
              <a:buNone/>
            </a:pPr>
            <a:r>
              <a:rPr lang="zh-CN" altLang="en-US"/>
              <a:t>外部流程拿到框外面。</a:t>
            </a:r>
            <a:endParaRPr lang="en-US" altLang="zh-CN"/>
          </a:p>
          <a:p>
            <a:pPr marL="0" indent="0">
              <a:buNone/>
            </a:pPr>
            <a:r>
              <a:rPr lang="en-US" altLang="zh-CN"/>
              <a:t>Master Contract</a:t>
            </a:r>
            <a:r>
              <a:rPr lang="zh-CN" altLang="en-US"/>
              <a:t>的价格管理。交叉验证。</a:t>
            </a:r>
            <a:endParaRPr lang="en-US" altLang="zh-CN"/>
          </a:p>
          <a:p>
            <a:pPr marL="0" indent="0">
              <a:buNone/>
            </a:pPr>
            <a:endParaRPr lang="en-US" altLang="zh-CN"/>
          </a:p>
        </p:txBody>
      </p:sp>
      <p:sp>
        <p:nvSpPr>
          <p:cNvPr id="4" name="灯片编号占位符 3">
            <a:extLst>
              <a:ext uri="{FF2B5EF4-FFF2-40B4-BE49-F238E27FC236}">
                <a16:creationId xmlns:a16="http://schemas.microsoft.com/office/drawing/2014/main" id="{4D36F681-B180-C636-BED7-FA0DF645AA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3BD2C2-4A44-42D1-9F4B-E18FC11F0F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itchFamily="34" charset="0"/>
            </a:endParaRPr>
          </a:p>
        </p:txBody>
      </p:sp>
    </p:spTree>
    <p:extLst>
      <p:ext uri="{BB962C8B-B14F-4D97-AF65-F5344CB8AC3E}">
        <p14:creationId xmlns:p14="http://schemas.microsoft.com/office/powerpoint/2010/main" val="1013172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94F64-398C-CA19-252E-C41087CCF4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15E1A0-3537-D6C9-D487-4BACE2B137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772BA5-51D2-7812-D2BC-B22957AD20F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02831AB-613D-E135-E32A-EE4DDCDC4B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301143-C1B6-4937-A606-3B9718B3D29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6854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Tree>
    <p:extLst>
      <p:ext uri="{BB962C8B-B14F-4D97-AF65-F5344CB8AC3E}">
        <p14:creationId xmlns:p14="http://schemas.microsoft.com/office/powerpoint/2010/main" val="69224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A78C7-08BB-AFB6-9CBF-345915884E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1C8B4C-FB5E-3F99-EDB0-618A8C3DC5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45B031-EA1B-4931-2A3B-07D03A4C153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EDAAC14-ABC5-3585-0E1B-8A1FA78E704A}"/>
              </a:ext>
            </a:extLst>
          </p:cNvPr>
          <p:cNvSpPr>
            <a:spLocks noGrp="1"/>
          </p:cNvSpPr>
          <p:nvPr>
            <p:ph type="sldNum" sz="quarter" idx="5"/>
          </p:nvPr>
        </p:nvSpPr>
        <p:spPr/>
        <p:txBody>
          <a:bodyPr/>
          <a:lstStyle/>
          <a:p>
            <a:fld id="{F3476F67-9F13-4B23-B1D4-ABD268E7D94E}" type="slidenum">
              <a:rPr lang="en-US" altLang="zh-CN" smtClean="0"/>
              <a:t>156</a:t>
            </a:fld>
            <a:endParaRPr lang="zh-CN" altLang="en-US"/>
          </a:p>
        </p:txBody>
      </p:sp>
    </p:spTree>
    <p:extLst>
      <p:ext uri="{BB962C8B-B14F-4D97-AF65-F5344CB8AC3E}">
        <p14:creationId xmlns:p14="http://schemas.microsoft.com/office/powerpoint/2010/main" val="1582893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92B6-F747-0762-D709-5B51111B7B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A6EEF1-E566-CED6-A777-CC89F84D7F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62F0FA-A232-73E4-049B-A147D44401F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98A03B6-31A4-03FA-BF83-63BBDB3B7A7A}"/>
              </a:ext>
            </a:extLst>
          </p:cNvPr>
          <p:cNvSpPr>
            <a:spLocks noGrp="1"/>
          </p:cNvSpPr>
          <p:nvPr>
            <p:ph type="sldNum" sz="quarter" idx="5"/>
          </p:nvPr>
        </p:nvSpPr>
        <p:spPr/>
        <p:txBody>
          <a:bodyPr/>
          <a:lstStyle/>
          <a:p>
            <a:fld id="{F3476F67-9F13-4B23-B1D4-ABD268E7D94E}" type="slidenum">
              <a:rPr lang="en-US" altLang="zh-CN" smtClean="0"/>
              <a:t>160</a:t>
            </a:fld>
            <a:endParaRPr lang="zh-CN" altLang="en-US"/>
          </a:p>
        </p:txBody>
      </p:sp>
    </p:spTree>
    <p:extLst>
      <p:ext uri="{BB962C8B-B14F-4D97-AF65-F5344CB8AC3E}">
        <p14:creationId xmlns:p14="http://schemas.microsoft.com/office/powerpoint/2010/main" val="1806779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20E41-B784-E950-E507-7907F6A51E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D78A8B-3BBB-C8BA-027E-F8099C551D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D56056-CEC9-C7CC-2887-6EC1E7D6579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142135-0292-C039-79B8-197D87051D28}"/>
              </a:ext>
            </a:extLst>
          </p:cNvPr>
          <p:cNvSpPr>
            <a:spLocks noGrp="1"/>
          </p:cNvSpPr>
          <p:nvPr>
            <p:ph type="sldNum" sz="quarter" idx="5"/>
          </p:nvPr>
        </p:nvSpPr>
        <p:spPr/>
        <p:txBody>
          <a:bodyPr/>
          <a:lstStyle/>
          <a:p>
            <a:fld id="{F3476F67-9F13-4B23-B1D4-ABD268E7D94E}" type="slidenum">
              <a:rPr lang="en-US" altLang="zh-CN" smtClean="0"/>
              <a:t>166</a:t>
            </a:fld>
            <a:endParaRPr lang="zh-CN" altLang="en-US"/>
          </a:p>
        </p:txBody>
      </p:sp>
    </p:spTree>
    <p:extLst>
      <p:ext uri="{BB962C8B-B14F-4D97-AF65-F5344CB8AC3E}">
        <p14:creationId xmlns:p14="http://schemas.microsoft.com/office/powerpoint/2010/main" val="3615184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476F67-9F13-4B23-B1D4-ABD268E7D94E}" type="slidenum">
              <a:rPr lang="en-US" altLang="zh-CN" smtClean="0"/>
              <a:t>183</a:t>
            </a:fld>
            <a:endParaRPr lang="zh-CN" altLang="en-US"/>
          </a:p>
        </p:txBody>
      </p:sp>
    </p:spTree>
    <p:extLst>
      <p:ext uri="{BB962C8B-B14F-4D97-AF65-F5344CB8AC3E}">
        <p14:creationId xmlns:p14="http://schemas.microsoft.com/office/powerpoint/2010/main" val="29606063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EFA51-B115-87FE-3A80-8C008BD7B3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42C64C-AFF9-EEDA-B5AB-CB6A2F96E1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15CEE7-EB58-146B-375C-CBEAD8911BC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CE71F2A-24FE-2238-2FA8-9C0AB91B6FB1}"/>
              </a:ext>
            </a:extLst>
          </p:cNvPr>
          <p:cNvSpPr>
            <a:spLocks noGrp="1"/>
          </p:cNvSpPr>
          <p:nvPr>
            <p:ph type="sldNum" sz="quarter" idx="5"/>
          </p:nvPr>
        </p:nvSpPr>
        <p:spPr/>
        <p:txBody>
          <a:bodyPr/>
          <a:lstStyle/>
          <a:p>
            <a:fld id="{F3476F67-9F13-4B23-B1D4-ABD268E7D94E}" type="slidenum">
              <a:rPr lang="en-US" altLang="zh-CN" smtClean="0"/>
              <a:t>192</a:t>
            </a:fld>
            <a:endParaRPr lang="zh-CN" altLang="en-US"/>
          </a:p>
        </p:txBody>
      </p:sp>
    </p:spTree>
    <p:extLst>
      <p:ext uri="{BB962C8B-B14F-4D97-AF65-F5344CB8AC3E}">
        <p14:creationId xmlns:p14="http://schemas.microsoft.com/office/powerpoint/2010/main" val="3655783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8.emf"/><Relationship Id="rId4" Type="http://schemas.openxmlformats.org/officeDocument/2006/relationships/oleObject" Target="../embeddings/oleObject3.bin"/></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8.xml"/><Relationship Id="rId7" Type="http://schemas.openxmlformats.org/officeDocument/2006/relationships/tags" Target="../tags/tag1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image" Target="../media/image9.emf"/><Relationship Id="rId4" Type="http://schemas.openxmlformats.org/officeDocument/2006/relationships/tags" Target="../tags/tag9.xml"/><Relationship Id="rId9" Type="http://schemas.openxmlformats.org/officeDocument/2006/relationships/oleObject" Target="../embeddings/oleObject4.bin"/></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15.jpe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15.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Master" Target="../slideMasters/slideMaster4.xml"/><Relationship Id="rId1" Type="http://schemas.openxmlformats.org/officeDocument/2006/relationships/tags" Target="../tags/tag17.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529" y="1527660"/>
            <a:ext cx="9914678"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tx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612" y="5046115"/>
            <a:ext cx="9914678"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tx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52631" y="2542790"/>
            <a:ext cx="3058160" cy="1020580"/>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529" y="762000"/>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1" name="TextBox 1">
            <a:extLst>
              <a:ext uri="{FF2B5EF4-FFF2-40B4-BE49-F238E27FC236}">
                <a16:creationId xmlns:a16="http://schemas.microsoft.com/office/drawing/2014/main" id="{1CA38356-4005-2DB2-4575-4091C0B9C0FA}"/>
              </a:ext>
            </a:extLst>
          </p:cNvPr>
          <p:cNvSpPr txBox="1"/>
          <p:nvPr userDrawn="1"/>
        </p:nvSpPr>
        <p:spPr>
          <a:xfrm>
            <a:off x="1602706" y="6401580"/>
            <a:ext cx="4115872" cy="153888"/>
          </a:xfrm>
          <a:prstGeom prst="rect">
            <a:avLst/>
          </a:prstGeom>
          <a:noFill/>
        </p:spPr>
        <p:txBody>
          <a:bodyPr wrap="square" lIns="0" tIns="0" rIns="0" bIns="0" rtlCol="0">
            <a:spAutoFit/>
          </a:bodyPr>
          <a:lstStyle/>
          <a:p>
            <a:r>
              <a:rPr lang="en-US" sz="1000">
                <a:solidFill>
                  <a:sysClr val="windowText" lastClr="000000"/>
                </a:solidFill>
                <a:latin typeface="Arial" pitchFamily="34" charset="0"/>
                <a:cs typeface="Arial" pitchFamily="34" charset="0"/>
              </a:rPr>
              <a:t>2025 Lenovo Internal. All rights reserved.</a:t>
            </a:r>
          </a:p>
        </p:txBody>
      </p:sp>
      <p:grpSp>
        <p:nvGrpSpPr>
          <p:cNvPr id="12" name="Group 2">
            <a:extLst>
              <a:ext uri="{FF2B5EF4-FFF2-40B4-BE49-F238E27FC236}">
                <a16:creationId xmlns:a16="http://schemas.microsoft.com/office/drawing/2014/main" id="{6B7A8A77-68F3-D6CC-235B-7642F8D1C4FE}"/>
              </a:ext>
            </a:extLst>
          </p:cNvPr>
          <p:cNvGrpSpPr>
            <a:grpSpLocks noChangeAspect="1"/>
          </p:cNvGrpSpPr>
          <p:nvPr userDrawn="1"/>
        </p:nvGrpSpPr>
        <p:grpSpPr>
          <a:xfrm>
            <a:off x="760611" y="6348283"/>
            <a:ext cx="777442" cy="259316"/>
            <a:chOff x="547688" y="952500"/>
            <a:chExt cx="12190413" cy="4067175"/>
          </a:xfrm>
        </p:grpSpPr>
        <p:sp>
          <p:nvSpPr>
            <p:cNvPr id="13" name="Rectangle 4">
              <a:extLst>
                <a:ext uri="{FF2B5EF4-FFF2-40B4-BE49-F238E27FC236}">
                  <a16:creationId xmlns:a16="http://schemas.microsoft.com/office/drawing/2014/main" id="{9A4B7CF9-5749-BD48-75B6-F49246B07902}"/>
                </a:ext>
              </a:extLst>
            </p:cNvPr>
            <p:cNvSpPr>
              <a:spLocks noChangeArrowheads="1"/>
            </p:cNvSpPr>
            <p:nvPr/>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 name="Freeform 7">
              <a:extLst>
                <a:ext uri="{FF2B5EF4-FFF2-40B4-BE49-F238E27FC236}">
                  <a16:creationId xmlns:a16="http://schemas.microsoft.com/office/drawing/2014/main" id="{71D501C2-F2B2-9B17-B205-8C528FC833BC}"/>
                </a:ext>
              </a:extLst>
            </p:cNvPr>
            <p:cNvSpPr>
              <a:spLocks/>
            </p:cNvSpPr>
            <p:nvPr/>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Freeform 8">
              <a:extLst>
                <a:ext uri="{FF2B5EF4-FFF2-40B4-BE49-F238E27FC236}">
                  <a16:creationId xmlns:a16="http://schemas.microsoft.com/office/drawing/2014/main" id="{1AB39ECD-4745-977C-4C27-04A15AEAA6D0}"/>
                </a:ext>
              </a:extLst>
            </p:cNvPr>
            <p:cNvSpPr>
              <a:spLocks/>
            </p:cNvSpPr>
            <p:nvPr/>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 name="Freeform 9">
              <a:extLst>
                <a:ext uri="{FF2B5EF4-FFF2-40B4-BE49-F238E27FC236}">
                  <a16:creationId xmlns:a16="http://schemas.microsoft.com/office/drawing/2014/main" id="{A1A789D0-DD45-90D1-140B-5A0200397BC0}"/>
                </a:ext>
              </a:extLst>
            </p:cNvPr>
            <p:cNvSpPr>
              <a:spLocks noEditPoints="1"/>
            </p:cNvSpPr>
            <p:nvPr/>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 name="Freeform 10">
              <a:extLst>
                <a:ext uri="{FF2B5EF4-FFF2-40B4-BE49-F238E27FC236}">
                  <a16:creationId xmlns:a16="http://schemas.microsoft.com/office/drawing/2014/main" id="{FF4B0D0A-AA3A-8DF4-54AB-F1B3AE8BAFD5}"/>
                </a:ext>
              </a:extLst>
            </p:cNvPr>
            <p:cNvSpPr>
              <a:spLocks/>
            </p:cNvSpPr>
            <p:nvPr/>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 name="Freeform 10">
              <a:extLst>
                <a:ext uri="{FF2B5EF4-FFF2-40B4-BE49-F238E27FC236}">
                  <a16:creationId xmlns:a16="http://schemas.microsoft.com/office/drawing/2014/main" id="{5E261005-72A3-6CDC-A5F9-FAD883850539}"/>
                </a:ext>
              </a:extLst>
            </p:cNvPr>
            <p:cNvSpPr>
              <a:spLocks noEditPoints="1"/>
            </p:cNvSpPr>
            <p:nvPr/>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 name="Freeform 11">
              <a:extLst>
                <a:ext uri="{FF2B5EF4-FFF2-40B4-BE49-F238E27FC236}">
                  <a16:creationId xmlns:a16="http://schemas.microsoft.com/office/drawing/2014/main" id="{326AF290-F8EC-FAB8-ACC9-AC1F0D4947CF}"/>
                </a:ext>
              </a:extLst>
            </p:cNvPr>
            <p:cNvSpPr>
              <a:spLocks noEditPoints="1"/>
            </p:cNvSpPr>
            <p:nvPr/>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65244708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rgbClr val="1E0113"/>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529" y="1527660"/>
            <a:ext cx="9914678"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bg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612" y="5046115"/>
            <a:ext cx="9914678"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bg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sp>
        <p:nvSpPr>
          <p:cNvPr id="49" name="TextBox 48"/>
          <p:cNvSpPr txBox="1"/>
          <p:nvPr userDrawn="1"/>
        </p:nvSpPr>
        <p:spPr>
          <a:xfrm>
            <a:off x="750529" y="6401580"/>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2025 Lenovo Internal. All rights reserved.</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52631" y="2542790"/>
            <a:ext cx="3058160" cy="1020580"/>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529" y="762000"/>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99450957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_White">
    <p:bg>
      <p:bgPr>
        <a:solidFill>
          <a:schemeClr val="bg1"/>
        </a:solidFill>
        <a:effectLst/>
      </p:bgPr>
    </p:bg>
    <p:spTree>
      <p:nvGrpSpPr>
        <p:cNvPr id="1" name=""/>
        <p:cNvGrpSpPr/>
        <p:nvPr/>
      </p:nvGrpSpPr>
      <p:grpSpPr>
        <a:xfrm>
          <a:off x="0" y="0"/>
          <a:ext cx="0" cy="0"/>
          <a:chOff x="0" y="0"/>
          <a:chExt cx="0" cy="0"/>
        </a:xfrm>
      </p:grpSpPr>
      <p:sp>
        <p:nvSpPr>
          <p:cNvPr id="46" name="Title 16"/>
          <p:cNvSpPr>
            <a:spLocks noGrp="1"/>
          </p:cNvSpPr>
          <p:nvPr>
            <p:ph type="title" hasCustomPrompt="1"/>
          </p:nvPr>
        </p:nvSpPr>
        <p:spPr bwMode="gray">
          <a:xfrm>
            <a:off x="750528" y="1549492"/>
            <a:ext cx="9914678"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tx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528" y="4328650"/>
            <a:ext cx="9914678"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tx1"/>
                </a:solidFill>
              </a:defRPr>
            </a:lvl1pPr>
          </a:lstStyle>
          <a:p>
            <a:fld id="{6D22F896-40B5-4ADD-8801-0D06FADFA095}" type="slidenum">
              <a:rPr lang="en-US" smtClean="0"/>
              <a:pPr/>
              <a:t>‹#›</a:t>
            </a:fld>
            <a:endParaRPr lang="en-US"/>
          </a:p>
        </p:txBody>
      </p:sp>
      <p:sp>
        <p:nvSpPr>
          <p:cNvPr id="2" name="TextBox 1">
            <a:extLst>
              <a:ext uri="{FF2B5EF4-FFF2-40B4-BE49-F238E27FC236}">
                <a16:creationId xmlns:a16="http://schemas.microsoft.com/office/drawing/2014/main" id="{3E1CB3FA-A40E-89BA-D9B4-612659A1D7F8}"/>
              </a:ext>
            </a:extLst>
          </p:cNvPr>
          <p:cNvSpPr txBox="1"/>
          <p:nvPr userDrawn="1"/>
        </p:nvSpPr>
        <p:spPr>
          <a:xfrm>
            <a:off x="1602706" y="6401580"/>
            <a:ext cx="4115872" cy="153888"/>
          </a:xfrm>
          <a:prstGeom prst="rect">
            <a:avLst/>
          </a:prstGeom>
          <a:noFill/>
        </p:spPr>
        <p:txBody>
          <a:bodyPr wrap="square" lIns="0" tIns="0" rIns="0" bIns="0" rtlCol="0">
            <a:spAutoFit/>
          </a:bodyPr>
          <a:lstStyle/>
          <a:p>
            <a:r>
              <a:rPr lang="en-US" sz="1000">
                <a:latin typeface="Arial" pitchFamily="34" charset="0"/>
                <a:cs typeface="Arial" pitchFamily="34" charset="0"/>
              </a:rPr>
              <a:t>2025 Lenovo Internal. All rights reserved.</a:t>
            </a:r>
          </a:p>
        </p:txBody>
      </p:sp>
      <p:grpSp>
        <p:nvGrpSpPr>
          <p:cNvPr id="3" name="Group 2">
            <a:extLst>
              <a:ext uri="{FF2B5EF4-FFF2-40B4-BE49-F238E27FC236}">
                <a16:creationId xmlns:a16="http://schemas.microsoft.com/office/drawing/2014/main" id="{FB68E53D-8D38-4B99-06F1-FB4045C1E803}"/>
              </a:ext>
            </a:extLst>
          </p:cNvPr>
          <p:cNvGrpSpPr>
            <a:grpSpLocks noChangeAspect="1"/>
          </p:cNvGrpSpPr>
          <p:nvPr userDrawn="1"/>
        </p:nvGrpSpPr>
        <p:grpSpPr>
          <a:xfrm>
            <a:off x="760611" y="6348283"/>
            <a:ext cx="777442" cy="259316"/>
            <a:chOff x="547688" y="952500"/>
            <a:chExt cx="12190413" cy="4067175"/>
          </a:xfrm>
        </p:grpSpPr>
        <p:sp>
          <p:nvSpPr>
            <p:cNvPr id="4" name="Rectangle 3">
              <a:extLst>
                <a:ext uri="{FF2B5EF4-FFF2-40B4-BE49-F238E27FC236}">
                  <a16:creationId xmlns:a16="http://schemas.microsoft.com/office/drawing/2014/main" id="{7B980263-2916-F21B-C57E-4D2C5D0C6879}"/>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 name="Freeform 7">
              <a:extLst>
                <a:ext uri="{FF2B5EF4-FFF2-40B4-BE49-F238E27FC236}">
                  <a16:creationId xmlns:a16="http://schemas.microsoft.com/office/drawing/2014/main" id="{9963EF3A-E5EB-BF83-AE65-6242B1661D0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 name="Freeform 8">
              <a:extLst>
                <a:ext uri="{FF2B5EF4-FFF2-40B4-BE49-F238E27FC236}">
                  <a16:creationId xmlns:a16="http://schemas.microsoft.com/office/drawing/2014/main" id="{8E894888-D539-48CF-7E80-4B30A55764E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 name="Freeform 9">
              <a:extLst>
                <a:ext uri="{FF2B5EF4-FFF2-40B4-BE49-F238E27FC236}">
                  <a16:creationId xmlns:a16="http://schemas.microsoft.com/office/drawing/2014/main" id="{A681269A-84EF-7A74-26C2-AA9D63BF38D7}"/>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 name="Freeform 10">
              <a:extLst>
                <a:ext uri="{FF2B5EF4-FFF2-40B4-BE49-F238E27FC236}">
                  <a16:creationId xmlns:a16="http://schemas.microsoft.com/office/drawing/2014/main" id="{A46570AB-4E06-E508-810C-A8843C51D4F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Freeform 10">
              <a:extLst>
                <a:ext uri="{FF2B5EF4-FFF2-40B4-BE49-F238E27FC236}">
                  <a16:creationId xmlns:a16="http://schemas.microsoft.com/office/drawing/2014/main" id="{E4BCE35C-5FE5-30D2-825F-5F6BD7E2E562}"/>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 name="Freeform 11">
              <a:extLst>
                <a:ext uri="{FF2B5EF4-FFF2-40B4-BE49-F238E27FC236}">
                  <a16:creationId xmlns:a16="http://schemas.microsoft.com/office/drawing/2014/main" id="{84957B54-C991-1A8F-6F65-A7A27118B92B}"/>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32762182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rgbClr val="1E0113"/>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89C3EB64-A851-71DD-8882-1FDB7C2E99CB}"/>
              </a:ext>
            </a:extLst>
          </p:cNvPr>
          <p:cNvSpPr txBox="1"/>
          <p:nvPr userDrawn="1"/>
        </p:nvSpPr>
        <p:spPr>
          <a:xfrm>
            <a:off x="1602806" y="6401580"/>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2025 Lenovo Internal. All rights reserved.</a:t>
            </a:r>
          </a:p>
        </p:txBody>
      </p:sp>
      <p:grpSp>
        <p:nvGrpSpPr>
          <p:cNvPr id="17" name="Group 16">
            <a:extLst>
              <a:ext uri="{FF2B5EF4-FFF2-40B4-BE49-F238E27FC236}">
                <a16:creationId xmlns:a16="http://schemas.microsoft.com/office/drawing/2014/main" id="{76E4C2BE-620B-6B7D-1426-F9CB0B9DB688}"/>
              </a:ext>
            </a:extLst>
          </p:cNvPr>
          <p:cNvGrpSpPr>
            <a:grpSpLocks noChangeAspect="1"/>
          </p:cNvGrpSpPr>
          <p:nvPr userDrawn="1"/>
        </p:nvGrpSpPr>
        <p:grpSpPr>
          <a:xfrm>
            <a:off x="760611" y="6348283"/>
            <a:ext cx="777442" cy="259316"/>
            <a:chOff x="547688" y="952500"/>
            <a:chExt cx="12190413" cy="4067175"/>
          </a:xfrm>
        </p:grpSpPr>
        <p:sp>
          <p:nvSpPr>
            <p:cNvPr id="18" name="Rectangle 17">
              <a:extLst>
                <a:ext uri="{FF2B5EF4-FFF2-40B4-BE49-F238E27FC236}">
                  <a16:creationId xmlns:a16="http://schemas.microsoft.com/office/drawing/2014/main" id="{7C002FA1-87AB-10E7-DF14-BCD2904245D0}"/>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Freeform 7">
              <a:extLst>
                <a:ext uri="{FF2B5EF4-FFF2-40B4-BE49-F238E27FC236}">
                  <a16:creationId xmlns:a16="http://schemas.microsoft.com/office/drawing/2014/main" id="{AFC16D85-BEED-1820-DFF9-5D8B0AACAC2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8">
              <a:extLst>
                <a:ext uri="{FF2B5EF4-FFF2-40B4-BE49-F238E27FC236}">
                  <a16:creationId xmlns:a16="http://schemas.microsoft.com/office/drawing/2014/main" id="{1F2566FE-64C0-16F6-945D-2961668799EB}"/>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9">
              <a:extLst>
                <a:ext uri="{FF2B5EF4-FFF2-40B4-BE49-F238E27FC236}">
                  <a16:creationId xmlns:a16="http://schemas.microsoft.com/office/drawing/2014/main" id="{D3B60C47-FE53-B519-B5B0-91907EAADB5E}"/>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 name="Freeform 10">
              <a:extLst>
                <a:ext uri="{FF2B5EF4-FFF2-40B4-BE49-F238E27FC236}">
                  <a16:creationId xmlns:a16="http://schemas.microsoft.com/office/drawing/2014/main" id="{51BD7309-4598-0B4D-F955-25A4778655B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 name="Freeform 10">
              <a:extLst>
                <a:ext uri="{FF2B5EF4-FFF2-40B4-BE49-F238E27FC236}">
                  <a16:creationId xmlns:a16="http://schemas.microsoft.com/office/drawing/2014/main" id="{3AB317A1-606F-084E-CD32-A64A53D259C5}"/>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Freeform 11">
              <a:extLst>
                <a:ext uri="{FF2B5EF4-FFF2-40B4-BE49-F238E27FC236}">
                  <a16:creationId xmlns:a16="http://schemas.microsoft.com/office/drawing/2014/main" id="{3ECEF077-D5E5-A906-C26A-748935BA5E8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46" name="Title 16"/>
          <p:cNvSpPr>
            <a:spLocks noGrp="1"/>
          </p:cNvSpPr>
          <p:nvPr>
            <p:ph type="title" hasCustomPrompt="1"/>
          </p:nvPr>
        </p:nvSpPr>
        <p:spPr bwMode="gray">
          <a:xfrm>
            <a:off x="750529" y="1549492"/>
            <a:ext cx="9923824"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bg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529" y="4328650"/>
            <a:ext cx="9923824"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726457612"/>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99A0C0A2-1C95-CF60-15E7-57B445A8992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55801120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rgbClr val="1E0113"/>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A245D89D-54AB-A7D6-4141-95E6B3C3695D}"/>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49105406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55B6443-4299-282C-565B-68E5F9702780}"/>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92074879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rgbClr val="1E0113"/>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0" y="442528"/>
            <a:ext cx="1067382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BC296FD5-38BC-1E97-5513-17F333DF59B9}"/>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94830590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0" y="442528"/>
            <a:ext cx="1067382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611" y="1308880"/>
            <a:ext cx="10673828"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BC5559F-D4D6-DA53-A720-07C2A2D68FA6}"/>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919051177"/>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rgbClr val="1E01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612" y="1308880"/>
            <a:ext cx="10670778"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2B190EFC-69A6-D92C-008E-75B891AE7709}"/>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18982504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760610" y="1749388"/>
            <a:ext cx="1067382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827BD319-CE6A-C56C-FAF4-F7D3C4B20C07}"/>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7743355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rgbClr val="1E0113"/>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760610" y="1749389"/>
            <a:ext cx="1067382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hasCustomPrompt="1"/>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2F390D5-FAC3-3E07-D977-2FACDFA7E866}"/>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22398469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0" y="1307593"/>
            <a:ext cx="5070324"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340962" y="1307593"/>
            <a:ext cx="5067096"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2FE5186-E704-46DB-A234-0339427F829C}"/>
              </a:ext>
            </a:extLst>
          </p:cNvPr>
          <p:cNvSpPr>
            <a:spLocks noGrp="1"/>
          </p:cNvSpPr>
          <p:nvPr>
            <p:ph type="sldNum" sz="quarter" idx="15"/>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417709967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rgbClr val="1E0113"/>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0" y="1307594"/>
            <a:ext cx="5070324"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340962" y="1307594"/>
            <a:ext cx="506709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A1D52F52-4191-E70A-A15D-3F4D0CF0AA2B}"/>
              </a:ext>
            </a:extLst>
          </p:cNvPr>
          <p:cNvSpPr>
            <a:spLocks noGrp="1"/>
          </p:cNvSpPr>
          <p:nvPr>
            <p:ph type="sldNum" sz="quarter" idx="15"/>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29701122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4"/>
            <a:ext cx="3343142"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sz="half" idx="10"/>
          </p:nvPr>
        </p:nvSpPr>
        <p:spPr bwMode="gray">
          <a:xfrm>
            <a:off x="4378398" y="1307594"/>
            <a:ext cx="3344059"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017903" y="1307594"/>
            <a:ext cx="341653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C61C74C-45BE-3DE8-0DFD-4B97D814FB04}"/>
              </a:ext>
            </a:extLst>
          </p:cNvPr>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995285422"/>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rgbClr val="1E0113"/>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4"/>
            <a:ext cx="3343142"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sz="half" idx="10"/>
          </p:nvPr>
        </p:nvSpPr>
        <p:spPr bwMode="gray">
          <a:xfrm>
            <a:off x="4378399" y="1307594"/>
            <a:ext cx="3343142"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017903" y="1307594"/>
            <a:ext cx="341653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3A92B045-EC23-B30D-E716-8FEBB279E86E}"/>
              </a:ext>
            </a:extLst>
          </p:cNvPr>
          <p:cNvSpPr>
            <a:spLocks noGrp="1"/>
          </p:cNvSpPr>
          <p:nvPr>
            <p:ph type="sldNum" sz="quarter" idx="12"/>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181672980"/>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1" y="442528"/>
            <a:ext cx="5725006"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3"/>
            <a:ext cx="5725006"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58199" y="0"/>
            <a:ext cx="5333800"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C8F3C117-A202-AC1A-30DA-A95049B2670E}"/>
              </a:ext>
            </a:extLst>
          </p:cNvPr>
          <p:cNvSpPr>
            <a:spLocks noGrp="1"/>
          </p:cNvSpPr>
          <p:nvPr>
            <p:ph type="sldNum" sz="quarter" idx="17"/>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07408846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rgbClr val="1E01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1" y="442528"/>
            <a:ext cx="5725006"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3"/>
            <a:ext cx="5725006" cy="4919589"/>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58199" y="0"/>
            <a:ext cx="5333800"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EF7E7426-E0FB-DA60-E1E0-A41FD9009F5D}"/>
              </a:ext>
            </a:extLst>
          </p:cNvPr>
          <p:cNvSpPr>
            <a:spLocks noGrp="1"/>
          </p:cNvSpPr>
          <p:nvPr>
            <p:ph type="sldNum" sz="quarter" idx="17"/>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66161893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1"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Picture Placeholder 8"/>
          <p:cNvSpPr>
            <a:spLocks noGrp="1"/>
          </p:cNvSpPr>
          <p:nvPr>
            <p:ph type="pic" sz="quarter" idx="16"/>
          </p:nvPr>
        </p:nvSpPr>
        <p:spPr>
          <a:xfrm>
            <a:off x="4571604" y="0"/>
            <a:ext cx="7620396"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14" name="Text Placeholder 3"/>
          <p:cNvSpPr>
            <a:spLocks noGrp="1"/>
          </p:cNvSpPr>
          <p:nvPr>
            <p:ph type="body" sz="quarter" idx="18" hasCustomPrompt="1"/>
          </p:nvPr>
        </p:nvSpPr>
        <p:spPr>
          <a:xfrm>
            <a:off x="760610" y="995010"/>
            <a:ext cx="3428016"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2" name="Slide Number Placeholder 1">
            <a:extLst>
              <a:ext uri="{FF2B5EF4-FFF2-40B4-BE49-F238E27FC236}">
                <a16:creationId xmlns:a16="http://schemas.microsoft.com/office/drawing/2014/main" id="{DA2637C5-16EA-761D-E2F8-7F6B3E3B6F6C}"/>
              </a:ext>
            </a:extLst>
          </p:cNvPr>
          <p:cNvSpPr>
            <a:spLocks noGrp="1"/>
          </p:cNvSpPr>
          <p:nvPr>
            <p:ph type="sldNum" sz="quarter" idx="20"/>
          </p:nvPr>
        </p:nvSpPr>
        <p:spPr/>
        <p:txBody>
          <a:bodyPr/>
          <a:lstStyle/>
          <a:p>
            <a:fld id="{6D22F896-40B5-4ADD-8801-0D06FADFA095}" type="slidenum">
              <a:rPr lang="en-US" smtClean="0"/>
              <a:pPr/>
              <a:t>‹#›</a:t>
            </a:fld>
            <a:endParaRPr lang="en-US"/>
          </a:p>
        </p:txBody>
      </p:sp>
      <p:sp>
        <p:nvSpPr>
          <p:cNvPr id="12" name="Content Placeholder 2">
            <a:extLst>
              <a:ext uri="{FF2B5EF4-FFF2-40B4-BE49-F238E27FC236}">
                <a16:creationId xmlns:a16="http://schemas.microsoft.com/office/drawing/2014/main" id="{3939283D-21AA-FD28-A517-FFF4AF9FDA82}"/>
              </a:ext>
            </a:extLst>
          </p:cNvPr>
          <p:cNvSpPr>
            <a:spLocks noGrp="1"/>
          </p:cNvSpPr>
          <p:nvPr>
            <p:ph sz="half" idx="1"/>
          </p:nvPr>
        </p:nvSpPr>
        <p:spPr bwMode="gray">
          <a:xfrm>
            <a:off x="760610" y="2815936"/>
            <a:ext cx="3428016"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566069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rgbClr val="1E0113"/>
        </a:solidFill>
        <a:effectLst/>
      </p:bgPr>
    </p:bg>
    <p:spTree>
      <p:nvGrpSpPr>
        <p:cNvPr id="1" name=""/>
        <p:cNvGrpSpPr/>
        <p:nvPr/>
      </p:nvGrpSpPr>
      <p:grpSpPr>
        <a:xfrm>
          <a:off x="0" y="0"/>
          <a:ext cx="0" cy="0"/>
          <a:chOff x="0" y="0"/>
          <a:chExt cx="0" cy="0"/>
        </a:xfrm>
      </p:grpSpPr>
      <p:sp>
        <p:nvSpPr>
          <p:cNvPr id="3" name="Rectangle 2"/>
          <p:cNvSpPr/>
          <p:nvPr userDrawn="1"/>
        </p:nvSpPr>
        <p:spPr>
          <a:xfrm>
            <a:off x="1"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Picture Placeholder 8"/>
          <p:cNvSpPr>
            <a:spLocks noGrp="1"/>
          </p:cNvSpPr>
          <p:nvPr>
            <p:ph type="pic" sz="quarter" idx="16"/>
          </p:nvPr>
        </p:nvSpPr>
        <p:spPr>
          <a:xfrm>
            <a:off x="4571604" y="0"/>
            <a:ext cx="7620396"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EC182470-3621-1323-235D-7DBA176E68EC}"/>
              </a:ext>
            </a:extLst>
          </p:cNvPr>
          <p:cNvSpPr>
            <a:spLocks noGrp="1"/>
          </p:cNvSpPr>
          <p:nvPr>
            <p:ph type="sldNum" sz="quarter" idx="2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29" name="Text Placeholder 3">
            <a:extLst>
              <a:ext uri="{FF2B5EF4-FFF2-40B4-BE49-F238E27FC236}">
                <a16:creationId xmlns:a16="http://schemas.microsoft.com/office/drawing/2014/main" id="{C11FB6FD-7B80-D920-2B92-D358B184462D}"/>
              </a:ext>
            </a:extLst>
          </p:cNvPr>
          <p:cNvSpPr>
            <a:spLocks noGrp="1"/>
          </p:cNvSpPr>
          <p:nvPr>
            <p:ph type="body" sz="quarter" idx="18" hasCustomPrompt="1"/>
          </p:nvPr>
        </p:nvSpPr>
        <p:spPr>
          <a:xfrm>
            <a:off x="760610" y="995010"/>
            <a:ext cx="3428016"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bg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30" name="Content Placeholder 2">
            <a:extLst>
              <a:ext uri="{FF2B5EF4-FFF2-40B4-BE49-F238E27FC236}">
                <a16:creationId xmlns:a16="http://schemas.microsoft.com/office/drawing/2014/main" id="{5F150789-C64C-B456-4B9A-24AED7315FBB}"/>
              </a:ext>
            </a:extLst>
          </p:cNvPr>
          <p:cNvSpPr>
            <a:spLocks noGrp="1"/>
          </p:cNvSpPr>
          <p:nvPr>
            <p:ph sz="half" idx="1"/>
          </p:nvPr>
        </p:nvSpPr>
        <p:spPr bwMode="gray">
          <a:xfrm>
            <a:off x="760610" y="2815936"/>
            <a:ext cx="3428016"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6752176"/>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Idea">
    <p:bg>
      <p:bgPr>
        <a:solidFill>
          <a:schemeClr val="accent3">
            <a:lumMod val="25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CB8992-3FC1-1D5A-F5A3-5A7867B1CF80}"/>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7" name="Text Placeholder 6">
            <a:extLst>
              <a:ext uri="{FF2B5EF4-FFF2-40B4-BE49-F238E27FC236}">
                <a16:creationId xmlns:a16="http://schemas.microsoft.com/office/drawing/2014/main" id="{EFEF7F64-EAB6-F941-857A-EB6862B07383}"/>
              </a:ext>
            </a:extLst>
          </p:cNvPr>
          <p:cNvSpPr>
            <a:spLocks noGrp="1"/>
          </p:cNvSpPr>
          <p:nvPr>
            <p:ph type="body" sz="quarter" idx="11" hasCustomPrompt="1"/>
          </p:nvPr>
        </p:nvSpPr>
        <p:spPr>
          <a:xfrm>
            <a:off x="760611" y="1757775"/>
            <a:ext cx="10670779" cy="3342453"/>
          </a:xfrm>
          <a:prstGeom prst="rect">
            <a:avLst/>
          </a:prstGeom>
        </p:spPr>
        <p:txBody>
          <a:bodyPr wrap="square" lIns="0" rIns="0" anchor="ctr" anchorCtr="0">
            <a:spAutoFit/>
          </a:bodyPr>
          <a:lstStyle>
            <a:lvl1pPr marL="0" indent="0">
              <a:lnSpc>
                <a:spcPct val="80000"/>
              </a:lnSpc>
              <a:spcBef>
                <a:spcPts val="0"/>
              </a:spcBef>
              <a:buNone/>
              <a:defRPr sz="8800" b="1">
                <a:solidFill>
                  <a:schemeClr val="bg1"/>
                </a:solidFill>
              </a:defRPr>
            </a:lvl1pPr>
            <a:lvl2pPr marL="609494" indent="0">
              <a:buNone/>
              <a:defRPr/>
            </a:lvl2pPr>
          </a:lstStyle>
          <a:p>
            <a:pPr lvl="0"/>
            <a:r>
              <a:rPr lang="en-US"/>
              <a:t>Click to edit big idea, statement or subject</a:t>
            </a:r>
          </a:p>
        </p:txBody>
      </p:sp>
    </p:spTree>
    <p:extLst>
      <p:ext uri="{BB962C8B-B14F-4D97-AF65-F5344CB8AC3E}">
        <p14:creationId xmlns:p14="http://schemas.microsoft.com/office/powerpoint/2010/main" val="78179928"/>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095999"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9" name="Content Placeholder 2"/>
          <p:cNvSpPr>
            <a:spLocks noGrp="1"/>
          </p:cNvSpPr>
          <p:nvPr>
            <p:ph sz="half" idx="18"/>
          </p:nvPr>
        </p:nvSpPr>
        <p:spPr bwMode="gray">
          <a:xfrm>
            <a:off x="6858198" y="1307593"/>
            <a:ext cx="4573192"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58198" y="442528"/>
            <a:ext cx="4573192"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0AFBC96C-E04F-90E6-1BBE-C65ECD6E5C14}"/>
              </a:ext>
            </a:extLst>
          </p:cNvPr>
          <p:cNvSpPr>
            <a:spLocks noGrp="1"/>
          </p:cNvSpPr>
          <p:nvPr>
            <p:ph type="sldNum" sz="quarter" idx="19"/>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422962087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rgbClr val="1E0113"/>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095999"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9" name="Content Placeholder 2"/>
          <p:cNvSpPr>
            <a:spLocks noGrp="1"/>
          </p:cNvSpPr>
          <p:nvPr>
            <p:ph sz="half" idx="18"/>
          </p:nvPr>
        </p:nvSpPr>
        <p:spPr bwMode="gray">
          <a:xfrm>
            <a:off x="6858200" y="1307592"/>
            <a:ext cx="4573191" cy="478840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58199" y="442528"/>
            <a:ext cx="4573192"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E5A84DA8-2577-7EF4-6122-06E4DEEB80AF}"/>
              </a:ext>
            </a:extLst>
          </p:cNvPr>
          <p:cNvSpPr>
            <a:spLocks noGrp="1"/>
          </p:cNvSpPr>
          <p:nvPr>
            <p:ph type="sldNum" sz="quarter" idx="19"/>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866569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612" y="1524000"/>
            <a:ext cx="10670779" cy="4572000"/>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BBE9C038-E754-006F-B382-D714EB949571}"/>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740289412"/>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hart Slide_Black">
    <p:bg>
      <p:bgPr>
        <a:solidFill>
          <a:srgbClr val="1E01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612" y="1524000"/>
            <a:ext cx="10670779" cy="4572001"/>
          </a:xfrm>
          <a:prstGeom prst="rect">
            <a:avLst/>
          </a:prstGeom>
        </p:spPr>
        <p:txBody>
          <a:bodyPr lIns="121899" tIns="853291" rIns="121899" bIns="60949" anchor="ctr" anchorCtr="0"/>
          <a:lstStyle>
            <a:lvl1pPr marL="0" indent="0" algn="ctr">
              <a:buFontTx/>
              <a:buNone/>
              <a:defRPr sz="2400" baseline="0">
                <a:solidFill>
                  <a:schemeClr val="bg1"/>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A1222CEF-FCD3-E840-7AE1-E900A5D59CF2}"/>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863723813"/>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E9409-35B8-57EB-2941-154C5CA02C3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681349183"/>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rgbClr val="1E0113"/>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94B782-D6B1-E164-080E-40821B7DAFAF}"/>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21539130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4DB0252-2F51-9D54-5F87-47E8112037C5}"/>
              </a:ext>
            </a:extLst>
          </p:cNvPr>
          <p:cNvGrpSpPr/>
          <p:nvPr userDrawn="1"/>
        </p:nvGrpSpPr>
        <p:grpSpPr>
          <a:xfrm>
            <a:off x="9392771" y="936748"/>
            <a:ext cx="1966475" cy="1042086"/>
            <a:chOff x="4988072" y="501936"/>
            <a:chExt cx="1978802" cy="1051017"/>
          </a:xfrm>
          <a:solidFill>
            <a:srgbClr val="4D144A"/>
          </a:solidFill>
        </p:grpSpPr>
        <p:sp>
          <p:nvSpPr>
            <p:cNvPr id="85" name="Freeform 5">
              <a:extLst>
                <a:ext uri="{FF2B5EF4-FFF2-40B4-BE49-F238E27FC236}">
                  <a16:creationId xmlns:a16="http://schemas.microsoft.com/office/drawing/2014/main" id="{433FD598-576F-FFF0-672B-6A9B1AF51242}"/>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6" name="Freeform 6">
              <a:extLst>
                <a:ext uri="{FF2B5EF4-FFF2-40B4-BE49-F238E27FC236}">
                  <a16:creationId xmlns:a16="http://schemas.microsoft.com/office/drawing/2014/main" id="{824AAD10-C96C-2D4A-15C2-1D354C7C691E}"/>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7" name="Freeform 7">
              <a:extLst>
                <a:ext uri="{FF2B5EF4-FFF2-40B4-BE49-F238E27FC236}">
                  <a16:creationId xmlns:a16="http://schemas.microsoft.com/office/drawing/2014/main" id="{8776387C-7DBE-0FBD-3AED-689433E76864}"/>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8" name="Freeform 8">
              <a:extLst>
                <a:ext uri="{FF2B5EF4-FFF2-40B4-BE49-F238E27FC236}">
                  <a16:creationId xmlns:a16="http://schemas.microsoft.com/office/drawing/2014/main" id="{262E0FEC-2981-11B0-3D88-8A94D08178CF}"/>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9" name="Freeform 9">
              <a:extLst>
                <a:ext uri="{FF2B5EF4-FFF2-40B4-BE49-F238E27FC236}">
                  <a16:creationId xmlns:a16="http://schemas.microsoft.com/office/drawing/2014/main" id="{FECC1288-545E-BDB4-6462-3EE5544D7025}"/>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0" name="Freeform 10">
              <a:extLst>
                <a:ext uri="{FF2B5EF4-FFF2-40B4-BE49-F238E27FC236}">
                  <a16:creationId xmlns:a16="http://schemas.microsoft.com/office/drawing/2014/main" id="{9DB49BE1-F1C8-5A4F-1BE7-B9C5B671A4B9}"/>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1" name="Freeform 11">
              <a:extLst>
                <a:ext uri="{FF2B5EF4-FFF2-40B4-BE49-F238E27FC236}">
                  <a16:creationId xmlns:a16="http://schemas.microsoft.com/office/drawing/2014/main" id="{5700CEE7-82FA-F314-D150-00348A9C1993}"/>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2" name="Freeform 12">
              <a:extLst>
                <a:ext uri="{FF2B5EF4-FFF2-40B4-BE49-F238E27FC236}">
                  <a16:creationId xmlns:a16="http://schemas.microsoft.com/office/drawing/2014/main" id="{FC0AB9F7-3D02-4537-31F6-D98B2250C9F3}"/>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3" name="Freeform 13">
              <a:extLst>
                <a:ext uri="{FF2B5EF4-FFF2-40B4-BE49-F238E27FC236}">
                  <a16:creationId xmlns:a16="http://schemas.microsoft.com/office/drawing/2014/main" id="{12D11DBC-90A7-4337-F6CB-C20DBD872CBD}"/>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4" name="Freeform 14">
              <a:extLst>
                <a:ext uri="{FF2B5EF4-FFF2-40B4-BE49-F238E27FC236}">
                  <a16:creationId xmlns:a16="http://schemas.microsoft.com/office/drawing/2014/main" id="{F524D8E9-37C3-A27E-30E8-DF8ACF25D41F}"/>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5" name="Freeform 15">
              <a:extLst>
                <a:ext uri="{FF2B5EF4-FFF2-40B4-BE49-F238E27FC236}">
                  <a16:creationId xmlns:a16="http://schemas.microsoft.com/office/drawing/2014/main" id="{083673F6-E265-4005-D62C-293234A8CE09}"/>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6" name="Freeform 16">
              <a:extLst>
                <a:ext uri="{FF2B5EF4-FFF2-40B4-BE49-F238E27FC236}">
                  <a16:creationId xmlns:a16="http://schemas.microsoft.com/office/drawing/2014/main" id="{4F04928C-BA06-2085-F636-A4F44FC6E987}"/>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7" name="Freeform 17">
              <a:extLst>
                <a:ext uri="{FF2B5EF4-FFF2-40B4-BE49-F238E27FC236}">
                  <a16:creationId xmlns:a16="http://schemas.microsoft.com/office/drawing/2014/main" id="{0B7609F1-6889-0F3F-1078-1078D3AEDAE7}"/>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8" name="Rectangle 18">
              <a:extLst>
                <a:ext uri="{FF2B5EF4-FFF2-40B4-BE49-F238E27FC236}">
                  <a16:creationId xmlns:a16="http://schemas.microsoft.com/office/drawing/2014/main" id="{14DEDB85-DF79-F93C-595F-4B0E6B36F339}"/>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9" name="Freeform 19">
              <a:extLst>
                <a:ext uri="{FF2B5EF4-FFF2-40B4-BE49-F238E27FC236}">
                  <a16:creationId xmlns:a16="http://schemas.microsoft.com/office/drawing/2014/main" id="{481DD98C-1DDB-14FF-BA62-46FAD00BAA89}"/>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0" name="Freeform 20">
              <a:extLst>
                <a:ext uri="{FF2B5EF4-FFF2-40B4-BE49-F238E27FC236}">
                  <a16:creationId xmlns:a16="http://schemas.microsoft.com/office/drawing/2014/main" id="{BDC10D2B-8240-1306-CC54-B3F0CF2378C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1" name="Freeform 21">
              <a:extLst>
                <a:ext uri="{FF2B5EF4-FFF2-40B4-BE49-F238E27FC236}">
                  <a16:creationId xmlns:a16="http://schemas.microsoft.com/office/drawing/2014/main" id="{A2A74FC7-B210-AC23-8BAD-A8CEF20144F7}"/>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2" name="Freeform 22">
              <a:extLst>
                <a:ext uri="{FF2B5EF4-FFF2-40B4-BE49-F238E27FC236}">
                  <a16:creationId xmlns:a16="http://schemas.microsoft.com/office/drawing/2014/main" id="{ACC82ECF-72D6-6ED9-EF73-7495DE192F95}"/>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3" name="Freeform 23">
              <a:extLst>
                <a:ext uri="{FF2B5EF4-FFF2-40B4-BE49-F238E27FC236}">
                  <a16:creationId xmlns:a16="http://schemas.microsoft.com/office/drawing/2014/main" id="{22DAB937-2E79-C195-4D0E-AD10E570DD17}"/>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4" name="Freeform 24">
              <a:extLst>
                <a:ext uri="{FF2B5EF4-FFF2-40B4-BE49-F238E27FC236}">
                  <a16:creationId xmlns:a16="http://schemas.microsoft.com/office/drawing/2014/main" id="{10B466F6-F9DE-C9E9-D98F-5CB17B8BE4DB}"/>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5" name="Freeform 25">
              <a:extLst>
                <a:ext uri="{FF2B5EF4-FFF2-40B4-BE49-F238E27FC236}">
                  <a16:creationId xmlns:a16="http://schemas.microsoft.com/office/drawing/2014/main" id="{AD3E18E3-90EA-4D54-E039-6221DAC55953}"/>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6" name="Rectangle 26">
              <a:extLst>
                <a:ext uri="{FF2B5EF4-FFF2-40B4-BE49-F238E27FC236}">
                  <a16:creationId xmlns:a16="http://schemas.microsoft.com/office/drawing/2014/main" id="{144E16EA-4F3F-420C-5D8D-753A1E9F0B11}"/>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7" name="Rectangle 27">
              <a:extLst>
                <a:ext uri="{FF2B5EF4-FFF2-40B4-BE49-F238E27FC236}">
                  <a16:creationId xmlns:a16="http://schemas.microsoft.com/office/drawing/2014/main" id="{E009FD22-AB72-D26D-205F-29DF66B5BFFA}"/>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grpSp>
        <p:nvGrpSpPr>
          <p:cNvPr id="3" name="Group 2">
            <a:extLst>
              <a:ext uri="{FF2B5EF4-FFF2-40B4-BE49-F238E27FC236}">
                <a16:creationId xmlns:a16="http://schemas.microsoft.com/office/drawing/2014/main" id="{1C38DDA1-EC9C-CA43-6B38-399660A513F2}"/>
              </a:ext>
            </a:extLst>
          </p:cNvPr>
          <p:cNvGrpSpPr/>
          <p:nvPr userDrawn="1"/>
        </p:nvGrpSpPr>
        <p:grpSpPr>
          <a:xfrm>
            <a:off x="11559241" y="767096"/>
            <a:ext cx="634346" cy="1898696"/>
            <a:chOff x="11556230" y="767096"/>
            <a:chExt cx="634181" cy="1898696"/>
          </a:xfrm>
        </p:grpSpPr>
        <p:sp>
          <p:nvSpPr>
            <p:cNvPr id="77" name="Rectangle 28">
              <a:extLst>
                <a:ext uri="{FF2B5EF4-FFF2-40B4-BE49-F238E27FC236}">
                  <a16:creationId xmlns:a16="http://schemas.microsoft.com/office/drawing/2014/main" id="{FB305569-AB33-7799-ED76-68F103CE5B8C}"/>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grpSp>
          <p:nvGrpSpPr>
            <p:cNvPr id="78" name="Group 77">
              <a:extLst>
                <a:ext uri="{FF2B5EF4-FFF2-40B4-BE49-F238E27FC236}">
                  <a16:creationId xmlns:a16="http://schemas.microsoft.com/office/drawing/2014/main" id="{DC4D5431-76CB-4561-B2E0-664C3E75E88C}"/>
                </a:ext>
              </a:extLst>
            </p:cNvPr>
            <p:cNvGrpSpPr/>
            <p:nvPr userDrawn="1"/>
          </p:nvGrpSpPr>
          <p:grpSpPr>
            <a:xfrm>
              <a:off x="11701122" y="936748"/>
              <a:ext cx="321494" cy="1552800"/>
              <a:chOff x="7313961" y="501936"/>
              <a:chExt cx="323594" cy="1566108"/>
            </a:xfrm>
          </p:grpSpPr>
          <p:sp>
            <p:nvSpPr>
              <p:cNvPr id="79" name="Freeform 29">
                <a:extLst>
                  <a:ext uri="{FF2B5EF4-FFF2-40B4-BE49-F238E27FC236}">
                    <a16:creationId xmlns:a16="http://schemas.microsoft.com/office/drawing/2014/main" id="{9EB7EA56-59D4-7E58-E9A3-5C4585DF00FE}"/>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0" name="Freeform 30">
                <a:extLst>
                  <a:ext uri="{FF2B5EF4-FFF2-40B4-BE49-F238E27FC236}">
                    <a16:creationId xmlns:a16="http://schemas.microsoft.com/office/drawing/2014/main" id="{93B05BBE-DBEC-684B-B012-F63384131C10}"/>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1" name="Freeform 31">
                <a:extLst>
                  <a:ext uri="{FF2B5EF4-FFF2-40B4-BE49-F238E27FC236}">
                    <a16:creationId xmlns:a16="http://schemas.microsoft.com/office/drawing/2014/main" id="{972F0292-22E7-DDB2-79F6-6703AF74768F}"/>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2" name="Freeform 32">
                <a:extLst>
                  <a:ext uri="{FF2B5EF4-FFF2-40B4-BE49-F238E27FC236}">
                    <a16:creationId xmlns:a16="http://schemas.microsoft.com/office/drawing/2014/main" id="{8FB3E4DF-D685-E83E-C831-3D30D6486411}"/>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3" name="Freeform 33">
                <a:extLst>
                  <a:ext uri="{FF2B5EF4-FFF2-40B4-BE49-F238E27FC236}">
                    <a16:creationId xmlns:a16="http://schemas.microsoft.com/office/drawing/2014/main" id="{7E51460F-8A6D-E455-ADF5-BF3600A7DAC9}"/>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4" name="Freeform 34">
                <a:extLst>
                  <a:ext uri="{FF2B5EF4-FFF2-40B4-BE49-F238E27FC236}">
                    <a16:creationId xmlns:a16="http://schemas.microsoft.com/office/drawing/2014/main" id="{9296505E-2DA9-07F7-31C5-6D802244B0F4}"/>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grpSp>
      <p:pic>
        <p:nvPicPr>
          <p:cNvPr id="12" name="Picture 11">
            <a:extLst>
              <a:ext uri="{FF2B5EF4-FFF2-40B4-BE49-F238E27FC236}">
                <a16:creationId xmlns:a16="http://schemas.microsoft.com/office/drawing/2014/main" id="{65866607-25A7-FC68-0DCF-36B98EC529BE}"/>
              </a:ext>
            </a:extLst>
          </p:cNvPr>
          <p:cNvPicPr>
            <a:picLocks noChangeAspect="1"/>
          </p:cNvPicPr>
          <p:nvPr userDrawn="1"/>
        </p:nvPicPr>
        <p:blipFill>
          <a:blip r:embed="rId2"/>
          <a:stretch>
            <a:fillRect/>
          </a:stretch>
        </p:blipFill>
        <p:spPr>
          <a:xfrm>
            <a:off x="1539349" y="3561907"/>
            <a:ext cx="7854374" cy="1774090"/>
          </a:xfrm>
          <a:prstGeom prst="rect">
            <a:avLst/>
          </a:prstGeom>
        </p:spPr>
      </p:pic>
    </p:spTree>
    <p:extLst>
      <p:ext uri="{BB962C8B-B14F-4D97-AF65-F5344CB8AC3E}">
        <p14:creationId xmlns:p14="http://schemas.microsoft.com/office/powerpoint/2010/main" val="1158620039"/>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solidFill>
          <a:srgbClr val="1E011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7F7FEAA-CD25-31FD-0E8A-E47145F5F9EB}"/>
              </a:ext>
            </a:extLst>
          </p:cNvPr>
          <p:cNvGrpSpPr/>
          <p:nvPr userDrawn="1"/>
        </p:nvGrpSpPr>
        <p:grpSpPr>
          <a:xfrm>
            <a:off x="9392771" y="767096"/>
            <a:ext cx="2800816" cy="1898696"/>
            <a:chOff x="9390324" y="767096"/>
            <a:chExt cx="2800087" cy="1898696"/>
          </a:xfrm>
        </p:grpSpPr>
        <p:grpSp>
          <p:nvGrpSpPr>
            <p:cNvPr id="63" name="Group 62">
              <a:extLst>
                <a:ext uri="{FF2B5EF4-FFF2-40B4-BE49-F238E27FC236}">
                  <a16:creationId xmlns:a16="http://schemas.microsoft.com/office/drawing/2014/main" id="{DBC4C027-8FC0-71EF-963F-3B8A0447C1E8}"/>
                </a:ext>
              </a:extLst>
            </p:cNvPr>
            <p:cNvGrpSpPr/>
            <p:nvPr userDrawn="1"/>
          </p:nvGrpSpPr>
          <p:grpSpPr>
            <a:xfrm>
              <a:off x="9390324" y="936748"/>
              <a:ext cx="1965963" cy="1042086"/>
              <a:chOff x="4988072" y="501936"/>
              <a:chExt cx="1978802" cy="1051017"/>
            </a:xfrm>
            <a:solidFill>
              <a:schemeClr val="bg1"/>
            </a:solidFill>
          </p:grpSpPr>
          <p:sp>
            <p:nvSpPr>
              <p:cNvPr id="72" name="Freeform 5">
                <a:extLst>
                  <a:ext uri="{FF2B5EF4-FFF2-40B4-BE49-F238E27FC236}">
                    <a16:creationId xmlns:a16="http://schemas.microsoft.com/office/drawing/2014/main" id="{AC114BA7-B808-0C61-F4C4-498846EB2C1F}"/>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3" name="Freeform 6">
                <a:extLst>
                  <a:ext uri="{FF2B5EF4-FFF2-40B4-BE49-F238E27FC236}">
                    <a16:creationId xmlns:a16="http://schemas.microsoft.com/office/drawing/2014/main" id="{03055FF5-EB33-F09D-784D-C7AD01880326}"/>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4" name="Freeform 7">
                <a:extLst>
                  <a:ext uri="{FF2B5EF4-FFF2-40B4-BE49-F238E27FC236}">
                    <a16:creationId xmlns:a16="http://schemas.microsoft.com/office/drawing/2014/main" id="{EF0C28DE-3EA0-613C-F6F5-A668E5A933D2}"/>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5" name="Freeform 8">
                <a:extLst>
                  <a:ext uri="{FF2B5EF4-FFF2-40B4-BE49-F238E27FC236}">
                    <a16:creationId xmlns:a16="http://schemas.microsoft.com/office/drawing/2014/main" id="{AA3A9144-5E21-1340-D82E-781E8E03088B}"/>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6" name="Freeform 9">
                <a:extLst>
                  <a:ext uri="{FF2B5EF4-FFF2-40B4-BE49-F238E27FC236}">
                    <a16:creationId xmlns:a16="http://schemas.microsoft.com/office/drawing/2014/main" id="{16E502AF-0487-43AF-00DB-14F962B92CFF}"/>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7" name="Freeform 10">
                <a:extLst>
                  <a:ext uri="{FF2B5EF4-FFF2-40B4-BE49-F238E27FC236}">
                    <a16:creationId xmlns:a16="http://schemas.microsoft.com/office/drawing/2014/main" id="{0DE8FD0D-C28A-B61F-DFEE-6F90FAD7BFAA}"/>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8" name="Freeform 11">
                <a:extLst>
                  <a:ext uri="{FF2B5EF4-FFF2-40B4-BE49-F238E27FC236}">
                    <a16:creationId xmlns:a16="http://schemas.microsoft.com/office/drawing/2014/main" id="{F351CFF9-9DD1-E9B5-EE76-334AE5F03491}"/>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9" name="Freeform 12">
                <a:extLst>
                  <a:ext uri="{FF2B5EF4-FFF2-40B4-BE49-F238E27FC236}">
                    <a16:creationId xmlns:a16="http://schemas.microsoft.com/office/drawing/2014/main" id="{5CBDFCA1-F27C-774F-EB38-070587A34AB2}"/>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0" name="Freeform 13">
                <a:extLst>
                  <a:ext uri="{FF2B5EF4-FFF2-40B4-BE49-F238E27FC236}">
                    <a16:creationId xmlns:a16="http://schemas.microsoft.com/office/drawing/2014/main" id="{32C7C41D-9C2F-F9CB-F801-1289ECF5E586}"/>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1" name="Freeform 14">
                <a:extLst>
                  <a:ext uri="{FF2B5EF4-FFF2-40B4-BE49-F238E27FC236}">
                    <a16:creationId xmlns:a16="http://schemas.microsoft.com/office/drawing/2014/main" id="{D3D8F53A-7C54-73FF-7202-68AF9530CEF8}"/>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2" name="Freeform 15">
                <a:extLst>
                  <a:ext uri="{FF2B5EF4-FFF2-40B4-BE49-F238E27FC236}">
                    <a16:creationId xmlns:a16="http://schemas.microsoft.com/office/drawing/2014/main" id="{BD2B90D5-630B-CFC6-CE5B-4A3E77847404}"/>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3" name="Freeform 16">
                <a:extLst>
                  <a:ext uri="{FF2B5EF4-FFF2-40B4-BE49-F238E27FC236}">
                    <a16:creationId xmlns:a16="http://schemas.microsoft.com/office/drawing/2014/main" id="{44BDC175-2104-E7E3-2519-DA2F92A4A931}"/>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4" name="Freeform 17">
                <a:extLst>
                  <a:ext uri="{FF2B5EF4-FFF2-40B4-BE49-F238E27FC236}">
                    <a16:creationId xmlns:a16="http://schemas.microsoft.com/office/drawing/2014/main" id="{E76CB955-2FC2-83C2-AC09-AD01BCCF18B2}"/>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5" name="Rectangle 18">
                <a:extLst>
                  <a:ext uri="{FF2B5EF4-FFF2-40B4-BE49-F238E27FC236}">
                    <a16:creationId xmlns:a16="http://schemas.microsoft.com/office/drawing/2014/main" id="{BB15E459-A560-CBA7-38D2-49EC0DF1798C}"/>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6" name="Freeform 19">
                <a:extLst>
                  <a:ext uri="{FF2B5EF4-FFF2-40B4-BE49-F238E27FC236}">
                    <a16:creationId xmlns:a16="http://schemas.microsoft.com/office/drawing/2014/main" id="{A894E637-6612-023A-5D26-292EB224BB2E}"/>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7" name="Freeform 20">
                <a:extLst>
                  <a:ext uri="{FF2B5EF4-FFF2-40B4-BE49-F238E27FC236}">
                    <a16:creationId xmlns:a16="http://schemas.microsoft.com/office/drawing/2014/main" id="{C612BEEF-FFCF-00C7-83E8-3D6CD89DD8B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8" name="Freeform 21">
                <a:extLst>
                  <a:ext uri="{FF2B5EF4-FFF2-40B4-BE49-F238E27FC236}">
                    <a16:creationId xmlns:a16="http://schemas.microsoft.com/office/drawing/2014/main" id="{535443A8-F420-58B0-6940-C7217CB7D304}"/>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9" name="Freeform 22">
                <a:extLst>
                  <a:ext uri="{FF2B5EF4-FFF2-40B4-BE49-F238E27FC236}">
                    <a16:creationId xmlns:a16="http://schemas.microsoft.com/office/drawing/2014/main" id="{D577C4C5-162A-509E-0F90-2D9CF5560B46}"/>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0" name="Freeform 23">
                <a:extLst>
                  <a:ext uri="{FF2B5EF4-FFF2-40B4-BE49-F238E27FC236}">
                    <a16:creationId xmlns:a16="http://schemas.microsoft.com/office/drawing/2014/main" id="{9CB671CE-477D-F1B3-6894-F85448189A99}"/>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1" name="Freeform 24">
                <a:extLst>
                  <a:ext uri="{FF2B5EF4-FFF2-40B4-BE49-F238E27FC236}">
                    <a16:creationId xmlns:a16="http://schemas.microsoft.com/office/drawing/2014/main" id="{2D545142-881D-002A-830D-2B1960B7F79A}"/>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2" name="Freeform 25">
                <a:extLst>
                  <a:ext uri="{FF2B5EF4-FFF2-40B4-BE49-F238E27FC236}">
                    <a16:creationId xmlns:a16="http://schemas.microsoft.com/office/drawing/2014/main" id="{5C959273-267C-8CBA-996C-EC8514CCD7D2}"/>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3" name="Rectangle 26">
                <a:extLst>
                  <a:ext uri="{FF2B5EF4-FFF2-40B4-BE49-F238E27FC236}">
                    <a16:creationId xmlns:a16="http://schemas.microsoft.com/office/drawing/2014/main" id="{2F1B0169-414B-8F53-D204-E4FC9132C39A}"/>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4" name="Rectangle 27">
                <a:extLst>
                  <a:ext uri="{FF2B5EF4-FFF2-40B4-BE49-F238E27FC236}">
                    <a16:creationId xmlns:a16="http://schemas.microsoft.com/office/drawing/2014/main" id="{FD3CEF0B-9316-CAAF-B811-7977EA0FDC71}"/>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64" name="Rectangle 28">
              <a:extLst>
                <a:ext uri="{FF2B5EF4-FFF2-40B4-BE49-F238E27FC236}">
                  <a16:creationId xmlns:a16="http://schemas.microsoft.com/office/drawing/2014/main" id="{C44969F7-1BF0-A4FA-F4EB-8003272D98C6}"/>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grpSp>
          <p:nvGrpSpPr>
            <p:cNvPr id="65" name="Group 64">
              <a:extLst>
                <a:ext uri="{FF2B5EF4-FFF2-40B4-BE49-F238E27FC236}">
                  <a16:creationId xmlns:a16="http://schemas.microsoft.com/office/drawing/2014/main" id="{5AB97A83-AA92-5D2A-D89F-2B85130F597F}"/>
                </a:ext>
              </a:extLst>
            </p:cNvPr>
            <p:cNvGrpSpPr/>
            <p:nvPr userDrawn="1"/>
          </p:nvGrpSpPr>
          <p:grpSpPr>
            <a:xfrm>
              <a:off x="11701122" y="936748"/>
              <a:ext cx="321494" cy="1552800"/>
              <a:chOff x="7313961" y="501936"/>
              <a:chExt cx="323594" cy="1566108"/>
            </a:xfrm>
          </p:grpSpPr>
          <p:sp>
            <p:nvSpPr>
              <p:cNvPr id="66" name="Freeform 29">
                <a:extLst>
                  <a:ext uri="{FF2B5EF4-FFF2-40B4-BE49-F238E27FC236}">
                    <a16:creationId xmlns:a16="http://schemas.microsoft.com/office/drawing/2014/main" id="{93913DCE-D7C5-993F-1CBD-D671F4E01A3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7" name="Freeform 30">
                <a:extLst>
                  <a:ext uri="{FF2B5EF4-FFF2-40B4-BE49-F238E27FC236}">
                    <a16:creationId xmlns:a16="http://schemas.microsoft.com/office/drawing/2014/main" id="{6D0A5711-84F8-6852-FC23-C9222B8AB056}"/>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8" name="Freeform 31">
                <a:extLst>
                  <a:ext uri="{FF2B5EF4-FFF2-40B4-BE49-F238E27FC236}">
                    <a16:creationId xmlns:a16="http://schemas.microsoft.com/office/drawing/2014/main" id="{185085EF-D1B3-20ED-1267-AC7FAB1644FE}"/>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9" name="Freeform 32">
                <a:extLst>
                  <a:ext uri="{FF2B5EF4-FFF2-40B4-BE49-F238E27FC236}">
                    <a16:creationId xmlns:a16="http://schemas.microsoft.com/office/drawing/2014/main" id="{8434C32D-C325-1F32-5E19-6C9FC933AC3B}"/>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0" name="Freeform 33">
                <a:extLst>
                  <a:ext uri="{FF2B5EF4-FFF2-40B4-BE49-F238E27FC236}">
                    <a16:creationId xmlns:a16="http://schemas.microsoft.com/office/drawing/2014/main" id="{A281B950-B57F-4814-65C4-87F843CA0E1C}"/>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1" name="Freeform 34">
                <a:extLst>
                  <a:ext uri="{FF2B5EF4-FFF2-40B4-BE49-F238E27FC236}">
                    <a16:creationId xmlns:a16="http://schemas.microsoft.com/office/drawing/2014/main" id="{EE465ED6-53DE-A385-42CB-0B5A75477346}"/>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grpSp>
      <p:grpSp>
        <p:nvGrpSpPr>
          <p:cNvPr id="42" name="Group 41">
            <a:extLst>
              <a:ext uri="{FF2B5EF4-FFF2-40B4-BE49-F238E27FC236}">
                <a16:creationId xmlns:a16="http://schemas.microsoft.com/office/drawing/2014/main" id="{320E6808-E70B-FA4B-99F6-1C02BBC16598}"/>
              </a:ext>
            </a:extLst>
          </p:cNvPr>
          <p:cNvGrpSpPr/>
          <p:nvPr userDrawn="1"/>
        </p:nvGrpSpPr>
        <p:grpSpPr>
          <a:xfrm>
            <a:off x="1539348" y="3561908"/>
            <a:ext cx="7853422" cy="1769127"/>
            <a:chOff x="541049" y="2649538"/>
            <a:chExt cx="9285724" cy="2092325"/>
          </a:xfrm>
          <a:solidFill>
            <a:schemeClr val="bg1"/>
          </a:solidFill>
        </p:grpSpPr>
        <p:sp>
          <p:nvSpPr>
            <p:cNvPr id="43" name="Freeform 5">
              <a:extLst>
                <a:ext uri="{FF2B5EF4-FFF2-40B4-BE49-F238E27FC236}">
                  <a16:creationId xmlns:a16="http://schemas.microsoft.com/office/drawing/2014/main" id="{4C297CEF-136F-B1B7-09B1-55E4D7563FDB}"/>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4" name="Freeform 6">
              <a:extLst>
                <a:ext uri="{FF2B5EF4-FFF2-40B4-BE49-F238E27FC236}">
                  <a16:creationId xmlns:a16="http://schemas.microsoft.com/office/drawing/2014/main" id="{622BAF6B-1742-15FD-B0EB-40B8C3DC1168}"/>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5" name="Freeform 7">
              <a:extLst>
                <a:ext uri="{FF2B5EF4-FFF2-40B4-BE49-F238E27FC236}">
                  <a16:creationId xmlns:a16="http://schemas.microsoft.com/office/drawing/2014/main" id="{788B3367-A4C9-CCD9-A688-1D2826A4B01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3" name="Freeform 8">
              <a:extLst>
                <a:ext uri="{FF2B5EF4-FFF2-40B4-BE49-F238E27FC236}">
                  <a16:creationId xmlns:a16="http://schemas.microsoft.com/office/drawing/2014/main" id="{E75C15B3-8177-7E6B-C4A7-1B9D3FB9D027}"/>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4" name="Freeform 9">
              <a:extLst>
                <a:ext uri="{FF2B5EF4-FFF2-40B4-BE49-F238E27FC236}">
                  <a16:creationId xmlns:a16="http://schemas.microsoft.com/office/drawing/2014/main" id="{AA27F0F6-EBAD-77B3-0964-617F5FC5A0BD}"/>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5" name="Freeform 10">
              <a:extLst>
                <a:ext uri="{FF2B5EF4-FFF2-40B4-BE49-F238E27FC236}">
                  <a16:creationId xmlns:a16="http://schemas.microsoft.com/office/drawing/2014/main" id="{0D449E32-BCCB-5FA7-37E4-30FF7569B63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6" name="Oval 11">
              <a:extLst>
                <a:ext uri="{FF2B5EF4-FFF2-40B4-BE49-F238E27FC236}">
                  <a16:creationId xmlns:a16="http://schemas.microsoft.com/office/drawing/2014/main" id="{DF4FD3AA-2A1C-04CA-7759-A7926327B4AA}"/>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1800844932"/>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B5D9B-2570-48A5-9287-44F90D037E1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27602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903995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159375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813779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069601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886316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347544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651798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516689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979334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156077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6644617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Ref idx="1001">
        <a:schemeClr val="bg1"/>
      </p:bgRef>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548783" y="1307593"/>
            <a:ext cx="11076268"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6" name="TextBox 5"/>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2021 Lenovo Internal. All rights reserved.</a:t>
            </a:r>
          </a:p>
        </p:txBody>
      </p:sp>
      <p:grpSp>
        <p:nvGrpSpPr>
          <p:cNvPr id="7" name="Group 6"/>
          <p:cNvGrpSpPr/>
          <p:nvPr userDrawn="1"/>
        </p:nvGrpSpPr>
        <p:grpSpPr>
          <a:xfrm>
            <a:off x="554483" y="6421482"/>
            <a:ext cx="734547"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
          <p:nvSpPr>
            <p:cNvPr id="9" name="Freeform 8"/>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
          <p:nvSpPr>
            <p:cNvPr id="12" name="Freeform 11"/>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
          <p:nvSpPr>
            <p:cNvPr id="13" name="Freeform 12"/>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
          <p:nvSpPr>
            <p:cNvPr id="14" name="Freeform 13"/>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
          <p:nvSpPr>
            <p:cNvPr id="15"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
          <p:nvSpPr>
            <p:cNvPr id="16"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grpSp>
    </p:spTree>
    <p:extLst>
      <p:ext uri="{BB962C8B-B14F-4D97-AF65-F5344CB8AC3E}">
        <p14:creationId xmlns:p14="http://schemas.microsoft.com/office/powerpoint/2010/main" val="205829457"/>
      </p:ext>
    </p:extLst>
  </p:cSld>
  <p:clrMapOvr>
    <a:overrideClrMapping bg1="lt1" tx1="dk1" bg2="lt2" tx2="dk2" accent1="accent1" accent2="accent2" accent3="accent3" accent4="accent4" accent5="accent5" accent6="accent6" hlink="hlink" folHlink="folHlink"/>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ctr" anchorCtr="0">
            <a:noAutofit/>
          </a:bodyPr>
          <a:lstStyle>
            <a:lvl1pPr marL="0" indent="0">
              <a:lnSpc>
                <a:spcPts val="2200"/>
              </a:lnSpc>
              <a:spcBef>
                <a:spcPts val="0"/>
              </a:spcBef>
              <a:buNone/>
              <a:defRPr sz="22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548783" y="402337"/>
            <a:ext cx="11076268" cy="356789"/>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227409589"/>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Title Slide_Black_Alt">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A0DD018-EAF2-48F3-ABFD-828A5E37FE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72"/>
            <a:ext cx="12192000" cy="6857929"/>
          </a:xfrm>
          <a:prstGeom prst="rect">
            <a:avLst/>
          </a:prstGeom>
        </p:spPr>
      </p:pic>
      <p:sp>
        <p:nvSpPr>
          <p:cNvPr id="56" name="Title 16"/>
          <p:cNvSpPr>
            <a:spLocks noGrp="1"/>
          </p:cNvSpPr>
          <p:nvPr userDrawn="1">
            <p:ph type="title" hasCustomPrompt="1"/>
          </p:nvPr>
        </p:nvSpPr>
        <p:spPr bwMode="gray">
          <a:xfrm>
            <a:off x="750529" y="1524000"/>
            <a:ext cx="9914678" cy="3273368"/>
          </a:xfrm>
          <a:prstGeom prst="rect">
            <a:avLst/>
          </a:prstGeom>
        </p:spPr>
        <p:txBody>
          <a:bodyPr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bg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612" y="5046115"/>
            <a:ext cx="9914678" cy="356616"/>
          </a:xfrm>
          <a:prstGeom prst="rect">
            <a:avLst/>
          </a:prstGeom>
        </p:spPr>
        <p:txBody>
          <a:bodyPr lIns="0" tIns="0" rIns="0" bIns="0" anchor="t" anchorCtr="0"/>
          <a:lstStyle>
            <a:lvl1pPr marL="0" indent="0" algn="l" defTabSz="1218987" rtl="0" eaLnBrk="1" latinLnBrk="0" hangingPunct="1">
              <a:lnSpc>
                <a:spcPct val="90000"/>
              </a:lnSpc>
              <a:spcBef>
                <a:spcPct val="0"/>
              </a:spcBef>
              <a:buNone/>
              <a:defRPr lang="en-US" sz="2600" b="0" kern="1200" cap="none" spc="0" baseline="0" dirty="0">
                <a:solidFill>
                  <a:schemeClr val="bg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grpSp>
        <p:nvGrpSpPr>
          <p:cNvPr id="68" name="Group 67">
            <a:extLst>
              <a:ext uri="{FF2B5EF4-FFF2-40B4-BE49-F238E27FC236}">
                <a16:creationId xmlns:a16="http://schemas.microsoft.com/office/drawing/2014/main" id="{C178D7C6-5801-6B30-A6A7-963788E95D85}"/>
              </a:ext>
            </a:extLst>
          </p:cNvPr>
          <p:cNvGrpSpPr>
            <a:grpSpLocks noChangeAspect="1"/>
          </p:cNvGrpSpPr>
          <p:nvPr userDrawn="1"/>
        </p:nvGrpSpPr>
        <p:grpSpPr>
          <a:xfrm rot="16200000">
            <a:off x="10152631" y="2542790"/>
            <a:ext cx="3058160" cy="1020580"/>
            <a:chOff x="547688" y="952500"/>
            <a:chExt cx="12190413" cy="4067175"/>
          </a:xfrm>
        </p:grpSpPr>
        <p:sp>
          <p:nvSpPr>
            <p:cNvPr id="69" name="Rectangle 68">
              <a:extLst>
                <a:ext uri="{FF2B5EF4-FFF2-40B4-BE49-F238E27FC236}">
                  <a16:creationId xmlns:a16="http://schemas.microsoft.com/office/drawing/2014/main" id="{69E9C34A-28EF-207E-149B-9EBED2862D65}"/>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0" name="Freeform 7">
              <a:extLst>
                <a:ext uri="{FF2B5EF4-FFF2-40B4-BE49-F238E27FC236}">
                  <a16:creationId xmlns:a16="http://schemas.microsoft.com/office/drawing/2014/main" id="{158C3A6B-F5BB-E37E-DB3D-C1ABEA07F21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1" name="Freeform 8">
              <a:extLst>
                <a:ext uri="{FF2B5EF4-FFF2-40B4-BE49-F238E27FC236}">
                  <a16:creationId xmlns:a16="http://schemas.microsoft.com/office/drawing/2014/main" id="{A56AE87F-217D-4207-F227-987A2E7FEBFA}"/>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2" name="Freeform 9">
              <a:extLst>
                <a:ext uri="{FF2B5EF4-FFF2-40B4-BE49-F238E27FC236}">
                  <a16:creationId xmlns:a16="http://schemas.microsoft.com/office/drawing/2014/main" id="{D65BCC2D-74A9-8E37-6BBC-33B74966DAC1}"/>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3" name="Freeform 10">
              <a:extLst>
                <a:ext uri="{FF2B5EF4-FFF2-40B4-BE49-F238E27FC236}">
                  <a16:creationId xmlns:a16="http://schemas.microsoft.com/office/drawing/2014/main" id="{BA8558ED-E4BF-D888-EF3B-A311AFE8C47C}"/>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4" name="Freeform 10">
              <a:extLst>
                <a:ext uri="{FF2B5EF4-FFF2-40B4-BE49-F238E27FC236}">
                  <a16:creationId xmlns:a16="http://schemas.microsoft.com/office/drawing/2014/main" id="{AFF1776F-9DBA-D51E-8F71-E1FB30D76794}"/>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5" name="Freeform 11">
              <a:extLst>
                <a:ext uri="{FF2B5EF4-FFF2-40B4-BE49-F238E27FC236}">
                  <a16:creationId xmlns:a16="http://schemas.microsoft.com/office/drawing/2014/main" id="{820D6E3B-9704-EBDF-9D0D-A571A36CBC77}"/>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76" name="Freeform 5">
            <a:extLst>
              <a:ext uri="{FF2B5EF4-FFF2-40B4-BE49-F238E27FC236}">
                <a16:creationId xmlns:a16="http://schemas.microsoft.com/office/drawing/2014/main" id="{C002511A-253F-7F55-6C4F-3D51611D3CBF}"/>
              </a:ext>
            </a:extLst>
          </p:cNvPr>
          <p:cNvSpPr>
            <a:spLocks noChangeAspect="1" noEditPoints="1"/>
          </p:cNvSpPr>
          <p:nvPr userDrawn="1"/>
        </p:nvSpPr>
        <p:spPr bwMode="auto">
          <a:xfrm>
            <a:off x="750529" y="762000"/>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82" name="TextBox 81">
            <a:extLst>
              <a:ext uri="{FF2B5EF4-FFF2-40B4-BE49-F238E27FC236}">
                <a16:creationId xmlns:a16="http://schemas.microsoft.com/office/drawing/2014/main" id="{D0375F64-E651-1A0A-ABF1-9C38BA663F9F}"/>
              </a:ext>
            </a:extLst>
          </p:cNvPr>
          <p:cNvSpPr txBox="1"/>
          <p:nvPr userDrawn="1"/>
        </p:nvSpPr>
        <p:spPr>
          <a:xfrm>
            <a:off x="750529" y="6401580"/>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2026 Lenovo Internal. All rights reserved.</a:t>
            </a:r>
          </a:p>
        </p:txBody>
      </p:sp>
    </p:spTree>
    <p:extLst>
      <p:ext uri="{BB962C8B-B14F-4D97-AF65-F5344CB8AC3E}">
        <p14:creationId xmlns:p14="http://schemas.microsoft.com/office/powerpoint/2010/main" val="93399055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amp; 1 column text">
    <p:spTree>
      <p:nvGrpSpPr>
        <p:cNvPr id="1" name=""/>
        <p:cNvGrpSpPr/>
        <p:nvPr/>
      </p:nvGrpSpPr>
      <p:grpSpPr>
        <a:xfrm>
          <a:off x="0" y="0"/>
          <a:ext cx="0" cy="0"/>
          <a:chOff x="0" y="0"/>
          <a:chExt cx="0" cy="0"/>
        </a:xfrm>
      </p:grpSpPr>
      <p:sp>
        <p:nvSpPr>
          <p:cNvPr id="14" name="文字"/>
          <p:cNvSpPr>
            <a:spLocks noGrp="1"/>
          </p:cNvSpPr>
          <p:nvPr>
            <p:ph idx="1"/>
          </p:nvPr>
        </p:nvSpPr>
        <p:spPr>
          <a:xfrm>
            <a:off x="501651" y="1665289"/>
            <a:ext cx="11165416" cy="4716463"/>
          </a:xfrm>
          <a:prstGeom prst="rect">
            <a:avLst/>
          </a:prstGeom>
        </p:spPr>
        <p:txBody>
          <a:bodyPr vert="horz" lIns="0" tIns="0" rIns="0" bIns="0" rtlCol="0">
            <a:normAutofit/>
          </a:bodyPr>
          <a:lstStyle>
            <a:lvl1pPr>
              <a:defRPr>
                <a:latin typeface="+mn-lt"/>
              </a:defRPr>
            </a:lvl1pPr>
            <a:lvl2pPr>
              <a:defRPr>
                <a:latin typeface="+mj-lt"/>
              </a:defRPr>
            </a:lvl2pPr>
            <a:lvl3pPr>
              <a:defRPr>
                <a:latin typeface="+mn-lt"/>
              </a:defRPr>
            </a:lvl3pPr>
            <a:lvl4pPr>
              <a:defRPr>
                <a:latin typeface="+mn-lt"/>
              </a:defRPr>
            </a:lvl4pPr>
            <a:lvl5pPr>
              <a:defRPr>
                <a:latin typeface="+mn-lt"/>
              </a:defRPr>
            </a:lvl5pPr>
          </a:lstStyle>
          <a:p>
            <a:pPr lvl="0"/>
            <a:r>
              <a:rPr lang="zh-CN" altLang="en-US"/>
              <a:t>按一下此處編輯母版文本樣式</a:t>
            </a:r>
          </a:p>
          <a:p>
            <a:pPr lvl="1"/>
            <a:r>
              <a:rPr lang="zh-CN" altLang="en-US"/>
              <a:t>二級</a:t>
            </a:r>
          </a:p>
          <a:p>
            <a:pPr lvl="2"/>
            <a:r>
              <a:rPr lang="zh-CN" altLang="en-US"/>
              <a:t>三級</a:t>
            </a:r>
          </a:p>
          <a:p>
            <a:pPr lvl="3"/>
            <a:r>
              <a:rPr lang="zh-CN" altLang="en-US"/>
              <a:t>四級</a:t>
            </a:r>
          </a:p>
          <a:p>
            <a:pPr lvl="4"/>
            <a:r>
              <a:rPr lang="zh-CN" altLang="en-US"/>
              <a:t>五級</a:t>
            </a:r>
            <a:endParaRPr lang="en-GB"/>
          </a:p>
        </p:txBody>
      </p:sp>
      <p:sp>
        <p:nvSpPr>
          <p:cNvPr id="2" name="標題"/>
          <p:cNvSpPr>
            <a:spLocks noGrp="1"/>
          </p:cNvSpPr>
          <p:nvPr>
            <p:ph type="title"/>
          </p:nvPr>
        </p:nvSpPr>
        <p:spPr>
          <a:xfrm>
            <a:off x="501651" y="317501"/>
            <a:ext cx="11188700" cy="698500"/>
          </a:xfrm>
        </p:spPr>
        <p:txBody>
          <a:bodyPr/>
          <a:lstStyle/>
          <a:p>
            <a:r>
              <a:rPr lang="zh-CN" altLang="en-US"/>
              <a:t>按一下此處編輯母版標題樣式</a:t>
            </a:r>
            <a:endParaRPr lang="en-US"/>
          </a:p>
        </p:txBody>
      </p:sp>
    </p:spTree>
    <p:extLst>
      <p:ext uri="{BB962C8B-B14F-4D97-AF65-F5344CB8AC3E}">
        <p14:creationId xmlns:p14="http://schemas.microsoft.com/office/powerpoint/2010/main" val="2071565723"/>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nd Content - No Background">
    <p:spTree>
      <p:nvGrpSpPr>
        <p:cNvPr id="1" name=""/>
        <p:cNvGrpSpPr/>
        <p:nvPr/>
      </p:nvGrpSpPr>
      <p:grpSpPr>
        <a:xfrm>
          <a:off x="0" y="0"/>
          <a:ext cx="0" cy="0"/>
          <a:chOff x="0" y="0"/>
          <a:chExt cx="0" cy="0"/>
        </a:xfrm>
      </p:grpSpPr>
      <p:sp>
        <p:nvSpPr>
          <p:cNvPr id="15" name="Footer Placeholder 14"/>
          <p:cNvSpPr>
            <a:spLocks noGrp="1"/>
          </p:cNvSpPr>
          <p:nvPr>
            <p:ph type="ftr" sz="quarter" idx="10"/>
          </p:nvPr>
        </p:nvSpPr>
        <p:spPr>
          <a:xfrm>
            <a:off x="548782" y="6473952"/>
            <a:ext cx="3201234" cy="153888"/>
          </a:xfrm>
          <a:prstGeom prst="rect">
            <a:avLst/>
          </a:prstGeom>
        </p:spPr>
        <p:txBody>
          <a:bodyPr/>
          <a:lstStyle/>
          <a:p>
            <a:r>
              <a:rPr lang="en-US">
                <a:cs typeface="Arial" pitchFamily="34" charset="0"/>
              </a:rPr>
              <a:t>2020 Lenovo Internal. All rights reserved.</a:t>
            </a:r>
            <a:endParaRPr lang="en-US" sz="1000">
              <a:solidFill>
                <a:srgbClr val="939598"/>
              </a:solidFill>
              <a:cs typeface="Arial" pitchFamily="34" charset="0"/>
            </a:endParaRPr>
          </a:p>
        </p:txBody>
      </p:sp>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255" rtl="0" eaLnBrk="1" latinLnBrk="0" hangingPunct="1">
              <a:lnSpc>
                <a:spcPct val="100000"/>
              </a:lnSpc>
              <a:spcBef>
                <a:spcPct val="0"/>
              </a:spcBef>
              <a:buNone/>
              <a:tabLst>
                <a:tab pos="1218255" algn="l"/>
              </a:tabLst>
              <a:defRPr lang="en-US" sz="3598" kern="1200" cap="none" spc="0" baseline="0" dirty="0">
                <a:solidFill>
                  <a:schemeClr val="tx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548783" y="1179577"/>
            <a:ext cx="11076268" cy="521169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23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9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2102334"/>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Content w/ Product">
    <p:spTree>
      <p:nvGrpSpPr>
        <p:cNvPr id="1" name=""/>
        <p:cNvGrpSpPr/>
        <p:nvPr/>
      </p:nvGrpSpPr>
      <p:grpSpPr>
        <a:xfrm>
          <a:off x="0" y="0"/>
          <a:ext cx="0" cy="0"/>
          <a:chOff x="0" y="0"/>
          <a:chExt cx="0" cy="0"/>
        </a:xfrm>
      </p:grpSpPr>
      <p:sp>
        <p:nvSpPr>
          <p:cNvPr id="9" name="Content Placeholder 2"/>
          <p:cNvSpPr>
            <a:spLocks noGrp="1"/>
          </p:cNvSpPr>
          <p:nvPr>
            <p:ph sz="half" idx="18"/>
          </p:nvPr>
        </p:nvSpPr>
        <p:spPr bwMode="gray">
          <a:xfrm>
            <a:off x="6858198" y="1307593"/>
            <a:ext cx="4573192"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Title 28"/>
          <p:cNvSpPr>
            <a:spLocks noGrp="1"/>
          </p:cNvSpPr>
          <p:nvPr>
            <p:ph type="title" hasCustomPrompt="1"/>
          </p:nvPr>
        </p:nvSpPr>
        <p:spPr bwMode="gray">
          <a:xfrm>
            <a:off x="6858198" y="442528"/>
            <a:ext cx="4573192"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0AFBC96C-E04F-90E6-1BBE-C65ECD6E5C14}"/>
              </a:ext>
            </a:extLst>
          </p:cNvPr>
          <p:cNvSpPr>
            <a:spLocks noGrp="1"/>
          </p:cNvSpPr>
          <p:nvPr>
            <p:ph type="sldNum" sz="quarter" idx="19"/>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076905558"/>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548783" y="1685684"/>
            <a:ext cx="9962830" cy="2894768"/>
          </a:xfrm>
          <a:prstGeom prst="rect">
            <a:avLst/>
          </a:prstGeom>
        </p:spPr>
        <p:txBody>
          <a:bodyPr wrap="square" lIns="0" tIns="0" rIns="121899" bIns="0" anchor="b" anchorCtr="0"/>
          <a:lstStyle>
            <a:lvl1pPr marL="0" algn="l" defTabSz="1218255" rtl="0" eaLnBrk="1" latinLnBrk="0" hangingPunct="1">
              <a:lnSpc>
                <a:spcPts val="6796"/>
              </a:lnSpc>
              <a:spcBef>
                <a:spcPct val="0"/>
              </a:spcBef>
              <a:buNone/>
              <a:defRPr lang="en-US" sz="7996" b="1" kern="1200" cap="none" spc="-150" baseline="0" dirty="0">
                <a:solidFill>
                  <a:schemeClr val="tx1"/>
                </a:solidFill>
                <a:latin typeface="Arial" pitchFamily="34" charset="0"/>
                <a:ea typeface="+mn-ea"/>
                <a:cs typeface="Arial" pitchFamily="34" charset="0"/>
              </a:defRPr>
            </a:lvl1pPr>
          </a:lstStyle>
          <a:p>
            <a:r>
              <a:rPr lang="en-US"/>
              <a:t>Presentation</a:t>
            </a:r>
            <a:br>
              <a:rPr lang="en-US"/>
            </a:br>
            <a:r>
              <a:rPr lang="en-US"/>
              <a:t>title here</a:t>
            </a:r>
            <a:br>
              <a:rPr lang="en-US"/>
            </a:br>
            <a:r>
              <a:rPr lang="en-US"/>
              <a:t>three lines</a:t>
            </a:r>
          </a:p>
        </p:txBody>
      </p:sp>
      <p:sp>
        <p:nvSpPr>
          <p:cNvPr id="55" name="Subtitle 2"/>
          <p:cNvSpPr>
            <a:spLocks noGrp="1"/>
          </p:cNvSpPr>
          <p:nvPr userDrawn="1">
            <p:ph type="subTitle" idx="1" hasCustomPrompt="1"/>
          </p:nvPr>
        </p:nvSpPr>
        <p:spPr bwMode="gray">
          <a:xfrm>
            <a:off x="548783" y="4715116"/>
            <a:ext cx="9952388" cy="457200"/>
          </a:xfrm>
          <a:prstGeom prst="rect">
            <a:avLst/>
          </a:prstGeom>
        </p:spPr>
        <p:txBody>
          <a:bodyPr lIns="0" tIns="0" rIns="0" bIns="0" anchor="b" anchorCtr="0"/>
          <a:lstStyle>
            <a:lvl1pPr marL="0" indent="0" algn="l" defTabSz="1218255" rtl="0" eaLnBrk="1" latinLnBrk="0" hangingPunct="1">
              <a:lnSpc>
                <a:spcPct val="90000"/>
              </a:lnSpc>
              <a:spcBef>
                <a:spcPct val="0"/>
              </a:spcBef>
              <a:buNone/>
              <a:defRPr lang="en-US" sz="2598" b="0" kern="1200" cap="none" spc="0" baseline="0" dirty="0">
                <a:solidFill>
                  <a:schemeClr val="tx1"/>
                </a:solidFill>
                <a:latin typeface="Arial" pitchFamily="34" charset="0"/>
                <a:ea typeface="+mn-ea"/>
                <a:cs typeface="Arial" pitchFamily="34" charset="0"/>
              </a:defRPr>
            </a:lvl1pPr>
            <a:lvl2pPr marL="609127" indent="0" algn="ctr">
              <a:buNone/>
              <a:defRPr>
                <a:solidFill>
                  <a:schemeClr val="tx1">
                    <a:tint val="75000"/>
                  </a:schemeClr>
                </a:solidFill>
              </a:defRPr>
            </a:lvl2pPr>
            <a:lvl3pPr marL="1218255" indent="0" algn="ctr">
              <a:buNone/>
              <a:defRPr>
                <a:solidFill>
                  <a:schemeClr val="tx1">
                    <a:tint val="75000"/>
                  </a:schemeClr>
                </a:solidFill>
              </a:defRPr>
            </a:lvl3pPr>
            <a:lvl4pPr marL="1827383" indent="0" algn="ctr">
              <a:buNone/>
              <a:defRPr>
                <a:solidFill>
                  <a:schemeClr val="tx1">
                    <a:tint val="75000"/>
                  </a:schemeClr>
                </a:solidFill>
              </a:defRPr>
            </a:lvl4pPr>
            <a:lvl5pPr marL="2436511" indent="0" algn="ctr">
              <a:buNone/>
              <a:defRPr>
                <a:solidFill>
                  <a:schemeClr val="tx1">
                    <a:tint val="75000"/>
                  </a:schemeClr>
                </a:solidFill>
              </a:defRPr>
            </a:lvl5pPr>
            <a:lvl6pPr marL="3045639" indent="0" algn="ctr">
              <a:buNone/>
              <a:defRPr>
                <a:solidFill>
                  <a:schemeClr val="tx1">
                    <a:tint val="75000"/>
                  </a:schemeClr>
                </a:solidFill>
              </a:defRPr>
            </a:lvl6pPr>
            <a:lvl7pPr marL="3654766" indent="0" algn="ctr">
              <a:buNone/>
              <a:defRPr>
                <a:solidFill>
                  <a:schemeClr val="tx1">
                    <a:tint val="75000"/>
                  </a:schemeClr>
                </a:solidFill>
              </a:defRPr>
            </a:lvl7pPr>
            <a:lvl8pPr marL="4263893" indent="0" algn="ctr">
              <a:buNone/>
              <a:defRPr>
                <a:solidFill>
                  <a:schemeClr val="tx1">
                    <a:tint val="75000"/>
                  </a:schemeClr>
                </a:solidFill>
              </a:defRPr>
            </a:lvl8pPr>
            <a:lvl9pPr marL="4873022" indent="0" algn="ctr">
              <a:buNone/>
              <a:defRPr>
                <a:solidFill>
                  <a:schemeClr val="tx1">
                    <a:tint val="75000"/>
                  </a:schemeClr>
                </a:solidFill>
              </a:defRPr>
            </a:lvl9pPr>
          </a:lstStyle>
          <a:p>
            <a:r>
              <a:rPr lang="en-US"/>
              <a:t>Speaker Name | Date</a:t>
            </a:r>
          </a:p>
        </p:txBody>
      </p:sp>
      <p:sp>
        <p:nvSpPr>
          <p:cNvPr id="49" name="TextBox 48"/>
          <p:cNvSpPr txBox="1"/>
          <p:nvPr userDrawn="1"/>
        </p:nvSpPr>
        <p:spPr>
          <a:xfrm>
            <a:off x="548783" y="6473952"/>
            <a:ext cx="4115872" cy="153888"/>
          </a:xfrm>
          <a:prstGeom prst="rect">
            <a:avLst/>
          </a:prstGeom>
          <a:noFill/>
        </p:spPr>
        <p:txBody>
          <a:bodyPr wrap="square" lIns="0" tIns="0" rIns="0" bIns="0" rtlCol="0">
            <a:spAutoFit/>
          </a:bodyPr>
          <a:lstStyle/>
          <a:p>
            <a:r>
              <a:rPr lang="en-US" sz="1000">
                <a:latin typeface="Arial" pitchFamily="34" charset="0"/>
                <a:cs typeface="Arial" pitchFamily="34" charset="0"/>
              </a:rPr>
              <a:t>2025 Lenovo Internal. All rights reserved.</a:t>
            </a:r>
          </a:p>
        </p:txBody>
      </p:sp>
      <p:grpSp>
        <p:nvGrpSpPr>
          <p:cNvPr id="48" name="Group 47">
            <a:extLst>
              <a:ext uri="{FF2B5EF4-FFF2-40B4-BE49-F238E27FC236}">
                <a16:creationId xmlns:a16="http://schemas.microsoft.com/office/drawing/2014/main" id="{F4B5B53C-9814-4319-B2AA-2C21FFC03C69}"/>
              </a:ext>
            </a:extLst>
          </p:cNvPr>
          <p:cNvGrpSpPr>
            <a:grpSpLocks noChangeAspect="1"/>
          </p:cNvGrpSpPr>
          <p:nvPr userDrawn="1"/>
        </p:nvGrpSpPr>
        <p:grpSpPr>
          <a:xfrm rot="16200000">
            <a:off x="9858492" y="2024530"/>
            <a:ext cx="3499241" cy="1167779"/>
            <a:chOff x="547688" y="952500"/>
            <a:chExt cx="12190413" cy="4067175"/>
          </a:xfrm>
        </p:grpSpPr>
        <p:sp>
          <p:nvSpPr>
            <p:cNvPr id="50" name="Rectangle 49">
              <a:extLst>
                <a:ext uri="{FF2B5EF4-FFF2-40B4-BE49-F238E27FC236}">
                  <a16:creationId xmlns:a16="http://schemas.microsoft.com/office/drawing/2014/main" id="{A86DAFFA-DD2C-4B45-869C-80A8537FFB18}"/>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1" name="Freeform 7">
              <a:extLst>
                <a:ext uri="{FF2B5EF4-FFF2-40B4-BE49-F238E27FC236}">
                  <a16:creationId xmlns:a16="http://schemas.microsoft.com/office/drawing/2014/main" id="{26F6C622-0F1C-400B-80F7-27499D487BE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2" name="Freeform 8">
              <a:extLst>
                <a:ext uri="{FF2B5EF4-FFF2-40B4-BE49-F238E27FC236}">
                  <a16:creationId xmlns:a16="http://schemas.microsoft.com/office/drawing/2014/main" id="{3843D85E-D61D-49D2-8C0B-2814AA27614C}"/>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3" name="Freeform 9">
              <a:extLst>
                <a:ext uri="{FF2B5EF4-FFF2-40B4-BE49-F238E27FC236}">
                  <a16:creationId xmlns:a16="http://schemas.microsoft.com/office/drawing/2014/main" id="{3230BEAE-88C1-454A-9CCC-1D4B1775E57B}"/>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4" name="Freeform 10">
              <a:extLst>
                <a:ext uri="{FF2B5EF4-FFF2-40B4-BE49-F238E27FC236}">
                  <a16:creationId xmlns:a16="http://schemas.microsoft.com/office/drawing/2014/main" id="{051B78A0-6BF0-417B-86F2-F30C15214E88}"/>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7" name="Freeform 10">
              <a:extLst>
                <a:ext uri="{FF2B5EF4-FFF2-40B4-BE49-F238E27FC236}">
                  <a16:creationId xmlns:a16="http://schemas.microsoft.com/office/drawing/2014/main" id="{DC72F71B-EE86-4EF7-B865-447B4ED71B2C}"/>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8" name="Freeform 11">
              <a:extLst>
                <a:ext uri="{FF2B5EF4-FFF2-40B4-BE49-F238E27FC236}">
                  <a16:creationId xmlns:a16="http://schemas.microsoft.com/office/drawing/2014/main" id="{A3EC0C04-B0DD-4A32-813E-011A695342F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
        <p:nvSpPr>
          <p:cNvPr id="63" name="Freeform 5">
            <a:extLst>
              <a:ext uri="{FF2B5EF4-FFF2-40B4-BE49-F238E27FC236}">
                <a16:creationId xmlns:a16="http://schemas.microsoft.com/office/drawing/2014/main" id="{433BBA68-D2F6-45DA-B6D3-4CBDACC1E270}"/>
              </a:ext>
            </a:extLst>
          </p:cNvPr>
          <p:cNvSpPr>
            <a:spLocks noChangeAspect="1" noEditPoints="1"/>
          </p:cNvSpPr>
          <p:nvPr userDrawn="1"/>
        </p:nvSpPr>
        <p:spPr bwMode="auto">
          <a:xfrm>
            <a:off x="548785" y="858794"/>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gradFill>
            <a:gsLst>
              <a:gs pos="100000">
                <a:srgbClr val="F15F22"/>
              </a:gs>
              <a:gs pos="54000">
                <a:srgbClr val="F06422"/>
              </a:gs>
              <a:gs pos="76000">
                <a:srgbClr val="E32526"/>
              </a:gs>
              <a:gs pos="0">
                <a:srgbClr val="E32F2A"/>
              </a:gs>
              <a:gs pos="26000">
                <a:srgbClr val="A32022"/>
              </a:gs>
            </a:gsLst>
            <a:lin ang="2400000" scaled="0"/>
          </a:gradFill>
          <a:ln>
            <a:noFill/>
          </a:ln>
        </p:spPr>
        <p:txBody>
          <a:bodyPr vert="horz" wrap="square" lIns="91392" tIns="45696" rIns="91392" bIns="45696" numCol="1" anchor="t" anchorCtr="0" compatLnSpc="1">
            <a:prstTxWarp prst="textNoShape">
              <a:avLst/>
            </a:prstTxWarp>
          </a:bodyPr>
          <a:lstStyle/>
          <a:p>
            <a:endParaRPr lang="en-US" sz="1798"/>
          </a:p>
        </p:txBody>
      </p:sp>
    </p:spTree>
    <p:extLst>
      <p:ext uri="{BB962C8B-B14F-4D97-AF65-F5344CB8AC3E}">
        <p14:creationId xmlns:p14="http://schemas.microsoft.com/office/powerpoint/2010/main" val="892715525"/>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chemeClr val="tx1"/>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548783" y="1682496"/>
            <a:ext cx="9962830" cy="2898648"/>
          </a:xfrm>
          <a:prstGeom prst="rect">
            <a:avLst/>
          </a:prstGeom>
        </p:spPr>
        <p:txBody>
          <a:bodyPr lIns="0" tIns="0" rIns="121899" bIns="0" anchor="b" anchorCtr="0"/>
          <a:lstStyle>
            <a:lvl1pPr marL="0" algn="l" defTabSz="1218255" rtl="0" eaLnBrk="1" latinLnBrk="0" hangingPunct="1">
              <a:lnSpc>
                <a:spcPts val="6796"/>
              </a:lnSpc>
              <a:spcBef>
                <a:spcPct val="0"/>
              </a:spcBef>
              <a:buNone/>
              <a:defRPr lang="en-US" sz="7996" b="1" kern="1200" cap="none" spc="-150" baseline="0" dirty="0">
                <a:solidFill>
                  <a:schemeClr val="bg1"/>
                </a:solidFill>
                <a:latin typeface="Arial" pitchFamily="34" charset="0"/>
                <a:ea typeface="+mn-ea"/>
                <a:cs typeface="Arial" pitchFamily="34" charset="0"/>
              </a:defRPr>
            </a:lvl1pPr>
          </a:lstStyle>
          <a:p>
            <a:r>
              <a:rPr lang="en-US"/>
              <a:t>Presentation</a:t>
            </a:r>
            <a:br>
              <a:rPr lang="en-US"/>
            </a:br>
            <a:r>
              <a:rPr lang="en-US"/>
              <a:t>title here</a:t>
            </a:r>
            <a:br>
              <a:rPr lang="en-US"/>
            </a:br>
            <a:r>
              <a:rPr lang="en-US"/>
              <a:t>three lines</a:t>
            </a:r>
          </a:p>
        </p:txBody>
      </p:sp>
      <p:sp>
        <p:nvSpPr>
          <p:cNvPr id="55" name="Subtitle 2"/>
          <p:cNvSpPr>
            <a:spLocks noGrp="1"/>
          </p:cNvSpPr>
          <p:nvPr userDrawn="1">
            <p:ph type="subTitle" idx="1" hasCustomPrompt="1"/>
          </p:nvPr>
        </p:nvSpPr>
        <p:spPr bwMode="gray">
          <a:xfrm>
            <a:off x="548783" y="4718304"/>
            <a:ext cx="9952388" cy="457200"/>
          </a:xfrm>
          <a:prstGeom prst="rect">
            <a:avLst/>
          </a:prstGeom>
        </p:spPr>
        <p:txBody>
          <a:bodyPr lIns="0" tIns="0" rIns="0" bIns="0" anchor="b" anchorCtr="0"/>
          <a:lstStyle>
            <a:lvl1pPr marL="0" indent="0" algn="l" defTabSz="1218255" rtl="0" eaLnBrk="1" latinLnBrk="0" hangingPunct="1">
              <a:lnSpc>
                <a:spcPct val="90000"/>
              </a:lnSpc>
              <a:spcBef>
                <a:spcPct val="0"/>
              </a:spcBef>
              <a:buNone/>
              <a:defRPr lang="en-US" sz="2598" b="0" kern="1200" cap="none" spc="0" baseline="0" dirty="0">
                <a:solidFill>
                  <a:schemeClr val="bg1"/>
                </a:solidFill>
                <a:latin typeface="Arial" pitchFamily="34" charset="0"/>
                <a:ea typeface="+mn-ea"/>
                <a:cs typeface="Arial" pitchFamily="34" charset="0"/>
              </a:defRPr>
            </a:lvl1pPr>
            <a:lvl2pPr marL="609127" indent="0" algn="ctr">
              <a:buNone/>
              <a:defRPr>
                <a:solidFill>
                  <a:schemeClr val="tx1">
                    <a:tint val="75000"/>
                  </a:schemeClr>
                </a:solidFill>
              </a:defRPr>
            </a:lvl2pPr>
            <a:lvl3pPr marL="1218255" indent="0" algn="ctr">
              <a:buNone/>
              <a:defRPr>
                <a:solidFill>
                  <a:schemeClr val="tx1">
                    <a:tint val="75000"/>
                  </a:schemeClr>
                </a:solidFill>
              </a:defRPr>
            </a:lvl3pPr>
            <a:lvl4pPr marL="1827383" indent="0" algn="ctr">
              <a:buNone/>
              <a:defRPr>
                <a:solidFill>
                  <a:schemeClr val="tx1">
                    <a:tint val="75000"/>
                  </a:schemeClr>
                </a:solidFill>
              </a:defRPr>
            </a:lvl4pPr>
            <a:lvl5pPr marL="2436511" indent="0" algn="ctr">
              <a:buNone/>
              <a:defRPr>
                <a:solidFill>
                  <a:schemeClr val="tx1">
                    <a:tint val="75000"/>
                  </a:schemeClr>
                </a:solidFill>
              </a:defRPr>
            </a:lvl5pPr>
            <a:lvl6pPr marL="3045639" indent="0" algn="ctr">
              <a:buNone/>
              <a:defRPr>
                <a:solidFill>
                  <a:schemeClr val="tx1">
                    <a:tint val="75000"/>
                  </a:schemeClr>
                </a:solidFill>
              </a:defRPr>
            </a:lvl6pPr>
            <a:lvl7pPr marL="3654766" indent="0" algn="ctr">
              <a:buNone/>
              <a:defRPr>
                <a:solidFill>
                  <a:schemeClr val="tx1">
                    <a:tint val="75000"/>
                  </a:schemeClr>
                </a:solidFill>
              </a:defRPr>
            </a:lvl7pPr>
            <a:lvl8pPr marL="4263893" indent="0" algn="ctr">
              <a:buNone/>
              <a:defRPr>
                <a:solidFill>
                  <a:schemeClr val="tx1">
                    <a:tint val="75000"/>
                  </a:schemeClr>
                </a:solidFill>
              </a:defRPr>
            </a:lvl8pPr>
            <a:lvl9pPr marL="4873022" indent="0" algn="ctr">
              <a:buNone/>
              <a:defRPr>
                <a:solidFill>
                  <a:schemeClr val="tx1">
                    <a:tint val="75000"/>
                  </a:schemeClr>
                </a:solidFill>
              </a:defRPr>
            </a:lvl9pPr>
          </a:lstStyle>
          <a:p>
            <a:r>
              <a:rPr lang="en-US"/>
              <a:t>Speaker Name | Date</a:t>
            </a:r>
          </a:p>
        </p:txBody>
      </p:sp>
      <p:sp>
        <p:nvSpPr>
          <p:cNvPr id="49" name="TextBox 48"/>
          <p:cNvSpPr txBox="1"/>
          <p:nvPr userDrawn="1"/>
        </p:nvSpPr>
        <p:spPr>
          <a:xfrm>
            <a:off x="548783"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48" name="Group 47">
            <a:extLst>
              <a:ext uri="{FF2B5EF4-FFF2-40B4-BE49-F238E27FC236}">
                <a16:creationId xmlns:a16="http://schemas.microsoft.com/office/drawing/2014/main" id="{AE4354B5-047A-475C-B07D-46E2DFF45FA8}"/>
              </a:ext>
            </a:extLst>
          </p:cNvPr>
          <p:cNvGrpSpPr>
            <a:grpSpLocks noChangeAspect="1"/>
          </p:cNvGrpSpPr>
          <p:nvPr userDrawn="1"/>
        </p:nvGrpSpPr>
        <p:grpSpPr>
          <a:xfrm rot="16200000">
            <a:off x="9858492" y="2024530"/>
            <a:ext cx="3499241" cy="1167779"/>
            <a:chOff x="547688" y="952500"/>
            <a:chExt cx="12190413" cy="4067175"/>
          </a:xfrm>
        </p:grpSpPr>
        <p:sp>
          <p:nvSpPr>
            <p:cNvPr id="95" name="Rectangle 94">
              <a:extLst>
                <a:ext uri="{FF2B5EF4-FFF2-40B4-BE49-F238E27FC236}">
                  <a16:creationId xmlns:a16="http://schemas.microsoft.com/office/drawing/2014/main" id="{33F3F616-0187-486C-92AE-8E9BB4F5D864}"/>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96" name="Freeform 7">
              <a:extLst>
                <a:ext uri="{FF2B5EF4-FFF2-40B4-BE49-F238E27FC236}">
                  <a16:creationId xmlns:a16="http://schemas.microsoft.com/office/drawing/2014/main" id="{39D476EA-97BB-4757-AE8D-46ABA28B578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97" name="Freeform 8">
              <a:extLst>
                <a:ext uri="{FF2B5EF4-FFF2-40B4-BE49-F238E27FC236}">
                  <a16:creationId xmlns:a16="http://schemas.microsoft.com/office/drawing/2014/main" id="{83FC1BD3-A3C2-46E0-8E09-0F43D0DB3EE1}"/>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98" name="Freeform 9">
              <a:extLst>
                <a:ext uri="{FF2B5EF4-FFF2-40B4-BE49-F238E27FC236}">
                  <a16:creationId xmlns:a16="http://schemas.microsoft.com/office/drawing/2014/main" id="{B07C1556-FAA5-423D-9C3E-BFD6B99A6BBD}"/>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99" name="Freeform 10">
              <a:extLst>
                <a:ext uri="{FF2B5EF4-FFF2-40B4-BE49-F238E27FC236}">
                  <a16:creationId xmlns:a16="http://schemas.microsoft.com/office/drawing/2014/main" id="{1DB9EF8A-92AF-4FB6-9EB8-BBB43909F2F8}"/>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00" name="Freeform 10">
              <a:extLst>
                <a:ext uri="{FF2B5EF4-FFF2-40B4-BE49-F238E27FC236}">
                  <a16:creationId xmlns:a16="http://schemas.microsoft.com/office/drawing/2014/main" id="{07C51CC9-E5B8-4E20-A914-408659940AB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01" name="Freeform 11">
              <a:extLst>
                <a:ext uri="{FF2B5EF4-FFF2-40B4-BE49-F238E27FC236}">
                  <a16:creationId xmlns:a16="http://schemas.microsoft.com/office/drawing/2014/main" id="{B5BD15B5-4CE4-4224-95C9-541647C53947}"/>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
        <p:nvSpPr>
          <p:cNvPr id="102" name="Freeform 5">
            <a:extLst>
              <a:ext uri="{FF2B5EF4-FFF2-40B4-BE49-F238E27FC236}">
                <a16:creationId xmlns:a16="http://schemas.microsoft.com/office/drawing/2014/main" id="{8B5168CF-498E-4EAB-8120-11D6F6835047}"/>
              </a:ext>
            </a:extLst>
          </p:cNvPr>
          <p:cNvSpPr>
            <a:spLocks noChangeAspect="1" noEditPoints="1"/>
          </p:cNvSpPr>
          <p:nvPr userDrawn="1"/>
        </p:nvSpPr>
        <p:spPr bwMode="auto">
          <a:xfrm>
            <a:off x="548785" y="858794"/>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gradFill>
            <a:gsLst>
              <a:gs pos="100000">
                <a:srgbClr val="F15F22"/>
              </a:gs>
              <a:gs pos="54000">
                <a:srgbClr val="F06422"/>
              </a:gs>
              <a:gs pos="76000">
                <a:srgbClr val="E32526"/>
              </a:gs>
              <a:gs pos="0">
                <a:srgbClr val="E32F2A"/>
              </a:gs>
              <a:gs pos="26000">
                <a:srgbClr val="A32022"/>
              </a:gs>
            </a:gsLst>
            <a:lin ang="2400000" scaled="0"/>
          </a:gradFill>
          <a:ln>
            <a:noFill/>
          </a:ln>
        </p:spPr>
        <p:txBody>
          <a:bodyPr vert="horz" wrap="square" lIns="91392" tIns="45696" rIns="91392" bIns="45696" numCol="1" anchor="t" anchorCtr="0" compatLnSpc="1">
            <a:prstTxWarp prst="textNoShape">
              <a:avLst/>
            </a:prstTxWarp>
          </a:bodyPr>
          <a:lstStyle/>
          <a:p>
            <a:endParaRPr lang="en-US" sz="1798"/>
          </a:p>
        </p:txBody>
      </p:sp>
    </p:spTree>
    <p:extLst>
      <p:ext uri="{BB962C8B-B14F-4D97-AF65-F5344CB8AC3E}">
        <p14:creationId xmlns:p14="http://schemas.microsoft.com/office/powerpoint/2010/main" val="3808809025"/>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Header_White">
    <p:bg>
      <p:bgPr>
        <a:solidFill>
          <a:schemeClr val="bg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D7C56BA8-590A-4028-A3BD-EBB4F41E7443}"/>
              </a:ext>
            </a:extLst>
          </p:cNvPr>
          <p:cNvGrpSpPr>
            <a:grpSpLocks noChangeAspect="1"/>
          </p:cNvGrpSpPr>
          <p:nvPr userDrawn="1"/>
        </p:nvGrpSpPr>
        <p:grpSpPr>
          <a:xfrm rot="16200000">
            <a:off x="9858492" y="2024530"/>
            <a:ext cx="3499241" cy="1167779"/>
            <a:chOff x="547688" y="952500"/>
            <a:chExt cx="12190413" cy="4067175"/>
          </a:xfrm>
        </p:grpSpPr>
        <p:sp>
          <p:nvSpPr>
            <p:cNvPr id="53" name="Rectangle 52">
              <a:extLst>
                <a:ext uri="{FF2B5EF4-FFF2-40B4-BE49-F238E27FC236}">
                  <a16:creationId xmlns:a16="http://schemas.microsoft.com/office/drawing/2014/main" id="{19186E01-E5DD-4CF8-B980-31578D78DA2C}"/>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4" name="Freeform 7">
              <a:extLst>
                <a:ext uri="{FF2B5EF4-FFF2-40B4-BE49-F238E27FC236}">
                  <a16:creationId xmlns:a16="http://schemas.microsoft.com/office/drawing/2014/main" id="{4297898A-7690-4887-A538-06925E32496A}"/>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5" name="Freeform 8">
              <a:extLst>
                <a:ext uri="{FF2B5EF4-FFF2-40B4-BE49-F238E27FC236}">
                  <a16:creationId xmlns:a16="http://schemas.microsoft.com/office/drawing/2014/main" id="{EBE1A931-8ED4-4023-B1E7-E7C0FCB53CF1}"/>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6" name="Freeform 9">
              <a:extLst>
                <a:ext uri="{FF2B5EF4-FFF2-40B4-BE49-F238E27FC236}">
                  <a16:creationId xmlns:a16="http://schemas.microsoft.com/office/drawing/2014/main" id="{3DFA30DE-FC15-4449-9A0C-173C6898FE60}"/>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7" name="Freeform 10">
              <a:extLst>
                <a:ext uri="{FF2B5EF4-FFF2-40B4-BE49-F238E27FC236}">
                  <a16:creationId xmlns:a16="http://schemas.microsoft.com/office/drawing/2014/main" id="{2C43BCA4-E25C-47F7-A5A5-C71BAFE37AB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8" name="Freeform 10">
              <a:extLst>
                <a:ext uri="{FF2B5EF4-FFF2-40B4-BE49-F238E27FC236}">
                  <a16:creationId xmlns:a16="http://schemas.microsoft.com/office/drawing/2014/main" id="{6476CD2B-51BA-4E82-9674-026AAE497F13}"/>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9" name="Freeform 11">
              <a:extLst>
                <a:ext uri="{FF2B5EF4-FFF2-40B4-BE49-F238E27FC236}">
                  <a16:creationId xmlns:a16="http://schemas.microsoft.com/office/drawing/2014/main" id="{F65A61BF-2424-45EF-AEBD-67F3A1E98F2D}"/>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
        <p:nvSpPr>
          <p:cNvPr id="46" name="Title 16"/>
          <p:cNvSpPr>
            <a:spLocks noGrp="1"/>
          </p:cNvSpPr>
          <p:nvPr>
            <p:ph type="title" hasCustomPrompt="1"/>
          </p:nvPr>
        </p:nvSpPr>
        <p:spPr bwMode="gray">
          <a:xfrm>
            <a:off x="548782" y="1508934"/>
            <a:ext cx="9960410" cy="2405203"/>
          </a:xfrm>
          <a:prstGeom prst="rect">
            <a:avLst/>
          </a:prstGeom>
        </p:spPr>
        <p:txBody>
          <a:bodyPr lIns="0" tIns="0" rIns="0" bIns="0" anchor="b" anchorCtr="0"/>
          <a:lstStyle>
            <a:lvl1pPr marL="0" algn="l" defTabSz="1218255" rtl="0" eaLnBrk="1" latinLnBrk="0" hangingPunct="1">
              <a:lnSpc>
                <a:spcPts val="4998"/>
              </a:lnSpc>
              <a:spcBef>
                <a:spcPct val="0"/>
              </a:spcBef>
              <a:buNone/>
              <a:defRPr lang="en-US" sz="5996" b="1" kern="1200" cap="none" spc="-150" baseline="0" dirty="0">
                <a:solidFill>
                  <a:schemeClr val="tx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548783" y="3956227"/>
            <a:ext cx="9960410" cy="462018"/>
          </a:xfrm>
          <a:prstGeom prst="rect">
            <a:avLst/>
          </a:prstGeom>
        </p:spPr>
        <p:txBody>
          <a:bodyPr lIns="0" tIns="0" rIns="0" bIns="0" anchor="b"/>
          <a:lstStyle>
            <a:lvl1pPr marL="0" indent="0">
              <a:lnSpc>
                <a:spcPts val="2398"/>
              </a:lnSpc>
              <a:spcBef>
                <a:spcPts val="0"/>
              </a:spcBef>
              <a:buNone/>
              <a:defRPr sz="2498" spc="0" baseline="0">
                <a:solidFill>
                  <a:schemeClr val="tx1"/>
                </a:solidFill>
              </a:defRPr>
            </a:lvl1pPr>
            <a:lvl2pPr marL="456926" indent="0">
              <a:buNone/>
              <a:defRPr sz="1998">
                <a:solidFill>
                  <a:schemeClr val="tx1">
                    <a:tint val="75000"/>
                  </a:schemeClr>
                </a:solidFill>
              </a:defRPr>
            </a:lvl2pPr>
            <a:lvl3pPr marL="913852" indent="0">
              <a:buNone/>
              <a:defRPr sz="1798">
                <a:solidFill>
                  <a:schemeClr val="tx1">
                    <a:tint val="75000"/>
                  </a:schemeClr>
                </a:solidFill>
              </a:defRPr>
            </a:lvl3pPr>
            <a:lvl4pPr marL="1370778" indent="0">
              <a:buNone/>
              <a:defRPr sz="1600">
                <a:solidFill>
                  <a:schemeClr val="tx1">
                    <a:tint val="75000"/>
                  </a:schemeClr>
                </a:solidFill>
              </a:defRPr>
            </a:lvl4pPr>
            <a:lvl5pPr marL="1827703" indent="0">
              <a:buNone/>
              <a:defRPr sz="1600">
                <a:solidFill>
                  <a:schemeClr val="tx1">
                    <a:tint val="75000"/>
                  </a:schemeClr>
                </a:solidFill>
              </a:defRPr>
            </a:lvl5pPr>
            <a:lvl6pPr marL="2284628" indent="0">
              <a:buNone/>
              <a:defRPr sz="1600">
                <a:solidFill>
                  <a:schemeClr val="tx1">
                    <a:tint val="75000"/>
                  </a:schemeClr>
                </a:solidFill>
              </a:defRPr>
            </a:lvl6pPr>
            <a:lvl7pPr marL="2741554" indent="0">
              <a:buNone/>
              <a:defRPr sz="1600">
                <a:solidFill>
                  <a:schemeClr val="tx1">
                    <a:tint val="75000"/>
                  </a:schemeClr>
                </a:solidFill>
              </a:defRPr>
            </a:lvl7pPr>
            <a:lvl8pPr marL="3198480" indent="0">
              <a:buNone/>
              <a:defRPr sz="1600">
                <a:solidFill>
                  <a:schemeClr val="tx1">
                    <a:tint val="75000"/>
                  </a:schemeClr>
                </a:solidFill>
              </a:defRPr>
            </a:lvl8pPr>
            <a:lvl9pPr marL="3655406" indent="0">
              <a:buNone/>
              <a:defRPr sz="1600">
                <a:solidFill>
                  <a:schemeClr val="tx1">
                    <a:tint val="75000"/>
                  </a:schemeClr>
                </a:solidFill>
              </a:defRPr>
            </a:lvl9pPr>
          </a:lstStyle>
          <a:p>
            <a:pPr lvl="0"/>
            <a:r>
              <a:rPr lang="en-US"/>
              <a:t>Subhead here</a:t>
            </a:r>
          </a:p>
        </p:txBody>
      </p:sp>
      <p:sp>
        <p:nvSpPr>
          <p:cNvPr id="5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75" name="TextBox 74"/>
          <p:cNvSpPr txBox="1"/>
          <p:nvPr userDrawn="1"/>
        </p:nvSpPr>
        <p:spPr>
          <a:xfrm>
            <a:off x="548783" y="6473952"/>
            <a:ext cx="4115872" cy="153888"/>
          </a:xfrm>
          <a:prstGeom prst="rect">
            <a:avLst/>
          </a:prstGeom>
          <a:noFill/>
        </p:spPr>
        <p:txBody>
          <a:bodyPr wrap="square" lIns="0" tIns="0" rIns="0" bIns="0" rtlCol="0">
            <a:spAutoFit/>
          </a:bodyPr>
          <a:lstStyle/>
          <a:p>
            <a:r>
              <a:rPr lang="en-US" sz="1000">
                <a:latin typeface="Arial" pitchFamily="34" charset="0"/>
                <a:cs typeface="Arial" pitchFamily="34" charset="0"/>
              </a:rPr>
              <a:t>2020 Lenovo Internal. All rights reserved.</a:t>
            </a:r>
          </a:p>
        </p:txBody>
      </p:sp>
    </p:spTree>
    <p:extLst>
      <p:ext uri="{BB962C8B-B14F-4D97-AF65-F5344CB8AC3E}">
        <p14:creationId xmlns:p14="http://schemas.microsoft.com/office/powerpoint/2010/main" val="2668035477"/>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chemeClr val="tx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D7C56BA8-590A-4028-A3BD-EBB4F41E7443}"/>
              </a:ext>
            </a:extLst>
          </p:cNvPr>
          <p:cNvGrpSpPr>
            <a:grpSpLocks noChangeAspect="1"/>
          </p:cNvGrpSpPr>
          <p:nvPr userDrawn="1"/>
        </p:nvGrpSpPr>
        <p:grpSpPr>
          <a:xfrm rot="16200000">
            <a:off x="9858492" y="2024530"/>
            <a:ext cx="3499241" cy="1167779"/>
            <a:chOff x="547688" y="952500"/>
            <a:chExt cx="12190413" cy="4067175"/>
          </a:xfrm>
        </p:grpSpPr>
        <p:sp>
          <p:nvSpPr>
            <p:cNvPr id="53" name="Rectangle 52">
              <a:extLst>
                <a:ext uri="{FF2B5EF4-FFF2-40B4-BE49-F238E27FC236}">
                  <a16:creationId xmlns:a16="http://schemas.microsoft.com/office/drawing/2014/main" id="{19186E01-E5DD-4CF8-B980-31578D78DA2C}"/>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4" name="Freeform 7">
              <a:extLst>
                <a:ext uri="{FF2B5EF4-FFF2-40B4-BE49-F238E27FC236}">
                  <a16:creationId xmlns:a16="http://schemas.microsoft.com/office/drawing/2014/main" id="{4297898A-7690-4887-A538-06925E32496A}"/>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5" name="Freeform 8">
              <a:extLst>
                <a:ext uri="{FF2B5EF4-FFF2-40B4-BE49-F238E27FC236}">
                  <a16:creationId xmlns:a16="http://schemas.microsoft.com/office/drawing/2014/main" id="{EBE1A931-8ED4-4023-B1E7-E7C0FCB53CF1}"/>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6" name="Freeform 9">
              <a:extLst>
                <a:ext uri="{FF2B5EF4-FFF2-40B4-BE49-F238E27FC236}">
                  <a16:creationId xmlns:a16="http://schemas.microsoft.com/office/drawing/2014/main" id="{3DFA30DE-FC15-4449-9A0C-173C6898FE60}"/>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7" name="Freeform 10">
              <a:extLst>
                <a:ext uri="{FF2B5EF4-FFF2-40B4-BE49-F238E27FC236}">
                  <a16:creationId xmlns:a16="http://schemas.microsoft.com/office/drawing/2014/main" id="{2C43BCA4-E25C-47F7-A5A5-C71BAFE37AB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8" name="Freeform 10">
              <a:extLst>
                <a:ext uri="{FF2B5EF4-FFF2-40B4-BE49-F238E27FC236}">
                  <a16:creationId xmlns:a16="http://schemas.microsoft.com/office/drawing/2014/main" id="{6476CD2B-51BA-4E82-9674-026AAE497F13}"/>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9" name="Freeform 11">
              <a:extLst>
                <a:ext uri="{FF2B5EF4-FFF2-40B4-BE49-F238E27FC236}">
                  <a16:creationId xmlns:a16="http://schemas.microsoft.com/office/drawing/2014/main" id="{F65A61BF-2424-45EF-AEBD-67F3A1E98F2D}"/>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
        <p:nvSpPr>
          <p:cNvPr id="46" name="Title 16"/>
          <p:cNvSpPr>
            <a:spLocks noGrp="1"/>
          </p:cNvSpPr>
          <p:nvPr>
            <p:ph type="title" hasCustomPrompt="1"/>
          </p:nvPr>
        </p:nvSpPr>
        <p:spPr bwMode="gray">
          <a:xfrm>
            <a:off x="548782" y="1508934"/>
            <a:ext cx="9960410" cy="2405203"/>
          </a:xfrm>
          <a:prstGeom prst="rect">
            <a:avLst/>
          </a:prstGeom>
        </p:spPr>
        <p:txBody>
          <a:bodyPr lIns="0" tIns="0" rIns="0" bIns="0" anchor="b" anchorCtr="0"/>
          <a:lstStyle>
            <a:lvl1pPr marL="0" algn="l" defTabSz="1218255" rtl="0" eaLnBrk="1" latinLnBrk="0" hangingPunct="1">
              <a:lnSpc>
                <a:spcPts val="4998"/>
              </a:lnSpc>
              <a:spcBef>
                <a:spcPct val="0"/>
              </a:spcBef>
              <a:buNone/>
              <a:defRPr lang="en-US" sz="5996" b="1" kern="1200" cap="none" spc="-150" baseline="0" dirty="0">
                <a:solidFill>
                  <a:schemeClr val="bg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548783" y="3956227"/>
            <a:ext cx="9960410" cy="462018"/>
          </a:xfrm>
          <a:prstGeom prst="rect">
            <a:avLst/>
          </a:prstGeom>
        </p:spPr>
        <p:txBody>
          <a:bodyPr lIns="0" tIns="0" rIns="0" bIns="0" anchor="b"/>
          <a:lstStyle>
            <a:lvl1pPr marL="0" indent="0">
              <a:lnSpc>
                <a:spcPts val="2398"/>
              </a:lnSpc>
              <a:spcBef>
                <a:spcPts val="0"/>
              </a:spcBef>
              <a:buNone/>
              <a:defRPr sz="2498" spc="0" baseline="0">
                <a:solidFill>
                  <a:schemeClr val="bg1"/>
                </a:solidFill>
              </a:defRPr>
            </a:lvl1pPr>
            <a:lvl2pPr marL="456926" indent="0">
              <a:buNone/>
              <a:defRPr sz="1998">
                <a:solidFill>
                  <a:schemeClr val="tx1">
                    <a:tint val="75000"/>
                  </a:schemeClr>
                </a:solidFill>
              </a:defRPr>
            </a:lvl2pPr>
            <a:lvl3pPr marL="913852" indent="0">
              <a:buNone/>
              <a:defRPr sz="1798">
                <a:solidFill>
                  <a:schemeClr val="tx1">
                    <a:tint val="75000"/>
                  </a:schemeClr>
                </a:solidFill>
              </a:defRPr>
            </a:lvl3pPr>
            <a:lvl4pPr marL="1370778" indent="0">
              <a:buNone/>
              <a:defRPr sz="1600">
                <a:solidFill>
                  <a:schemeClr val="tx1">
                    <a:tint val="75000"/>
                  </a:schemeClr>
                </a:solidFill>
              </a:defRPr>
            </a:lvl4pPr>
            <a:lvl5pPr marL="1827703" indent="0">
              <a:buNone/>
              <a:defRPr sz="1600">
                <a:solidFill>
                  <a:schemeClr val="tx1">
                    <a:tint val="75000"/>
                  </a:schemeClr>
                </a:solidFill>
              </a:defRPr>
            </a:lvl5pPr>
            <a:lvl6pPr marL="2284628" indent="0">
              <a:buNone/>
              <a:defRPr sz="1600">
                <a:solidFill>
                  <a:schemeClr val="tx1">
                    <a:tint val="75000"/>
                  </a:schemeClr>
                </a:solidFill>
              </a:defRPr>
            </a:lvl6pPr>
            <a:lvl7pPr marL="2741554" indent="0">
              <a:buNone/>
              <a:defRPr sz="1600">
                <a:solidFill>
                  <a:schemeClr val="tx1">
                    <a:tint val="75000"/>
                  </a:schemeClr>
                </a:solidFill>
              </a:defRPr>
            </a:lvl7pPr>
            <a:lvl8pPr marL="3198480" indent="0">
              <a:buNone/>
              <a:defRPr sz="1600">
                <a:solidFill>
                  <a:schemeClr val="tx1">
                    <a:tint val="75000"/>
                  </a:schemeClr>
                </a:solidFill>
              </a:defRPr>
            </a:lvl8pPr>
            <a:lvl9pPr marL="3655406" indent="0">
              <a:buNone/>
              <a:defRPr sz="1600">
                <a:solidFill>
                  <a:schemeClr val="tx1">
                    <a:tint val="75000"/>
                  </a:schemeClr>
                </a:solidFill>
              </a:defRPr>
            </a:lvl9pPr>
          </a:lstStyle>
          <a:p>
            <a:pPr lvl="0"/>
            <a:r>
              <a:rPr lang="en-US"/>
              <a:t>Subhead here</a:t>
            </a:r>
          </a:p>
        </p:txBody>
      </p:sp>
      <p:sp>
        <p:nvSpPr>
          <p:cNvPr id="5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75" name="TextBox 74"/>
          <p:cNvSpPr txBox="1"/>
          <p:nvPr userDrawn="1"/>
        </p:nvSpPr>
        <p:spPr>
          <a:xfrm>
            <a:off x="548783"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spTree>
    <p:extLst>
      <p:ext uri="{BB962C8B-B14F-4D97-AF65-F5344CB8AC3E}">
        <p14:creationId xmlns:p14="http://schemas.microsoft.com/office/powerpoint/2010/main" val="3976042317"/>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4"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70013448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chemeClr val="tx1"/>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0"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5" name="TextBox 4"/>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6" name="Group 5"/>
          <p:cNvGrpSpPr/>
          <p:nvPr userDrawn="1"/>
        </p:nvGrpSpPr>
        <p:grpSpPr>
          <a:xfrm>
            <a:off x="554485" y="6421482"/>
            <a:ext cx="734547" cy="245008"/>
            <a:chOff x="547688" y="952500"/>
            <a:chExt cx="12190413" cy="4067175"/>
          </a:xfrm>
        </p:grpSpPr>
        <p:sp>
          <p:nvSpPr>
            <p:cNvPr id="7" name="Rectangle 6"/>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8" name="Freeform 7"/>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9" name="Freeform 8"/>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1" name="Freeform 10"/>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2" name="Freeform 11"/>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294677850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ctr" anchorCtr="0">
            <a:noAutofit/>
          </a:bodyPr>
          <a:lstStyle>
            <a:lvl1pPr marL="0" indent="0">
              <a:lnSpc>
                <a:spcPts val="2198"/>
              </a:lnSpc>
              <a:spcBef>
                <a:spcPts val="0"/>
              </a:spcBef>
              <a:buNone/>
              <a:defRPr sz="2198" b="0">
                <a:solidFill>
                  <a:schemeClr val="tx1"/>
                </a:solidFill>
                <a:latin typeface="Arial" pitchFamily="34" charset="0"/>
                <a:cs typeface="Arial" pitchFamily="34" charset="0"/>
              </a:defRPr>
            </a:lvl1pPr>
            <a:lvl2pPr marL="609127" indent="0">
              <a:buNone/>
              <a:defRPr sz="2698" b="1"/>
            </a:lvl2pPr>
            <a:lvl3pPr marL="1218255" indent="0">
              <a:buNone/>
              <a:defRPr sz="2398" b="1"/>
            </a:lvl3pPr>
            <a:lvl4pPr marL="1827383" indent="0">
              <a:buNone/>
              <a:defRPr sz="2098" b="1"/>
            </a:lvl4pPr>
            <a:lvl5pPr marL="2436511" indent="0">
              <a:buNone/>
              <a:defRPr sz="2098" b="1"/>
            </a:lvl5pPr>
            <a:lvl6pPr marL="3045639" indent="0">
              <a:buNone/>
              <a:defRPr sz="2098" b="1"/>
            </a:lvl6pPr>
            <a:lvl7pPr marL="3654766" indent="0">
              <a:buNone/>
              <a:defRPr sz="2098" b="1"/>
            </a:lvl7pPr>
            <a:lvl8pPr marL="4263893" indent="0">
              <a:buNone/>
              <a:defRPr sz="2098" b="1"/>
            </a:lvl8pPr>
            <a:lvl9pPr marL="4873022" indent="0">
              <a:buNone/>
              <a:defRPr sz="2098" b="1"/>
            </a:lvl9pPr>
          </a:lstStyle>
          <a:p>
            <a:pPr lvl="0"/>
            <a:r>
              <a:rPr lang="en-US"/>
              <a:t>Click to edit master text styles</a:t>
            </a:r>
          </a:p>
        </p:txBody>
      </p:sp>
      <p:sp>
        <p:nvSpPr>
          <p:cNvPr id="11" name="Title 28"/>
          <p:cNvSpPr>
            <a:spLocks noGrp="1"/>
          </p:cNvSpPr>
          <p:nvPr>
            <p:ph type="title" hasCustomPrompt="1"/>
          </p:nvPr>
        </p:nvSpPr>
        <p:spPr bwMode="gray">
          <a:xfrm>
            <a:off x="548783" y="402341"/>
            <a:ext cx="11076268" cy="356789"/>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57404308"/>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chemeClr val="tx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t" anchorCtr="0">
            <a:noAutofit/>
          </a:bodyPr>
          <a:lstStyle>
            <a:lvl1pPr marL="0" indent="0">
              <a:lnSpc>
                <a:spcPts val="2198"/>
              </a:lnSpc>
              <a:spcBef>
                <a:spcPts val="0"/>
              </a:spcBef>
              <a:buNone/>
              <a:defRPr sz="1998" b="0">
                <a:solidFill>
                  <a:schemeClr val="bg1"/>
                </a:solidFill>
                <a:latin typeface="Arial" pitchFamily="34" charset="0"/>
                <a:cs typeface="Arial" pitchFamily="34" charset="0"/>
              </a:defRPr>
            </a:lvl1pPr>
            <a:lvl2pPr marL="609127" indent="0">
              <a:buNone/>
              <a:defRPr sz="2698" b="1"/>
            </a:lvl2pPr>
            <a:lvl3pPr marL="1218255" indent="0">
              <a:buNone/>
              <a:defRPr sz="2398" b="1"/>
            </a:lvl3pPr>
            <a:lvl4pPr marL="1827383" indent="0">
              <a:buNone/>
              <a:defRPr sz="2098" b="1"/>
            </a:lvl4pPr>
            <a:lvl5pPr marL="2436511" indent="0">
              <a:buNone/>
              <a:defRPr sz="2098" b="1"/>
            </a:lvl5pPr>
            <a:lvl6pPr marL="3045639" indent="0">
              <a:buNone/>
              <a:defRPr sz="2098" b="1"/>
            </a:lvl6pPr>
            <a:lvl7pPr marL="3654766" indent="0">
              <a:buNone/>
              <a:defRPr sz="2098" b="1"/>
            </a:lvl7pPr>
            <a:lvl8pPr marL="4263893" indent="0">
              <a:buNone/>
              <a:defRPr sz="2098" b="1"/>
            </a:lvl8pPr>
            <a:lvl9pPr marL="4873022" indent="0">
              <a:buNone/>
              <a:defRPr sz="2098" b="1"/>
            </a:lvl9pPr>
          </a:lstStyle>
          <a:p>
            <a:pPr lvl="0"/>
            <a:r>
              <a:rPr lang="en-US"/>
              <a:t>Click to edit master text styles</a:t>
            </a:r>
          </a:p>
        </p:txBody>
      </p:sp>
      <p:sp>
        <p:nvSpPr>
          <p:cNvPr id="11" name="Title 28"/>
          <p:cNvSpPr>
            <a:spLocks noGrp="1"/>
          </p:cNvSpPr>
          <p:nvPr>
            <p:ph type="title" hasCustomPrompt="1"/>
          </p:nvPr>
        </p:nvSpPr>
        <p:spPr bwMode="gray">
          <a:xfrm>
            <a:off x="548783" y="402341"/>
            <a:ext cx="11076268" cy="399921"/>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7" name="TextBox 6"/>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8" name="Group 7"/>
          <p:cNvGrpSpPr/>
          <p:nvPr userDrawn="1"/>
        </p:nvGrpSpPr>
        <p:grpSpPr>
          <a:xfrm>
            <a:off x="554485" y="6421482"/>
            <a:ext cx="734547"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339831053"/>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3624"/>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548783" y="1308880"/>
            <a:ext cx="11076268" cy="4906726"/>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60397832"/>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548783" y="1307593"/>
            <a:ext cx="11076268"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6" name="TextBox 5"/>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7" name="Group 6"/>
          <p:cNvGrpSpPr/>
          <p:nvPr userDrawn="1"/>
        </p:nvGrpSpPr>
        <p:grpSpPr>
          <a:xfrm>
            <a:off x="554485" y="6421482"/>
            <a:ext cx="734547"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9" name="Freeform 8"/>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2" name="Freeform 11"/>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2"/>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199809683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783" y="1575767"/>
            <a:ext cx="11076268" cy="4651413"/>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p:nvPr>
        </p:nvSpPr>
        <p:spPr bwMode="gray">
          <a:xfrm>
            <a:off x="557930" y="899112"/>
            <a:ext cx="11076268" cy="292608"/>
          </a:xfrm>
          <a:prstGeom prst="rect">
            <a:avLst/>
          </a:prstGeom>
        </p:spPr>
        <p:txBody>
          <a:bodyPr lIns="0" tIns="0" rIns="0" bIns="0" anchor="ctr" anchorCtr="0">
            <a:noAutofit/>
          </a:bodyPr>
          <a:lstStyle>
            <a:lvl1pPr marL="0" indent="0">
              <a:lnSpc>
                <a:spcPts val="2198"/>
              </a:lnSpc>
              <a:spcBef>
                <a:spcPts val="0"/>
              </a:spcBef>
              <a:buNone/>
              <a:defRPr sz="2198" b="0">
                <a:solidFill>
                  <a:schemeClr val="tx1"/>
                </a:solidFill>
                <a:latin typeface="Arial" pitchFamily="34" charset="0"/>
                <a:cs typeface="Arial" pitchFamily="34" charset="0"/>
              </a:defRPr>
            </a:lvl1pPr>
            <a:lvl2pPr marL="609127" indent="0">
              <a:buNone/>
              <a:defRPr sz="2698" b="1"/>
            </a:lvl2pPr>
            <a:lvl3pPr marL="1218255" indent="0">
              <a:buNone/>
              <a:defRPr sz="2398" b="1"/>
            </a:lvl3pPr>
            <a:lvl4pPr marL="1827383" indent="0">
              <a:buNone/>
              <a:defRPr sz="2098" b="1"/>
            </a:lvl4pPr>
            <a:lvl5pPr marL="2436511" indent="0">
              <a:buNone/>
              <a:defRPr sz="2098" b="1"/>
            </a:lvl5pPr>
            <a:lvl6pPr marL="3045639" indent="0">
              <a:buNone/>
              <a:defRPr sz="2098" b="1"/>
            </a:lvl6pPr>
            <a:lvl7pPr marL="3654766" indent="0">
              <a:buNone/>
              <a:defRPr sz="2098" b="1"/>
            </a:lvl7pPr>
            <a:lvl8pPr marL="4263893" indent="0">
              <a:buNone/>
              <a:defRPr sz="2098" b="1"/>
            </a:lvl8pPr>
            <a:lvl9pPr marL="4873022" indent="0">
              <a:buNone/>
              <a:defRPr sz="2098" b="1"/>
            </a:lvl9pPr>
          </a:lstStyle>
          <a:p>
            <a:pPr lvl="0"/>
            <a:r>
              <a:rPr lang="en-US"/>
              <a:t>Click to edit Master text styles</a:t>
            </a:r>
          </a:p>
        </p:txBody>
      </p:sp>
      <p:sp>
        <p:nvSpPr>
          <p:cNvPr id="11" name="Title 28"/>
          <p:cNvSpPr>
            <a:spLocks noGrp="1"/>
          </p:cNvSpPr>
          <p:nvPr>
            <p:ph type="title" hasCustomPrompt="1"/>
          </p:nvPr>
        </p:nvSpPr>
        <p:spPr bwMode="gray">
          <a:xfrm>
            <a:off x="548783" y="402341"/>
            <a:ext cx="11076268" cy="369451"/>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281633175"/>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chemeClr val="tx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783" y="1572770"/>
            <a:ext cx="11076268" cy="4654413"/>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t" anchorCtr="0">
            <a:noAutofit/>
          </a:bodyPr>
          <a:lstStyle>
            <a:lvl1pPr marL="0" indent="0">
              <a:lnSpc>
                <a:spcPts val="2198"/>
              </a:lnSpc>
              <a:spcBef>
                <a:spcPts val="0"/>
              </a:spcBef>
              <a:buNone/>
              <a:defRPr sz="1998" b="0">
                <a:solidFill>
                  <a:schemeClr val="bg1"/>
                </a:solidFill>
                <a:latin typeface="Arial" pitchFamily="34" charset="0"/>
                <a:cs typeface="Arial" pitchFamily="34" charset="0"/>
              </a:defRPr>
            </a:lvl1pPr>
            <a:lvl2pPr marL="609127" indent="0">
              <a:buNone/>
              <a:defRPr sz="2698" b="1"/>
            </a:lvl2pPr>
            <a:lvl3pPr marL="1218255" indent="0">
              <a:buNone/>
              <a:defRPr sz="2398" b="1"/>
            </a:lvl3pPr>
            <a:lvl4pPr marL="1827383" indent="0">
              <a:buNone/>
              <a:defRPr sz="2098" b="1"/>
            </a:lvl4pPr>
            <a:lvl5pPr marL="2436511" indent="0">
              <a:buNone/>
              <a:defRPr sz="2098" b="1"/>
            </a:lvl5pPr>
            <a:lvl6pPr marL="3045639" indent="0">
              <a:buNone/>
              <a:defRPr sz="2098" b="1"/>
            </a:lvl6pPr>
            <a:lvl7pPr marL="3654766" indent="0">
              <a:buNone/>
              <a:defRPr sz="2098" b="1"/>
            </a:lvl7pPr>
            <a:lvl8pPr marL="4263893" indent="0">
              <a:buNone/>
              <a:defRPr sz="2098" b="1"/>
            </a:lvl8pPr>
            <a:lvl9pPr marL="4873022" indent="0">
              <a:buNone/>
              <a:defRPr sz="2098" b="1"/>
            </a:lvl9pPr>
          </a:lstStyle>
          <a:p>
            <a:pPr lvl="0"/>
            <a:r>
              <a:rPr lang="en-US"/>
              <a:t>Click to edit master text styles</a:t>
            </a:r>
          </a:p>
        </p:txBody>
      </p:sp>
      <p:sp>
        <p:nvSpPr>
          <p:cNvPr id="11" name="Title 28"/>
          <p:cNvSpPr>
            <a:spLocks noGrp="1"/>
          </p:cNvSpPr>
          <p:nvPr>
            <p:ph type="title" hasCustomPrompt="1"/>
          </p:nvPr>
        </p:nvSpPr>
        <p:spPr bwMode="gray">
          <a:xfrm>
            <a:off x="548783" y="402336"/>
            <a:ext cx="11076268" cy="392616"/>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7" name="TextBox 6"/>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8" name="Group 7"/>
          <p:cNvGrpSpPr/>
          <p:nvPr userDrawn="1"/>
        </p:nvGrpSpPr>
        <p:grpSpPr>
          <a:xfrm>
            <a:off x="554485" y="6421482"/>
            <a:ext cx="734547"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1734197005"/>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548785" y="1307596"/>
            <a:ext cx="5380359"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244692" y="1307596"/>
            <a:ext cx="5380359"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173373010"/>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chemeClr val="tx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548785" y="1307596"/>
            <a:ext cx="5380359"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244692" y="1307596"/>
            <a:ext cx="5380359"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7" name="TextBox 6"/>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8" name="Group 7"/>
          <p:cNvGrpSpPr/>
          <p:nvPr userDrawn="1"/>
        </p:nvGrpSpPr>
        <p:grpSpPr>
          <a:xfrm>
            <a:off x="554485" y="6421482"/>
            <a:ext cx="734547"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8"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721385729"/>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548785" y="1307593"/>
            <a:ext cx="3475625"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8" name="Content Placeholder 2"/>
          <p:cNvSpPr>
            <a:spLocks noGrp="1"/>
          </p:cNvSpPr>
          <p:nvPr>
            <p:ph sz="half" idx="10"/>
          </p:nvPr>
        </p:nvSpPr>
        <p:spPr bwMode="gray">
          <a:xfrm>
            <a:off x="4349107" y="1307593"/>
            <a:ext cx="3475625"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149426" y="1307593"/>
            <a:ext cx="3475625"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407864"/>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chemeClr val="tx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548785" y="1307593"/>
            <a:ext cx="3475625"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8" name="Content Placeholder 2"/>
          <p:cNvSpPr>
            <a:spLocks noGrp="1"/>
          </p:cNvSpPr>
          <p:nvPr>
            <p:ph sz="half" idx="10"/>
          </p:nvPr>
        </p:nvSpPr>
        <p:spPr bwMode="gray">
          <a:xfrm>
            <a:off x="4349107" y="1307593"/>
            <a:ext cx="3475625"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149426" y="1307593"/>
            <a:ext cx="3475625" cy="4919588"/>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12" name="Group 11"/>
          <p:cNvGrpSpPr/>
          <p:nvPr userDrawn="1"/>
        </p:nvGrpSpPr>
        <p:grpSpPr>
          <a:xfrm>
            <a:off x="554485" y="6421482"/>
            <a:ext cx="734547" cy="245008"/>
            <a:chOff x="547688" y="952500"/>
            <a:chExt cx="12190413" cy="4067175"/>
          </a:xfrm>
        </p:grpSpPr>
        <p:sp>
          <p:nvSpPr>
            <p:cNvPr id="13" name="Rectangle 12"/>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8" name="Freeform 17"/>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9" name="Freeform 18"/>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0"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1"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3175290559"/>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6038290"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548783" y="1307596"/>
            <a:ext cx="6038290"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37068" y="0"/>
            <a:ext cx="5354934" cy="6858000"/>
          </a:xfrm>
          <a:prstGeom prst="rect">
            <a:avLst/>
          </a:prstGeom>
        </p:spPr>
        <p:txBody>
          <a:bodyPr anchor="ctr"/>
          <a:lstStyle>
            <a:lvl1pPr marL="0" indent="0" algn="ctr">
              <a:buNone/>
              <a:defRPr sz="2398">
                <a:solidFill>
                  <a:schemeClr val="accent1"/>
                </a:solidFill>
              </a:defRPr>
            </a:lvl1pPr>
          </a:lstStyle>
          <a:p>
            <a:endParaRPr lang="en-US"/>
          </a:p>
        </p:txBody>
      </p:sp>
      <p:sp>
        <p:nvSpPr>
          <p:cNvPr id="18"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370166626"/>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6038290"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548783" y="1307596"/>
            <a:ext cx="6038290"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37068" y="0"/>
            <a:ext cx="5354934" cy="6858000"/>
          </a:xfrm>
          <a:prstGeom prst="rect">
            <a:avLst/>
          </a:prstGeom>
        </p:spPr>
        <p:txBody>
          <a:bodyPr anchor="ctr"/>
          <a:lstStyle>
            <a:lvl1pPr marL="0" indent="0" algn="ctr">
              <a:buNone/>
              <a:defRPr sz="2398">
                <a:solidFill>
                  <a:schemeClr val="accent1"/>
                </a:solidFill>
              </a:defRPr>
            </a:lvl1pPr>
          </a:lstStyle>
          <a:p>
            <a:endParaRPr lang="en-US"/>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19" name="TextBox 18"/>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20" name="Group 19"/>
          <p:cNvGrpSpPr/>
          <p:nvPr userDrawn="1"/>
        </p:nvGrpSpPr>
        <p:grpSpPr>
          <a:xfrm>
            <a:off x="554485" y="6421482"/>
            <a:ext cx="734547" cy="245008"/>
            <a:chOff x="547688" y="952500"/>
            <a:chExt cx="12190413" cy="4067175"/>
          </a:xfrm>
        </p:grpSpPr>
        <p:sp>
          <p:nvSpPr>
            <p:cNvPr id="21" name="Rectangle 2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2" name="Freeform 2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3" name="Freeform 2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4" name="Freeform 2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5" name="Freeform 2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155366129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3"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8"/>
          </a:p>
        </p:txBody>
      </p:sp>
      <p:sp>
        <p:nvSpPr>
          <p:cNvPr id="6" name="Picture Placeholder 8"/>
          <p:cNvSpPr>
            <a:spLocks noGrp="1"/>
          </p:cNvSpPr>
          <p:nvPr>
            <p:ph type="pic" sz="quarter" idx="16"/>
          </p:nvPr>
        </p:nvSpPr>
        <p:spPr>
          <a:xfrm>
            <a:off x="4062849" y="0"/>
            <a:ext cx="8129151" cy="6858000"/>
          </a:xfrm>
          <a:prstGeom prst="rect">
            <a:avLst/>
          </a:prstGeom>
        </p:spPr>
        <p:txBody>
          <a:bodyPr anchor="ctr"/>
          <a:lstStyle>
            <a:lvl1pPr marL="0" indent="0" algn="ctr">
              <a:buNone/>
              <a:defRPr sz="2398">
                <a:solidFill>
                  <a:schemeClr val="accent1"/>
                </a:solidFill>
              </a:defRPr>
            </a:lvl1pPr>
          </a:lstStyle>
          <a:p>
            <a:endParaRPr lang="en-US"/>
          </a:p>
        </p:txBody>
      </p:sp>
      <p:sp>
        <p:nvSpPr>
          <p:cNvPr id="14" name="Text Placeholder 3"/>
          <p:cNvSpPr>
            <a:spLocks noGrp="1"/>
          </p:cNvSpPr>
          <p:nvPr>
            <p:ph type="body" sz="quarter" idx="18" hasCustomPrompt="1"/>
          </p:nvPr>
        </p:nvSpPr>
        <p:spPr>
          <a:xfrm>
            <a:off x="548783" y="849538"/>
            <a:ext cx="3514066" cy="1926795"/>
          </a:xfrm>
          <a:prstGeom prst="rect">
            <a:avLst/>
          </a:prstGeom>
          <a:noFill/>
        </p:spPr>
        <p:txBody>
          <a:bodyPr lIns="0" tIns="0" rIns="0" bIns="0" anchor="t">
            <a:noAutofit/>
          </a:bodyPr>
          <a:lstStyle>
            <a:lvl1pPr marL="0" indent="0">
              <a:lnSpc>
                <a:spcPts val="4198"/>
              </a:lnSpc>
              <a:spcBef>
                <a:spcPts val="0"/>
              </a:spcBef>
              <a:buFont typeface="Arial" panose="020B0604020202020204" pitchFamily="34" charset="0"/>
              <a:buNone/>
              <a:defRPr sz="4598" b="1" strike="noStrike" spc="-150" baseline="0">
                <a:solidFill>
                  <a:schemeClr val="tx1"/>
                </a:solidFill>
              </a:defRPr>
            </a:lvl1pPr>
            <a:lvl2pPr marL="341109" indent="0">
              <a:buNone/>
              <a:defRPr/>
            </a:lvl2pPr>
            <a:lvl3pPr marL="679042" indent="0">
              <a:buNone/>
              <a:defRPr/>
            </a:lvl3pPr>
            <a:lvl4pPr marL="966207" indent="0">
              <a:buNone/>
              <a:defRPr/>
            </a:lvl4pPr>
            <a:lvl5pPr marL="1145487" indent="0">
              <a:buNone/>
              <a:defRPr/>
            </a:lvl5pPr>
          </a:lstStyle>
          <a:p>
            <a:pPr lvl="0"/>
            <a:r>
              <a:rPr lang="en-US"/>
              <a:t>Photo plus</a:t>
            </a:r>
            <a:br>
              <a:rPr lang="en-US"/>
            </a:br>
            <a:r>
              <a:rPr lang="en-US"/>
              <a:t>statement</a:t>
            </a:r>
            <a:br>
              <a:rPr lang="en-US"/>
            </a:br>
            <a:r>
              <a:rPr lang="en-US"/>
              <a:t>layout</a:t>
            </a:r>
          </a:p>
        </p:txBody>
      </p:sp>
      <p:sp>
        <p:nvSpPr>
          <p:cNvPr id="8" name="Text Placeholder 7"/>
          <p:cNvSpPr>
            <a:spLocks noGrp="1"/>
          </p:cNvSpPr>
          <p:nvPr>
            <p:ph type="body" sz="quarter" idx="19" hasCustomPrompt="1"/>
          </p:nvPr>
        </p:nvSpPr>
        <p:spPr>
          <a:xfrm>
            <a:off x="548786" y="2943641"/>
            <a:ext cx="3514065" cy="1641615"/>
          </a:xfrm>
          <a:prstGeom prst="rect">
            <a:avLst/>
          </a:prstGeom>
        </p:spPr>
        <p:txBody>
          <a:bodyPr lIns="0" tIns="0" rIns="0" bIns="0"/>
          <a:lstStyle>
            <a:lvl1pPr marL="0" indent="0">
              <a:lnSpc>
                <a:spcPts val="2398"/>
              </a:lnSpc>
              <a:spcBef>
                <a:spcPts val="0"/>
              </a:spcBef>
              <a:buNone/>
              <a:defRPr sz="2398" baseline="0">
                <a:solidFill>
                  <a:schemeClr val="tx1"/>
                </a:solidFill>
              </a:defRPr>
            </a:lvl1pPr>
            <a:lvl2pPr marL="609128" indent="0">
              <a:buNone/>
              <a:defRPr/>
            </a:lvl2pPr>
            <a:lvl3pPr marL="1218254" indent="0">
              <a:buNone/>
              <a:defRPr/>
            </a:lvl3pPr>
            <a:lvl4pPr marL="1827383" indent="0">
              <a:buNone/>
              <a:defRPr/>
            </a:lvl4pPr>
            <a:lvl5pPr marL="2436511" indent="0">
              <a:buNone/>
              <a:defRPr/>
            </a:lvl5pPr>
          </a:lstStyle>
          <a:p>
            <a:pPr lvl="0"/>
            <a:r>
              <a:rPr lang="en-US"/>
              <a:t>Subtitle goes here</a:t>
            </a:r>
          </a:p>
        </p:txBody>
      </p:sp>
      <p:sp>
        <p:nvSpPr>
          <p:cNvPr id="18"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794122346"/>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chemeClr val="tx1"/>
        </a:solidFill>
        <a:effectLst/>
      </p:bgPr>
    </p:bg>
    <p:spTree>
      <p:nvGrpSpPr>
        <p:cNvPr id="1" name=""/>
        <p:cNvGrpSpPr/>
        <p:nvPr/>
      </p:nvGrpSpPr>
      <p:grpSpPr>
        <a:xfrm>
          <a:off x="0" y="0"/>
          <a:ext cx="0" cy="0"/>
          <a:chOff x="0" y="0"/>
          <a:chExt cx="0" cy="0"/>
        </a:xfrm>
      </p:grpSpPr>
      <p:sp>
        <p:nvSpPr>
          <p:cNvPr id="3" name="Rectangle 2"/>
          <p:cNvSpPr/>
          <p:nvPr userDrawn="1"/>
        </p:nvSpPr>
        <p:spPr>
          <a:xfrm>
            <a:off x="3"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8"/>
          </a:p>
        </p:txBody>
      </p:sp>
      <p:sp>
        <p:nvSpPr>
          <p:cNvPr id="6" name="Picture Placeholder 8"/>
          <p:cNvSpPr>
            <a:spLocks noGrp="1"/>
          </p:cNvSpPr>
          <p:nvPr>
            <p:ph type="pic" sz="quarter" idx="16"/>
          </p:nvPr>
        </p:nvSpPr>
        <p:spPr>
          <a:xfrm>
            <a:off x="4062849" y="0"/>
            <a:ext cx="8129151" cy="6858000"/>
          </a:xfrm>
          <a:prstGeom prst="rect">
            <a:avLst/>
          </a:prstGeom>
        </p:spPr>
        <p:txBody>
          <a:bodyPr anchor="ctr"/>
          <a:lstStyle>
            <a:lvl1pPr marL="0" indent="0" algn="ctr">
              <a:buNone/>
              <a:defRPr sz="2398">
                <a:solidFill>
                  <a:schemeClr val="accent1"/>
                </a:solidFill>
              </a:defRPr>
            </a:lvl1pPr>
          </a:lstStyle>
          <a:p>
            <a:endParaRPr lang="en-US"/>
          </a:p>
        </p:txBody>
      </p:sp>
      <p:sp>
        <p:nvSpPr>
          <p:cNvPr id="14" name="Text Placeholder 3"/>
          <p:cNvSpPr>
            <a:spLocks noGrp="1"/>
          </p:cNvSpPr>
          <p:nvPr>
            <p:ph type="body" sz="quarter" idx="18" hasCustomPrompt="1"/>
          </p:nvPr>
        </p:nvSpPr>
        <p:spPr>
          <a:xfrm>
            <a:off x="548783" y="849538"/>
            <a:ext cx="3514066" cy="1926795"/>
          </a:xfrm>
          <a:prstGeom prst="rect">
            <a:avLst/>
          </a:prstGeom>
          <a:noFill/>
        </p:spPr>
        <p:txBody>
          <a:bodyPr lIns="0" tIns="0" rIns="0" bIns="0" anchor="t">
            <a:noAutofit/>
          </a:bodyPr>
          <a:lstStyle>
            <a:lvl1pPr marL="0" indent="0">
              <a:lnSpc>
                <a:spcPts val="4198"/>
              </a:lnSpc>
              <a:spcBef>
                <a:spcPts val="0"/>
              </a:spcBef>
              <a:buFont typeface="Arial" panose="020B0604020202020204" pitchFamily="34" charset="0"/>
              <a:buNone/>
              <a:defRPr sz="4598" b="1" strike="noStrike" spc="-150" baseline="0">
                <a:solidFill>
                  <a:schemeClr val="bg1"/>
                </a:solidFill>
              </a:defRPr>
            </a:lvl1pPr>
            <a:lvl2pPr marL="341109" indent="0">
              <a:buNone/>
              <a:defRPr/>
            </a:lvl2pPr>
            <a:lvl3pPr marL="679042" indent="0">
              <a:buNone/>
              <a:defRPr/>
            </a:lvl3pPr>
            <a:lvl4pPr marL="966207" indent="0">
              <a:buNone/>
              <a:defRPr/>
            </a:lvl4pPr>
            <a:lvl5pPr marL="1145487" indent="0">
              <a:buNone/>
              <a:defRPr/>
            </a:lvl5pPr>
          </a:lstStyle>
          <a:p>
            <a:pPr lvl="0"/>
            <a:r>
              <a:rPr lang="en-US"/>
              <a:t>Photo plus</a:t>
            </a:r>
            <a:br>
              <a:rPr lang="en-US"/>
            </a:br>
            <a:r>
              <a:rPr lang="en-US"/>
              <a:t>statement</a:t>
            </a:r>
            <a:br>
              <a:rPr lang="en-US"/>
            </a:br>
            <a:r>
              <a:rPr lang="en-US"/>
              <a:t>layout</a:t>
            </a:r>
          </a:p>
        </p:txBody>
      </p:sp>
      <p:sp>
        <p:nvSpPr>
          <p:cNvPr id="8" name="Text Placeholder 7"/>
          <p:cNvSpPr>
            <a:spLocks noGrp="1"/>
          </p:cNvSpPr>
          <p:nvPr>
            <p:ph type="body" sz="quarter" idx="19" hasCustomPrompt="1"/>
          </p:nvPr>
        </p:nvSpPr>
        <p:spPr>
          <a:xfrm>
            <a:off x="548786" y="2943641"/>
            <a:ext cx="3514065" cy="1641615"/>
          </a:xfrm>
          <a:prstGeom prst="rect">
            <a:avLst/>
          </a:prstGeom>
        </p:spPr>
        <p:txBody>
          <a:bodyPr lIns="0" tIns="0" rIns="0" bIns="0"/>
          <a:lstStyle>
            <a:lvl1pPr marL="0" indent="0">
              <a:lnSpc>
                <a:spcPts val="2398"/>
              </a:lnSpc>
              <a:spcBef>
                <a:spcPts val="0"/>
              </a:spcBef>
              <a:buNone/>
              <a:defRPr sz="2398" baseline="0">
                <a:solidFill>
                  <a:schemeClr val="bg1"/>
                </a:solidFill>
              </a:defRPr>
            </a:lvl1pPr>
            <a:lvl2pPr marL="609128" indent="0">
              <a:buNone/>
              <a:defRPr/>
            </a:lvl2pPr>
            <a:lvl3pPr marL="1218254" indent="0">
              <a:buNone/>
              <a:defRPr/>
            </a:lvl3pPr>
            <a:lvl4pPr marL="1827383" indent="0">
              <a:buNone/>
              <a:defRPr/>
            </a:lvl4pPr>
            <a:lvl5pPr marL="2436511" indent="0">
              <a:buNone/>
              <a:defRPr/>
            </a:lvl5pPr>
          </a:lstStyle>
          <a:p>
            <a:pPr lvl="0"/>
            <a:r>
              <a:rPr lang="en-US"/>
              <a:t>Subtitle goes here</a:t>
            </a:r>
          </a:p>
        </p:txBody>
      </p:sp>
      <p:sp>
        <p:nvSpPr>
          <p:cNvPr id="13"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9" name="TextBox 8"/>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10" name="Group 9"/>
          <p:cNvGrpSpPr/>
          <p:nvPr userDrawn="1"/>
        </p:nvGrpSpPr>
        <p:grpSpPr>
          <a:xfrm>
            <a:off x="554485" y="6421482"/>
            <a:ext cx="734547" cy="245008"/>
            <a:chOff x="547688" y="952500"/>
            <a:chExt cx="12190413" cy="4067175"/>
          </a:xfrm>
        </p:grpSpPr>
        <p:sp>
          <p:nvSpPr>
            <p:cNvPr id="11" name="Rectangle 1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2" name="Freeform 1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5"/>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6"/>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8"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9"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1867548734"/>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ote Layout">
    <p:bg>
      <p:bgPr>
        <a:solidFill>
          <a:schemeClr val="bg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48783" y="1276354"/>
            <a:ext cx="10167728" cy="3242641"/>
          </a:xfrm>
          <a:prstGeom prst="rect">
            <a:avLst/>
          </a:prstGeom>
        </p:spPr>
        <p:txBody>
          <a:bodyPr lIns="0" anchor="t">
            <a:normAutofit/>
          </a:bodyPr>
          <a:lstStyle>
            <a:lvl1pPr marL="0" indent="0" algn="l">
              <a:lnSpc>
                <a:spcPct val="100000"/>
              </a:lnSpc>
              <a:buNone/>
              <a:defRPr sz="4398" b="1" spc="-150">
                <a:solidFill>
                  <a:schemeClr val="tx1"/>
                </a:solidFill>
              </a:defRPr>
            </a:lvl1pPr>
            <a:lvl2pPr marL="341109" indent="0" algn="ctr">
              <a:buNone/>
              <a:defRPr>
                <a:solidFill>
                  <a:schemeClr val="bg1"/>
                </a:solidFill>
              </a:defRPr>
            </a:lvl2pPr>
            <a:lvl3pPr marL="679042" indent="0" algn="ctr">
              <a:buNone/>
              <a:defRPr>
                <a:solidFill>
                  <a:schemeClr val="bg1"/>
                </a:solidFill>
              </a:defRPr>
            </a:lvl3pPr>
            <a:lvl4pPr marL="966207" indent="0" algn="ctr">
              <a:buNone/>
              <a:defRPr>
                <a:solidFill>
                  <a:schemeClr val="bg1"/>
                </a:solidFill>
              </a:defRPr>
            </a:lvl4pPr>
            <a:lvl5pPr marL="1145487" indent="0" algn="ctr">
              <a:buNone/>
              <a:defRPr>
                <a:solidFill>
                  <a:schemeClr val="bg1"/>
                </a:solidFill>
              </a:defRPr>
            </a:lvl5pPr>
          </a:lstStyle>
          <a:p>
            <a:pPr lvl="0"/>
            <a:r>
              <a:rPr lang="en-US"/>
              <a:t>Click to edit quote</a:t>
            </a:r>
          </a:p>
        </p:txBody>
      </p:sp>
      <p:sp>
        <p:nvSpPr>
          <p:cNvPr id="17" name="Text Placeholder 110"/>
          <p:cNvSpPr>
            <a:spLocks noGrp="1"/>
          </p:cNvSpPr>
          <p:nvPr>
            <p:ph type="body" sz="quarter" idx="19" hasCustomPrompt="1"/>
          </p:nvPr>
        </p:nvSpPr>
        <p:spPr>
          <a:xfrm>
            <a:off x="554484" y="4623890"/>
            <a:ext cx="10162029" cy="876300"/>
          </a:xfrm>
          <a:prstGeom prst="rect">
            <a:avLst/>
          </a:prstGeom>
        </p:spPr>
        <p:txBody>
          <a:bodyPr lIns="0"/>
          <a:lstStyle>
            <a:lvl1pPr marL="0" indent="0" algn="l">
              <a:buNone/>
              <a:defRPr sz="2398" b="1" spc="-150" baseline="0">
                <a:solidFill>
                  <a:schemeClr val="tx1"/>
                </a:solidFill>
              </a:defRPr>
            </a:lvl1pPr>
            <a:lvl2pPr marL="341109" indent="0">
              <a:buNone/>
              <a:defRPr/>
            </a:lvl2pPr>
            <a:lvl3pPr marL="679042" indent="0">
              <a:buNone/>
              <a:defRPr/>
            </a:lvl3pPr>
            <a:lvl4pPr marL="966207" indent="0">
              <a:buNone/>
              <a:defRPr/>
            </a:lvl4pPr>
            <a:lvl5pPr marL="1145487" indent="0">
              <a:buNone/>
              <a:defRPr/>
            </a:lvl5pPr>
          </a:lstStyle>
          <a:p>
            <a:pPr lvl="0"/>
            <a:r>
              <a:rPr lang="en-US"/>
              <a:t>Click to edit quote source</a:t>
            </a:r>
          </a:p>
        </p:txBody>
      </p:sp>
      <p:grpSp>
        <p:nvGrpSpPr>
          <p:cNvPr id="12" name="Group 11"/>
          <p:cNvGrpSpPr/>
          <p:nvPr userDrawn="1"/>
        </p:nvGrpSpPr>
        <p:grpSpPr>
          <a:xfrm>
            <a:off x="548783" y="398468"/>
            <a:ext cx="990858" cy="735013"/>
            <a:chOff x="657226" y="398463"/>
            <a:chExt cx="990600" cy="735013"/>
          </a:xfrm>
          <a:gradFill>
            <a:gsLst>
              <a:gs pos="0">
                <a:srgbClr val="F2A11F"/>
              </a:gs>
              <a:gs pos="37000">
                <a:srgbClr val="EC5124"/>
              </a:gs>
              <a:gs pos="79000">
                <a:srgbClr val="D32A27"/>
              </a:gs>
              <a:gs pos="100000">
                <a:srgbClr val="7A425E"/>
              </a:gs>
            </a:gsLst>
            <a:lin ang="2400000" scaled="0"/>
          </a:gradFill>
        </p:grpSpPr>
        <p:sp>
          <p:nvSpPr>
            <p:cNvPr id="7" name="Freeform 5"/>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8" name="Freeform 6"/>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
        <p:nvSpPr>
          <p:cNvPr id="2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749705239"/>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Quote Layout_Black">
    <p:bg>
      <p:bgPr>
        <a:solidFill>
          <a:schemeClr val="tx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48783" y="1276354"/>
            <a:ext cx="10167728" cy="3242641"/>
          </a:xfrm>
          <a:prstGeom prst="rect">
            <a:avLst/>
          </a:prstGeom>
        </p:spPr>
        <p:txBody>
          <a:bodyPr lIns="0" anchor="t">
            <a:normAutofit/>
          </a:bodyPr>
          <a:lstStyle>
            <a:lvl1pPr marL="0" indent="0" algn="l">
              <a:lnSpc>
                <a:spcPct val="100000"/>
              </a:lnSpc>
              <a:buNone/>
              <a:defRPr sz="4398" b="1" spc="-150">
                <a:solidFill>
                  <a:schemeClr val="bg1"/>
                </a:solidFill>
              </a:defRPr>
            </a:lvl1pPr>
            <a:lvl2pPr marL="341109" indent="0" algn="ctr">
              <a:buNone/>
              <a:defRPr>
                <a:solidFill>
                  <a:schemeClr val="bg1"/>
                </a:solidFill>
              </a:defRPr>
            </a:lvl2pPr>
            <a:lvl3pPr marL="679042" indent="0" algn="ctr">
              <a:buNone/>
              <a:defRPr>
                <a:solidFill>
                  <a:schemeClr val="bg1"/>
                </a:solidFill>
              </a:defRPr>
            </a:lvl3pPr>
            <a:lvl4pPr marL="966207" indent="0" algn="ctr">
              <a:buNone/>
              <a:defRPr>
                <a:solidFill>
                  <a:schemeClr val="bg1"/>
                </a:solidFill>
              </a:defRPr>
            </a:lvl4pPr>
            <a:lvl5pPr marL="1145487" indent="0" algn="ctr">
              <a:buNone/>
              <a:defRPr>
                <a:solidFill>
                  <a:schemeClr val="bg1"/>
                </a:solidFill>
              </a:defRPr>
            </a:lvl5pPr>
          </a:lstStyle>
          <a:p>
            <a:pPr lvl="0"/>
            <a:r>
              <a:rPr lang="en-US"/>
              <a:t>Click to edit quote</a:t>
            </a:r>
          </a:p>
        </p:txBody>
      </p:sp>
      <p:sp>
        <p:nvSpPr>
          <p:cNvPr id="17" name="Text Placeholder 110"/>
          <p:cNvSpPr>
            <a:spLocks noGrp="1"/>
          </p:cNvSpPr>
          <p:nvPr>
            <p:ph type="body" sz="quarter" idx="19" hasCustomPrompt="1"/>
          </p:nvPr>
        </p:nvSpPr>
        <p:spPr>
          <a:xfrm>
            <a:off x="554484" y="4623890"/>
            <a:ext cx="10162029" cy="876300"/>
          </a:xfrm>
          <a:prstGeom prst="rect">
            <a:avLst/>
          </a:prstGeom>
        </p:spPr>
        <p:txBody>
          <a:bodyPr lIns="0"/>
          <a:lstStyle>
            <a:lvl1pPr marL="0" indent="0" algn="l">
              <a:buNone/>
              <a:defRPr sz="2398" b="1" spc="-150" baseline="0">
                <a:solidFill>
                  <a:schemeClr val="bg1"/>
                </a:solidFill>
              </a:defRPr>
            </a:lvl1pPr>
            <a:lvl2pPr marL="341109" indent="0">
              <a:buNone/>
              <a:defRPr/>
            </a:lvl2pPr>
            <a:lvl3pPr marL="679042" indent="0">
              <a:buNone/>
              <a:defRPr/>
            </a:lvl3pPr>
            <a:lvl4pPr marL="966207" indent="0">
              <a:buNone/>
              <a:defRPr/>
            </a:lvl4pPr>
            <a:lvl5pPr marL="1145487" indent="0">
              <a:buNone/>
              <a:defRPr/>
            </a:lvl5pPr>
          </a:lstStyle>
          <a:p>
            <a:pPr lvl="0"/>
            <a:r>
              <a:rPr lang="en-US"/>
              <a:t>Click to edit quote source</a:t>
            </a:r>
          </a:p>
        </p:txBody>
      </p:sp>
      <p:sp>
        <p:nvSpPr>
          <p:cNvPr id="14"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9" name="TextBox 8"/>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10" name="Group 9"/>
          <p:cNvGrpSpPr/>
          <p:nvPr userDrawn="1"/>
        </p:nvGrpSpPr>
        <p:grpSpPr>
          <a:xfrm>
            <a:off x="554485" y="6421482"/>
            <a:ext cx="734547" cy="245008"/>
            <a:chOff x="547688" y="952500"/>
            <a:chExt cx="12190413" cy="4067175"/>
          </a:xfrm>
        </p:grpSpPr>
        <p:sp>
          <p:nvSpPr>
            <p:cNvPr id="11" name="Rectangle 1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2"/>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5"/>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8" name="Freeform 17"/>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9" name="Freeform 18"/>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0"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1"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grpSp>
        <p:nvGrpSpPr>
          <p:cNvPr id="22" name="Group 21">
            <a:extLst>
              <a:ext uri="{FF2B5EF4-FFF2-40B4-BE49-F238E27FC236}">
                <a16:creationId xmlns:a16="http://schemas.microsoft.com/office/drawing/2014/main" id="{99371872-34E0-4E87-A880-855C986DEFEB}"/>
              </a:ext>
            </a:extLst>
          </p:cNvPr>
          <p:cNvGrpSpPr/>
          <p:nvPr userDrawn="1"/>
        </p:nvGrpSpPr>
        <p:grpSpPr>
          <a:xfrm>
            <a:off x="548783" y="398468"/>
            <a:ext cx="990858" cy="735013"/>
            <a:chOff x="657226" y="398463"/>
            <a:chExt cx="990600" cy="735013"/>
          </a:xfrm>
          <a:gradFill>
            <a:gsLst>
              <a:gs pos="0">
                <a:srgbClr val="F2A11F"/>
              </a:gs>
              <a:gs pos="37000">
                <a:srgbClr val="EC5124"/>
              </a:gs>
              <a:gs pos="79000">
                <a:srgbClr val="D32A27"/>
              </a:gs>
              <a:gs pos="100000">
                <a:srgbClr val="7A425E"/>
              </a:gs>
            </a:gsLst>
            <a:lin ang="2400000" scaled="0"/>
          </a:gradFill>
        </p:grpSpPr>
        <p:sp>
          <p:nvSpPr>
            <p:cNvPr id="23" name="Freeform 5">
              <a:extLst>
                <a:ext uri="{FF2B5EF4-FFF2-40B4-BE49-F238E27FC236}">
                  <a16:creationId xmlns:a16="http://schemas.microsoft.com/office/drawing/2014/main" id="{CA59E31A-C52B-4474-A5A0-530DF770A454}"/>
                </a:ext>
              </a:extLst>
            </p:cNvPr>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24" name="Freeform 6">
              <a:extLst>
                <a:ext uri="{FF2B5EF4-FFF2-40B4-BE49-F238E27FC236}">
                  <a16:creationId xmlns:a16="http://schemas.microsoft.com/office/drawing/2014/main" id="{123B3F17-34EE-4FBA-8852-7ED07762D8EB}"/>
                </a:ext>
              </a:extLst>
            </p:cNvPr>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Tree>
    <p:extLst>
      <p:ext uri="{BB962C8B-B14F-4D97-AF65-F5344CB8AC3E}">
        <p14:creationId xmlns:p14="http://schemas.microsoft.com/office/powerpoint/2010/main" val="1432379846"/>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2" y="0"/>
            <a:ext cx="6568599" cy="6858000"/>
          </a:xfrm>
          <a:prstGeom prst="rect">
            <a:avLst/>
          </a:prstGeom>
        </p:spPr>
        <p:txBody>
          <a:bodyPr anchor="ctr"/>
          <a:lstStyle>
            <a:lvl1pPr marL="0" indent="0" algn="ctr">
              <a:buNone/>
              <a:defRPr sz="2398">
                <a:solidFill>
                  <a:schemeClr val="accent1"/>
                </a:solidFill>
              </a:defRPr>
            </a:lvl1pPr>
          </a:lstStyle>
          <a:p>
            <a:endParaRPr lang="en-US"/>
          </a:p>
        </p:txBody>
      </p:sp>
      <p:sp>
        <p:nvSpPr>
          <p:cNvPr id="9" name="Content Placeholder 2"/>
          <p:cNvSpPr>
            <a:spLocks noGrp="1"/>
          </p:cNvSpPr>
          <p:nvPr>
            <p:ph sz="half" idx="18"/>
          </p:nvPr>
        </p:nvSpPr>
        <p:spPr bwMode="gray">
          <a:xfrm>
            <a:off x="6837067" y="1307596"/>
            <a:ext cx="4708781" cy="4919589"/>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tx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tx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tx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37066" y="402336"/>
            <a:ext cx="4708781"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title</a:t>
            </a:r>
          </a:p>
        </p:txBody>
      </p:sp>
      <p:sp>
        <p:nvSpPr>
          <p:cNvPr id="18"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517955409"/>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chemeClr val="tx1"/>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2" y="0"/>
            <a:ext cx="6568599" cy="6858000"/>
          </a:xfrm>
          <a:prstGeom prst="rect">
            <a:avLst/>
          </a:prstGeom>
        </p:spPr>
        <p:txBody>
          <a:bodyPr anchor="ctr"/>
          <a:lstStyle>
            <a:lvl1pPr marL="0" indent="0" algn="ctr">
              <a:buNone/>
              <a:defRPr sz="2398">
                <a:solidFill>
                  <a:schemeClr val="accent1"/>
                </a:solidFill>
              </a:defRPr>
            </a:lvl1pPr>
          </a:lstStyle>
          <a:p>
            <a:endParaRPr lang="en-US"/>
          </a:p>
        </p:txBody>
      </p:sp>
      <p:sp>
        <p:nvSpPr>
          <p:cNvPr id="9" name="Content Placeholder 2"/>
          <p:cNvSpPr>
            <a:spLocks noGrp="1"/>
          </p:cNvSpPr>
          <p:nvPr>
            <p:ph sz="half" idx="18"/>
          </p:nvPr>
        </p:nvSpPr>
        <p:spPr bwMode="gray">
          <a:xfrm>
            <a:off x="6837067" y="1307592"/>
            <a:ext cx="4708781" cy="5023760"/>
          </a:xfrm>
          <a:prstGeom prst="rect">
            <a:avLst/>
          </a:prstGeom>
        </p:spPr>
        <p:txBody>
          <a:bodyPr lIns="0" tIns="0" rIns="0" bIns="0"/>
          <a:lstStyle>
            <a:lvl1pPr marL="171348" indent="-171348">
              <a:lnSpc>
                <a:spcPct val="90000"/>
              </a:lnSpc>
              <a:spcBef>
                <a:spcPts val="500"/>
              </a:spcBef>
              <a:buClrTx/>
              <a:buFont typeface="Arial" panose="020B0604020202020204" pitchFamily="34" charset="0"/>
              <a:buChar char="•"/>
              <a:defRPr sz="1998">
                <a:solidFill>
                  <a:schemeClr val="bg1"/>
                </a:solidFill>
                <a:latin typeface="Arial" pitchFamily="34" charset="0"/>
                <a:cs typeface="Arial" pitchFamily="34" charset="0"/>
              </a:defRPr>
            </a:lvl1pPr>
            <a:lvl2pPr marL="609127" indent="-228422">
              <a:lnSpc>
                <a:spcPct val="90000"/>
              </a:lnSpc>
              <a:spcBef>
                <a:spcPts val="500"/>
              </a:spcBef>
              <a:buClrTx/>
              <a:buFont typeface="Arial" pitchFamily="34" charset="0"/>
              <a:buChar char="–"/>
              <a:defRPr sz="1798">
                <a:solidFill>
                  <a:schemeClr val="bg1"/>
                </a:solidFill>
                <a:latin typeface="Arial" pitchFamily="34" charset="0"/>
                <a:cs typeface="Arial" pitchFamily="34" charset="0"/>
              </a:defRPr>
            </a:lvl2pPr>
            <a:lvl3pPr marL="835436"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3pPr>
            <a:lvl4pPr marL="1146345" indent="-156512">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4pPr>
            <a:lvl5pPr marL="1444564" indent="-150168">
              <a:lnSpc>
                <a:spcPct val="90000"/>
              </a:lnSpc>
              <a:spcBef>
                <a:spcPts val="500"/>
              </a:spcBef>
              <a:buClrTx/>
              <a:buFont typeface="Arial" panose="020B0604020202020204" pitchFamily="34" charset="0"/>
              <a:buChar char="-"/>
              <a:defRPr sz="1798">
                <a:solidFill>
                  <a:schemeClr val="bg1"/>
                </a:solidFill>
                <a:latin typeface="Arial" pitchFamily="34" charset="0"/>
                <a:cs typeface="Arial" pitchFamily="34" charset="0"/>
              </a:defRPr>
            </a:lvl5pPr>
            <a:lvl6pPr>
              <a:defRPr sz="2398"/>
            </a:lvl6pPr>
            <a:lvl7pPr>
              <a:defRPr sz="2398"/>
            </a:lvl7pPr>
            <a:lvl8pPr>
              <a:defRPr sz="2398"/>
            </a:lvl8pPr>
            <a:lvl9pPr>
              <a:defRPr sz="23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37066" y="402336"/>
            <a:ext cx="4708781"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title</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8" name="TextBox 7"/>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10" name="Group 9"/>
          <p:cNvGrpSpPr/>
          <p:nvPr userDrawn="1"/>
        </p:nvGrpSpPr>
        <p:grpSpPr>
          <a:xfrm>
            <a:off x="554485" y="6421482"/>
            <a:ext cx="734547" cy="245008"/>
            <a:chOff x="547688" y="952500"/>
            <a:chExt cx="12190413" cy="4067175"/>
          </a:xfrm>
        </p:grpSpPr>
        <p:sp>
          <p:nvSpPr>
            <p:cNvPr id="13" name="Rectangle 12"/>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5"/>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6"/>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8"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9"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4066656359"/>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548785" y="1307593"/>
            <a:ext cx="11076269" cy="4919588"/>
          </a:xfrm>
          <a:prstGeom prst="rect">
            <a:avLst/>
          </a:prstGeom>
        </p:spPr>
        <p:txBody>
          <a:bodyPr lIns="121899" tIns="853291" rIns="121899" bIns="60949" anchor="ctr" anchorCtr="0"/>
          <a:lstStyle>
            <a:lvl1pPr marL="0" indent="0" algn="ctr">
              <a:buFontTx/>
              <a:buNone/>
              <a:defRPr sz="2398" baseline="0">
                <a:solidFill>
                  <a:schemeClr val="bg2"/>
                </a:solidFill>
              </a:defRPr>
            </a:lvl1pPr>
          </a:lstStyle>
          <a:p>
            <a:r>
              <a:rPr lang="en-US"/>
              <a:t>Click icon to create chart</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276513357"/>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hart Slide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255" rtl="0" eaLnBrk="1" latinLnBrk="0" hangingPunct="1">
              <a:lnSpc>
                <a:spcPts val="3198"/>
              </a:lnSpc>
              <a:spcBef>
                <a:spcPct val="0"/>
              </a:spcBef>
              <a:buNone/>
              <a:tabLst>
                <a:tab pos="1218255" algn="l"/>
              </a:tabLst>
              <a:defRPr lang="en-US" sz="3198"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548785" y="1307593"/>
            <a:ext cx="11076269" cy="4919588"/>
          </a:xfrm>
          <a:prstGeom prst="rect">
            <a:avLst/>
          </a:prstGeom>
        </p:spPr>
        <p:txBody>
          <a:bodyPr lIns="121899" tIns="853291" rIns="121899" bIns="60949" anchor="ctr" anchorCtr="0"/>
          <a:lstStyle>
            <a:lvl1pPr marL="0" indent="0" algn="ctr">
              <a:buFontTx/>
              <a:buNone/>
              <a:defRPr sz="2398" baseline="0">
                <a:solidFill>
                  <a:schemeClr val="bg1"/>
                </a:solidFill>
              </a:defRPr>
            </a:lvl1pPr>
          </a:lstStyle>
          <a:p>
            <a:r>
              <a:rPr lang="en-US"/>
              <a:t>Click icon to create chart</a:t>
            </a:r>
          </a:p>
        </p:txBody>
      </p:sp>
      <p:sp>
        <p:nvSpPr>
          <p:cNvPr id="1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6" name="TextBox 5"/>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7" name="Group 6"/>
          <p:cNvGrpSpPr/>
          <p:nvPr userDrawn="1"/>
        </p:nvGrpSpPr>
        <p:grpSpPr>
          <a:xfrm>
            <a:off x="554485" y="6421482"/>
            <a:ext cx="734547"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2" name="Freeform 1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2959427962"/>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74129397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chemeClr val="tx1"/>
        </a:solidFill>
        <a:effectLst/>
      </p:bgPr>
    </p:bg>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14" name="TextBox 13"/>
          <p:cNvSpPr txBox="1"/>
          <p:nvPr userDrawn="1"/>
        </p:nvSpPr>
        <p:spPr>
          <a:xfrm>
            <a:off x="1396578"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2020 Lenovo Internal. All rights reserved.</a:t>
            </a:r>
          </a:p>
        </p:txBody>
      </p:sp>
      <p:grpSp>
        <p:nvGrpSpPr>
          <p:cNvPr id="15" name="Group 14"/>
          <p:cNvGrpSpPr/>
          <p:nvPr userDrawn="1"/>
        </p:nvGrpSpPr>
        <p:grpSpPr>
          <a:xfrm>
            <a:off x="554485" y="6421482"/>
            <a:ext cx="734547" cy="245008"/>
            <a:chOff x="547688" y="952500"/>
            <a:chExt cx="12190413" cy="4067175"/>
          </a:xfrm>
        </p:grpSpPr>
        <p:sp>
          <p:nvSpPr>
            <p:cNvPr id="16" name="Rectangle 15"/>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7" name="Freeform 16"/>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8" name="Freeform 17"/>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19" name="Freeform 18"/>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0" name="Freeform 19"/>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1"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sp>
          <p:nvSpPr>
            <p:cNvPr id="22"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solidFill>
                  <a:schemeClr val="bg1"/>
                </a:solidFill>
              </a:endParaRPr>
            </a:p>
          </p:txBody>
        </p:sp>
      </p:grpSp>
    </p:spTree>
    <p:extLst>
      <p:ext uri="{BB962C8B-B14F-4D97-AF65-F5344CB8AC3E}">
        <p14:creationId xmlns:p14="http://schemas.microsoft.com/office/powerpoint/2010/main" val="2372806517"/>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grpSp>
        <p:nvGrpSpPr>
          <p:cNvPr id="81" name="Group 80"/>
          <p:cNvGrpSpPr/>
          <p:nvPr userDrawn="1"/>
        </p:nvGrpSpPr>
        <p:grpSpPr>
          <a:xfrm rot="16200000">
            <a:off x="373582" y="2655459"/>
            <a:ext cx="6856214" cy="1545292"/>
            <a:chOff x="541049" y="2649538"/>
            <a:chExt cx="9285724" cy="2092325"/>
          </a:xfrm>
          <a:solidFill>
            <a:schemeClr val="tx1"/>
          </a:solidFill>
        </p:grpSpPr>
        <p:sp>
          <p:nvSpPr>
            <p:cNvPr id="5" name="Freeform 5"/>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8" name="Freeform 6"/>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9" name="Freeform 7"/>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0" name="Freeform 8"/>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1" name="Freeform 9"/>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4" name="Freeform 10"/>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6" name="Oval 11"/>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grpSp>
        <p:nvGrpSpPr>
          <p:cNvPr id="22" name="Group 21">
            <a:extLst>
              <a:ext uri="{FF2B5EF4-FFF2-40B4-BE49-F238E27FC236}">
                <a16:creationId xmlns:a16="http://schemas.microsoft.com/office/drawing/2014/main" id="{D217900D-5033-4638-8DF2-07DE57B5B97E}"/>
              </a:ext>
            </a:extLst>
          </p:cNvPr>
          <p:cNvGrpSpPr/>
          <p:nvPr userDrawn="1"/>
        </p:nvGrpSpPr>
        <p:grpSpPr>
          <a:xfrm>
            <a:off x="7047163" y="1676401"/>
            <a:ext cx="5146427" cy="3505200"/>
            <a:chOff x="7045325" y="1676401"/>
            <a:chExt cx="5145087" cy="3505200"/>
          </a:xfrm>
        </p:grpSpPr>
        <p:sp>
          <p:nvSpPr>
            <p:cNvPr id="12" name="Freeform 5">
              <a:extLst>
                <a:ext uri="{FF2B5EF4-FFF2-40B4-BE49-F238E27FC236}">
                  <a16:creationId xmlns:a16="http://schemas.microsoft.com/office/drawing/2014/main" id="{42A022AC-236A-4C47-9960-6BBBDE197CD4}"/>
                </a:ext>
              </a:extLst>
            </p:cNvPr>
            <p:cNvSpPr>
              <a:spLocks noEditPoints="1"/>
            </p:cNvSpPr>
            <p:nvPr userDrawn="1"/>
          </p:nvSpPr>
          <p:spPr bwMode="auto">
            <a:xfrm>
              <a:off x="7045325" y="1676401"/>
              <a:ext cx="5145087" cy="3505200"/>
            </a:xfrm>
            <a:custGeom>
              <a:avLst/>
              <a:gdLst>
                <a:gd name="T0" fmla="*/ 717 w 2697"/>
                <a:gd name="T1" fmla="*/ 241 h 1832"/>
                <a:gd name="T2" fmla="*/ 698 w 2697"/>
                <a:gd name="T3" fmla="*/ 358 h 1832"/>
                <a:gd name="T4" fmla="*/ 755 w 2697"/>
                <a:gd name="T5" fmla="*/ 353 h 1832"/>
                <a:gd name="T6" fmla="*/ 952 w 2697"/>
                <a:gd name="T7" fmla="*/ 431 h 1832"/>
                <a:gd name="T8" fmla="*/ 1077 w 2697"/>
                <a:gd name="T9" fmla="*/ 299 h 1832"/>
                <a:gd name="T10" fmla="*/ 769 w 2697"/>
                <a:gd name="T11" fmla="*/ 229 h 1832"/>
                <a:gd name="T12" fmla="*/ 1219 w 2697"/>
                <a:gd name="T13" fmla="*/ 431 h 1832"/>
                <a:gd name="T14" fmla="*/ 1120 w 2697"/>
                <a:gd name="T15" fmla="*/ 287 h 1832"/>
                <a:gd name="T16" fmla="*/ 1089 w 2697"/>
                <a:gd name="T17" fmla="*/ 373 h 1832"/>
                <a:gd name="T18" fmla="*/ 1175 w 2697"/>
                <a:gd name="T19" fmla="*/ 395 h 1832"/>
                <a:gd name="T20" fmla="*/ 1412 w 2697"/>
                <a:gd name="T21" fmla="*/ 225 h 1832"/>
                <a:gd name="T22" fmla="*/ 1348 w 2697"/>
                <a:gd name="T23" fmla="*/ 356 h 1832"/>
                <a:gd name="T24" fmla="*/ 1505 w 2697"/>
                <a:gd name="T25" fmla="*/ 364 h 1832"/>
                <a:gd name="T26" fmla="*/ 1448 w 2697"/>
                <a:gd name="T27" fmla="*/ 177 h 1832"/>
                <a:gd name="T28" fmla="*/ 1666 w 2697"/>
                <a:gd name="T29" fmla="*/ 435 h 1832"/>
                <a:gd name="T30" fmla="*/ 1758 w 2697"/>
                <a:gd name="T31" fmla="*/ 335 h 1832"/>
                <a:gd name="T32" fmla="*/ 1703 w 2697"/>
                <a:gd name="T33" fmla="*/ 314 h 1832"/>
                <a:gd name="T34" fmla="*/ 1892 w 2697"/>
                <a:gd name="T35" fmla="*/ 225 h 1832"/>
                <a:gd name="T36" fmla="*/ 1828 w 2697"/>
                <a:gd name="T37" fmla="*/ 356 h 1832"/>
                <a:gd name="T38" fmla="*/ 24 w 2697"/>
                <a:gd name="T39" fmla="*/ 634 h 1832"/>
                <a:gd name="T40" fmla="*/ 81 w 2697"/>
                <a:gd name="T41" fmla="*/ 720 h 1832"/>
                <a:gd name="T42" fmla="*/ 237 w 2697"/>
                <a:gd name="T43" fmla="*/ 581 h 1832"/>
                <a:gd name="T44" fmla="*/ 243 w 2697"/>
                <a:gd name="T45" fmla="*/ 745 h 1832"/>
                <a:gd name="T46" fmla="*/ 237 w 2697"/>
                <a:gd name="T47" fmla="*/ 627 h 1832"/>
                <a:gd name="T48" fmla="*/ 450 w 2697"/>
                <a:gd name="T49" fmla="*/ 631 h 1832"/>
                <a:gd name="T50" fmla="*/ 449 w 2697"/>
                <a:gd name="T51" fmla="*/ 791 h 1832"/>
                <a:gd name="T52" fmla="*/ 598 w 2697"/>
                <a:gd name="T53" fmla="*/ 512 h 1832"/>
                <a:gd name="T54" fmla="*/ 669 w 2697"/>
                <a:gd name="T55" fmla="*/ 674 h 1832"/>
                <a:gd name="T56" fmla="*/ 798 w 2697"/>
                <a:gd name="T57" fmla="*/ 614 h 1832"/>
                <a:gd name="T58" fmla="*/ 833 w 2697"/>
                <a:gd name="T59" fmla="*/ 633 h 1832"/>
                <a:gd name="T60" fmla="*/ 1155 w 2697"/>
                <a:gd name="T61" fmla="*/ 686 h 1832"/>
                <a:gd name="T62" fmla="*/ 1155 w 2697"/>
                <a:gd name="T63" fmla="*/ 686 h 1832"/>
                <a:gd name="T64" fmla="*/ 1047 w 2697"/>
                <a:gd name="T65" fmla="*/ 742 h 1832"/>
                <a:gd name="T66" fmla="*/ 1167 w 2697"/>
                <a:gd name="T67" fmla="*/ 787 h 1832"/>
                <a:gd name="T68" fmla="*/ 1453 w 2697"/>
                <a:gd name="T69" fmla="*/ 686 h 1832"/>
                <a:gd name="T70" fmla="*/ 1344 w 2697"/>
                <a:gd name="T71" fmla="*/ 631 h 1832"/>
                <a:gd name="T72" fmla="*/ 1562 w 2697"/>
                <a:gd name="T73" fmla="*/ 848 h 1832"/>
                <a:gd name="T74" fmla="*/ 1552 w 2697"/>
                <a:gd name="T75" fmla="*/ 581 h 1832"/>
                <a:gd name="T76" fmla="*/ 1560 w 2697"/>
                <a:gd name="T77" fmla="*/ 802 h 1832"/>
                <a:gd name="T78" fmla="*/ 1618 w 2697"/>
                <a:gd name="T79" fmla="*/ 676 h 1832"/>
                <a:gd name="T80" fmla="*/ 1743 w 2697"/>
                <a:gd name="T81" fmla="*/ 801 h 1832"/>
                <a:gd name="T82" fmla="*/ 1834 w 2697"/>
                <a:gd name="T83" fmla="*/ 585 h 1832"/>
                <a:gd name="T84" fmla="*/ 1101 w 2697"/>
                <a:gd name="T85" fmla="*/ 940 h 1832"/>
                <a:gd name="T86" fmla="*/ 974 w 2697"/>
                <a:gd name="T87" fmla="*/ 965 h 1832"/>
                <a:gd name="T88" fmla="*/ 1101 w 2697"/>
                <a:gd name="T89" fmla="*/ 1012 h 1832"/>
                <a:gd name="T90" fmla="*/ 1318 w 2697"/>
                <a:gd name="T91" fmla="*/ 1064 h 1832"/>
                <a:gd name="T92" fmla="*/ 1156 w 2697"/>
                <a:gd name="T93" fmla="*/ 1063 h 1832"/>
                <a:gd name="T94" fmla="*/ 1332 w 2697"/>
                <a:gd name="T95" fmla="*/ 963 h 1832"/>
                <a:gd name="T96" fmla="*/ 1453 w 2697"/>
                <a:gd name="T97" fmla="*/ 959 h 1832"/>
                <a:gd name="T98" fmla="*/ 1657 w 2697"/>
                <a:gd name="T99" fmla="*/ 1046 h 1832"/>
                <a:gd name="T100" fmla="*/ 1657 w 2697"/>
                <a:gd name="T101" fmla="*/ 1143 h 1832"/>
                <a:gd name="T102" fmla="*/ 1658 w 2697"/>
                <a:gd name="T103" fmla="*/ 1094 h 1832"/>
                <a:gd name="T104" fmla="*/ 1658 w 2697"/>
                <a:gd name="T105" fmla="*/ 1094 h 1832"/>
                <a:gd name="T106" fmla="*/ 1817 w 2697"/>
                <a:gd name="T107" fmla="*/ 1165 h 1832"/>
                <a:gd name="T108" fmla="*/ 2086 w 2697"/>
                <a:gd name="T109" fmla="*/ 1832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97" h="1832">
                  <a:moveTo>
                    <a:pt x="755" y="352"/>
                  </a:moveTo>
                  <a:cubicBezTo>
                    <a:pt x="755" y="306"/>
                    <a:pt x="725" y="287"/>
                    <a:pt x="672" y="273"/>
                  </a:cubicBezTo>
                  <a:cubicBezTo>
                    <a:pt x="626" y="261"/>
                    <a:pt x="615" y="256"/>
                    <a:pt x="615" y="238"/>
                  </a:cubicBezTo>
                  <a:cubicBezTo>
                    <a:pt x="615" y="238"/>
                    <a:pt x="615" y="238"/>
                    <a:pt x="615" y="238"/>
                  </a:cubicBezTo>
                  <a:cubicBezTo>
                    <a:pt x="615" y="225"/>
                    <a:pt x="626" y="215"/>
                    <a:pt x="649" y="215"/>
                  </a:cubicBezTo>
                  <a:cubicBezTo>
                    <a:pt x="671" y="215"/>
                    <a:pt x="694" y="224"/>
                    <a:pt x="717" y="241"/>
                  </a:cubicBezTo>
                  <a:cubicBezTo>
                    <a:pt x="747" y="197"/>
                    <a:pt x="747" y="197"/>
                    <a:pt x="747" y="197"/>
                  </a:cubicBezTo>
                  <a:cubicBezTo>
                    <a:pt x="720" y="175"/>
                    <a:pt x="688" y="163"/>
                    <a:pt x="649" y="163"/>
                  </a:cubicBezTo>
                  <a:cubicBezTo>
                    <a:pt x="595" y="163"/>
                    <a:pt x="557" y="195"/>
                    <a:pt x="557" y="243"/>
                  </a:cubicBezTo>
                  <a:cubicBezTo>
                    <a:pt x="557" y="244"/>
                    <a:pt x="557" y="244"/>
                    <a:pt x="557" y="244"/>
                  </a:cubicBezTo>
                  <a:cubicBezTo>
                    <a:pt x="557" y="296"/>
                    <a:pt x="591" y="311"/>
                    <a:pt x="644" y="324"/>
                  </a:cubicBezTo>
                  <a:cubicBezTo>
                    <a:pt x="688" y="335"/>
                    <a:pt x="698" y="343"/>
                    <a:pt x="698" y="358"/>
                  </a:cubicBezTo>
                  <a:cubicBezTo>
                    <a:pt x="698" y="358"/>
                    <a:pt x="698" y="358"/>
                    <a:pt x="698" y="358"/>
                  </a:cubicBezTo>
                  <a:cubicBezTo>
                    <a:pt x="698" y="374"/>
                    <a:pt x="683" y="383"/>
                    <a:pt x="659" y="383"/>
                  </a:cubicBezTo>
                  <a:cubicBezTo>
                    <a:pt x="629" y="383"/>
                    <a:pt x="605" y="371"/>
                    <a:pt x="581" y="351"/>
                  </a:cubicBezTo>
                  <a:cubicBezTo>
                    <a:pt x="547" y="392"/>
                    <a:pt x="547" y="392"/>
                    <a:pt x="547" y="392"/>
                  </a:cubicBezTo>
                  <a:cubicBezTo>
                    <a:pt x="578" y="421"/>
                    <a:pt x="618" y="435"/>
                    <a:pt x="658" y="435"/>
                  </a:cubicBezTo>
                  <a:cubicBezTo>
                    <a:pt x="715" y="435"/>
                    <a:pt x="755" y="405"/>
                    <a:pt x="755" y="353"/>
                  </a:cubicBezTo>
                  <a:lnTo>
                    <a:pt x="755" y="352"/>
                  </a:lnTo>
                  <a:close/>
                  <a:moveTo>
                    <a:pt x="826" y="318"/>
                  </a:moveTo>
                  <a:cubicBezTo>
                    <a:pt x="826" y="291"/>
                    <a:pt x="839" y="277"/>
                    <a:pt x="861" y="277"/>
                  </a:cubicBezTo>
                  <a:cubicBezTo>
                    <a:pt x="882" y="277"/>
                    <a:pt x="894" y="291"/>
                    <a:pt x="894" y="318"/>
                  </a:cubicBezTo>
                  <a:cubicBezTo>
                    <a:pt x="894" y="431"/>
                    <a:pt x="894" y="431"/>
                    <a:pt x="894" y="431"/>
                  </a:cubicBezTo>
                  <a:cubicBezTo>
                    <a:pt x="952" y="431"/>
                    <a:pt x="952" y="431"/>
                    <a:pt x="952" y="431"/>
                  </a:cubicBezTo>
                  <a:cubicBezTo>
                    <a:pt x="952" y="318"/>
                    <a:pt x="952" y="318"/>
                    <a:pt x="952" y="318"/>
                  </a:cubicBezTo>
                  <a:cubicBezTo>
                    <a:pt x="952" y="291"/>
                    <a:pt x="965" y="277"/>
                    <a:pt x="986" y="277"/>
                  </a:cubicBezTo>
                  <a:cubicBezTo>
                    <a:pt x="1008" y="277"/>
                    <a:pt x="1020" y="291"/>
                    <a:pt x="1020" y="318"/>
                  </a:cubicBezTo>
                  <a:cubicBezTo>
                    <a:pt x="1020" y="431"/>
                    <a:pt x="1020" y="431"/>
                    <a:pt x="1020" y="431"/>
                  </a:cubicBezTo>
                  <a:cubicBezTo>
                    <a:pt x="1077" y="431"/>
                    <a:pt x="1077" y="431"/>
                    <a:pt x="1077" y="431"/>
                  </a:cubicBezTo>
                  <a:cubicBezTo>
                    <a:pt x="1077" y="299"/>
                    <a:pt x="1077" y="299"/>
                    <a:pt x="1077" y="299"/>
                  </a:cubicBezTo>
                  <a:cubicBezTo>
                    <a:pt x="1077" y="251"/>
                    <a:pt x="1051" y="225"/>
                    <a:pt x="1009" y="225"/>
                  </a:cubicBezTo>
                  <a:cubicBezTo>
                    <a:pt x="981" y="225"/>
                    <a:pt x="960" y="236"/>
                    <a:pt x="943" y="257"/>
                  </a:cubicBezTo>
                  <a:cubicBezTo>
                    <a:pt x="932" y="237"/>
                    <a:pt x="912" y="225"/>
                    <a:pt x="886" y="225"/>
                  </a:cubicBezTo>
                  <a:cubicBezTo>
                    <a:pt x="857" y="225"/>
                    <a:pt x="839" y="241"/>
                    <a:pt x="826" y="258"/>
                  </a:cubicBezTo>
                  <a:cubicBezTo>
                    <a:pt x="826" y="229"/>
                    <a:pt x="826" y="229"/>
                    <a:pt x="826" y="229"/>
                  </a:cubicBezTo>
                  <a:cubicBezTo>
                    <a:pt x="769" y="229"/>
                    <a:pt x="769" y="229"/>
                    <a:pt x="769" y="229"/>
                  </a:cubicBezTo>
                  <a:cubicBezTo>
                    <a:pt x="769" y="431"/>
                    <a:pt x="769" y="431"/>
                    <a:pt x="769" y="431"/>
                  </a:cubicBezTo>
                  <a:cubicBezTo>
                    <a:pt x="826" y="431"/>
                    <a:pt x="826" y="431"/>
                    <a:pt x="826" y="431"/>
                  </a:cubicBezTo>
                  <a:lnTo>
                    <a:pt x="826" y="318"/>
                  </a:lnTo>
                  <a:close/>
                  <a:moveTo>
                    <a:pt x="1158" y="435"/>
                  </a:moveTo>
                  <a:cubicBezTo>
                    <a:pt x="1186" y="435"/>
                    <a:pt x="1205" y="424"/>
                    <a:pt x="1219" y="409"/>
                  </a:cubicBezTo>
                  <a:cubicBezTo>
                    <a:pt x="1219" y="431"/>
                    <a:pt x="1219" y="431"/>
                    <a:pt x="1219" y="431"/>
                  </a:cubicBezTo>
                  <a:cubicBezTo>
                    <a:pt x="1274" y="431"/>
                    <a:pt x="1274" y="431"/>
                    <a:pt x="1274" y="431"/>
                  </a:cubicBezTo>
                  <a:cubicBezTo>
                    <a:pt x="1274" y="314"/>
                    <a:pt x="1274" y="314"/>
                    <a:pt x="1274" y="314"/>
                  </a:cubicBezTo>
                  <a:cubicBezTo>
                    <a:pt x="1274" y="287"/>
                    <a:pt x="1268" y="264"/>
                    <a:pt x="1253" y="249"/>
                  </a:cubicBezTo>
                  <a:cubicBezTo>
                    <a:pt x="1238" y="235"/>
                    <a:pt x="1216" y="227"/>
                    <a:pt x="1184" y="227"/>
                  </a:cubicBezTo>
                  <a:cubicBezTo>
                    <a:pt x="1150" y="227"/>
                    <a:pt x="1128" y="233"/>
                    <a:pt x="1106" y="243"/>
                  </a:cubicBezTo>
                  <a:cubicBezTo>
                    <a:pt x="1120" y="287"/>
                    <a:pt x="1120" y="287"/>
                    <a:pt x="1120" y="287"/>
                  </a:cubicBezTo>
                  <a:cubicBezTo>
                    <a:pt x="1139" y="280"/>
                    <a:pt x="1154" y="276"/>
                    <a:pt x="1176" y="276"/>
                  </a:cubicBezTo>
                  <a:cubicBezTo>
                    <a:pt x="1205" y="276"/>
                    <a:pt x="1219" y="289"/>
                    <a:pt x="1219" y="313"/>
                  </a:cubicBezTo>
                  <a:cubicBezTo>
                    <a:pt x="1219" y="316"/>
                    <a:pt x="1219" y="316"/>
                    <a:pt x="1219" y="316"/>
                  </a:cubicBezTo>
                  <a:cubicBezTo>
                    <a:pt x="1205" y="311"/>
                    <a:pt x="1190" y="308"/>
                    <a:pt x="1170" y="308"/>
                  </a:cubicBezTo>
                  <a:cubicBezTo>
                    <a:pt x="1122" y="308"/>
                    <a:pt x="1089" y="328"/>
                    <a:pt x="1089" y="372"/>
                  </a:cubicBezTo>
                  <a:cubicBezTo>
                    <a:pt x="1089" y="373"/>
                    <a:pt x="1089" y="373"/>
                    <a:pt x="1089" y="373"/>
                  </a:cubicBezTo>
                  <a:cubicBezTo>
                    <a:pt x="1089" y="413"/>
                    <a:pt x="1120" y="435"/>
                    <a:pt x="1158" y="435"/>
                  </a:cubicBezTo>
                  <a:close/>
                  <a:moveTo>
                    <a:pt x="1144" y="370"/>
                  </a:moveTo>
                  <a:cubicBezTo>
                    <a:pt x="1144" y="352"/>
                    <a:pt x="1159" y="342"/>
                    <a:pt x="1184" y="342"/>
                  </a:cubicBezTo>
                  <a:cubicBezTo>
                    <a:pt x="1198" y="342"/>
                    <a:pt x="1210" y="345"/>
                    <a:pt x="1220" y="349"/>
                  </a:cubicBezTo>
                  <a:cubicBezTo>
                    <a:pt x="1220" y="360"/>
                    <a:pt x="1220" y="360"/>
                    <a:pt x="1220" y="360"/>
                  </a:cubicBezTo>
                  <a:cubicBezTo>
                    <a:pt x="1220" y="380"/>
                    <a:pt x="1202" y="395"/>
                    <a:pt x="1175" y="395"/>
                  </a:cubicBezTo>
                  <a:cubicBezTo>
                    <a:pt x="1157" y="395"/>
                    <a:pt x="1144" y="386"/>
                    <a:pt x="1144" y="371"/>
                  </a:cubicBezTo>
                  <a:lnTo>
                    <a:pt x="1144" y="370"/>
                  </a:lnTo>
                  <a:close/>
                  <a:moveTo>
                    <a:pt x="1348" y="356"/>
                  </a:moveTo>
                  <a:cubicBezTo>
                    <a:pt x="1348" y="308"/>
                    <a:pt x="1371" y="285"/>
                    <a:pt x="1409" y="285"/>
                  </a:cubicBezTo>
                  <a:cubicBezTo>
                    <a:pt x="1412" y="285"/>
                    <a:pt x="1412" y="285"/>
                    <a:pt x="1412" y="285"/>
                  </a:cubicBezTo>
                  <a:cubicBezTo>
                    <a:pt x="1412" y="225"/>
                    <a:pt x="1412" y="225"/>
                    <a:pt x="1412" y="225"/>
                  </a:cubicBezTo>
                  <a:cubicBezTo>
                    <a:pt x="1378" y="224"/>
                    <a:pt x="1360" y="242"/>
                    <a:pt x="1348" y="270"/>
                  </a:cubicBezTo>
                  <a:cubicBezTo>
                    <a:pt x="1348" y="229"/>
                    <a:pt x="1348" y="229"/>
                    <a:pt x="1348" y="229"/>
                  </a:cubicBezTo>
                  <a:cubicBezTo>
                    <a:pt x="1291" y="229"/>
                    <a:pt x="1291" y="229"/>
                    <a:pt x="1291" y="229"/>
                  </a:cubicBezTo>
                  <a:cubicBezTo>
                    <a:pt x="1291" y="431"/>
                    <a:pt x="1291" y="431"/>
                    <a:pt x="1291" y="431"/>
                  </a:cubicBezTo>
                  <a:cubicBezTo>
                    <a:pt x="1348" y="431"/>
                    <a:pt x="1348" y="431"/>
                    <a:pt x="1348" y="431"/>
                  </a:cubicBezTo>
                  <a:lnTo>
                    <a:pt x="1348" y="356"/>
                  </a:lnTo>
                  <a:close/>
                  <a:moveTo>
                    <a:pt x="1448" y="374"/>
                  </a:moveTo>
                  <a:cubicBezTo>
                    <a:pt x="1448" y="420"/>
                    <a:pt x="1472" y="434"/>
                    <a:pt x="1507" y="434"/>
                  </a:cubicBezTo>
                  <a:cubicBezTo>
                    <a:pt x="1526" y="434"/>
                    <a:pt x="1540" y="430"/>
                    <a:pt x="1552" y="422"/>
                  </a:cubicBezTo>
                  <a:cubicBezTo>
                    <a:pt x="1552" y="377"/>
                    <a:pt x="1552" y="377"/>
                    <a:pt x="1552" y="377"/>
                  </a:cubicBezTo>
                  <a:cubicBezTo>
                    <a:pt x="1543" y="381"/>
                    <a:pt x="1534" y="384"/>
                    <a:pt x="1524" y="384"/>
                  </a:cubicBezTo>
                  <a:cubicBezTo>
                    <a:pt x="1511" y="384"/>
                    <a:pt x="1505" y="377"/>
                    <a:pt x="1505" y="364"/>
                  </a:cubicBezTo>
                  <a:cubicBezTo>
                    <a:pt x="1505" y="278"/>
                    <a:pt x="1505" y="278"/>
                    <a:pt x="1505" y="278"/>
                  </a:cubicBezTo>
                  <a:cubicBezTo>
                    <a:pt x="1553" y="278"/>
                    <a:pt x="1553" y="278"/>
                    <a:pt x="1553" y="278"/>
                  </a:cubicBezTo>
                  <a:cubicBezTo>
                    <a:pt x="1553" y="229"/>
                    <a:pt x="1553" y="229"/>
                    <a:pt x="1553" y="229"/>
                  </a:cubicBezTo>
                  <a:cubicBezTo>
                    <a:pt x="1505" y="229"/>
                    <a:pt x="1505" y="229"/>
                    <a:pt x="1505" y="229"/>
                  </a:cubicBezTo>
                  <a:cubicBezTo>
                    <a:pt x="1505" y="177"/>
                    <a:pt x="1505" y="177"/>
                    <a:pt x="1505" y="177"/>
                  </a:cubicBezTo>
                  <a:cubicBezTo>
                    <a:pt x="1448" y="177"/>
                    <a:pt x="1448" y="177"/>
                    <a:pt x="1448" y="177"/>
                  </a:cubicBezTo>
                  <a:cubicBezTo>
                    <a:pt x="1448" y="229"/>
                    <a:pt x="1448" y="229"/>
                    <a:pt x="1448" y="229"/>
                  </a:cubicBezTo>
                  <a:cubicBezTo>
                    <a:pt x="1424" y="229"/>
                    <a:pt x="1424" y="229"/>
                    <a:pt x="1424" y="229"/>
                  </a:cubicBezTo>
                  <a:cubicBezTo>
                    <a:pt x="1424" y="278"/>
                    <a:pt x="1424" y="278"/>
                    <a:pt x="1424" y="278"/>
                  </a:cubicBezTo>
                  <a:cubicBezTo>
                    <a:pt x="1448" y="278"/>
                    <a:pt x="1448" y="278"/>
                    <a:pt x="1448" y="278"/>
                  </a:cubicBezTo>
                  <a:lnTo>
                    <a:pt x="1448" y="374"/>
                  </a:lnTo>
                  <a:close/>
                  <a:moveTo>
                    <a:pt x="1666" y="435"/>
                  </a:moveTo>
                  <a:cubicBezTo>
                    <a:pt x="1702" y="435"/>
                    <a:pt x="1729" y="421"/>
                    <a:pt x="1748" y="398"/>
                  </a:cubicBezTo>
                  <a:cubicBezTo>
                    <a:pt x="1715" y="369"/>
                    <a:pt x="1715" y="369"/>
                    <a:pt x="1715" y="369"/>
                  </a:cubicBezTo>
                  <a:cubicBezTo>
                    <a:pt x="1700" y="383"/>
                    <a:pt x="1686" y="389"/>
                    <a:pt x="1666" y="389"/>
                  </a:cubicBezTo>
                  <a:cubicBezTo>
                    <a:pt x="1641" y="389"/>
                    <a:pt x="1623" y="376"/>
                    <a:pt x="1617" y="350"/>
                  </a:cubicBezTo>
                  <a:cubicBezTo>
                    <a:pt x="1758" y="350"/>
                    <a:pt x="1758" y="350"/>
                    <a:pt x="1758" y="350"/>
                  </a:cubicBezTo>
                  <a:cubicBezTo>
                    <a:pt x="1758" y="345"/>
                    <a:pt x="1758" y="339"/>
                    <a:pt x="1758" y="335"/>
                  </a:cubicBezTo>
                  <a:cubicBezTo>
                    <a:pt x="1758" y="277"/>
                    <a:pt x="1727" y="225"/>
                    <a:pt x="1660" y="225"/>
                  </a:cubicBezTo>
                  <a:cubicBezTo>
                    <a:pt x="1601" y="225"/>
                    <a:pt x="1560" y="273"/>
                    <a:pt x="1560" y="330"/>
                  </a:cubicBezTo>
                  <a:cubicBezTo>
                    <a:pt x="1560" y="331"/>
                    <a:pt x="1560" y="331"/>
                    <a:pt x="1560" y="331"/>
                  </a:cubicBezTo>
                  <a:cubicBezTo>
                    <a:pt x="1560" y="393"/>
                    <a:pt x="1605" y="435"/>
                    <a:pt x="1666" y="435"/>
                  </a:cubicBezTo>
                  <a:close/>
                  <a:moveTo>
                    <a:pt x="1660" y="271"/>
                  </a:moveTo>
                  <a:cubicBezTo>
                    <a:pt x="1684" y="271"/>
                    <a:pt x="1699" y="288"/>
                    <a:pt x="1703" y="314"/>
                  </a:cubicBezTo>
                  <a:cubicBezTo>
                    <a:pt x="1616" y="314"/>
                    <a:pt x="1616" y="314"/>
                    <a:pt x="1616" y="314"/>
                  </a:cubicBezTo>
                  <a:cubicBezTo>
                    <a:pt x="1621" y="288"/>
                    <a:pt x="1636" y="271"/>
                    <a:pt x="1660" y="271"/>
                  </a:cubicBezTo>
                  <a:close/>
                  <a:moveTo>
                    <a:pt x="1828" y="356"/>
                  </a:moveTo>
                  <a:cubicBezTo>
                    <a:pt x="1828" y="308"/>
                    <a:pt x="1851" y="285"/>
                    <a:pt x="1889" y="285"/>
                  </a:cubicBezTo>
                  <a:cubicBezTo>
                    <a:pt x="1892" y="285"/>
                    <a:pt x="1892" y="285"/>
                    <a:pt x="1892" y="285"/>
                  </a:cubicBezTo>
                  <a:cubicBezTo>
                    <a:pt x="1892" y="225"/>
                    <a:pt x="1892" y="225"/>
                    <a:pt x="1892" y="225"/>
                  </a:cubicBezTo>
                  <a:cubicBezTo>
                    <a:pt x="1858" y="224"/>
                    <a:pt x="1839" y="242"/>
                    <a:pt x="1828" y="270"/>
                  </a:cubicBezTo>
                  <a:cubicBezTo>
                    <a:pt x="1828" y="229"/>
                    <a:pt x="1828" y="229"/>
                    <a:pt x="1828" y="229"/>
                  </a:cubicBezTo>
                  <a:cubicBezTo>
                    <a:pt x="1770" y="229"/>
                    <a:pt x="1770" y="229"/>
                    <a:pt x="1770" y="229"/>
                  </a:cubicBezTo>
                  <a:cubicBezTo>
                    <a:pt x="1770" y="431"/>
                    <a:pt x="1770" y="431"/>
                    <a:pt x="1770" y="431"/>
                  </a:cubicBezTo>
                  <a:cubicBezTo>
                    <a:pt x="1828" y="431"/>
                    <a:pt x="1828" y="431"/>
                    <a:pt x="1828" y="431"/>
                  </a:cubicBezTo>
                  <a:lnTo>
                    <a:pt x="1828" y="356"/>
                  </a:lnTo>
                  <a:close/>
                  <a:moveTo>
                    <a:pt x="81" y="533"/>
                  </a:moveTo>
                  <a:cubicBezTo>
                    <a:pt x="24" y="533"/>
                    <a:pt x="24" y="533"/>
                    <a:pt x="24" y="533"/>
                  </a:cubicBezTo>
                  <a:cubicBezTo>
                    <a:pt x="24" y="585"/>
                    <a:pt x="24" y="585"/>
                    <a:pt x="24" y="585"/>
                  </a:cubicBezTo>
                  <a:cubicBezTo>
                    <a:pt x="0" y="585"/>
                    <a:pt x="0" y="585"/>
                    <a:pt x="0" y="585"/>
                  </a:cubicBezTo>
                  <a:cubicBezTo>
                    <a:pt x="0" y="634"/>
                    <a:pt x="0" y="634"/>
                    <a:pt x="0" y="634"/>
                  </a:cubicBezTo>
                  <a:cubicBezTo>
                    <a:pt x="24" y="634"/>
                    <a:pt x="24" y="634"/>
                    <a:pt x="24" y="634"/>
                  </a:cubicBezTo>
                  <a:cubicBezTo>
                    <a:pt x="24" y="730"/>
                    <a:pt x="24" y="730"/>
                    <a:pt x="24" y="730"/>
                  </a:cubicBezTo>
                  <a:cubicBezTo>
                    <a:pt x="24" y="776"/>
                    <a:pt x="48" y="790"/>
                    <a:pt x="83" y="790"/>
                  </a:cubicBezTo>
                  <a:cubicBezTo>
                    <a:pt x="102" y="790"/>
                    <a:pt x="116" y="786"/>
                    <a:pt x="128" y="779"/>
                  </a:cubicBezTo>
                  <a:cubicBezTo>
                    <a:pt x="128" y="733"/>
                    <a:pt x="128" y="733"/>
                    <a:pt x="128" y="733"/>
                  </a:cubicBezTo>
                  <a:cubicBezTo>
                    <a:pt x="120" y="737"/>
                    <a:pt x="110" y="740"/>
                    <a:pt x="100" y="740"/>
                  </a:cubicBezTo>
                  <a:cubicBezTo>
                    <a:pt x="87" y="740"/>
                    <a:pt x="81" y="733"/>
                    <a:pt x="81" y="720"/>
                  </a:cubicBezTo>
                  <a:cubicBezTo>
                    <a:pt x="81" y="634"/>
                    <a:pt x="81" y="634"/>
                    <a:pt x="81" y="634"/>
                  </a:cubicBezTo>
                  <a:cubicBezTo>
                    <a:pt x="129" y="634"/>
                    <a:pt x="129" y="634"/>
                    <a:pt x="129" y="634"/>
                  </a:cubicBezTo>
                  <a:cubicBezTo>
                    <a:pt x="129" y="585"/>
                    <a:pt x="129" y="585"/>
                    <a:pt x="129" y="585"/>
                  </a:cubicBezTo>
                  <a:cubicBezTo>
                    <a:pt x="81" y="585"/>
                    <a:pt x="81" y="585"/>
                    <a:pt x="81" y="585"/>
                  </a:cubicBezTo>
                  <a:lnTo>
                    <a:pt x="81" y="533"/>
                  </a:lnTo>
                  <a:close/>
                  <a:moveTo>
                    <a:pt x="237" y="581"/>
                  </a:moveTo>
                  <a:cubicBezTo>
                    <a:pt x="178" y="581"/>
                    <a:pt x="137" y="629"/>
                    <a:pt x="137" y="686"/>
                  </a:cubicBezTo>
                  <a:cubicBezTo>
                    <a:pt x="137" y="687"/>
                    <a:pt x="137" y="687"/>
                    <a:pt x="137" y="687"/>
                  </a:cubicBezTo>
                  <a:cubicBezTo>
                    <a:pt x="137" y="749"/>
                    <a:pt x="182" y="791"/>
                    <a:pt x="243" y="791"/>
                  </a:cubicBezTo>
                  <a:cubicBezTo>
                    <a:pt x="279" y="791"/>
                    <a:pt x="306" y="777"/>
                    <a:pt x="325" y="754"/>
                  </a:cubicBezTo>
                  <a:cubicBezTo>
                    <a:pt x="292" y="725"/>
                    <a:pt x="292" y="725"/>
                    <a:pt x="292" y="725"/>
                  </a:cubicBezTo>
                  <a:cubicBezTo>
                    <a:pt x="277" y="739"/>
                    <a:pt x="263" y="745"/>
                    <a:pt x="243" y="745"/>
                  </a:cubicBezTo>
                  <a:cubicBezTo>
                    <a:pt x="218" y="745"/>
                    <a:pt x="200" y="732"/>
                    <a:pt x="194" y="706"/>
                  </a:cubicBezTo>
                  <a:cubicBezTo>
                    <a:pt x="335" y="706"/>
                    <a:pt x="335" y="706"/>
                    <a:pt x="335" y="706"/>
                  </a:cubicBezTo>
                  <a:cubicBezTo>
                    <a:pt x="335" y="701"/>
                    <a:pt x="335" y="695"/>
                    <a:pt x="335" y="691"/>
                  </a:cubicBezTo>
                  <a:cubicBezTo>
                    <a:pt x="335" y="634"/>
                    <a:pt x="304" y="581"/>
                    <a:pt x="237" y="581"/>
                  </a:cubicBezTo>
                  <a:close/>
                  <a:moveTo>
                    <a:pt x="193" y="670"/>
                  </a:moveTo>
                  <a:cubicBezTo>
                    <a:pt x="198" y="644"/>
                    <a:pt x="213" y="627"/>
                    <a:pt x="237" y="627"/>
                  </a:cubicBezTo>
                  <a:cubicBezTo>
                    <a:pt x="261" y="627"/>
                    <a:pt x="276" y="644"/>
                    <a:pt x="280" y="670"/>
                  </a:cubicBezTo>
                  <a:lnTo>
                    <a:pt x="193" y="670"/>
                  </a:lnTo>
                  <a:close/>
                  <a:moveTo>
                    <a:pt x="452" y="742"/>
                  </a:moveTo>
                  <a:cubicBezTo>
                    <a:pt x="421" y="742"/>
                    <a:pt x="401" y="717"/>
                    <a:pt x="401" y="686"/>
                  </a:cubicBezTo>
                  <a:cubicBezTo>
                    <a:pt x="401" y="686"/>
                    <a:pt x="401" y="686"/>
                    <a:pt x="401" y="686"/>
                  </a:cubicBezTo>
                  <a:cubicBezTo>
                    <a:pt x="401" y="656"/>
                    <a:pt x="421" y="631"/>
                    <a:pt x="450" y="631"/>
                  </a:cubicBezTo>
                  <a:cubicBezTo>
                    <a:pt x="470" y="631"/>
                    <a:pt x="483" y="639"/>
                    <a:pt x="496" y="653"/>
                  </a:cubicBezTo>
                  <a:cubicBezTo>
                    <a:pt x="531" y="615"/>
                    <a:pt x="531" y="615"/>
                    <a:pt x="531" y="615"/>
                  </a:cubicBezTo>
                  <a:cubicBezTo>
                    <a:pt x="512" y="594"/>
                    <a:pt x="488" y="581"/>
                    <a:pt x="450" y="581"/>
                  </a:cubicBezTo>
                  <a:cubicBezTo>
                    <a:pt x="388" y="581"/>
                    <a:pt x="344" y="629"/>
                    <a:pt x="344" y="686"/>
                  </a:cubicBezTo>
                  <a:cubicBezTo>
                    <a:pt x="344" y="687"/>
                    <a:pt x="344" y="687"/>
                    <a:pt x="344" y="687"/>
                  </a:cubicBezTo>
                  <a:cubicBezTo>
                    <a:pt x="344" y="745"/>
                    <a:pt x="389" y="791"/>
                    <a:pt x="449" y="791"/>
                  </a:cubicBezTo>
                  <a:cubicBezTo>
                    <a:pt x="490" y="791"/>
                    <a:pt x="512" y="776"/>
                    <a:pt x="532" y="754"/>
                  </a:cubicBezTo>
                  <a:cubicBezTo>
                    <a:pt x="498" y="721"/>
                    <a:pt x="498" y="721"/>
                    <a:pt x="498" y="721"/>
                  </a:cubicBezTo>
                  <a:cubicBezTo>
                    <a:pt x="485" y="734"/>
                    <a:pt x="471" y="742"/>
                    <a:pt x="452" y="742"/>
                  </a:cubicBezTo>
                  <a:close/>
                  <a:moveTo>
                    <a:pt x="657" y="581"/>
                  </a:moveTo>
                  <a:cubicBezTo>
                    <a:pt x="628" y="581"/>
                    <a:pt x="611" y="597"/>
                    <a:pt x="598" y="614"/>
                  </a:cubicBezTo>
                  <a:cubicBezTo>
                    <a:pt x="598" y="512"/>
                    <a:pt x="598" y="512"/>
                    <a:pt x="598" y="512"/>
                  </a:cubicBezTo>
                  <a:cubicBezTo>
                    <a:pt x="541" y="512"/>
                    <a:pt x="541" y="512"/>
                    <a:pt x="541" y="512"/>
                  </a:cubicBezTo>
                  <a:cubicBezTo>
                    <a:pt x="541" y="787"/>
                    <a:pt x="541" y="787"/>
                    <a:pt x="541" y="787"/>
                  </a:cubicBezTo>
                  <a:cubicBezTo>
                    <a:pt x="598" y="787"/>
                    <a:pt x="598" y="787"/>
                    <a:pt x="598" y="787"/>
                  </a:cubicBezTo>
                  <a:cubicBezTo>
                    <a:pt x="598" y="674"/>
                    <a:pt x="598" y="674"/>
                    <a:pt x="598" y="674"/>
                  </a:cubicBezTo>
                  <a:cubicBezTo>
                    <a:pt x="598" y="647"/>
                    <a:pt x="612" y="633"/>
                    <a:pt x="634" y="633"/>
                  </a:cubicBezTo>
                  <a:cubicBezTo>
                    <a:pt x="656" y="633"/>
                    <a:pt x="669" y="647"/>
                    <a:pt x="669" y="674"/>
                  </a:cubicBezTo>
                  <a:cubicBezTo>
                    <a:pt x="669" y="787"/>
                    <a:pt x="669" y="787"/>
                    <a:pt x="669" y="787"/>
                  </a:cubicBezTo>
                  <a:cubicBezTo>
                    <a:pt x="726" y="787"/>
                    <a:pt x="726" y="787"/>
                    <a:pt x="726" y="787"/>
                  </a:cubicBezTo>
                  <a:cubicBezTo>
                    <a:pt x="726" y="656"/>
                    <a:pt x="726" y="656"/>
                    <a:pt x="726" y="656"/>
                  </a:cubicBezTo>
                  <a:cubicBezTo>
                    <a:pt x="726" y="610"/>
                    <a:pt x="701" y="581"/>
                    <a:pt x="657" y="581"/>
                  </a:cubicBezTo>
                  <a:close/>
                  <a:moveTo>
                    <a:pt x="857" y="581"/>
                  </a:moveTo>
                  <a:cubicBezTo>
                    <a:pt x="828" y="581"/>
                    <a:pt x="811" y="597"/>
                    <a:pt x="798" y="614"/>
                  </a:cubicBezTo>
                  <a:cubicBezTo>
                    <a:pt x="798" y="585"/>
                    <a:pt x="798" y="585"/>
                    <a:pt x="798" y="585"/>
                  </a:cubicBezTo>
                  <a:cubicBezTo>
                    <a:pt x="740" y="585"/>
                    <a:pt x="740" y="585"/>
                    <a:pt x="740" y="585"/>
                  </a:cubicBezTo>
                  <a:cubicBezTo>
                    <a:pt x="740" y="787"/>
                    <a:pt x="740" y="787"/>
                    <a:pt x="740" y="787"/>
                  </a:cubicBezTo>
                  <a:cubicBezTo>
                    <a:pt x="798" y="787"/>
                    <a:pt x="798" y="787"/>
                    <a:pt x="798" y="787"/>
                  </a:cubicBezTo>
                  <a:cubicBezTo>
                    <a:pt x="798" y="674"/>
                    <a:pt x="798" y="674"/>
                    <a:pt x="798" y="674"/>
                  </a:cubicBezTo>
                  <a:cubicBezTo>
                    <a:pt x="798" y="647"/>
                    <a:pt x="812" y="633"/>
                    <a:pt x="833" y="633"/>
                  </a:cubicBezTo>
                  <a:cubicBezTo>
                    <a:pt x="855" y="633"/>
                    <a:pt x="868" y="647"/>
                    <a:pt x="868" y="674"/>
                  </a:cubicBezTo>
                  <a:cubicBezTo>
                    <a:pt x="868" y="787"/>
                    <a:pt x="868" y="787"/>
                    <a:pt x="868" y="787"/>
                  </a:cubicBezTo>
                  <a:cubicBezTo>
                    <a:pt x="925" y="787"/>
                    <a:pt x="925" y="787"/>
                    <a:pt x="925" y="787"/>
                  </a:cubicBezTo>
                  <a:cubicBezTo>
                    <a:pt x="925" y="656"/>
                    <a:pt x="925" y="656"/>
                    <a:pt x="925" y="656"/>
                  </a:cubicBezTo>
                  <a:cubicBezTo>
                    <a:pt x="925" y="610"/>
                    <a:pt x="900" y="581"/>
                    <a:pt x="857" y="581"/>
                  </a:cubicBezTo>
                  <a:close/>
                  <a:moveTo>
                    <a:pt x="1155" y="686"/>
                  </a:moveTo>
                  <a:cubicBezTo>
                    <a:pt x="1155" y="686"/>
                    <a:pt x="1155" y="686"/>
                    <a:pt x="1155" y="686"/>
                  </a:cubicBezTo>
                  <a:cubicBezTo>
                    <a:pt x="1155" y="628"/>
                    <a:pt x="1109" y="581"/>
                    <a:pt x="1047" y="581"/>
                  </a:cubicBezTo>
                  <a:cubicBezTo>
                    <a:pt x="984" y="581"/>
                    <a:pt x="937" y="628"/>
                    <a:pt x="937" y="686"/>
                  </a:cubicBezTo>
                  <a:cubicBezTo>
                    <a:pt x="937" y="687"/>
                    <a:pt x="937" y="687"/>
                    <a:pt x="937" y="687"/>
                  </a:cubicBezTo>
                  <a:cubicBezTo>
                    <a:pt x="937" y="745"/>
                    <a:pt x="983" y="791"/>
                    <a:pt x="1046" y="791"/>
                  </a:cubicBezTo>
                  <a:cubicBezTo>
                    <a:pt x="1109" y="791"/>
                    <a:pt x="1155" y="744"/>
                    <a:pt x="1155" y="686"/>
                  </a:cubicBezTo>
                  <a:close/>
                  <a:moveTo>
                    <a:pt x="993" y="686"/>
                  </a:moveTo>
                  <a:cubicBezTo>
                    <a:pt x="993" y="686"/>
                    <a:pt x="993" y="686"/>
                    <a:pt x="993" y="686"/>
                  </a:cubicBezTo>
                  <a:cubicBezTo>
                    <a:pt x="993" y="656"/>
                    <a:pt x="1013" y="631"/>
                    <a:pt x="1046" y="631"/>
                  </a:cubicBezTo>
                  <a:cubicBezTo>
                    <a:pt x="1077" y="631"/>
                    <a:pt x="1099" y="657"/>
                    <a:pt x="1099" y="686"/>
                  </a:cubicBezTo>
                  <a:cubicBezTo>
                    <a:pt x="1099" y="687"/>
                    <a:pt x="1099" y="687"/>
                    <a:pt x="1099" y="687"/>
                  </a:cubicBezTo>
                  <a:cubicBezTo>
                    <a:pt x="1099" y="717"/>
                    <a:pt x="1079" y="742"/>
                    <a:pt x="1047" y="742"/>
                  </a:cubicBezTo>
                  <a:cubicBezTo>
                    <a:pt x="1015" y="742"/>
                    <a:pt x="993" y="716"/>
                    <a:pt x="993" y="686"/>
                  </a:cubicBezTo>
                  <a:close/>
                  <a:moveTo>
                    <a:pt x="1167" y="787"/>
                  </a:moveTo>
                  <a:cubicBezTo>
                    <a:pt x="1224" y="787"/>
                    <a:pt x="1224" y="787"/>
                    <a:pt x="1224" y="787"/>
                  </a:cubicBezTo>
                  <a:cubicBezTo>
                    <a:pt x="1224" y="512"/>
                    <a:pt x="1224" y="512"/>
                    <a:pt x="1224" y="512"/>
                  </a:cubicBezTo>
                  <a:cubicBezTo>
                    <a:pt x="1167" y="512"/>
                    <a:pt x="1167" y="512"/>
                    <a:pt x="1167" y="512"/>
                  </a:cubicBezTo>
                  <a:lnTo>
                    <a:pt x="1167" y="787"/>
                  </a:lnTo>
                  <a:close/>
                  <a:moveTo>
                    <a:pt x="1345" y="581"/>
                  </a:moveTo>
                  <a:cubicBezTo>
                    <a:pt x="1282" y="581"/>
                    <a:pt x="1235" y="628"/>
                    <a:pt x="1235" y="686"/>
                  </a:cubicBezTo>
                  <a:cubicBezTo>
                    <a:pt x="1235" y="687"/>
                    <a:pt x="1235" y="687"/>
                    <a:pt x="1235" y="687"/>
                  </a:cubicBezTo>
                  <a:cubicBezTo>
                    <a:pt x="1235" y="745"/>
                    <a:pt x="1281" y="791"/>
                    <a:pt x="1344" y="791"/>
                  </a:cubicBezTo>
                  <a:cubicBezTo>
                    <a:pt x="1407" y="791"/>
                    <a:pt x="1453" y="744"/>
                    <a:pt x="1453" y="686"/>
                  </a:cubicBezTo>
                  <a:cubicBezTo>
                    <a:pt x="1453" y="686"/>
                    <a:pt x="1453" y="686"/>
                    <a:pt x="1453" y="686"/>
                  </a:cubicBezTo>
                  <a:cubicBezTo>
                    <a:pt x="1453" y="628"/>
                    <a:pt x="1407" y="581"/>
                    <a:pt x="1345" y="581"/>
                  </a:cubicBezTo>
                  <a:close/>
                  <a:moveTo>
                    <a:pt x="1397" y="687"/>
                  </a:moveTo>
                  <a:cubicBezTo>
                    <a:pt x="1397" y="717"/>
                    <a:pt x="1377" y="742"/>
                    <a:pt x="1345" y="742"/>
                  </a:cubicBezTo>
                  <a:cubicBezTo>
                    <a:pt x="1313" y="742"/>
                    <a:pt x="1292" y="716"/>
                    <a:pt x="1292" y="686"/>
                  </a:cubicBezTo>
                  <a:cubicBezTo>
                    <a:pt x="1292" y="686"/>
                    <a:pt x="1292" y="686"/>
                    <a:pt x="1292" y="686"/>
                  </a:cubicBezTo>
                  <a:cubicBezTo>
                    <a:pt x="1292" y="656"/>
                    <a:pt x="1311" y="631"/>
                    <a:pt x="1344" y="631"/>
                  </a:cubicBezTo>
                  <a:cubicBezTo>
                    <a:pt x="1375" y="631"/>
                    <a:pt x="1397" y="657"/>
                    <a:pt x="1397" y="686"/>
                  </a:cubicBezTo>
                  <a:lnTo>
                    <a:pt x="1397" y="687"/>
                  </a:lnTo>
                  <a:close/>
                  <a:moveTo>
                    <a:pt x="1560" y="802"/>
                  </a:moveTo>
                  <a:cubicBezTo>
                    <a:pt x="1533" y="802"/>
                    <a:pt x="1513" y="795"/>
                    <a:pt x="1492" y="784"/>
                  </a:cubicBezTo>
                  <a:cubicBezTo>
                    <a:pt x="1472" y="827"/>
                    <a:pt x="1472" y="827"/>
                    <a:pt x="1472" y="827"/>
                  </a:cubicBezTo>
                  <a:cubicBezTo>
                    <a:pt x="1498" y="840"/>
                    <a:pt x="1529" y="848"/>
                    <a:pt x="1562" y="848"/>
                  </a:cubicBezTo>
                  <a:cubicBezTo>
                    <a:pt x="1601" y="848"/>
                    <a:pt x="1630" y="840"/>
                    <a:pt x="1649" y="821"/>
                  </a:cubicBezTo>
                  <a:cubicBezTo>
                    <a:pt x="1666" y="804"/>
                    <a:pt x="1674" y="777"/>
                    <a:pt x="1674" y="741"/>
                  </a:cubicBezTo>
                  <a:cubicBezTo>
                    <a:pt x="1674" y="585"/>
                    <a:pt x="1674" y="585"/>
                    <a:pt x="1674" y="585"/>
                  </a:cubicBezTo>
                  <a:cubicBezTo>
                    <a:pt x="1617" y="585"/>
                    <a:pt x="1617" y="585"/>
                    <a:pt x="1617" y="585"/>
                  </a:cubicBezTo>
                  <a:cubicBezTo>
                    <a:pt x="1617" y="611"/>
                    <a:pt x="1617" y="611"/>
                    <a:pt x="1617" y="611"/>
                  </a:cubicBezTo>
                  <a:cubicBezTo>
                    <a:pt x="1602" y="594"/>
                    <a:pt x="1583" y="581"/>
                    <a:pt x="1552" y="581"/>
                  </a:cubicBezTo>
                  <a:cubicBezTo>
                    <a:pt x="1505" y="581"/>
                    <a:pt x="1462" y="615"/>
                    <a:pt x="1462" y="675"/>
                  </a:cubicBezTo>
                  <a:cubicBezTo>
                    <a:pt x="1462" y="676"/>
                    <a:pt x="1462" y="676"/>
                    <a:pt x="1462" y="676"/>
                  </a:cubicBezTo>
                  <a:cubicBezTo>
                    <a:pt x="1462" y="736"/>
                    <a:pt x="1505" y="770"/>
                    <a:pt x="1552" y="770"/>
                  </a:cubicBezTo>
                  <a:cubicBezTo>
                    <a:pt x="1582" y="770"/>
                    <a:pt x="1601" y="758"/>
                    <a:pt x="1618" y="737"/>
                  </a:cubicBezTo>
                  <a:cubicBezTo>
                    <a:pt x="1618" y="747"/>
                    <a:pt x="1618" y="747"/>
                    <a:pt x="1618" y="747"/>
                  </a:cubicBezTo>
                  <a:cubicBezTo>
                    <a:pt x="1618" y="783"/>
                    <a:pt x="1599" y="802"/>
                    <a:pt x="1560" y="802"/>
                  </a:cubicBezTo>
                  <a:close/>
                  <a:moveTo>
                    <a:pt x="1568" y="723"/>
                  </a:moveTo>
                  <a:cubicBezTo>
                    <a:pt x="1541" y="723"/>
                    <a:pt x="1519" y="704"/>
                    <a:pt x="1519" y="676"/>
                  </a:cubicBezTo>
                  <a:cubicBezTo>
                    <a:pt x="1519" y="675"/>
                    <a:pt x="1519" y="675"/>
                    <a:pt x="1519" y="675"/>
                  </a:cubicBezTo>
                  <a:cubicBezTo>
                    <a:pt x="1519" y="648"/>
                    <a:pt x="1541" y="629"/>
                    <a:pt x="1568" y="629"/>
                  </a:cubicBezTo>
                  <a:cubicBezTo>
                    <a:pt x="1596" y="629"/>
                    <a:pt x="1618" y="648"/>
                    <a:pt x="1618" y="675"/>
                  </a:cubicBezTo>
                  <a:cubicBezTo>
                    <a:pt x="1618" y="676"/>
                    <a:pt x="1618" y="676"/>
                    <a:pt x="1618" y="676"/>
                  </a:cubicBezTo>
                  <a:cubicBezTo>
                    <a:pt x="1618" y="704"/>
                    <a:pt x="1596" y="723"/>
                    <a:pt x="1568" y="723"/>
                  </a:cubicBezTo>
                  <a:close/>
                  <a:moveTo>
                    <a:pt x="1790" y="722"/>
                  </a:moveTo>
                  <a:cubicBezTo>
                    <a:pt x="1744" y="585"/>
                    <a:pt x="1744" y="585"/>
                    <a:pt x="1744" y="585"/>
                  </a:cubicBezTo>
                  <a:cubicBezTo>
                    <a:pt x="1684" y="585"/>
                    <a:pt x="1684" y="585"/>
                    <a:pt x="1684" y="585"/>
                  </a:cubicBezTo>
                  <a:cubicBezTo>
                    <a:pt x="1763" y="788"/>
                    <a:pt x="1763" y="788"/>
                    <a:pt x="1763" y="788"/>
                  </a:cubicBezTo>
                  <a:cubicBezTo>
                    <a:pt x="1758" y="798"/>
                    <a:pt x="1753" y="801"/>
                    <a:pt x="1743" y="801"/>
                  </a:cubicBezTo>
                  <a:cubicBezTo>
                    <a:pt x="1735" y="801"/>
                    <a:pt x="1726" y="797"/>
                    <a:pt x="1718" y="793"/>
                  </a:cubicBezTo>
                  <a:cubicBezTo>
                    <a:pt x="1699" y="834"/>
                    <a:pt x="1699" y="834"/>
                    <a:pt x="1699" y="834"/>
                  </a:cubicBezTo>
                  <a:cubicBezTo>
                    <a:pt x="1714" y="843"/>
                    <a:pt x="1729" y="848"/>
                    <a:pt x="1750" y="848"/>
                  </a:cubicBezTo>
                  <a:cubicBezTo>
                    <a:pt x="1784" y="848"/>
                    <a:pt x="1801" y="833"/>
                    <a:pt x="1816" y="792"/>
                  </a:cubicBezTo>
                  <a:cubicBezTo>
                    <a:pt x="1894" y="585"/>
                    <a:pt x="1894" y="585"/>
                    <a:pt x="1894" y="585"/>
                  </a:cubicBezTo>
                  <a:cubicBezTo>
                    <a:pt x="1834" y="585"/>
                    <a:pt x="1834" y="585"/>
                    <a:pt x="1834" y="585"/>
                  </a:cubicBezTo>
                  <a:lnTo>
                    <a:pt x="1790" y="722"/>
                  </a:lnTo>
                  <a:close/>
                  <a:moveTo>
                    <a:pt x="1101" y="965"/>
                  </a:moveTo>
                  <a:cubicBezTo>
                    <a:pt x="1054" y="965"/>
                    <a:pt x="1054" y="965"/>
                    <a:pt x="1054" y="965"/>
                  </a:cubicBezTo>
                  <a:cubicBezTo>
                    <a:pt x="1054" y="957"/>
                    <a:pt x="1054" y="957"/>
                    <a:pt x="1054" y="957"/>
                  </a:cubicBezTo>
                  <a:cubicBezTo>
                    <a:pt x="1054" y="942"/>
                    <a:pt x="1062" y="935"/>
                    <a:pt x="1075" y="935"/>
                  </a:cubicBezTo>
                  <a:cubicBezTo>
                    <a:pt x="1085" y="935"/>
                    <a:pt x="1093" y="937"/>
                    <a:pt x="1101" y="940"/>
                  </a:cubicBezTo>
                  <a:cubicBezTo>
                    <a:pt x="1101" y="893"/>
                    <a:pt x="1101" y="893"/>
                    <a:pt x="1101" y="893"/>
                  </a:cubicBezTo>
                  <a:cubicBezTo>
                    <a:pt x="1091" y="889"/>
                    <a:pt x="1078" y="887"/>
                    <a:pt x="1060" y="887"/>
                  </a:cubicBezTo>
                  <a:cubicBezTo>
                    <a:pt x="1040" y="887"/>
                    <a:pt x="1025" y="892"/>
                    <a:pt x="1014" y="903"/>
                  </a:cubicBezTo>
                  <a:cubicBezTo>
                    <a:pt x="1004" y="914"/>
                    <a:pt x="998" y="930"/>
                    <a:pt x="998" y="952"/>
                  </a:cubicBezTo>
                  <a:cubicBezTo>
                    <a:pt x="998" y="965"/>
                    <a:pt x="998" y="965"/>
                    <a:pt x="998" y="965"/>
                  </a:cubicBezTo>
                  <a:cubicBezTo>
                    <a:pt x="974" y="965"/>
                    <a:pt x="974" y="965"/>
                    <a:pt x="974" y="965"/>
                  </a:cubicBezTo>
                  <a:cubicBezTo>
                    <a:pt x="974" y="1012"/>
                    <a:pt x="974" y="1012"/>
                    <a:pt x="974" y="1012"/>
                  </a:cubicBezTo>
                  <a:cubicBezTo>
                    <a:pt x="998" y="1012"/>
                    <a:pt x="998" y="1012"/>
                    <a:pt x="998" y="1012"/>
                  </a:cubicBezTo>
                  <a:cubicBezTo>
                    <a:pt x="998" y="1165"/>
                    <a:pt x="998" y="1165"/>
                    <a:pt x="998" y="1165"/>
                  </a:cubicBezTo>
                  <a:cubicBezTo>
                    <a:pt x="1055" y="1165"/>
                    <a:pt x="1055" y="1165"/>
                    <a:pt x="1055" y="1165"/>
                  </a:cubicBezTo>
                  <a:cubicBezTo>
                    <a:pt x="1055" y="1012"/>
                    <a:pt x="1055" y="1012"/>
                    <a:pt x="1055" y="1012"/>
                  </a:cubicBezTo>
                  <a:cubicBezTo>
                    <a:pt x="1101" y="1012"/>
                    <a:pt x="1101" y="1012"/>
                    <a:pt x="1101" y="1012"/>
                  </a:cubicBezTo>
                  <a:lnTo>
                    <a:pt x="1101" y="965"/>
                  </a:lnTo>
                  <a:close/>
                  <a:moveTo>
                    <a:pt x="1209" y="959"/>
                  </a:moveTo>
                  <a:cubicBezTo>
                    <a:pt x="1147" y="959"/>
                    <a:pt x="1100" y="1006"/>
                    <a:pt x="1100" y="1064"/>
                  </a:cubicBezTo>
                  <a:cubicBezTo>
                    <a:pt x="1100" y="1065"/>
                    <a:pt x="1100" y="1065"/>
                    <a:pt x="1100" y="1065"/>
                  </a:cubicBezTo>
                  <a:cubicBezTo>
                    <a:pt x="1100" y="1123"/>
                    <a:pt x="1146" y="1169"/>
                    <a:pt x="1209" y="1169"/>
                  </a:cubicBezTo>
                  <a:cubicBezTo>
                    <a:pt x="1272" y="1169"/>
                    <a:pt x="1318" y="1122"/>
                    <a:pt x="1318" y="1064"/>
                  </a:cubicBezTo>
                  <a:cubicBezTo>
                    <a:pt x="1318" y="1063"/>
                    <a:pt x="1318" y="1063"/>
                    <a:pt x="1318" y="1063"/>
                  </a:cubicBezTo>
                  <a:cubicBezTo>
                    <a:pt x="1318" y="1005"/>
                    <a:pt x="1272" y="959"/>
                    <a:pt x="1209" y="959"/>
                  </a:cubicBezTo>
                  <a:close/>
                  <a:moveTo>
                    <a:pt x="1262" y="1065"/>
                  </a:moveTo>
                  <a:cubicBezTo>
                    <a:pt x="1262" y="1095"/>
                    <a:pt x="1242" y="1120"/>
                    <a:pt x="1209" y="1120"/>
                  </a:cubicBezTo>
                  <a:cubicBezTo>
                    <a:pt x="1178" y="1120"/>
                    <a:pt x="1156" y="1094"/>
                    <a:pt x="1156" y="1064"/>
                  </a:cubicBezTo>
                  <a:cubicBezTo>
                    <a:pt x="1156" y="1063"/>
                    <a:pt x="1156" y="1063"/>
                    <a:pt x="1156" y="1063"/>
                  </a:cubicBezTo>
                  <a:cubicBezTo>
                    <a:pt x="1156" y="1034"/>
                    <a:pt x="1176" y="1008"/>
                    <a:pt x="1209" y="1008"/>
                  </a:cubicBezTo>
                  <a:cubicBezTo>
                    <a:pt x="1240" y="1008"/>
                    <a:pt x="1262" y="1034"/>
                    <a:pt x="1262" y="1064"/>
                  </a:cubicBezTo>
                  <a:lnTo>
                    <a:pt x="1262" y="1065"/>
                  </a:lnTo>
                  <a:close/>
                  <a:moveTo>
                    <a:pt x="1389" y="1004"/>
                  </a:moveTo>
                  <a:cubicBezTo>
                    <a:pt x="1389" y="963"/>
                    <a:pt x="1389" y="963"/>
                    <a:pt x="1389" y="963"/>
                  </a:cubicBezTo>
                  <a:cubicBezTo>
                    <a:pt x="1332" y="963"/>
                    <a:pt x="1332" y="963"/>
                    <a:pt x="1332" y="963"/>
                  </a:cubicBezTo>
                  <a:cubicBezTo>
                    <a:pt x="1332" y="1165"/>
                    <a:pt x="1332" y="1165"/>
                    <a:pt x="1332" y="1165"/>
                  </a:cubicBezTo>
                  <a:cubicBezTo>
                    <a:pt x="1389" y="1165"/>
                    <a:pt x="1389" y="1165"/>
                    <a:pt x="1389" y="1165"/>
                  </a:cubicBezTo>
                  <a:cubicBezTo>
                    <a:pt x="1389" y="1090"/>
                    <a:pt x="1389" y="1090"/>
                    <a:pt x="1389" y="1090"/>
                  </a:cubicBezTo>
                  <a:cubicBezTo>
                    <a:pt x="1389" y="1042"/>
                    <a:pt x="1412" y="1019"/>
                    <a:pt x="1450" y="1019"/>
                  </a:cubicBezTo>
                  <a:cubicBezTo>
                    <a:pt x="1453" y="1019"/>
                    <a:pt x="1453" y="1019"/>
                    <a:pt x="1453" y="1019"/>
                  </a:cubicBezTo>
                  <a:cubicBezTo>
                    <a:pt x="1453" y="959"/>
                    <a:pt x="1453" y="959"/>
                    <a:pt x="1453" y="959"/>
                  </a:cubicBezTo>
                  <a:cubicBezTo>
                    <a:pt x="1419" y="958"/>
                    <a:pt x="1400" y="976"/>
                    <a:pt x="1389" y="1004"/>
                  </a:cubicBezTo>
                  <a:close/>
                  <a:moveTo>
                    <a:pt x="1622" y="961"/>
                  </a:moveTo>
                  <a:cubicBezTo>
                    <a:pt x="1588" y="961"/>
                    <a:pt x="1566" y="967"/>
                    <a:pt x="1544" y="977"/>
                  </a:cubicBezTo>
                  <a:cubicBezTo>
                    <a:pt x="1558" y="1020"/>
                    <a:pt x="1558" y="1020"/>
                    <a:pt x="1558" y="1020"/>
                  </a:cubicBezTo>
                  <a:cubicBezTo>
                    <a:pt x="1576" y="1014"/>
                    <a:pt x="1592" y="1010"/>
                    <a:pt x="1614" y="1010"/>
                  </a:cubicBezTo>
                  <a:cubicBezTo>
                    <a:pt x="1642" y="1010"/>
                    <a:pt x="1657" y="1023"/>
                    <a:pt x="1657" y="1046"/>
                  </a:cubicBezTo>
                  <a:cubicBezTo>
                    <a:pt x="1657" y="1050"/>
                    <a:pt x="1657" y="1050"/>
                    <a:pt x="1657" y="1050"/>
                  </a:cubicBezTo>
                  <a:cubicBezTo>
                    <a:pt x="1643" y="1045"/>
                    <a:pt x="1628" y="1042"/>
                    <a:pt x="1608" y="1042"/>
                  </a:cubicBezTo>
                  <a:cubicBezTo>
                    <a:pt x="1560" y="1042"/>
                    <a:pt x="1526" y="1062"/>
                    <a:pt x="1526" y="1106"/>
                  </a:cubicBezTo>
                  <a:cubicBezTo>
                    <a:pt x="1526" y="1107"/>
                    <a:pt x="1526" y="1107"/>
                    <a:pt x="1526" y="1107"/>
                  </a:cubicBezTo>
                  <a:cubicBezTo>
                    <a:pt x="1526" y="1147"/>
                    <a:pt x="1558" y="1168"/>
                    <a:pt x="1596" y="1168"/>
                  </a:cubicBezTo>
                  <a:cubicBezTo>
                    <a:pt x="1624" y="1168"/>
                    <a:pt x="1643" y="1158"/>
                    <a:pt x="1657" y="1143"/>
                  </a:cubicBezTo>
                  <a:cubicBezTo>
                    <a:pt x="1657" y="1165"/>
                    <a:pt x="1657" y="1165"/>
                    <a:pt x="1657" y="1165"/>
                  </a:cubicBezTo>
                  <a:cubicBezTo>
                    <a:pt x="1712" y="1165"/>
                    <a:pt x="1712" y="1165"/>
                    <a:pt x="1712" y="1165"/>
                  </a:cubicBezTo>
                  <a:cubicBezTo>
                    <a:pt x="1712" y="1048"/>
                    <a:pt x="1712" y="1048"/>
                    <a:pt x="1712" y="1048"/>
                  </a:cubicBezTo>
                  <a:cubicBezTo>
                    <a:pt x="1712" y="1020"/>
                    <a:pt x="1705" y="998"/>
                    <a:pt x="1690" y="983"/>
                  </a:cubicBezTo>
                  <a:cubicBezTo>
                    <a:pt x="1676" y="969"/>
                    <a:pt x="1653" y="961"/>
                    <a:pt x="1622" y="961"/>
                  </a:cubicBezTo>
                  <a:close/>
                  <a:moveTo>
                    <a:pt x="1658" y="1094"/>
                  </a:moveTo>
                  <a:cubicBezTo>
                    <a:pt x="1658" y="1114"/>
                    <a:pt x="1640" y="1129"/>
                    <a:pt x="1613" y="1129"/>
                  </a:cubicBezTo>
                  <a:cubicBezTo>
                    <a:pt x="1595" y="1129"/>
                    <a:pt x="1582" y="1120"/>
                    <a:pt x="1582" y="1104"/>
                  </a:cubicBezTo>
                  <a:cubicBezTo>
                    <a:pt x="1582" y="1104"/>
                    <a:pt x="1582" y="1104"/>
                    <a:pt x="1582" y="1104"/>
                  </a:cubicBezTo>
                  <a:cubicBezTo>
                    <a:pt x="1582" y="1086"/>
                    <a:pt x="1597" y="1076"/>
                    <a:pt x="1621" y="1076"/>
                  </a:cubicBezTo>
                  <a:cubicBezTo>
                    <a:pt x="1635" y="1076"/>
                    <a:pt x="1648" y="1079"/>
                    <a:pt x="1658" y="1083"/>
                  </a:cubicBezTo>
                  <a:lnTo>
                    <a:pt x="1658" y="1094"/>
                  </a:lnTo>
                  <a:close/>
                  <a:moveTo>
                    <a:pt x="1736" y="1165"/>
                  </a:moveTo>
                  <a:cubicBezTo>
                    <a:pt x="1793" y="1165"/>
                    <a:pt x="1793" y="1165"/>
                    <a:pt x="1793" y="1165"/>
                  </a:cubicBezTo>
                  <a:cubicBezTo>
                    <a:pt x="1793" y="890"/>
                    <a:pt x="1793" y="890"/>
                    <a:pt x="1793" y="890"/>
                  </a:cubicBezTo>
                  <a:cubicBezTo>
                    <a:pt x="1736" y="890"/>
                    <a:pt x="1736" y="890"/>
                    <a:pt x="1736" y="890"/>
                  </a:cubicBezTo>
                  <a:lnTo>
                    <a:pt x="1736" y="1165"/>
                  </a:lnTo>
                  <a:close/>
                  <a:moveTo>
                    <a:pt x="1817" y="1165"/>
                  </a:moveTo>
                  <a:cubicBezTo>
                    <a:pt x="1874" y="1165"/>
                    <a:pt x="1874" y="1165"/>
                    <a:pt x="1874" y="1165"/>
                  </a:cubicBezTo>
                  <a:cubicBezTo>
                    <a:pt x="1874" y="890"/>
                    <a:pt x="1874" y="890"/>
                    <a:pt x="1874" y="890"/>
                  </a:cubicBezTo>
                  <a:cubicBezTo>
                    <a:pt x="1817" y="890"/>
                    <a:pt x="1817" y="890"/>
                    <a:pt x="1817" y="890"/>
                  </a:cubicBezTo>
                  <a:lnTo>
                    <a:pt x="1817" y="1165"/>
                  </a:lnTo>
                  <a:close/>
                  <a:moveTo>
                    <a:pt x="2086" y="0"/>
                  </a:moveTo>
                  <a:cubicBezTo>
                    <a:pt x="2086" y="1832"/>
                    <a:pt x="2086" y="1832"/>
                    <a:pt x="2086" y="1832"/>
                  </a:cubicBezTo>
                  <a:cubicBezTo>
                    <a:pt x="2697" y="1832"/>
                    <a:pt x="2697" y="1832"/>
                    <a:pt x="2697" y="1832"/>
                  </a:cubicBezTo>
                  <a:cubicBezTo>
                    <a:pt x="2697" y="0"/>
                    <a:pt x="2697" y="0"/>
                    <a:pt x="2697" y="0"/>
                  </a:cubicBezTo>
                  <a:lnTo>
                    <a:pt x="2086" y="0"/>
                  </a:lnTo>
                  <a:close/>
                </a:path>
              </a:pathLst>
            </a:custGeom>
            <a:gradFill flip="none" rotWithShape="1">
              <a:gsLst>
                <a:gs pos="37000">
                  <a:srgbClr val="F2A11F"/>
                </a:gs>
                <a:gs pos="56000">
                  <a:srgbClr val="EC5124"/>
                </a:gs>
                <a:gs pos="83000">
                  <a:srgbClr val="D32A27"/>
                </a:gs>
                <a:gs pos="100000">
                  <a:srgbClr val="7A425E"/>
                </a:gs>
              </a:gsLst>
              <a:lin ang="18900000" scaled="1"/>
              <a:tileRect/>
            </a:gradFill>
            <a:ln>
              <a:noFill/>
            </a:ln>
          </p:spPr>
          <p:txBody>
            <a:bodyPr vert="horz" wrap="square" lIns="91440" tIns="45720" rIns="91440" bIns="45720" numCol="1" anchor="t" anchorCtr="0" compatLnSpc="1">
              <a:prstTxWarp prst="textNoShape">
                <a:avLst/>
              </a:prstTxWarp>
            </a:bodyPr>
            <a:lstStyle/>
            <a:p>
              <a:endParaRPr lang="en-US" sz="1798"/>
            </a:p>
          </p:txBody>
        </p:sp>
        <p:grpSp>
          <p:nvGrpSpPr>
            <p:cNvPr id="21" name="Group 20">
              <a:extLst>
                <a:ext uri="{FF2B5EF4-FFF2-40B4-BE49-F238E27FC236}">
                  <a16:creationId xmlns:a16="http://schemas.microsoft.com/office/drawing/2014/main" id="{F28F2614-0FCC-4D8C-BC98-D03E162B4F33}"/>
                </a:ext>
              </a:extLst>
            </p:cNvPr>
            <p:cNvGrpSpPr/>
            <p:nvPr userDrawn="1"/>
          </p:nvGrpSpPr>
          <p:grpSpPr>
            <a:xfrm>
              <a:off x="11291887" y="1987551"/>
              <a:ext cx="590550" cy="2868613"/>
              <a:chOff x="11291887" y="1987551"/>
              <a:chExt cx="590550" cy="2868613"/>
            </a:xfrm>
          </p:grpSpPr>
          <p:sp>
            <p:nvSpPr>
              <p:cNvPr id="13" name="Freeform 6">
                <a:extLst>
                  <a:ext uri="{FF2B5EF4-FFF2-40B4-BE49-F238E27FC236}">
                    <a16:creationId xmlns:a16="http://schemas.microsoft.com/office/drawing/2014/main" id="{4BE4413F-C77A-40BA-9643-97A55AFCF5AB}"/>
                  </a:ext>
                </a:extLst>
              </p:cNvPr>
              <p:cNvSpPr>
                <a:spLocks/>
              </p:cNvSpPr>
              <p:nvPr userDrawn="1"/>
            </p:nvSpPr>
            <p:spPr bwMode="auto">
              <a:xfrm>
                <a:off x="11418887" y="3471864"/>
                <a:ext cx="455612" cy="452438"/>
              </a:xfrm>
              <a:custGeom>
                <a:avLst/>
                <a:gdLst>
                  <a:gd name="T0" fmla="*/ 0 w 239"/>
                  <a:gd name="T1" fmla="*/ 96 h 237"/>
                  <a:gd name="T2" fmla="*/ 38 w 239"/>
                  <a:gd name="T3" fmla="*/ 173 h 237"/>
                  <a:gd name="T4" fmla="*/ 38 w 239"/>
                  <a:gd name="T5" fmla="*/ 173 h 237"/>
                  <a:gd name="T6" fmla="*/ 38 w 239"/>
                  <a:gd name="T7" fmla="*/ 173 h 237"/>
                  <a:gd name="T8" fmla="*/ 4 w 239"/>
                  <a:gd name="T9" fmla="*/ 173 h 237"/>
                  <a:gd name="T10" fmla="*/ 4 w 239"/>
                  <a:gd name="T11" fmla="*/ 237 h 237"/>
                  <a:gd name="T12" fmla="*/ 239 w 239"/>
                  <a:gd name="T13" fmla="*/ 237 h 237"/>
                  <a:gd name="T14" fmla="*/ 239 w 239"/>
                  <a:gd name="T15" fmla="*/ 173 h 237"/>
                  <a:gd name="T16" fmla="*/ 105 w 239"/>
                  <a:gd name="T17" fmla="*/ 173 h 237"/>
                  <a:gd name="T18" fmla="*/ 56 w 239"/>
                  <a:gd name="T19" fmla="*/ 119 h 237"/>
                  <a:gd name="T20" fmla="*/ 105 w 239"/>
                  <a:gd name="T21" fmla="*/ 65 h 237"/>
                  <a:gd name="T22" fmla="*/ 239 w 239"/>
                  <a:gd name="T23" fmla="*/ 65 h 237"/>
                  <a:gd name="T24" fmla="*/ 239 w 239"/>
                  <a:gd name="T25" fmla="*/ 0 h 237"/>
                  <a:gd name="T26" fmla="*/ 93 w 239"/>
                  <a:gd name="T27" fmla="*/ 0 h 237"/>
                  <a:gd name="T28" fmla="*/ 0 w 239"/>
                  <a:gd name="T29" fmla="*/ 9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9" h="237">
                    <a:moveTo>
                      <a:pt x="0" y="96"/>
                    </a:moveTo>
                    <a:cubicBezTo>
                      <a:pt x="0" y="123"/>
                      <a:pt x="13" y="154"/>
                      <a:pt x="38" y="173"/>
                    </a:cubicBezTo>
                    <a:cubicBezTo>
                      <a:pt x="38" y="173"/>
                      <a:pt x="38" y="173"/>
                      <a:pt x="38" y="173"/>
                    </a:cubicBezTo>
                    <a:cubicBezTo>
                      <a:pt x="38" y="173"/>
                      <a:pt x="38" y="173"/>
                      <a:pt x="38" y="173"/>
                    </a:cubicBezTo>
                    <a:cubicBezTo>
                      <a:pt x="4" y="173"/>
                      <a:pt x="4" y="173"/>
                      <a:pt x="4" y="173"/>
                    </a:cubicBezTo>
                    <a:cubicBezTo>
                      <a:pt x="4" y="237"/>
                      <a:pt x="4" y="237"/>
                      <a:pt x="4" y="237"/>
                    </a:cubicBezTo>
                    <a:cubicBezTo>
                      <a:pt x="239" y="237"/>
                      <a:pt x="239" y="237"/>
                      <a:pt x="239" y="237"/>
                    </a:cubicBezTo>
                    <a:cubicBezTo>
                      <a:pt x="239" y="173"/>
                      <a:pt x="239" y="173"/>
                      <a:pt x="239" y="173"/>
                    </a:cubicBezTo>
                    <a:cubicBezTo>
                      <a:pt x="105" y="173"/>
                      <a:pt x="105" y="173"/>
                      <a:pt x="105" y="173"/>
                    </a:cubicBezTo>
                    <a:cubicBezTo>
                      <a:pt x="81" y="173"/>
                      <a:pt x="56" y="154"/>
                      <a:pt x="56" y="119"/>
                    </a:cubicBezTo>
                    <a:cubicBezTo>
                      <a:pt x="56" y="93"/>
                      <a:pt x="74" y="65"/>
                      <a:pt x="105" y="65"/>
                    </a:cubicBezTo>
                    <a:cubicBezTo>
                      <a:pt x="239" y="65"/>
                      <a:pt x="239" y="65"/>
                      <a:pt x="239" y="65"/>
                    </a:cubicBezTo>
                    <a:cubicBezTo>
                      <a:pt x="239" y="0"/>
                      <a:pt x="239" y="0"/>
                      <a:pt x="239" y="0"/>
                    </a:cubicBezTo>
                    <a:cubicBezTo>
                      <a:pt x="93" y="0"/>
                      <a:pt x="93" y="0"/>
                      <a:pt x="93" y="0"/>
                    </a:cubicBezTo>
                    <a:cubicBezTo>
                      <a:pt x="39" y="0"/>
                      <a:pt x="0" y="39"/>
                      <a:pt x="0" y="9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5" name="Freeform 7">
                <a:extLst>
                  <a:ext uri="{FF2B5EF4-FFF2-40B4-BE49-F238E27FC236}">
                    <a16:creationId xmlns:a16="http://schemas.microsoft.com/office/drawing/2014/main" id="{3CA96921-0134-4138-B35F-24FF94928025}"/>
                  </a:ext>
                </a:extLst>
              </p:cNvPr>
              <p:cNvSpPr>
                <a:spLocks/>
              </p:cNvSpPr>
              <p:nvPr userDrawn="1"/>
            </p:nvSpPr>
            <p:spPr bwMode="auto">
              <a:xfrm>
                <a:off x="11425237" y="2452689"/>
                <a:ext cx="449262" cy="506413"/>
              </a:xfrm>
              <a:custGeom>
                <a:avLst/>
                <a:gdLst>
                  <a:gd name="T0" fmla="*/ 0 w 283"/>
                  <a:gd name="T1" fmla="*/ 89 h 319"/>
                  <a:gd name="T2" fmla="*/ 193 w 283"/>
                  <a:gd name="T3" fmla="*/ 159 h 319"/>
                  <a:gd name="T4" fmla="*/ 0 w 283"/>
                  <a:gd name="T5" fmla="*/ 229 h 319"/>
                  <a:gd name="T6" fmla="*/ 0 w 283"/>
                  <a:gd name="T7" fmla="*/ 319 h 319"/>
                  <a:gd name="T8" fmla="*/ 283 w 283"/>
                  <a:gd name="T9" fmla="*/ 202 h 319"/>
                  <a:gd name="T10" fmla="*/ 283 w 283"/>
                  <a:gd name="T11" fmla="*/ 117 h 319"/>
                  <a:gd name="T12" fmla="*/ 0 w 283"/>
                  <a:gd name="T13" fmla="*/ 0 h 319"/>
                  <a:gd name="T14" fmla="*/ 0 w 283"/>
                  <a:gd name="T15" fmla="*/ 89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3" h="319">
                    <a:moveTo>
                      <a:pt x="0" y="89"/>
                    </a:moveTo>
                    <a:lnTo>
                      <a:pt x="193" y="159"/>
                    </a:lnTo>
                    <a:lnTo>
                      <a:pt x="0" y="229"/>
                    </a:lnTo>
                    <a:lnTo>
                      <a:pt x="0" y="319"/>
                    </a:lnTo>
                    <a:lnTo>
                      <a:pt x="283" y="202"/>
                    </a:lnTo>
                    <a:lnTo>
                      <a:pt x="283" y="117"/>
                    </a:lnTo>
                    <a:lnTo>
                      <a:pt x="0" y="0"/>
                    </a:lnTo>
                    <a:lnTo>
                      <a:pt x="0" y="8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7" name="Freeform 8">
                <a:extLst>
                  <a:ext uri="{FF2B5EF4-FFF2-40B4-BE49-F238E27FC236}">
                    <a16:creationId xmlns:a16="http://schemas.microsoft.com/office/drawing/2014/main" id="{294835C9-5930-4B1D-B981-5AC310AA6029}"/>
                  </a:ext>
                </a:extLst>
              </p:cNvPr>
              <p:cNvSpPr>
                <a:spLocks noEditPoints="1"/>
              </p:cNvSpPr>
              <p:nvPr userDrawn="1"/>
            </p:nvSpPr>
            <p:spPr bwMode="auto">
              <a:xfrm>
                <a:off x="11418887" y="3968751"/>
                <a:ext cx="463550" cy="471488"/>
              </a:xfrm>
              <a:custGeom>
                <a:avLst/>
                <a:gdLst>
                  <a:gd name="T0" fmla="*/ 167 w 243"/>
                  <a:gd name="T1" fmla="*/ 46 h 246"/>
                  <a:gd name="T2" fmla="*/ 192 w 243"/>
                  <a:gd name="T3" fmla="*/ 113 h 246"/>
                  <a:gd name="T4" fmla="*/ 173 w 243"/>
                  <a:gd name="T5" fmla="*/ 165 h 246"/>
                  <a:gd name="T6" fmla="*/ 104 w 243"/>
                  <a:gd name="T7" fmla="*/ 0 h 246"/>
                  <a:gd name="T8" fmla="*/ 39 w 243"/>
                  <a:gd name="T9" fmla="*/ 28 h 246"/>
                  <a:gd name="T10" fmla="*/ 0 w 243"/>
                  <a:gd name="T11" fmla="*/ 121 h 246"/>
                  <a:gd name="T12" fmla="*/ 122 w 243"/>
                  <a:gd name="T13" fmla="*/ 246 h 246"/>
                  <a:gd name="T14" fmla="*/ 243 w 243"/>
                  <a:gd name="T15" fmla="*/ 114 h 246"/>
                  <a:gd name="T16" fmla="*/ 198 w 243"/>
                  <a:gd name="T17" fmla="*/ 5 h 246"/>
                  <a:gd name="T18" fmla="*/ 167 w 243"/>
                  <a:gd name="T19" fmla="*/ 46 h 246"/>
                  <a:gd name="T20" fmla="*/ 75 w 243"/>
                  <a:gd name="T21" fmla="*/ 170 h 246"/>
                  <a:gd name="T22" fmla="*/ 51 w 243"/>
                  <a:gd name="T23" fmla="*/ 120 h 246"/>
                  <a:gd name="T24" fmla="*/ 84 w 243"/>
                  <a:gd name="T25" fmla="*/ 70 h 246"/>
                  <a:gd name="T26" fmla="*/ 131 w 243"/>
                  <a:gd name="T27" fmla="*/ 183 h 246"/>
                  <a:gd name="T28" fmla="*/ 75 w 243"/>
                  <a:gd name="T29" fmla="*/ 17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3" h="246">
                    <a:moveTo>
                      <a:pt x="167" y="46"/>
                    </a:moveTo>
                    <a:cubicBezTo>
                      <a:pt x="187" y="73"/>
                      <a:pt x="192" y="88"/>
                      <a:pt x="192" y="113"/>
                    </a:cubicBezTo>
                    <a:cubicBezTo>
                      <a:pt x="192" y="135"/>
                      <a:pt x="185" y="153"/>
                      <a:pt x="173" y="165"/>
                    </a:cubicBezTo>
                    <a:cubicBezTo>
                      <a:pt x="104" y="0"/>
                      <a:pt x="104" y="0"/>
                      <a:pt x="104" y="0"/>
                    </a:cubicBezTo>
                    <a:cubicBezTo>
                      <a:pt x="79" y="4"/>
                      <a:pt x="56" y="14"/>
                      <a:pt x="39" y="28"/>
                    </a:cubicBezTo>
                    <a:cubicBezTo>
                      <a:pt x="13" y="50"/>
                      <a:pt x="0" y="82"/>
                      <a:pt x="0" y="121"/>
                    </a:cubicBezTo>
                    <a:cubicBezTo>
                      <a:pt x="0" y="192"/>
                      <a:pt x="52" y="246"/>
                      <a:pt x="122" y="246"/>
                    </a:cubicBezTo>
                    <a:cubicBezTo>
                      <a:pt x="193" y="246"/>
                      <a:pt x="243" y="192"/>
                      <a:pt x="243" y="114"/>
                    </a:cubicBezTo>
                    <a:cubicBezTo>
                      <a:pt x="243" y="70"/>
                      <a:pt x="222" y="26"/>
                      <a:pt x="198" y="5"/>
                    </a:cubicBezTo>
                    <a:lnTo>
                      <a:pt x="167" y="46"/>
                    </a:lnTo>
                    <a:close/>
                    <a:moveTo>
                      <a:pt x="75" y="170"/>
                    </a:moveTo>
                    <a:cubicBezTo>
                      <a:pt x="60" y="159"/>
                      <a:pt x="51" y="141"/>
                      <a:pt x="51" y="120"/>
                    </a:cubicBezTo>
                    <a:cubicBezTo>
                      <a:pt x="51" y="97"/>
                      <a:pt x="65" y="79"/>
                      <a:pt x="84" y="70"/>
                    </a:cubicBezTo>
                    <a:cubicBezTo>
                      <a:pt x="131" y="183"/>
                      <a:pt x="131" y="183"/>
                      <a:pt x="131" y="183"/>
                    </a:cubicBezTo>
                    <a:cubicBezTo>
                      <a:pt x="107" y="186"/>
                      <a:pt x="88" y="180"/>
                      <a:pt x="75"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8" name="Freeform 9">
                <a:extLst>
                  <a:ext uri="{FF2B5EF4-FFF2-40B4-BE49-F238E27FC236}">
                    <a16:creationId xmlns:a16="http://schemas.microsoft.com/office/drawing/2014/main" id="{C78C8B28-A3DD-4458-8A59-EE68D1ACDDF2}"/>
                  </a:ext>
                </a:extLst>
              </p:cNvPr>
              <p:cNvSpPr>
                <a:spLocks/>
              </p:cNvSpPr>
              <p:nvPr userDrawn="1"/>
            </p:nvSpPr>
            <p:spPr bwMode="auto">
              <a:xfrm>
                <a:off x="11291887" y="4451351"/>
                <a:ext cx="582612" cy="404813"/>
              </a:xfrm>
              <a:custGeom>
                <a:avLst/>
                <a:gdLst>
                  <a:gd name="T0" fmla="*/ 296 w 367"/>
                  <a:gd name="T1" fmla="*/ 0 h 255"/>
                  <a:gd name="T2" fmla="*/ 296 w 367"/>
                  <a:gd name="T3" fmla="*/ 177 h 255"/>
                  <a:gd name="T4" fmla="*/ 0 w 367"/>
                  <a:gd name="T5" fmla="*/ 177 h 255"/>
                  <a:gd name="T6" fmla="*/ 0 w 367"/>
                  <a:gd name="T7" fmla="*/ 255 h 255"/>
                  <a:gd name="T8" fmla="*/ 367 w 367"/>
                  <a:gd name="T9" fmla="*/ 255 h 255"/>
                  <a:gd name="T10" fmla="*/ 367 w 367"/>
                  <a:gd name="T11" fmla="*/ 0 h 255"/>
                  <a:gd name="T12" fmla="*/ 296 w 367"/>
                  <a:gd name="T13" fmla="*/ 0 h 255"/>
                </a:gdLst>
                <a:ahLst/>
                <a:cxnLst>
                  <a:cxn ang="0">
                    <a:pos x="T0" y="T1"/>
                  </a:cxn>
                  <a:cxn ang="0">
                    <a:pos x="T2" y="T3"/>
                  </a:cxn>
                  <a:cxn ang="0">
                    <a:pos x="T4" y="T5"/>
                  </a:cxn>
                  <a:cxn ang="0">
                    <a:pos x="T6" y="T7"/>
                  </a:cxn>
                  <a:cxn ang="0">
                    <a:pos x="T8" y="T9"/>
                  </a:cxn>
                  <a:cxn ang="0">
                    <a:pos x="T10" y="T11"/>
                  </a:cxn>
                  <a:cxn ang="0">
                    <a:pos x="T12" y="T13"/>
                  </a:cxn>
                </a:cxnLst>
                <a:rect l="0" t="0" r="r" b="b"/>
                <a:pathLst>
                  <a:path w="367" h="255">
                    <a:moveTo>
                      <a:pt x="296" y="0"/>
                    </a:moveTo>
                    <a:lnTo>
                      <a:pt x="296" y="177"/>
                    </a:lnTo>
                    <a:lnTo>
                      <a:pt x="0" y="177"/>
                    </a:lnTo>
                    <a:lnTo>
                      <a:pt x="0" y="255"/>
                    </a:lnTo>
                    <a:lnTo>
                      <a:pt x="367" y="255"/>
                    </a:lnTo>
                    <a:lnTo>
                      <a:pt x="367" y="0"/>
                    </a:lnTo>
                    <a:lnTo>
                      <a:pt x="2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9" name="Freeform 10">
                <a:extLst>
                  <a:ext uri="{FF2B5EF4-FFF2-40B4-BE49-F238E27FC236}">
                    <a16:creationId xmlns:a16="http://schemas.microsoft.com/office/drawing/2014/main" id="{C8D26C51-B040-4FC2-B37F-5972C012FEE6}"/>
                  </a:ext>
                </a:extLst>
              </p:cNvPr>
              <p:cNvSpPr>
                <a:spLocks noEditPoints="1"/>
              </p:cNvSpPr>
              <p:nvPr userDrawn="1"/>
            </p:nvSpPr>
            <p:spPr bwMode="auto">
              <a:xfrm>
                <a:off x="11418887" y="1987551"/>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20" name="Freeform 11">
                <a:extLst>
                  <a:ext uri="{FF2B5EF4-FFF2-40B4-BE49-F238E27FC236}">
                    <a16:creationId xmlns:a16="http://schemas.microsoft.com/office/drawing/2014/main" id="{37678D62-51AF-470A-BDE3-8ED3FCCDE0FF}"/>
                  </a:ext>
                </a:extLst>
              </p:cNvPr>
              <p:cNvSpPr>
                <a:spLocks noEditPoints="1"/>
              </p:cNvSpPr>
              <p:nvPr userDrawn="1"/>
            </p:nvSpPr>
            <p:spPr bwMode="auto">
              <a:xfrm>
                <a:off x="11418887" y="2938464"/>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grpSp>
    </p:spTree>
    <p:extLst>
      <p:ext uri="{BB962C8B-B14F-4D97-AF65-F5344CB8AC3E}">
        <p14:creationId xmlns:p14="http://schemas.microsoft.com/office/powerpoint/2010/main" val="1149451484"/>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solidFill>
          <a:schemeClr val="tx1"/>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0CD9248-0A2C-4050-B347-2980229F11A8}"/>
              </a:ext>
            </a:extLst>
          </p:cNvPr>
          <p:cNvGrpSpPr/>
          <p:nvPr userDrawn="1"/>
        </p:nvGrpSpPr>
        <p:grpSpPr>
          <a:xfrm rot="16200000">
            <a:off x="373582" y="2655459"/>
            <a:ext cx="6856214" cy="1545292"/>
            <a:chOff x="541049" y="2649538"/>
            <a:chExt cx="9285724" cy="2092325"/>
          </a:xfrm>
          <a:solidFill>
            <a:schemeClr val="bg1"/>
          </a:solidFill>
        </p:grpSpPr>
        <p:sp>
          <p:nvSpPr>
            <p:cNvPr id="54" name="Freeform 5">
              <a:extLst>
                <a:ext uri="{FF2B5EF4-FFF2-40B4-BE49-F238E27FC236}">
                  <a16:creationId xmlns:a16="http://schemas.microsoft.com/office/drawing/2014/main" id="{99FEE917-CD84-4C97-B4F9-73DFE2A473DA}"/>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5" name="Freeform 6">
              <a:extLst>
                <a:ext uri="{FF2B5EF4-FFF2-40B4-BE49-F238E27FC236}">
                  <a16:creationId xmlns:a16="http://schemas.microsoft.com/office/drawing/2014/main" id="{78C9364A-BFFF-4F94-9D90-8A71731D6352}"/>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6" name="Freeform 7">
              <a:extLst>
                <a:ext uri="{FF2B5EF4-FFF2-40B4-BE49-F238E27FC236}">
                  <a16:creationId xmlns:a16="http://schemas.microsoft.com/office/drawing/2014/main" id="{E572E624-9DE1-4F42-A7F5-36B7B8A2F63B}"/>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7" name="Freeform 8">
              <a:extLst>
                <a:ext uri="{FF2B5EF4-FFF2-40B4-BE49-F238E27FC236}">
                  <a16:creationId xmlns:a16="http://schemas.microsoft.com/office/drawing/2014/main" id="{DD8A238C-0295-48D1-8872-FE51165DDEE4}"/>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8" name="Freeform 9">
              <a:extLst>
                <a:ext uri="{FF2B5EF4-FFF2-40B4-BE49-F238E27FC236}">
                  <a16:creationId xmlns:a16="http://schemas.microsoft.com/office/drawing/2014/main" id="{6849E95A-0C53-4220-85E0-6DFCEA7D1C44}"/>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59" name="Freeform 10">
              <a:extLst>
                <a:ext uri="{FF2B5EF4-FFF2-40B4-BE49-F238E27FC236}">
                  <a16:creationId xmlns:a16="http://schemas.microsoft.com/office/drawing/2014/main" id="{056EAF60-5381-416A-895C-D1FAED9FDFFF}"/>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60" name="Oval 11">
              <a:extLst>
                <a:ext uri="{FF2B5EF4-FFF2-40B4-BE49-F238E27FC236}">
                  <a16:creationId xmlns:a16="http://schemas.microsoft.com/office/drawing/2014/main" id="{0154DA0C-208D-4580-AFAD-81B221FB1EE9}"/>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grpSp>
        <p:nvGrpSpPr>
          <p:cNvPr id="105" name="Group 104">
            <a:extLst>
              <a:ext uri="{FF2B5EF4-FFF2-40B4-BE49-F238E27FC236}">
                <a16:creationId xmlns:a16="http://schemas.microsoft.com/office/drawing/2014/main" id="{1F1F6355-08A9-4C09-B618-1C445A02E219}"/>
              </a:ext>
            </a:extLst>
          </p:cNvPr>
          <p:cNvGrpSpPr/>
          <p:nvPr userDrawn="1"/>
        </p:nvGrpSpPr>
        <p:grpSpPr>
          <a:xfrm>
            <a:off x="7047163" y="1676401"/>
            <a:ext cx="5146427" cy="3505200"/>
            <a:chOff x="7045325" y="1676401"/>
            <a:chExt cx="5145087" cy="3505200"/>
          </a:xfrm>
        </p:grpSpPr>
        <p:sp>
          <p:nvSpPr>
            <p:cNvPr id="106" name="Freeform 5">
              <a:extLst>
                <a:ext uri="{FF2B5EF4-FFF2-40B4-BE49-F238E27FC236}">
                  <a16:creationId xmlns:a16="http://schemas.microsoft.com/office/drawing/2014/main" id="{B42EB7FA-FF17-4B14-9DA1-B0E656D461A7}"/>
                </a:ext>
              </a:extLst>
            </p:cNvPr>
            <p:cNvSpPr>
              <a:spLocks noEditPoints="1"/>
            </p:cNvSpPr>
            <p:nvPr userDrawn="1"/>
          </p:nvSpPr>
          <p:spPr bwMode="auto">
            <a:xfrm>
              <a:off x="7045325" y="1676401"/>
              <a:ext cx="5145087" cy="3505200"/>
            </a:xfrm>
            <a:custGeom>
              <a:avLst/>
              <a:gdLst>
                <a:gd name="T0" fmla="*/ 717 w 2697"/>
                <a:gd name="T1" fmla="*/ 241 h 1832"/>
                <a:gd name="T2" fmla="*/ 698 w 2697"/>
                <a:gd name="T3" fmla="*/ 358 h 1832"/>
                <a:gd name="T4" fmla="*/ 755 w 2697"/>
                <a:gd name="T5" fmla="*/ 353 h 1832"/>
                <a:gd name="T6" fmla="*/ 952 w 2697"/>
                <a:gd name="T7" fmla="*/ 431 h 1832"/>
                <a:gd name="T8" fmla="*/ 1077 w 2697"/>
                <a:gd name="T9" fmla="*/ 299 h 1832"/>
                <a:gd name="T10" fmla="*/ 769 w 2697"/>
                <a:gd name="T11" fmla="*/ 229 h 1832"/>
                <a:gd name="T12" fmla="*/ 1219 w 2697"/>
                <a:gd name="T13" fmla="*/ 431 h 1832"/>
                <a:gd name="T14" fmla="*/ 1120 w 2697"/>
                <a:gd name="T15" fmla="*/ 287 h 1832"/>
                <a:gd name="T16" fmla="*/ 1089 w 2697"/>
                <a:gd name="T17" fmla="*/ 373 h 1832"/>
                <a:gd name="T18" fmla="*/ 1175 w 2697"/>
                <a:gd name="T19" fmla="*/ 395 h 1832"/>
                <a:gd name="T20" fmla="*/ 1412 w 2697"/>
                <a:gd name="T21" fmla="*/ 225 h 1832"/>
                <a:gd name="T22" fmla="*/ 1348 w 2697"/>
                <a:gd name="T23" fmla="*/ 356 h 1832"/>
                <a:gd name="T24" fmla="*/ 1505 w 2697"/>
                <a:gd name="T25" fmla="*/ 364 h 1832"/>
                <a:gd name="T26" fmla="*/ 1448 w 2697"/>
                <a:gd name="T27" fmla="*/ 177 h 1832"/>
                <a:gd name="T28" fmla="*/ 1666 w 2697"/>
                <a:gd name="T29" fmla="*/ 435 h 1832"/>
                <a:gd name="T30" fmla="*/ 1758 w 2697"/>
                <a:gd name="T31" fmla="*/ 335 h 1832"/>
                <a:gd name="T32" fmla="*/ 1703 w 2697"/>
                <a:gd name="T33" fmla="*/ 314 h 1832"/>
                <a:gd name="T34" fmla="*/ 1892 w 2697"/>
                <a:gd name="T35" fmla="*/ 225 h 1832"/>
                <a:gd name="T36" fmla="*/ 1828 w 2697"/>
                <a:gd name="T37" fmla="*/ 356 h 1832"/>
                <a:gd name="T38" fmla="*/ 24 w 2697"/>
                <a:gd name="T39" fmla="*/ 634 h 1832"/>
                <a:gd name="T40" fmla="*/ 81 w 2697"/>
                <a:gd name="T41" fmla="*/ 720 h 1832"/>
                <a:gd name="T42" fmla="*/ 237 w 2697"/>
                <a:gd name="T43" fmla="*/ 581 h 1832"/>
                <a:gd name="T44" fmla="*/ 243 w 2697"/>
                <a:gd name="T45" fmla="*/ 745 h 1832"/>
                <a:gd name="T46" fmla="*/ 237 w 2697"/>
                <a:gd name="T47" fmla="*/ 627 h 1832"/>
                <a:gd name="T48" fmla="*/ 450 w 2697"/>
                <a:gd name="T49" fmla="*/ 631 h 1832"/>
                <a:gd name="T50" fmla="*/ 449 w 2697"/>
                <a:gd name="T51" fmla="*/ 791 h 1832"/>
                <a:gd name="T52" fmla="*/ 598 w 2697"/>
                <a:gd name="T53" fmla="*/ 512 h 1832"/>
                <a:gd name="T54" fmla="*/ 669 w 2697"/>
                <a:gd name="T55" fmla="*/ 674 h 1832"/>
                <a:gd name="T56" fmla="*/ 798 w 2697"/>
                <a:gd name="T57" fmla="*/ 614 h 1832"/>
                <a:gd name="T58" fmla="*/ 833 w 2697"/>
                <a:gd name="T59" fmla="*/ 633 h 1832"/>
                <a:gd name="T60" fmla="*/ 1155 w 2697"/>
                <a:gd name="T61" fmla="*/ 686 h 1832"/>
                <a:gd name="T62" fmla="*/ 1155 w 2697"/>
                <a:gd name="T63" fmla="*/ 686 h 1832"/>
                <a:gd name="T64" fmla="*/ 1047 w 2697"/>
                <a:gd name="T65" fmla="*/ 742 h 1832"/>
                <a:gd name="T66" fmla="*/ 1167 w 2697"/>
                <a:gd name="T67" fmla="*/ 787 h 1832"/>
                <a:gd name="T68" fmla="*/ 1453 w 2697"/>
                <a:gd name="T69" fmla="*/ 686 h 1832"/>
                <a:gd name="T70" fmla="*/ 1344 w 2697"/>
                <a:gd name="T71" fmla="*/ 631 h 1832"/>
                <a:gd name="T72" fmla="*/ 1562 w 2697"/>
                <a:gd name="T73" fmla="*/ 848 h 1832"/>
                <a:gd name="T74" fmla="*/ 1552 w 2697"/>
                <a:gd name="T75" fmla="*/ 581 h 1832"/>
                <a:gd name="T76" fmla="*/ 1560 w 2697"/>
                <a:gd name="T77" fmla="*/ 802 h 1832"/>
                <a:gd name="T78" fmla="*/ 1618 w 2697"/>
                <a:gd name="T79" fmla="*/ 676 h 1832"/>
                <a:gd name="T80" fmla="*/ 1743 w 2697"/>
                <a:gd name="T81" fmla="*/ 801 h 1832"/>
                <a:gd name="T82" fmla="*/ 1834 w 2697"/>
                <a:gd name="T83" fmla="*/ 585 h 1832"/>
                <a:gd name="T84" fmla="*/ 1101 w 2697"/>
                <a:gd name="T85" fmla="*/ 940 h 1832"/>
                <a:gd name="T86" fmla="*/ 974 w 2697"/>
                <a:gd name="T87" fmla="*/ 965 h 1832"/>
                <a:gd name="T88" fmla="*/ 1101 w 2697"/>
                <a:gd name="T89" fmla="*/ 1012 h 1832"/>
                <a:gd name="T90" fmla="*/ 1318 w 2697"/>
                <a:gd name="T91" fmla="*/ 1064 h 1832"/>
                <a:gd name="T92" fmla="*/ 1156 w 2697"/>
                <a:gd name="T93" fmla="*/ 1063 h 1832"/>
                <a:gd name="T94" fmla="*/ 1332 w 2697"/>
                <a:gd name="T95" fmla="*/ 963 h 1832"/>
                <a:gd name="T96" fmla="*/ 1453 w 2697"/>
                <a:gd name="T97" fmla="*/ 959 h 1832"/>
                <a:gd name="T98" fmla="*/ 1657 w 2697"/>
                <a:gd name="T99" fmla="*/ 1046 h 1832"/>
                <a:gd name="T100" fmla="*/ 1657 w 2697"/>
                <a:gd name="T101" fmla="*/ 1143 h 1832"/>
                <a:gd name="T102" fmla="*/ 1658 w 2697"/>
                <a:gd name="T103" fmla="*/ 1094 h 1832"/>
                <a:gd name="T104" fmla="*/ 1658 w 2697"/>
                <a:gd name="T105" fmla="*/ 1094 h 1832"/>
                <a:gd name="T106" fmla="*/ 1817 w 2697"/>
                <a:gd name="T107" fmla="*/ 1165 h 1832"/>
                <a:gd name="T108" fmla="*/ 2086 w 2697"/>
                <a:gd name="T109" fmla="*/ 1832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97" h="1832">
                  <a:moveTo>
                    <a:pt x="755" y="352"/>
                  </a:moveTo>
                  <a:cubicBezTo>
                    <a:pt x="755" y="306"/>
                    <a:pt x="725" y="287"/>
                    <a:pt x="672" y="273"/>
                  </a:cubicBezTo>
                  <a:cubicBezTo>
                    <a:pt x="626" y="261"/>
                    <a:pt x="615" y="256"/>
                    <a:pt x="615" y="238"/>
                  </a:cubicBezTo>
                  <a:cubicBezTo>
                    <a:pt x="615" y="238"/>
                    <a:pt x="615" y="238"/>
                    <a:pt x="615" y="238"/>
                  </a:cubicBezTo>
                  <a:cubicBezTo>
                    <a:pt x="615" y="225"/>
                    <a:pt x="626" y="215"/>
                    <a:pt x="649" y="215"/>
                  </a:cubicBezTo>
                  <a:cubicBezTo>
                    <a:pt x="671" y="215"/>
                    <a:pt x="694" y="224"/>
                    <a:pt x="717" y="241"/>
                  </a:cubicBezTo>
                  <a:cubicBezTo>
                    <a:pt x="747" y="197"/>
                    <a:pt x="747" y="197"/>
                    <a:pt x="747" y="197"/>
                  </a:cubicBezTo>
                  <a:cubicBezTo>
                    <a:pt x="720" y="175"/>
                    <a:pt x="688" y="163"/>
                    <a:pt x="649" y="163"/>
                  </a:cubicBezTo>
                  <a:cubicBezTo>
                    <a:pt x="595" y="163"/>
                    <a:pt x="557" y="195"/>
                    <a:pt x="557" y="243"/>
                  </a:cubicBezTo>
                  <a:cubicBezTo>
                    <a:pt x="557" y="244"/>
                    <a:pt x="557" y="244"/>
                    <a:pt x="557" y="244"/>
                  </a:cubicBezTo>
                  <a:cubicBezTo>
                    <a:pt x="557" y="296"/>
                    <a:pt x="591" y="311"/>
                    <a:pt x="644" y="324"/>
                  </a:cubicBezTo>
                  <a:cubicBezTo>
                    <a:pt x="688" y="335"/>
                    <a:pt x="698" y="343"/>
                    <a:pt x="698" y="358"/>
                  </a:cubicBezTo>
                  <a:cubicBezTo>
                    <a:pt x="698" y="358"/>
                    <a:pt x="698" y="358"/>
                    <a:pt x="698" y="358"/>
                  </a:cubicBezTo>
                  <a:cubicBezTo>
                    <a:pt x="698" y="374"/>
                    <a:pt x="683" y="383"/>
                    <a:pt x="659" y="383"/>
                  </a:cubicBezTo>
                  <a:cubicBezTo>
                    <a:pt x="629" y="383"/>
                    <a:pt x="605" y="371"/>
                    <a:pt x="581" y="351"/>
                  </a:cubicBezTo>
                  <a:cubicBezTo>
                    <a:pt x="547" y="392"/>
                    <a:pt x="547" y="392"/>
                    <a:pt x="547" y="392"/>
                  </a:cubicBezTo>
                  <a:cubicBezTo>
                    <a:pt x="578" y="421"/>
                    <a:pt x="618" y="435"/>
                    <a:pt x="658" y="435"/>
                  </a:cubicBezTo>
                  <a:cubicBezTo>
                    <a:pt x="715" y="435"/>
                    <a:pt x="755" y="405"/>
                    <a:pt x="755" y="353"/>
                  </a:cubicBezTo>
                  <a:lnTo>
                    <a:pt x="755" y="352"/>
                  </a:lnTo>
                  <a:close/>
                  <a:moveTo>
                    <a:pt x="826" y="318"/>
                  </a:moveTo>
                  <a:cubicBezTo>
                    <a:pt x="826" y="291"/>
                    <a:pt x="839" y="277"/>
                    <a:pt x="861" y="277"/>
                  </a:cubicBezTo>
                  <a:cubicBezTo>
                    <a:pt x="882" y="277"/>
                    <a:pt x="894" y="291"/>
                    <a:pt x="894" y="318"/>
                  </a:cubicBezTo>
                  <a:cubicBezTo>
                    <a:pt x="894" y="431"/>
                    <a:pt x="894" y="431"/>
                    <a:pt x="894" y="431"/>
                  </a:cubicBezTo>
                  <a:cubicBezTo>
                    <a:pt x="952" y="431"/>
                    <a:pt x="952" y="431"/>
                    <a:pt x="952" y="431"/>
                  </a:cubicBezTo>
                  <a:cubicBezTo>
                    <a:pt x="952" y="318"/>
                    <a:pt x="952" y="318"/>
                    <a:pt x="952" y="318"/>
                  </a:cubicBezTo>
                  <a:cubicBezTo>
                    <a:pt x="952" y="291"/>
                    <a:pt x="965" y="277"/>
                    <a:pt x="986" y="277"/>
                  </a:cubicBezTo>
                  <a:cubicBezTo>
                    <a:pt x="1008" y="277"/>
                    <a:pt x="1020" y="291"/>
                    <a:pt x="1020" y="318"/>
                  </a:cubicBezTo>
                  <a:cubicBezTo>
                    <a:pt x="1020" y="431"/>
                    <a:pt x="1020" y="431"/>
                    <a:pt x="1020" y="431"/>
                  </a:cubicBezTo>
                  <a:cubicBezTo>
                    <a:pt x="1077" y="431"/>
                    <a:pt x="1077" y="431"/>
                    <a:pt x="1077" y="431"/>
                  </a:cubicBezTo>
                  <a:cubicBezTo>
                    <a:pt x="1077" y="299"/>
                    <a:pt x="1077" y="299"/>
                    <a:pt x="1077" y="299"/>
                  </a:cubicBezTo>
                  <a:cubicBezTo>
                    <a:pt x="1077" y="251"/>
                    <a:pt x="1051" y="225"/>
                    <a:pt x="1009" y="225"/>
                  </a:cubicBezTo>
                  <a:cubicBezTo>
                    <a:pt x="981" y="225"/>
                    <a:pt x="960" y="236"/>
                    <a:pt x="943" y="257"/>
                  </a:cubicBezTo>
                  <a:cubicBezTo>
                    <a:pt x="932" y="237"/>
                    <a:pt x="912" y="225"/>
                    <a:pt x="886" y="225"/>
                  </a:cubicBezTo>
                  <a:cubicBezTo>
                    <a:pt x="857" y="225"/>
                    <a:pt x="839" y="241"/>
                    <a:pt x="826" y="258"/>
                  </a:cubicBezTo>
                  <a:cubicBezTo>
                    <a:pt x="826" y="229"/>
                    <a:pt x="826" y="229"/>
                    <a:pt x="826" y="229"/>
                  </a:cubicBezTo>
                  <a:cubicBezTo>
                    <a:pt x="769" y="229"/>
                    <a:pt x="769" y="229"/>
                    <a:pt x="769" y="229"/>
                  </a:cubicBezTo>
                  <a:cubicBezTo>
                    <a:pt x="769" y="431"/>
                    <a:pt x="769" y="431"/>
                    <a:pt x="769" y="431"/>
                  </a:cubicBezTo>
                  <a:cubicBezTo>
                    <a:pt x="826" y="431"/>
                    <a:pt x="826" y="431"/>
                    <a:pt x="826" y="431"/>
                  </a:cubicBezTo>
                  <a:lnTo>
                    <a:pt x="826" y="318"/>
                  </a:lnTo>
                  <a:close/>
                  <a:moveTo>
                    <a:pt x="1158" y="435"/>
                  </a:moveTo>
                  <a:cubicBezTo>
                    <a:pt x="1186" y="435"/>
                    <a:pt x="1205" y="424"/>
                    <a:pt x="1219" y="409"/>
                  </a:cubicBezTo>
                  <a:cubicBezTo>
                    <a:pt x="1219" y="431"/>
                    <a:pt x="1219" y="431"/>
                    <a:pt x="1219" y="431"/>
                  </a:cubicBezTo>
                  <a:cubicBezTo>
                    <a:pt x="1274" y="431"/>
                    <a:pt x="1274" y="431"/>
                    <a:pt x="1274" y="431"/>
                  </a:cubicBezTo>
                  <a:cubicBezTo>
                    <a:pt x="1274" y="314"/>
                    <a:pt x="1274" y="314"/>
                    <a:pt x="1274" y="314"/>
                  </a:cubicBezTo>
                  <a:cubicBezTo>
                    <a:pt x="1274" y="287"/>
                    <a:pt x="1268" y="264"/>
                    <a:pt x="1253" y="249"/>
                  </a:cubicBezTo>
                  <a:cubicBezTo>
                    <a:pt x="1238" y="235"/>
                    <a:pt x="1216" y="227"/>
                    <a:pt x="1184" y="227"/>
                  </a:cubicBezTo>
                  <a:cubicBezTo>
                    <a:pt x="1150" y="227"/>
                    <a:pt x="1128" y="233"/>
                    <a:pt x="1106" y="243"/>
                  </a:cubicBezTo>
                  <a:cubicBezTo>
                    <a:pt x="1120" y="287"/>
                    <a:pt x="1120" y="287"/>
                    <a:pt x="1120" y="287"/>
                  </a:cubicBezTo>
                  <a:cubicBezTo>
                    <a:pt x="1139" y="280"/>
                    <a:pt x="1154" y="276"/>
                    <a:pt x="1176" y="276"/>
                  </a:cubicBezTo>
                  <a:cubicBezTo>
                    <a:pt x="1205" y="276"/>
                    <a:pt x="1219" y="289"/>
                    <a:pt x="1219" y="313"/>
                  </a:cubicBezTo>
                  <a:cubicBezTo>
                    <a:pt x="1219" y="316"/>
                    <a:pt x="1219" y="316"/>
                    <a:pt x="1219" y="316"/>
                  </a:cubicBezTo>
                  <a:cubicBezTo>
                    <a:pt x="1205" y="311"/>
                    <a:pt x="1190" y="308"/>
                    <a:pt x="1170" y="308"/>
                  </a:cubicBezTo>
                  <a:cubicBezTo>
                    <a:pt x="1122" y="308"/>
                    <a:pt x="1089" y="328"/>
                    <a:pt x="1089" y="372"/>
                  </a:cubicBezTo>
                  <a:cubicBezTo>
                    <a:pt x="1089" y="373"/>
                    <a:pt x="1089" y="373"/>
                    <a:pt x="1089" y="373"/>
                  </a:cubicBezTo>
                  <a:cubicBezTo>
                    <a:pt x="1089" y="413"/>
                    <a:pt x="1120" y="435"/>
                    <a:pt x="1158" y="435"/>
                  </a:cubicBezTo>
                  <a:close/>
                  <a:moveTo>
                    <a:pt x="1144" y="370"/>
                  </a:moveTo>
                  <a:cubicBezTo>
                    <a:pt x="1144" y="352"/>
                    <a:pt x="1159" y="342"/>
                    <a:pt x="1184" y="342"/>
                  </a:cubicBezTo>
                  <a:cubicBezTo>
                    <a:pt x="1198" y="342"/>
                    <a:pt x="1210" y="345"/>
                    <a:pt x="1220" y="349"/>
                  </a:cubicBezTo>
                  <a:cubicBezTo>
                    <a:pt x="1220" y="360"/>
                    <a:pt x="1220" y="360"/>
                    <a:pt x="1220" y="360"/>
                  </a:cubicBezTo>
                  <a:cubicBezTo>
                    <a:pt x="1220" y="380"/>
                    <a:pt x="1202" y="395"/>
                    <a:pt x="1175" y="395"/>
                  </a:cubicBezTo>
                  <a:cubicBezTo>
                    <a:pt x="1157" y="395"/>
                    <a:pt x="1144" y="386"/>
                    <a:pt x="1144" y="371"/>
                  </a:cubicBezTo>
                  <a:lnTo>
                    <a:pt x="1144" y="370"/>
                  </a:lnTo>
                  <a:close/>
                  <a:moveTo>
                    <a:pt x="1348" y="356"/>
                  </a:moveTo>
                  <a:cubicBezTo>
                    <a:pt x="1348" y="308"/>
                    <a:pt x="1371" y="285"/>
                    <a:pt x="1409" y="285"/>
                  </a:cubicBezTo>
                  <a:cubicBezTo>
                    <a:pt x="1412" y="285"/>
                    <a:pt x="1412" y="285"/>
                    <a:pt x="1412" y="285"/>
                  </a:cubicBezTo>
                  <a:cubicBezTo>
                    <a:pt x="1412" y="225"/>
                    <a:pt x="1412" y="225"/>
                    <a:pt x="1412" y="225"/>
                  </a:cubicBezTo>
                  <a:cubicBezTo>
                    <a:pt x="1378" y="224"/>
                    <a:pt x="1360" y="242"/>
                    <a:pt x="1348" y="270"/>
                  </a:cubicBezTo>
                  <a:cubicBezTo>
                    <a:pt x="1348" y="229"/>
                    <a:pt x="1348" y="229"/>
                    <a:pt x="1348" y="229"/>
                  </a:cubicBezTo>
                  <a:cubicBezTo>
                    <a:pt x="1291" y="229"/>
                    <a:pt x="1291" y="229"/>
                    <a:pt x="1291" y="229"/>
                  </a:cubicBezTo>
                  <a:cubicBezTo>
                    <a:pt x="1291" y="431"/>
                    <a:pt x="1291" y="431"/>
                    <a:pt x="1291" y="431"/>
                  </a:cubicBezTo>
                  <a:cubicBezTo>
                    <a:pt x="1348" y="431"/>
                    <a:pt x="1348" y="431"/>
                    <a:pt x="1348" y="431"/>
                  </a:cubicBezTo>
                  <a:lnTo>
                    <a:pt x="1348" y="356"/>
                  </a:lnTo>
                  <a:close/>
                  <a:moveTo>
                    <a:pt x="1448" y="374"/>
                  </a:moveTo>
                  <a:cubicBezTo>
                    <a:pt x="1448" y="420"/>
                    <a:pt x="1472" y="434"/>
                    <a:pt x="1507" y="434"/>
                  </a:cubicBezTo>
                  <a:cubicBezTo>
                    <a:pt x="1526" y="434"/>
                    <a:pt x="1540" y="430"/>
                    <a:pt x="1552" y="422"/>
                  </a:cubicBezTo>
                  <a:cubicBezTo>
                    <a:pt x="1552" y="377"/>
                    <a:pt x="1552" y="377"/>
                    <a:pt x="1552" y="377"/>
                  </a:cubicBezTo>
                  <a:cubicBezTo>
                    <a:pt x="1543" y="381"/>
                    <a:pt x="1534" y="384"/>
                    <a:pt x="1524" y="384"/>
                  </a:cubicBezTo>
                  <a:cubicBezTo>
                    <a:pt x="1511" y="384"/>
                    <a:pt x="1505" y="377"/>
                    <a:pt x="1505" y="364"/>
                  </a:cubicBezTo>
                  <a:cubicBezTo>
                    <a:pt x="1505" y="278"/>
                    <a:pt x="1505" y="278"/>
                    <a:pt x="1505" y="278"/>
                  </a:cubicBezTo>
                  <a:cubicBezTo>
                    <a:pt x="1553" y="278"/>
                    <a:pt x="1553" y="278"/>
                    <a:pt x="1553" y="278"/>
                  </a:cubicBezTo>
                  <a:cubicBezTo>
                    <a:pt x="1553" y="229"/>
                    <a:pt x="1553" y="229"/>
                    <a:pt x="1553" y="229"/>
                  </a:cubicBezTo>
                  <a:cubicBezTo>
                    <a:pt x="1505" y="229"/>
                    <a:pt x="1505" y="229"/>
                    <a:pt x="1505" y="229"/>
                  </a:cubicBezTo>
                  <a:cubicBezTo>
                    <a:pt x="1505" y="177"/>
                    <a:pt x="1505" y="177"/>
                    <a:pt x="1505" y="177"/>
                  </a:cubicBezTo>
                  <a:cubicBezTo>
                    <a:pt x="1448" y="177"/>
                    <a:pt x="1448" y="177"/>
                    <a:pt x="1448" y="177"/>
                  </a:cubicBezTo>
                  <a:cubicBezTo>
                    <a:pt x="1448" y="229"/>
                    <a:pt x="1448" y="229"/>
                    <a:pt x="1448" y="229"/>
                  </a:cubicBezTo>
                  <a:cubicBezTo>
                    <a:pt x="1424" y="229"/>
                    <a:pt x="1424" y="229"/>
                    <a:pt x="1424" y="229"/>
                  </a:cubicBezTo>
                  <a:cubicBezTo>
                    <a:pt x="1424" y="278"/>
                    <a:pt x="1424" y="278"/>
                    <a:pt x="1424" y="278"/>
                  </a:cubicBezTo>
                  <a:cubicBezTo>
                    <a:pt x="1448" y="278"/>
                    <a:pt x="1448" y="278"/>
                    <a:pt x="1448" y="278"/>
                  </a:cubicBezTo>
                  <a:lnTo>
                    <a:pt x="1448" y="374"/>
                  </a:lnTo>
                  <a:close/>
                  <a:moveTo>
                    <a:pt x="1666" y="435"/>
                  </a:moveTo>
                  <a:cubicBezTo>
                    <a:pt x="1702" y="435"/>
                    <a:pt x="1729" y="421"/>
                    <a:pt x="1748" y="398"/>
                  </a:cubicBezTo>
                  <a:cubicBezTo>
                    <a:pt x="1715" y="369"/>
                    <a:pt x="1715" y="369"/>
                    <a:pt x="1715" y="369"/>
                  </a:cubicBezTo>
                  <a:cubicBezTo>
                    <a:pt x="1700" y="383"/>
                    <a:pt x="1686" y="389"/>
                    <a:pt x="1666" y="389"/>
                  </a:cubicBezTo>
                  <a:cubicBezTo>
                    <a:pt x="1641" y="389"/>
                    <a:pt x="1623" y="376"/>
                    <a:pt x="1617" y="350"/>
                  </a:cubicBezTo>
                  <a:cubicBezTo>
                    <a:pt x="1758" y="350"/>
                    <a:pt x="1758" y="350"/>
                    <a:pt x="1758" y="350"/>
                  </a:cubicBezTo>
                  <a:cubicBezTo>
                    <a:pt x="1758" y="345"/>
                    <a:pt x="1758" y="339"/>
                    <a:pt x="1758" y="335"/>
                  </a:cubicBezTo>
                  <a:cubicBezTo>
                    <a:pt x="1758" y="277"/>
                    <a:pt x="1727" y="225"/>
                    <a:pt x="1660" y="225"/>
                  </a:cubicBezTo>
                  <a:cubicBezTo>
                    <a:pt x="1601" y="225"/>
                    <a:pt x="1560" y="273"/>
                    <a:pt x="1560" y="330"/>
                  </a:cubicBezTo>
                  <a:cubicBezTo>
                    <a:pt x="1560" y="331"/>
                    <a:pt x="1560" y="331"/>
                    <a:pt x="1560" y="331"/>
                  </a:cubicBezTo>
                  <a:cubicBezTo>
                    <a:pt x="1560" y="393"/>
                    <a:pt x="1605" y="435"/>
                    <a:pt x="1666" y="435"/>
                  </a:cubicBezTo>
                  <a:close/>
                  <a:moveTo>
                    <a:pt x="1660" y="271"/>
                  </a:moveTo>
                  <a:cubicBezTo>
                    <a:pt x="1684" y="271"/>
                    <a:pt x="1699" y="288"/>
                    <a:pt x="1703" y="314"/>
                  </a:cubicBezTo>
                  <a:cubicBezTo>
                    <a:pt x="1616" y="314"/>
                    <a:pt x="1616" y="314"/>
                    <a:pt x="1616" y="314"/>
                  </a:cubicBezTo>
                  <a:cubicBezTo>
                    <a:pt x="1621" y="288"/>
                    <a:pt x="1636" y="271"/>
                    <a:pt x="1660" y="271"/>
                  </a:cubicBezTo>
                  <a:close/>
                  <a:moveTo>
                    <a:pt x="1828" y="356"/>
                  </a:moveTo>
                  <a:cubicBezTo>
                    <a:pt x="1828" y="308"/>
                    <a:pt x="1851" y="285"/>
                    <a:pt x="1889" y="285"/>
                  </a:cubicBezTo>
                  <a:cubicBezTo>
                    <a:pt x="1892" y="285"/>
                    <a:pt x="1892" y="285"/>
                    <a:pt x="1892" y="285"/>
                  </a:cubicBezTo>
                  <a:cubicBezTo>
                    <a:pt x="1892" y="225"/>
                    <a:pt x="1892" y="225"/>
                    <a:pt x="1892" y="225"/>
                  </a:cubicBezTo>
                  <a:cubicBezTo>
                    <a:pt x="1858" y="224"/>
                    <a:pt x="1839" y="242"/>
                    <a:pt x="1828" y="270"/>
                  </a:cubicBezTo>
                  <a:cubicBezTo>
                    <a:pt x="1828" y="229"/>
                    <a:pt x="1828" y="229"/>
                    <a:pt x="1828" y="229"/>
                  </a:cubicBezTo>
                  <a:cubicBezTo>
                    <a:pt x="1770" y="229"/>
                    <a:pt x="1770" y="229"/>
                    <a:pt x="1770" y="229"/>
                  </a:cubicBezTo>
                  <a:cubicBezTo>
                    <a:pt x="1770" y="431"/>
                    <a:pt x="1770" y="431"/>
                    <a:pt x="1770" y="431"/>
                  </a:cubicBezTo>
                  <a:cubicBezTo>
                    <a:pt x="1828" y="431"/>
                    <a:pt x="1828" y="431"/>
                    <a:pt x="1828" y="431"/>
                  </a:cubicBezTo>
                  <a:lnTo>
                    <a:pt x="1828" y="356"/>
                  </a:lnTo>
                  <a:close/>
                  <a:moveTo>
                    <a:pt x="81" y="533"/>
                  </a:moveTo>
                  <a:cubicBezTo>
                    <a:pt x="24" y="533"/>
                    <a:pt x="24" y="533"/>
                    <a:pt x="24" y="533"/>
                  </a:cubicBezTo>
                  <a:cubicBezTo>
                    <a:pt x="24" y="585"/>
                    <a:pt x="24" y="585"/>
                    <a:pt x="24" y="585"/>
                  </a:cubicBezTo>
                  <a:cubicBezTo>
                    <a:pt x="0" y="585"/>
                    <a:pt x="0" y="585"/>
                    <a:pt x="0" y="585"/>
                  </a:cubicBezTo>
                  <a:cubicBezTo>
                    <a:pt x="0" y="634"/>
                    <a:pt x="0" y="634"/>
                    <a:pt x="0" y="634"/>
                  </a:cubicBezTo>
                  <a:cubicBezTo>
                    <a:pt x="24" y="634"/>
                    <a:pt x="24" y="634"/>
                    <a:pt x="24" y="634"/>
                  </a:cubicBezTo>
                  <a:cubicBezTo>
                    <a:pt x="24" y="730"/>
                    <a:pt x="24" y="730"/>
                    <a:pt x="24" y="730"/>
                  </a:cubicBezTo>
                  <a:cubicBezTo>
                    <a:pt x="24" y="776"/>
                    <a:pt x="48" y="790"/>
                    <a:pt x="83" y="790"/>
                  </a:cubicBezTo>
                  <a:cubicBezTo>
                    <a:pt x="102" y="790"/>
                    <a:pt x="116" y="786"/>
                    <a:pt x="128" y="779"/>
                  </a:cubicBezTo>
                  <a:cubicBezTo>
                    <a:pt x="128" y="733"/>
                    <a:pt x="128" y="733"/>
                    <a:pt x="128" y="733"/>
                  </a:cubicBezTo>
                  <a:cubicBezTo>
                    <a:pt x="120" y="737"/>
                    <a:pt x="110" y="740"/>
                    <a:pt x="100" y="740"/>
                  </a:cubicBezTo>
                  <a:cubicBezTo>
                    <a:pt x="87" y="740"/>
                    <a:pt x="81" y="733"/>
                    <a:pt x="81" y="720"/>
                  </a:cubicBezTo>
                  <a:cubicBezTo>
                    <a:pt x="81" y="634"/>
                    <a:pt x="81" y="634"/>
                    <a:pt x="81" y="634"/>
                  </a:cubicBezTo>
                  <a:cubicBezTo>
                    <a:pt x="129" y="634"/>
                    <a:pt x="129" y="634"/>
                    <a:pt x="129" y="634"/>
                  </a:cubicBezTo>
                  <a:cubicBezTo>
                    <a:pt x="129" y="585"/>
                    <a:pt x="129" y="585"/>
                    <a:pt x="129" y="585"/>
                  </a:cubicBezTo>
                  <a:cubicBezTo>
                    <a:pt x="81" y="585"/>
                    <a:pt x="81" y="585"/>
                    <a:pt x="81" y="585"/>
                  </a:cubicBezTo>
                  <a:lnTo>
                    <a:pt x="81" y="533"/>
                  </a:lnTo>
                  <a:close/>
                  <a:moveTo>
                    <a:pt x="237" y="581"/>
                  </a:moveTo>
                  <a:cubicBezTo>
                    <a:pt x="178" y="581"/>
                    <a:pt x="137" y="629"/>
                    <a:pt x="137" y="686"/>
                  </a:cubicBezTo>
                  <a:cubicBezTo>
                    <a:pt x="137" y="687"/>
                    <a:pt x="137" y="687"/>
                    <a:pt x="137" y="687"/>
                  </a:cubicBezTo>
                  <a:cubicBezTo>
                    <a:pt x="137" y="749"/>
                    <a:pt x="182" y="791"/>
                    <a:pt x="243" y="791"/>
                  </a:cubicBezTo>
                  <a:cubicBezTo>
                    <a:pt x="279" y="791"/>
                    <a:pt x="306" y="777"/>
                    <a:pt x="325" y="754"/>
                  </a:cubicBezTo>
                  <a:cubicBezTo>
                    <a:pt x="292" y="725"/>
                    <a:pt x="292" y="725"/>
                    <a:pt x="292" y="725"/>
                  </a:cubicBezTo>
                  <a:cubicBezTo>
                    <a:pt x="277" y="739"/>
                    <a:pt x="263" y="745"/>
                    <a:pt x="243" y="745"/>
                  </a:cubicBezTo>
                  <a:cubicBezTo>
                    <a:pt x="218" y="745"/>
                    <a:pt x="200" y="732"/>
                    <a:pt x="194" y="706"/>
                  </a:cubicBezTo>
                  <a:cubicBezTo>
                    <a:pt x="335" y="706"/>
                    <a:pt x="335" y="706"/>
                    <a:pt x="335" y="706"/>
                  </a:cubicBezTo>
                  <a:cubicBezTo>
                    <a:pt x="335" y="701"/>
                    <a:pt x="335" y="695"/>
                    <a:pt x="335" y="691"/>
                  </a:cubicBezTo>
                  <a:cubicBezTo>
                    <a:pt x="335" y="634"/>
                    <a:pt x="304" y="581"/>
                    <a:pt x="237" y="581"/>
                  </a:cubicBezTo>
                  <a:close/>
                  <a:moveTo>
                    <a:pt x="193" y="670"/>
                  </a:moveTo>
                  <a:cubicBezTo>
                    <a:pt x="198" y="644"/>
                    <a:pt x="213" y="627"/>
                    <a:pt x="237" y="627"/>
                  </a:cubicBezTo>
                  <a:cubicBezTo>
                    <a:pt x="261" y="627"/>
                    <a:pt x="276" y="644"/>
                    <a:pt x="280" y="670"/>
                  </a:cubicBezTo>
                  <a:lnTo>
                    <a:pt x="193" y="670"/>
                  </a:lnTo>
                  <a:close/>
                  <a:moveTo>
                    <a:pt x="452" y="742"/>
                  </a:moveTo>
                  <a:cubicBezTo>
                    <a:pt x="421" y="742"/>
                    <a:pt x="401" y="717"/>
                    <a:pt x="401" y="686"/>
                  </a:cubicBezTo>
                  <a:cubicBezTo>
                    <a:pt x="401" y="686"/>
                    <a:pt x="401" y="686"/>
                    <a:pt x="401" y="686"/>
                  </a:cubicBezTo>
                  <a:cubicBezTo>
                    <a:pt x="401" y="656"/>
                    <a:pt x="421" y="631"/>
                    <a:pt x="450" y="631"/>
                  </a:cubicBezTo>
                  <a:cubicBezTo>
                    <a:pt x="470" y="631"/>
                    <a:pt x="483" y="639"/>
                    <a:pt x="496" y="653"/>
                  </a:cubicBezTo>
                  <a:cubicBezTo>
                    <a:pt x="531" y="615"/>
                    <a:pt x="531" y="615"/>
                    <a:pt x="531" y="615"/>
                  </a:cubicBezTo>
                  <a:cubicBezTo>
                    <a:pt x="512" y="594"/>
                    <a:pt x="488" y="581"/>
                    <a:pt x="450" y="581"/>
                  </a:cubicBezTo>
                  <a:cubicBezTo>
                    <a:pt x="388" y="581"/>
                    <a:pt x="344" y="629"/>
                    <a:pt x="344" y="686"/>
                  </a:cubicBezTo>
                  <a:cubicBezTo>
                    <a:pt x="344" y="687"/>
                    <a:pt x="344" y="687"/>
                    <a:pt x="344" y="687"/>
                  </a:cubicBezTo>
                  <a:cubicBezTo>
                    <a:pt x="344" y="745"/>
                    <a:pt x="389" y="791"/>
                    <a:pt x="449" y="791"/>
                  </a:cubicBezTo>
                  <a:cubicBezTo>
                    <a:pt x="490" y="791"/>
                    <a:pt x="512" y="776"/>
                    <a:pt x="532" y="754"/>
                  </a:cubicBezTo>
                  <a:cubicBezTo>
                    <a:pt x="498" y="721"/>
                    <a:pt x="498" y="721"/>
                    <a:pt x="498" y="721"/>
                  </a:cubicBezTo>
                  <a:cubicBezTo>
                    <a:pt x="485" y="734"/>
                    <a:pt x="471" y="742"/>
                    <a:pt x="452" y="742"/>
                  </a:cubicBezTo>
                  <a:close/>
                  <a:moveTo>
                    <a:pt x="657" y="581"/>
                  </a:moveTo>
                  <a:cubicBezTo>
                    <a:pt x="628" y="581"/>
                    <a:pt x="611" y="597"/>
                    <a:pt x="598" y="614"/>
                  </a:cubicBezTo>
                  <a:cubicBezTo>
                    <a:pt x="598" y="512"/>
                    <a:pt x="598" y="512"/>
                    <a:pt x="598" y="512"/>
                  </a:cubicBezTo>
                  <a:cubicBezTo>
                    <a:pt x="541" y="512"/>
                    <a:pt x="541" y="512"/>
                    <a:pt x="541" y="512"/>
                  </a:cubicBezTo>
                  <a:cubicBezTo>
                    <a:pt x="541" y="787"/>
                    <a:pt x="541" y="787"/>
                    <a:pt x="541" y="787"/>
                  </a:cubicBezTo>
                  <a:cubicBezTo>
                    <a:pt x="598" y="787"/>
                    <a:pt x="598" y="787"/>
                    <a:pt x="598" y="787"/>
                  </a:cubicBezTo>
                  <a:cubicBezTo>
                    <a:pt x="598" y="674"/>
                    <a:pt x="598" y="674"/>
                    <a:pt x="598" y="674"/>
                  </a:cubicBezTo>
                  <a:cubicBezTo>
                    <a:pt x="598" y="647"/>
                    <a:pt x="612" y="633"/>
                    <a:pt x="634" y="633"/>
                  </a:cubicBezTo>
                  <a:cubicBezTo>
                    <a:pt x="656" y="633"/>
                    <a:pt x="669" y="647"/>
                    <a:pt x="669" y="674"/>
                  </a:cubicBezTo>
                  <a:cubicBezTo>
                    <a:pt x="669" y="787"/>
                    <a:pt x="669" y="787"/>
                    <a:pt x="669" y="787"/>
                  </a:cubicBezTo>
                  <a:cubicBezTo>
                    <a:pt x="726" y="787"/>
                    <a:pt x="726" y="787"/>
                    <a:pt x="726" y="787"/>
                  </a:cubicBezTo>
                  <a:cubicBezTo>
                    <a:pt x="726" y="656"/>
                    <a:pt x="726" y="656"/>
                    <a:pt x="726" y="656"/>
                  </a:cubicBezTo>
                  <a:cubicBezTo>
                    <a:pt x="726" y="610"/>
                    <a:pt x="701" y="581"/>
                    <a:pt x="657" y="581"/>
                  </a:cubicBezTo>
                  <a:close/>
                  <a:moveTo>
                    <a:pt x="857" y="581"/>
                  </a:moveTo>
                  <a:cubicBezTo>
                    <a:pt x="828" y="581"/>
                    <a:pt x="811" y="597"/>
                    <a:pt x="798" y="614"/>
                  </a:cubicBezTo>
                  <a:cubicBezTo>
                    <a:pt x="798" y="585"/>
                    <a:pt x="798" y="585"/>
                    <a:pt x="798" y="585"/>
                  </a:cubicBezTo>
                  <a:cubicBezTo>
                    <a:pt x="740" y="585"/>
                    <a:pt x="740" y="585"/>
                    <a:pt x="740" y="585"/>
                  </a:cubicBezTo>
                  <a:cubicBezTo>
                    <a:pt x="740" y="787"/>
                    <a:pt x="740" y="787"/>
                    <a:pt x="740" y="787"/>
                  </a:cubicBezTo>
                  <a:cubicBezTo>
                    <a:pt x="798" y="787"/>
                    <a:pt x="798" y="787"/>
                    <a:pt x="798" y="787"/>
                  </a:cubicBezTo>
                  <a:cubicBezTo>
                    <a:pt x="798" y="674"/>
                    <a:pt x="798" y="674"/>
                    <a:pt x="798" y="674"/>
                  </a:cubicBezTo>
                  <a:cubicBezTo>
                    <a:pt x="798" y="647"/>
                    <a:pt x="812" y="633"/>
                    <a:pt x="833" y="633"/>
                  </a:cubicBezTo>
                  <a:cubicBezTo>
                    <a:pt x="855" y="633"/>
                    <a:pt x="868" y="647"/>
                    <a:pt x="868" y="674"/>
                  </a:cubicBezTo>
                  <a:cubicBezTo>
                    <a:pt x="868" y="787"/>
                    <a:pt x="868" y="787"/>
                    <a:pt x="868" y="787"/>
                  </a:cubicBezTo>
                  <a:cubicBezTo>
                    <a:pt x="925" y="787"/>
                    <a:pt x="925" y="787"/>
                    <a:pt x="925" y="787"/>
                  </a:cubicBezTo>
                  <a:cubicBezTo>
                    <a:pt x="925" y="656"/>
                    <a:pt x="925" y="656"/>
                    <a:pt x="925" y="656"/>
                  </a:cubicBezTo>
                  <a:cubicBezTo>
                    <a:pt x="925" y="610"/>
                    <a:pt x="900" y="581"/>
                    <a:pt x="857" y="581"/>
                  </a:cubicBezTo>
                  <a:close/>
                  <a:moveTo>
                    <a:pt x="1155" y="686"/>
                  </a:moveTo>
                  <a:cubicBezTo>
                    <a:pt x="1155" y="686"/>
                    <a:pt x="1155" y="686"/>
                    <a:pt x="1155" y="686"/>
                  </a:cubicBezTo>
                  <a:cubicBezTo>
                    <a:pt x="1155" y="628"/>
                    <a:pt x="1109" y="581"/>
                    <a:pt x="1047" y="581"/>
                  </a:cubicBezTo>
                  <a:cubicBezTo>
                    <a:pt x="984" y="581"/>
                    <a:pt x="937" y="628"/>
                    <a:pt x="937" y="686"/>
                  </a:cubicBezTo>
                  <a:cubicBezTo>
                    <a:pt x="937" y="687"/>
                    <a:pt x="937" y="687"/>
                    <a:pt x="937" y="687"/>
                  </a:cubicBezTo>
                  <a:cubicBezTo>
                    <a:pt x="937" y="745"/>
                    <a:pt x="983" y="791"/>
                    <a:pt x="1046" y="791"/>
                  </a:cubicBezTo>
                  <a:cubicBezTo>
                    <a:pt x="1109" y="791"/>
                    <a:pt x="1155" y="744"/>
                    <a:pt x="1155" y="686"/>
                  </a:cubicBezTo>
                  <a:close/>
                  <a:moveTo>
                    <a:pt x="993" y="686"/>
                  </a:moveTo>
                  <a:cubicBezTo>
                    <a:pt x="993" y="686"/>
                    <a:pt x="993" y="686"/>
                    <a:pt x="993" y="686"/>
                  </a:cubicBezTo>
                  <a:cubicBezTo>
                    <a:pt x="993" y="656"/>
                    <a:pt x="1013" y="631"/>
                    <a:pt x="1046" y="631"/>
                  </a:cubicBezTo>
                  <a:cubicBezTo>
                    <a:pt x="1077" y="631"/>
                    <a:pt x="1099" y="657"/>
                    <a:pt x="1099" y="686"/>
                  </a:cubicBezTo>
                  <a:cubicBezTo>
                    <a:pt x="1099" y="687"/>
                    <a:pt x="1099" y="687"/>
                    <a:pt x="1099" y="687"/>
                  </a:cubicBezTo>
                  <a:cubicBezTo>
                    <a:pt x="1099" y="717"/>
                    <a:pt x="1079" y="742"/>
                    <a:pt x="1047" y="742"/>
                  </a:cubicBezTo>
                  <a:cubicBezTo>
                    <a:pt x="1015" y="742"/>
                    <a:pt x="993" y="716"/>
                    <a:pt x="993" y="686"/>
                  </a:cubicBezTo>
                  <a:close/>
                  <a:moveTo>
                    <a:pt x="1167" y="787"/>
                  </a:moveTo>
                  <a:cubicBezTo>
                    <a:pt x="1224" y="787"/>
                    <a:pt x="1224" y="787"/>
                    <a:pt x="1224" y="787"/>
                  </a:cubicBezTo>
                  <a:cubicBezTo>
                    <a:pt x="1224" y="512"/>
                    <a:pt x="1224" y="512"/>
                    <a:pt x="1224" y="512"/>
                  </a:cubicBezTo>
                  <a:cubicBezTo>
                    <a:pt x="1167" y="512"/>
                    <a:pt x="1167" y="512"/>
                    <a:pt x="1167" y="512"/>
                  </a:cubicBezTo>
                  <a:lnTo>
                    <a:pt x="1167" y="787"/>
                  </a:lnTo>
                  <a:close/>
                  <a:moveTo>
                    <a:pt x="1345" y="581"/>
                  </a:moveTo>
                  <a:cubicBezTo>
                    <a:pt x="1282" y="581"/>
                    <a:pt x="1235" y="628"/>
                    <a:pt x="1235" y="686"/>
                  </a:cubicBezTo>
                  <a:cubicBezTo>
                    <a:pt x="1235" y="687"/>
                    <a:pt x="1235" y="687"/>
                    <a:pt x="1235" y="687"/>
                  </a:cubicBezTo>
                  <a:cubicBezTo>
                    <a:pt x="1235" y="745"/>
                    <a:pt x="1281" y="791"/>
                    <a:pt x="1344" y="791"/>
                  </a:cubicBezTo>
                  <a:cubicBezTo>
                    <a:pt x="1407" y="791"/>
                    <a:pt x="1453" y="744"/>
                    <a:pt x="1453" y="686"/>
                  </a:cubicBezTo>
                  <a:cubicBezTo>
                    <a:pt x="1453" y="686"/>
                    <a:pt x="1453" y="686"/>
                    <a:pt x="1453" y="686"/>
                  </a:cubicBezTo>
                  <a:cubicBezTo>
                    <a:pt x="1453" y="628"/>
                    <a:pt x="1407" y="581"/>
                    <a:pt x="1345" y="581"/>
                  </a:cubicBezTo>
                  <a:close/>
                  <a:moveTo>
                    <a:pt x="1397" y="687"/>
                  </a:moveTo>
                  <a:cubicBezTo>
                    <a:pt x="1397" y="717"/>
                    <a:pt x="1377" y="742"/>
                    <a:pt x="1345" y="742"/>
                  </a:cubicBezTo>
                  <a:cubicBezTo>
                    <a:pt x="1313" y="742"/>
                    <a:pt x="1292" y="716"/>
                    <a:pt x="1292" y="686"/>
                  </a:cubicBezTo>
                  <a:cubicBezTo>
                    <a:pt x="1292" y="686"/>
                    <a:pt x="1292" y="686"/>
                    <a:pt x="1292" y="686"/>
                  </a:cubicBezTo>
                  <a:cubicBezTo>
                    <a:pt x="1292" y="656"/>
                    <a:pt x="1311" y="631"/>
                    <a:pt x="1344" y="631"/>
                  </a:cubicBezTo>
                  <a:cubicBezTo>
                    <a:pt x="1375" y="631"/>
                    <a:pt x="1397" y="657"/>
                    <a:pt x="1397" y="686"/>
                  </a:cubicBezTo>
                  <a:lnTo>
                    <a:pt x="1397" y="687"/>
                  </a:lnTo>
                  <a:close/>
                  <a:moveTo>
                    <a:pt x="1560" y="802"/>
                  </a:moveTo>
                  <a:cubicBezTo>
                    <a:pt x="1533" y="802"/>
                    <a:pt x="1513" y="795"/>
                    <a:pt x="1492" y="784"/>
                  </a:cubicBezTo>
                  <a:cubicBezTo>
                    <a:pt x="1472" y="827"/>
                    <a:pt x="1472" y="827"/>
                    <a:pt x="1472" y="827"/>
                  </a:cubicBezTo>
                  <a:cubicBezTo>
                    <a:pt x="1498" y="840"/>
                    <a:pt x="1529" y="848"/>
                    <a:pt x="1562" y="848"/>
                  </a:cubicBezTo>
                  <a:cubicBezTo>
                    <a:pt x="1601" y="848"/>
                    <a:pt x="1630" y="840"/>
                    <a:pt x="1649" y="821"/>
                  </a:cubicBezTo>
                  <a:cubicBezTo>
                    <a:pt x="1666" y="804"/>
                    <a:pt x="1674" y="777"/>
                    <a:pt x="1674" y="741"/>
                  </a:cubicBezTo>
                  <a:cubicBezTo>
                    <a:pt x="1674" y="585"/>
                    <a:pt x="1674" y="585"/>
                    <a:pt x="1674" y="585"/>
                  </a:cubicBezTo>
                  <a:cubicBezTo>
                    <a:pt x="1617" y="585"/>
                    <a:pt x="1617" y="585"/>
                    <a:pt x="1617" y="585"/>
                  </a:cubicBezTo>
                  <a:cubicBezTo>
                    <a:pt x="1617" y="611"/>
                    <a:pt x="1617" y="611"/>
                    <a:pt x="1617" y="611"/>
                  </a:cubicBezTo>
                  <a:cubicBezTo>
                    <a:pt x="1602" y="594"/>
                    <a:pt x="1583" y="581"/>
                    <a:pt x="1552" y="581"/>
                  </a:cubicBezTo>
                  <a:cubicBezTo>
                    <a:pt x="1505" y="581"/>
                    <a:pt x="1462" y="615"/>
                    <a:pt x="1462" y="675"/>
                  </a:cubicBezTo>
                  <a:cubicBezTo>
                    <a:pt x="1462" y="676"/>
                    <a:pt x="1462" y="676"/>
                    <a:pt x="1462" y="676"/>
                  </a:cubicBezTo>
                  <a:cubicBezTo>
                    <a:pt x="1462" y="736"/>
                    <a:pt x="1505" y="770"/>
                    <a:pt x="1552" y="770"/>
                  </a:cubicBezTo>
                  <a:cubicBezTo>
                    <a:pt x="1582" y="770"/>
                    <a:pt x="1601" y="758"/>
                    <a:pt x="1618" y="737"/>
                  </a:cubicBezTo>
                  <a:cubicBezTo>
                    <a:pt x="1618" y="747"/>
                    <a:pt x="1618" y="747"/>
                    <a:pt x="1618" y="747"/>
                  </a:cubicBezTo>
                  <a:cubicBezTo>
                    <a:pt x="1618" y="783"/>
                    <a:pt x="1599" y="802"/>
                    <a:pt x="1560" y="802"/>
                  </a:cubicBezTo>
                  <a:close/>
                  <a:moveTo>
                    <a:pt x="1568" y="723"/>
                  </a:moveTo>
                  <a:cubicBezTo>
                    <a:pt x="1541" y="723"/>
                    <a:pt x="1519" y="704"/>
                    <a:pt x="1519" y="676"/>
                  </a:cubicBezTo>
                  <a:cubicBezTo>
                    <a:pt x="1519" y="675"/>
                    <a:pt x="1519" y="675"/>
                    <a:pt x="1519" y="675"/>
                  </a:cubicBezTo>
                  <a:cubicBezTo>
                    <a:pt x="1519" y="648"/>
                    <a:pt x="1541" y="629"/>
                    <a:pt x="1568" y="629"/>
                  </a:cubicBezTo>
                  <a:cubicBezTo>
                    <a:pt x="1596" y="629"/>
                    <a:pt x="1618" y="648"/>
                    <a:pt x="1618" y="675"/>
                  </a:cubicBezTo>
                  <a:cubicBezTo>
                    <a:pt x="1618" y="676"/>
                    <a:pt x="1618" y="676"/>
                    <a:pt x="1618" y="676"/>
                  </a:cubicBezTo>
                  <a:cubicBezTo>
                    <a:pt x="1618" y="704"/>
                    <a:pt x="1596" y="723"/>
                    <a:pt x="1568" y="723"/>
                  </a:cubicBezTo>
                  <a:close/>
                  <a:moveTo>
                    <a:pt x="1790" y="722"/>
                  </a:moveTo>
                  <a:cubicBezTo>
                    <a:pt x="1744" y="585"/>
                    <a:pt x="1744" y="585"/>
                    <a:pt x="1744" y="585"/>
                  </a:cubicBezTo>
                  <a:cubicBezTo>
                    <a:pt x="1684" y="585"/>
                    <a:pt x="1684" y="585"/>
                    <a:pt x="1684" y="585"/>
                  </a:cubicBezTo>
                  <a:cubicBezTo>
                    <a:pt x="1763" y="788"/>
                    <a:pt x="1763" y="788"/>
                    <a:pt x="1763" y="788"/>
                  </a:cubicBezTo>
                  <a:cubicBezTo>
                    <a:pt x="1758" y="798"/>
                    <a:pt x="1753" y="801"/>
                    <a:pt x="1743" y="801"/>
                  </a:cubicBezTo>
                  <a:cubicBezTo>
                    <a:pt x="1735" y="801"/>
                    <a:pt x="1726" y="797"/>
                    <a:pt x="1718" y="793"/>
                  </a:cubicBezTo>
                  <a:cubicBezTo>
                    <a:pt x="1699" y="834"/>
                    <a:pt x="1699" y="834"/>
                    <a:pt x="1699" y="834"/>
                  </a:cubicBezTo>
                  <a:cubicBezTo>
                    <a:pt x="1714" y="843"/>
                    <a:pt x="1729" y="848"/>
                    <a:pt x="1750" y="848"/>
                  </a:cubicBezTo>
                  <a:cubicBezTo>
                    <a:pt x="1784" y="848"/>
                    <a:pt x="1801" y="833"/>
                    <a:pt x="1816" y="792"/>
                  </a:cubicBezTo>
                  <a:cubicBezTo>
                    <a:pt x="1894" y="585"/>
                    <a:pt x="1894" y="585"/>
                    <a:pt x="1894" y="585"/>
                  </a:cubicBezTo>
                  <a:cubicBezTo>
                    <a:pt x="1834" y="585"/>
                    <a:pt x="1834" y="585"/>
                    <a:pt x="1834" y="585"/>
                  </a:cubicBezTo>
                  <a:lnTo>
                    <a:pt x="1790" y="722"/>
                  </a:lnTo>
                  <a:close/>
                  <a:moveTo>
                    <a:pt x="1101" y="965"/>
                  </a:moveTo>
                  <a:cubicBezTo>
                    <a:pt x="1054" y="965"/>
                    <a:pt x="1054" y="965"/>
                    <a:pt x="1054" y="965"/>
                  </a:cubicBezTo>
                  <a:cubicBezTo>
                    <a:pt x="1054" y="957"/>
                    <a:pt x="1054" y="957"/>
                    <a:pt x="1054" y="957"/>
                  </a:cubicBezTo>
                  <a:cubicBezTo>
                    <a:pt x="1054" y="942"/>
                    <a:pt x="1062" y="935"/>
                    <a:pt x="1075" y="935"/>
                  </a:cubicBezTo>
                  <a:cubicBezTo>
                    <a:pt x="1085" y="935"/>
                    <a:pt x="1093" y="937"/>
                    <a:pt x="1101" y="940"/>
                  </a:cubicBezTo>
                  <a:cubicBezTo>
                    <a:pt x="1101" y="893"/>
                    <a:pt x="1101" y="893"/>
                    <a:pt x="1101" y="893"/>
                  </a:cubicBezTo>
                  <a:cubicBezTo>
                    <a:pt x="1091" y="889"/>
                    <a:pt x="1078" y="887"/>
                    <a:pt x="1060" y="887"/>
                  </a:cubicBezTo>
                  <a:cubicBezTo>
                    <a:pt x="1040" y="887"/>
                    <a:pt x="1025" y="892"/>
                    <a:pt x="1014" y="903"/>
                  </a:cubicBezTo>
                  <a:cubicBezTo>
                    <a:pt x="1004" y="914"/>
                    <a:pt x="998" y="930"/>
                    <a:pt x="998" y="952"/>
                  </a:cubicBezTo>
                  <a:cubicBezTo>
                    <a:pt x="998" y="965"/>
                    <a:pt x="998" y="965"/>
                    <a:pt x="998" y="965"/>
                  </a:cubicBezTo>
                  <a:cubicBezTo>
                    <a:pt x="974" y="965"/>
                    <a:pt x="974" y="965"/>
                    <a:pt x="974" y="965"/>
                  </a:cubicBezTo>
                  <a:cubicBezTo>
                    <a:pt x="974" y="1012"/>
                    <a:pt x="974" y="1012"/>
                    <a:pt x="974" y="1012"/>
                  </a:cubicBezTo>
                  <a:cubicBezTo>
                    <a:pt x="998" y="1012"/>
                    <a:pt x="998" y="1012"/>
                    <a:pt x="998" y="1012"/>
                  </a:cubicBezTo>
                  <a:cubicBezTo>
                    <a:pt x="998" y="1165"/>
                    <a:pt x="998" y="1165"/>
                    <a:pt x="998" y="1165"/>
                  </a:cubicBezTo>
                  <a:cubicBezTo>
                    <a:pt x="1055" y="1165"/>
                    <a:pt x="1055" y="1165"/>
                    <a:pt x="1055" y="1165"/>
                  </a:cubicBezTo>
                  <a:cubicBezTo>
                    <a:pt x="1055" y="1012"/>
                    <a:pt x="1055" y="1012"/>
                    <a:pt x="1055" y="1012"/>
                  </a:cubicBezTo>
                  <a:cubicBezTo>
                    <a:pt x="1101" y="1012"/>
                    <a:pt x="1101" y="1012"/>
                    <a:pt x="1101" y="1012"/>
                  </a:cubicBezTo>
                  <a:lnTo>
                    <a:pt x="1101" y="965"/>
                  </a:lnTo>
                  <a:close/>
                  <a:moveTo>
                    <a:pt x="1209" y="959"/>
                  </a:moveTo>
                  <a:cubicBezTo>
                    <a:pt x="1147" y="959"/>
                    <a:pt x="1100" y="1006"/>
                    <a:pt x="1100" y="1064"/>
                  </a:cubicBezTo>
                  <a:cubicBezTo>
                    <a:pt x="1100" y="1065"/>
                    <a:pt x="1100" y="1065"/>
                    <a:pt x="1100" y="1065"/>
                  </a:cubicBezTo>
                  <a:cubicBezTo>
                    <a:pt x="1100" y="1123"/>
                    <a:pt x="1146" y="1169"/>
                    <a:pt x="1209" y="1169"/>
                  </a:cubicBezTo>
                  <a:cubicBezTo>
                    <a:pt x="1272" y="1169"/>
                    <a:pt x="1318" y="1122"/>
                    <a:pt x="1318" y="1064"/>
                  </a:cubicBezTo>
                  <a:cubicBezTo>
                    <a:pt x="1318" y="1063"/>
                    <a:pt x="1318" y="1063"/>
                    <a:pt x="1318" y="1063"/>
                  </a:cubicBezTo>
                  <a:cubicBezTo>
                    <a:pt x="1318" y="1005"/>
                    <a:pt x="1272" y="959"/>
                    <a:pt x="1209" y="959"/>
                  </a:cubicBezTo>
                  <a:close/>
                  <a:moveTo>
                    <a:pt x="1262" y="1065"/>
                  </a:moveTo>
                  <a:cubicBezTo>
                    <a:pt x="1262" y="1095"/>
                    <a:pt x="1242" y="1120"/>
                    <a:pt x="1209" y="1120"/>
                  </a:cubicBezTo>
                  <a:cubicBezTo>
                    <a:pt x="1178" y="1120"/>
                    <a:pt x="1156" y="1094"/>
                    <a:pt x="1156" y="1064"/>
                  </a:cubicBezTo>
                  <a:cubicBezTo>
                    <a:pt x="1156" y="1063"/>
                    <a:pt x="1156" y="1063"/>
                    <a:pt x="1156" y="1063"/>
                  </a:cubicBezTo>
                  <a:cubicBezTo>
                    <a:pt x="1156" y="1034"/>
                    <a:pt x="1176" y="1008"/>
                    <a:pt x="1209" y="1008"/>
                  </a:cubicBezTo>
                  <a:cubicBezTo>
                    <a:pt x="1240" y="1008"/>
                    <a:pt x="1262" y="1034"/>
                    <a:pt x="1262" y="1064"/>
                  </a:cubicBezTo>
                  <a:lnTo>
                    <a:pt x="1262" y="1065"/>
                  </a:lnTo>
                  <a:close/>
                  <a:moveTo>
                    <a:pt x="1389" y="1004"/>
                  </a:moveTo>
                  <a:cubicBezTo>
                    <a:pt x="1389" y="963"/>
                    <a:pt x="1389" y="963"/>
                    <a:pt x="1389" y="963"/>
                  </a:cubicBezTo>
                  <a:cubicBezTo>
                    <a:pt x="1332" y="963"/>
                    <a:pt x="1332" y="963"/>
                    <a:pt x="1332" y="963"/>
                  </a:cubicBezTo>
                  <a:cubicBezTo>
                    <a:pt x="1332" y="1165"/>
                    <a:pt x="1332" y="1165"/>
                    <a:pt x="1332" y="1165"/>
                  </a:cubicBezTo>
                  <a:cubicBezTo>
                    <a:pt x="1389" y="1165"/>
                    <a:pt x="1389" y="1165"/>
                    <a:pt x="1389" y="1165"/>
                  </a:cubicBezTo>
                  <a:cubicBezTo>
                    <a:pt x="1389" y="1090"/>
                    <a:pt x="1389" y="1090"/>
                    <a:pt x="1389" y="1090"/>
                  </a:cubicBezTo>
                  <a:cubicBezTo>
                    <a:pt x="1389" y="1042"/>
                    <a:pt x="1412" y="1019"/>
                    <a:pt x="1450" y="1019"/>
                  </a:cubicBezTo>
                  <a:cubicBezTo>
                    <a:pt x="1453" y="1019"/>
                    <a:pt x="1453" y="1019"/>
                    <a:pt x="1453" y="1019"/>
                  </a:cubicBezTo>
                  <a:cubicBezTo>
                    <a:pt x="1453" y="959"/>
                    <a:pt x="1453" y="959"/>
                    <a:pt x="1453" y="959"/>
                  </a:cubicBezTo>
                  <a:cubicBezTo>
                    <a:pt x="1419" y="958"/>
                    <a:pt x="1400" y="976"/>
                    <a:pt x="1389" y="1004"/>
                  </a:cubicBezTo>
                  <a:close/>
                  <a:moveTo>
                    <a:pt x="1622" y="961"/>
                  </a:moveTo>
                  <a:cubicBezTo>
                    <a:pt x="1588" y="961"/>
                    <a:pt x="1566" y="967"/>
                    <a:pt x="1544" y="977"/>
                  </a:cubicBezTo>
                  <a:cubicBezTo>
                    <a:pt x="1558" y="1020"/>
                    <a:pt x="1558" y="1020"/>
                    <a:pt x="1558" y="1020"/>
                  </a:cubicBezTo>
                  <a:cubicBezTo>
                    <a:pt x="1576" y="1014"/>
                    <a:pt x="1592" y="1010"/>
                    <a:pt x="1614" y="1010"/>
                  </a:cubicBezTo>
                  <a:cubicBezTo>
                    <a:pt x="1642" y="1010"/>
                    <a:pt x="1657" y="1023"/>
                    <a:pt x="1657" y="1046"/>
                  </a:cubicBezTo>
                  <a:cubicBezTo>
                    <a:pt x="1657" y="1050"/>
                    <a:pt x="1657" y="1050"/>
                    <a:pt x="1657" y="1050"/>
                  </a:cubicBezTo>
                  <a:cubicBezTo>
                    <a:pt x="1643" y="1045"/>
                    <a:pt x="1628" y="1042"/>
                    <a:pt x="1608" y="1042"/>
                  </a:cubicBezTo>
                  <a:cubicBezTo>
                    <a:pt x="1560" y="1042"/>
                    <a:pt x="1526" y="1062"/>
                    <a:pt x="1526" y="1106"/>
                  </a:cubicBezTo>
                  <a:cubicBezTo>
                    <a:pt x="1526" y="1107"/>
                    <a:pt x="1526" y="1107"/>
                    <a:pt x="1526" y="1107"/>
                  </a:cubicBezTo>
                  <a:cubicBezTo>
                    <a:pt x="1526" y="1147"/>
                    <a:pt x="1558" y="1168"/>
                    <a:pt x="1596" y="1168"/>
                  </a:cubicBezTo>
                  <a:cubicBezTo>
                    <a:pt x="1624" y="1168"/>
                    <a:pt x="1643" y="1158"/>
                    <a:pt x="1657" y="1143"/>
                  </a:cubicBezTo>
                  <a:cubicBezTo>
                    <a:pt x="1657" y="1165"/>
                    <a:pt x="1657" y="1165"/>
                    <a:pt x="1657" y="1165"/>
                  </a:cubicBezTo>
                  <a:cubicBezTo>
                    <a:pt x="1712" y="1165"/>
                    <a:pt x="1712" y="1165"/>
                    <a:pt x="1712" y="1165"/>
                  </a:cubicBezTo>
                  <a:cubicBezTo>
                    <a:pt x="1712" y="1048"/>
                    <a:pt x="1712" y="1048"/>
                    <a:pt x="1712" y="1048"/>
                  </a:cubicBezTo>
                  <a:cubicBezTo>
                    <a:pt x="1712" y="1020"/>
                    <a:pt x="1705" y="998"/>
                    <a:pt x="1690" y="983"/>
                  </a:cubicBezTo>
                  <a:cubicBezTo>
                    <a:pt x="1676" y="969"/>
                    <a:pt x="1653" y="961"/>
                    <a:pt x="1622" y="961"/>
                  </a:cubicBezTo>
                  <a:close/>
                  <a:moveTo>
                    <a:pt x="1658" y="1094"/>
                  </a:moveTo>
                  <a:cubicBezTo>
                    <a:pt x="1658" y="1114"/>
                    <a:pt x="1640" y="1129"/>
                    <a:pt x="1613" y="1129"/>
                  </a:cubicBezTo>
                  <a:cubicBezTo>
                    <a:pt x="1595" y="1129"/>
                    <a:pt x="1582" y="1120"/>
                    <a:pt x="1582" y="1104"/>
                  </a:cubicBezTo>
                  <a:cubicBezTo>
                    <a:pt x="1582" y="1104"/>
                    <a:pt x="1582" y="1104"/>
                    <a:pt x="1582" y="1104"/>
                  </a:cubicBezTo>
                  <a:cubicBezTo>
                    <a:pt x="1582" y="1086"/>
                    <a:pt x="1597" y="1076"/>
                    <a:pt x="1621" y="1076"/>
                  </a:cubicBezTo>
                  <a:cubicBezTo>
                    <a:pt x="1635" y="1076"/>
                    <a:pt x="1648" y="1079"/>
                    <a:pt x="1658" y="1083"/>
                  </a:cubicBezTo>
                  <a:lnTo>
                    <a:pt x="1658" y="1094"/>
                  </a:lnTo>
                  <a:close/>
                  <a:moveTo>
                    <a:pt x="1736" y="1165"/>
                  </a:moveTo>
                  <a:cubicBezTo>
                    <a:pt x="1793" y="1165"/>
                    <a:pt x="1793" y="1165"/>
                    <a:pt x="1793" y="1165"/>
                  </a:cubicBezTo>
                  <a:cubicBezTo>
                    <a:pt x="1793" y="890"/>
                    <a:pt x="1793" y="890"/>
                    <a:pt x="1793" y="890"/>
                  </a:cubicBezTo>
                  <a:cubicBezTo>
                    <a:pt x="1736" y="890"/>
                    <a:pt x="1736" y="890"/>
                    <a:pt x="1736" y="890"/>
                  </a:cubicBezTo>
                  <a:lnTo>
                    <a:pt x="1736" y="1165"/>
                  </a:lnTo>
                  <a:close/>
                  <a:moveTo>
                    <a:pt x="1817" y="1165"/>
                  </a:moveTo>
                  <a:cubicBezTo>
                    <a:pt x="1874" y="1165"/>
                    <a:pt x="1874" y="1165"/>
                    <a:pt x="1874" y="1165"/>
                  </a:cubicBezTo>
                  <a:cubicBezTo>
                    <a:pt x="1874" y="890"/>
                    <a:pt x="1874" y="890"/>
                    <a:pt x="1874" y="890"/>
                  </a:cubicBezTo>
                  <a:cubicBezTo>
                    <a:pt x="1817" y="890"/>
                    <a:pt x="1817" y="890"/>
                    <a:pt x="1817" y="890"/>
                  </a:cubicBezTo>
                  <a:lnTo>
                    <a:pt x="1817" y="1165"/>
                  </a:lnTo>
                  <a:close/>
                  <a:moveTo>
                    <a:pt x="2086" y="0"/>
                  </a:moveTo>
                  <a:cubicBezTo>
                    <a:pt x="2086" y="1832"/>
                    <a:pt x="2086" y="1832"/>
                    <a:pt x="2086" y="1832"/>
                  </a:cubicBezTo>
                  <a:cubicBezTo>
                    <a:pt x="2697" y="1832"/>
                    <a:pt x="2697" y="1832"/>
                    <a:pt x="2697" y="1832"/>
                  </a:cubicBezTo>
                  <a:cubicBezTo>
                    <a:pt x="2697" y="0"/>
                    <a:pt x="2697" y="0"/>
                    <a:pt x="2697" y="0"/>
                  </a:cubicBezTo>
                  <a:lnTo>
                    <a:pt x="2086" y="0"/>
                  </a:lnTo>
                  <a:close/>
                </a:path>
              </a:pathLst>
            </a:custGeom>
            <a:gradFill flip="none" rotWithShape="1">
              <a:gsLst>
                <a:gs pos="37000">
                  <a:srgbClr val="F2A11F"/>
                </a:gs>
                <a:gs pos="56000">
                  <a:srgbClr val="EC5124"/>
                </a:gs>
                <a:gs pos="83000">
                  <a:srgbClr val="D32A27"/>
                </a:gs>
                <a:gs pos="100000">
                  <a:srgbClr val="7A425E"/>
                </a:gs>
              </a:gsLst>
              <a:lin ang="18900000" scaled="1"/>
              <a:tileRect/>
            </a:gradFill>
            <a:ln>
              <a:noFill/>
            </a:ln>
          </p:spPr>
          <p:txBody>
            <a:bodyPr vert="horz" wrap="square" lIns="91440" tIns="45720" rIns="91440" bIns="45720" numCol="1" anchor="t" anchorCtr="0" compatLnSpc="1">
              <a:prstTxWarp prst="textNoShape">
                <a:avLst/>
              </a:prstTxWarp>
            </a:bodyPr>
            <a:lstStyle/>
            <a:p>
              <a:endParaRPr lang="en-US" sz="1798"/>
            </a:p>
          </p:txBody>
        </p:sp>
        <p:grpSp>
          <p:nvGrpSpPr>
            <p:cNvPr id="107" name="Group 106">
              <a:extLst>
                <a:ext uri="{FF2B5EF4-FFF2-40B4-BE49-F238E27FC236}">
                  <a16:creationId xmlns:a16="http://schemas.microsoft.com/office/drawing/2014/main" id="{A6EECAC4-C77C-49AB-B254-48D8B0737DBE}"/>
                </a:ext>
              </a:extLst>
            </p:cNvPr>
            <p:cNvGrpSpPr/>
            <p:nvPr userDrawn="1"/>
          </p:nvGrpSpPr>
          <p:grpSpPr>
            <a:xfrm>
              <a:off x="11291887" y="1987551"/>
              <a:ext cx="590550" cy="2868613"/>
              <a:chOff x="11291887" y="1987551"/>
              <a:chExt cx="590550" cy="2868613"/>
            </a:xfrm>
          </p:grpSpPr>
          <p:sp>
            <p:nvSpPr>
              <p:cNvPr id="108" name="Freeform 6">
                <a:extLst>
                  <a:ext uri="{FF2B5EF4-FFF2-40B4-BE49-F238E27FC236}">
                    <a16:creationId xmlns:a16="http://schemas.microsoft.com/office/drawing/2014/main" id="{D00C9BBA-FC7E-4243-8134-0B959E4BB233}"/>
                  </a:ext>
                </a:extLst>
              </p:cNvPr>
              <p:cNvSpPr>
                <a:spLocks/>
              </p:cNvSpPr>
              <p:nvPr userDrawn="1"/>
            </p:nvSpPr>
            <p:spPr bwMode="auto">
              <a:xfrm>
                <a:off x="11418887" y="3471864"/>
                <a:ext cx="455612" cy="452438"/>
              </a:xfrm>
              <a:custGeom>
                <a:avLst/>
                <a:gdLst>
                  <a:gd name="T0" fmla="*/ 0 w 239"/>
                  <a:gd name="T1" fmla="*/ 96 h 237"/>
                  <a:gd name="T2" fmla="*/ 38 w 239"/>
                  <a:gd name="T3" fmla="*/ 173 h 237"/>
                  <a:gd name="T4" fmla="*/ 38 w 239"/>
                  <a:gd name="T5" fmla="*/ 173 h 237"/>
                  <a:gd name="T6" fmla="*/ 38 w 239"/>
                  <a:gd name="T7" fmla="*/ 173 h 237"/>
                  <a:gd name="T8" fmla="*/ 4 w 239"/>
                  <a:gd name="T9" fmla="*/ 173 h 237"/>
                  <a:gd name="T10" fmla="*/ 4 w 239"/>
                  <a:gd name="T11" fmla="*/ 237 h 237"/>
                  <a:gd name="T12" fmla="*/ 239 w 239"/>
                  <a:gd name="T13" fmla="*/ 237 h 237"/>
                  <a:gd name="T14" fmla="*/ 239 w 239"/>
                  <a:gd name="T15" fmla="*/ 173 h 237"/>
                  <a:gd name="T16" fmla="*/ 105 w 239"/>
                  <a:gd name="T17" fmla="*/ 173 h 237"/>
                  <a:gd name="T18" fmla="*/ 56 w 239"/>
                  <a:gd name="T19" fmla="*/ 119 h 237"/>
                  <a:gd name="T20" fmla="*/ 105 w 239"/>
                  <a:gd name="T21" fmla="*/ 65 h 237"/>
                  <a:gd name="T22" fmla="*/ 239 w 239"/>
                  <a:gd name="T23" fmla="*/ 65 h 237"/>
                  <a:gd name="T24" fmla="*/ 239 w 239"/>
                  <a:gd name="T25" fmla="*/ 0 h 237"/>
                  <a:gd name="T26" fmla="*/ 93 w 239"/>
                  <a:gd name="T27" fmla="*/ 0 h 237"/>
                  <a:gd name="T28" fmla="*/ 0 w 239"/>
                  <a:gd name="T29" fmla="*/ 9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9" h="237">
                    <a:moveTo>
                      <a:pt x="0" y="96"/>
                    </a:moveTo>
                    <a:cubicBezTo>
                      <a:pt x="0" y="123"/>
                      <a:pt x="13" y="154"/>
                      <a:pt x="38" y="173"/>
                    </a:cubicBezTo>
                    <a:cubicBezTo>
                      <a:pt x="38" y="173"/>
                      <a:pt x="38" y="173"/>
                      <a:pt x="38" y="173"/>
                    </a:cubicBezTo>
                    <a:cubicBezTo>
                      <a:pt x="38" y="173"/>
                      <a:pt x="38" y="173"/>
                      <a:pt x="38" y="173"/>
                    </a:cubicBezTo>
                    <a:cubicBezTo>
                      <a:pt x="4" y="173"/>
                      <a:pt x="4" y="173"/>
                      <a:pt x="4" y="173"/>
                    </a:cubicBezTo>
                    <a:cubicBezTo>
                      <a:pt x="4" y="237"/>
                      <a:pt x="4" y="237"/>
                      <a:pt x="4" y="237"/>
                    </a:cubicBezTo>
                    <a:cubicBezTo>
                      <a:pt x="239" y="237"/>
                      <a:pt x="239" y="237"/>
                      <a:pt x="239" y="237"/>
                    </a:cubicBezTo>
                    <a:cubicBezTo>
                      <a:pt x="239" y="173"/>
                      <a:pt x="239" y="173"/>
                      <a:pt x="239" y="173"/>
                    </a:cubicBezTo>
                    <a:cubicBezTo>
                      <a:pt x="105" y="173"/>
                      <a:pt x="105" y="173"/>
                      <a:pt x="105" y="173"/>
                    </a:cubicBezTo>
                    <a:cubicBezTo>
                      <a:pt x="81" y="173"/>
                      <a:pt x="56" y="154"/>
                      <a:pt x="56" y="119"/>
                    </a:cubicBezTo>
                    <a:cubicBezTo>
                      <a:pt x="56" y="93"/>
                      <a:pt x="74" y="65"/>
                      <a:pt x="105" y="65"/>
                    </a:cubicBezTo>
                    <a:cubicBezTo>
                      <a:pt x="239" y="65"/>
                      <a:pt x="239" y="65"/>
                      <a:pt x="239" y="65"/>
                    </a:cubicBezTo>
                    <a:cubicBezTo>
                      <a:pt x="239" y="0"/>
                      <a:pt x="239" y="0"/>
                      <a:pt x="239" y="0"/>
                    </a:cubicBezTo>
                    <a:cubicBezTo>
                      <a:pt x="93" y="0"/>
                      <a:pt x="93" y="0"/>
                      <a:pt x="93" y="0"/>
                    </a:cubicBezTo>
                    <a:cubicBezTo>
                      <a:pt x="39" y="0"/>
                      <a:pt x="0" y="39"/>
                      <a:pt x="0" y="9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09" name="Freeform 7">
                <a:extLst>
                  <a:ext uri="{FF2B5EF4-FFF2-40B4-BE49-F238E27FC236}">
                    <a16:creationId xmlns:a16="http://schemas.microsoft.com/office/drawing/2014/main" id="{F71F105A-138E-453C-A355-31EA2B0C8B87}"/>
                  </a:ext>
                </a:extLst>
              </p:cNvPr>
              <p:cNvSpPr>
                <a:spLocks/>
              </p:cNvSpPr>
              <p:nvPr userDrawn="1"/>
            </p:nvSpPr>
            <p:spPr bwMode="auto">
              <a:xfrm>
                <a:off x="11425237" y="2452689"/>
                <a:ext cx="449262" cy="506413"/>
              </a:xfrm>
              <a:custGeom>
                <a:avLst/>
                <a:gdLst>
                  <a:gd name="T0" fmla="*/ 0 w 283"/>
                  <a:gd name="T1" fmla="*/ 89 h 319"/>
                  <a:gd name="T2" fmla="*/ 193 w 283"/>
                  <a:gd name="T3" fmla="*/ 159 h 319"/>
                  <a:gd name="T4" fmla="*/ 0 w 283"/>
                  <a:gd name="T5" fmla="*/ 229 h 319"/>
                  <a:gd name="T6" fmla="*/ 0 w 283"/>
                  <a:gd name="T7" fmla="*/ 319 h 319"/>
                  <a:gd name="T8" fmla="*/ 283 w 283"/>
                  <a:gd name="T9" fmla="*/ 202 h 319"/>
                  <a:gd name="T10" fmla="*/ 283 w 283"/>
                  <a:gd name="T11" fmla="*/ 117 h 319"/>
                  <a:gd name="T12" fmla="*/ 0 w 283"/>
                  <a:gd name="T13" fmla="*/ 0 h 319"/>
                  <a:gd name="T14" fmla="*/ 0 w 283"/>
                  <a:gd name="T15" fmla="*/ 89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3" h="319">
                    <a:moveTo>
                      <a:pt x="0" y="89"/>
                    </a:moveTo>
                    <a:lnTo>
                      <a:pt x="193" y="159"/>
                    </a:lnTo>
                    <a:lnTo>
                      <a:pt x="0" y="229"/>
                    </a:lnTo>
                    <a:lnTo>
                      <a:pt x="0" y="319"/>
                    </a:lnTo>
                    <a:lnTo>
                      <a:pt x="283" y="202"/>
                    </a:lnTo>
                    <a:lnTo>
                      <a:pt x="283" y="117"/>
                    </a:lnTo>
                    <a:lnTo>
                      <a:pt x="0" y="0"/>
                    </a:lnTo>
                    <a:lnTo>
                      <a:pt x="0" y="8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10" name="Freeform 8">
                <a:extLst>
                  <a:ext uri="{FF2B5EF4-FFF2-40B4-BE49-F238E27FC236}">
                    <a16:creationId xmlns:a16="http://schemas.microsoft.com/office/drawing/2014/main" id="{49854997-23FD-4E3C-82E8-D973E90ABF35}"/>
                  </a:ext>
                </a:extLst>
              </p:cNvPr>
              <p:cNvSpPr>
                <a:spLocks noEditPoints="1"/>
              </p:cNvSpPr>
              <p:nvPr userDrawn="1"/>
            </p:nvSpPr>
            <p:spPr bwMode="auto">
              <a:xfrm>
                <a:off x="11418887" y="3968751"/>
                <a:ext cx="463550" cy="471488"/>
              </a:xfrm>
              <a:custGeom>
                <a:avLst/>
                <a:gdLst>
                  <a:gd name="T0" fmla="*/ 167 w 243"/>
                  <a:gd name="T1" fmla="*/ 46 h 246"/>
                  <a:gd name="T2" fmla="*/ 192 w 243"/>
                  <a:gd name="T3" fmla="*/ 113 h 246"/>
                  <a:gd name="T4" fmla="*/ 173 w 243"/>
                  <a:gd name="T5" fmla="*/ 165 h 246"/>
                  <a:gd name="T6" fmla="*/ 104 w 243"/>
                  <a:gd name="T7" fmla="*/ 0 h 246"/>
                  <a:gd name="T8" fmla="*/ 39 w 243"/>
                  <a:gd name="T9" fmla="*/ 28 h 246"/>
                  <a:gd name="T10" fmla="*/ 0 w 243"/>
                  <a:gd name="T11" fmla="*/ 121 h 246"/>
                  <a:gd name="T12" fmla="*/ 122 w 243"/>
                  <a:gd name="T13" fmla="*/ 246 h 246"/>
                  <a:gd name="T14" fmla="*/ 243 w 243"/>
                  <a:gd name="T15" fmla="*/ 114 h 246"/>
                  <a:gd name="T16" fmla="*/ 198 w 243"/>
                  <a:gd name="T17" fmla="*/ 5 h 246"/>
                  <a:gd name="T18" fmla="*/ 167 w 243"/>
                  <a:gd name="T19" fmla="*/ 46 h 246"/>
                  <a:gd name="T20" fmla="*/ 75 w 243"/>
                  <a:gd name="T21" fmla="*/ 170 h 246"/>
                  <a:gd name="T22" fmla="*/ 51 w 243"/>
                  <a:gd name="T23" fmla="*/ 120 h 246"/>
                  <a:gd name="T24" fmla="*/ 84 w 243"/>
                  <a:gd name="T25" fmla="*/ 70 h 246"/>
                  <a:gd name="T26" fmla="*/ 131 w 243"/>
                  <a:gd name="T27" fmla="*/ 183 h 246"/>
                  <a:gd name="T28" fmla="*/ 75 w 243"/>
                  <a:gd name="T29" fmla="*/ 17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3" h="246">
                    <a:moveTo>
                      <a:pt x="167" y="46"/>
                    </a:moveTo>
                    <a:cubicBezTo>
                      <a:pt x="187" y="73"/>
                      <a:pt x="192" y="88"/>
                      <a:pt x="192" y="113"/>
                    </a:cubicBezTo>
                    <a:cubicBezTo>
                      <a:pt x="192" y="135"/>
                      <a:pt x="185" y="153"/>
                      <a:pt x="173" y="165"/>
                    </a:cubicBezTo>
                    <a:cubicBezTo>
                      <a:pt x="104" y="0"/>
                      <a:pt x="104" y="0"/>
                      <a:pt x="104" y="0"/>
                    </a:cubicBezTo>
                    <a:cubicBezTo>
                      <a:pt x="79" y="4"/>
                      <a:pt x="56" y="14"/>
                      <a:pt x="39" y="28"/>
                    </a:cubicBezTo>
                    <a:cubicBezTo>
                      <a:pt x="13" y="50"/>
                      <a:pt x="0" y="82"/>
                      <a:pt x="0" y="121"/>
                    </a:cubicBezTo>
                    <a:cubicBezTo>
                      <a:pt x="0" y="192"/>
                      <a:pt x="52" y="246"/>
                      <a:pt x="122" y="246"/>
                    </a:cubicBezTo>
                    <a:cubicBezTo>
                      <a:pt x="193" y="246"/>
                      <a:pt x="243" y="192"/>
                      <a:pt x="243" y="114"/>
                    </a:cubicBezTo>
                    <a:cubicBezTo>
                      <a:pt x="243" y="70"/>
                      <a:pt x="222" y="26"/>
                      <a:pt x="198" y="5"/>
                    </a:cubicBezTo>
                    <a:lnTo>
                      <a:pt x="167" y="46"/>
                    </a:lnTo>
                    <a:close/>
                    <a:moveTo>
                      <a:pt x="75" y="170"/>
                    </a:moveTo>
                    <a:cubicBezTo>
                      <a:pt x="60" y="159"/>
                      <a:pt x="51" y="141"/>
                      <a:pt x="51" y="120"/>
                    </a:cubicBezTo>
                    <a:cubicBezTo>
                      <a:pt x="51" y="97"/>
                      <a:pt x="65" y="79"/>
                      <a:pt x="84" y="70"/>
                    </a:cubicBezTo>
                    <a:cubicBezTo>
                      <a:pt x="131" y="183"/>
                      <a:pt x="131" y="183"/>
                      <a:pt x="131" y="183"/>
                    </a:cubicBezTo>
                    <a:cubicBezTo>
                      <a:pt x="107" y="186"/>
                      <a:pt x="88" y="180"/>
                      <a:pt x="75"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11" name="Freeform 9">
                <a:extLst>
                  <a:ext uri="{FF2B5EF4-FFF2-40B4-BE49-F238E27FC236}">
                    <a16:creationId xmlns:a16="http://schemas.microsoft.com/office/drawing/2014/main" id="{DFC48EA1-BF0E-478F-9540-C906E2ADBE10}"/>
                  </a:ext>
                </a:extLst>
              </p:cNvPr>
              <p:cNvSpPr>
                <a:spLocks/>
              </p:cNvSpPr>
              <p:nvPr userDrawn="1"/>
            </p:nvSpPr>
            <p:spPr bwMode="auto">
              <a:xfrm>
                <a:off x="11291887" y="4451351"/>
                <a:ext cx="582612" cy="404813"/>
              </a:xfrm>
              <a:custGeom>
                <a:avLst/>
                <a:gdLst>
                  <a:gd name="T0" fmla="*/ 296 w 367"/>
                  <a:gd name="T1" fmla="*/ 0 h 255"/>
                  <a:gd name="T2" fmla="*/ 296 w 367"/>
                  <a:gd name="T3" fmla="*/ 177 h 255"/>
                  <a:gd name="T4" fmla="*/ 0 w 367"/>
                  <a:gd name="T5" fmla="*/ 177 h 255"/>
                  <a:gd name="T6" fmla="*/ 0 w 367"/>
                  <a:gd name="T7" fmla="*/ 255 h 255"/>
                  <a:gd name="T8" fmla="*/ 367 w 367"/>
                  <a:gd name="T9" fmla="*/ 255 h 255"/>
                  <a:gd name="T10" fmla="*/ 367 w 367"/>
                  <a:gd name="T11" fmla="*/ 0 h 255"/>
                  <a:gd name="T12" fmla="*/ 296 w 367"/>
                  <a:gd name="T13" fmla="*/ 0 h 255"/>
                </a:gdLst>
                <a:ahLst/>
                <a:cxnLst>
                  <a:cxn ang="0">
                    <a:pos x="T0" y="T1"/>
                  </a:cxn>
                  <a:cxn ang="0">
                    <a:pos x="T2" y="T3"/>
                  </a:cxn>
                  <a:cxn ang="0">
                    <a:pos x="T4" y="T5"/>
                  </a:cxn>
                  <a:cxn ang="0">
                    <a:pos x="T6" y="T7"/>
                  </a:cxn>
                  <a:cxn ang="0">
                    <a:pos x="T8" y="T9"/>
                  </a:cxn>
                  <a:cxn ang="0">
                    <a:pos x="T10" y="T11"/>
                  </a:cxn>
                  <a:cxn ang="0">
                    <a:pos x="T12" y="T13"/>
                  </a:cxn>
                </a:cxnLst>
                <a:rect l="0" t="0" r="r" b="b"/>
                <a:pathLst>
                  <a:path w="367" h="255">
                    <a:moveTo>
                      <a:pt x="296" y="0"/>
                    </a:moveTo>
                    <a:lnTo>
                      <a:pt x="296" y="177"/>
                    </a:lnTo>
                    <a:lnTo>
                      <a:pt x="0" y="177"/>
                    </a:lnTo>
                    <a:lnTo>
                      <a:pt x="0" y="255"/>
                    </a:lnTo>
                    <a:lnTo>
                      <a:pt x="367" y="255"/>
                    </a:lnTo>
                    <a:lnTo>
                      <a:pt x="367" y="0"/>
                    </a:lnTo>
                    <a:lnTo>
                      <a:pt x="2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12" name="Freeform 10">
                <a:extLst>
                  <a:ext uri="{FF2B5EF4-FFF2-40B4-BE49-F238E27FC236}">
                    <a16:creationId xmlns:a16="http://schemas.microsoft.com/office/drawing/2014/main" id="{66D58043-225E-4AF1-86C5-EAC10AA263B5}"/>
                  </a:ext>
                </a:extLst>
              </p:cNvPr>
              <p:cNvSpPr>
                <a:spLocks noEditPoints="1"/>
              </p:cNvSpPr>
              <p:nvPr userDrawn="1"/>
            </p:nvSpPr>
            <p:spPr bwMode="auto">
              <a:xfrm>
                <a:off x="11418887" y="1987551"/>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13" name="Freeform 11">
                <a:extLst>
                  <a:ext uri="{FF2B5EF4-FFF2-40B4-BE49-F238E27FC236}">
                    <a16:creationId xmlns:a16="http://schemas.microsoft.com/office/drawing/2014/main" id="{3EDD390D-BF7B-4689-9B90-0E8DC4C75E16}"/>
                  </a:ext>
                </a:extLst>
              </p:cNvPr>
              <p:cNvSpPr>
                <a:spLocks noEditPoints="1"/>
              </p:cNvSpPr>
              <p:nvPr userDrawn="1"/>
            </p:nvSpPr>
            <p:spPr bwMode="auto">
              <a:xfrm>
                <a:off x="11418887" y="2938464"/>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grpSp>
    </p:spTree>
    <p:extLst>
      <p:ext uri="{BB962C8B-B14F-4D97-AF65-F5344CB8AC3E}">
        <p14:creationId xmlns:p14="http://schemas.microsoft.com/office/powerpoint/2010/main" val="695355757"/>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Section Header_KO1">
    <p:bg>
      <p:bgPr>
        <a:solidFill>
          <a:schemeClr val="tx1"/>
        </a:solidFill>
        <a:effectLst/>
      </p:bgPr>
    </p:bg>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B91160EA-2565-5C4E-A8AC-934E5A0FA72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1" y="0"/>
            <a:ext cx="12188708" cy="6858000"/>
          </a:xfrm>
          <a:prstGeom prst="rect">
            <a:avLst/>
          </a:prstGeom>
        </p:spPr>
      </p:pic>
      <p:sp>
        <p:nvSpPr>
          <p:cNvPr id="23" name="Rectangle 15">
            <a:extLst>
              <a:ext uri="{FF2B5EF4-FFF2-40B4-BE49-F238E27FC236}">
                <a16:creationId xmlns:a16="http://schemas.microsoft.com/office/drawing/2014/main" id="{557AE5CC-D97B-8441-9DBD-855CE997C8AE}"/>
              </a:ext>
            </a:extLst>
          </p:cNvPr>
          <p:cNvSpPr/>
          <p:nvPr userDrawn="1"/>
        </p:nvSpPr>
        <p:spPr>
          <a:xfrm>
            <a:off x="2251" y="897"/>
            <a:ext cx="12192000" cy="6856213"/>
          </a:xfrm>
          <a:prstGeom prst="rect">
            <a:avLst/>
          </a:prstGeom>
          <a:gradFill>
            <a:gsLst>
              <a:gs pos="100000">
                <a:schemeClr val="bg2">
                  <a:alpha val="0"/>
                </a:schemeClr>
              </a:gs>
              <a:gs pos="8000">
                <a:schemeClr val="tx1">
                  <a:alpha val="47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a:p>
        </p:txBody>
      </p:sp>
      <p:grpSp>
        <p:nvGrpSpPr>
          <p:cNvPr id="17" name="Group 16"/>
          <p:cNvGrpSpPr/>
          <p:nvPr/>
        </p:nvGrpSpPr>
        <p:grpSpPr>
          <a:xfrm>
            <a:off x="8758816" y="3448226"/>
            <a:ext cx="3429893" cy="3429000"/>
            <a:chOff x="6728604" y="-1"/>
            <a:chExt cx="6728604" cy="6831181"/>
          </a:xfrm>
          <a:solidFill>
            <a:srgbClr val="4CC2E2">
              <a:alpha val="30000"/>
            </a:srgbClr>
          </a:solidFill>
        </p:grpSpPr>
        <p:sp>
          <p:nvSpPr>
            <p:cNvPr id="21" name="Freeform 5"/>
            <p:cNvSpPr>
              <a:spLocks/>
            </p:cNvSpPr>
            <p:nvPr/>
          </p:nvSpPr>
          <p:spPr bwMode="auto">
            <a:xfrm>
              <a:off x="6728604" y="-1"/>
              <a:ext cx="6728604" cy="6831181"/>
            </a:xfrm>
            <a:custGeom>
              <a:avLst/>
              <a:gdLst>
                <a:gd name="T0" fmla="*/ 328 w 328"/>
                <a:gd name="T1" fmla="*/ 333 h 333"/>
                <a:gd name="T2" fmla="*/ 328 w 328"/>
                <a:gd name="T3" fmla="*/ 333 h 333"/>
                <a:gd name="T4" fmla="*/ 328 w 328"/>
                <a:gd name="T5" fmla="*/ 0 h 333"/>
                <a:gd name="T6" fmla="*/ 0 w 328"/>
                <a:gd name="T7" fmla="*/ 0 h 333"/>
                <a:gd name="T8" fmla="*/ 0 w 328"/>
                <a:gd name="T9" fmla="*/ 0 h 333"/>
                <a:gd name="T10" fmla="*/ 328 w 328"/>
                <a:gd name="T11" fmla="*/ 333 h 333"/>
              </a:gdLst>
              <a:ahLst/>
              <a:cxnLst>
                <a:cxn ang="0">
                  <a:pos x="T0" y="T1"/>
                </a:cxn>
                <a:cxn ang="0">
                  <a:pos x="T2" y="T3"/>
                </a:cxn>
                <a:cxn ang="0">
                  <a:pos x="T4" y="T5"/>
                </a:cxn>
                <a:cxn ang="0">
                  <a:pos x="T6" y="T7"/>
                </a:cxn>
                <a:cxn ang="0">
                  <a:pos x="T8" y="T9"/>
                </a:cxn>
                <a:cxn ang="0">
                  <a:pos x="T10" y="T11"/>
                </a:cxn>
              </a:cxnLst>
              <a:rect l="0" t="0" r="r" b="b"/>
              <a:pathLst>
                <a:path w="328" h="333">
                  <a:moveTo>
                    <a:pt x="328" y="333"/>
                  </a:moveTo>
                  <a:lnTo>
                    <a:pt x="328" y="333"/>
                  </a:lnTo>
                  <a:lnTo>
                    <a:pt x="328" y="0"/>
                  </a:lnTo>
                  <a:lnTo>
                    <a:pt x="0" y="0"/>
                  </a:lnTo>
                  <a:lnTo>
                    <a:pt x="0" y="0"/>
                  </a:lnTo>
                  <a:lnTo>
                    <a:pt x="328" y="3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22" name="Freeform 6"/>
            <p:cNvSpPr>
              <a:spLocks/>
            </p:cNvSpPr>
            <p:nvPr/>
          </p:nvSpPr>
          <p:spPr bwMode="auto">
            <a:xfrm>
              <a:off x="6728604" y="3405332"/>
              <a:ext cx="3384816" cy="3425848"/>
            </a:xfrm>
            <a:custGeom>
              <a:avLst/>
              <a:gdLst>
                <a:gd name="T0" fmla="*/ 0 w 165"/>
                <a:gd name="T1" fmla="*/ 0 h 167"/>
                <a:gd name="T2" fmla="*/ 0 w 165"/>
                <a:gd name="T3" fmla="*/ 0 h 167"/>
                <a:gd name="T4" fmla="*/ 0 w 165"/>
                <a:gd name="T5" fmla="*/ 167 h 167"/>
                <a:gd name="T6" fmla="*/ 165 w 165"/>
                <a:gd name="T7" fmla="*/ 167 h 167"/>
                <a:gd name="T8" fmla="*/ 165 w 165"/>
                <a:gd name="T9" fmla="*/ 167 h 167"/>
                <a:gd name="T10" fmla="*/ 0 w 165"/>
                <a:gd name="T11" fmla="*/ 0 h 167"/>
              </a:gdLst>
              <a:ahLst/>
              <a:cxnLst>
                <a:cxn ang="0">
                  <a:pos x="T0" y="T1"/>
                </a:cxn>
                <a:cxn ang="0">
                  <a:pos x="T2" y="T3"/>
                </a:cxn>
                <a:cxn ang="0">
                  <a:pos x="T4" y="T5"/>
                </a:cxn>
                <a:cxn ang="0">
                  <a:pos x="T6" y="T7"/>
                </a:cxn>
                <a:cxn ang="0">
                  <a:pos x="T8" y="T9"/>
                </a:cxn>
                <a:cxn ang="0">
                  <a:pos x="T10" y="T11"/>
                </a:cxn>
              </a:cxnLst>
              <a:rect l="0" t="0" r="r" b="b"/>
              <a:pathLst>
                <a:path w="165" h="167">
                  <a:moveTo>
                    <a:pt x="0" y="0"/>
                  </a:moveTo>
                  <a:lnTo>
                    <a:pt x="0" y="0"/>
                  </a:lnTo>
                  <a:lnTo>
                    <a:pt x="0" y="167"/>
                  </a:lnTo>
                  <a:lnTo>
                    <a:pt x="165" y="167"/>
                  </a:lnTo>
                  <a:lnTo>
                    <a:pt x="165" y="167"/>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grpSp>
      <p:grpSp>
        <p:nvGrpSpPr>
          <p:cNvPr id="18" name="Group 17"/>
          <p:cNvGrpSpPr/>
          <p:nvPr/>
        </p:nvGrpSpPr>
        <p:grpSpPr>
          <a:xfrm>
            <a:off x="5328926" y="19226"/>
            <a:ext cx="3429893" cy="3429000"/>
            <a:chOff x="0" y="-1"/>
            <a:chExt cx="6728604" cy="6831181"/>
          </a:xfrm>
          <a:solidFill>
            <a:srgbClr val="4CC2E2">
              <a:alpha val="30000"/>
            </a:srgbClr>
          </a:solidFill>
        </p:grpSpPr>
        <p:sp>
          <p:nvSpPr>
            <p:cNvPr id="19" name="Freeform 7"/>
            <p:cNvSpPr>
              <a:spLocks/>
            </p:cNvSpPr>
            <p:nvPr/>
          </p:nvSpPr>
          <p:spPr bwMode="auto">
            <a:xfrm>
              <a:off x="0" y="-1"/>
              <a:ext cx="3343788" cy="6831181"/>
            </a:xfrm>
            <a:custGeom>
              <a:avLst/>
              <a:gdLst>
                <a:gd name="T0" fmla="*/ 120 w 120"/>
                <a:gd name="T1" fmla="*/ 121 h 242"/>
                <a:gd name="T2" fmla="*/ 0 w 120"/>
                <a:gd name="T3" fmla="*/ 242 h 242"/>
                <a:gd name="T4" fmla="*/ 0 w 120"/>
                <a:gd name="T5" fmla="*/ 0 h 242"/>
                <a:gd name="T6" fmla="*/ 120 w 120"/>
                <a:gd name="T7" fmla="*/ 121 h 242"/>
              </a:gdLst>
              <a:ahLst/>
              <a:cxnLst>
                <a:cxn ang="0">
                  <a:pos x="T0" y="T1"/>
                </a:cxn>
                <a:cxn ang="0">
                  <a:pos x="T2" y="T3"/>
                </a:cxn>
                <a:cxn ang="0">
                  <a:pos x="T4" y="T5"/>
                </a:cxn>
                <a:cxn ang="0">
                  <a:pos x="T6" y="T7"/>
                </a:cxn>
              </a:cxnLst>
              <a:rect l="0" t="0" r="r" b="b"/>
              <a:pathLst>
                <a:path w="120" h="242">
                  <a:moveTo>
                    <a:pt x="120" y="121"/>
                  </a:moveTo>
                  <a:cubicBezTo>
                    <a:pt x="120" y="188"/>
                    <a:pt x="66" y="242"/>
                    <a:pt x="0" y="242"/>
                  </a:cubicBezTo>
                  <a:cubicBezTo>
                    <a:pt x="0" y="0"/>
                    <a:pt x="0" y="0"/>
                    <a:pt x="0" y="0"/>
                  </a:cubicBezTo>
                  <a:cubicBezTo>
                    <a:pt x="66" y="0"/>
                    <a:pt x="120" y="54"/>
                    <a:pt x="120"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20" name="Freeform 8"/>
            <p:cNvSpPr>
              <a:spLocks/>
            </p:cNvSpPr>
            <p:nvPr/>
          </p:nvSpPr>
          <p:spPr bwMode="auto">
            <a:xfrm>
              <a:off x="3343788" y="-1"/>
              <a:ext cx="3384816" cy="6831181"/>
            </a:xfrm>
            <a:custGeom>
              <a:avLst/>
              <a:gdLst>
                <a:gd name="T0" fmla="*/ 121 w 121"/>
                <a:gd name="T1" fmla="*/ 0 h 242"/>
                <a:gd name="T2" fmla="*/ 121 w 121"/>
                <a:gd name="T3" fmla="*/ 242 h 242"/>
                <a:gd name="T4" fmla="*/ 0 w 121"/>
                <a:gd name="T5" fmla="*/ 121 h 242"/>
                <a:gd name="T6" fmla="*/ 121 w 121"/>
                <a:gd name="T7" fmla="*/ 0 h 242"/>
              </a:gdLst>
              <a:ahLst/>
              <a:cxnLst>
                <a:cxn ang="0">
                  <a:pos x="T0" y="T1"/>
                </a:cxn>
                <a:cxn ang="0">
                  <a:pos x="T2" y="T3"/>
                </a:cxn>
                <a:cxn ang="0">
                  <a:pos x="T4" y="T5"/>
                </a:cxn>
                <a:cxn ang="0">
                  <a:pos x="T6" y="T7"/>
                </a:cxn>
              </a:cxnLst>
              <a:rect l="0" t="0" r="r" b="b"/>
              <a:pathLst>
                <a:path w="121" h="242">
                  <a:moveTo>
                    <a:pt x="121" y="0"/>
                  </a:moveTo>
                  <a:cubicBezTo>
                    <a:pt x="121" y="242"/>
                    <a:pt x="121" y="242"/>
                    <a:pt x="121" y="242"/>
                  </a:cubicBezTo>
                  <a:cubicBezTo>
                    <a:pt x="54" y="242"/>
                    <a:pt x="0" y="188"/>
                    <a:pt x="0" y="121"/>
                  </a:cubicBezTo>
                  <a:cubicBezTo>
                    <a:pt x="0" y="54"/>
                    <a:pt x="54" y="0"/>
                    <a:pt x="1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grpSp>
      <p:sp>
        <p:nvSpPr>
          <p:cNvPr id="51" name="Slide Number Placeholder 5"/>
          <p:cNvSpPr>
            <a:spLocks noGrp="1"/>
          </p:cNvSpPr>
          <p:nvPr userDrawn="1">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75" name="TextBox 74"/>
          <p:cNvSpPr txBox="1"/>
          <p:nvPr userDrawn="1"/>
        </p:nvSpPr>
        <p:spPr>
          <a:xfrm>
            <a:off x="548783" y="6473952"/>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2025 Lenovo Internal. All rights reserved.</a:t>
            </a:r>
          </a:p>
        </p:txBody>
      </p:sp>
      <p:sp>
        <p:nvSpPr>
          <p:cNvPr id="11" name="Text Placeholder 2"/>
          <p:cNvSpPr>
            <a:spLocks noGrp="1"/>
          </p:cNvSpPr>
          <p:nvPr userDrawn="1">
            <p:ph type="body" idx="1" hasCustomPrompt="1"/>
          </p:nvPr>
        </p:nvSpPr>
        <p:spPr bwMode="white">
          <a:xfrm>
            <a:off x="548783" y="3999750"/>
            <a:ext cx="9960410" cy="462018"/>
          </a:xfrm>
          <a:prstGeom prst="rect">
            <a:avLst/>
          </a:prstGeom>
        </p:spPr>
        <p:txBody>
          <a:bodyPr lIns="0" tIns="0" rIns="0" bIns="0"/>
          <a:lstStyle>
            <a:lvl1pPr marL="0" indent="0">
              <a:lnSpc>
                <a:spcPts val="2397"/>
              </a:lnSpc>
              <a:spcBef>
                <a:spcPts val="0"/>
              </a:spcBef>
              <a:buNone/>
              <a:defRPr sz="2497" spc="0" baseline="0">
                <a:solidFill>
                  <a:schemeClr val="accent2"/>
                </a:solidFill>
              </a:defRPr>
            </a:lvl1pPr>
            <a:lvl2pPr marL="456789" indent="0">
              <a:buNone/>
              <a:defRPr sz="1997">
                <a:solidFill>
                  <a:schemeClr val="tx1">
                    <a:tint val="75000"/>
                  </a:schemeClr>
                </a:solidFill>
              </a:defRPr>
            </a:lvl2pPr>
            <a:lvl3pPr marL="913578" indent="0">
              <a:buNone/>
              <a:defRPr sz="1797">
                <a:solidFill>
                  <a:schemeClr val="tx1">
                    <a:tint val="75000"/>
                  </a:schemeClr>
                </a:solidFill>
              </a:defRPr>
            </a:lvl3pPr>
            <a:lvl4pPr marL="1370367" indent="0">
              <a:buNone/>
              <a:defRPr sz="1600">
                <a:solidFill>
                  <a:schemeClr val="tx1">
                    <a:tint val="75000"/>
                  </a:schemeClr>
                </a:solidFill>
              </a:defRPr>
            </a:lvl4pPr>
            <a:lvl5pPr marL="1827155" indent="0">
              <a:buNone/>
              <a:defRPr sz="1600">
                <a:solidFill>
                  <a:schemeClr val="tx1">
                    <a:tint val="75000"/>
                  </a:schemeClr>
                </a:solidFill>
              </a:defRPr>
            </a:lvl5pPr>
            <a:lvl6pPr marL="2283943" indent="0">
              <a:buNone/>
              <a:defRPr sz="1600">
                <a:solidFill>
                  <a:schemeClr val="tx1">
                    <a:tint val="75000"/>
                  </a:schemeClr>
                </a:solidFill>
              </a:defRPr>
            </a:lvl6pPr>
            <a:lvl7pPr marL="2740732" indent="0">
              <a:buNone/>
              <a:defRPr sz="1600">
                <a:solidFill>
                  <a:schemeClr val="tx1">
                    <a:tint val="75000"/>
                  </a:schemeClr>
                </a:solidFill>
              </a:defRPr>
            </a:lvl7pPr>
            <a:lvl8pPr marL="3197520" indent="0">
              <a:buNone/>
              <a:defRPr sz="1600">
                <a:solidFill>
                  <a:schemeClr val="tx1">
                    <a:tint val="75000"/>
                  </a:schemeClr>
                </a:solidFill>
              </a:defRPr>
            </a:lvl8pPr>
            <a:lvl9pPr marL="3654309" indent="0">
              <a:buNone/>
              <a:defRPr sz="1600">
                <a:solidFill>
                  <a:schemeClr val="tx1">
                    <a:tint val="75000"/>
                  </a:schemeClr>
                </a:solidFill>
              </a:defRPr>
            </a:lvl9pPr>
          </a:lstStyle>
          <a:p>
            <a:pPr lvl="0"/>
            <a:r>
              <a:rPr lang="en-US"/>
              <a:t>Subhead here</a:t>
            </a:r>
          </a:p>
        </p:txBody>
      </p:sp>
      <p:grpSp>
        <p:nvGrpSpPr>
          <p:cNvPr id="119" name="Group 118"/>
          <p:cNvGrpSpPr>
            <a:grpSpLocks noChangeAspect="1"/>
          </p:cNvGrpSpPr>
          <p:nvPr userDrawn="1"/>
        </p:nvGrpSpPr>
        <p:grpSpPr>
          <a:xfrm rot="16200000">
            <a:off x="10143517" y="2413288"/>
            <a:ext cx="3070226" cy="1026741"/>
            <a:chOff x="3900488" y="595313"/>
            <a:chExt cx="5830888" cy="1949450"/>
          </a:xfrm>
        </p:grpSpPr>
        <p:sp>
          <p:nvSpPr>
            <p:cNvPr id="120" name="Rectangle 50"/>
            <p:cNvSpPr>
              <a:spLocks noChangeArrowheads="1"/>
            </p:cNvSpPr>
            <p:nvPr userDrawn="1"/>
          </p:nvSpPr>
          <p:spPr bwMode="auto">
            <a:xfrm>
              <a:off x="3900488" y="595313"/>
              <a:ext cx="5830888" cy="194945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121" name="Freeform 51"/>
            <p:cNvSpPr>
              <a:spLocks/>
            </p:cNvSpPr>
            <p:nvPr userDrawn="1"/>
          </p:nvSpPr>
          <p:spPr bwMode="auto">
            <a:xfrm>
              <a:off x="5991226" y="1252538"/>
              <a:ext cx="752475" cy="762000"/>
            </a:xfrm>
            <a:custGeom>
              <a:avLst/>
              <a:gdLst>
                <a:gd name="T0" fmla="*/ 493 w 826"/>
                <a:gd name="T1" fmla="*/ 0 h 834"/>
                <a:gd name="T2" fmla="*/ 225 w 826"/>
                <a:gd name="T3" fmla="*/ 131 h 834"/>
                <a:gd name="T4" fmla="*/ 225 w 826"/>
                <a:gd name="T5" fmla="*/ 131 h 834"/>
                <a:gd name="T6" fmla="*/ 225 w 826"/>
                <a:gd name="T7" fmla="*/ 131 h 834"/>
                <a:gd name="T8" fmla="*/ 225 w 826"/>
                <a:gd name="T9" fmla="*/ 13 h 834"/>
                <a:gd name="T10" fmla="*/ 0 w 826"/>
                <a:gd name="T11" fmla="*/ 13 h 834"/>
                <a:gd name="T12" fmla="*/ 0 w 826"/>
                <a:gd name="T13" fmla="*/ 834 h 834"/>
                <a:gd name="T14" fmla="*/ 225 w 826"/>
                <a:gd name="T15" fmla="*/ 834 h 834"/>
                <a:gd name="T16" fmla="*/ 225 w 826"/>
                <a:gd name="T17" fmla="*/ 367 h 834"/>
                <a:gd name="T18" fmla="*/ 411 w 826"/>
                <a:gd name="T19" fmla="*/ 194 h 834"/>
                <a:gd name="T20" fmla="*/ 601 w 826"/>
                <a:gd name="T21" fmla="*/ 367 h 834"/>
                <a:gd name="T22" fmla="*/ 601 w 826"/>
                <a:gd name="T23" fmla="*/ 834 h 834"/>
                <a:gd name="T24" fmla="*/ 826 w 826"/>
                <a:gd name="T25" fmla="*/ 834 h 834"/>
                <a:gd name="T26" fmla="*/ 826 w 826"/>
                <a:gd name="T27" fmla="*/ 325 h 834"/>
                <a:gd name="T28" fmla="*/ 493 w 826"/>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6" h="834">
                  <a:moveTo>
                    <a:pt x="493" y="0"/>
                  </a:moveTo>
                  <a:cubicBezTo>
                    <a:pt x="398" y="0"/>
                    <a:pt x="291" y="43"/>
                    <a:pt x="225" y="131"/>
                  </a:cubicBezTo>
                  <a:cubicBezTo>
                    <a:pt x="225" y="131"/>
                    <a:pt x="225" y="131"/>
                    <a:pt x="225" y="131"/>
                  </a:cubicBezTo>
                  <a:cubicBezTo>
                    <a:pt x="225" y="131"/>
                    <a:pt x="225" y="131"/>
                    <a:pt x="225" y="131"/>
                  </a:cubicBezTo>
                  <a:cubicBezTo>
                    <a:pt x="225" y="13"/>
                    <a:pt x="225" y="13"/>
                    <a:pt x="225" y="13"/>
                  </a:cubicBezTo>
                  <a:cubicBezTo>
                    <a:pt x="0" y="13"/>
                    <a:pt x="0" y="13"/>
                    <a:pt x="0" y="13"/>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1" y="259"/>
                    <a:pt x="601" y="367"/>
                  </a:cubicBezTo>
                  <a:cubicBezTo>
                    <a:pt x="601" y="834"/>
                    <a:pt x="601" y="834"/>
                    <a:pt x="601" y="834"/>
                  </a:cubicBezTo>
                  <a:cubicBezTo>
                    <a:pt x="826" y="834"/>
                    <a:pt x="826" y="834"/>
                    <a:pt x="826" y="834"/>
                  </a:cubicBezTo>
                  <a:cubicBezTo>
                    <a:pt x="826" y="325"/>
                    <a:pt x="826" y="325"/>
                    <a:pt x="826" y="325"/>
                  </a:cubicBezTo>
                  <a:cubicBezTo>
                    <a:pt x="826" y="137"/>
                    <a:pt x="691" y="0"/>
                    <a:pt x="49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122" name="Freeform 52"/>
            <p:cNvSpPr>
              <a:spLocks/>
            </p:cNvSpPr>
            <p:nvPr userDrawn="1"/>
          </p:nvSpPr>
          <p:spPr bwMode="auto">
            <a:xfrm>
              <a:off x="7599363" y="1263651"/>
              <a:ext cx="839788" cy="750888"/>
            </a:xfrm>
            <a:custGeom>
              <a:avLst/>
              <a:gdLst>
                <a:gd name="T0" fmla="*/ 381 w 529"/>
                <a:gd name="T1" fmla="*/ 0 h 473"/>
                <a:gd name="T2" fmla="*/ 264 w 529"/>
                <a:gd name="T3" fmla="*/ 323 h 473"/>
                <a:gd name="T4" fmla="*/ 147 w 529"/>
                <a:gd name="T5" fmla="*/ 0 h 473"/>
                <a:gd name="T6" fmla="*/ 0 w 529"/>
                <a:gd name="T7" fmla="*/ 0 h 473"/>
                <a:gd name="T8" fmla="*/ 193 w 529"/>
                <a:gd name="T9" fmla="*/ 473 h 473"/>
                <a:gd name="T10" fmla="*/ 335 w 529"/>
                <a:gd name="T11" fmla="*/ 473 h 473"/>
                <a:gd name="T12" fmla="*/ 529 w 529"/>
                <a:gd name="T13" fmla="*/ 0 h 473"/>
                <a:gd name="T14" fmla="*/ 381 w 529"/>
                <a:gd name="T15" fmla="*/ 0 h 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9" h="473">
                  <a:moveTo>
                    <a:pt x="381" y="0"/>
                  </a:moveTo>
                  <a:lnTo>
                    <a:pt x="264" y="323"/>
                  </a:lnTo>
                  <a:lnTo>
                    <a:pt x="147" y="0"/>
                  </a:lnTo>
                  <a:lnTo>
                    <a:pt x="0" y="0"/>
                  </a:lnTo>
                  <a:lnTo>
                    <a:pt x="193" y="473"/>
                  </a:lnTo>
                  <a:lnTo>
                    <a:pt x="335" y="473"/>
                  </a:lnTo>
                  <a:lnTo>
                    <a:pt x="529" y="0"/>
                  </a:lnTo>
                  <a:lnTo>
                    <a:pt x="3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123" name="Freeform 53"/>
            <p:cNvSpPr>
              <a:spLocks noEditPoints="1"/>
            </p:cNvSpPr>
            <p:nvPr userDrawn="1"/>
          </p:nvSpPr>
          <p:spPr bwMode="auto">
            <a:xfrm>
              <a:off x="5137151" y="1252538"/>
              <a:ext cx="781050" cy="774700"/>
            </a:xfrm>
            <a:custGeom>
              <a:avLst/>
              <a:gdLst>
                <a:gd name="T0" fmla="*/ 699 w 858"/>
                <a:gd name="T1" fmla="*/ 582 h 848"/>
                <a:gd name="T2" fmla="*/ 463 w 858"/>
                <a:gd name="T3" fmla="*/ 669 h 848"/>
                <a:gd name="T4" fmla="*/ 281 w 858"/>
                <a:gd name="T5" fmla="*/ 602 h 848"/>
                <a:gd name="T6" fmla="*/ 858 w 858"/>
                <a:gd name="T7" fmla="*/ 363 h 848"/>
                <a:gd name="T8" fmla="*/ 759 w 858"/>
                <a:gd name="T9" fmla="*/ 134 h 848"/>
                <a:gd name="T10" fmla="*/ 435 w 858"/>
                <a:gd name="T11" fmla="*/ 0 h 848"/>
                <a:gd name="T12" fmla="*/ 0 w 858"/>
                <a:gd name="T13" fmla="*/ 424 h 848"/>
                <a:gd name="T14" fmla="*/ 460 w 858"/>
                <a:gd name="T15" fmla="*/ 848 h 848"/>
                <a:gd name="T16" fmla="*/ 841 w 858"/>
                <a:gd name="T17" fmla="*/ 692 h 848"/>
                <a:gd name="T18" fmla="*/ 699 w 858"/>
                <a:gd name="T19" fmla="*/ 582 h 848"/>
                <a:gd name="T20" fmla="*/ 266 w 858"/>
                <a:gd name="T21" fmla="*/ 261 h 848"/>
                <a:gd name="T22" fmla="*/ 439 w 858"/>
                <a:gd name="T23" fmla="*/ 179 h 848"/>
                <a:gd name="T24" fmla="*/ 614 w 858"/>
                <a:gd name="T25" fmla="*/ 294 h 848"/>
                <a:gd name="T26" fmla="*/ 220 w 858"/>
                <a:gd name="T27" fmla="*/ 457 h 848"/>
                <a:gd name="T28" fmla="*/ 266 w 858"/>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8" h="848">
                  <a:moveTo>
                    <a:pt x="699" y="582"/>
                  </a:moveTo>
                  <a:cubicBezTo>
                    <a:pt x="604" y="652"/>
                    <a:pt x="550" y="669"/>
                    <a:pt x="463" y="669"/>
                  </a:cubicBezTo>
                  <a:cubicBezTo>
                    <a:pt x="385" y="669"/>
                    <a:pt x="324" y="645"/>
                    <a:pt x="281" y="602"/>
                  </a:cubicBezTo>
                  <a:cubicBezTo>
                    <a:pt x="858" y="363"/>
                    <a:pt x="858" y="363"/>
                    <a:pt x="858" y="363"/>
                  </a:cubicBezTo>
                  <a:cubicBezTo>
                    <a:pt x="845" y="274"/>
                    <a:pt x="811" y="195"/>
                    <a:pt x="759" y="134"/>
                  </a:cubicBezTo>
                  <a:cubicBezTo>
                    <a:pt x="683" y="46"/>
                    <a:pt x="571" y="0"/>
                    <a:pt x="435" y="0"/>
                  </a:cubicBezTo>
                  <a:cubicBezTo>
                    <a:pt x="187" y="0"/>
                    <a:pt x="0" y="182"/>
                    <a:pt x="0" y="424"/>
                  </a:cubicBezTo>
                  <a:cubicBezTo>
                    <a:pt x="0" y="672"/>
                    <a:pt x="187" y="848"/>
                    <a:pt x="460" y="848"/>
                  </a:cubicBezTo>
                  <a:cubicBezTo>
                    <a:pt x="612" y="848"/>
                    <a:pt x="768" y="776"/>
                    <a:pt x="841" y="692"/>
                  </a:cubicBezTo>
                  <a:lnTo>
                    <a:pt x="699" y="582"/>
                  </a:lnTo>
                  <a:close/>
                  <a:moveTo>
                    <a:pt x="266" y="261"/>
                  </a:moveTo>
                  <a:cubicBezTo>
                    <a:pt x="304" y="209"/>
                    <a:pt x="365" y="179"/>
                    <a:pt x="439" y="179"/>
                  </a:cubicBezTo>
                  <a:cubicBezTo>
                    <a:pt x="520" y="179"/>
                    <a:pt x="582" y="225"/>
                    <a:pt x="614" y="294"/>
                  </a:cubicBezTo>
                  <a:cubicBezTo>
                    <a:pt x="220" y="457"/>
                    <a:pt x="220" y="457"/>
                    <a:pt x="220" y="457"/>
                  </a:cubicBezTo>
                  <a:cubicBezTo>
                    <a:pt x="209" y="373"/>
                    <a:pt x="231" y="308"/>
                    <a:pt x="266"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124" name="Freeform 54"/>
            <p:cNvSpPr>
              <a:spLocks/>
            </p:cNvSpPr>
            <p:nvPr userDrawn="1"/>
          </p:nvSpPr>
          <p:spPr bwMode="auto">
            <a:xfrm>
              <a:off x="4441826" y="1039813"/>
              <a:ext cx="676275" cy="974725"/>
            </a:xfrm>
            <a:custGeom>
              <a:avLst/>
              <a:gdLst>
                <a:gd name="T0" fmla="*/ 426 w 426"/>
                <a:gd name="T1" fmla="*/ 495 h 614"/>
                <a:gd name="T2" fmla="*/ 131 w 426"/>
                <a:gd name="T3" fmla="*/ 495 h 614"/>
                <a:gd name="T4" fmla="*/ 131 w 426"/>
                <a:gd name="T5" fmla="*/ 0 h 614"/>
                <a:gd name="T6" fmla="*/ 0 w 426"/>
                <a:gd name="T7" fmla="*/ 0 h 614"/>
                <a:gd name="T8" fmla="*/ 0 w 426"/>
                <a:gd name="T9" fmla="*/ 614 h 614"/>
                <a:gd name="T10" fmla="*/ 426 w 426"/>
                <a:gd name="T11" fmla="*/ 614 h 614"/>
                <a:gd name="T12" fmla="*/ 426 w 426"/>
                <a:gd name="T13" fmla="*/ 495 h 614"/>
              </a:gdLst>
              <a:ahLst/>
              <a:cxnLst>
                <a:cxn ang="0">
                  <a:pos x="T0" y="T1"/>
                </a:cxn>
                <a:cxn ang="0">
                  <a:pos x="T2" y="T3"/>
                </a:cxn>
                <a:cxn ang="0">
                  <a:pos x="T4" y="T5"/>
                </a:cxn>
                <a:cxn ang="0">
                  <a:pos x="T6" y="T7"/>
                </a:cxn>
                <a:cxn ang="0">
                  <a:pos x="T8" y="T9"/>
                </a:cxn>
                <a:cxn ang="0">
                  <a:pos x="T10" y="T11"/>
                </a:cxn>
                <a:cxn ang="0">
                  <a:pos x="T12" y="T13"/>
                </a:cxn>
              </a:cxnLst>
              <a:rect l="0" t="0" r="r" b="b"/>
              <a:pathLst>
                <a:path w="426" h="614">
                  <a:moveTo>
                    <a:pt x="426" y="495"/>
                  </a:moveTo>
                  <a:lnTo>
                    <a:pt x="131" y="495"/>
                  </a:lnTo>
                  <a:lnTo>
                    <a:pt x="131" y="0"/>
                  </a:lnTo>
                  <a:lnTo>
                    <a:pt x="0" y="0"/>
                  </a:lnTo>
                  <a:lnTo>
                    <a:pt x="0" y="614"/>
                  </a:lnTo>
                  <a:lnTo>
                    <a:pt x="426" y="614"/>
                  </a:lnTo>
                  <a:lnTo>
                    <a:pt x="426"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125" name="Freeform 55"/>
            <p:cNvSpPr>
              <a:spLocks noEditPoints="1"/>
            </p:cNvSpPr>
            <p:nvPr userDrawn="1"/>
          </p:nvSpPr>
          <p:spPr bwMode="auto">
            <a:xfrm>
              <a:off x="8407401" y="1252538"/>
              <a:ext cx="803275" cy="774700"/>
            </a:xfrm>
            <a:custGeom>
              <a:avLst/>
              <a:gdLst>
                <a:gd name="T0" fmla="*/ 440 w 883"/>
                <a:gd name="T1" fmla="*/ 848 h 848"/>
                <a:gd name="T2" fmla="*/ 0 w 883"/>
                <a:gd name="T3" fmla="*/ 424 h 848"/>
                <a:gd name="T4" fmla="*/ 443 w 883"/>
                <a:gd name="T5" fmla="*/ 0 h 848"/>
                <a:gd name="T6" fmla="*/ 883 w 883"/>
                <a:gd name="T7" fmla="*/ 424 h 848"/>
                <a:gd name="T8" fmla="*/ 440 w 883"/>
                <a:gd name="T9" fmla="*/ 848 h 848"/>
                <a:gd name="T10" fmla="*/ 440 w 883"/>
                <a:gd name="T11" fmla="*/ 193 h 848"/>
                <a:gd name="T12" fmla="*/ 223 w 883"/>
                <a:gd name="T13" fmla="*/ 424 h 848"/>
                <a:gd name="T14" fmla="*/ 443 w 883"/>
                <a:gd name="T15" fmla="*/ 655 h 848"/>
                <a:gd name="T16" fmla="*/ 660 w 883"/>
                <a:gd name="T17" fmla="*/ 424 h 848"/>
                <a:gd name="T18" fmla="*/ 440 w 883"/>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3" h="848">
                  <a:moveTo>
                    <a:pt x="440" y="848"/>
                  </a:moveTo>
                  <a:cubicBezTo>
                    <a:pt x="193" y="848"/>
                    <a:pt x="0" y="665"/>
                    <a:pt x="0" y="424"/>
                  </a:cubicBezTo>
                  <a:cubicBezTo>
                    <a:pt x="0" y="186"/>
                    <a:pt x="195" y="0"/>
                    <a:pt x="443" y="0"/>
                  </a:cubicBezTo>
                  <a:cubicBezTo>
                    <a:pt x="690" y="0"/>
                    <a:pt x="883" y="183"/>
                    <a:pt x="883" y="424"/>
                  </a:cubicBezTo>
                  <a:cubicBezTo>
                    <a:pt x="883" y="662"/>
                    <a:pt x="688" y="848"/>
                    <a:pt x="440" y="848"/>
                  </a:cubicBezTo>
                  <a:moveTo>
                    <a:pt x="440" y="193"/>
                  </a:moveTo>
                  <a:cubicBezTo>
                    <a:pt x="314" y="193"/>
                    <a:pt x="223" y="288"/>
                    <a:pt x="223" y="424"/>
                  </a:cubicBezTo>
                  <a:cubicBezTo>
                    <a:pt x="223" y="554"/>
                    <a:pt x="320" y="655"/>
                    <a:pt x="443" y="655"/>
                  </a:cubicBezTo>
                  <a:cubicBezTo>
                    <a:pt x="569" y="655"/>
                    <a:pt x="660" y="557"/>
                    <a:pt x="660" y="424"/>
                  </a:cubicBezTo>
                  <a:cubicBezTo>
                    <a:pt x="660" y="294"/>
                    <a:pt x="564" y="193"/>
                    <a:pt x="440"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sp>
          <p:nvSpPr>
            <p:cNvPr id="126" name="Freeform 56"/>
            <p:cNvSpPr>
              <a:spLocks noEditPoints="1"/>
            </p:cNvSpPr>
            <p:nvPr userDrawn="1"/>
          </p:nvSpPr>
          <p:spPr bwMode="auto">
            <a:xfrm>
              <a:off x="6824663" y="1252538"/>
              <a:ext cx="804863" cy="774700"/>
            </a:xfrm>
            <a:custGeom>
              <a:avLst/>
              <a:gdLst>
                <a:gd name="T0" fmla="*/ 440 w 883"/>
                <a:gd name="T1" fmla="*/ 848 h 848"/>
                <a:gd name="T2" fmla="*/ 0 w 883"/>
                <a:gd name="T3" fmla="*/ 424 h 848"/>
                <a:gd name="T4" fmla="*/ 443 w 883"/>
                <a:gd name="T5" fmla="*/ 0 h 848"/>
                <a:gd name="T6" fmla="*/ 883 w 883"/>
                <a:gd name="T7" fmla="*/ 424 h 848"/>
                <a:gd name="T8" fmla="*/ 440 w 883"/>
                <a:gd name="T9" fmla="*/ 848 h 848"/>
                <a:gd name="T10" fmla="*/ 440 w 883"/>
                <a:gd name="T11" fmla="*/ 193 h 848"/>
                <a:gd name="T12" fmla="*/ 223 w 883"/>
                <a:gd name="T13" fmla="*/ 424 h 848"/>
                <a:gd name="T14" fmla="*/ 443 w 883"/>
                <a:gd name="T15" fmla="*/ 655 h 848"/>
                <a:gd name="T16" fmla="*/ 661 w 883"/>
                <a:gd name="T17" fmla="*/ 424 h 848"/>
                <a:gd name="T18" fmla="*/ 440 w 883"/>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3" h="848">
                  <a:moveTo>
                    <a:pt x="440" y="848"/>
                  </a:moveTo>
                  <a:cubicBezTo>
                    <a:pt x="194" y="848"/>
                    <a:pt x="0" y="665"/>
                    <a:pt x="0" y="424"/>
                  </a:cubicBezTo>
                  <a:cubicBezTo>
                    <a:pt x="0" y="186"/>
                    <a:pt x="195" y="0"/>
                    <a:pt x="443" y="0"/>
                  </a:cubicBezTo>
                  <a:cubicBezTo>
                    <a:pt x="690" y="0"/>
                    <a:pt x="883" y="183"/>
                    <a:pt x="883" y="424"/>
                  </a:cubicBezTo>
                  <a:cubicBezTo>
                    <a:pt x="883" y="662"/>
                    <a:pt x="688" y="848"/>
                    <a:pt x="440" y="848"/>
                  </a:cubicBezTo>
                  <a:moveTo>
                    <a:pt x="440" y="193"/>
                  </a:moveTo>
                  <a:cubicBezTo>
                    <a:pt x="314" y="193"/>
                    <a:pt x="223" y="288"/>
                    <a:pt x="223" y="424"/>
                  </a:cubicBezTo>
                  <a:cubicBezTo>
                    <a:pt x="223" y="554"/>
                    <a:pt x="320" y="655"/>
                    <a:pt x="443" y="655"/>
                  </a:cubicBezTo>
                  <a:cubicBezTo>
                    <a:pt x="569" y="655"/>
                    <a:pt x="661" y="557"/>
                    <a:pt x="661" y="424"/>
                  </a:cubicBezTo>
                  <a:cubicBezTo>
                    <a:pt x="661" y="294"/>
                    <a:pt x="564" y="193"/>
                    <a:pt x="440"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7"/>
            </a:p>
          </p:txBody>
        </p:sp>
      </p:grpSp>
      <p:sp>
        <p:nvSpPr>
          <p:cNvPr id="24" name="Title 16">
            <a:extLst>
              <a:ext uri="{FF2B5EF4-FFF2-40B4-BE49-F238E27FC236}">
                <a16:creationId xmlns:a16="http://schemas.microsoft.com/office/drawing/2014/main" id="{542F2901-56C5-6245-B188-570498220D2B}"/>
              </a:ext>
            </a:extLst>
          </p:cNvPr>
          <p:cNvSpPr>
            <a:spLocks noGrp="1"/>
          </p:cNvSpPr>
          <p:nvPr>
            <p:ph type="title" hasCustomPrompt="1"/>
          </p:nvPr>
        </p:nvSpPr>
        <p:spPr bwMode="gray">
          <a:xfrm>
            <a:off x="548782" y="1391550"/>
            <a:ext cx="9960410" cy="2405203"/>
          </a:xfrm>
          <a:prstGeom prst="rect">
            <a:avLst/>
          </a:prstGeom>
        </p:spPr>
        <p:txBody>
          <a:bodyPr lIns="0" tIns="0" rIns="0" bIns="0" anchor="b" anchorCtr="0"/>
          <a:lstStyle>
            <a:lvl1pPr marL="0" algn="l" defTabSz="1217890" rtl="0" eaLnBrk="1" latinLnBrk="0" hangingPunct="1">
              <a:lnSpc>
                <a:spcPts val="4997"/>
              </a:lnSpc>
              <a:spcBef>
                <a:spcPct val="0"/>
              </a:spcBef>
              <a:buNone/>
              <a:defRPr lang="en-US" sz="5994" b="1" kern="1200" cap="none" spc="-150" baseline="0" dirty="0">
                <a:solidFill>
                  <a:schemeClr val="bg1"/>
                </a:solidFill>
                <a:latin typeface="Arial" pitchFamily="34" charset="0"/>
                <a:ea typeface="+mn-ea"/>
                <a:cs typeface="Arial" pitchFamily="34" charset="0"/>
              </a:defRPr>
            </a:lvl1pPr>
          </a:lstStyle>
          <a:p>
            <a:r>
              <a:rPr lang="en-US"/>
              <a:t>Section Header</a:t>
            </a:r>
          </a:p>
        </p:txBody>
      </p:sp>
    </p:spTree>
    <p:extLst>
      <p:ext uri="{BB962C8B-B14F-4D97-AF65-F5344CB8AC3E}">
        <p14:creationId xmlns:p14="http://schemas.microsoft.com/office/powerpoint/2010/main" val="3763276667"/>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Slide_Photo">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7432" y="-266700"/>
            <a:ext cx="12669432" cy="7124700"/>
          </a:xfrm>
          <a:prstGeom prst="rect">
            <a:avLst/>
          </a:prstGeom>
        </p:spPr>
      </p:pic>
      <p:sp>
        <p:nvSpPr>
          <p:cNvPr id="7" name="矩形 6"/>
          <p:cNvSpPr/>
          <p:nvPr userDrawn="1"/>
        </p:nvSpPr>
        <p:spPr>
          <a:xfrm>
            <a:off x="-477432" y="-266700"/>
            <a:ext cx="12669432" cy="7124700"/>
          </a:xfrm>
          <a:prstGeom prst="rect">
            <a:avLst/>
          </a:prstGeom>
          <a:solidFill>
            <a:schemeClr val="bg2">
              <a:lumMod val="75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8"/>
          </a:p>
        </p:txBody>
      </p:sp>
      <p:sp>
        <p:nvSpPr>
          <p:cNvPr id="18" name="Title 16"/>
          <p:cNvSpPr>
            <a:spLocks noGrp="1"/>
          </p:cNvSpPr>
          <p:nvPr>
            <p:ph type="title" hasCustomPrompt="1"/>
          </p:nvPr>
        </p:nvSpPr>
        <p:spPr bwMode="gray">
          <a:xfrm>
            <a:off x="548783" y="1437136"/>
            <a:ext cx="9962830" cy="3026868"/>
          </a:xfrm>
          <a:prstGeom prst="rect">
            <a:avLst/>
          </a:prstGeom>
        </p:spPr>
        <p:txBody>
          <a:bodyPr lIns="0" tIns="60949" rIns="121899" bIns="60949" anchor="b" anchorCtr="0"/>
          <a:lstStyle>
            <a:lvl1pPr marL="0" algn="l" defTabSz="1217834" rtl="0" eaLnBrk="1" latinLnBrk="0" hangingPunct="1">
              <a:lnSpc>
                <a:spcPts val="7496"/>
              </a:lnSpc>
              <a:spcBef>
                <a:spcPct val="0"/>
              </a:spcBef>
              <a:buNone/>
              <a:defRPr lang="en-US" sz="7196" b="1" kern="1200" cap="none" spc="-150" baseline="0" dirty="0">
                <a:solidFill>
                  <a:schemeClr val="bg1"/>
                </a:solidFill>
                <a:latin typeface="微软雅黑" panose="020B0502040204020203" pitchFamily="34" charset="-122"/>
                <a:ea typeface="微软雅黑" panose="020B0502040204020203" pitchFamily="34" charset="-122"/>
                <a:cs typeface="Arial" panose="020B0604020202020204" pitchFamily="34" charset="0"/>
              </a:defRPr>
            </a:lvl1pPr>
          </a:lstStyle>
          <a:p>
            <a:r>
              <a:rPr lang="zh-CN" altLang="en-US"/>
              <a:t>图片版</a:t>
            </a:r>
            <a:br>
              <a:rPr lang="en-US" altLang="zh-CN"/>
            </a:br>
            <a:r>
              <a:rPr lang="zh-CN" altLang="en-US"/>
              <a:t>演示标题</a:t>
            </a:r>
            <a:br>
              <a:rPr lang="en-US" altLang="zh-CN"/>
            </a:br>
            <a:r>
              <a:rPr lang="zh-CN" altLang="en-US"/>
              <a:t>区域</a:t>
            </a:r>
            <a:endParaRPr lang="en-US"/>
          </a:p>
        </p:txBody>
      </p:sp>
      <p:sp>
        <p:nvSpPr>
          <p:cNvPr id="19" name="Subtitle 2"/>
          <p:cNvSpPr>
            <a:spLocks noGrp="1"/>
          </p:cNvSpPr>
          <p:nvPr>
            <p:ph type="subTitle" idx="1" hasCustomPrompt="1"/>
          </p:nvPr>
        </p:nvSpPr>
        <p:spPr bwMode="gray">
          <a:xfrm>
            <a:off x="548783" y="5205790"/>
            <a:ext cx="9952388" cy="457200"/>
          </a:xfrm>
          <a:prstGeom prst="rect">
            <a:avLst/>
          </a:prstGeom>
        </p:spPr>
        <p:txBody>
          <a:bodyPr lIns="0" tIns="0" rIns="0" bIns="0" anchor="b" anchorCtr="0"/>
          <a:lstStyle>
            <a:lvl1pPr marL="0" indent="0" algn="l" defTabSz="1217834" rtl="0" eaLnBrk="1" latinLnBrk="0" hangingPunct="1">
              <a:lnSpc>
                <a:spcPct val="90000"/>
              </a:lnSpc>
              <a:spcBef>
                <a:spcPct val="0"/>
              </a:spcBef>
              <a:buNone/>
              <a:defRPr lang="en-US" sz="2598" b="0" kern="1200" cap="none" spc="0" baseline="0" dirty="0">
                <a:solidFill>
                  <a:schemeClr val="bg1"/>
                </a:solidFill>
                <a:latin typeface="微软雅黑" panose="020B0502040204020203" pitchFamily="34" charset="-122"/>
                <a:ea typeface="微软雅黑" panose="020B0502040204020203" pitchFamily="34" charset="-122"/>
                <a:cs typeface="Arial" panose="020B0604020202020204" pitchFamily="34" charset="0"/>
              </a:defRPr>
            </a:lvl1pPr>
            <a:lvl2pPr marL="609234" indent="0" algn="ctr">
              <a:buNone/>
              <a:defRPr>
                <a:solidFill>
                  <a:schemeClr val="tx1">
                    <a:tint val="75000"/>
                  </a:schemeClr>
                </a:solidFill>
              </a:defRPr>
            </a:lvl2pPr>
            <a:lvl3pPr marL="1218468" indent="0" algn="ctr">
              <a:buNone/>
              <a:defRPr>
                <a:solidFill>
                  <a:schemeClr val="tx1">
                    <a:tint val="75000"/>
                  </a:schemeClr>
                </a:solidFill>
              </a:defRPr>
            </a:lvl3pPr>
            <a:lvl4pPr marL="1827069" indent="0" algn="ctr">
              <a:buNone/>
              <a:defRPr>
                <a:solidFill>
                  <a:schemeClr val="tx1">
                    <a:tint val="75000"/>
                  </a:schemeClr>
                </a:solidFill>
              </a:defRPr>
            </a:lvl4pPr>
            <a:lvl5pPr marL="2436303" indent="0" algn="ctr">
              <a:buNone/>
              <a:defRPr>
                <a:solidFill>
                  <a:schemeClr val="tx1">
                    <a:tint val="75000"/>
                  </a:schemeClr>
                </a:solidFill>
              </a:defRPr>
            </a:lvl5pPr>
            <a:lvl6pPr marL="3045537" indent="0" algn="ctr">
              <a:buNone/>
              <a:defRPr>
                <a:solidFill>
                  <a:schemeClr val="tx1">
                    <a:tint val="75000"/>
                  </a:schemeClr>
                </a:solidFill>
              </a:defRPr>
            </a:lvl6pPr>
            <a:lvl7pPr marL="3654771" indent="0" algn="ctr">
              <a:buNone/>
              <a:defRPr>
                <a:solidFill>
                  <a:schemeClr val="tx1">
                    <a:tint val="75000"/>
                  </a:schemeClr>
                </a:solidFill>
              </a:defRPr>
            </a:lvl7pPr>
            <a:lvl8pPr marL="4264005" indent="0" algn="ctr">
              <a:buNone/>
              <a:defRPr>
                <a:solidFill>
                  <a:schemeClr val="tx1">
                    <a:tint val="75000"/>
                  </a:schemeClr>
                </a:solidFill>
              </a:defRPr>
            </a:lvl8pPr>
            <a:lvl9pPr marL="4873240" indent="0" algn="ctr">
              <a:buNone/>
              <a:defRPr>
                <a:solidFill>
                  <a:schemeClr val="tx1">
                    <a:tint val="75000"/>
                  </a:schemeClr>
                </a:solidFill>
              </a:defRPr>
            </a:lvl9pPr>
          </a:lstStyle>
          <a:p>
            <a:r>
              <a:rPr lang="zh-CN" altLang="en-US"/>
              <a:t>副标题注解区域</a:t>
            </a:r>
            <a:endParaRPr lang="en-US"/>
          </a:p>
        </p:txBody>
      </p:sp>
      <p:sp>
        <p:nvSpPr>
          <p:cNvPr id="11" name="Footer Placeholder 1"/>
          <p:cNvSpPr txBox="1"/>
          <p:nvPr userDrawn="1"/>
        </p:nvSpPr>
        <p:spPr>
          <a:xfrm>
            <a:off x="484652" y="6291017"/>
            <a:ext cx="2317663" cy="227518"/>
          </a:xfrm>
          <a:prstGeom prst="rect">
            <a:avLst/>
          </a:prstGeom>
        </p:spPr>
        <p:txBody>
          <a:bodyPr/>
          <a:lstStyle>
            <a:defPPr>
              <a:defRPr lang="en-US"/>
            </a:defPPr>
            <a:lvl1pPr marL="0" algn="l" defTabSz="1218565" rtl="0" eaLnBrk="1" latinLnBrk="0" hangingPunct="1">
              <a:defRPr sz="900" kern="1200">
                <a:solidFill>
                  <a:schemeClr val="bg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7365" algn="l" defTabSz="1218565" rtl="0" eaLnBrk="1" latinLnBrk="0" hangingPunct="1">
              <a:defRPr sz="2400" kern="1200">
                <a:solidFill>
                  <a:schemeClr val="tx1"/>
                </a:solidFill>
                <a:latin typeface="+mn-lt"/>
                <a:ea typeface="+mn-ea"/>
                <a:cs typeface="+mn-cs"/>
              </a:defRPr>
            </a:lvl6pPr>
            <a:lvl7pPr marL="3656965"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a:lstStyle>
          <a:p>
            <a:r>
              <a:rPr lang="en-US" sz="900">
                <a:solidFill>
                  <a:schemeClr val="bg1"/>
                </a:solidFill>
              </a:rPr>
              <a:t>20</a:t>
            </a:r>
            <a:r>
              <a:rPr lang="en-US" altLang="zh-CN" sz="900">
                <a:solidFill>
                  <a:schemeClr val="bg1"/>
                </a:solidFill>
              </a:rPr>
              <a:t>25</a:t>
            </a:r>
            <a:r>
              <a:rPr lang="en-US" sz="900">
                <a:solidFill>
                  <a:schemeClr val="bg1"/>
                </a:solidFill>
              </a:rPr>
              <a:t> Lenovo Internal. All rights reserved.</a:t>
            </a:r>
          </a:p>
        </p:txBody>
      </p:sp>
      <p:pic>
        <p:nvPicPr>
          <p:cNvPr id="8" name="图片 7"/>
          <p:cNvPicPr>
            <a:picLocks noChangeAspect="1"/>
          </p:cNvPicPr>
          <p:nvPr userDrawn="1"/>
        </p:nvPicPr>
        <p:blipFill>
          <a:blip r:embed="rId3"/>
          <a:stretch>
            <a:fillRect/>
          </a:stretch>
        </p:blipFill>
        <p:spPr>
          <a:xfrm>
            <a:off x="9051312" y="5697501"/>
            <a:ext cx="2502310" cy="501203"/>
          </a:xfrm>
          <a:prstGeom prst="rect">
            <a:avLst/>
          </a:prstGeom>
        </p:spPr>
      </p:pic>
    </p:spTree>
    <p:extLst>
      <p:ext uri="{BB962C8B-B14F-4D97-AF65-F5344CB8AC3E}">
        <p14:creationId xmlns:p14="http://schemas.microsoft.com/office/powerpoint/2010/main" val="2615404614"/>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AF2A82E2-E356-4E65-B732-6515BA3FDA92}"/>
              </a:ext>
            </a:extLst>
          </p:cNvPr>
          <p:cNvSpPr>
            <a:spLocks noGrp="1"/>
          </p:cNvSpPr>
          <p:nvPr>
            <p:ph type="body" idx="11" hasCustomPrompt="1"/>
          </p:nvPr>
        </p:nvSpPr>
        <p:spPr bwMode="gray">
          <a:xfrm>
            <a:off x="557930" y="914400"/>
            <a:ext cx="11076268" cy="292608"/>
          </a:xfrm>
          <a:prstGeom prst="rect">
            <a:avLst/>
          </a:prstGeom>
        </p:spPr>
        <p:txBody>
          <a:bodyPr lIns="0" tIns="0" rIns="0" bIns="0" anchor="t" anchorCtr="0">
            <a:noAutofit/>
          </a:bodyPr>
          <a:lstStyle>
            <a:lvl1pPr marL="0" indent="0">
              <a:spcBef>
                <a:spcPts val="0"/>
              </a:spcBef>
              <a:buNone/>
              <a:defRPr sz="1796" b="0">
                <a:solidFill>
                  <a:schemeClr val="tx1"/>
                </a:solidFill>
                <a:latin typeface="+mn-lt"/>
                <a:cs typeface="Arial" pitchFamily="34" charset="0"/>
              </a:defRPr>
            </a:lvl1pPr>
            <a:lvl2pPr marL="608761" indent="0">
              <a:buNone/>
              <a:defRPr sz="2696" b="1"/>
            </a:lvl2pPr>
            <a:lvl3pPr marL="1217525" indent="0">
              <a:buNone/>
              <a:defRPr sz="2396" b="1"/>
            </a:lvl3pPr>
            <a:lvl4pPr marL="1826287" indent="0">
              <a:buNone/>
              <a:defRPr sz="2096" b="1"/>
            </a:lvl4pPr>
            <a:lvl5pPr marL="2435049" indent="0">
              <a:buNone/>
              <a:defRPr sz="2096" b="1"/>
            </a:lvl5pPr>
            <a:lvl6pPr marL="3043812" indent="0">
              <a:buNone/>
              <a:defRPr sz="2096" b="1"/>
            </a:lvl6pPr>
            <a:lvl7pPr marL="3652574" indent="0">
              <a:buNone/>
              <a:defRPr sz="2096" b="1"/>
            </a:lvl7pPr>
            <a:lvl8pPr marL="4261335" indent="0">
              <a:buNone/>
              <a:defRPr sz="2096" b="1"/>
            </a:lvl8pPr>
            <a:lvl9pPr marL="4870099" indent="0">
              <a:buNone/>
              <a:defRPr sz="2096" b="1"/>
            </a:lvl9pPr>
          </a:lstStyle>
          <a:p>
            <a:pPr lvl="0"/>
            <a:r>
              <a:rPr lang="en-US"/>
              <a:t> to edit Master text styles</a:t>
            </a:r>
          </a:p>
        </p:txBody>
      </p:sp>
      <p:graphicFrame>
        <p:nvGraphicFramePr>
          <p:cNvPr id="2" name="Object 1" hidden="1"/>
          <p:cNvGraphicFramePr>
            <a:graphicFrameLocks noChangeAspect="1"/>
          </p:cNvGraphicFramePr>
          <p:nvPr userDrawn="1">
            <p:custDataLst>
              <p:tags r:id="rId1"/>
            </p:custDataLst>
          </p:nvPr>
        </p:nvGraphicFramePr>
        <p:xfrm>
          <a:off x="1593" y="1597"/>
          <a:ext cx="1587" cy="1587"/>
        </p:xfrm>
        <a:graphic>
          <a:graphicData uri="http://schemas.openxmlformats.org/presentationml/2006/ole">
            <mc:AlternateContent xmlns:mc="http://schemas.openxmlformats.org/markup-compatibility/2006">
              <mc:Choice xmlns:v="urn:schemas-microsoft-com:vml" Requires="v">
                <p:oleObj name="think-cell Slide" r:id="rId4" imgW="508" imgH="508" progId="TCLayout.ActiveDocument.1">
                  <p:embed/>
                </p:oleObj>
              </mc:Choice>
              <mc:Fallback>
                <p:oleObj name="think-cell Slide" r:id="rId4" imgW="508" imgH="508" progId="TCLayout.ActiveDocument.1">
                  <p:embed/>
                  <p:pic>
                    <p:nvPicPr>
                      <p:cNvPr id="2" name="Object 1" hidden="1"/>
                      <p:cNvPicPr/>
                      <p:nvPr/>
                    </p:nvPicPr>
                    <p:blipFill>
                      <a:blip r:embed="rId5"/>
                      <a:stretch>
                        <a:fillRect/>
                      </a:stretch>
                    </p:blipFill>
                    <p:spPr>
                      <a:xfrm>
                        <a:off x="1593" y="1597"/>
                        <a:ext cx="1587"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A04CCC1-2C90-44F6-9C76-69B95A27578A}"/>
              </a:ext>
            </a:extLst>
          </p:cNvPr>
          <p:cNvSpPr/>
          <p:nvPr userDrawn="1">
            <p:custDataLst>
              <p:tags r:id="rId2"/>
            </p:custDataLst>
          </p:nvPr>
        </p:nvSpPr>
        <p:spPr>
          <a:xfrm>
            <a:off x="4"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796" b="1" i="0" baseline="0">
              <a:latin typeface="Open Sans" panose="020B0606030504020204" pitchFamily="34" charset="0"/>
              <a:ea typeface="+mj-ea"/>
              <a:cs typeface="Arial" panose="020B0604020202020204" pitchFamily="34" charset="0"/>
              <a:sym typeface="Open Sans" panose="020B0606030504020204" pitchFamily="34" charset="0"/>
            </a:endParaRPr>
          </a:p>
        </p:txBody>
      </p:sp>
      <p:sp>
        <p:nvSpPr>
          <p:cNvPr id="3" name="Title 2">
            <a:extLst>
              <a:ext uri="{FF2B5EF4-FFF2-40B4-BE49-F238E27FC236}">
                <a16:creationId xmlns:a16="http://schemas.microsoft.com/office/drawing/2014/main" id="{6B86DA36-CF0D-4BD0-BC5C-53D6B40A47BE}"/>
              </a:ext>
            </a:extLst>
          </p:cNvPr>
          <p:cNvSpPr>
            <a:spLocks noGrp="1"/>
          </p:cNvSpPr>
          <p:nvPr>
            <p:ph type="title"/>
          </p:nvPr>
        </p:nvSpPr>
        <p:spPr/>
        <p:txBody>
          <a:bodyPr/>
          <a:lstStyle/>
          <a:p>
            <a:r>
              <a:rPr lang="en-US"/>
              <a:t>Click to edit Master title style</a:t>
            </a:r>
          </a:p>
        </p:txBody>
      </p:sp>
      <p:sp>
        <p:nvSpPr>
          <p:cNvPr id="4" name="Slide Number Placeholder 3">
            <a:extLst>
              <a:ext uri="{FF2B5EF4-FFF2-40B4-BE49-F238E27FC236}">
                <a16:creationId xmlns:a16="http://schemas.microsoft.com/office/drawing/2014/main" id="{47CB6638-1A88-497C-BAC0-E0CC6F961C3C}"/>
              </a:ext>
            </a:extLst>
          </p:cNvPr>
          <p:cNvSpPr>
            <a:spLocks noGrp="1"/>
          </p:cNvSpPr>
          <p:nvPr>
            <p:ph type="sldNum" sz="quarter" idx="10"/>
          </p:nvPr>
        </p:nvSpPr>
        <p:spPr/>
        <p:txBody>
          <a:bodyPr/>
          <a:lstStyle/>
          <a:p>
            <a:pPr algn="ctr"/>
            <a:fld id="{4CDEA398-9212-4567-91A3-BCE54ECD0B59}" type="slidenum">
              <a:rPr lang="en-US" smtClean="0"/>
              <a:pPr algn="ctr"/>
              <a:t>‹#›</a:t>
            </a:fld>
            <a:endParaRPr lang="en-US"/>
          </a:p>
        </p:txBody>
      </p:sp>
    </p:spTree>
    <p:extLst>
      <p:ext uri="{BB962C8B-B14F-4D97-AF65-F5344CB8AC3E}">
        <p14:creationId xmlns:p14="http://schemas.microsoft.com/office/powerpoint/2010/main" val="2814024610"/>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Title &amp; 1 column text">
    <p:spTree>
      <p:nvGrpSpPr>
        <p:cNvPr id="1" name=""/>
        <p:cNvGrpSpPr/>
        <p:nvPr/>
      </p:nvGrpSpPr>
      <p:grpSpPr>
        <a:xfrm>
          <a:off x="0" y="0"/>
          <a:ext cx="0" cy="0"/>
          <a:chOff x="0" y="0"/>
          <a:chExt cx="0" cy="0"/>
        </a:xfrm>
      </p:grpSpPr>
      <p:sp>
        <p:nvSpPr>
          <p:cNvPr id="14" name="文字"/>
          <p:cNvSpPr>
            <a:spLocks noGrp="1"/>
          </p:cNvSpPr>
          <p:nvPr>
            <p:ph idx="1"/>
          </p:nvPr>
        </p:nvSpPr>
        <p:spPr>
          <a:xfrm>
            <a:off x="501651" y="1665289"/>
            <a:ext cx="11165416" cy="4716463"/>
          </a:xfrm>
          <a:prstGeom prst="rect">
            <a:avLst/>
          </a:prstGeom>
        </p:spPr>
        <p:txBody>
          <a:bodyPr vert="horz" lIns="0" tIns="0" rIns="0" bIns="0" rtlCol="0">
            <a:normAutofit/>
          </a:bodyPr>
          <a:lstStyle>
            <a:lvl1pPr>
              <a:defRPr>
                <a:latin typeface="+mn-lt"/>
              </a:defRPr>
            </a:lvl1pPr>
            <a:lvl2pPr>
              <a:defRPr>
                <a:latin typeface="+mj-lt"/>
              </a:defRPr>
            </a:lvl2pPr>
            <a:lvl3pPr>
              <a:defRPr>
                <a:latin typeface="+mn-lt"/>
              </a:defRPr>
            </a:lvl3pPr>
            <a:lvl4pPr>
              <a:defRPr>
                <a:latin typeface="+mn-lt"/>
              </a:defRPr>
            </a:lvl4pPr>
            <a:lvl5pPr>
              <a:defRPr>
                <a:latin typeface="+mn-lt"/>
              </a:defRPr>
            </a:lvl5pPr>
          </a:lstStyle>
          <a:p>
            <a:pPr lvl="0"/>
            <a:r>
              <a:rPr lang="zh-CN" altLang="en-US"/>
              <a:t>按一下此處編輯母版文本樣式</a:t>
            </a:r>
          </a:p>
          <a:p>
            <a:pPr lvl="1"/>
            <a:r>
              <a:rPr lang="zh-CN" altLang="en-US"/>
              <a:t>二級</a:t>
            </a:r>
          </a:p>
          <a:p>
            <a:pPr lvl="2"/>
            <a:r>
              <a:rPr lang="zh-CN" altLang="en-US"/>
              <a:t>三級</a:t>
            </a:r>
          </a:p>
          <a:p>
            <a:pPr lvl="3"/>
            <a:r>
              <a:rPr lang="zh-CN" altLang="en-US"/>
              <a:t>四級</a:t>
            </a:r>
          </a:p>
          <a:p>
            <a:pPr lvl="4"/>
            <a:r>
              <a:rPr lang="zh-CN" altLang="en-US"/>
              <a:t>五級</a:t>
            </a:r>
            <a:endParaRPr lang="en-GB"/>
          </a:p>
        </p:txBody>
      </p:sp>
      <p:sp>
        <p:nvSpPr>
          <p:cNvPr id="2" name="標題"/>
          <p:cNvSpPr>
            <a:spLocks noGrp="1"/>
          </p:cNvSpPr>
          <p:nvPr>
            <p:ph type="title"/>
          </p:nvPr>
        </p:nvSpPr>
        <p:spPr>
          <a:xfrm>
            <a:off x="501651" y="317501"/>
            <a:ext cx="11188700" cy="698500"/>
          </a:xfrm>
        </p:spPr>
        <p:txBody>
          <a:bodyPr/>
          <a:lstStyle/>
          <a:p>
            <a:r>
              <a:rPr lang="zh-CN" altLang="en-US"/>
              <a:t>按一下此處編輯母版標題樣式</a:t>
            </a:r>
            <a:endParaRPr lang="en-US"/>
          </a:p>
        </p:txBody>
      </p:sp>
    </p:spTree>
    <p:extLst>
      <p:ext uri="{BB962C8B-B14F-4D97-AF65-F5344CB8AC3E}">
        <p14:creationId xmlns:p14="http://schemas.microsoft.com/office/powerpoint/2010/main" val="2706110412"/>
      </p:ext>
    </p:extLst>
  </p:cSld>
  <p:clrMapOvr>
    <a:masterClrMapping/>
  </p:clrMapOvr>
  <p:transition>
    <p:fade/>
  </p:transition>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2"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98"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7" y="919254"/>
            <a:ext cx="11082528" cy="66159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4"/>
            </p:custDataLst>
          </p:nvPr>
        </p:nvSpPr>
        <p:spPr>
          <a:xfrm>
            <a:off x="554737" y="41601"/>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5"/>
            </p:custDataLst>
          </p:nvPr>
        </p:nvSpPr>
        <p:spPr>
          <a:xfrm>
            <a:off x="554737" y="172212"/>
            <a:ext cx="11082528" cy="731520"/>
          </a:xfrm>
          <a:prstGeom prst="rect">
            <a:avLst/>
          </a:prstGeo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12" name="Slide Number">
            <a:extLst>
              <a:ext uri="{FF2B5EF4-FFF2-40B4-BE49-F238E27FC236}">
                <a16:creationId xmlns:a16="http://schemas.microsoft.com/office/drawing/2014/main" id="{A7D78624-1011-4805-A38F-2790B0C90EC1}"/>
              </a:ext>
            </a:extLst>
          </p:cNvPr>
          <p:cNvSpPr>
            <a:spLocks noChangeArrowheads="1"/>
          </p:cNvSpPr>
          <p:nvPr userDrawn="1">
            <p:custDataLst>
              <p:tags r:id="rId6"/>
            </p:custDataLst>
          </p:nvPr>
        </p:nvSpPr>
        <p:spPr bwMode="black">
          <a:xfrm>
            <a:off x="11312527" y="6474741"/>
            <a:ext cx="325501" cy="138499"/>
          </a:xfrm>
          <a:prstGeom prst="rect">
            <a:avLst/>
          </a:prstGeom>
          <a:noFill/>
          <a:ln w="9525" algn="ctr">
            <a:noFill/>
            <a:miter lim="800000"/>
            <a:headEnd/>
            <a:tailEnd/>
          </a:ln>
          <a:effectLst/>
        </p:spPr>
        <p:txBody>
          <a:bodyPr wrap="square" lIns="0" tIns="0" rIns="0" bIns="0" anchor="b">
            <a:spAutoFit/>
          </a:bodyPr>
          <a:lstStyle/>
          <a:p>
            <a:pPr algn="r" defTabSz="610378"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378"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3" name="5. Source" hidden="1">
            <a:extLst>
              <a:ext uri="{FF2B5EF4-FFF2-40B4-BE49-F238E27FC236}">
                <a16:creationId xmlns:a16="http://schemas.microsoft.com/office/drawing/2014/main" id="{F172C844-171A-4841-A93B-2ED21E411498}"/>
              </a:ext>
            </a:extLst>
          </p:cNvPr>
          <p:cNvSpPr txBox="1"/>
          <p:nvPr userDrawn="1">
            <p:custDataLst>
              <p:tags r:id="rId7"/>
            </p:custDataLst>
          </p:nvPr>
        </p:nvSpPr>
        <p:spPr>
          <a:xfrm>
            <a:off x="554737" y="6255866"/>
            <a:ext cx="7277861" cy="123111"/>
          </a:xfrm>
          <a:prstGeom prst="rect">
            <a:avLst/>
          </a:prstGeom>
        </p:spPr>
        <p:txBody>
          <a:bodyPr vert="horz" wrap="square" lIns="0" tIns="0" rIns="0" bIns="0" rtlCol="0" anchor="b">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Tree>
    <p:extLst>
      <p:ext uri="{BB962C8B-B14F-4D97-AF65-F5344CB8AC3E}">
        <p14:creationId xmlns:p14="http://schemas.microsoft.com/office/powerpoint/2010/main" val="351193530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chemeClr val="tx1"/>
        </a:solidFill>
        <a:effectLst/>
      </p:bgPr>
    </p:bg>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BCB70D7F-DA6D-4CCD-81E9-90248EF641E0}"/>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 y="72"/>
            <a:ext cx="12192000" cy="6857929"/>
          </a:xfrm>
          <a:prstGeom prst="rect">
            <a:avLst/>
          </a:prstGeom>
        </p:spPr>
      </p:pic>
      <p:pic>
        <p:nvPicPr>
          <p:cNvPr id="27" name="Picture 26">
            <a:extLst>
              <a:ext uri="{FF2B5EF4-FFF2-40B4-BE49-F238E27FC236}">
                <a16:creationId xmlns:a16="http://schemas.microsoft.com/office/drawing/2014/main" id="{4E412EDD-C562-F92D-41A2-18849B2F30CE}"/>
              </a:ext>
            </a:extLst>
          </p:cNvPr>
          <p:cNvPicPr>
            <a:picLocks noChangeAspect="1"/>
          </p:cNvPicPr>
          <p:nvPr userDrawn="1"/>
        </p:nvPicPr>
        <p:blipFill rotWithShape="1">
          <a:blip r:embed="rId3" cstate="screen">
            <a:alphaModFix/>
            <a:extLst>
              <a:ext uri="{28A0092B-C50C-407E-A947-70E740481C1C}">
                <a14:useLocalDpi xmlns:a14="http://schemas.microsoft.com/office/drawing/2010/main"/>
              </a:ext>
            </a:extLst>
          </a:blip>
          <a:srcRect/>
          <a:stretch/>
        </p:blipFill>
        <p:spPr>
          <a:xfrm>
            <a:off x="7618809" y="36"/>
            <a:ext cx="4573191" cy="6857929"/>
          </a:xfrm>
          <a:prstGeom prst="rect">
            <a:avLst/>
          </a:prstGeom>
        </p:spPr>
      </p:pic>
      <p:sp>
        <p:nvSpPr>
          <p:cNvPr id="16" name="TextBox 15">
            <a:extLst>
              <a:ext uri="{FF2B5EF4-FFF2-40B4-BE49-F238E27FC236}">
                <a16:creationId xmlns:a16="http://schemas.microsoft.com/office/drawing/2014/main" id="{C50D814F-EE5B-C084-7424-D39C0DE54FF7}"/>
              </a:ext>
            </a:extLst>
          </p:cNvPr>
          <p:cNvSpPr txBox="1"/>
          <p:nvPr userDrawn="1"/>
        </p:nvSpPr>
        <p:spPr>
          <a:xfrm>
            <a:off x="488931" y="6717076"/>
            <a:ext cx="1851044" cy="123111"/>
          </a:xfrm>
          <a:prstGeom prst="rect">
            <a:avLst/>
          </a:prstGeom>
          <a:noFill/>
        </p:spPr>
        <p:txBody>
          <a:bodyPr wrap="square" lIns="0" tIns="0" rIns="0" bIns="0" rtlCol="0">
            <a:spAutoFit/>
          </a:bodyPr>
          <a:lstStyle/>
          <a:p>
            <a:r>
              <a:rPr lang="en-US" sz="800">
                <a:solidFill>
                  <a:schemeClr val="bg1"/>
                </a:solidFill>
                <a:latin typeface="+mn-lt"/>
                <a:cs typeface="Arial" pitchFamily="34" charset="0"/>
              </a:rPr>
              <a:t>2024 Lenovo Internal. All rights reserved. </a:t>
            </a:r>
          </a:p>
        </p:txBody>
      </p:sp>
      <p:grpSp>
        <p:nvGrpSpPr>
          <p:cNvPr id="17" name="Group 16">
            <a:extLst>
              <a:ext uri="{FF2B5EF4-FFF2-40B4-BE49-F238E27FC236}">
                <a16:creationId xmlns:a16="http://schemas.microsoft.com/office/drawing/2014/main" id="{3C498D60-2F6C-6ADE-BB9A-D957660E0731}"/>
              </a:ext>
            </a:extLst>
          </p:cNvPr>
          <p:cNvGrpSpPr>
            <a:grpSpLocks noChangeAspect="1"/>
          </p:cNvGrpSpPr>
          <p:nvPr userDrawn="1"/>
        </p:nvGrpSpPr>
        <p:grpSpPr>
          <a:xfrm>
            <a:off x="8056" y="6707548"/>
            <a:ext cx="431800" cy="144027"/>
            <a:chOff x="547688" y="952500"/>
            <a:chExt cx="12190413" cy="4067175"/>
          </a:xfrm>
        </p:grpSpPr>
        <p:sp>
          <p:nvSpPr>
            <p:cNvPr id="18" name="Rectangle 17">
              <a:extLst>
                <a:ext uri="{FF2B5EF4-FFF2-40B4-BE49-F238E27FC236}">
                  <a16:creationId xmlns:a16="http://schemas.microsoft.com/office/drawing/2014/main" id="{C8414641-DA5A-BDF2-889C-1430A63E358C}"/>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9" name="Freeform 7">
              <a:extLst>
                <a:ext uri="{FF2B5EF4-FFF2-40B4-BE49-F238E27FC236}">
                  <a16:creationId xmlns:a16="http://schemas.microsoft.com/office/drawing/2014/main" id="{6CAA72E6-FAE3-6740-34C0-7A08091254BD}"/>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0" name="Freeform 8">
              <a:extLst>
                <a:ext uri="{FF2B5EF4-FFF2-40B4-BE49-F238E27FC236}">
                  <a16:creationId xmlns:a16="http://schemas.microsoft.com/office/drawing/2014/main" id="{0EE70422-5E10-8634-79CC-15428116CD0F}"/>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1" name="Freeform 9">
              <a:extLst>
                <a:ext uri="{FF2B5EF4-FFF2-40B4-BE49-F238E27FC236}">
                  <a16:creationId xmlns:a16="http://schemas.microsoft.com/office/drawing/2014/main" id="{F9B9866C-878A-3BAE-D601-6317EEEB78A9}"/>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2" name="Freeform 10">
              <a:extLst>
                <a:ext uri="{FF2B5EF4-FFF2-40B4-BE49-F238E27FC236}">
                  <a16:creationId xmlns:a16="http://schemas.microsoft.com/office/drawing/2014/main" id="{20DD7C9B-A88C-7ECB-27AE-CB4579CDB90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3" name="Freeform 10">
              <a:extLst>
                <a:ext uri="{FF2B5EF4-FFF2-40B4-BE49-F238E27FC236}">
                  <a16:creationId xmlns:a16="http://schemas.microsoft.com/office/drawing/2014/main" id="{084B2859-A58F-9171-5328-94CFD162F589}"/>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4" name="Freeform 11">
              <a:extLst>
                <a:ext uri="{FF2B5EF4-FFF2-40B4-BE49-F238E27FC236}">
                  <a16:creationId xmlns:a16="http://schemas.microsoft.com/office/drawing/2014/main" id="{DC1829C2-6CD9-FE35-3F45-EEC10E2F169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11" name="Text Placeholder 2"/>
          <p:cNvSpPr>
            <a:spLocks noGrp="1"/>
          </p:cNvSpPr>
          <p:nvPr>
            <p:ph type="body" idx="1" hasCustomPrompt="1"/>
          </p:nvPr>
        </p:nvSpPr>
        <p:spPr bwMode="auto">
          <a:xfrm>
            <a:off x="254461" y="2552972"/>
            <a:ext cx="6814652" cy="1015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88913" indent="-188913" algn="l" rtl="0" eaLnBrk="1" fontAlgn="base" hangingPunct="1">
              <a:spcBef>
                <a:spcPct val="20000"/>
              </a:spcBef>
              <a:spcAft>
                <a:spcPct val="0"/>
              </a:spcAft>
              <a:buNone/>
              <a:defRPr sz="6000" b="1" baseline="0">
                <a:solidFill>
                  <a:schemeClr val="bg1"/>
                </a:solidFill>
                <a:latin typeface="+mj-lt"/>
                <a:ea typeface="+mn-ea"/>
                <a:cs typeface="+mn-cs"/>
              </a:defRPr>
            </a:lvl1pPr>
            <a:lvl2pPr marL="566738" indent="-187325" algn="l" rtl="0" eaLnBrk="1" fontAlgn="base" hangingPunct="1">
              <a:spcBef>
                <a:spcPct val="20000"/>
              </a:spcBef>
              <a:spcAft>
                <a:spcPct val="0"/>
              </a:spcAft>
              <a:buChar char="»"/>
              <a:defRPr sz="2400">
                <a:solidFill>
                  <a:schemeClr val="bg1"/>
                </a:solidFill>
                <a:latin typeface="+mj-lt"/>
              </a:defRPr>
            </a:lvl2pPr>
            <a:lvl3pPr marL="955675" indent="-1588" algn="l" rtl="0" eaLnBrk="1" fontAlgn="base" hangingPunct="1">
              <a:spcBef>
                <a:spcPct val="20000"/>
              </a:spcBef>
              <a:spcAft>
                <a:spcPct val="0"/>
              </a:spcAft>
              <a:buChar char="•"/>
              <a:defRPr sz="2400">
                <a:solidFill>
                  <a:schemeClr val="bg1"/>
                </a:solidFill>
                <a:latin typeface="+mj-lt"/>
              </a:defRPr>
            </a:lvl3pPr>
            <a:lvl4pPr marL="1146175" indent="1588" algn="l" rtl="0" eaLnBrk="1" fontAlgn="base" hangingPunct="1">
              <a:spcBef>
                <a:spcPct val="20000"/>
              </a:spcBef>
              <a:spcAft>
                <a:spcPct val="0"/>
              </a:spcAft>
              <a:buChar char="–"/>
              <a:defRPr sz="2400">
                <a:solidFill>
                  <a:schemeClr val="bg1"/>
                </a:solidFill>
                <a:latin typeface="+mj-lt"/>
              </a:defRPr>
            </a:lvl4pPr>
            <a:lvl5pPr marL="1520825" indent="307975" algn="l" rtl="0" eaLnBrk="1" fontAlgn="base" hangingPunct="1">
              <a:spcBef>
                <a:spcPct val="20000"/>
              </a:spcBef>
              <a:spcAft>
                <a:spcPct val="0"/>
              </a:spcAft>
              <a:buChar char="»"/>
              <a:defRPr sz="2400">
                <a:solidFill>
                  <a:schemeClr val="bg1"/>
                </a:solidFill>
                <a:latin typeface="+mj-lt"/>
              </a:defRPr>
            </a:lvl5pPr>
            <a:lvl6pPr marL="1978025" algn="l" rtl="0" eaLnBrk="1" fontAlgn="base" hangingPunct="1">
              <a:spcBef>
                <a:spcPct val="20000"/>
              </a:spcBef>
              <a:spcAft>
                <a:spcPct val="0"/>
              </a:spcAft>
              <a:buChar char="»"/>
              <a:defRPr sz="2400">
                <a:solidFill>
                  <a:schemeClr val="tx1"/>
                </a:solidFill>
                <a:latin typeface="+mn-lt"/>
              </a:defRPr>
            </a:lvl6pPr>
            <a:lvl7pPr marL="2435225" algn="l" rtl="0" eaLnBrk="1" fontAlgn="base" hangingPunct="1">
              <a:spcBef>
                <a:spcPct val="20000"/>
              </a:spcBef>
              <a:spcAft>
                <a:spcPct val="0"/>
              </a:spcAft>
              <a:buChar char="»"/>
              <a:defRPr sz="2400">
                <a:solidFill>
                  <a:schemeClr val="tx1"/>
                </a:solidFill>
                <a:latin typeface="+mn-lt"/>
              </a:defRPr>
            </a:lvl7pPr>
            <a:lvl8pPr marL="2892425" algn="l" rtl="0" eaLnBrk="1" fontAlgn="base" hangingPunct="1">
              <a:spcBef>
                <a:spcPct val="20000"/>
              </a:spcBef>
              <a:spcAft>
                <a:spcPct val="0"/>
              </a:spcAft>
              <a:buChar char="»"/>
              <a:defRPr sz="2400">
                <a:solidFill>
                  <a:schemeClr val="tx1"/>
                </a:solidFill>
                <a:latin typeface="+mn-lt"/>
              </a:defRPr>
            </a:lvl8pPr>
            <a:lvl9pPr marL="3349625" algn="l" rtl="0" eaLnBrk="1" fontAlgn="base" hangingPunct="1">
              <a:spcBef>
                <a:spcPct val="20000"/>
              </a:spcBef>
              <a:spcAft>
                <a:spcPct val="0"/>
              </a:spcAft>
              <a:buChar char="»"/>
              <a:defRPr sz="2400">
                <a:solidFill>
                  <a:schemeClr val="tx1"/>
                </a:solidFill>
                <a:latin typeface="+mn-lt"/>
              </a:defRPr>
            </a:lvl9pPr>
          </a:lstStyle>
          <a:p>
            <a:r>
              <a:rPr lang="en-US"/>
              <a:t>KUT - NexBill</a:t>
            </a:r>
          </a:p>
        </p:txBody>
      </p:sp>
      <p:sp>
        <p:nvSpPr>
          <p:cNvPr id="2" name="Slide Number Placeholder 1">
            <a:extLst>
              <a:ext uri="{FF2B5EF4-FFF2-40B4-BE49-F238E27FC236}">
                <a16:creationId xmlns:a16="http://schemas.microsoft.com/office/drawing/2014/main" id="{E01CC465-FDF1-C0A2-5A83-FB03B2F0F4B6}"/>
              </a:ext>
            </a:extLst>
          </p:cNvPr>
          <p:cNvSpPr>
            <a:spLocks noGrp="1"/>
          </p:cNvSpPr>
          <p:nvPr>
            <p:ph type="sldNum" sz="quarter" idx="10"/>
          </p:nvPr>
        </p:nvSpPr>
        <p:spPr>
          <a:xfrm>
            <a:off x="11744918" y="6699529"/>
            <a:ext cx="439026" cy="155448"/>
          </a:xfrm>
          <a:prstGeom prst="rect">
            <a:avLst/>
          </a:prstGeom>
        </p:spPr>
        <p:txBody>
          <a:bodyPr anchor="ctr"/>
          <a:lstStyle>
            <a:lvl1pPr>
              <a:defRPr sz="1000">
                <a:solidFill>
                  <a:schemeClr val="bg1"/>
                </a:solidFill>
              </a:defRPr>
            </a:lvl1pPr>
          </a:lstStyle>
          <a:p>
            <a:fld id="{6D22F896-40B5-4ADD-8801-0D06FADFA095}" type="slidenum">
              <a:rPr lang="en-US" smtClean="0"/>
              <a:pPr/>
              <a:t>‹#›</a:t>
            </a:fld>
            <a:endParaRPr lang="en-US" sz="1000"/>
          </a:p>
        </p:txBody>
      </p:sp>
      <p:sp>
        <p:nvSpPr>
          <p:cNvPr id="3" name="Text Placeholder 2">
            <a:extLst>
              <a:ext uri="{FF2B5EF4-FFF2-40B4-BE49-F238E27FC236}">
                <a16:creationId xmlns:a16="http://schemas.microsoft.com/office/drawing/2014/main" id="{CE89EC52-10EA-6F7F-FB58-FAA71F92484F}"/>
              </a:ext>
            </a:extLst>
          </p:cNvPr>
          <p:cNvSpPr>
            <a:spLocks noGrp="1"/>
          </p:cNvSpPr>
          <p:nvPr>
            <p:ph type="body" idx="11" hasCustomPrompt="1"/>
          </p:nvPr>
        </p:nvSpPr>
        <p:spPr bwMode="white">
          <a:xfrm>
            <a:off x="750528" y="5034621"/>
            <a:ext cx="6265272" cy="133626"/>
          </a:xfrm>
          <a:prstGeom prst="rect">
            <a:avLst/>
          </a:prstGeom>
        </p:spPr>
        <p:txBody>
          <a:bodyPr wrap="square" lIns="0" tIns="0" rIns="0" bIns="0" anchor="t" anchorCtr="0">
            <a:spAutoFit/>
          </a:bodyPr>
          <a:lstStyle>
            <a:lvl1pPr marL="0" indent="0">
              <a:lnSpc>
                <a:spcPct val="85000"/>
              </a:lnSpc>
              <a:spcBef>
                <a:spcPts val="0"/>
              </a:spcBef>
              <a:buNone/>
              <a:defRPr sz="1000" b="1" spc="0" baseline="0">
                <a:solidFill>
                  <a:schemeClr val="bg1"/>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&gt; Duration: 	2 Hours</a:t>
            </a:r>
          </a:p>
        </p:txBody>
      </p:sp>
    </p:spTree>
    <p:extLst>
      <p:ext uri="{BB962C8B-B14F-4D97-AF65-F5344CB8AC3E}">
        <p14:creationId xmlns:p14="http://schemas.microsoft.com/office/powerpoint/2010/main" val="2807885741"/>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ection Header_White_Alt">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D5C4C27E-C20F-40CB-85CF-27223BC9C5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36"/>
            <a:ext cx="12192000" cy="6857929"/>
          </a:xfrm>
          <a:prstGeom prst="rect">
            <a:avLst/>
          </a:prstGeom>
        </p:spPr>
      </p:pic>
      <p:sp>
        <p:nvSpPr>
          <p:cNvPr id="46" name="Title 16"/>
          <p:cNvSpPr>
            <a:spLocks noGrp="1"/>
          </p:cNvSpPr>
          <p:nvPr>
            <p:ph type="title" hasCustomPrompt="1"/>
          </p:nvPr>
        </p:nvSpPr>
        <p:spPr bwMode="gray">
          <a:xfrm>
            <a:off x="488931" y="421733"/>
            <a:ext cx="6265272" cy="802548"/>
          </a:xfrm>
          <a:prstGeom prst="rect">
            <a:avLst/>
          </a:prstGeom>
        </p:spPr>
        <p:txBody>
          <a:bodyPr lIns="0" tIns="0" rIns="0" bIns="0" anchor="ctr" anchorCtr="0"/>
          <a:lstStyle>
            <a:lvl1pPr marL="0" algn="l" defTabSz="1218987" rtl="0" eaLnBrk="1" latinLnBrk="0" hangingPunct="1">
              <a:lnSpc>
                <a:spcPct val="75000"/>
              </a:lnSpc>
              <a:spcBef>
                <a:spcPct val="0"/>
              </a:spcBef>
              <a:buNone/>
              <a:defRPr lang="en-US" sz="6000" b="1" kern="1200" cap="none" spc="-150" baseline="0" dirty="0">
                <a:solidFill>
                  <a:schemeClr val="accent4"/>
                </a:solidFill>
                <a:latin typeface="+mj-lt"/>
                <a:ea typeface="+mn-ea"/>
                <a:cs typeface="Arial" pitchFamily="34" charset="0"/>
              </a:defRPr>
            </a:lvl1pPr>
          </a:lstStyle>
          <a:p>
            <a:r>
              <a:rPr lang="en-US"/>
              <a:t>Agenda</a:t>
            </a:r>
          </a:p>
        </p:txBody>
      </p:sp>
      <p:pic>
        <p:nvPicPr>
          <p:cNvPr id="8" name="Picture 7">
            <a:extLst>
              <a:ext uri="{FF2B5EF4-FFF2-40B4-BE49-F238E27FC236}">
                <a16:creationId xmlns:a16="http://schemas.microsoft.com/office/drawing/2014/main" id="{47A2EBAF-1A59-4D50-B699-5D7DD78B8D5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b="-100"/>
          <a:stretch/>
        </p:blipFill>
        <p:spPr>
          <a:xfrm flipH="1">
            <a:off x="7618809" y="35"/>
            <a:ext cx="4573191" cy="6857965"/>
          </a:xfrm>
          <a:prstGeom prst="rect">
            <a:avLst/>
          </a:prstGeom>
        </p:spPr>
      </p:pic>
      <p:sp>
        <p:nvSpPr>
          <p:cNvPr id="27" name="TextBox 15">
            <a:extLst>
              <a:ext uri="{FF2B5EF4-FFF2-40B4-BE49-F238E27FC236}">
                <a16:creationId xmlns:a16="http://schemas.microsoft.com/office/drawing/2014/main" id="{850231C0-32BF-9369-FF43-C36CC35E82F4}"/>
              </a:ext>
            </a:extLst>
          </p:cNvPr>
          <p:cNvSpPr txBox="1"/>
          <p:nvPr userDrawn="1"/>
        </p:nvSpPr>
        <p:spPr>
          <a:xfrm>
            <a:off x="488931" y="6717076"/>
            <a:ext cx="1851044" cy="123111"/>
          </a:xfrm>
          <a:prstGeom prst="rect">
            <a:avLst/>
          </a:prstGeom>
          <a:noFill/>
        </p:spPr>
        <p:txBody>
          <a:bodyPr wrap="square" lIns="0" tIns="0" rIns="0" bIns="0" rtlCol="0">
            <a:spAutoFit/>
          </a:bodyPr>
          <a:lstStyle/>
          <a:p>
            <a:r>
              <a:rPr lang="en-US" sz="800">
                <a:solidFill>
                  <a:schemeClr val="bg1"/>
                </a:solidFill>
                <a:latin typeface="+mn-lt"/>
                <a:cs typeface="Arial" pitchFamily="34" charset="0"/>
              </a:rPr>
              <a:t>2024 Lenovo Internal. All rights reserved. </a:t>
            </a:r>
          </a:p>
        </p:txBody>
      </p:sp>
      <p:grpSp>
        <p:nvGrpSpPr>
          <p:cNvPr id="28" name="Group 16">
            <a:extLst>
              <a:ext uri="{FF2B5EF4-FFF2-40B4-BE49-F238E27FC236}">
                <a16:creationId xmlns:a16="http://schemas.microsoft.com/office/drawing/2014/main" id="{8AE0C1B1-DB7A-617E-53BC-85095A2E9E72}"/>
              </a:ext>
            </a:extLst>
          </p:cNvPr>
          <p:cNvGrpSpPr>
            <a:grpSpLocks noChangeAspect="1"/>
          </p:cNvGrpSpPr>
          <p:nvPr userDrawn="1"/>
        </p:nvGrpSpPr>
        <p:grpSpPr>
          <a:xfrm>
            <a:off x="8056" y="6707548"/>
            <a:ext cx="431800" cy="144027"/>
            <a:chOff x="547688" y="952500"/>
            <a:chExt cx="12190413" cy="4067175"/>
          </a:xfrm>
        </p:grpSpPr>
        <p:sp>
          <p:nvSpPr>
            <p:cNvPr id="29" name="Rectangle 17">
              <a:extLst>
                <a:ext uri="{FF2B5EF4-FFF2-40B4-BE49-F238E27FC236}">
                  <a16:creationId xmlns:a16="http://schemas.microsoft.com/office/drawing/2014/main" id="{26DFB5A9-A29E-3F1A-571F-D3DA1690D6F8}"/>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0" name="Freeform 7">
              <a:extLst>
                <a:ext uri="{FF2B5EF4-FFF2-40B4-BE49-F238E27FC236}">
                  <a16:creationId xmlns:a16="http://schemas.microsoft.com/office/drawing/2014/main" id="{4BBDCC8F-DF14-7642-64E4-0D6CB8F0B53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 name="Freeform 8">
              <a:extLst>
                <a:ext uri="{FF2B5EF4-FFF2-40B4-BE49-F238E27FC236}">
                  <a16:creationId xmlns:a16="http://schemas.microsoft.com/office/drawing/2014/main" id="{4CFBFDE4-0DDD-954B-C969-FB3CEF284B1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 name="Freeform 9">
              <a:extLst>
                <a:ext uri="{FF2B5EF4-FFF2-40B4-BE49-F238E27FC236}">
                  <a16:creationId xmlns:a16="http://schemas.microsoft.com/office/drawing/2014/main" id="{814767DD-A39E-6304-AA00-D21A1EBC02AA}"/>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 name="Freeform 10">
              <a:extLst>
                <a:ext uri="{FF2B5EF4-FFF2-40B4-BE49-F238E27FC236}">
                  <a16:creationId xmlns:a16="http://schemas.microsoft.com/office/drawing/2014/main" id="{ACB333CB-BBAF-60C9-7F36-975D2A9D5CBB}"/>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 name="Freeform 10">
              <a:extLst>
                <a:ext uri="{FF2B5EF4-FFF2-40B4-BE49-F238E27FC236}">
                  <a16:creationId xmlns:a16="http://schemas.microsoft.com/office/drawing/2014/main" id="{825F74C1-45DA-FFD4-2288-302D3E52F52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 name="Freeform 11">
              <a:extLst>
                <a:ext uri="{FF2B5EF4-FFF2-40B4-BE49-F238E27FC236}">
                  <a16:creationId xmlns:a16="http://schemas.microsoft.com/office/drawing/2014/main" id="{196D35E9-2681-B54D-500E-E66949B8003D}"/>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37" name="Slide Number Placeholder 1">
            <a:extLst>
              <a:ext uri="{FF2B5EF4-FFF2-40B4-BE49-F238E27FC236}">
                <a16:creationId xmlns:a16="http://schemas.microsoft.com/office/drawing/2014/main" id="{22893BCE-2015-1BCB-81F1-136D5A0B5FD7}"/>
              </a:ext>
            </a:extLst>
          </p:cNvPr>
          <p:cNvSpPr>
            <a:spLocks noGrp="1"/>
          </p:cNvSpPr>
          <p:nvPr>
            <p:ph type="sldNum" sz="quarter" idx="10"/>
          </p:nvPr>
        </p:nvSpPr>
        <p:spPr>
          <a:xfrm>
            <a:off x="11744918" y="6699529"/>
            <a:ext cx="439026" cy="155448"/>
          </a:xfrm>
          <a:prstGeom prst="rect">
            <a:avLst/>
          </a:prstGeom>
        </p:spPr>
        <p:txBody>
          <a:bodyPr anchor="ctr"/>
          <a:lstStyle>
            <a:lvl1pPr>
              <a:defRPr sz="1000">
                <a:solidFill>
                  <a:schemeClr val="bg1"/>
                </a:solidFill>
              </a:defRPr>
            </a:lvl1pPr>
          </a:lstStyle>
          <a:p>
            <a:fld id="{6D22F896-40B5-4ADD-8801-0D06FADFA095}" type="slidenum">
              <a:rPr lang="en-US" smtClean="0"/>
              <a:pPr/>
              <a:t>‹#›</a:t>
            </a:fld>
            <a:endParaRPr lang="en-US" sz="1000"/>
          </a:p>
        </p:txBody>
      </p:sp>
      <p:sp>
        <p:nvSpPr>
          <p:cNvPr id="43" name="文本占位符 42">
            <a:extLst>
              <a:ext uri="{FF2B5EF4-FFF2-40B4-BE49-F238E27FC236}">
                <a16:creationId xmlns:a16="http://schemas.microsoft.com/office/drawing/2014/main" id="{A9450F77-2449-884F-1AD6-75484E1E6332}"/>
              </a:ext>
            </a:extLst>
          </p:cNvPr>
          <p:cNvSpPr>
            <a:spLocks noGrp="1"/>
          </p:cNvSpPr>
          <p:nvPr>
            <p:ph type="body" sz="quarter" idx="12" hasCustomPrompt="1"/>
          </p:nvPr>
        </p:nvSpPr>
        <p:spPr>
          <a:xfrm>
            <a:off x="488932" y="1370965"/>
            <a:ext cx="6265272" cy="914400"/>
          </a:xfrm>
          <a:prstGeom prst="rect">
            <a:avLst/>
          </a:prstGeo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buNone/>
              <a:defRPr sz="1200">
                <a:latin typeface="+mn-lt"/>
              </a:defRPr>
            </a:lvl5pPr>
          </a:lstStyle>
          <a:p>
            <a:pPr lvl="0"/>
            <a:r>
              <a:rPr lang="en-US" altLang="zh-CN"/>
              <a:t>1</a:t>
            </a:r>
          </a:p>
          <a:p>
            <a:pPr lvl="1"/>
            <a:r>
              <a:rPr lang="en-US" altLang="zh-CN" err="1"/>
              <a:t>Ddd</a:t>
            </a:r>
            <a:endParaRPr lang="en-US" altLang="zh-CN"/>
          </a:p>
          <a:p>
            <a:pPr lvl="1"/>
            <a:endParaRPr lang="en-US" altLang="zh-CN"/>
          </a:p>
        </p:txBody>
      </p:sp>
    </p:spTree>
    <p:custDataLst>
      <p:tags r:id="rId1"/>
    </p:custDataLst>
    <p:extLst>
      <p:ext uri="{BB962C8B-B14F-4D97-AF65-F5344CB8AC3E}">
        <p14:creationId xmlns:p14="http://schemas.microsoft.com/office/powerpoint/2010/main" val="1128847812"/>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Section Header_White_Alt">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D5C4C27E-C20F-40CB-85CF-27223BC9C5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36"/>
            <a:ext cx="12192000" cy="6857929"/>
          </a:xfrm>
          <a:prstGeom prst="rect">
            <a:avLst/>
          </a:prstGeom>
        </p:spPr>
      </p:pic>
      <p:sp>
        <p:nvSpPr>
          <p:cNvPr id="46" name="Title 16"/>
          <p:cNvSpPr>
            <a:spLocks noGrp="1"/>
          </p:cNvSpPr>
          <p:nvPr>
            <p:ph type="title" hasCustomPrompt="1"/>
          </p:nvPr>
        </p:nvSpPr>
        <p:spPr bwMode="gray">
          <a:xfrm>
            <a:off x="750528" y="1549493"/>
            <a:ext cx="6265272" cy="965108"/>
          </a:xfrm>
          <a:prstGeom prst="rect">
            <a:avLst/>
          </a:prstGeom>
        </p:spPr>
        <p:txBody>
          <a:bodyPr lIns="0" tIns="0" rIns="0" bIns="0" anchor="ctr" anchorCtr="0"/>
          <a:lstStyle>
            <a:lvl1pPr marL="0" algn="l" defTabSz="1218987" rtl="0" eaLnBrk="1" latinLnBrk="0" hangingPunct="1">
              <a:lnSpc>
                <a:spcPct val="75000"/>
              </a:lnSpc>
              <a:spcBef>
                <a:spcPct val="0"/>
              </a:spcBef>
              <a:buNone/>
              <a:defRPr lang="en-US" sz="6000" b="1" kern="1200" cap="none" spc="-150" baseline="0" dirty="0">
                <a:solidFill>
                  <a:schemeClr val="accent4"/>
                </a:solidFill>
                <a:latin typeface="Aptos" panose="020B0004020202020204"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528" y="5047958"/>
            <a:ext cx="6265272" cy="133626"/>
          </a:xfrm>
          <a:prstGeom prst="rect">
            <a:avLst/>
          </a:prstGeom>
        </p:spPr>
        <p:txBody>
          <a:bodyPr wrap="square" lIns="0" tIns="0" rIns="0" bIns="0" anchor="ctr" anchorCtr="0">
            <a:spAutoFit/>
          </a:bodyPr>
          <a:lstStyle>
            <a:lvl1pPr marL="0" indent="0">
              <a:lnSpc>
                <a:spcPct val="85000"/>
              </a:lnSpc>
              <a:spcBef>
                <a:spcPts val="0"/>
              </a:spcBef>
              <a:buNone/>
              <a:defRPr sz="1000" b="1" spc="0" baseline="0">
                <a:solidFill>
                  <a:schemeClr val="accent4"/>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a:t>
            </a:r>
          </a:p>
        </p:txBody>
      </p:sp>
      <p:pic>
        <p:nvPicPr>
          <p:cNvPr id="8" name="Picture 7">
            <a:extLst>
              <a:ext uri="{FF2B5EF4-FFF2-40B4-BE49-F238E27FC236}">
                <a16:creationId xmlns:a16="http://schemas.microsoft.com/office/drawing/2014/main" id="{47A2EBAF-1A59-4D50-B699-5D7DD78B8D5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b="-100"/>
          <a:stretch/>
        </p:blipFill>
        <p:spPr>
          <a:xfrm flipH="1">
            <a:off x="7618809" y="35"/>
            <a:ext cx="4573191" cy="6857965"/>
          </a:xfrm>
          <a:prstGeom prst="rect">
            <a:avLst/>
          </a:prstGeom>
        </p:spPr>
      </p:pic>
      <p:sp>
        <p:nvSpPr>
          <p:cNvPr id="14" name="Text Placeholder 2">
            <a:extLst>
              <a:ext uri="{FF2B5EF4-FFF2-40B4-BE49-F238E27FC236}">
                <a16:creationId xmlns:a16="http://schemas.microsoft.com/office/drawing/2014/main" id="{4D5A5AEB-CB08-E119-F865-2CDFB92D0BB7}"/>
              </a:ext>
            </a:extLst>
          </p:cNvPr>
          <p:cNvSpPr>
            <a:spLocks noGrp="1"/>
          </p:cNvSpPr>
          <p:nvPr>
            <p:ph type="body" idx="11" hasCustomPrompt="1"/>
          </p:nvPr>
        </p:nvSpPr>
        <p:spPr bwMode="white">
          <a:xfrm>
            <a:off x="750528" y="5517488"/>
            <a:ext cx="6265272" cy="133626"/>
          </a:xfrm>
          <a:prstGeom prst="rect">
            <a:avLst/>
          </a:prstGeom>
        </p:spPr>
        <p:txBody>
          <a:bodyPr wrap="square" lIns="0" tIns="0" rIns="0" bIns="0" anchor="ctr" anchorCtr="0">
            <a:spAutoFit/>
          </a:bodyPr>
          <a:lstStyle>
            <a:lvl1pPr marL="0" indent="0">
              <a:lnSpc>
                <a:spcPct val="85000"/>
              </a:lnSpc>
              <a:spcBef>
                <a:spcPts val="0"/>
              </a:spcBef>
              <a:buNone/>
              <a:defRPr sz="1000" b="1" spc="0" baseline="0">
                <a:solidFill>
                  <a:schemeClr val="accent4"/>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Duration: </a:t>
            </a:r>
          </a:p>
        </p:txBody>
      </p:sp>
      <p:sp>
        <p:nvSpPr>
          <p:cNvPr id="27" name="TextBox 15">
            <a:extLst>
              <a:ext uri="{FF2B5EF4-FFF2-40B4-BE49-F238E27FC236}">
                <a16:creationId xmlns:a16="http://schemas.microsoft.com/office/drawing/2014/main" id="{850231C0-32BF-9369-FF43-C36CC35E82F4}"/>
              </a:ext>
            </a:extLst>
          </p:cNvPr>
          <p:cNvSpPr txBox="1"/>
          <p:nvPr userDrawn="1"/>
        </p:nvSpPr>
        <p:spPr>
          <a:xfrm>
            <a:off x="488931" y="6717076"/>
            <a:ext cx="1851044" cy="123111"/>
          </a:xfrm>
          <a:prstGeom prst="rect">
            <a:avLst/>
          </a:prstGeom>
          <a:noFill/>
        </p:spPr>
        <p:txBody>
          <a:bodyPr wrap="square" lIns="0" tIns="0" rIns="0" bIns="0" rtlCol="0">
            <a:spAutoFit/>
          </a:bodyPr>
          <a:lstStyle/>
          <a:p>
            <a:r>
              <a:rPr lang="en-US" sz="800">
                <a:solidFill>
                  <a:schemeClr val="bg1"/>
                </a:solidFill>
                <a:latin typeface="+mn-lt"/>
                <a:cs typeface="Arial" pitchFamily="34" charset="0"/>
              </a:rPr>
              <a:t>2024 Lenovo Internal. All rights reserved. </a:t>
            </a:r>
          </a:p>
        </p:txBody>
      </p:sp>
      <p:grpSp>
        <p:nvGrpSpPr>
          <p:cNvPr id="28" name="Group 16">
            <a:extLst>
              <a:ext uri="{FF2B5EF4-FFF2-40B4-BE49-F238E27FC236}">
                <a16:creationId xmlns:a16="http://schemas.microsoft.com/office/drawing/2014/main" id="{8AE0C1B1-DB7A-617E-53BC-85095A2E9E72}"/>
              </a:ext>
            </a:extLst>
          </p:cNvPr>
          <p:cNvGrpSpPr>
            <a:grpSpLocks noChangeAspect="1"/>
          </p:cNvGrpSpPr>
          <p:nvPr userDrawn="1"/>
        </p:nvGrpSpPr>
        <p:grpSpPr>
          <a:xfrm>
            <a:off x="8056" y="6707548"/>
            <a:ext cx="431800" cy="144027"/>
            <a:chOff x="547688" y="952500"/>
            <a:chExt cx="12190413" cy="4067175"/>
          </a:xfrm>
        </p:grpSpPr>
        <p:sp>
          <p:nvSpPr>
            <p:cNvPr id="29" name="Rectangle 17">
              <a:extLst>
                <a:ext uri="{FF2B5EF4-FFF2-40B4-BE49-F238E27FC236}">
                  <a16:creationId xmlns:a16="http://schemas.microsoft.com/office/drawing/2014/main" id="{26DFB5A9-A29E-3F1A-571F-D3DA1690D6F8}"/>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0" name="Freeform 7">
              <a:extLst>
                <a:ext uri="{FF2B5EF4-FFF2-40B4-BE49-F238E27FC236}">
                  <a16:creationId xmlns:a16="http://schemas.microsoft.com/office/drawing/2014/main" id="{4BBDCC8F-DF14-7642-64E4-0D6CB8F0B53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 name="Freeform 8">
              <a:extLst>
                <a:ext uri="{FF2B5EF4-FFF2-40B4-BE49-F238E27FC236}">
                  <a16:creationId xmlns:a16="http://schemas.microsoft.com/office/drawing/2014/main" id="{4CFBFDE4-0DDD-954B-C969-FB3CEF284B1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 name="Freeform 9">
              <a:extLst>
                <a:ext uri="{FF2B5EF4-FFF2-40B4-BE49-F238E27FC236}">
                  <a16:creationId xmlns:a16="http://schemas.microsoft.com/office/drawing/2014/main" id="{814767DD-A39E-6304-AA00-D21A1EBC02AA}"/>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 name="Freeform 10">
              <a:extLst>
                <a:ext uri="{FF2B5EF4-FFF2-40B4-BE49-F238E27FC236}">
                  <a16:creationId xmlns:a16="http://schemas.microsoft.com/office/drawing/2014/main" id="{ACB333CB-BBAF-60C9-7F36-975D2A9D5CBB}"/>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 name="Freeform 10">
              <a:extLst>
                <a:ext uri="{FF2B5EF4-FFF2-40B4-BE49-F238E27FC236}">
                  <a16:creationId xmlns:a16="http://schemas.microsoft.com/office/drawing/2014/main" id="{825F74C1-45DA-FFD4-2288-302D3E52F52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 name="Freeform 11">
              <a:extLst>
                <a:ext uri="{FF2B5EF4-FFF2-40B4-BE49-F238E27FC236}">
                  <a16:creationId xmlns:a16="http://schemas.microsoft.com/office/drawing/2014/main" id="{196D35E9-2681-B54D-500E-E66949B8003D}"/>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37" name="Slide Number Placeholder 1">
            <a:extLst>
              <a:ext uri="{FF2B5EF4-FFF2-40B4-BE49-F238E27FC236}">
                <a16:creationId xmlns:a16="http://schemas.microsoft.com/office/drawing/2014/main" id="{22893BCE-2015-1BCB-81F1-136D5A0B5FD7}"/>
              </a:ext>
            </a:extLst>
          </p:cNvPr>
          <p:cNvSpPr>
            <a:spLocks noGrp="1"/>
          </p:cNvSpPr>
          <p:nvPr>
            <p:ph type="sldNum" sz="quarter" idx="10"/>
          </p:nvPr>
        </p:nvSpPr>
        <p:spPr>
          <a:xfrm>
            <a:off x="11744918" y="6699529"/>
            <a:ext cx="439026" cy="155448"/>
          </a:xfrm>
          <a:prstGeom prst="rect">
            <a:avLst/>
          </a:prstGeom>
        </p:spPr>
        <p:txBody>
          <a:bodyPr anchor="ctr"/>
          <a:lstStyle>
            <a:lvl1pPr>
              <a:defRPr sz="1000">
                <a:solidFill>
                  <a:schemeClr val="bg1"/>
                </a:solidFill>
              </a:defRPr>
            </a:lvl1pPr>
          </a:lstStyle>
          <a:p>
            <a:fld id="{6D22F896-40B5-4ADD-8801-0D06FADFA095}" type="slidenum">
              <a:rPr lang="en-US" smtClean="0"/>
              <a:pPr/>
              <a:t>‹#›</a:t>
            </a:fld>
            <a:endParaRPr lang="en-US" sz="1000"/>
          </a:p>
        </p:txBody>
      </p:sp>
      <p:sp>
        <p:nvSpPr>
          <p:cNvPr id="3" name="Text Placeholder 2">
            <a:extLst>
              <a:ext uri="{FF2B5EF4-FFF2-40B4-BE49-F238E27FC236}">
                <a16:creationId xmlns:a16="http://schemas.microsoft.com/office/drawing/2014/main" id="{5652BF49-D420-CE97-441D-A75FE38A7CBD}"/>
              </a:ext>
            </a:extLst>
          </p:cNvPr>
          <p:cNvSpPr>
            <a:spLocks noGrp="1"/>
          </p:cNvSpPr>
          <p:nvPr>
            <p:ph type="body" idx="12" hasCustomPrompt="1"/>
          </p:nvPr>
        </p:nvSpPr>
        <p:spPr bwMode="white">
          <a:xfrm>
            <a:off x="750528" y="2613852"/>
            <a:ext cx="6265272" cy="2246015"/>
          </a:xfrm>
          <a:prstGeom prst="rect">
            <a:avLst/>
          </a:prstGeom>
        </p:spPr>
        <p:txBody>
          <a:bodyPr wrap="square" lIns="0" tIns="0" rIns="0" bIns="0" anchor="ctr" anchorCtr="0">
            <a:noAutofit/>
          </a:bodyPr>
          <a:lstStyle>
            <a:lvl1pPr marL="0" indent="0">
              <a:lnSpc>
                <a:spcPct val="85000"/>
              </a:lnSpc>
              <a:spcBef>
                <a:spcPts val="0"/>
              </a:spcBef>
              <a:buFont typeface="Wingdings" panose="05000000000000000000" pitchFamily="2" charset="2"/>
              <a:buChar char="Ø"/>
              <a:defRPr sz="1000" b="1" spc="0" baseline="0">
                <a:solidFill>
                  <a:schemeClr val="accent4"/>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Details Agenda</a:t>
            </a:r>
          </a:p>
          <a:p>
            <a:pPr lvl="0"/>
            <a:endParaRPr lang="en-US"/>
          </a:p>
        </p:txBody>
      </p:sp>
    </p:spTree>
    <p:custDataLst>
      <p:tags r:id="rId1"/>
    </p:custDataLst>
    <p:extLst>
      <p:ext uri="{BB962C8B-B14F-4D97-AF65-F5344CB8AC3E}">
        <p14:creationId xmlns:p14="http://schemas.microsoft.com/office/powerpoint/2010/main" val="3873900689"/>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with Subtitle Only">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auto">
          <a:xfrm>
            <a:off x="320183" y="920242"/>
            <a:ext cx="11639524" cy="5178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188913" indent="-188913" algn="l" rtl="0" eaLnBrk="1" fontAlgn="base" hangingPunct="1">
              <a:spcBef>
                <a:spcPct val="20000"/>
              </a:spcBef>
              <a:spcAft>
                <a:spcPct val="0"/>
              </a:spcAft>
              <a:buNone/>
              <a:defRPr sz="1000" b="1" baseline="0">
                <a:solidFill>
                  <a:schemeClr val="tx1"/>
                </a:solidFill>
                <a:latin typeface="Aptos" panose="020B0004020202020204" pitchFamily="34" charset="0"/>
                <a:ea typeface="+mn-ea"/>
                <a:cs typeface="+mn-cs"/>
              </a:defRPr>
            </a:lvl1pPr>
            <a:lvl2pPr marL="566738" indent="-187325" algn="l" rtl="0" eaLnBrk="1" fontAlgn="base" hangingPunct="1">
              <a:spcBef>
                <a:spcPct val="20000"/>
              </a:spcBef>
              <a:spcAft>
                <a:spcPct val="0"/>
              </a:spcAft>
              <a:buChar char="»"/>
              <a:defRPr sz="1000">
                <a:solidFill>
                  <a:schemeClr val="tx1"/>
                </a:solidFill>
                <a:latin typeface="Aptos" panose="020B0004020202020204" pitchFamily="34" charset="0"/>
              </a:defRPr>
            </a:lvl2pPr>
            <a:lvl3pPr marL="955675" indent="-1588" algn="l" rtl="0" eaLnBrk="1" fontAlgn="base" hangingPunct="1">
              <a:spcBef>
                <a:spcPct val="20000"/>
              </a:spcBef>
              <a:spcAft>
                <a:spcPct val="0"/>
              </a:spcAft>
              <a:buChar char="•"/>
              <a:defRPr sz="1000">
                <a:solidFill>
                  <a:schemeClr val="tx1"/>
                </a:solidFill>
                <a:latin typeface="Aptos" panose="020B0004020202020204" pitchFamily="34" charset="0"/>
              </a:defRPr>
            </a:lvl3pPr>
            <a:lvl4pPr marL="1146175" indent="1588" algn="l" rtl="0" eaLnBrk="1" fontAlgn="base" hangingPunct="1">
              <a:spcBef>
                <a:spcPct val="20000"/>
              </a:spcBef>
              <a:spcAft>
                <a:spcPct val="0"/>
              </a:spcAft>
              <a:buChar char="–"/>
              <a:defRPr sz="1000">
                <a:solidFill>
                  <a:schemeClr val="tx1"/>
                </a:solidFill>
                <a:latin typeface="Aptos" panose="020B0004020202020204" pitchFamily="34" charset="0"/>
              </a:defRPr>
            </a:lvl4pPr>
            <a:lvl5pPr marL="1520825" indent="307975" algn="l" rtl="0" eaLnBrk="1" fontAlgn="base" hangingPunct="1">
              <a:spcBef>
                <a:spcPct val="20000"/>
              </a:spcBef>
              <a:spcAft>
                <a:spcPct val="0"/>
              </a:spcAft>
              <a:buChar char="»"/>
              <a:defRPr sz="1000">
                <a:solidFill>
                  <a:schemeClr val="tx1"/>
                </a:solidFill>
                <a:latin typeface="Aptos" panose="020B0004020202020204" pitchFamily="34" charset="0"/>
              </a:defRPr>
            </a:lvl5pPr>
            <a:lvl6pPr marL="1978025" algn="l" rtl="0" eaLnBrk="1" fontAlgn="base" hangingPunct="1">
              <a:spcBef>
                <a:spcPct val="20000"/>
              </a:spcBef>
              <a:spcAft>
                <a:spcPct val="0"/>
              </a:spcAft>
              <a:buChar char="»"/>
              <a:defRPr sz="2400">
                <a:solidFill>
                  <a:schemeClr val="tx1"/>
                </a:solidFill>
                <a:latin typeface="+mn-lt"/>
              </a:defRPr>
            </a:lvl6pPr>
            <a:lvl7pPr marL="2435225" algn="l" rtl="0" eaLnBrk="1" fontAlgn="base" hangingPunct="1">
              <a:spcBef>
                <a:spcPct val="20000"/>
              </a:spcBef>
              <a:spcAft>
                <a:spcPct val="0"/>
              </a:spcAft>
              <a:buChar char="»"/>
              <a:defRPr sz="2400">
                <a:solidFill>
                  <a:schemeClr val="tx1"/>
                </a:solidFill>
                <a:latin typeface="+mn-lt"/>
              </a:defRPr>
            </a:lvl7pPr>
            <a:lvl8pPr marL="2892425" algn="l" rtl="0" eaLnBrk="1" fontAlgn="base" hangingPunct="1">
              <a:spcBef>
                <a:spcPct val="20000"/>
              </a:spcBef>
              <a:spcAft>
                <a:spcPct val="0"/>
              </a:spcAft>
              <a:buChar char="»"/>
              <a:defRPr sz="2400">
                <a:solidFill>
                  <a:schemeClr val="tx1"/>
                </a:solidFill>
                <a:latin typeface="+mn-lt"/>
              </a:defRPr>
            </a:lvl8pPr>
            <a:lvl9pPr marL="3349625" algn="l" rtl="0" eaLnBrk="1" fontAlgn="base" hangingPunct="1">
              <a:spcBef>
                <a:spcPct val="20000"/>
              </a:spcBef>
              <a:spcAft>
                <a:spcPct val="0"/>
              </a:spcAft>
              <a:buChar char="»"/>
              <a:defRPr sz="2400">
                <a:solidFill>
                  <a:schemeClr val="tx1"/>
                </a:solidFill>
                <a:latin typeface="+mn-lt"/>
              </a:defRPr>
            </a:lvl9pPr>
          </a:lstStyle>
          <a:p>
            <a:r>
              <a:rPr lang="en-AU"/>
              <a:t>Overall Introduction</a:t>
            </a:r>
          </a:p>
        </p:txBody>
      </p:sp>
      <p:sp>
        <p:nvSpPr>
          <p:cNvPr id="11" name="Title 28"/>
          <p:cNvSpPr>
            <a:spLocks noGrp="1"/>
          </p:cNvSpPr>
          <p:nvPr>
            <p:ph type="title" hasCustomPrompt="1"/>
          </p:nvPr>
        </p:nvSpPr>
        <p:spPr bwMode="gray">
          <a:xfrm>
            <a:off x="320182" y="230889"/>
            <a:ext cx="11639523" cy="356789"/>
          </a:xfrm>
          <a:prstGeom prst="rect">
            <a:avLst/>
          </a:prstGeom>
        </p:spPr>
        <p:txBody>
          <a:bodyPr wrap="square" lIns="0" tIns="0" rIns="0" bIns="0" anchor="t" anchorCtr="0"/>
          <a:lstStyle>
            <a:lvl1pPr marL="0" algn="l" defTabSz="1218621" rtl="0" eaLnBrk="1" latinLnBrk="0" hangingPunct="1">
              <a:lnSpc>
                <a:spcPts val="3199"/>
              </a:lnSpc>
              <a:spcBef>
                <a:spcPct val="0"/>
              </a:spcBef>
              <a:buNone/>
              <a:tabLst>
                <a:tab pos="1218621" algn="l"/>
              </a:tabLst>
              <a:defRPr lang="en-US" sz="2800" b="1" kern="1200" cap="none" spc="-150" baseline="0" dirty="0">
                <a:solidFill>
                  <a:schemeClr val="tx1"/>
                </a:solidFill>
                <a:latin typeface="Aptos" panose="020B0004020202020204" pitchFamily="34" charset="0"/>
                <a:ea typeface="+mn-ea"/>
                <a:cs typeface="Arial" pitchFamily="34" charset="0"/>
              </a:defRPr>
            </a:lvl1pPr>
          </a:lstStyle>
          <a:p>
            <a:r>
              <a:rPr lang="en-US"/>
              <a:t>Click to edit Master title style</a:t>
            </a:r>
          </a:p>
        </p:txBody>
      </p:sp>
      <p:sp>
        <p:nvSpPr>
          <p:cNvPr id="6" name="Text Placeholder 2">
            <a:extLst>
              <a:ext uri="{FF2B5EF4-FFF2-40B4-BE49-F238E27FC236}">
                <a16:creationId xmlns:a16="http://schemas.microsoft.com/office/drawing/2014/main" id="{21FAFE8A-10F3-DED7-D32A-25A8A43F8C7F}"/>
              </a:ext>
            </a:extLst>
          </p:cNvPr>
          <p:cNvSpPr>
            <a:spLocks noGrp="1"/>
          </p:cNvSpPr>
          <p:nvPr>
            <p:ph type="body" idx="12" hasCustomPrompt="1"/>
          </p:nvPr>
        </p:nvSpPr>
        <p:spPr bwMode="auto">
          <a:xfrm>
            <a:off x="8733124" y="1554884"/>
            <a:ext cx="3226581" cy="48136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188913" indent="-188913" algn="l" rtl="0" eaLnBrk="1" fontAlgn="base" hangingPunct="1">
              <a:spcBef>
                <a:spcPct val="20000"/>
              </a:spcBef>
              <a:spcAft>
                <a:spcPct val="0"/>
              </a:spcAft>
              <a:buNone/>
              <a:defRPr sz="1000" b="1" baseline="0">
                <a:solidFill>
                  <a:schemeClr val="tx1"/>
                </a:solidFill>
                <a:latin typeface="Aptos" panose="020B0004020202020204" pitchFamily="34" charset="0"/>
                <a:ea typeface="+mn-ea"/>
                <a:cs typeface="+mn-cs"/>
              </a:defRPr>
            </a:lvl1pPr>
            <a:lvl2pPr marL="566738" indent="-187325" algn="l" rtl="0" eaLnBrk="1" fontAlgn="base" hangingPunct="1">
              <a:spcBef>
                <a:spcPct val="20000"/>
              </a:spcBef>
              <a:spcAft>
                <a:spcPct val="0"/>
              </a:spcAft>
              <a:buChar char="»"/>
              <a:defRPr sz="1000">
                <a:solidFill>
                  <a:schemeClr val="tx1"/>
                </a:solidFill>
                <a:latin typeface="Aptos" panose="020B0004020202020204" pitchFamily="34" charset="0"/>
              </a:defRPr>
            </a:lvl2pPr>
            <a:lvl3pPr marL="955675" indent="-1588" algn="l" rtl="0" eaLnBrk="1" fontAlgn="base" hangingPunct="1">
              <a:spcBef>
                <a:spcPct val="20000"/>
              </a:spcBef>
              <a:spcAft>
                <a:spcPct val="0"/>
              </a:spcAft>
              <a:buChar char="•"/>
              <a:defRPr sz="1000">
                <a:solidFill>
                  <a:schemeClr val="tx1"/>
                </a:solidFill>
                <a:latin typeface="Aptos" panose="020B0004020202020204" pitchFamily="34" charset="0"/>
              </a:defRPr>
            </a:lvl3pPr>
            <a:lvl4pPr marL="1146175" indent="1588" algn="l" rtl="0" eaLnBrk="1" fontAlgn="base" hangingPunct="1">
              <a:spcBef>
                <a:spcPct val="20000"/>
              </a:spcBef>
              <a:spcAft>
                <a:spcPct val="0"/>
              </a:spcAft>
              <a:buChar char="–"/>
              <a:defRPr sz="1000">
                <a:solidFill>
                  <a:schemeClr val="tx1"/>
                </a:solidFill>
                <a:latin typeface="Aptos" panose="020B0004020202020204" pitchFamily="34" charset="0"/>
              </a:defRPr>
            </a:lvl4pPr>
            <a:lvl5pPr marL="1520825" indent="307975" algn="l" rtl="0" eaLnBrk="1" fontAlgn="base" hangingPunct="1">
              <a:spcBef>
                <a:spcPct val="20000"/>
              </a:spcBef>
              <a:spcAft>
                <a:spcPct val="0"/>
              </a:spcAft>
              <a:buChar char="»"/>
              <a:defRPr sz="1000">
                <a:solidFill>
                  <a:schemeClr val="tx1"/>
                </a:solidFill>
                <a:latin typeface="Aptos" panose="020B0004020202020204" pitchFamily="34" charset="0"/>
              </a:defRPr>
            </a:lvl5pPr>
            <a:lvl6pPr marL="1978025" algn="l" rtl="0" eaLnBrk="1" fontAlgn="base" hangingPunct="1">
              <a:spcBef>
                <a:spcPct val="20000"/>
              </a:spcBef>
              <a:spcAft>
                <a:spcPct val="0"/>
              </a:spcAft>
              <a:buChar char="»"/>
              <a:defRPr sz="2400">
                <a:solidFill>
                  <a:schemeClr val="tx1"/>
                </a:solidFill>
                <a:latin typeface="+mn-lt"/>
              </a:defRPr>
            </a:lvl6pPr>
            <a:lvl7pPr marL="2435225" algn="l" rtl="0" eaLnBrk="1" fontAlgn="base" hangingPunct="1">
              <a:spcBef>
                <a:spcPct val="20000"/>
              </a:spcBef>
              <a:spcAft>
                <a:spcPct val="0"/>
              </a:spcAft>
              <a:buChar char="»"/>
              <a:defRPr sz="2400">
                <a:solidFill>
                  <a:schemeClr val="tx1"/>
                </a:solidFill>
                <a:latin typeface="+mn-lt"/>
              </a:defRPr>
            </a:lvl7pPr>
            <a:lvl8pPr marL="2892425" algn="l" rtl="0" eaLnBrk="1" fontAlgn="base" hangingPunct="1">
              <a:spcBef>
                <a:spcPct val="20000"/>
              </a:spcBef>
              <a:spcAft>
                <a:spcPct val="0"/>
              </a:spcAft>
              <a:buChar char="»"/>
              <a:defRPr sz="2400">
                <a:solidFill>
                  <a:schemeClr val="tx1"/>
                </a:solidFill>
                <a:latin typeface="+mn-lt"/>
              </a:defRPr>
            </a:lvl8pPr>
            <a:lvl9pPr marL="3349625" algn="l" rtl="0" eaLnBrk="1" fontAlgn="base" hangingPunct="1">
              <a:spcBef>
                <a:spcPct val="20000"/>
              </a:spcBef>
              <a:spcAft>
                <a:spcPct val="0"/>
              </a:spcAft>
              <a:buChar char="»"/>
              <a:defRPr sz="2400">
                <a:solidFill>
                  <a:schemeClr val="tx1"/>
                </a:solidFill>
                <a:latin typeface="+mn-lt"/>
              </a:defRPr>
            </a:lvl9pPr>
          </a:lstStyle>
          <a:p>
            <a:r>
              <a:rPr lang="en-AU"/>
              <a:t>Function Introduction</a:t>
            </a:r>
          </a:p>
        </p:txBody>
      </p:sp>
      <p:sp>
        <p:nvSpPr>
          <p:cNvPr id="8" name="图片占位符 7">
            <a:extLst>
              <a:ext uri="{FF2B5EF4-FFF2-40B4-BE49-F238E27FC236}">
                <a16:creationId xmlns:a16="http://schemas.microsoft.com/office/drawing/2014/main" id="{BFD94CE8-25D3-489C-81EB-2EEE81D7F3DC}"/>
              </a:ext>
            </a:extLst>
          </p:cNvPr>
          <p:cNvSpPr>
            <a:spLocks noGrp="1"/>
          </p:cNvSpPr>
          <p:nvPr>
            <p:ph type="pic" sz="quarter" idx="13"/>
          </p:nvPr>
        </p:nvSpPr>
        <p:spPr>
          <a:xfrm>
            <a:off x="320182" y="1554884"/>
            <a:ext cx="8199448" cy="4813689"/>
          </a:xfrm>
          <a:prstGeom prst="rect">
            <a:avLst/>
          </a:prstGeom>
        </p:spPr>
        <p:txBody>
          <a:bodyPr/>
          <a:lstStyle/>
          <a:p>
            <a:endParaRPr lang="zh-CN" altLang="en-US"/>
          </a:p>
        </p:txBody>
      </p:sp>
      <p:sp>
        <p:nvSpPr>
          <p:cNvPr id="9" name="TextBox 21">
            <a:extLst>
              <a:ext uri="{FF2B5EF4-FFF2-40B4-BE49-F238E27FC236}">
                <a16:creationId xmlns:a16="http://schemas.microsoft.com/office/drawing/2014/main" id="{9104109D-53AE-42A7-C1EA-FEC31190B050}"/>
              </a:ext>
            </a:extLst>
          </p:cNvPr>
          <p:cNvSpPr txBox="1"/>
          <p:nvPr userDrawn="1"/>
        </p:nvSpPr>
        <p:spPr>
          <a:xfrm>
            <a:off x="488396" y="6716704"/>
            <a:ext cx="2257445" cy="123111"/>
          </a:xfrm>
          <a:prstGeom prst="rect">
            <a:avLst/>
          </a:prstGeom>
          <a:noFill/>
        </p:spPr>
        <p:txBody>
          <a:bodyPr wrap="square" lIns="0" tIns="0" rIns="0" bIns="0" rtlCol="0">
            <a:spAutoFit/>
          </a:bodyPr>
          <a:lstStyle/>
          <a:p>
            <a:r>
              <a:rPr lang="en-US" sz="800">
                <a:solidFill>
                  <a:srgbClr val="000000"/>
                </a:solidFill>
                <a:cs typeface="Arial" pitchFamily="34" charset="0"/>
              </a:rPr>
              <a:t>2026 Lenovo Internal. All rights reserved.</a:t>
            </a:r>
          </a:p>
        </p:txBody>
      </p:sp>
      <p:grpSp>
        <p:nvGrpSpPr>
          <p:cNvPr id="10" name="Group 23">
            <a:extLst>
              <a:ext uri="{FF2B5EF4-FFF2-40B4-BE49-F238E27FC236}">
                <a16:creationId xmlns:a16="http://schemas.microsoft.com/office/drawing/2014/main" id="{14FC9FCB-ED40-885A-0D9A-D8B4EC9DEEF3}"/>
              </a:ext>
            </a:extLst>
          </p:cNvPr>
          <p:cNvGrpSpPr>
            <a:grpSpLocks noChangeAspect="1"/>
          </p:cNvGrpSpPr>
          <p:nvPr userDrawn="1"/>
        </p:nvGrpSpPr>
        <p:grpSpPr>
          <a:xfrm>
            <a:off x="16367" y="6700120"/>
            <a:ext cx="431719" cy="144000"/>
            <a:chOff x="547688" y="952500"/>
            <a:chExt cx="12190413" cy="4067175"/>
          </a:xfrm>
        </p:grpSpPr>
        <p:sp>
          <p:nvSpPr>
            <p:cNvPr id="12" name="Rectangle 24">
              <a:extLst>
                <a:ext uri="{FF2B5EF4-FFF2-40B4-BE49-F238E27FC236}">
                  <a16:creationId xmlns:a16="http://schemas.microsoft.com/office/drawing/2014/main" id="{DBD53142-454D-B3AD-6F6C-3E6A890681A9}"/>
                </a:ext>
              </a:extLst>
            </p:cNvPr>
            <p:cNvSpPr>
              <a:spLocks noChangeArrowheads="1"/>
            </p:cNvSpPr>
            <p:nvPr userDrawn="1"/>
          </p:nvSpPr>
          <p:spPr bwMode="auto">
            <a:xfrm>
              <a:off x="547688" y="952500"/>
              <a:ext cx="12190413" cy="4067175"/>
            </a:xfrm>
            <a:prstGeom prst="rect">
              <a:avLst/>
            </a:prstGeom>
            <a:solidFill>
              <a:srgbClr val="E12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3" name="Freeform 7">
              <a:extLst>
                <a:ext uri="{FF2B5EF4-FFF2-40B4-BE49-F238E27FC236}">
                  <a16:creationId xmlns:a16="http://schemas.microsoft.com/office/drawing/2014/main" id="{89C0B576-08F3-0BB5-4CD6-0F1C94085ADF}"/>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4" name="Freeform 8">
              <a:extLst>
                <a:ext uri="{FF2B5EF4-FFF2-40B4-BE49-F238E27FC236}">
                  <a16:creationId xmlns:a16="http://schemas.microsoft.com/office/drawing/2014/main" id="{17407EE1-3628-AE4F-8E09-EE41677B281C}"/>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5" name="Freeform 9">
              <a:extLst>
                <a:ext uri="{FF2B5EF4-FFF2-40B4-BE49-F238E27FC236}">
                  <a16:creationId xmlns:a16="http://schemas.microsoft.com/office/drawing/2014/main" id="{FD837889-1CC2-BD54-DC94-2BE415235F5B}"/>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6" name="Freeform 10">
              <a:extLst>
                <a:ext uri="{FF2B5EF4-FFF2-40B4-BE49-F238E27FC236}">
                  <a16:creationId xmlns:a16="http://schemas.microsoft.com/office/drawing/2014/main" id="{28F631AE-AD26-2DD4-6BEE-981DCBAEE69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7" name="Freeform 10">
              <a:extLst>
                <a:ext uri="{FF2B5EF4-FFF2-40B4-BE49-F238E27FC236}">
                  <a16:creationId xmlns:a16="http://schemas.microsoft.com/office/drawing/2014/main" id="{1064965E-CB0B-0B67-592A-68EB3E29A76E}"/>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8" name="Freeform 11">
              <a:extLst>
                <a:ext uri="{FF2B5EF4-FFF2-40B4-BE49-F238E27FC236}">
                  <a16:creationId xmlns:a16="http://schemas.microsoft.com/office/drawing/2014/main" id="{96B3DA00-58D4-221C-97D3-55BCAE4017F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sp>
        <p:nvSpPr>
          <p:cNvPr id="19" name="Slide Number Placeholder 1">
            <a:extLst>
              <a:ext uri="{FF2B5EF4-FFF2-40B4-BE49-F238E27FC236}">
                <a16:creationId xmlns:a16="http://schemas.microsoft.com/office/drawing/2014/main" id="{EE6ADED2-64DE-9478-4F92-BADA41E32C2B}"/>
              </a:ext>
            </a:extLst>
          </p:cNvPr>
          <p:cNvSpPr>
            <a:spLocks noGrp="1"/>
          </p:cNvSpPr>
          <p:nvPr>
            <p:ph type="sldNum" sz="quarter" idx="14"/>
          </p:nvPr>
        </p:nvSpPr>
        <p:spPr>
          <a:xfrm>
            <a:off x="11744918" y="6699529"/>
            <a:ext cx="439026" cy="155448"/>
          </a:xfrm>
          <a:prstGeom prst="rect">
            <a:avLst/>
          </a:prstGeom>
        </p:spPr>
        <p:txBody>
          <a:bodyPr anchor="ctr"/>
          <a:lstStyle>
            <a:lvl1pPr>
              <a:defRPr sz="1000">
                <a:solidFill>
                  <a:srgbClr val="7D1167"/>
                </a:solidFill>
              </a:defRPr>
            </a:lvl1pPr>
          </a:lstStyle>
          <a:p>
            <a:fld id="{6D22F896-40B5-4ADD-8801-0D06FADFA095}" type="slidenum">
              <a:rPr lang="en-US" smtClean="0"/>
              <a:pPr/>
              <a:t>‹#›</a:t>
            </a:fld>
            <a:endParaRPr lang="en-US" sz="1000"/>
          </a:p>
        </p:txBody>
      </p:sp>
    </p:spTree>
    <p:extLst>
      <p:ext uri="{BB962C8B-B14F-4D97-AF65-F5344CB8AC3E}">
        <p14:creationId xmlns:p14="http://schemas.microsoft.com/office/powerpoint/2010/main" val="1987982515"/>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Closing Slide_Black">
    <p:spTree>
      <p:nvGrpSpPr>
        <p:cNvPr id="1" name=""/>
        <p:cNvGrpSpPr/>
        <p:nvPr/>
      </p:nvGrpSpPr>
      <p:grpSpPr>
        <a:xfrm>
          <a:off x="0" y="0"/>
          <a:ext cx="0" cy="0"/>
          <a:chOff x="0" y="0"/>
          <a:chExt cx="0" cy="0"/>
        </a:xfrm>
      </p:grpSpPr>
      <p:pic>
        <p:nvPicPr>
          <p:cNvPr id="46" name="object 18">
            <a:extLst>
              <a:ext uri="{FF2B5EF4-FFF2-40B4-BE49-F238E27FC236}">
                <a16:creationId xmlns:a16="http://schemas.microsoft.com/office/drawing/2014/main" id="{840704EF-1533-4E4F-80A1-6BC9EAC7CB4B}"/>
              </a:ext>
            </a:extLst>
          </p:cNvPr>
          <p:cNvPicPr/>
          <p:nvPr userDrawn="1"/>
        </p:nvPicPr>
        <p:blipFill rotWithShape="1">
          <a:blip r:embed="rId3" cstate="print"/>
          <a:srcRect t="17008" b="2710"/>
          <a:stretch/>
        </p:blipFill>
        <p:spPr>
          <a:xfrm>
            <a:off x="2" y="0"/>
            <a:ext cx="12192000" cy="6858000"/>
          </a:xfrm>
          <a:prstGeom prst="rect">
            <a:avLst/>
          </a:prstGeom>
        </p:spPr>
      </p:pic>
      <p:grpSp>
        <p:nvGrpSpPr>
          <p:cNvPr id="47" name="Group 46">
            <a:extLst>
              <a:ext uri="{FF2B5EF4-FFF2-40B4-BE49-F238E27FC236}">
                <a16:creationId xmlns:a16="http://schemas.microsoft.com/office/drawing/2014/main" id="{CE9957E2-A8B4-4C84-AA6E-D1BF6313B8E6}"/>
              </a:ext>
            </a:extLst>
          </p:cNvPr>
          <p:cNvGrpSpPr/>
          <p:nvPr userDrawn="1"/>
        </p:nvGrpSpPr>
        <p:grpSpPr>
          <a:xfrm>
            <a:off x="1155042" y="3561910"/>
            <a:ext cx="7853422" cy="1769127"/>
            <a:chOff x="541049" y="2649538"/>
            <a:chExt cx="9285724" cy="2092325"/>
          </a:xfrm>
          <a:solidFill>
            <a:schemeClr val="bg1"/>
          </a:solidFill>
        </p:grpSpPr>
        <p:sp>
          <p:nvSpPr>
            <p:cNvPr id="48" name="Freeform 5">
              <a:extLst>
                <a:ext uri="{FF2B5EF4-FFF2-40B4-BE49-F238E27FC236}">
                  <a16:creationId xmlns:a16="http://schemas.microsoft.com/office/drawing/2014/main" id="{EBE8E2B7-0EF7-4E13-A798-5AB847552A77}"/>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sp>
          <p:nvSpPr>
            <p:cNvPr id="49" name="Freeform 6">
              <a:extLst>
                <a:ext uri="{FF2B5EF4-FFF2-40B4-BE49-F238E27FC236}">
                  <a16:creationId xmlns:a16="http://schemas.microsoft.com/office/drawing/2014/main" id="{54BEB710-718C-41CB-82D5-AEBE85207A1A}"/>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sp>
          <p:nvSpPr>
            <p:cNvPr id="50" name="Freeform 7">
              <a:extLst>
                <a:ext uri="{FF2B5EF4-FFF2-40B4-BE49-F238E27FC236}">
                  <a16:creationId xmlns:a16="http://schemas.microsoft.com/office/drawing/2014/main" id="{1D1EAAFE-A21D-4613-9CFF-5A4F734C2CFF}"/>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sp>
          <p:nvSpPr>
            <p:cNvPr id="51" name="Freeform 8">
              <a:extLst>
                <a:ext uri="{FF2B5EF4-FFF2-40B4-BE49-F238E27FC236}">
                  <a16:creationId xmlns:a16="http://schemas.microsoft.com/office/drawing/2014/main" id="{C46FC349-7D88-4305-9078-D0077EE7C5FB}"/>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sp>
          <p:nvSpPr>
            <p:cNvPr id="52" name="Freeform 9">
              <a:extLst>
                <a:ext uri="{FF2B5EF4-FFF2-40B4-BE49-F238E27FC236}">
                  <a16:creationId xmlns:a16="http://schemas.microsoft.com/office/drawing/2014/main" id="{5B9C4DEB-47A1-45C2-8253-7DF96E9C33A5}"/>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sp>
          <p:nvSpPr>
            <p:cNvPr id="61" name="Freeform 10">
              <a:extLst>
                <a:ext uri="{FF2B5EF4-FFF2-40B4-BE49-F238E27FC236}">
                  <a16:creationId xmlns:a16="http://schemas.microsoft.com/office/drawing/2014/main" id="{1CB32198-E741-400D-9CB9-DAF01F6A9D1F}"/>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sp>
          <p:nvSpPr>
            <p:cNvPr id="62" name="Oval 11">
              <a:extLst>
                <a:ext uri="{FF2B5EF4-FFF2-40B4-BE49-F238E27FC236}">
                  <a16:creationId xmlns:a16="http://schemas.microsoft.com/office/drawing/2014/main" id="{AD7C32D7-940A-4EE5-B8CC-2F82E84BF018}"/>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9" name="Group 58">
            <a:extLst>
              <a:ext uri="{FF2B5EF4-FFF2-40B4-BE49-F238E27FC236}">
                <a16:creationId xmlns:a16="http://schemas.microsoft.com/office/drawing/2014/main" id="{D488EA77-7F7C-472D-B7DF-281EAC6267E7}"/>
              </a:ext>
            </a:extLst>
          </p:cNvPr>
          <p:cNvGrpSpPr/>
          <p:nvPr userDrawn="1"/>
        </p:nvGrpSpPr>
        <p:grpSpPr>
          <a:xfrm>
            <a:off x="9392772" y="846426"/>
            <a:ext cx="1966475" cy="1042086"/>
            <a:chOff x="4988072" y="501936"/>
            <a:chExt cx="1978802" cy="1051017"/>
          </a:xfrm>
          <a:solidFill>
            <a:schemeClr val="accent1"/>
          </a:solidFill>
        </p:grpSpPr>
        <p:sp>
          <p:nvSpPr>
            <p:cNvPr id="60" name="Freeform 5">
              <a:extLst>
                <a:ext uri="{FF2B5EF4-FFF2-40B4-BE49-F238E27FC236}">
                  <a16:creationId xmlns:a16="http://schemas.microsoft.com/office/drawing/2014/main" id="{4888CA2C-1D51-438E-9BBE-43F065A57674}"/>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5" name="Freeform 6">
              <a:extLst>
                <a:ext uri="{FF2B5EF4-FFF2-40B4-BE49-F238E27FC236}">
                  <a16:creationId xmlns:a16="http://schemas.microsoft.com/office/drawing/2014/main" id="{15259117-B1D7-422B-934D-ABF5179F111D}"/>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7" name="Freeform 7">
              <a:extLst>
                <a:ext uri="{FF2B5EF4-FFF2-40B4-BE49-F238E27FC236}">
                  <a16:creationId xmlns:a16="http://schemas.microsoft.com/office/drawing/2014/main" id="{FB29B370-4501-43A9-9239-ED46A1C5EBC6}"/>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8" name="Freeform 8">
              <a:extLst>
                <a:ext uri="{FF2B5EF4-FFF2-40B4-BE49-F238E27FC236}">
                  <a16:creationId xmlns:a16="http://schemas.microsoft.com/office/drawing/2014/main" id="{5B1D40EE-2720-48EB-A152-9C80BC401B33}"/>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9" name="Freeform 9">
              <a:extLst>
                <a:ext uri="{FF2B5EF4-FFF2-40B4-BE49-F238E27FC236}">
                  <a16:creationId xmlns:a16="http://schemas.microsoft.com/office/drawing/2014/main" id="{996FFCC6-6905-4760-B0C5-87F2E69630A0}"/>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0" name="Freeform 10">
              <a:extLst>
                <a:ext uri="{FF2B5EF4-FFF2-40B4-BE49-F238E27FC236}">
                  <a16:creationId xmlns:a16="http://schemas.microsoft.com/office/drawing/2014/main" id="{963E6877-C3DD-4110-9D98-BD5FCB759231}"/>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1" name="Freeform 11">
              <a:extLst>
                <a:ext uri="{FF2B5EF4-FFF2-40B4-BE49-F238E27FC236}">
                  <a16:creationId xmlns:a16="http://schemas.microsoft.com/office/drawing/2014/main" id="{2F3B35A2-0C5C-41E6-9524-BAFD64539A8D}"/>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2" name="Freeform 12">
              <a:extLst>
                <a:ext uri="{FF2B5EF4-FFF2-40B4-BE49-F238E27FC236}">
                  <a16:creationId xmlns:a16="http://schemas.microsoft.com/office/drawing/2014/main" id="{F4D29843-2217-4B66-945B-C6B0A9DD7187}"/>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3" name="Freeform 13">
              <a:extLst>
                <a:ext uri="{FF2B5EF4-FFF2-40B4-BE49-F238E27FC236}">
                  <a16:creationId xmlns:a16="http://schemas.microsoft.com/office/drawing/2014/main" id="{402DFC4D-BC61-4C3C-877D-8D92A0BA9C64}"/>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4" name="Freeform 14">
              <a:extLst>
                <a:ext uri="{FF2B5EF4-FFF2-40B4-BE49-F238E27FC236}">
                  <a16:creationId xmlns:a16="http://schemas.microsoft.com/office/drawing/2014/main" id="{3C3DE7D6-D95B-4809-8A84-CB8F4D4716E5}"/>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5" name="Freeform 15">
              <a:extLst>
                <a:ext uri="{FF2B5EF4-FFF2-40B4-BE49-F238E27FC236}">
                  <a16:creationId xmlns:a16="http://schemas.microsoft.com/office/drawing/2014/main" id="{09DAEE5E-05D2-4A3D-811C-DABC1525F05C}"/>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6" name="Freeform 16">
              <a:extLst>
                <a:ext uri="{FF2B5EF4-FFF2-40B4-BE49-F238E27FC236}">
                  <a16:creationId xmlns:a16="http://schemas.microsoft.com/office/drawing/2014/main" id="{AB40AF7F-7B61-4429-9A86-F517DC28596C}"/>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7" name="Freeform 17">
              <a:extLst>
                <a:ext uri="{FF2B5EF4-FFF2-40B4-BE49-F238E27FC236}">
                  <a16:creationId xmlns:a16="http://schemas.microsoft.com/office/drawing/2014/main" id="{1311CECA-5D40-4D82-AC4C-2581E0673989}"/>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8" name="Rectangle 18">
              <a:extLst>
                <a:ext uri="{FF2B5EF4-FFF2-40B4-BE49-F238E27FC236}">
                  <a16:creationId xmlns:a16="http://schemas.microsoft.com/office/drawing/2014/main" id="{FD1B1C75-2628-46DA-B8E8-2F80994ABDE1}"/>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9" name="Freeform 19">
              <a:extLst>
                <a:ext uri="{FF2B5EF4-FFF2-40B4-BE49-F238E27FC236}">
                  <a16:creationId xmlns:a16="http://schemas.microsoft.com/office/drawing/2014/main" id="{1D866A08-B033-439B-AA8B-B5D03BFB490D}"/>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0" name="Freeform 20">
              <a:extLst>
                <a:ext uri="{FF2B5EF4-FFF2-40B4-BE49-F238E27FC236}">
                  <a16:creationId xmlns:a16="http://schemas.microsoft.com/office/drawing/2014/main" id="{A9892C8E-F8B4-4072-9383-FEC8965B1DD9}"/>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1" name="Freeform 21">
              <a:extLst>
                <a:ext uri="{FF2B5EF4-FFF2-40B4-BE49-F238E27FC236}">
                  <a16:creationId xmlns:a16="http://schemas.microsoft.com/office/drawing/2014/main" id="{3D8F668C-810B-4566-B7D9-F77593FADC8C}"/>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2" name="Freeform 22">
              <a:extLst>
                <a:ext uri="{FF2B5EF4-FFF2-40B4-BE49-F238E27FC236}">
                  <a16:creationId xmlns:a16="http://schemas.microsoft.com/office/drawing/2014/main" id="{4B18F8E5-F563-484D-8B70-6DC61903CD35}"/>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3" name="Freeform 23">
              <a:extLst>
                <a:ext uri="{FF2B5EF4-FFF2-40B4-BE49-F238E27FC236}">
                  <a16:creationId xmlns:a16="http://schemas.microsoft.com/office/drawing/2014/main" id="{14F06823-8104-45F0-9B90-41FDC203F060}"/>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4" name="Freeform 24">
              <a:extLst>
                <a:ext uri="{FF2B5EF4-FFF2-40B4-BE49-F238E27FC236}">
                  <a16:creationId xmlns:a16="http://schemas.microsoft.com/office/drawing/2014/main" id="{6B1D9FE7-C65B-41BA-BA47-041CC9A1D107}"/>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5" name="Freeform 25">
              <a:extLst>
                <a:ext uri="{FF2B5EF4-FFF2-40B4-BE49-F238E27FC236}">
                  <a16:creationId xmlns:a16="http://schemas.microsoft.com/office/drawing/2014/main" id="{2A861268-80B7-40B6-8793-796FE50C52AD}"/>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6" name="Rectangle 26">
              <a:extLst>
                <a:ext uri="{FF2B5EF4-FFF2-40B4-BE49-F238E27FC236}">
                  <a16:creationId xmlns:a16="http://schemas.microsoft.com/office/drawing/2014/main" id="{EFB48557-5F11-47B8-8FB0-6A96194BDB2C}"/>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17" name="Rectangle 27">
              <a:extLst>
                <a:ext uri="{FF2B5EF4-FFF2-40B4-BE49-F238E27FC236}">
                  <a16:creationId xmlns:a16="http://schemas.microsoft.com/office/drawing/2014/main" id="{E20850C1-B723-417A-BA89-C4A9FE2E4E57}"/>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sp>
        <p:nvSpPr>
          <p:cNvPr id="118" name="Rectangle 28">
            <a:extLst>
              <a:ext uri="{FF2B5EF4-FFF2-40B4-BE49-F238E27FC236}">
                <a16:creationId xmlns:a16="http://schemas.microsoft.com/office/drawing/2014/main" id="{88177BAB-70CB-4432-A181-5E0ED844215C}"/>
              </a:ext>
            </a:extLst>
          </p:cNvPr>
          <p:cNvSpPr>
            <a:spLocks noChangeArrowheads="1"/>
          </p:cNvSpPr>
          <p:nvPr userDrawn="1"/>
        </p:nvSpPr>
        <p:spPr bwMode="auto">
          <a:xfrm>
            <a:off x="11559242" y="676774"/>
            <a:ext cx="634346" cy="1898696"/>
          </a:xfrm>
          <a:prstGeom prst="rect">
            <a:avLst/>
          </a:prstGeom>
          <a:solidFill>
            <a:schemeClr val="accent1"/>
          </a:solidFill>
          <a:ln>
            <a:noFill/>
          </a:ln>
        </p:spPr>
        <p:txBody>
          <a:bodyPr vert="horz" wrap="square" lIns="91416" tIns="45708" rIns="91416" bIns="45708"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119" name="Group 118">
            <a:extLst>
              <a:ext uri="{FF2B5EF4-FFF2-40B4-BE49-F238E27FC236}">
                <a16:creationId xmlns:a16="http://schemas.microsoft.com/office/drawing/2014/main" id="{33639406-C453-4F39-BBA3-CE673FCDB61B}"/>
              </a:ext>
            </a:extLst>
          </p:cNvPr>
          <p:cNvGrpSpPr/>
          <p:nvPr userDrawn="1"/>
        </p:nvGrpSpPr>
        <p:grpSpPr>
          <a:xfrm>
            <a:off x="11704170" y="846426"/>
            <a:ext cx="321578" cy="1552800"/>
            <a:chOff x="7313961" y="501936"/>
            <a:chExt cx="323594" cy="1566108"/>
          </a:xfrm>
        </p:grpSpPr>
        <p:sp>
          <p:nvSpPr>
            <p:cNvPr id="120" name="Freeform 29">
              <a:extLst>
                <a:ext uri="{FF2B5EF4-FFF2-40B4-BE49-F238E27FC236}">
                  <a16:creationId xmlns:a16="http://schemas.microsoft.com/office/drawing/2014/main" id="{55FEF9EF-CEA0-4112-A33D-10D3FFF9ABE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1" name="Freeform 30">
              <a:extLst>
                <a:ext uri="{FF2B5EF4-FFF2-40B4-BE49-F238E27FC236}">
                  <a16:creationId xmlns:a16="http://schemas.microsoft.com/office/drawing/2014/main" id="{DD872816-F4FF-44E3-ACA8-3CA7939EDC98}"/>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2" name="Freeform 31">
              <a:extLst>
                <a:ext uri="{FF2B5EF4-FFF2-40B4-BE49-F238E27FC236}">
                  <a16:creationId xmlns:a16="http://schemas.microsoft.com/office/drawing/2014/main" id="{D2AB332C-6007-4640-A459-804B9C70D4C3}"/>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3" name="Freeform 32">
              <a:extLst>
                <a:ext uri="{FF2B5EF4-FFF2-40B4-BE49-F238E27FC236}">
                  <a16:creationId xmlns:a16="http://schemas.microsoft.com/office/drawing/2014/main" id="{102D77AB-9745-4F63-85A1-087635523911}"/>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4" name="Freeform 33">
              <a:extLst>
                <a:ext uri="{FF2B5EF4-FFF2-40B4-BE49-F238E27FC236}">
                  <a16:creationId xmlns:a16="http://schemas.microsoft.com/office/drawing/2014/main" id="{688CE09D-28AA-4DA9-B3AA-05627B839C4E}"/>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5" name="Freeform 34">
              <a:extLst>
                <a:ext uri="{FF2B5EF4-FFF2-40B4-BE49-F238E27FC236}">
                  <a16:creationId xmlns:a16="http://schemas.microsoft.com/office/drawing/2014/main" id="{D4DF9053-A5CA-4539-81A8-A50A3A83BE99}"/>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pic>
        <p:nvPicPr>
          <p:cNvPr id="43" name="Picture 42" descr="Graphical user interface, application&#10;&#10;Description automatically generated">
            <a:extLst>
              <a:ext uri="{FF2B5EF4-FFF2-40B4-BE49-F238E27FC236}">
                <a16:creationId xmlns:a16="http://schemas.microsoft.com/office/drawing/2014/main" id="{5E2B627D-6CB2-433C-8B47-F1472CE52F92}"/>
              </a:ext>
            </a:extLst>
          </p:cNvPr>
          <p:cNvPicPr>
            <a:picLocks noChangeAspect="1"/>
          </p:cNvPicPr>
          <p:nvPr userDrawn="1"/>
        </p:nvPicPr>
        <p:blipFill>
          <a:blip r:embed="rId4"/>
          <a:stretch>
            <a:fillRect/>
          </a:stretch>
        </p:blipFill>
        <p:spPr>
          <a:xfrm>
            <a:off x="434788" y="-120698"/>
            <a:ext cx="1775589" cy="1775127"/>
          </a:xfrm>
          <a:prstGeom prst="rect">
            <a:avLst/>
          </a:prstGeom>
        </p:spPr>
      </p:pic>
      <p:sp>
        <p:nvSpPr>
          <p:cNvPr id="3" name="TextBox 15">
            <a:extLst>
              <a:ext uri="{FF2B5EF4-FFF2-40B4-BE49-F238E27FC236}">
                <a16:creationId xmlns:a16="http://schemas.microsoft.com/office/drawing/2014/main" id="{DBDDEAF0-B75E-A600-B568-BC766D76CE59}"/>
              </a:ext>
            </a:extLst>
          </p:cNvPr>
          <p:cNvSpPr txBox="1"/>
          <p:nvPr userDrawn="1"/>
        </p:nvSpPr>
        <p:spPr>
          <a:xfrm>
            <a:off x="488931" y="6717076"/>
            <a:ext cx="1851044" cy="123111"/>
          </a:xfrm>
          <a:prstGeom prst="rect">
            <a:avLst/>
          </a:prstGeom>
          <a:noFill/>
        </p:spPr>
        <p:txBody>
          <a:bodyPr wrap="square" lIns="0" tIns="0" rIns="0" bIns="0" rtlCol="0">
            <a:spAutoFit/>
          </a:bodyPr>
          <a:lstStyle/>
          <a:p>
            <a:r>
              <a:rPr lang="en-US" sz="800">
                <a:solidFill>
                  <a:schemeClr val="bg1"/>
                </a:solidFill>
                <a:latin typeface="+mj-lt"/>
                <a:cs typeface="Arial" pitchFamily="34" charset="0"/>
              </a:rPr>
              <a:t>2024 Lenovo Internal. All rights reserved. </a:t>
            </a:r>
          </a:p>
        </p:txBody>
      </p:sp>
      <p:grpSp>
        <p:nvGrpSpPr>
          <p:cNvPr id="4" name="Group 16">
            <a:extLst>
              <a:ext uri="{FF2B5EF4-FFF2-40B4-BE49-F238E27FC236}">
                <a16:creationId xmlns:a16="http://schemas.microsoft.com/office/drawing/2014/main" id="{322B96D9-F33D-595F-DC63-C11A8534F943}"/>
              </a:ext>
            </a:extLst>
          </p:cNvPr>
          <p:cNvGrpSpPr>
            <a:grpSpLocks noChangeAspect="1"/>
          </p:cNvGrpSpPr>
          <p:nvPr userDrawn="1"/>
        </p:nvGrpSpPr>
        <p:grpSpPr>
          <a:xfrm>
            <a:off x="8056" y="6707548"/>
            <a:ext cx="431800" cy="144027"/>
            <a:chOff x="547688" y="952500"/>
            <a:chExt cx="12190413" cy="4067175"/>
          </a:xfrm>
        </p:grpSpPr>
        <p:sp>
          <p:nvSpPr>
            <p:cNvPr id="5" name="Rectangle 17">
              <a:extLst>
                <a:ext uri="{FF2B5EF4-FFF2-40B4-BE49-F238E27FC236}">
                  <a16:creationId xmlns:a16="http://schemas.microsoft.com/office/drawing/2014/main" id="{59F22116-7D32-C1A8-BBDD-03BF6C58B348}"/>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 name="Freeform 7">
              <a:extLst>
                <a:ext uri="{FF2B5EF4-FFF2-40B4-BE49-F238E27FC236}">
                  <a16:creationId xmlns:a16="http://schemas.microsoft.com/office/drawing/2014/main" id="{7E02F6F8-65AE-B3B4-31F5-A33B762E1D6E}"/>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 name="Freeform 8">
              <a:extLst>
                <a:ext uri="{FF2B5EF4-FFF2-40B4-BE49-F238E27FC236}">
                  <a16:creationId xmlns:a16="http://schemas.microsoft.com/office/drawing/2014/main" id="{59EC81A4-ACC7-5CE7-16B8-5E608960CCA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9">
              <a:extLst>
                <a:ext uri="{FF2B5EF4-FFF2-40B4-BE49-F238E27FC236}">
                  <a16:creationId xmlns:a16="http://schemas.microsoft.com/office/drawing/2014/main" id="{A905E97F-408E-D91B-9638-F66679A05D03}"/>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Freeform 10">
              <a:extLst>
                <a:ext uri="{FF2B5EF4-FFF2-40B4-BE49-F238E27FC236}">
                  <a16:creationId xmlns:a16="http://schemas.microsoft.com/office/drawing/2014/main" id="{B1B3735A-3B0D-FCEB-D9F7-0E7D44F7734B}"/>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10">
              <a:extLst>
                <a:ext uri="{FF2B5EF4-FFF2-40B4-BE49-F238E27FC236}">
                  <a16:creationId xmlns:a16="http://schemas.microsoft.com/office/drawing/2014/main" id="{7034BF0C-BBDA-7933-0341-35D2C699CA77}"/>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Freeform 11">
              <a:extLst>
                <a:ext uri="{FF2B5EF4-FFF2-40B4-BE49-F238E27FC236}">
                  <a16:creationId xmlns:a16="http://schemas.microsoft.com/office/drawing/2014/main" id="{27E27FE7-BAED-9D75-A909-7719984B4B7B}"/>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12" name="Slide Number Placeholder 1">
            <a:extLst>
              <a:ext uri="{FF2B5EF4-FFF2-40B4-BE49-F238E27FC236}">
                <a16:creationId xmlns:a16="http://schemas.microsoft.com/office/drawing/2014/main" id="{6BEE389A-B73C-AFB1-1EE5-CF6D9C7DBD74}"/>
              </a:ext>
            </a:extLst>
          </p:cNvPr>
          <p:cNvSpPr>
            <a:spLocks noGrp="1"/>
          </p:cNvSpPr>
          <p:nvPr>
            <p:ph type="sldNum" sz="quarter" idx="10"/>
          </p:nvPr>
        </p:nvSpPr>
        <p:spPr>
          <a:xfrm>
            <a:off x="11744918" y="6699529"/>
            <a:ext cx="439026" cy="155448"/>
          </a:xfrm>
          <a:prstGeom prst="rect">
            <a:avLst/>
          </a:prstGeom>
        </p:spPr>
        <p:txBody>
          <a:bodyPr anchor="ctr"/>
          <a:lstStyle>
            <a:lvl1pPr>
              <a:defRPr sz="1000">
                <a:solidFill>
                  <a:schemeClr val="bg1"/>
                </a:solidFill>
              </a:defRPr>
            </a:lvl1pPr>
          </a:lstStyle>
          <a:p>
            <a:fld id="{6D22F896-40B5-4ADD-8801-0D06FADFA095}" type="slidenum">
              <a:rPr lang="en-US" smtClean="0"/>
              <a:pPr/>
              <a:t>‹#›</a:t>
            </a:fld>
            <a:endParaRPr lang="en-US" sz="1000"/>
          </a:p>
        </p:txBody>
      </p:sp>
    </p:spTree>
    <p:custDataLst>
      <p:tags r:id="rId1"/>
    </p:custDataLst>
    <p:extLst>
      <p:ext uri="{BB962C8B-B14F-4D97-AF65-F5344CB8AC3E}">
        <p14:creationId xmlns:p14="http://schemas.microsoft.com/office/powerpoint/2010/main" val="38777363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theme" Target="../theme/theme2.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image" Target="../media/image4.emf"/><Relationship Id="rId21" Type="http://schemas.openxmlformats.org/officeDocument/2006/relationships/slideLayout" Target="../slideLayouts/slideLayout68.xml"/><Relationship Id="rId34" Type="http://schemas.openxmlformats.org/officeDocument/2006/relationships/slideLayout" Target="../slideLayouts/slideLayout81.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oleObject" Target="../embeddings/oleObject2.bin"/><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tags" Target="../tags/tag3.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theme" Target="../theme/theme3.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8" Type="http://schemas.openxmlformats.org/officeDocument/2006/relationships/slideLayout" Target="../slideLayouts/slideLayout55.xml"/><Relationship Id="rId3" Type="http://schemas.openxmlformats.org/officeDocument/2006/relationships/slideLayout" Target="../slideLayouts/slideLayout50.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slideLayout" Target="../slideLayouts/slideLayout85.xml"/><Relationship Id="rId7" Type="http://schemas.openxmlformats.org/officeDocument/2006/relationships/tags" Target="../tags/tag13.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theme" Target="../theme/theme4.xml"/><Relationship Id="rId11" Type="http://schemas.openxmlformats.org/officeDocument/2006/relationships/image" Target="../media/image11.png"/><Relationship Id="rId5" Type="http://schemas.openxmlformats.org/officeDocument/2006/relationships/slideLayout" Target="../slideLayouts/slideLayout87.xml"/><Relationship Id="rId10" Type="http://schemas.openxmlformats.org/officeDocument/2006/relationships/image" Target="../media/image10.emf"/><Relationship Id="rId4" Type="http://schemas.openxmlformats.org/officeDocument/2006/relationships/slideLayout" Target="../slideLayouts/slideLayout86.xml"/><Relationship Id="rId9" Type="http://schemas.openxmlformats.org/officeDocument/2006/relationships/oleObject" Target="../embeddings/oleObject5.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23ADDF9-BE44-A4AF-4BC0-807F670A52CD}"/>
              </a:ext>
            </a:extLst>
          </p:cNvPr>
          <p:cNvGraphicFramePr>
            <a:graphicFrameLocks/>
          </p:cNvGraphicFramePr>
          <p:nvPr userDrawn="1">
            <p:custDataLst>
              <p:tags r:id="rId32"/>
            </p:custDataLst>
            <p:extLst>
              <p:ext uri="{D42A27DB-BD31-4B8C-83A1-F6EECF244321}">
                <p14:modId xmlns:p14="http://schemas.microsoft.com/office/powerpoint/2010/main" val="1820679882"/>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3" imgW="484" imgH="486" progId="TCLayout.ActiveDocument.1">
                  <p:embed/>
                </p:oleObj>
              </mc:Choice>
              <mc:Fallback>
                <p:oleObj name="thinkcell Slide" r:id="rId33" imgW="484" imgH="486" progId="TCLayout.ActiveDocument.1">
                  <p:embed/>
                  <p:pic>
                    <p:nvPicPr>
                      <p:cNvPr id="12" name="think-cell data - do not delete" hidden="1">
                        <a:extLst>
                          <a:ext uri="{FF2B5EF4-FFF2-40B4-BE49-F238E27FC236}">
                            <a16:creationId xmlns:a16="http://schemas.microsoft.com/office/drawing/2014/main" id="{F23ADDF9-BE44-A4AF-4BC0-807F670A52CD}"/>
                          </a:ext>
                        </a:extLst>
                      </p:cNvPr>
                      <p:cNvPicPr/>
                      <p:nvPr/>
                    </p:nvPicPr>
                    <p:blipFill>
                      <a:blip r:embed="rId34"/>
                      <a:stretch>
                        <a:fillRect/>
                      </a:stretch>
                    </p:blipFill>
                    <p:spPr>
                      <a:xfrm>
                        <a:off x="1589" y="1588"/>
                        <a:ext cx="1588" cy="1588"/>
                      </a:xfrm>
                      <a:prstGeom prst="rect">
                        <a:avLst/>
                      </a:prstGeom>
                    </p:spPr>
                  </p:pic>
                </p:oleObj>
              </mc:Fallback>
            </mc:AlternateContent>
          </a:graphicData>
        </a:graphic>
      </p:graphicFrame>
      <p:sp>
        <p:nvSpPr>
          <p:cNvPr id="4" name="Slide Number Placeholder 5"/>
          <p:cNvSpPr>
            <a:spLocks noGrp="1"/>
          </p:cNvSpPr>
          <p:nvPr>
            <p:ph type="sldNum" sz="quarter" idx="4"/>
          </p:nvPr>
        </p:nvSpPr>
        <p:spPr>
          <a:xfrm>
            <a:off x="11672569" y="6400800"/>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
        <p:nvSpPr>
          <p:cNvPr id="2" name="TextBox 1">
            <a:extLst>
              <a:ext uri="{FF2B5EF4-FFF2-40B4-BE49-F238E27FC236}">
                <a16:creationId xmlns:a16="http://schemas.microsoft.com/office/drawing/2014/main" id="{D0C88A54-3C99-074B-6265-7544B1A4CCD0}"/>
              </a:ext>
            </a:extLst>
          </p:cNvPr>
          <p:cNvSpPr txBox="1"/>
          <p:nvPr userDrawn="1"/>
        </p:nvSpPr>
        <p:spPr>
          <a:xfrm>
            <a:off x="1602706" y="6401580"/>
            <a:ext cx="4115872" cy="153888"/>
          </a:xfrm>
          <a:prstGeom prst="rect">
            <a:avLst/>
          </a:prstGeom>
          <a:noFill/>
        </p:spPr>
        <p:txBody>
          <a:bodyPr wrap="square" lIns="0" tIns="0" rIns="0" bIns="0" rtlCol="0">
            <a:spAutoFit/>
          </a:bodyPr>
          <a:lstStyle/>
          <a:p>
            <a:r>
              <a:rPr lang="en-US" sz="1000">
                <a:solidFill>
                  <a:sysClr val="windowText" lastClr="000000"/>
                </a:solidFill>
                <a:latin typeface="Arial" pitchFamily="34" charset="0"/>
                <a:cs typeface="Arial" pitchFamily="34" charset="0"/>
              </a:rPr>
              <a:t>2026 Lenovo Internal. All rights reserved.</a:t>
            </a:r>
          </a:p>
        </p:txBody>
      </p:sp>
      <p:grpSp>
        <p:nvGrpSpPr>
          <p:cNvPr id="3" name="Group 2">
            <a:extLst>
              <a:ext uri="{FF2B5EF4-FFF2-40B4-BE49-F238E27FC236}">
                <a16:creationId xmlns:a16="http://schemas.microsoft.com/office/drawing/2014/main" id="{0E98367B-1A16-7D2C-2249-A692AE4ED344}"/>
              </a:ext>
            </a:extLst>
          </p:cNvPr>
          <p:cNvGrpSpPr>
            <a:grpSpLocks noChangeAspect="1"/>
          </p:cNvGrpSpPr>
          <p:nvPr userDrawn="1"/>
        </p:nvGrpSpPr>
        <p:grpSpPr>
          <a:xfrm>
            <a:off x="760611" y="6348283"/>
            <a:ext cx="777442" cy="259316"/>
            <a:chOff x="547688" y="952500"/>
            <a:chExt cx="12190413" cy="4067175"/>
          </a:xfrm>
        </p:grpSpPr>
        <p:sp>
          <p:nvSpPr>
            <p:cNvPr id="5" name="Rectangle 4">
              <a:extLst>
                <a:ext uri="{FF2B5EF4-FFF2-40B4-BE49-F238E27FC236}">
                  <a16:creationId xmlns:a16="http://schemas.microsoft.com/office/drawing/2014/main" id="{2FF8D5C4-8DE7-AA9B-E3EA-348281CF4223}"/>
                </a:ext>
              </a:extLst>
            </p:cNvPr>
            <p:cNvSpPr>
              <a:spLocks noChangeArrowheads="1"/>
            </p:cNvSpPr>
            <p:nvPr/>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 name="Freeform 7">
              <a:extLst>
                <a:ext uri="{FF2B5EF4-FFF2-40B4-BE49-F238E27FC236}">
                  <a16:creationId xmlns:a16="http://schemas.microsoft.com/office/drawing/2014/main" id="{04D06E39-113A-F32D-903C-E7F75E8155A1}"/>
                </a:ext>
              </a:extLst>
            </p:cNvPr>
            <p:cNvSpPr>
              <a:spLocks/>
            </p:cNvSpPr>
            <p:nvPr/>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 name="Freeform 8">
              <a:extLst>
                <a:ext uri="{FF2B5EF4-FFF2-40B4-BE49-F238E27FC236}">
                  <a16:creationId xmlns:a16="http://schemas.microsoft.com/office/drawing/2014/main" id="{794279C0-0AD1-8977-8135-4278EF4FDECD}"/>
                </a:ext>
              </a:extLst>
            </p:cNvPr>
            <p:cNvSpPr>
              <a:spLocks/>
            </p:cNvSpPr>
            <p:nvPr/>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 name="Freeform 9">
              <a:extLst>
                <a:ext uri="{FF2B5EF4-FFF2-40B4-BE49-F238E27FC236}">
                  <a16:creationId xmlns:a16="http://schemas.microsoft.com/office/drawing/2014/main" id="{81A79CAE-826B-2168-F3E8-461B917F1ABB}"/>
                </a:ext>
              </a:extLst>
            </p:cNvPr>
            <p:cNvSpPr>
              <a:spLocks noEditPoints="1"/>
            </p:cNvSpPr>
            <p:nvPr/>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 name="Freeform 10">
              <a:extLst>
                <a:ext uri="{FF2B5EF4-FFF2-40B4-BE49-F238E27FC236}">
                  <a16:creationId xmlns:a16="http://schemas.microsoft.com/office/drawing/2014/main" id="{60731EC2-D242-CEC9-10F3-6AC8DBC5B9A0}"/>
                </a:ext>
              </a:extLst>
            </p:cNvPr>
            <p:cNvSpPr>
              <a:spLocks/>
            </p:cNvSpPr>
            <p:nvPr/>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Freeform 10">
              <a:extLst>
                <a:ext uri="{FF2B5EF4-FFF2-40B4-BE49-F238E27FC236}">
                  <a16:creationId xmlns:a16="http://schemas.microsoft.com/office/drawing/2014/main" id="{86F5E84D-3EAB-E42E-3E25-592206E9B64F}"/>
                </a:ext>
              </a:extLst>
            </p:cNvPr>
            <p:cNvSpPr>
              <a:spLocks noEditPoints="1"/>
            </p:cNvSpPr>
            <p:nvPr/>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1" name="Freeform 11">
              <a:extLst>
                <a:ext uri="{FF2B5EF4-FFF2-40B4-BE49-F238E27FC236}">
                  <a16:creationId xmlns:a16="http://schemas.microsoft.com/office/drawing/2014/main" id="{59CC2153-F324-19C1-A831-F2E04946C5D1}"/>
                </a:ext>
              </a:extLst>
            </p:cNvPr>
            <p:cNvSpPr>
              <a:spLocks noEditPoints="1"/>
            </p:cNvSpPr>
            <p:nvPr/>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1074919745"/>
      </p:ext>
    </p:extLst>
  </p:cSld>
  <p:clrMap bg1="lt1" tx1="dk1" bg2="lt2" tx2="dk2" accent1="accent1" accent2="accent2" accent3="accent3" accent4="accent4" accent5="accent5" accent6="accent6" hlink="hlink" folHlink="folHlink"/>
  <p:sldLayoutIdLst>
    <p:sldLayoutId id="2147487061" r:id="rId1"/>
    <p:sldLayoutId id="2147487062" r:id="rId2"/>
    <p:sldLayoutId id="2147487063" r:id="rId3"/>
    <p:sldLayoutId id="2147487064" r:id="rId4"/>
    <p:sldLayoutId id="2147487065" r:id="rId5"/>
    <p:sldLayoutId id="2147487066" r:id="rId6"/>
    <p:sldLayoutId id="2147487067" r:id="rId7"/>
    <p:sldLayoutId id="2147487068" r:id="rId8"/>
    <p:sldLayoutId id="2147487069" r:id="rId9"/>
    <p:sldLayoutId id="2147487070" r:id="rId10"/>
    <p:sldLayoutId id="2147487071" r:id="rId11"/>
    <p:sldLayoutId id="2147487072" r:id="rId12"/>
    <p:sldLayoutId id="2147487073" r:id="rId13"/>
    <p:sldLayoutId id="2147487074" r:id="rId14"/>
    <p:sldLayoutId id="2147487075" r:id="rId15"/>
    <p:sldLayoutId id="2147487076" r:id="rId16"/>
    <p:sldLayoutId id="2147487077" r:id="rId17"/>
    <p:sldLayoutId id="2147487078" r:id="rId18"/>
    <p:sldLayoutId id="2147487079" r:id="rId19"/>
    <p:sldLayoutId id="2147487080" r:id="rId20"/>
    <p:sldLayoutId id="2147487081" r:id="rId21"/>
    <p:sldLayoutId id="2147487082" r:id="rId22"/>
    <p:sldLayoutId id="2147487083" r:id="rId23"/>
    <p:sldLayoutId id="2147487084" r:id="rId24"/>
    <p:sldLayoutId id="2147487085" r:id="rId25"/>
    <p:sldLayoutId id="2147487086" r:id="rId26"/>
    <p:sldLayoutId id="2147487087" r:id="rId27"/>
    <p:sldLayoutId id="2147487088" r:id="rId28"/>
    <p:sldLayoutId id="2147487089" r:id="rId29"/>
    <p:sldLayoutId id="2147487090" r:id="rId30"/>
  </p:sldLayoutIdLst>
  <p:transition spd="med"/>
  <p:hf hdr="0" ftr="0" dt="0"/>
  <p:txStyles>
    <p:titleStyle>
      <a:lvl1pPr algn="ctr" defTabSz="1218987"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120" indent="-457120" algn="l" defTabSz="1218987" rtl="0" eaLnBrk="1" latinLnBrk="0" hangingPunct="1">
        <a:spcBef>
          <a:spcPct val="20000"/>
        </a:spcBef>
        <a:buClrTx/>
        <a:buFont typeface="Arial" panose="020B0604020202020204" pitchFamily="34" charset="0"/>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Tx/>
        <a:buFont typeface="Arial" panose="020B0604020202020204" pitchFamily="34" charset="0"/>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Tx/>
        <a:buFont typeface="Arial" panose="020B0604020202020204" pitchFamily="34" charset="0"/>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0">
          <p15:clr>
            <a:srgbClr val="F26B43"/>
          </p15:clr>
        </p15:guide>
        <p15:guide id="2" pos="6719">
          <p15:clr>
            <a:srgbClr val="F26B43"/>
          </p15:clr>
        </p15:guide>
        <p15:guide id="3" orient="horz" pos="2880">
          <p15:clr>
            <a:srgbClr val="F26B43"/>
          </p15:clr>
        </p15:guide>
        <p15:guide id="4" pos="3839">
          <p15:clr>
            <a:srgbClr val="F26B43"/>
          </p15:clr>
        </p15:guide>
        <p15:guide id="5" pos="5279">
          <p15:clr>
            <a:srgbClr val="F26B43"/>
          </p15:clr>
        </p15:guide>
        <p15:guide id="6" pos="2399">
          <p15:clr>
            <a:srgbClr val="F26B43"/>
          </p15:clr>
        </p15:guide>
        <p15:guide id="7" pos="959">
          <p15:clr>
            <a:srgbClr val="F26B43"/>
          </p15:clr>
        </p15:guide>
        <p15:guide id="8" pos="7199">
          <p15:clr>
            <a:srgbClr val="FDE53C"/>
          </p15:clr>
        </p15:guide>
        <p15:guide id="9" pos="6239">
          <p15:clr>
            <a:srgbClr val="FDE53C"/>
          </p15:clr>
        </p15:guide>
        <p15:guide id="10" pos="5759">
          <p15:clr>
            <a:srgbClr val="FDE53C"/>
          </p15:clr>
        </p15:guide>
        <p15:guide id="11" pos="4319">
          <p15:clr>
            <a:srgbClr val="FDE53C"/>
          </p15:clr>
        </p15:guide>
        <p15:guide id="12" pos="4799">
          <p15:clr>
            <a:srgbClr val="FDE53C"/>
          </p15:clr>
        </p15:guide>
        <p15:guide id="13" pos="3335">
          <p15:clr>
            <a:srgbClr val="FDE53C"/>
          </p15:clr>
        </p15:guide>
        <p15:guide id="14" pos="2879">
          <p15:clr>
            <a:srgbClr val="FDE53C"/>
          </p15:clr>
        </p15:guide>
        <p15:guide id="15" pos="1919">
          <p15:clr>
            <a:srgbClr val="FDE53C"/>
          </p15:clr>
        </p15:guide>
        <p15:guide id="16" pos="1439">
          <p15:clr>
            <a:srgbClr val="FDE53C"/>
          </p15:clr>
        </p15:guide>
        <p15:guide id="17" pos="479">
          <p15:clr>
            <a:srgbClr val="FDE53C"/>
          </p15:clr>
        </p15:guide>
        <p15:guide id="18" orient="horz" pos="960">
          <p15:clr>
            <a:srgbClr val="FDE53C"/>
          </p15:clr>
        </p15:guide>
        <p15:guide id="19" orient="horz" pos="480">
          <p15:clr>
            <a:srgbClr val="FDE53C"/>
          </p15:clr>
        </p15:guide>
        <p15:guide id="20" orient="horz" pos="1920">
          <p15:clr>
            <a:srgbClr val="FDE53C"/>
          </p15:clr>
        </p15:guide>
        <p15:guide id="21" orient="horz" pos="2400">
          <p15:clr>
            <a:srgbClr val="FDE53C"/>
          </p15:clr>
        </p15:guide>
        <p15:guide id="22" orient="horz" pos="3360">
          <p15:clr>
            <a:srgbClr val="FDE53C"/>
          </p15:clr>
        </p15:guide>
        <p15:guide id="23" orient="horz" pos="3840">
          <p15:clr>
            <a:srgbClr val="FDE53C"/>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547062059"/>
      </p:ext>
    </p:extLst>
  </p:cSld>
  <p:clrMap bg1="lt1" tx1="dk1" bg2="lt2" tx2="dk2" accent1="accent1" accent2="accent2" accent3="accent3" accent4="accent4" accent5="accent5" accent6="accent6" hlink="hlink" folHlink="folHlink"/>
  <p:sldLayoutIdLst>
    <p:sldLayoutId id="2147487092" r:id="rId1"/>
    <p:sldLayoutId id="2147487093" r:id="rId2"/>
    <p:sldLayoutId id="2147487094" r:id="rId3"/>
    <p:sldLayoutId id="2147487095" r:id="rId4"/>
    <p:sldLayoutId id="2147487096" r:id="rId5"/>
    <p:sldLayoutId id="2147487097" r:id="rId6"/>
    <p:sldLayoutId id="2147487098" r:id="rId7"/>
    <p:sldLayoutId id="2147487099" r:id="rId8"/>
    <p:sldLayoutId id="2147487100" r:id="rId9"/>
    <p:sldLayoutId id="2147487101" r:id="rId10"/>
    <p:sldLayoutId id="2147487102" r:id="rId11"/>
    <p:sldLayoutId id="2147487103" r:id="rId12"/>
    <p:sldLayoutId id="2147487104" r:id="rId13"/>
    <p:sldLayoutId id="2147487105" r:id="rId14"/>
    <p:sldLayoutId id="2147487106" r:id="rId15"/>
    <p:sldLayoutId id="2147487107" r:id="rId16"/>
    <p:sldLayoutId id="2147487108"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40FF8D5-8B75-FE20-A8FA-A6F511BB15D6}"/>
              </a:ext>
            </a:extLst>
          </p:cNvPr>
          <p:cNvGraphicFramePr>
            <a:graphicFrameLocks/>
          </p:cNvGraphicFramePr>
          <p:nvPr userDrawn="1">
            <p:custDataLst>
              <p:tags r:id="rId3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51" imgH="351" progId="TCLayout.ActiveDocument.1">
                  <p:embed/>
                </p:oleObj>
              </mc:Choice>
              <mc:Fallback>
                <p:oleObj name="think-cell Slide" r:id="rId38" imgW="351" imgH="351" progId="TCLayout.ActiveDocument.1">
                  <p:embed/>
                  <p:pic>
                    <p:nvPicPr>
                      <p:cNvPr id="3" name="think-cell data - do not delete" hidden="1">
                        <a:extLst>
                          <a:ext uri="{FF2B5EF4-FFF2-40B4-BE49-F238E27FC236}">
                            <a16:creationId xmlns:a16="http://schemas.microsoft.com/office/drawing/2014/main" id="{140FF8D5-8B75-FE20-A8FA-A6F511BB15D6}"/>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 name="TextBox 1"/>
          <p:cNvSpPr txBox="1"/>
          <p:nvPr userDrawn="1"/>
        </p:nvSpPr>
        <p:spPr>
          <a:xfrm>
            <a:off x="1396578" y="6473952"/>
            <a:ext cx="4115872" cy="153888"/>
          </a:xfrm>
          <a:prstGeom prst="rect">
            <a:avLst/>
          </a:prstGeom>
          <a:noFill/>
        </p:spPr>
        <p:txBody>
          <a:bodyPr wrap="square" lIns="0" tIns="0" rIns="0" bIns="0" rtlCol="0">
            <a:spAutoFit/>
          </a:bodyPr>
          <a:lstStyle/>
          <a:p>
            <a:r>
              <a:rPr lang="en-US" sz="1000">
                <a:latin typeface="Arial" pitchFamily="34" charset="0"/>
                <a:cs typeface="Arial" pitchFamily="34" charset="0"/>
              </a:rPr>
              <a:t>2025 Lenovo Internal. All rights reserved.</a:t>
            </a:r>
          </a:p>
        </p:txBody>
      </p:sp>
      <p:sp>
        <p:nvSpPr>
          <p:cNvPr id="4"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grpSp>
        <p:nvGrpSpPr>
          <p:cNvPr id="5" name="Group 4"/>
          <p:cNvGrpSpPr/>
          <p:nvPr userDrawn="1"/>
        </p:nvGrpSpPr>
        <p:grpSpPr>
          <a:xfrm>
            <a:off x="554485" y="6421482"/>
            <a:ext cx="734547" cy="245008"/>
            <a:chOff x="547688" y="952500"/>
            <a:chExt cx="12190413" cy="4067175"/>
          </a:xfrm>
        </p:grpSpPr>
        <p:sp>
          <p:nvSpPr>
            <p:cNvPr id="6" name="Rectangle 5"/>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8" name="Freeform 7"/>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9" name="Freeform 8"/>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0" name="Freeform 9"/>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1" name="Freeform 10"/>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2"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sp>
          <p:nvSpPr>
            <p:cNvPr id="13"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8"/>
            </a:p>
          </p:txBody>
        </p:sp>
      </p:grpSp>
    </p:spTree>
    <p:extLst>
      <p:ext uri="{BB962C8B-B14F-4D97-AF65-F5344CB8AC3E}">
        <p14:creationId xmlns:p14="http://schemas.microsoft.com/office/powerpoint/2010/main" val="4260355819"/>
      </p:ext>
    </p:extLst>
  </p:cSld>
  <p:clrMap bg1="lt1" tx1="dk1" bg2="lt2" tx2="dk2" accent1="accent1" accent2="accent2" accent3="accent3" accent4="accent4" accent5="accent5" accent6="accent6" hlink="hlink" folHlink="folHlink"/>
  <p:sldLayoutIdLst>
    <p:sldLayoutId id="2147487110" r:id="rId1"/>
    <p:sldLayoutId id="2147487111" r:id="rId2"/>
    <p:sldLayoutId id="2147487112" r:id="rId3"/>
    <p:sldLayoutId id="2147487113" r:id="rId4"/>
    <p:sldLayoutId id="2147487114" r:id="rId5"/>
    <p:sldLayoutId id="2147487115" r:id="rId6"/>
    <p:sldLayoutId id="2147487116" r:id="rId7"/>
    <p:sldLayoutId id="2147487117" r:id="rId8"/>
    <p:sldLayoutId id="2147487118" r:id="rId9"/>
    <p:sldLayoutId id="2147487119" r:id="rId10"/>
    <p:sldLayoutId id="2147487120" r:id="rId11"/>
    <p:sldLayoutId id="2147487121" r:id="rId12"/>
    <p:sldLayoutId id="2147487122" r:id="rId13"/>
    <p:sldLayoutId id="2147487123" r:id="rId14"/>
    <p:sldLayoutId id="2147487124" r:id="rId15"/>
    <p:sldLayoutId id="2147487125" r:id="rId16"/>
    <p:sldLayoutId id="2147487126" r:id="rId17"/>
    <p:sldLayoutId id="2147487127" r:id="rId18"/>
    <p:sldLayoutId id="2147487128" r:id="rId19"/>
    <p:sldLayoutId id="2147487129" r:id="rId20"/>
    <p:sldLayoutId id="2147487130" r:id="rId21"/>
    <p:sldLayoutId id="2147487131" r:id="rId22"/>
    <p:sldLayoutId id="2147487132" r:id="rId23"/>
    <p:sldLayoutId id="2147487133" r:id="rId24"/>
    <p:sldLayoutId id="2147487134" r:id="rId25"/>
    <p:sldLayoutId id="2147487135" r:id="rId26"/>
    <p:sldLayoutId id="2147487136" r:id="rId27"/>
    <p:sldLayoutId id="2147487137" r:id="rId28"/>
    <p:sldLayoutId id="2147487138" r:id="rId29"/>
    <p:sldLayoutId id="2147487139" r:id="rId30"/>
    <p:sldLayoutId id="2147487140" r:id="rId31"/>
    <p:sldLayoutId id="2147487141" r:id="rId32"/>
    <p:sldLayoutId id="2147487142" r:id="rId33"/>
    <p:sldLayoutId id="2147487143" r:id="rId34"/>
    <p:sldLayoutId id="2147487144" r:id="rId35"/>
  </p:sldLayoutIdLst>
  <p:transition spd="med"/>
  <p:hf hdr="0" dt="0"/>
  <p:txStyles>
    <p:titleStyle>
      <a:lvl1pPr algn="ctr" defTabSz="1218255" rtl="0" eaLnBrk="1" latinLnBrk="0" hangingPunct="1">
        <a:spcBef>
          <a:spcPct val="0"/>
        </a:spcBef>
        <a:buNone/>
        <a:defRPr sz="4298" kern="1200" cap="all" baseline="0">
          <a:solidFill>
            <a:schemeClr val="tx1"/>
          </a:solidFill>
          <a:latin typeface="Arial" pitchFamily="34" charset="0"/>
          <a:ea typeface="+mj-ea"/>
          <a:cs typeface="Arial" pitchFamily="34" charset="0"/>
        </a:defRPr>
      </a:lvl1pPr>
    </p:titleStyle>
    <p:bodyStyle>
      <a:lvl1pPr marL="456846" indent="-456846" algn="l" defTabSz="1218255" rtl="0" eaLnBrk="1" latinLnBrk="0" hangingPunct="1">
        <a:spcBef>
          <a:spcPct val="20000"/>
        </a:spcBef>
        <a:buClr>
          <a:schemeClr val="tx2"/>
        </a:buClr>
        <a:buFont typeface="Wingdings" pitchFamily="2" charset="2"/>
        <a:buChar char="§"/>
        <a:defRPr sz="4298" kern="1200">
          <a:solidFill>
            <a:schemeClr val="tx1"/>
          </a:solidFill>
          <a:latin typeface="Arial" pitchFamily="34" charset="0"/>
          <a:ea typeface="+mn-ea"/>
          <a:cs typeface="Arial" pitchFamily="34" charset="0"/>
        </a:defRPr>
      </a:lvl1pPr>
      <a:lvl2pPr marL="989833" indent="-380705" algn="l" defTabSz="1218255" rtl="0" eaLnBrk="1" latinLnBrk="0" hangingPunct="1">
        <a:spcBef>
          <a:spcPct val="20000"/>
        </a:spcBef>
        <a:buClr>
          <a:schemeClr val="tx2"/>
        </a:buClr>
        <a:buFont typeface="Wingdings" pitchFamily="2" charset="2"/>
        <a:buChar char="§"/>
        <a:defRPr sz="3698" kern="1200">
          <a:solidFill>
            <a:schemeClr val="tx1"/>
          </a:solidFill>
          <a:latin typeface="Arial" pitchFamily="34" charset="0"/>
          <a:ea typeface="+mn-ea"/>
          <a:cs typeface="Arial" pitchFamily="34" charset="0"/>
        </a:defRPr>
      </a:lvl2pPr>
      <a:lvl3pPr marL="1522819" indent="-304565" algn="l" defTabSz="1218255" rtl="0" eaLnBrk="1" latinLnBrk="0" hangingPunct="1">
        <a:spcBef>
          <a:spcPct val="20000"/>
        </a:spcBef>
        <a:buClr>
          <a:schemeClr val="tx2"/>
        </a:buClr>
        <a:buFont typeface="Wingdings" pitchFamily="2" charset="2"/>
        <a:buChar char="§"/>
        <a:defRPr sz="3198" kern="1200">
          <a:solidFill>
            <a:schemeClr val="tx1"/>
          </a:solidFill>
          <a:latin typeface="Arial" pitchFamily="34" charset="0"/>
          <a:ea typeface="+mn-ea"/>
          <a:cs typeface="Arial" pitchFamily="34" charset="0"/>
        </a:defRPr>
      </a:lvl3pPr>
      <a:lvl4pPr marL="2131947" indent="-304565" algn="l" defTabSz="1218255" rtl="0" eaLnBrk="1" latinLnBrk="0" hangingPunct="1">
        <a:spcBef>
          <a:spcPct val="20000"/>
        </a:spcBef>
        <a:buClr>
          <a:schemeClr val="tx2"/>
        </a:buClr>
        <a:buFont typeface="Wingdings" pitchFamily="2" charset="2"/>
        <a:buChar char="§"/>
        <a:defRPr sz="2698" kern="1200">
          <a:solidFill>
            <a:schemeClr val="tx1"/>
          </a:solidFill>
          <a:latin typeface="Arial" pitchFamily="34" charset="0"/>
          <a:ea typeface="+mn-ea"/>
          <a:cs typeface="Arial" pitchFamily="34" charset="0"/>
        </a:defRPr>
      </a:lvl4pPr>
      <a:lvl5pPr marL="2741074" indent="-304565" algn="l" defTabSz="1218255" rtl="0" eaLnBrk="1" latinLnBrk="0" hangingPunct="1">
        <a:spcBef>
          <a:spcPct val="20000"/>
        </a:spcBef>
        <a:buClr>
          <a:schemeClr val="tx2"/>
        </a:buClr>
        <a:buFont typeface="Wingdings" pitchFamily="2" charset="2"/>
        <a:buChar char="§"/>
        <a:defRPr sz="2698" kern="1200">
          <a:solidFill>
            <a:schemeClr val="tx1"/>
          </a:solidFill>
          <a:latin typeface="Arial" pitchFamily="34" charset="0"/>
          <a:ea typeface="+mn-ea"/>
          <a:cs typeface="Arial" pitchFamily="34" charset="0"/>
        </a:defRPr>
      </a:lvl5pPr>
      <a:lvl6pPr marL="3350202" indent="-304565" algn="l" defTabSz="1218255" rtl="0" eaLnBrk="1" latinLnBrk="0" hangingPunct="1">
        <a:spcBef>
          <a:spcPct val="20000"/>
        </a:spcBef>
        <a:buFont typeface="Arial" pitchFamily="34" charset="0"/>
        <a:buChar char="•"/>
        <a:defRPr sz="2698" kern="1200">
          <a:solidFill>
            <a:schemeClr val="tx1"/>
          </a:solidFill>
          <a:latin typeface="+mn-lt"/>
          <a:ea typeface="+mn-ea"/>
          <a:cs typeface="+mn-cs"/>
        </a:defRPr>
      </a:lvl6pPr>
      <a:lvl7pPr marL="3959330" indent="-304565" algn="l" defTabSz="1218255" rtl="0" eaLnBrk="1" latinLnBrk="0" hangingPunct="1">
        <a:spcBef>
          <a:spcPct val="20000"/>
        </a:spcBef>
        <a:buFont typeface="Arial" pitchFamily="34" charset="0"/>
        <a:buChar char="•"/>
        <a:defRPr sz="2698" kern="1200">
          <a:solidFill>
            <a:schemeClr val="tx1"/>
          </a:solidFill>
          <a:latin typeface="+mn-lt"/>
          <a:ea typeface="+mn-ea"/>
          <a:cs typeface="+mn-cs"/>
        </a:defRPr>
      </a:lvl7pPr>
      <a:lvl8pPr marL="4568458" indent="-304565" algn="l" defTabSz="1218255" rtl="0" eaLnBrk="1" latinLnBrk="0" hangingPunct="1">
        <a:spcBef>
          <a:spcPct val="20000"/>
        </a:spcBef>
        <a:buFont typeface="Arial" pitchFamily="34" charset="0"/>
        <a:buChar char="•"/>
        <a:defRPr sz="2698" kern="1200">
          <a:solidFill>
            <a:schemeClr val="tx1"/>
          </a:solidFill>
          <a:latin typeface="+mn-lt"/>
          <a:ea typeface="+mn-ea"/>
          <a:cs typeface="+mn-cs"/>
        </a:defRPr>
      </a:lvl8pPr>
      <a:lvl9pPr marL="5177585" indent="-304565" algn="l" defTabSz="1218255" rtl="0" eaLnBrk="1" latinLnBrk="0" hangingPunct="1">
        <a:spcBef>
          <a:spcPct val="20000"/>
        </a:spcBef>
        <a:buFont typeface="Arial" pitchFamily="34" charset="0"/>
        <a:buChar char="•"/>
        <a:defRPr sz="2698" kern="1200">
          <a:solidFill>
            <a:schemeClr val="tx1"/>
          </a:solidFill>
          <a:latin typeface="+mn-lt"/>
          <a:ea typeface="+mn-ea"/>
          <a:cs typeface="+mn-cs"/>
        </a:defRPr>
      </a:lvl9pPr>
    </p:bodyStyle>
    <p:otherStyle>
      <a:defPPr>
        <a:defRPr lang="en-US"/>
      </a:defPPr>
      <a:lvl1pPr marL="0" algn="l" defTabSz="1218255" rtl="0" eaLnBrk="1" latinLnBrk="0" hangingPunct="1">
        <a:defRPr sz="2398" kern="1200">
          <a:solidFill>
            <a:schemeClr val="tx1"/>
          </a:solidFill>
          <a:latin typeface="+mn-lt"/>
          <a:ea typeface="+mn-ea"/>
          <a:cs typeface="+mn-cs"/>
        </a:defRPr>
      </a:lvl1pPr>
      <a:lvl2pPr marL="609127" algn="l" defTabSz="1218255" rtl="0" eaLnBrk="1" latinLnBrk="0" hangingPunct="1">
        <a:defRPr sz="2398" kern="1200">
          <a:solidFill>
            <a:schemeClr val="tx1"/>
          </a:solidFill>
          <a:latin typeface="+mn-lt"/>
          <a:ea typeface="+mn-ea"/>
          <a:cs typeface="+mn-cs"/>
        </a:defRPr>
      </a:lvl2pPr>
      <a:lvl3pPr marL="1218255" algn="l" defTabSz="1218255" rtl="0" eaLnBrk="1" latinLnBrk="0" hangingPunct="1">
        <a:defRPr sz="2398" kern="1200">
          <a:solidFill>
            <a:schemeClr val="tx1"/>
          </a:solidFill>
          <a:latin typeface="+mn-lt"/>
          <a:ea typeface="+mn-ea"/>
          <a:cs typeface="+mn-cs"/>
        </a:defRPr>
      </a:lvl3pPr>
      <a:lvl4pPr marL="1827383" algn="l" defTabSz="1218255" rtl="0" eaLnBrk="1" latinLnBrk="0" hangingPunct="1">
        <a:defRPr sz="2398" kern="1200">
          <a:solidFill>
            <a:schemeClr val="tx1"/>
          </a:solidFill>
          <a:latin typeface="+mn-lt"/>
          <a:ea typeface="+mn-ea"/>
          <a:cs typeface="+mn-cs"/>
        </a:defRPr>
      </a:lvl4pPr>
      <a:lvl5pPr marL="2436511" algn="l" defTabSz="1218255" rtl="0" eaLnBrk="1" latinLnBrk="0" hangingPunct="1">
        <a:defRPr sz="2398" kern="1200">
          <a:solidFill>
            <a:schemeClr val="tx1"/>
          </a:solidFill>
          <a:latin typeface="+mn-lt"/>
          <a:ea typeface="+mn-ea"/>
          <a:cs typeface="+mn-cs"/>
        </a:defRPr>
      </a:lvl5pPr>
      <a:lvl6pPr marL="3045639" algn="l" defTabSz="1218255" rtl="0" eaLnBrk="1" latinLnBrk="0" hangingPunct="1">
        <a:defRPr sz="2398" kern="1200">
          <a:solidFill>
            <a:schemeClr val="tx1"/>
          </a:solidFill>
          <a:latin typeface="+mn-lt"/>
          <a:ea typeface="+mn-ea"/>
          <a:cs typeface="+mn-cs"/>
        </a:defRPr>
      </a:lvl6pPr>
      <a:lvl7pPr marL="3654766" algn="l" defTabSz="1218255" rtl="0" eaLnBrk="1" latinLnBrk="0" hangingPunct="1">
        <a:defRPr sz="2398" kern="1200">
          <a:solidFill>
            <a:schemeClr val="tx1"/>
          </a:solidFill>
          <a:latin typeface="+mn-lt"/>
          <a:ea typeface="+mn-ea"/>
          <a:cs typeface="+mn-cs"/>
        </a:defRPr>
      </a:lvl7pPr>
      <a:lvl8pPr marL="4263893" algn="l" defTabSz="1218255" rtl="0" eaLnBrk="1" latinLnBrk="0" hangingPunct="1">
        <a:defRPr sz="2398" kern="1200">
          <a:solidFill>
            <a:schemeClr val="tx1"/>
          </a:solidFill>
          <a:latin typeface="+mn-lt"/>
          <a:ea typeface="+mn-ea"/>
          <a:cs typeface="+mn-cs"/>
        </a:defRPr>
      </a:lvl8pPr>
      <a:lvl9pPr marL="4873022" algn="l" defTabSz="1218255" rtl="0" eaLnBrk="1" latinLnBrk="0" hangingPunct="1">
        <a:defRPr sz="239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3F688D3-C5FA-4740-81A0-71C70FD7B0C2}"/>
              </a:ext>
            </a:extLst>
          </p:cNvPr>
          <p:cNvGraphicFramePr>
            <a:graphicFrameLocks/>
          </p:cNvGraphicFramePr>
          <p:nvPr userDrawn="1">
            <p:custDataLst>
              <p:tags r:id="rId8"/>
            </p:custDataLst>
            <p:extLst>
              <p:ext uri="{D42A27DB-BD31-4B8C-83A1-F6EECF244321}">
                <p14:modId xmlns:p14="http://schemas.microsoft.com/office/powerpoint/2010/main" val="4563495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6" progId="TCLayout.ActiveDocument.1">
                  <p:embed/>
                </p:oleObj>
              </mc:Choice>
              <mc:Fallback>
                <p:oleObj name="thinkcell Slide" r:id="rId9" imgW="395" imgH="396" progId="TCLayout.ActiveDocument.1">
                  <p:embed/>
                  <p:pic>
                    <p:nvPicPr>
                      <p:cNvPr id="3" name="Object 2" hidden="1">
                        <a:extLst>
                          <a:ext uri="{FF2B5EF4-FFF2-40B4-BE49-F238E27FC236}">
                            <a16:creationId xmlns:a16="http://schemas.microsoft.com/office/drawing/2014/main" id="{63F688D3-C5FA-4740-81A0-71C70FD7B0C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pic>
        <p:nvPicPr>
          <p:cNvPr id="10" name="Picture 9" descr="A picture containing electronics&#10;&#10;Description automatically generated">
            <a:extLst>
              <a:ext uri="{FF2B5EF4-FFF2-40B4-BE49-F238E27FC236}">
                <a16:creationId xmlns:a16="http://schemas.microsoft.com/office/drawing/2014/main" id="{2F34A9E6-D7D7-445A-B7D6-05D13F151E1E}"/>
              </a:ext>
            </a:extLst>
          </p:cNvPr>
          <p:cNvPicPr>
            <a:picLocks noChangeAspect="1"/>
          </p:cNvPicPr>
          <p:nvPr userDrawn="1"/>
        </p:nvPicPr>
        <p:blipFill>
          <a:blip r:embed="rId11"/>
          <a:stretch>
            <a:fillRect/>
          </a:stretch>
        </p:blipFill>
        <p:spPr>
          <a:xfrm>
            <a:off x="-88901" y="-28117"/>
            <a:ext cx="12374891" cy="808624"/>
          </a:xfrm>
          <a:prstGeom prst="rect">
            <a:avLst/>
          </a:prstGeom>
        </p:spPr>
      </p:pic>
      <p:sp>
        <p:nvSpPr>
          <p:cNvPr id="1028" name="Rectangle 2"/>
          <p:cNvSpPr>
            <a:spLocks noGrp="1" noChangeArrowheads="1"/>
          </p:cNvSpPr>
          <p:nvPr>
            <p:ph type="title"/>
          </p:nvPr>
        </p:nvSpPr>
        <p:spPr bwMode="auto">
          <a:xfrm>
            <a:off x="35354" y="146791"/>
            <a:ext cx="9217024" cy="458808"/>
          </a:xfrm>
          <a:prstGeom prst="rect">
            <a:avLst/>
          </a:prstGeom>
          <a:noFill/>
          <a:ln w="9525">
            <a:noFill/>
            <a:miter lim="800000"/>
            <a:headEnd/>
            <a:tailEnd/>
          </a:ln>
        </p:spPr>
        <p:txBody>
          <a:bodyPr vert="horz" wrap="square" lIns="36000" tIns="0" rIns="36000" bIns="0" numCol="1" anchor="ctr" anchorCtr="0" compatLnSpc="1">
            <a:prstTxWarp prst="textNoShape">
              <a:avLst/>
            </a:prstTxWarp>
          </a:bodyPr>
          <a:lstStyle/>
          <a:p>
            <a:pPr lvl="0"/>
            <a:r>
              <a:rPr lang="en-AU"/>
              <a:t>&lt;&lt;Course Title&gt;&gt;</a:t>
            </a:r>
          </a:p>
        </p:txBody>
      </p:sp>
    </p:spTree>
    <p:custDataLst>
      <p:tags r:id="rId7"/>
    </p:custDataLst>
    <p:extLst>
      <p:ext uri="{BB962C8B-B14F-4D97-AF65-F5344CB8AC3E}">
        <p14:creationId xmlns:p14="http://schemas.microsoft.com/office/powerpoint/2010/main" val="1485008637"/>
      </p:ext>
    </p:extLst>
  </p:cSld>
  <p:clrMap bg1="lt1" tx1="dk1" bg2="lt2" tx2="dk2" accent1="accent1" accent2="accent2" accent3="accent3" accent4="accent4" accent5="accent5" accent6="accent6" hlink="hlink" folHlink="folHlink"/>
  <p:sldLayoutIdLst>
    <p:sldLayoutId id="2147487055" r:id="rId1"/>
    <p:sldLayoutId id="2147487051" r:id="rId2"/>
    <p:sldLayoutId id="2147487056" r:id="rId3"/>
    <p:sldLayoutId id="2147487054" r:id="rId4"/>
    <p:sldLayoutId id="2147487052" r:id="rId5"/>
  </p:sldLayoutIdLst>
  <p:hf sldNum="0" hdr="0" dt="0"/>
  <p:txStyles>
    <p:titleStyle>
      <a:lvl1pPr algn="l" rtl="0" eaLnBrk="1" fontAlgn="base" hangingPunct="1">
        <a:spcBef>
          <a:spcPct val="0"/>
        </a:spcBef>
        <a:spcAft>
          <a:spcPct val="0"/>
        </a:spcAft>
        <a:defRPr sz="2400" b="1" baseline="0">
          <a:solidFill>
            <a:srgbClr val="4D144A"/>
          </a:solidFill>
          <a:latin typeface="Aptos" panose="020B0004020202020204" pitchFamily="34" charset="0"/>
          <a:ea typeface="+mj-ea"/>
          <a:cs typeface="+mj-cs"/>
        </a:defRPr>
      </a:lvl1pPr>
      <a:lvl2pPr algn="l" rtl="0" eaLnBrk="1" fontAlgn="base" hangingPunct="1">
        <a:spcBef>
          <a:spcPct val="0"/>
        </a:spcBef>
        <a:spcAft>
          <a:spcPct val="0"/>
        </a:spcAft>
        <a:defRPr sz="3600">
          <a:solidFill>
            <a:schemeClr val="bg1"/>
          </a:solidFill>
          <a:latin typeface="Gill Sans" pitchFamily="34" charset="0"/>
        </a:defRPr>
      </a:lvl2pPr>
      <a:lvl3pPr algn="l" rtl="0" eaLnBrk="1" fontAlgn="base" hangingPunct="1">
        <a:spcBef>
          <a:spcPct val="0"/>
        </a:spcBef>
        <a:spcAft>
          <a:spcPct val="0"/>
        </a:spcAft>
        <a:defRPr sz="3600">
          <a:solidFill>
            <a:schemeClr val="bg1"/>
          </a:solidFill>
          <a:latin typeface="Gill Sans" pitchFamily="34" charset="0"/>
        </a:defRPr>
      </a:lvl3pPr>
      <a:lvl4pPr algn="l" rtl="0" eaLnBrk="1" fontAlgn="base" hangingPunct="1">
        <a:spcBef>
          <a:spcPct val="0"/>
        </a:spcBef>
        <a:spcAft>
          <a:spcPct val="0"/>
        </a:spcAft>
        <a:defRPr sz="3600">
          <a:solidFill>
            <a:schemeClr val="bg1"/>
          </a:solidFill>
          <a:latin typeface="Gill Sans" pitchFamily="34" charset="0"/>
        </a:defRPr>
      </a:lvl4pPr>
      <a:lvl5pPr algn="l" rtl="0" eaLnBrk="1" fontAlgn="base" hangingPunct="1">
        <a:spcBef>
          <a:spcPct val="0"/>
        </a:spcBef>
        <a:spcAft>
          <a:spcPct val="0"/>
        </a:spcAft>
        <a:defRPr sz="3600">
          <a:solidFill>
            <a:schemeClr val="bg1"/>
          </a:solidFill>
          <a:latin typeface="Gill Sans" pitchFamily="34" charset="0"/>
        </a:defRPr>
      </a:lvl5pPr>
      <a:lvl6pPr marL="457200" algn="l" rtl="0" eaLnBrk="1" fontAlgn="base" hangingPunct="1">
        <a:spcBef>
          <a:spcPct val="0"/>
        </a:spcBef>
        <a:spcAft>
          <a:spcPct val="0"/>
        </a:spcAft>
        <a:defRPr sz="3600">
          <a:solidFill>
            <a:schemeClr val="bg1"/>
          </a:solidFill>
          <a:latin typeface="Gill Sans" pitchFamily="34" charset="0"/>
        </a:defRPr>
      </a:lvl6pPr>
      <a:lvl7pPr marL="914400" algn="l" rtl="0" eaLnBrk="1" fontAlgn="base" hangingPunct="1">
        <a:spcBef>
          <a:spcPct val="0"/>
        </a:spcBef>
        <a:spcAft>
          <a:spcPct val="0"/>
        </a:spcAft>
        <a:defRPr sz="3600">
          <a:solidFill>
            <a:schemeClr val="bg1"/>
          </a:solidFill>
          <a:latin typeface="Gill Sans" pitchFamily="34" charset="0"/>
        </a:defRPr>
      </a:lvl7pPr>
      <a:lvl8pPr marL="1371600" algn="l" rtl="0" eaLnBrk="1" fontAlgn="base" hangingPunct="1">
        <a:spcBef>
          <a:spcPct val="0"/>
        </a:spcBef>
        <a:spcAft>
          <a:spcPct val="0"/>
        </a:spcAft>
        <a:defRPr sz="3600">
          <a:solidFill>
            <a:schemeClr val="bg1"/>
          </a:solidFill>
          <a:latin typeface="Gill Sans" pitchFamily="34" charset="0"/>
        </a:defRPr>
      </a:lvl8pPr>
      <a:lvl9pPr marL="1828800" algn="l" rtl="0" eaLnBrk="1" fontAlgn="base" hangingPunct="1">
        <a:spcBef>
          <a:spcPct val="0"/>
        </a:spcBef>
        <a:spcAft>
          <a:spcPct val="0"/>
        </a:spcAft>
        <a:defRPr sz="3600">
          <a:solidFill>
            <a:schemeClr val="bg1"/>
          </a:solidFill>
          <a:latin typeface="Gill Sans" pitchFamily="34" charset="0"/>
        </a:defRPr>
      </a:lvl9pPr>
    </p:titleStyle>
    <p:bodyStyle>
      <a:lvl1pPr marL="188913" indent="-188913" algn="l" rtl="0" eaLnBrk="1" fontAlgn="base" hangingPunct="1">
        <a:spcBef>
          <a:spcPct val="20000"/>
        </a:spcBef>
        <a:spcAft>
          <a:spcPct val="0"/>
        </a:spcAft>
        <a:buChar char="›"/>
        <a:defRPr sz="2400" baseline="0">
          <a:solidFill>
            <a:schemeClr val="tx1"/>
          </a:solidFill>
          <a:latin typeface="+mj-lt"/>
          <a:ea typeface="+mn-ea"/>
          <a:cs typeface="+mn-cs"/>
        </a:defRPr>
      </a:lvl1pPr>
      <a:lvl2pPr marL="566738" indent="-187325" algn="l" rtl="0" eaLnBrk="1" fontAlgn="base" hangingPunct="1">
        <a:spcBef>
          <a:spcPct val="20000"/>
        </a:spcBef>
        <a:spcAft>
          <a:spcPct val="0"/>
        </a:spcAft>
        <a:buChar char="»"/>
        <a:defRPr sz="2400">
          <a:solidFill>
            <a:schemeClr val="tx1"/>
          </a:solidFill>
          <a:latin typeface="+mj-lt"/>
        </a:defRPr>
      </a:lvl2pPr>
      <a:lvl3pPr marL="955675" indent="-1588" algn="l" rtl="0" eaLnBrk="1" fontAlgn="base" hangingPunct="1">
        <a:spcBef>
          <a:spcPct val="20000"/>
        </a:spcBef>
        <a:spcAft>
          <a:spcPct val="0"/>
        </a:spcAft>
        <a:buChar char="•"/>
        <a:defRPr sz="2400">
          <a:solidFill>
            <a:schemeClr val="tx1"/>
          </a:solidFill>
          <a:latin typeface="+mj-lt"/>
        </a:defRPr>
      </a:lvl3pPr>
      <a:lvl4pPr marL="1146175" indent="1588" algn="l" rtl="0" eaLnBrk="1" fontAlgn="base" hangingPunct="1">
        <a:spcBef>
          <a:spcPct val="20000"/>
        </a:spcBef>
        <a:spcAft>
          <a:spcPct val="0"/>
        </a:spcAft>
        <a:buChar char="–"/>
        <a:defRPr sz="2400">
          <a:solidFill>
            <a:schemeClr val="tx1"/>
          </a:solidFill>
          <a:latin typeface="+mj-lt"/>
        </a:defRPr>
      </a:lvl4pPr>
      <a:lvl5pPr marL="1520825" indent="307975" algn="l" rtl="0" eaLnBrk="1" fontAlgn="base" hangingPunct="1">
        <a:spcBef>
          <a:spcPct val="20000"/>
        </a:spcBef>
        <a:spcAft>
          <a:spcPct val="0"/>
        </a:spcAft>
        <a:buChar char="»"/>
        <a:defRPr sz="2400">
          <a:solidFill>
            <a:schemeClr val="tx1"/>
          </a:solidFill>
          <a:latin typeface="+mj-lt"/>
        </a:defRPr>
      </a:lvl5pPr>
      <a:lvl6pPr marL="1978025" algn="l" rtl="0" eaLnBrk="1" fontAlgn="base" hangingPunct="1">
        <a:spcBef>
          <a:spcPct val="20000"/>
        </a:spcBef>
        <a:spcAft>
          <a:spcPct val="0"/>
        </a:spcAft>
        <a:buChar char="»"/>
        <a:defRPr sz="2400">
          <a:solidFill>
            <a:schemeClr val="tx1"/>
          </a:solidFill>
          <a:latin typeface="+mn-lt"/>
        </a:defRPr>
      </a:lvl6pPr>
      <a:lvl7pPr marL="2435225" algn="l" rtl="0" eaLnBrk="1" fontAlgn="base" hangingPunct="1">
        <a:spcBef>
          <a:spcPct val="20000"/>
        </a:spcBef>
        <a:spcAft>
          <a:spcPct val="0"/>
        </a:spcAft>
        <a:buChar char="»"/>
        <a:defRPr sz="2400">
          <a:solidFill>
            <a:schemeClr val="tx1"/>
          </a:solidFill>
          <a:latin typeface="+mn-lt"/>
        </a:defRPr>
      </a:lvl7pPr>
      <a:lvl8pPr marL="2892425" algn="l" rtl="0" eaLnBrk="1" fontAlgn="base" hangingPunct="1">
        <a:spcBef>
          <a:spcPct val="20000"/>
        </a:spcBef>
        <a:spcAft>
          <a:spcPct val="0"/>
        </a:spcAft>
        <a:buChar char="»"/>
        <a:defRPr sz="2400">
          <a:solidFill>
            <a:schemeClr val="tx1"/>
          </a:solidFill>
          <a:latin typeface="+mn-lt"/>
        </a:defRPr>
      </a:lvl8pPr>
      <a:lvl9pPr marL="3349625" algn="l" rtl="0" eaLnBrk="1" fontAlgn="base" hangingPunct="1">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86.xml"/><Relationship Id="rId1" Type="http://schemas.openxmlformats.org/officeDocument/2006/relationships/tags" Target="../tags/tag18.xml"/><Relationship Id="rId4" Type="http://schemas.openxmlformats.org/officeDocument/2006/relationships/image" Target="../media/image18.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tags" Target="../tags/tag19.xml"/><Relationship Id="rId5" Type="http://schemas.openxmlformats.org/officeDocument/2006/relationships/image" Target="../media/image20.png"/><Relationship Id="rId4" Type="http://schemas.openxmlformats.org/officeDocument/2006/relationships/image" Target="../media/image19.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6.xml"/><Relationship Id="rId1" Type="http://schemas.openxmlformats.org/officeDocument/2006/relationships/tags" Target="../tags/tag20.xml"/><Relationship Id="rId4" Type="http://schemas.openxmlformats.org/officeDocument/2006/relationships/image" Target="../media/image18.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3" Type="http://schemas.openxmlformats.org/officeDocument/2006/relationships/hyperlink" Target="https://nbl-uat.lenovo.com/" TargetMode="External"/><Relationship Id="rId2" Type="http://schemas.openxmlformats.org/officeDocument/2006/relationships/image" Target="../media/image21.png"/><Relationship Id="rId1" Type="http://schemas.openxmlformats.org/officeDocument/2006/relationships/slideLayout" Target="../slideLayouts/slideLayout86.xml"/><Relationship Id="rId4" Type="http://schemas.openxmlformats.org/officeDocument/2006/relationships/hyperlink" Target="https://nbl.lenovo.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86.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6.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6.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86.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6.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6.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6.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6.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6.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86.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6.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6.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86.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86.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86.xml"/><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86.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8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6.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86.xml"/></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86.xml"/><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86.xml"/><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86.xm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86.xml"/></Relationships>
</file>

<file path=ppt/slides/_rels/slide3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86.xml"/><Relationship Id="rId6" Type="http://schemas.openxmlformats.org/officeDocument/2006/relationships/image" Target="../media/image78.png"/><Relationship Id="rId5" Type="http://schemas.openxmlformats.org/officeDocument/2006/relationships/image" Target="../media/image62.png"/><Relationship Id="rId4" Type="http://schemas.openxmlformats.org/officeDocument/2006/relationships/image" Target="../media/image7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86.xml"/></Relationships>
</file>

<file path=ppt/slides/_rels/slide4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86.xml"/><Relationship Id="rId4" Type="http://schemas.openxmlformats.org/officeDocument/2006/relationships/image" Target="../media/image83.png"/></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86.xml"/></Relationships>
</file>

<file path=ppt/slides/_rels/slide4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86.xml"/></Relationships>
</file>

<file path=ppt/slides/_rels/slide4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86.xml"/><Relationship Id="rId4" Type="http://schemas.openxmlformats.org/officeDocument/2006/relationships/image" Target="../media/image90.png"/></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8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86.xml"/><Relationship Id="rId4" Type="http://schemas.openxmlformats.org/officeDocument/2006/relationships/image" Target="../media/image9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86.xml"/></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86.xml"/></Relationships>
</file>

<file path=ppt/slides/_rels/slide5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86.xml"/><Relationship Id="rId4" Type="http://schemas.openxmlformats.org/officeDocument/2006/relationships/image" Target="../media/image105.png"/></Relationships>
</file>

<file path=ppt/slides/_rels/slide5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1.xml"/><Relationship Id="rId1" Type="http://schemas.openxmlformats.org/officeDocument/2006/relationships/slideLayout" Target="../slideLayouts/slideLayout86.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5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86.xml"/></Relationships>
</file>

<file path=ppt/slides/_rels/slide5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86.xml"/></Relationships>
</file>

<file path=ppt/slides/_rels/slide5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86.xml"/></Relationships>
</file>

<file path=ppt/slides/_rels/slide5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86.xml"/><Relationship Id="rId5" Type="http://schemas.openxmlformats.org/officeDocument/2006/relationships/image" Target="../media/image119.png"/><Relationship Id="rId4" Type="http://schemas.openxmlformats.org/officeDocument/2006/relationships/image" Target="../media/image118.png"/></Relationships>
</file>

<file path=ppt/slides/_rels/slide6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86.xml"/><Relationship Id="rId4" Type="http://schemas.openxmlformats.org/officeDocument/2006/relationships/image" Target="../media/image1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6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86.xml"/></Relationships>
</file>

<file path=ppt/slides/_rels/slide6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86.xml"/></Relationships>
</file>

<file path=ppt/slides/_rels/slide6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86.xml"/></Relationships>
</file>

<file path=ppt/slides/_rels/slide6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8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6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86.xml"/></Relationships>
</file>

<file path=ppt/slides/_rels/slide6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86.xml"/></Relationships>
</file>

<file path=ppt/slides/_rels/slide69.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35.png"/><Relationship Id="rId7" Type="http://schemas.openxmlformats.org/officeDocument/2006/relationships/image" Target="../media/image139.png"/><Relationship Id="rId2" Type="http://schemas.openxmlformats.org/officeDocument/2006/relationships/image" Target="../media/image134.png"/><Relationship Id="rId1" Type="http://schemas.openxmlformats.org/officeDocument/2006/relationships/slideLayout" Target="../slideLayouts/slideLayout86.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7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86.xml"/><Relationship Id="rId5" Type="http://schemas.openxmlformats.org/officeDocument/2006/relationships/image" Target="../media/image144.png"/><Relationship Id="rId4" Type="http://schemas.openxmlformats.org/officeDocument/2006/relationships/image" Target="../media/image143.png"/></Relationships>
</file>

<file path=ppt/slides/_rels/slide7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86.xml"/><Relationship Id="rId4" Type="http://schemas.openxmlformats.org/officeDocument/2006/relationships/image" Target="../media/image147.png"/></Relationships>
</file>

<file path=ppt/slides/_rels/slide72.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8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7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86.xml"/></Relationships>
</file>

<file path=ppt/slides/_rels/slide7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4.xml"/><Relationship Id="rId1" Type="http://schemas.openxmlformats.org/officeDocument/2006/relationships/slideLayout" Target="../slideLayouts/slideLayout86.xml"/></Relationships>
</file>

<file path=ppt/slides/_rels/slide79.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86.xml"/></Relationships>
</file>

<file path=ppt/slides/_rels/slide8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86.xml"/></Relationships>
</file>

<file path=ppt/slides/_rels/slide8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86.xml"/></Relationships>
</file>

<file path=ppt/slides/_rels/slide82.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86.xml"/></Relationships>
</file>

<file path=ppt/slides/_rels/slide8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86.xml"/><Relationship Id="rId4" Type="http://schemas.openxmlformats.org/officeDocument/2006/relationships/image" Target="../media/image160.png"/></Relationships>
</file>

<file path=ppt/slides/_rels/slide8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5.xml"/><Relationship Id="rId1" Type="http://schemas.openxmlformats.org/officeDocument/2006/relationships/slideLayout" Target="../slideLayouts/slideLayout86.xml"/><Relationship Id="rId4" Type="http://schemas.openxmlformats.org/officeDocument/2006/relationships/image" Target="../media/image162.png"/></Relationships>
</file>

<file path=ppt/slides/_rels/slide85.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86.xml"/></Relationships>
</file>

<file path=ppt/slides/_rels/slide86.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86.xml"/></Relationships>
</file>

<file path=ppt/slides/_rels/slide87.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86.xml"/></Relationships>
</file>

<file path=ppt/slides/_rels/slide8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86.xml"/><Relationship Id="rId4" Type="http://schemas.openxmlformats.org/officeDocument/2006/relationships/image" Target="../media/image168.png"/></Relationships>
</file>

<file path=ppt/slides/_rels/slide8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86.xml"/></Relationships>
</file>

<file path=ppt/slides/_rels/slide9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jpg"/><Relationship Id="rId1" Type="http://schemas.openxmlformats.org/officeDocument/2006/relationships/slideLayout" Target="../slideLayouts/slideLayout86.xml"/></Relationships>
</file>

<file path=ppt/slides/_rels/slide9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86.xml"/></Relationships>
</file>

<file path=ppt/slides/_rels/slide92.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86.xml"/></Relationships>
</file>

<file path=ppt/slides/_rels/slide9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86.xml"/></Relationships>
</file>

<file path=ppt/slides/_rels/slide94.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86.xml"/><Relationship Id="rId4" Type="http://schemas.openxmlformats.org/officeDocument/2006/relationships/image" Target="../media/image180.png"/></Relationships>
</file>

<file path=ppt/slides/_rels/slide9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86.xml"/></Relationships>
</file>

<file path=ppt/slides/_rels/slide96.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86.xml"/></Relationships>
</file>

<file path=ppt/slides/_rels/slide97.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86.xml"/></Relationships>
</file>

<file path=ppt/slides/_rels/slide98.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8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100.xml.rels><?xml version="1.0" encoding="UTF-8" standalone="yes"?>
<Relationships xmlns="http://schemas.openxmlformats.org/package/2006/relationships"><Relationship Id="rId3" Type="http://schemas.openxmlformats.org/officeDocument/2006/relationships/package" Target="../embeddings/Microsoft_Excel_Worksheet_252190C9.xlsx"/><Relationship Id="rId2" Type="http://schemas.openxmlformats.org/officeDocument/2006/relationships/image" Target="../media/image188.png"/><Relationship Id="rId1" Type="http://schemas.openxmlformats.org/officeDocument/2006/relationships/slideLayout" Target="../slideLayouts/slideLayout86.xml"/><Relationship Id="rId4" Type="http://schemas.openxmlformats.org/officeDocument/2006/relationships/image" Target="../media/image189.emf"/></Relationships>
</file>

<file path=ppt/slides/_rels/slide10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7.xml"/><Relationship Id="rId1" Type="http://schemas.openxmlformats.org/officeDocument/2006/relationships/slideLayout" Target="../slideLayouts/slideLayout86.xml"/></Relationships>
</file>

<file path=ppt/slides/_rels/slide102.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86.xml"/></Relationships>
</file>

<file path=ppt/slides/_rels/slide103.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86.xml"/></Relationships>
</file>

<file path=ppt/slides/_rels/slide104.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86.xml"/><Relationship Id="rId4" Type="http://schemas.openxmlformats.org/officeDocument/2006/relationships/image" Target="../media/image196.png"/></Relationships>
</file>

<file path=ppt/slides/_rels/slide105.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image" Target="../media/image194.png"/><Relationship Id="rId1" Type="http://schemas.openxmlformats.org/officeDocument/2006/relationships/slideLayout" Target="../slideLayouts/slideLayout86.xml"/></Relationships>
</file>

<file path=ppt/slides/_rels/slide106.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png"/><Relationship Id="rId1" Type="http://schemas.openxmlformats.org/officeDocument/2006/relationships/slideLayout" Target="../slideLayouts/slideLayout86.xml"/><Relationship Id="rId4" Type="http://schemas.openxmlformats.org/officeDocument/2006/relationships/image" Target="../media/image200.png"/></Relationships>
</file>

<file path=ppt/slides/_rels/slide107.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86.xml"/><Relationship Id="rId4" Type="http://schemas.openxmlformats.org/officeDocument/2006/relationships/image" Target="../media/image203.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4.xml"/></Relationships>
</file>

<file path=ppt/slides/_rels/slide109.xml.rels><?xml version="1.0" encoding="UTF-8" standalone="yes"?>
<Relationships xmlns="http://schemas.openxmlformats.org/package/2006/relationships"><Relationship Id="rId3" Type="http://schemas.openxmlformats.org/officeDocument/2006/relationships/image" Target="../media/image189.emf"/><Relationship Id="rId2" Type="http://schemas.openxmlformats.org/officeDocument/2006/relationships/package" Target="../embeddings/Microsoft_Excel_Worksheet_FAF312E6.xlsx"/><Relationship Id="rId1" Type="http://schemas.openxmlformats.org/officeDocument/2006/relationships/slideLayout" Target="../slideLayouts/slideLayout86.xml"/><Relationship Id="rId4" Type="http://schemas.openxmlformats.org/officeDocument/2006/relationships/image" Target="../media/image204.png"/></Relationships>
</file>

<file path=ppt/slides/_rels/slide110.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86.xml"/></Relationships>
</file>

<file path=ppt/slides/_rels/slide111.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86.xml"/></Relationships>
</file>

<file path=ppt/slides/_rels/slide112.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86.xml"/></Relationships>
</file>

<file path=ppt/slides/_rels/slide113.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png"/><Relationship Id="rId1" Type="http://schemas.openxmlformats.org/officeDocument/2006/relationships/slideLayout" Target="../slideLayouts/slideLayout86.xml"/></Relationships>
</file>

<file path=ppt/slides/_rels/slide11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86.xml"/></Relationships>
</file>

<file path=ppt/slides/_rels/slide115.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86.xml"/><Relationship Id="rId4" Type="http://schemas.openxmlformats.org/officeDocument/2006/relationships/image" Target="../media/image214.png"/></Relationships>
</file>

<file path=ppt/slides/_rels/slide116.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5.png"/><Relationship Id="rId1" Type="http://schemas.openxmlformats.org/officeDocument/2006/relationships/slideLayout" Target="../slideLayouts/slideLayout86.xml"/><Relationship Id="rId4" Type="http://schemas.openxmlformats.org/officeDocument/2006/relationships/image" Target="../media/image217.png"/></Relationships>
</file>

<file path=ppt/slides/_rels/slide117.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86.xml"/></Relationships>
</file>

<file path=ppt/slides/_rels/slide11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86.xml"/><Relationship Id="rId4" Type="http://schemas.openxmlformats.org/officeDocument/2006/relationships/image" Target="../media/image222.png"/></Relationships>
</file>

<file path=ppt/slides/_rels/slide119.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23.png"/><Relationship Id="rId1" Type="http://schemas.openxmlformats.org/officeDocument/2006/relationships/slideLayout" Target="../slideLayouts/slideLayout86.xml"/></Relationships>
</file>

<file path=ppt/slides/_rels/slide120.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86.xml"/><Relationship Id="rId4" Type="http://schemas.openxmlformats.org/officeDocument/2006/relationships/image" Target="../media/image227.png"/></Relationships>
</file>

<file path=ppt/slides/_rels/slide121.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png"/><Relationship Id="rId1" Type="http://schemas.openxmlformats.org/officeDocument/2006/relationships/slideLayout" Target="../slideLayouts/slideLayout86.xml"/><Relationship Id="rId6" Type="http://schemas.openxmlformats.org/officeDocument/2006/relationships/image" Target="../media/image232.png"/><Relationship Id="rId5" Type="http://schemas.openxmlformats.org/officeDocument/2006/relationships/image" Target="../media/image231.png"/><Relationship Id="rId4" Type="http://schemas.openxmlformats.org/officeDocument/2006/relationships/image" Target="../media/image230.png"/></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123.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86.xml"/></Relationships>
</file>

<file path=ppt/slides/_rels/slide124.xml.rels><?xml version="1.0" encoding="UTF-8" standalone="yes"?>
<Relationships xmlns="http://schemas.openxmlformats.org/package/2006/relationships"><Relationship Id="rId2" Type="http://schemas.openxmlformats.org/officeDocument/2006/relationships/image" Target="../media/image234.png"/><Relationship Id="rId1" Type="http://schemas.openxmlformats.org/officeDocument/2006/relationships/slideLayout" Target="../slideLayouts/slideLayout86.xml"/></Relationships>
</file>

<file path=ppt/slides/_rels/slide125.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86.xml"/></Relationships>
</file>

<file path=ppt/slides/_rels/slide126.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86.xml"/></Relationships>
</file>

<file path=ppt/slides/_rels/slide127.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8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13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86.xml"/></Relationships>
</file>

<file path=ppt/slides/_rels/slide131.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86.xml"/></Relationships>
</file>

<file path=ppt/slides/_rels/slide132.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slideLayout" Target="../slideLayouts/slideLayout86.xml"/></Relationships>
</file>

<file path=ppt/slides/_rels/slide133.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86.xml"/><Relationship Id="rId5" Type="http://schemas.openxmlformats.org/officeDocument/2006/relationships/image" Target="../media/image247.png"/><Relationship Id="rId4" Type="http://schemas.openxmlformats.org/officeDocument/2006/relationships/image" Target="../media/image24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35.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png"/><Relationship Id="rId1" Type="http://schemas.openxmlformats.org/officeDocument/2006/relationships/slideLayout" Target="../slideLayouts/slideLayout86.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4.xml"/></Relationships>
</file>

<file path=ppt/slides/_rels/slide137.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86.xml"/></Relationships>
</file>

<file path=ppt/slides/_rels/slide138.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86.xml"/></Relationships>
</file>

<file path=ppt/slides/_rels/slide139.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image" Target="../media/image254.png"/><Relationship Id="rId1" Type="http://schemas.openxmlformats.org/officeDocument/2006/relationships/slideLayout" Target="../slideLayouts/slideLayout86.xml"/></Relationships>
</file>

<file path=ppt/slides/_rels/slide140.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56.png"/><Relationship Id="rId1" Type="http://schemas.openxmlformats.org/officeDocument/2006/relationships/slideLayout" Target="../slideLayouts/slideLayout86.xml"/></Relationships>
</file>

<file path=ppt/slides/_rels/slide141.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image" Target="../media/image258.png"/><Relationship Id="rId1" Type="http://schemas.openxmlformats.org/officeDocument/2006/relationships/slideLayout" Target="../slideLayouts/slideLayout86.xml"/></Relationships>
</file>

<file path=ppt/slides/_rels/slide142.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86.xml"/></Relationships>
</file>

<file path=ppt/slides/_rels/slide143.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image" Target="../media/image262.png"/><Relationship Id="rId1" Type="http://schemas.openxmlformats.org/officeDocument/2006/relationships/slideLayout" Target="../slideLayouts/slideLayout8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5.xml"/></Relationships>
</file>

<file path=ppt/slides/_rels/slide145.xml.rels><?xml version="1.0" encoding="UTF-8" standalone="yes"?>
<Relationships xmlns="http://schemas.openxmlformats.org/package/2006/relationships"><Relationship Id="rId3" Type="http://schemas.openxmlformats.org/officeDocument/2006/relationships/hyperlink" Target="https://lenovo.sharepoint.com/:p:/s/S4DiscoveryProject/IQBz3h08SVYdQZj24K35tvIGAVMoTMltRa7-E0EzGdudgMk?e=bhvfCp" TargetMode="External"/><Relationship Id="rId2" Type="http://schemas.openxmlformats.org/officeDocument/2006/relationships/notesSlide" Target="../notesSlides/notesSlide23.xml"/><Relationship Id="rId1" Type="http://schemas.openxmlformats.org/officeDocument/2006/relationships/slideLayout" Target="../slideLayouts/slideLayout8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49.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image" Target="../media/image264.png"/><Relationship Id="rId1" Type="http://schemas.openxmlformats.org/officeDocument/2006/relationships/slideLayout" Target="../slideLayouts/slideLayout86.xml"/></Relationships>
</file>

<file path=ppt/slides/_rels/slide150.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image" Target="../media/image266.png"/><Relationship Id="rId1" Type="http://schemas.openxmlformats.org/officeDocument/2006/relationships/slideLayout" Target="../slideLayouts/slideLayout86.xml"/><Relationship Id="rId5" Type="http://schemas.openxmlformats.org/officeDocument/2006/relationships/image" Target="../media/image269.png"/><Relationship Id="rId4" Type="http://schemas.openxmlformats.org/officeDocument/2006/relationships/image" Target="../media/image268.png"/></Relationships>
</file>

<file path=ppt/slides/_rels/slide151.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image" Target="../media/image270.png"/><Relationship Id="rId1" Type="http://schemas.openxmlformats.org/officeDocument/2006/relationships/slideLayout" Target="../slideLayouts/slideLayout86.xml"/></Relationships>
</file>

<file path=ppt/slides/_rels/slide152.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86.xml"/></Relationships>
</file>

<file path=ppt/slides/_rels/slide153.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3.png"/><Relationship Id="rId1" Type="http://schemas.openxmlformats.org/officeDocument/2006/relationships/slideLayout" Target="../slideLayouts/slideLayout86.xml"/></Relationships>
</file>

<file path=ppt/slides/_rels/slide154.xml.rels><?xml version="1.0" encoding="UTF-8" standalone="yes"?>
<Relationships xmlns="http://schemas.openxmlformats.org/package/2006/relationships"><Relationship Id="rId2" Type="http://schemas.openxmlformats.org/officeDocument/2006/relationships/image" Target="../media/image275.png"/><Relationship Id="rId1" Type="http://schemas.openxmlformats.org/officeDocument/2006/relationships/slideLayout" Target="../slideLayouts/slideLayout86.xml"/></Relationships>
</file>

<file path=ppt/slides/_rels/slide155.xml.rels><?xml version="1.0" encoding="UTF-8" standalone="yes"?>
<Relationships xmlns="http://schemas.openxmlformats.org/package/2006/relationships"><Relationship Id="rId3" Type="http://schemas.openxmlformats.org/officeDocument/2006/relationships/image" Target="../media/image277.png"/><Relationship Id="rId2" Type="http://schemas.openxmlformats.org/officeDocument/2006/relationships/image" Target="../media/image276.png"/><Relationship Id="rId1" Type="http://schemas.openxmlformats.org/officeDocument/2006/relationships/slideLayout" Target="../slideLayouts/slideLayout86.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58.xml.rels><?xml version="1.0" encoding="UTF-8" standalone="yes"?>
<Relationships xmlns="http://schemas.openxmlformats.org/package/2006/relationships"><Relationship Id="rId2" Type="http://schemas.openxmlformats.org/officeDocument/2006/relationships/image" Target="../media/image278.png"/><Relationship Id="rId1" Type="http://schemas.openxmlformats.org/officeDocument/2006/relationships/slideLayout" Target="../slideLayouts/slideLayout86.xml"/></Relationships>
</file>

<file path=ppt/slides/_rels/slide15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86.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62.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86.xml"/></Relationships>
</file>

<file path=ppt/slides/_rels/slide163.xml.rels><?xml version="1.0" encoding="UTF-8" standalone="yes"?>
<Relationships xmlns="http://schemas.openxmlformats.org/package/2006/relationships"><Relationship Id="rId2" Type="http://schemas.openxmlformats.org/officeDocument/2006/relationships/image" Target="../media/image282.png"/><Relationship Id="rId1" Type="http://schemas.openxmlformats.org/officeDocument/2006/relationships/slideLayout" Target="../slideLayouts/slideLayout86.xml"/></Relationships>
</file>

<file path=ppt/slides/_rels/slide164.xml.rels><?xml version="1.0" encoding="UTF-8" standalone="yes"?>
<Relationships xmlns="http://schemas.openxmlformats.org/package/2006/relationships"><Relationship Id="rId2" Type="http://schemas.openxmlformats.org/officeDocument/2006/relationships/image" Target="../media/image283.png"/><Relationship Id="rId1" Type="http://schemas.openxmlformats.org/officeDocument/2006/relationships/slideLayout" Target="../slideLayouts/slideLayout86.xml"/></Relationships>
</file>

<file path=ppt/slides/_rels/slide165.xml.rels><?xml version="1.0" encoding="UTF-8" standalone="yes"?>
<Relationships xmlns="http://schemas.openxmlformats.org/package/2006/relationships"><Relationship Id="rId2" Type="http://schemas.openxmlformats.org/officeDocument/2006/relationships/image" Target="../media/image284.png"/><Relationship Id="rId1" Type="http://schemas.openxmlformats.org/officeDocument/2006/relationships/slideLayout" Target="../slideLayouts/slideLayout8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5.xml"/></Relationships>
</file>

<file path=ppt/slides/_rels/slide167.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image" Target="../media/image285.png"/><Relationship Id="rId1" Type="http://schemas.openxmlformats.org/officeDocument/2006/relationships/slideLayout" Target="../slideLayouts/slideLayout86.xml"/><Relationship Id="rId4" Type="http://schemas.openxmlformats.org/officeDocument/2006/relationships/image" Target="../media/image287.png"/></Relationships>
</file>

<file path=ppt/slides/_rels/slide168.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image" Target="../media/image287.png"/><Relationship Id="rId1" Type="http://schemas.openxmlformats.org/officeDocument/2006/relationships/slideLayout" Target="../slideLayouts/slideLayout86.xml"/><Relationship Id="rId4" Type="http://schemas.openxmlformats.org/officeDocument/2006/relationships/image" Target="../media/image289.png"/></Relationships>
</file>

<file path=ppt/slides/_rels/slide169.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86.xml"/><Relationship Id="rId4" Type="http://schemas.openxmlformats.org/officeDocument/2006/relationships/image" Target="../media/image292.png"/></Relationships>
</file>

<file path=ppt/slides/_rels/slide170.xml.rels><?xml version="1.0" encoding="UTF-8" standalone="yes"?>
<Relationships xmlns="http://schemas.openxmlformats.org/package/2006/relationships"><Relationship Id="rId3" Type="http://schemas.openxmlformats.org/officeDocument/2006/relationships/image" Target="../media/image294.png"/><Relationship Id="rId2" Type="http://schemas.openxmlformats.org/officeDocument/2006/relationships/image" Target="../media/image293.png"/><Relationship Id="rId1" Type="http://schemas.openxmlformats.org/officeDocument/2006/relationships/slideLayout" Target="../slideLayouts/slideLayout86.xml"/></Relationships>
</file>

<file path=ppt/slides/_rels/slide171.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image" Target="../media/image295.png"/><Relationship Id="rId1" Type="http://schemas.openxmlformats.org/officeDocument/2006/relationships/slideLayout" Target="../slideLayouts/slideLayout86.xml"/></Relationships>
</file>

<file path=ppt/slides/_rels/slide172.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image" Target="../media/image297.png"/><Relationship Id="rId1" Type="http://schemas.openxmlformats.org/officeDocument/2006/relationships/slideLayout" Target="../slideLayouts/slideLayout86.xml"/></Relationships>
</file>

<file path=ppt/slides/_rels/slide17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9.png"/><Relationship Id="rId1" Type="http://schemas.openxmlformats.org/officeDocument/2006/relationships/slideLayout" Target="../slideLayouts/slideLayout86.xml"/><Relationship Id="rId4" Type="http://schemas.openxmlformats.org/officeDocument/2006/relationships/image" Target="../media/image301.png"/></Relationships>
</file>

<file path=ppt/slides/_rels/slide174.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image" Target="../media/image302.png"/><Relationship Id="rId1" Type="http://schemas.openxmlformats.org/officeDocument/2006/relationships/slideLayout" Target="../slideLayouts/slideLayout86.xml"/></Relationships>
</file>

<file path=ppt/slides/_rels/slide175.xml.rels><?xml version="1.0" encoding="UTF-8" standalone="yes"?>
<Relationships xmlns="http://schemas.openxmlformats.org/package/2006/relationships"><Relationship Id="rId2" Type="http://schemas.openxmlformats.org/officeDocument/2006/relationships/image" Target="../media/image304.png"/><Relationship Id="rId1" Type="http://schemas.openxmlformats.org/officeDocument/2006/relationships/slideLayout" Target="../slideLayouts/slideLayout86.xml"/></Relationships>
</file>

<file path=ppt/slides/_rels/slide176.xml.rels><?xml version="1.0" encoding="UTF-8" standalone="yes"?>
<Relationships xmlns="http://schemas.openxmlformats.org/package/2006/relationships"><Relationship Id="rId2" Type="http://schemas.openxmlformats.org/officeDocument/2006/relationships/image" Target="../media/image305.png"/><Relationship Id="rId1" Type="http://schemas.openxmlformats.org/officeDocument/2006/relationships/slideLayout" Target="../slideLayouts/slideLayout86.xml"/></Relationships>
</file>

<file path=ppt/slides/_rels/slide177.xml.rels><?xml version="1.0" encoding="UTF-8" standalone="yes"?>
<Relationships xmlns="http://schemas.openxmlformats.org/package/2006/relationships"><Relationship Id="rId2" Type="http://schemas.openxmlformats.org/officeDocument/2006/relationships/image" Target="../media/image306.png"/><Relationship Id="rId1" Type="http://schemas.openxmlformats.org/officeDocument/2006/relationships/slideLayout" Target="../slideLayouts/slideLayout86.xml"/></Relationships>
</file>

<file path=ppt/slides/_rels/slide178.xml.rels><?xml version="1.0" encoding="UTF-8" standalone="yes"?>
<Relationships xmlns="http://schemas.openxmlformats.org/package/2006/relationships"><Relationship Id="rId2" Type="http://schemas.openxmlformats.org/officeDocument/2006/relationships/image" Target="../media/image307.png"/><Relationship Id="rId1" Type="http://schemas.openxmlformats.org/officeDocument/2006/relationships/slideLayout" Target="../slideLayouts/slideLayout86.xml"/></Relationships>
</file>

<file path=ppt/slides/_rels/slide179.xml.rels><?xml version="1.0" encoding="UTF-8" standalone="yes"?>
<Relationships xmlns="http://schemas.openxmlformats.org/package/2006/relationships"><Relationship Id="rId2" Type="http://schemas.openxmlformats.org/officeDocument/2006/relationships/image" Target="../media/image308.png"/><Relationship Id="rId1" Type="http://schemas.openxmlformats.org/officeDocument/2006/relationships/slideLayout" Target="../slideLayouts/slideLayout86.xml"/></Relationships>
</file>

<file path=ppt/slides/_rels/slide180.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86.xml"/></Relationships>
</file>

<file path=ppt/slides/_rels/slide181.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86.xml"/></Relationships>
</file>

<file path=ppt/slides/_rels/slide182.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86.xml"/></Relationships>
</file>

<file path=ppt/slides/_rels/slide183.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29.xml"/><Relationship Id="rId1" Type="http://schemas.openxmlformats.org/officeDocument/2006/relationships/slideLayout" Target="../slideLayouts/slideLayout86.xml"/></Relationships>
</file>

<file path=ppt/slides/_rels/slide184.xml.rels><?xml version="1.0" encoding="UTF-8" standalone="yes"?>
<Relationships xmlns="http://schemas.openxmlformats.org/package/2006/relationships"><Relationship Id="rId2" Type="http://schemas.openxmlformats.org/officeDocument/2006/relationships/image" Target="../media/image313.png"/><Relationship Id="rId1" Type="http://schemas.openxmlformats.org/officeDocument/2006/relationships/slideLayout" Target="../slideLayouts/slideLayout86.xml"/></Relationships>
</file>

<file path=ppt/slides/_rels/slide185.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86.xml"/></Relationships>
</file>

<file path=ppt/slides/_rels/slide186.xml.rels><?xml version="1.0" encoding="UTF-8" standalone="yes"?>
<Relationships xmlns="http://schemas.openxmlformats.org/package/2006/relationships"><Relationship Id="rId2" Type="http://schemas.openxmlformats.org/officeDocument/2006/relationships/image" Target="../media/image315.png"/><Relationship Id="rId1" Type="http://schemas.openxmlformats.org/officeDocument/2006/relationships/slideLayout" Target="../slideLayouts/slideLayout86.xml"/></Relationships>
</file>

<file path=ppt/slides/_rels/slide187.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86.xml"/></Relationships>
</file>

<file path=ppt/slides/_rels/slide188.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86.xml"/></Relationships>
</file>

<file path=ppt/slides/_rels/slide189.xml.rels><?xml version="1.0" encoding="UTF-8" standalone="yes"?>
<Relationships xmlns="http://schemas.openxmlformats.org/package/2006/relationships"><Relationship Id="rId2" Type="http://schemas.openxmlformats.org/officeDocument/2006/relationships/image" Target="../media/image318.png"/><Relationship Id="rId1" Type="http://schemas.openxmlformats.org/officeDocument/2006/relationships/slideLayout" Target="../slideLayouts/slideLayout86.xml"/></Relationships>
</file>

<file path=ppt/slides/_rels/slide190.xml.rels><?xml version="1.0" encoding="UTF-8" standalone="yes"?>
<Relationships xmlns="http://schemas.openxmlformats.org/package/2006/relationships"><Relationship Id="rId2" Type="http://schemas.openxmlformats.org/officeDocument/2006/relationships/image" Target="../media/image319.png"/><Relationship Id="rId1" Type="http://schemas.openxmlformats.org/officeDocument/2006/relationships/slideLayout" Target="../slideLayouts/slideLayout86.xml"/></Relationships>
</file>

<file path=ppt/slides/_rels/slide191.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86.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94.xml.rels><?xml version="1.0" encoding="UTF-8" standalone="yes"?>
<Relationships xmlns="http://schemas.openxmlformats.org/package/2006/relationships"><Relationship Id="rId3" Type="http://schemas.openxmlformats.org/officeDocument/2006/relationships/image" Target="../media/image322.png"/><Relationship Id="rId2" Type="http://schemas.openxmlformats.org/officeDocument/2006/relationships/image" Target="../media/image321.png"/><Relationship Id="rId1" Type="http://schemas.openxmlformats.org/officeDocument/2006/relationships/slideLayout" Target="../slideLayouts/slideLayout86.xml"/><Relationship Id="rId4" Type="http://schemas.openxmlformats.org/officeDocument/2006/relationships/image" Target="../media/image323.png"/></Relationships>
</file>

<file path=ppt/slides/_rels/slide195.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4.png"/><Relationship Id="rId1" Type="http://schemas.openxmlformats.org/officeDocument/2006/relationships/slideLayout" Target="../slideLayouts/slideLayout86.xml"/></Relationships>
</file>

<file path=ppt/slides/_rels/slide196.xml.rels><?xml version="1.0" encoding="UTF-8" standalone="yes"?>
<Relationships xmlns="http://schemas.openxmlformats.org/package/2006/relationships"><Relationship Id="rId3" Type="http://schemas.openxmlformats.org/officeDocument/2006/relationships/image" Target="../media/image327.png"/><Relationship Id="rId2" Type="http://schemas.openxmlformats.org/officeDocument/2006/relationships/image" Target="../media/image326.png"/><Relationship Id="rId1" Type="http://schemas.openxmlformats.org/officeDocument/2006/relationships/slideLayout" Target="../slideLayouts/slideLayout86.xml"/></Relationships>
</file>

<file path=ppt/slides/_rels/slide197.xml.rels><?xml version="1.0" encoding="UTF-8" standalone="yes"?>
<Relationships xmlns="http://schemas.openxmlformats.org/package/2006/relationships"><Relationship Id="rId2" Type="http://schemas.openxmlformats.org/officeDocument/2006/relationships/slideLayout" Target="../slideLayouts/slideLayout87.xml"/><Relationship Id="rId1" Type="http://schemas.openxmlformats.org/officeDocument/2006/relationships/tags" Target="../tags/tag2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90817E4-4293-F261-4859-1E73E0969271}"/>
              </a:ext>
            </a:extLst>
          </p:cNvPr>
          <p:cNvSpPr>
            <a:spLocks noGrp="1"/>
          </p:cNvSpPr>
          <p:nvPr>
            <p:ph type="body" idx="1"/>
          </p:nvPr>
        </p:nvSpPr>
        <p:spPr>
          <a:xfrm>
            <a:off x="830114" y="2087333"/>
            <a:ext cx="6569751" cy="1323439"/>
          </a:xfrm>
        </p:spPr>
        <p:txBody>
          <a:bodyPr anchor="ctr"/>
          <a:lstStyle/>
          <a:p>
            <a:pPr marL="0" indent="0">
              <a:buNone/>
            </a:pPr>
            <a:r>
              <a:rPr lang="en-US" altLang="zh-CN" sz="8000" b="1"/>
              <a:t>KUT - NexBill</a:t>
            </a:r>
            <a:endParaRPr lang="zh-CN" altLang="en-US" sz="8000" b="1"/>
          </a:p>
        </p:txBody>
      </p:sp>
      <p:sp>
        <p:nvSpPr>
          <p:cNvPr id="5" name="文本占位符 2">
            <a:extLst>
              <a:ext uri="{FF2B5EF4-FFF2-40B4-BE49-F238E27FC236}">
                <a16:creationId xmlns:a16="http://schemas.microsoft.com/office/drawing/2014/main" id="{20C5D37C-B42F-F0D5-4E4B-2C73906F1D4F}"/>
              </a:ext>
            </a:extLst>
          </p:cNvPr>
          <p:cNvSpPr txBox="1">
            <a:spLocks/>
          </p:cNvSpPr>
          <p:nvPr/>
        </p:nvSpPr>
        <p:spPr bwMode="auto">
          <a:xfrm>
            <a:off x="1000294" y="4234521"/>
            <a:ext cx="2891832" cy="4308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88913" indent="-188913" algn="l" rtl="0" eaLnBrk="1" fontAlgn="base" hangingPunct="1">
              <a:spcBef>
                <a:spcPct val="20000"/>
              </a:spcBef>
              <a:spcAft>
                <a:spcPct val="0"/>
              </a:spcAft>
              <a:buChar char="›"/>
              <a:defRPr sz="2400" baseline="0">
                <a:solidFill>
                  <a:schemeClr val="bg1"/>
                </a:solidFill>
                <a:latin typeface="+mj-lt"/>
                <a:ea typeface="+mn-ea"/>
                <a:cs typeface="+mn-cs"/>
              </a:defRPr>
            </a:lvl1pPr>
            <a:lvl2pPr marL="566738" indent="-187325" algn="l" rtl="0" eaLnBrk="1" fontAlgn="base" hangingPunct="1">
              <a:spcBef>
                <a:spcPct val="20000"/>
              </a:spcBef>
              <a:spcAft>
                <a:spcPct val="0"/>
              </a:spcAft>
              <a:buChar char="»"/>
              <a:defRPr sz="2400">
                <a:solidFill>
                  <a:schemeClr val="bg1"/>
                </a:solidFill>
                <a:latin typeface="+mj-lt"/>
              </a:defRPr>
            </a:lvl2pPr>
            <a:lvl3pPr marL="955675" indent="-1588" algn="l" rtl="0" eaLnBrk="1" fontAlgn="base" hangingPunct="1">
              <a:spcBef>
                <a:spcPct val="20000"/>
              </a:spcBef>
              <a:spcAft>
                <a:spcPct val="0"/>
              </a:spcAft>
              <a:buChar char="•"/>
              <a:defRPr sz="2400">
                <a:solidFill>
                  <a:schemeClr val="bg1"/>
                </a:solidFill>
                <a:latin typeface="+mj-lt"/>
              </a:defRPr>
            </a:lvl3pPr>
            <a:lvl4pPr marL="1146175" indent="1588" algn="l" rtl="0" eaLnBrk="1" fontAlgn="base" hangingPunct="1">
              <a:spcBef>
                <a:spcPct val="20000"/>
              </a:spcBef>
              <a:spcAft>
                <a:spcPct val="0"/>
              </a:spcAft>
              <a:buChar char="–"/>
              <a:defRPr sz="2400">
                <a:solidFill>
                  <a:schemeClr val="bg1"/>
                </a:solidFill>
                <a:latin typeface="+mj-lt"/>
              </a:defRPr>
            </a:lvl4pPr>
            <a:lvl5pPr marL="1520825" indent="307975" algn="l" rtl="0" eaLnBrk="1" fontAlgn="base" hangingPunct="1">
              <a:spcBef>
                <a:spcPct val="20000"/>
              </a:spcBef>
              <a:spcAft>
                <a:spcPct val="0"/>
              </a:spcAft>
              <a:buChar char="»"/>
              <a:defRPr sz="2400">
                <a:solidFill>
                  <a:schemeClr val="bg1"/>
                </a:solidFill>
                <a:latin typeface="+mj-lt"/>
              </a:defRPr>
            </a:lvl5pPr>
            <a:lvl6pPr marL="1978025" algn="l" rtl="0" eaLnBrk="1" fontAlgn="base" hangingPunct="1">
              <a:spcBef>
                <a:spcPct val="20000"/>
              </a:spcBef>
              <a:spcAft>
                <a:spcPct val="0"/>
              </a:spcAft>
              <a:buChar char="»"/>
              <a:defRPr sz="2400">
                <a:solidFill>
                  <a:schemeClr val="tx1"/>
                </a:solidFill>
                <a:latin typeface="+mn-lt"/>
              </a:defRPr>
            </a:lvl6pPr>
            <a:lvl7pPr marL="2435225" algn="l" rtl="0" eaLnBrk="1" fontAlgn="base" hangingPunct="1">
              <a:spcBef>
                <a:spcPct val="20000"/>
              </a:spcBef>
              <a:spcAft>
                <a:spcPct val="0"/>
              </a:spcAft>
              <a:buChar char="»"/>
              <a:defRPr sz="2400">
                <a:solidFill>
                  <a:schemeClr val="tx1"/>
                </a:solidFill>
                <a:latin typeface="+mn-lt"/>
              </a:defRPr>
            </a:lvl7pPr>
            <a:lvl8pPr marL="2892425" algn="l" rtl="0" eaLnBrk="1" fontAlgn="base" hangingPunct="1">
              <a:spcBef>
                <a:spcPct val="20000"/>
              </a:spcBef>
              <a:spcAft>
                <a:spcPct val="0"/>
              </a:spcAft>
              <a:buChar char="»"/>
              <a:defRPr sz="2400">
                <a:solidFill>
                  <a:schemeClr val="tx1"/>
                </a:solidFill>
                <a:latin typeface="+mn-lt"/>
              </a:defRPr>
            </a:lvl8pPr>
            <a:lvl9pPr marL="3349625" algn="l" rtl="0" eaLnBrk="1" fontAlgn="base" hangingPunct="1">
              <a:spcBef>
                <a:spcPct val="20000"/>
              </a:spcBef>
              <a:spcAft>
                <a:spcPct val="0"/>
              </a:spcAft>
              <a:buChar char="»"/>
              <a:defRPr sz="2400">
                <a:solidFill>
                  <a:schemeClr val="tx1"/>
                </a:solidFill>
                <a:latin typeface="+mn-lt"/>
              </a:defRPr>
            </a:lvl9pPr>
          </a:lstStyle>
          <a:p>
            <a:r>
              <a:rPr lang="en-US" altLang="zh-CN" sz="1000" kern="0">
                <a:latin typeface="+mn-lt"/>
              </a:rPr>
              <a:t>Duration:		2</a:t>
            </a:r>
            <a:r>
              <a:rPr lang="zh-CN" altLang="en-US" sz="1000" kern="0">
                <a:latin typeface="+mn-lt"/>
              </a:rPr>
              <a:t> </a:t>
            </a:r>
            <a:r>
              <a:rPr lang="en-US" altLang="zh-CN" sz="1000" kern="0">
                <a:latin typeface="+mn-lt"/>
              </a:rPr>
              <a:t>Hours</a:t>
            </a:r>
          </a:p>
          <a:p>
            <a:r>
              <a:rPr lang="en-US" altLang="zh-CN" sz="1000" kern="0">
                <a:latin typeface="+mn-lt"/>
              </a:rPr>
              <a:t>Audience: 		LOT | F&amp;A</a:t>
            </a:r>
            <a:endParaRPr lang="zh-CN" altLang="en-US" sz="1000" kern="0">
              <a:latin typeface="+mn-lt"/>
            </a:endParaRPr>
          </a:p>
        </p:txBody>
      </p:sp>
    </p:spTree>
    <p:extLst>
      <p:ext uri="{BB962C8B-B14F-4D97-AF65-F5344CB8AC3E}">
        <p14:creationId xmlns:p14="http://schemas.microsoft.com/office/powerpoint/2010/main" val="47364304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B8F3A-FF8B-621E-7DD7-17E766005FF9}"/>
              </a:ext>
            </a:extLst>
          </p:cNvPr>
          <p:cNvSpPr>
            <a:spLocks noGrp="1"/>
          </p:cNvSpPr>
          <p:nvPr>
            <p:ph type="title"/>
          </p:nvPr>
        </p:nvSpPr>
        <p:spPr/>
        <p:txBody>
          <a:bodyPr/>
          <a:lstStyle/>
          <a:p>
            <a:r>
              <a:rPr lang="en-US" altLang="zh-CN"/>
              <a:t>Agenda</a:t>
            </a:r>
            <a:endParaRPr lang="zh-CN" altLang="en-US"/>
          </a:p>
        </p:txBody>
      </p:sp>
      <p:sp>
        <p:nvSpPr>
          <p:cNvPr id="5" name="文本占位符 1">
            <a:extLst>
              <a:ext uri="{FF2B5EF4-FFF2-40B4-BE49-F238E27FC236}">
                <a16:creationId xmlns:a16="http://schemas.microsoft.com/office/drawing/2014/main" id="{0F0C2D9C-FBE4-81BF-1171-B3FBCBD9401C}"/>
              </a:ext>
            </a:extLst>
          </p:cNvPr>
          <p:cNvSpPr txBox="1">
            <a:spLocks noGrp="1"/>
          </p:cNvSpPr>
          <p:nvPr>
            <p:ph type="body" sz="quarter" idx="12"/>
          </p:nvPr>
        </p:nvSpPr>
        <p:spPr bwMode="white">
          <a:xfrm>
            <a:off x="488932" y="1875166"/>
            <a:ext cx="6933090" cy="3569888"/>
          </a:xfrm>
          <a:prstGeom prst="rect">
            <a:avLst/>
          </a:prstGeom>
        </p:spPr>
        <p:txBody>
          <a:bodyPr wrap="square" lIns="0" tIns="0" rIns="0" bIns="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1600">
                <a:solidFill>
                  <a:schemeClr val="tx1"/>
                </a:solidFill>
                <a:cs typeface="Cascadia Code" panose="020B0609020000020004" pitchFamily="49" charset="0"/>
              </a:rPr>
              <a:t>Login &amp; Setting		5	- Joy Jiang</a:t>
            </a:r>
            <a:endParaRPr lang="en-US" altLang="zh-CN" kern="0">
              <a:solidFill>
                <a:schemeClr val="tx1"/>
              </a:solidFill>
              <a:latin typeface="+mn-lt"/>
              <a:cs typeface="Cascadia Code" panose="020B0609020000020004" pitchFamily="49" charset="0"/>
            </a:endParaRP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Home			25	- Joy Jiang | Xuezhi Ding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Master Data 		10	- Joy Jiang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Entitled Price Record 	10	- Joy Jiang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Order Management	40	- Joy Jiang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Invoice Management 	40	- Xuezhi Ding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Finance &amp; Accounting	30	- Sterling Zeng | </a:t>
            </a:r>
            <a:r>
              <a:rPr lang="en-US" altLang="zh-CN" kern="0" err="1">
                <a:solidFill>
                  <a:schemeClr val="tx1"/>
                </a:solidFill>
                <a:latin typeface="+mn-lt"/>
                <a:cs typeface="Cascadia Code" panose="020B0609020000020004" pitchFamily="49" charset="0"/>
              </a:rPr>
              <a:t>Yongcan</a:t>
            </a:r>
            <a:r>
              <a:rPr lang="en-US" altLang="zh-CN" kern="0">
                <a:solidFill>
                  <a:schemeClr val="tx1"/>
                </a:solidFill>
                <a:latin typeface="+mn-lt"/>
                <a:cs typeface="Cascadia Code" panose="020B0609020000020004" pitchFamily="49" charset="0"/>
              </a:rPr>
              <a:t> Li</a:t>
            </a:r>
            <a:endParaRPr lang="zh-CN" altLang="en-US" kern="0">
              <a:solidFill>
                <a:schemeClr val="tx1"/>
              </a:solidFill>
              <a:latin typeface="+mn-lt"/>
              <a:cs typeface="Cascadia Code" panose="020B0609020000020004" pitchFamily="49" charset="0"/>
            </a:endParaRP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Device List 		</a:t>
            </a:r>
            <a:r>
              <a:rPr lang="en-US" altLang="zh-CN">
                <a:solidFill>
                  <a:schemeClr val="tx1"/>
                </a:solidFill>
                <a:latin typeface="+mn-lt"/>
                <a:cs typeface="Cascadia Code" panose="020B0609020000020004" pitchFamily="49" charset="0"/>
              </a:rPr>
              <a:t>5</a:t>
            </a:r>
            <a:r>
              <a:rPr lang="en-US" altLang="zh-CN" kern="0">
                <a:solidFill>
                  <a:schemeClr val="tx1"/>
                </a:solidFill>
                <a:latin typeface="+mn-lt"/>
                <a:cs typeface="Cascadia Code" panose="020B0609020000020004" pitchFamily="49" charset="0"/>
              </a:rPr>
              <a:t>	- Joy Jiang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Usage Metering 		10	- Joy Jiang</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Report 		40	- Joy Jiang |  Xuezhi Ding | </a:t>
            </a:r>
            <a:r>
              <a:rPr lang="en-US" altLang="zh-CN" kern="0" err="1">
                <a:solidFill>
                  <a:schemeClr val="tx1"/>
                </a:solidFill>
                <a:latin typeface="+mn-lt"/>
                <a:cs typeface="Cascadia Code" panose="020B0609020000020004" pitchFamily="49" charset="0"/>
              </a:rPr>
              <a:t>Yongcan</a:t>
            </a:r>
            <a:r>
              <a:rPr lang="en-US" altLang="zh-CN" kern="0">
                <a:solidFill>
                  <a:schemeClr val="tx1"/>
                </a:solidFill>
                <a:latin typeface="+mn-lt"/>
                <a:cs typeface="Cascadia Code" panose="020B0609020000020004" pitchFamily="49" charset="0"/>
              </a:rPr>
              <a:t> Li</a:t>
            </a:r>
          </a:p>
          <a:p>
            <a:pPr marL="342900" indent="-342900">
              <a:lnSpc>
                <a:spcPct val="150000"/>
              </a:lnSpc>
              <a:buFont typeface="+mj-lt"/>
              <a:buAutoNum type="arabicPeriod"/>
            </a:pPr>
            <a:r>
              <a:rPr lang="en-US" altLang="zh-CN" kern="0">
                <a:solidFill>
                  <a:schemeClr val="tx1"/>
                </a:solidFill>
                <a:latin typeface="+mn-lt"/>
                <a:cs typeface="Cascadia Code" panose="020B0609020000020004" pitchFamily="49" charset="0"/>
              </a:rPr>
              <a:t>Approval Center		10	- Joy Jiang</a:t>
            </a:r>
          </a:p>
        </p:txBody>
      </p:sp>
    </p:spTree>
    <p:extLst>
      <p:ext uri="{BB962C8B-B14F-4D97-AF65-F5344CB8AC3E}">
        <p14:creationId xmlns:p14="http://schemas.microsoft.com/office/powerpoint/2010/main" val="264406961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B8453-B317-0769-9A9A-0F1F2B898C06}"/>
            </a:ext>
          </a:extLst>
        </p:cNvPr>
        <p:cNvGrpSpPr/>
        <p:nvPr/>
      </p:nvGrpSpPr>
      <p:grpSpPr>
        <a:xfrm>
          <a:off x="0" y="0"/>
          <a:ext cx="0" cy="0"/>
          <a:chOff x="0" y="0"/>
          <a:chExt cx="0" cy="0"/>
        </a:xfrm>
      </p:grpSpPr>
      <p:graphicFrame>
        <p:nvGraphicFramePr>
          <p:cNvPr id="174" name="thinkcell data - do not delete" hidden="1">
            <a:extLst>
              <a:ext uri="{FF2B5EF4-FFF2-40B4-BE49-F238E27FC236}">
                <a16:creationId xmlns:a16="http://schemas.microsoft.com/office/drawing/2014/main" id="{0D71F2EE-3875-2FB3-A513-65C88C903824}"/>
              </a:ext>
            </a:extLst>
          </p:cNvPr>
          <p:cNvGraphicFramePr>
            <a:graphicFrameLocks/>
          </p:cNvGraphicFramePr>
          <p:nvPr>
            <p:custDataLst>
              <p:tags r:id="rId1"/>
            </p:custDataLst>
            <p:extLst>
              <p:ext uri="{D42A27DB-BD31-4B8C-83A1-F6EECF244321}">
                <p14:modId xmlns:p14="http://schemas.microsoft.com/office/powerpoint/2010/main" val="95479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6" imgH="456" progId="TCLayout.ActiveDocument.1">
                  <p:embed/>
                </p:oleObj>
              </mc:Choice>
              <mc:Fallback>
                <p:oleObj name="thinkcell Slide" r:id="rId3" imgW="456" imgH="456" progId="TCLayout.ActiveDocument.1">
                  <p:embed/>
                  <p:pic>
                    <p:nvPicPr>
                      <p:cNvPr id="174" name="thinkcell data - do not delete" hidden="1">
                        <a:extLst>
                          <a:ext uri="{FF2B5EF4-FFF2-40B4-BE49-F238E27FC236}">
                            <a16:creationId xmlns:a16="http://schemas.microsoft.com/office/drawing/2014/main" id="{0D71F2EE-3875-2FB3-A513-65C88C9038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标题 2">
            <a:extLst>
              <a:ext uri="{FF2B5EF4-FFF2-40B4-BE49-F238E27FC236}">
                <a16:creationId xmlns:a16="http://schemas.microsoft.com/office/drawing/2014/main" id="{AC5640E0-3F1A-065D-4A90-B8CBE11BF9D1}"/>
              </a:ext>
            </a:extLst>
          </p:cNvPr>
          <p:cNvSpPr>
            <a:spLocks noGrp="1"/>
          </p:cNvSpPr>
          <p:nvPr>
            <p:ph type="title"/>
          </p:nvPr>
        </p:nvSpPr>
        <p:spPr/>
        <p:txBody>
          <a:bodyPr vert="horz" rIns="0"/>
          <a:lstStyle/>
          <a:p>
            <a:r>
              <a:rPr lang="en-US" altLang="zh-CN" err="1"/>
              <a:t>NexBill</a:t>
            </a:r>
            <a:r>
              <a:rPr lang="en-US" altLang="zh-CN"/>
              <a:t> Program Overview</a:t>
            </a:r>
            <a:endParaRPr lang="zh-CN" altLang="en-US"/>
          </a:p>
        </p:txBody>
      </p:sp>
      <p:sp>
        <p:nvSpPr>
          <p:cNvPr id="5" name="Text 2">
            <a:extLst>
              <a:ext uri="{FF2B5EF4-FFF2-40B4-BE49-F238E27FC236}">
                <a16:creationId xmlns:a16="http://schemas.microsoft.com/office/drawing/2014/main" id="{21B85EBE-7F87-95EE-CEA4-FC6C1ED6156C}"/>
              </a:ext>
            </a:extLst>
          </p:cNvPr>
          <p:cNvSpPr/>
          <p:nvPr/>
        </p:nvSpPr>
        <p:spPr>
          <a:xfrm>
            <a:off x="585216" y="804672"/>
            <a:ext cx="996696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5B6472"/>
                </a:solidFill>
                <a:effectLst/>
                <a:uLnTx/>
                <a:uFillTx/>
                <a:latin typeface="Aptos"/>
                <a:ea typeface="+mn-ea"/>
                <a:cs typeface="+mn-cs"/>
              </a:rPr>
              <a:t>Transform invoicing from fragmented manual execution to a controlled, automated process</a:t>
            </a:r>
            <a:endParaRPr kumimoji="0" lang="en-US" sz="1350" b="0" i="0" u="none" strike="noStrike" kern="1200" cap="none" spc="0" normalizeH="0" baseline="0" noProof="0">
              <a:ln>
                <a:noFill/>
              </a:ln>
              <a:solidFill>
                <a:prstClr val="black"/>
              </a:solidFill>
              <a:effectLst/>
              <a:uLnTx/>
              <a:uFillTx/>
              <a:latin typeface="Aptos"/>
              <a:ea typeface="+mn-ea"/>
              <a:cs typeface="+mn-cs"/>
            </a:endParaRPr>
          </a:p>
        </p:txBody>
      </p:sp>
      <p:sp>
        <p:nvSpPr>
          <p:cNvPr id="9" name="Shape 5">
            <a:extLst>
              <a:ext uri="{FF2B5EF4-FFF2-40B4-BE49-F238E27FC236}">
                <a16:creationId xmlns:a16="http://schemas.microsoft.com/office/drawing/2014/main" id="{2B5CC098-5722-0899-187D-04DD8D826062}"/>
              </a:ext>
            </a:extLst>
          </p:cNvPr>
          <p:cNvSpPr/>
          <p:nvPr/>
        </p:nvSpPr>
        <p:spPr>
          <a:xfrm>
            <a:off x="566928" y="1207008"/>
            <a:ext cx="11045952" cy="749808"/>
          </a:xfrm>
          <a:prstGeom prst="roundRect">
            <a:avLst>
              <a:gd name="adj" fmla="val 9756"/>
            </a:avLst>
          </a:prstGeom>
          <a:solidFill>
            <a:srgbClr val="172033"/>
          </a:solidFill>
          <a:ln w="12700">
            <a:solidFill>
              <a:srgbClr val="172033"/>
            </a:solidFill>
            <a:prstDash val="solid"/>
          </a:ln>
          <a:effectLst>
            <a:outerShdw blurRad="19050" dist="7620" dir="2700000" algn="bl" rotWithShape="0">
              <a:srgbClr val="000000">
                <a:alpha val="12000"/>
              </a:srgbClr>
            </a:outerShdw>
          </a:effectLst>
        </p:spPr>
        <p:txBody>
          <a:bodyPr/>
          <a:lstStyle/>
          <a:p>
            <a:endParaRPr lang="en-US"/>
          </a:p>
        </p:txBody>
      </p:sp>
      <p:sp>
        <p:nvSpPr>
          <p:cNvPr id="11" name="Text 6">
            <a:extLst>
              <a:ext uri="{FF2B5EF4-FFF2-40B4-BE49-F238E27FC236}">
                <a16:creationId xmlns:a16="http://schemas.microsoft.com/office/drawing/2014/main" id="{8889A036-0C15-7118-5141-A0FEA02FC061}"/>
              </a:ext>
            </a:extLst>
          </p:cNvPr>
          <p:cNvSpPr/>
          <p:nvPr/>
        </p:nvSpPr>
        <p:spPr>
          <a:xfrm>
            <a:off x="786384" y="1417320"/>
            <a:ext cx="15087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80" normalizeH="0" baseline="0" noProof="0">
                <a:ln>
                  <a:noFill/>
                </a:ln>
                <a:solidFill>
                  <a:srgbClr val="AAB4C3"/>
                </a:solidFill>
                <a:effectLst/>
                <a:uLnTx/>
                <a:uFillTx/>
                <a:latin typeface="Aptos"/>
                <a:ea typeface="+mn-ea"/>
                <a:cs typeface="+mn-cs"/>
              </a:rPr>
              <a:t>BUSINESS OBJECTIVE</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7">
            <a:extLst>
              <a:ext uri="{FF2B5EF4-FFF2-40B4-BE49-F238E27FC236}">
                <a16:creationId xmlns:a16="http://schemas.microsoft.com/office/drawing/2014/main" id="{3E153DDA-8BB9-F8A1-C3DB-09788790AC61}"/>
              </a:ext>
            </a:extLst>
          </p:cNvPr>
          <p:cNvSpPr/>
          <p:nvPr/>
        </p:nvSpPr>
        <p:spPr>
          <a:xfrm>
            <a:off x="2286000" y="1335024"/>
            <a:ext cx="9006840" cy="365760"/>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ptos"/>
                <a:ea typeface="+mn-ea"/>
                <a:cs typeface="+mn-cs"/>
              </a:rPr>
              <a:t>Decommission BRIM and establish NexBill as the invoicing platform, meeting U.S. data-regulatory requirements while improving invoice timeliness, completeness, and accuracy.</a:t>
            </a:r>
            <a:endParaRPr kumimoji="0" lang="en-US" sz="14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8">
            <a:extLst>
              <a:ext uri="{FF2B5EF4-FFF2-40B4-BE49-F238E27FC236}">
                <a16:creationId xmlns:a16="http://schemas.microsoft.com/office/drawing/2014/main" id="{EDD34AEA-DC53-5F96-B5A5-4501F542F527}"/>
              </a:ext>
            </a:extLst>
          </p:cNvPr>
          <p:cNvSpPr/>
          <p:nvPr/>
        </p:nvSpPr>
        <p:spPr>
          <a:xfrm>
            <a:off x="566928" y="2139696"/>
            <a:ext cx="1865376" cy="822960"/>
          </a:xfrm>
          <a:prstGeom prst="roundRect">
            <a:avLst>
              <a:gd name="adj" fmla="val 7778"/>
            </a:avLst>
          </a:prstGeom>
          <a:solidFill>
            <a:srgbClr val="FFF7E8"/>
          </a:solidFill>
          <a:ln w="12700">
            <a:solidFill>
              <a:srgbClr val="D97706">
                <a:alpha val="30000"/>
              </a:srgbClr>
            </a:solidFill>
            <a:prstDash val="solid"/>
          </a:ln>
        </p:spPr>
        <p:txBody>
          <a:bodyPr/>
          <a:lstStyle/>
          <a:p>
            <a:endParaRPr lang="en-US"/>
          </a:p>
        </p:txBody>
      </p:sp>
      <p:sp>
        <p:nvSpPr>
          <p:cNvPr id="17" name="Text 9">
            <a:extLst>
              <a:ext uri="{FF2B5EF4-FFF2-40B4-BE49-F238E27FC236}">
                <a16:creationId xmlns:a16="http://schemas.microsoft.com/office/drawing/2014/main" id="{DADA59F2-2A0F-0978-7EEB-9BBC3C012F0A}"/>
              </a:ext>
            </a:extLst>
          </p:cNvPr>
          <p:cNvSpPr/>
          <p:nvPr/>
        </p:nvSpPr>
        <p:spPr>
          <a:xfrm>
            <a:off x="704088" y="2267712"/>
            <a:ext cx="1591056"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50" normalizeH="0" baseline="0" noProof="0">
                <a:ln>
                  <a:noFill/>
                </a:ln>
                <a:solidFill>
                  <a:srgbClr val="D97706"/>
                </a:solidFill>
                <a:effectLst/>
                <a:uLnTx/>
                <a:uFillTx/>
                <a:latin typeface="Aptos"/>
                <a:ea typeface="+mn-ea"/>
                <a:cs typeface="+mn-cs"/>
              </a:rPr>
              <a:t>CURRENT TIMELINESS</a:t>
            </a:r>
            <a:endParaRPr kumimoji="0" lang="en-US" sz="85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0">
            <a:extLst>
              <a:ext uri="{FF2B5EF4-FFF2-40B4-BE49-F238E27FC236}">
                <a16:creationId xmlns:a16="http://schemas.microsoft.com/office/drawing/2014/main" id="{6E6C5D83-1903-4623-828F-187F5D2058CD}"/>
              </a:ext>
            </a:extLst>
          </p:cNvPr>
          <p:cNvSpPr/>
          <p:nvPr/>
        </p:nvSpPr>
        <p:spPr>
          <a:xfrm>
            <a:off x="704088" y="2468880"/>
            <a:ext cx="1591056" cy="320040"/>
          </a:xfrm>
          <a:prstGeom prst="rect">
            <a:avLst/>
          </a:prstGeom>
          <a:noFill/>
          <a:ln/>
        </p:spPr>
        <p:txBody>
          <a:bodyPr wrap="square" lIns="0" tIns="0" rIns="0" bIns="0"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72033"/>
                </a:solidFill>
                <a:effectLst/>
                <a:uLnTx/>
                <a:uFillTx/>
                <a:latin typeface="Aptos"/>
                <a:ea typeface="+mn-ea"/>
                <a:cs typeface="+mn-cs"/>
              </a:rPr>
              <a:t>57%</a:t>
            </a:r>
            <a:endParaRPr kumimoji="0" lang="en-US" sz="2400" b="0" i="0" u="none" strike="noStrike" kern="1200" cap="none" spc="0" normalizeH="0" baseline="0" noProof="0">
              <a:ln>
                <a:noFill/>
              </a:ln>
              <a:solidFill>
                <a:prstClr val="black"/>
              </a:solidFill>
              <a:effectLst/>
              <a:uLnTx/>
              <a:uFillTx/>
              <a:latin typeface="Aptos"/>
              <a:ea typeface="+mn-ea"/>
              <a:cs typeface="+mn-cs"/>
            </a:endParaRPr>
          </a:p>
        </p:txBody>
      </p:sp>
      <p:sp>
        <p:nvSpPr>
          <p:cNvPr id="47" name="Shape 11">
            <a:extLst>
              <a:ext uri="{FF2B5EF4-FFF2-40B4-BE49-F238E27FC236}">
                <a16:creationId xmlns:a16="http://schemas.microsoft.com/office/drawing/2014/main" id="{1B32E550-343A-30B9-5578-5361D934A508}"/>
              </a:ext>
            </a:extLst>
          </p:cNvPr>
          <p:cNvSpPr/>
          <p:nvPr/>
        </p:nvSpPr>
        <p:spPr>
          <a:xfrm>
            <a:off x="2615184" y="2139696"/>
            <a:ext cx="1865376" cy="822960"/>
          </a:xfrm>
          <a:prstGeom prst="roundRect">
            <a:avLst>
              <a:gd name="adj" fmla="val 7778"/>
            </a:avLst>
          </a:prstGeom>
          <a:solidFill>
            <a:srgbClr val="FFF1F0"/>
          </a:solidFill>
          <a:ln w="12700">
            <a:solidFill>
              <a:srgbClr val="E2231A">
                <a:alpha val="30000"/>
              </a:srgbClr>
            </a:solidFill>
            <a:prstDash val="solid"/>
          </a:ln>
        </p:spPr>
        <p:txBody>
          <a:bodyPr/>
          <a:lstStyle/>
          <a:p>
            <a:endParaRPr lang="en-US"/>
          </a:p>
        </p:txBody>
      </p:sp>
      <p:sp>
        <p:nvSpPr>
          <p:cNvPr id="49" name="Text 12">
            <a:extLst>
              <a:ext uri="{FF2B5EF4-FFF2-40B4-BE49-F238E27FC236}">
                <a16:creationId xmlns:a16="http://schemas.microsoft.com/office/drawing/2014/main" id="{D525359B-1A25-5D5E-1E45-18AD376E2A25}"/>
              </a:ext>
            </a:extLst>
          </p:cNvPr>
          <p:cNvSpPr/>
          <p:nvPr/>
        </p:nvSpPr>
        <p:spPr>
          <a:xfrm>
            <a:off x="2752344" y="2267712"/>
            <a:ext cx="1591056"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50" normalizeH="0" baseline="0" noProof="0">
                <a:ln>
                  <a:noFill/>
                </a:ln>
                <a:solidFill>
                  <a:srgbClr val="E2231A"/>
                </a:solidFill>
                <a:effectLst/>
                <a:uLnTx/>
                <a:uFillTx/>
                <a:latin typeface="Aptos"/>
                <a:ea typeface="+mn-ea"/>
                <a:cs typeface="+mn-cs"/>
              </a:rPr>
              <a:t>CURRENT ACCURACY</a:t>
            </a:r>
            <a:endParaRPr kumimoji="0" lang="en-US" sz="850" b="0" i="0" u="none" strike="noStrike" kern="1200" cap="none" spc="0" normalizeH="0" baseline="0" noProof="0">
              <a:ln>
                <a:noFill/>
              </a:ln>
              <a:solidFill>
                <a:prstClr val="black"/>
              </a:solidFill>
              <a:effectLst/>
              <a:uLnTx/>
              <a:uFillTx/>
              <a:latin typeface="Aptos"/>
              <a:ea typeface="+mn-ea"/>
              <a:cs typeface="+mn-cs"/>
            </a:endParaRPr>
          </a:p>
        </p:txBody>
      </p:sp>
      <p:sp>
        <p:nvSpPr>
          <p:cNvPr id="51" name="Text 13">
            <a:extLst>
              <a:ext uri="{FF2B5EF4-FFF2-40B4-BE49-F238E27FC236}">
                <a16:creationId xmlns:a16="http://schemas.microsoft.com/office/drawing/2014/main" id="{C02848A9-FCA2-1C6D-1398-CB08C940603E}"/>
              </a:ext>
            </a:extLst>
          </p:cNvPr>
          <p:cNvSpPr/>
          <p:nvPr/>
        </p:nvSpPr>
        <p:spPr>
          <a:xfrm>
            <a:off x="2752344" y="2468880"/>
            <a:ext cx="1591056" cy="320040"/>
          </a:xfrm>
          <a:prstGeom prst="rect">
            <a:avLst/>
          </a:prstGeom>
          <a:noFill/>
          <a:ln/>
        </p:spPr>
        <p:txBody>
          <a:bodyPr wrap="square" lIns="0" tIns="0" rIns="0" bIns="0"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72033"/>
                </a:solidFill>
                <a:effectLst/>
                <a:uLnTx/>
                <a:uFillTx/>
                <a:latin typeface="Aptos"/>
                <a:ea typeface="+mn-ea"/>
                <a:cs typeface="+mn-cs"/>
              </a:rPr>
              <a:t>45%</a:t>
            </a:r>
            <a:endParaRPr kumimoji="0" lang="en-US" sz="2400" b="0" i="0" u="none" strike="noStrike" kern="1200" cap="none" spc="0" normalizeH="0" baseline="0" noProof="0">
              <a:ln>
                <a:noFill/>
              </a:ln>
              <a:solidFill>
                <a:prstClr val="black"/>
              </a:solidFill>
              <a:effectLst/>
              <a:uLnTx/>
              <a:uFillTx/>
              <a:latin typeface="Aptos"/>
              <a:ea typeface="+mn-ea"/>
              <a:cs typeface="+mn-cs"/>
            </a:endParaRPr>
          </a:p>
        </p:txBody>
      </p:sp>
      <p:sp>
        <p:nvSpPr>
          <p:cNvPr id="53" name="Shape 14">
            <a:extLst>
              <a:ext uri="{FF2B5EF4-FFF2-40B4-BE49-F238E27FC236}">
                <a16:creationId xmlns:a16="http://schemas.microsoft.com/office/drawing/2014/main" id="{D0F4E1A6-6D03-EB5D-9C70-7C160061027B}"/>
              </a:ext>
            </a:extLst>
          </p:cNvPr>
          <p:cNvSpPr/>
          <p:nvPr/>
        </p:nvSpPr>
        <p:spPr>
          <a:xfrm>
            <a:off x="4663440" y="2139696"/>
            <a:ext cx="2953512" cy="822960"/>
          </a:xfrm>
          <a:prstGeom prst="roundRect">
            <a:avLst>
              <a:gd name="adj" fmla="val 7778"/>
            </a:avLst>
          </a:prstGeom>
          <a:solidFill>
            <a:srgbClr val="EAF7F3"/>
          </a:solidFill>
          <a:ln w="12700">
            <a:solidFill>
              <a:srgbClr val="16836B">
                <a:alpha val="30000"/>
              </a:srgbClr>
            </a:solidFill>
            <a:prstDash val="solid"/>
          </a:ln>
        </p:spPr>
        <p:txBody>
          <a:bodyPr/>
          <a:lstStyle/>
          <a:p>
            <a:endParaRPr lang="en-US"/>
          </a:p>
        </p:txBody>
      </p:sp>
      <p:sp>
        <p:nvSpPr>
          <p:cNvPr id="55" name="Text 15">
            <a:extLst>
              <a:ext uri="{FF2B5EF4-FFF2-40B4-BE49-F238E27FC236}">
                <a16:creationId xmlns:a16="http://schemas.microsoft.com/office/drawing/2014/main" id="{3D9B40F4-9DBB-D395-6D3F-CADDEAECE85C}"/>
              </a:ext>
            </a:extLst>
          </p:cNvPr>
          <p:cNvSpPr/>
          <p:nvPr/>
        </p:nvSpPr>
        <p:spPr>
          <a:xfrm>
            <a:off x="4800600" y="2267712"/>
            <a:ext cx="2679192"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50" normalizeH="0" baseline="0" noProof="0">
                <a:ln>
                  <a:noFill/>
                </a:ln>
                <a:solidFill>
                  <a:srgbClr val="16836B"/>
                </a:solidFill>
                <a:effectLst/>
                <a:uLnTx/>
                <a:uFillTx/>
                <a:latin typeface="Aptos"/>
                <a:ea typeface="+mn-ea"/>
                <a:cs typeface="+mn-cs"/>
              </a:rPr>
              <a:t>BUSINESS GOAL</a:t>
            </a:r>
            <a:endParaRPr kumimoji="0" lang="en-US" sz="850" b="0" i="0" u="none" strike="noStrike" kern="1200" cap="none" spc="0" normalizeH="0" baseline="0" noProof="0">
              <a:ln>
                <a:noFill/>
              </a:ln>
              <a:solidFill>
                <a:prstClr val="black"/>
              </a:solidFill>
              <a:effectLst/>
              <a:uLnTx/>
              <a:uFillTx/>
              <a:latin typeface="Aptos"/>
              <a:ea typeface="+mn-ea"/>
              <a:cs typeface="+mn-cs"/>
            </a:endParaRPr>
          </a:p>
        </p:txBody>
      </p:sp>
      <p:sp>
        <p:nvSpPr>
          <p:cNvPr id="57" name="Text 16">
            <a:extLst>
              <a:ext uri="{FF2B5EF4-FFF2-40B4-BE49-F238E27FC236}">
                <a16:creationId xmlns:a16="http://schemas.microsoft.com/office/drawing/2014/main" id="{B4D67750-8423-5068-888B-2073BFFDE446}"/>
              </a:ext>
            </a:extLst>
          </p:cNvPr>
          <p:cNvSpPr/>
          <p:nvPr/>
        </p:nvSpPr>
        <p:spPr>
          <a:xfrm>
            <a:off x="4800600" y="2468880"/>
            <a:ext cx="2679192" cy="32004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72033"/>
                </a:solidFill>
                <a:effectLst/>
                <a:uLnTx/>
                <a:uFillTx/>
                <a:latin typeface="Aptos"/>
                <a:ea typeface="+mn-ea"/>
                <a:cs typeface="+mn-cs"/>
              </a:rPr>
              <a:t>On-time &amp; accurate invoicing</a:t>
            </a:r>
            <a:endParaRPr kumimoji="0" lang="en-US" sz="1600" b="0" i="0" u="none" strike="noStrike" kern="1200" cap="none" spc="0" normalizeH="0" baseline="0" noProof="0">
              <a:ln>
                <a:noFill/>
              </a:ln>
              <a:solidFill>
                <a:prstClr val="black"/>
              </a:solidFill>
              <a:effectLst/>
              <a:uLnTx/>
              <a:uFillTx/>
              <a:latin typeface="Aptos"/>
              <a:ea typeface="+mn-ea"/>
              <a:cs typeface="+mn-cs"/>
            </a:endParaRPr>
          </a:p>
        </p:txBody>
      </p:sp>
      <p:sp>
        <p:nvSpPr>
          <p:cNvPr id="59" name="Text 17">
            <a:extLst>
              <a:ext uri="{FF2B5EF4-FFF2-40B4-BE49-F238E27FC236}">
                <a16:creationId xmlns:a16="http://schemas.microsoft.com/office/drawing/2014/main" id="{6A1019AC-FA1E-19C4-5E75-7228D106348B}"/>
              </a:ext>
            </a:extLst>
          </p:cNvPr>
          <p:cNvSpPr/>
          <p:nvPr/>
        </p:nvSpPr>
        <p:spPr>
          <a:xfrm>
            <a:off x="7891272" y="2148840"/>
            <a:ext cx="15544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70" normalizeH="0" baseline="0" noProof="0">
                <a:ln>
                  <a:noFill/>
                </a:ln>
                <a:solidFill>
                  <a:srgbClr val="5B6472"/>
                </a:solidFill>
                <a:effectLst/>
                <a:uLnTx/>
                <a:uFillTx/>
                <a:latin typeface="Aptos"/>
                <a:ea typeface="+mn-ea"/>
                <a:cs typeface="+mn-cs"/>
              </a:rPr>
              <a:t>WHY CHANGE NOW</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61" name="Shape 18">
            <a:extLst>
              <a:ext uri="{FF2B5EF4-FFF2-40B4-BE49-F238E27FC236}">
                <a16:creationId xmlns:a16="http://schemas.microsoft.com/office/drawing/2014/main" id="{049A182C-3EE9-6BB9-39F3-A6C14FCFAE2E}"/>
              </a:ext>
            </a:extLst>
          </p:cNvPr>
          <p:cNvSpPr/>
          <p:nvPr/>
        </p:nvSpPr>
        <p:spPr>
          <a:xfrm>
            <a:off x="7891272" y="2404872"/>
            <a:ext cx="1078992" cy="566928"/>
          </a:xfrm>
          <a:prstGeom prst="roundRect">
            <a:avLst>
              <a:gd name="adj" fmla="val 9677"/>
            </a:avLst>
          </a:prstGeom>
          <a:solidFill>
            <a:srgbClr val="FFF7E8"/>
          </a:solidFill>
          <a:ln w="12700">
            <a:solidFill>
              <a:srgbClr val="D97706">
                <a:alpha val="45000"/>
              </a:srgbClr>
            </a:solidFill>
            <a:prstDash val="solid"/>
          </a:ln>
        </p:spPr>
        <p:txBody>
          <a:bodyPr/>
          <a:lstStyle/>
          <a:p>
            <a:endParaRPr lang="en-US"/>
          </a:p>
        </p:txBody>
      </p:sp>
      <p:sp>
        <p:nvSpPr>
          <p:cNvPr id="63" name="Text 19">
            <a:extLst>
              <a:ext uri="{FF2B5EF4-FFF2-40B4-BE49-F238E27FC236}">
                <a16:creationId xmlns:a16="http://schemas.microsoft.com/office/drawing/2014/main" id="{C972E8C0-13CB-9DCC-C151-7B4B273405BF}"/>
              </a:ext>
            </a:extLst>
          </p:cNvPr>
          <p:cNvSpPr/>
          <p:nvPr/>
        </p:nvSpPr>
        <p:spPr>
          <a:xfrm>
            <a:off x="7955280" y="2523744"/>
            <a:ext cx="95097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72033"/>
                </a:solidFill>
                <a:effectLst/>
                <a:uLnTx/>
                <a:uFillTx/>
                <a:latin typeface="Aptos"/>
                <a:ea typeface="+mn-ea"/>
                <a:cs typeface="+mn-cs"/>
              </a:rPr>
              <a:t>Manual entry</a:t>
            </a:r>
            <a:endParaRPr kumimoji="0" lang="en-US" sz="900" b="0" i="0"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72033"/>
                </a:solidFill>
                <a:effectLst/>
                <a:uLnTx/>
                <a:uFillTx/>
                <a:latin typeface="Aptos"/>
                <a:ea typeface="+mn-ea"/>
                <a:cs typeface="+mn-cs"/>
              </a:rPr>
              <a:t>&amp; fragmented data</a:t>
            </a:r>
            <a:endParaRPr kumimoji="0" lang="en-US" sz="900" b="0" i="0" u="none" strike="noStrike" kern="1200" cap="none" spc="0" normalizeH="0" baseline="0" noProof="0">
              <a:ln>
                <a:noFill/>
              </a:ln>
              <a:solidFill>
                <a:prstClr val="black"/>
              </a:solidFill>
              <a:effectLst/>
              <a:uLnTx/>
              <a:uFillTx/>
              <a:latin typeface="Aptos"/>
              <a:ea typeface="+mn-ea"/>
              <a:cs typeface="+mn-cs"/>
            </a:endParaRPr>
          </a:p>
        </p:txBody>
      </p:sp>
      <p:sp>
        <p:nvSpPr>
          <p:cNvPr id="65" name="Shape 20">
            <a:extLst>
              <a:ext uri="{FF2B5EF4-FFF2-40B4-BE49-F238E27FC236}">
                <a16:creationId xmlns:a16="http://schemas.microsoft.com/office/drawing/2014/main" id="{3A1C6676-C160-F0C2-66C2-F5E2D3916230}"/>
              </a:ext>
            </a:extLst>
          </p:cNvPr>
          <p:cNvSpPr/>
          <p:nvPr/>
        </p:nvSpPr>
        <p:spPr>
          <a:xfrm>
            <a:off x="8997696" y="2587752"/>
            <a:ext cx="109728" cy="182880"/>
          </a:xfrm>
          <a:prstGeom prst="chevron">
            <a:avLst/>
          </a:prstGeom>
          <a:solidFill>
            <a:srgbClr val="AAB2BD"/>
          </a:solidFill>
          <a:ln w="12700">
            <a:solidFill>
              <a:srgbClr val="AAB2BD"/>
            </a:solidFill>
            <a:prstDash val="solid"/>
          </a:ln>
        </p:spPr>
        <p:txBody>
          <a:bodyPr/>
          <a:lstStyle/>
          <a:p>
            <a:endParaRPr lang="en-US"/>
          </a:p>
        </p:txBody>
      </p:sp>
      <p:sp>
        <p:nvSpPr>
          <p:cNvPr id="67" name="Shape 21">
            <a:extLst>
              <a:ext uri="{FF2B5EF4-FFF2-40B4-BE49-F238E27FC236}">
                <a16:creationId xmlns:a16="http://schemas.microsoft.com/office/drawing/2014/main" id="{8251427E-7656-4D39-9C22-20636E735C24}"/>
              </a:ext>
            </a:extLst>
          </p:cNvPr>
          <p:cNvSpPr/>
          <p:nvPr/>
        </p:nvSpPr>
        <p:spPr>
          <a:xfrm>
            <a:off x="9144000" y="2404872"/>
            <a:ext cx="1078992" cy="566928"/>
          </a:xfrm>
          <a:prstGeom prst="roundRect">
            <a:avLst>
              <a:gd name="adj" fmla="val 9677"/>
            </a:avLst>
          </a:prstGeom>
          <a:solidFill>
            <a:srgbClr val="FFF1F0"/>
          </a:solidFill>
          <a:ln w="12700">
            <a:solidFill>
              <a:srgbClr val="E2231A">
                <a:alpha val="45000"/>
              </a:srgbClr>
            </a:solidFill>
            <a:prstDash val="solid"/>
          </a:ln>
        </p:spPr>
        <p:txBody>
          <a:bodyPr/>
          <a:lstStyle/>
          <a:p>
            <a:endParaRPr lang="en-US"/>
          </a:p>
        </p:txBody>
      </p:sp>
      <p:sp>
        <p:nvSpPr>
          <p:cNvPr id="69" name="Text 22">
            <a:extLst>
              <a:ext uri="{FF2B5EF4-FFF2-40B4-BE49-F238E27FC236}">
                <a16:creationId xmlns:a16="http://schemas.microsoft.com/office/drawing/2014/main" id="{C3183A36-DA47-684C-A7FB-E879F19BF69E}"/>
              </a:ext>
            </a:extLst>
          </p:cNvPr>
          <p:cNvSpPr/>
          <p:nvPr/>
        </p:nvSpPr>
        <p:spPr>
          <a:xfrm>
            <a:off x="9208008" y="2523744"/>
            <a:ext cx="95097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72033"/>
                </a:solidFill>
                <a:effectLst/>
                <a:uLnTx/>
                <a:uFillTx/>
                <a:latin typeface="Aptos"/>
                <a:ea typeface="+mn-ea"/>
                <a:cs typeface="+mn-cs"/>
              </a:rPr>
              <a:t>Errors, delays</a:t>
            </a:r>
            <a:endParaRPr kumimoji="0" lang="en-US" sz="900" b="0" i="0"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72033"/>
                </a:solidFill>
                <a:effectLst/>
                <a:uLnTx/>
                <a:uFillTx/>
                <a:latin typeface="Aptos"/>
                <a:ea typeface="+mn-ea"/>
                <a:cs typeface="+mn-cs"/>
              </a:rPr>
              <a:t>&amp; disputes</a:t>
            </a:r>
            <a:endParaRPr kumimoji="0" lang="en-US" sz="900" b="0" i="0" u="none" strike="noStrike" kern="1200" cap="none" spc="0" normalizeH="0" baseline="0" noProof="0">
              <a:ln>
                <a:noFill/>
              </a:ln>
              <a:solidFill>
                <a:prstClr val="black"/>
              </a:solidFill>
              <a:effectLst/>
              <a:uLnTx/>
              <a:uFillTx/>
              <a:latin typeface="Aptos"/>
              <a:ea typeface="+mn-ea"/>
              <a:cs typeface="+mn-cs"/>
            </a:endParaRPr>
          </a:p>
        </p:txBody>
      </p:sp>
      <p:sp>
        <p:nvSpPr>
          <p:cNvPr id="71" name="Shape 23">
            <a:extLst>
              <a:ext uri="{FF2B5EF4-FFF2-40B4-BE49-F238E27FC236}">
                <a16:creationId xmlns:a16="http://schemas.microsoft.com/office/drawing/2014/main" id="{1AA2E2E9-98E6-EB2D-A451-559AD606CA96}"/>
              </a:ext>
            </a:extLst>
          </p:cNvPr>
          <p:cNvSpPr/>
          <p:nvPr/>
        </p:nvSpPr>
        <p:spPr>
          <a:xfrm>
            <a:off x="10250424" y="2587752"/>
            <a:ext cx="109728" cy="182880"/>
          </a:xfrm>
          <a:prstGeom prst="chevron">
            <a:avLst/>
          </a:prstGeom>
          <a:solidFill>
            <a:srgbClr val="AAB2BD"/>
          </a:solidFill>
          <a:ln w="12700">
            <a:solidFill>
              <a:srgbClr val="AAB2BD"/>
            </a:solidFill>
            <a:prstDash val="solid"/>
          </a:ln>
        </p:spPr>
        <p:txBody>
          <a:bodyPr/>
          <a:lstStyle/>
          <a:p>
            <a:endParaRPr lang="en-US"/>
          </a:p>
        </p:txBody>
      </p:sp>
      <p:sp>
        <p:nvSpPr>
          <p:cNvPr id="73" name="Shape 24">
            <a:extLst>
              <a:ext uri="{FF2B5EF4-FFF2-40B4-BE49-F238E27FC236}">
                <a16:creationId xmlns:a16="http://schemas.microsoft.com/office/drawing/2014/main" id="{B0326158-5E13-73C5-EF18-3FCD99732930}"/>
              </a:ext>
            </a:extLst>
          </p:cNvPr>
          <p:cNvSpPr/>
          <p:nvPr/>
        </p:nvSpPr>
        <p:spPr>
          <a:xfrm>
            <a:off x="10396728" y="2404872"/>
            <a:ext cx="1078992" cy="566928"/>
          </a:xfrm>
          <a:prstGeom prst="roundRect">
            <a:avLst>
              <a:gd name="adj" fmla="val 9677"/>
            </a:avLst>
          </a:prstGeom>
          <a:solidFill>
            <a:srgbClr val="EDF4FF"/>
          </a:solidFill>
          <a:ln w="12700">
            <a:solidFill>
              <a:srgbClr val="2563EB">
                <a:alpha val="45000"/>
              </a:srgbClr>
            </a:solidFill>
            <a:prstDash val="solid"/>
          </a:ln>
        </p:spPr>
        <p:txBody>
          <a:bodyPr/>
          <a:lstStyle/>
          <a:p>
            <a:endParaRPr lang="en-US"/>
          </a:p>
        </p:txBody>
      </p:sp>
      <p:sp>
        <p:nvSpPr>
          <p:cNvPr id="75" name="Text 25">
            <a:extLst>
              <a:ext uri="{FF2B5EF4-FFF2-40B4-BE49-F238E27FC236}">
                <a16:creationId xmlns:a16="http://schemas.microsoft.com/office/drawing/2014/main" id="{8CFF127C-8D41-60FA-89EA-7D007BC21FCA}"/>
              </a:ext>
            </a:extLst>
          </p:cNvPr>
          <p:cNvSpPr/>
          <p:nvPr/>
        </p:nvSpPr>
        <p:spPr>
          <a:xfrm>
            <a:off x="10460736" y="2523744"/>
            <a:ext cx="95097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72033"/>
                </a:solidFill>
                <a:effectLst/>
                <a:uLnTx/>
                <a:uFillTx/>
                <a:latin typeface="Aptos"/>
                <a:ea typeface="+mn-ea"/>
                <a:cs typeface="+mn-cs"/>
              </a:rPr>
              <a:t>Cash flow &amp;</a:t>
            </a:r>
            <a:endParaRPr kumimoji="0" lang="en-US" sz="900" b="0" i="0" u="none" strike="noStrike" kern="1200" cap="none" spc="0" normalizeH="0" baseline="0" noProof="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72033"/>
                </a:solidFill>
                <a:effectLst/>
                <a:uLnTx/>
                <a:uFillTx/>
                <a:latin typeface="Aptos"/>
                <a:ea typeface="+mn-ea"/>
                <a:cs typeface="+mn-cs"/>
              </a:rPr>
              <a:t>customer impact</a:t>
            </a:r>
            <a:endParaRPr kumimoji="0" lang="en-US" sz="900" b="0" i="0" u="none" strike="noStrike" kern="1200" cap="none" spc="0" normalizeH="0" baseline="0" noProof="0">
              <a:ln>
                <a:noFill/>
              </a:ln>
              <a:solidFill>
                <a:prstClr val="black"/>
              </a:solidFill>
              <a:effectLst/>
              <a:uLnTx/>
              <a:uFillTx/>
              <a:latin typeface="Aptos"/>
              <a:ea typeface="+mn-ea"/>
              <a:cs typeface="+mn-cs"/>
            </a:endParaRPr>
          </a:p>
        </p:txBody>
      </p:sp>
      <p:sp>
        <p:nvSpPr>
          <p:cNvPr id="77" name="Text 26">
            <a:extLst>
              <a:ext uri="{FF2B5EF4-FFF2-40B4-BE49-F238E27FC236}">
                <a16:creationId xmlns:a16="http://schemas.microsoft.com/office/drawing/2014/main" id="{2D7D0304-DD21-CF9B-61E3-30FD70B87EE8}"/>
              </a:ext>
            </a:extLst>
          </p:cNvPr>
          <p:cNvSpPr/>
          <p:nvPr/>
        </p:nvSpPr>
        <p:spPr>
          <a:xfrm>
            <a:off x="566928" y="3218688"/>
            <a:ext cx="20116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72033"/>
                </a:solidFill>
                <a:effectLst/>
                <a:uLnTx/>
                <a:uFillTx/>
                <a:latin typeface="Aptos"/>
                <a:ea typeface="+mn-ea"/>
                <a:cs typeface="+mn-cs"/>
              </a:rPr>
              <a:t>Delivery Scope</a:t>
            </a:r>
            <a:endParaRPr kumimoji="0" lang="en-US" sz="1500" b="0" i="0" u="none" strike="noStrike" kern="1200" cap="none" spc="0" normalizeH="0" baseline="0" noProof="0">
              <a:ln>
                <a:noFill/>
              </a:ln>
              <a:solidFill>
                <a:prstClr val="black"/>
              </a:solidFill>
              <a:effectLst/>
              <a:uLnTx/>
              <a:uFillTx/>
              <a:latin typeface="Aptos"/>
              <a:ea typeface="+mn-ea"/>
              <a:cs typeface="+mn-cs"/>
            </a:endParaRPr>
          </a:p>
        </p:txBody>
      </p:sp>
      <p:sp>
        <p:nvSpPr>
          <p:cNvPr id="79" name="Text 27">
            <a:extLst>
              <a:ext uri="{FF2B5EF4-FFF2-40B4-BE49-F238E27FC236}">
                <a16:creationId xmlns:a16="http://schemas.microsoft.com/office/drawing/2014/main" id="{4873AC74-331E-8840-9BFE-A0874A169B20}"/>
              </a:ext>
            </a:extLst>
          </p:cNvPr>
          <p:cNvSpPr/>
          <p:nvPr/>
        </p:nvSpPr>
        <p:spPr>
          <a:xfrm>
            <a:off x="2532888" y="3246120"/>
            <a:ext cx="33832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Aptos"/>
                <a:ea typeface="+mn-ea"/>
                <a:cs typeface="+mn-cs"/>
              </a:rPr>
              <a:t>Capabilities included in NexBill</a:t>
            </a:r>
            <a:endParaRPr kumimoji="0" lang="en-US" sz="950" b="0" i="0" u="none" strike="noStrike" kern="1200" cap="none" spc="0" normalizeH="0" baseline="0" noProof="0">
              <a:ln>
                <a:noFill/>
              </a:ln>
              <a:solidFill>
                <a:prstClr val="black"/>
              </a:solidFill>
              <a:effectLst/>
              <a:uLnTx/>
              <a:uFillTx/>
              <a:latin typeface="Aptos"/>
              <a:ea typeface="+mn-ea"/>
              <a:cs typeface="+mn-cs"/>
            </a:endParaRPr>
          </a:p>
        </p:txBody>
      </p:sp>
      <p:sp>
        <p:nvSpPr>
          <p:cNvPr id="81" name="Text 28">
            <a:extLst>
              <a:ext uri="{FF2B5EF4-FFF2-40B4-BE49-F238E27FC236}">
                <a16:creationId xmlns:a16="http://schemas.microsoft.com/office/drawing/2014/main" id="{3E4635BF-695F-85D2-94EB-51D67CDDC555}"/>
              </a:ext>
            </a:extLst>
          </p:cNvPr>
          <p:cNvSpPr/>
          <p:nvPr/>
        </p:nvSpPr>
        <p:spPr>
          <a:xfrm>
            <a:off x="6400800" y="3218688"/>
            <a:ext cx="20116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72033"/>
                </a:solidFill>
                <a:effectLst/>
                <a:uLnTx/>
                <a:uFillTx/>
                <a:latin typeface="Aptos"/>
                <a:ea typeface="+mn-ea"/>
                <a:cs typeface="+mn-cs"/>
              </a:rPr>
              <a:t>Scope Boundaries</a:t>
            </a:r>
            <a:endParaRPr kumimoji="0" lang="en-US" sz="1500" b="0" i="0" u="none" strike="noStrike" kern="1200" cap="none" spc="0" normalizeH="0" baseline="0" noProof="0">
              <a:ln>
                <a:noFill/>
              </a:ln>
              <a:solidFill>
                <a:prstClr val="black"/>
              </a:solidFill>
              <a:effectLst/>
              <a:uLnTx/>
              <a:uFillTx/>
              <a:latin typeface="Aptos"/>
              <a:ea typeface="+mn-ea"/>
              <a:cs typeface="+mn-cs"/>
            </a:endParaRPr>
          </a:p>
        </p:txBody>
      </p:sp>
      <p:sp>
        <p:nvSpPr>
          <p:cNvPr id="83" name="Text 29">
            <a:extLst>
              <a:ext uri="{FF2B5EF4-FFF2-40B4-BE49-F238E27FC236}">
                <a16:creationId xmlns:a16="http://schemas.microsoft.com/office/drawing/2014/main" id="{92AC8398-0C89-BC05-DC0F-C7CC70ACA64E}"/>
              </a:ext>
            </a:extLst>
          </p:cNvPr>
          <p:cNvSpPr/>
          <p:nvPr/>
        </p:nvSpPr>
        <p:spPr>
          <a:xfrm>
            <a:off x="8366760" y="3246120"/>
            <a:ext cx="338328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Aptos"/>
                <a:ea typeface="+mn-ea"/>
                <a:cs typeface="+mn-cs"/>
              </a:rPr>
              <a:t>Explicit exclusions and dependencies</a:t>
            </a:r>
            <a:endParaRPr kumimoji="0" lang="en-US" sz="950" b="0" i="0" u="none" strike="noStrike" kern="1200" cap="none" spc="0" normalizeH="0" baseline="0" noProof="0">
              <a:ln>
                <a:noFill/>
              </a:ln>
              <a:solidFill>
                <a:prstClr val="black"/>
              </a:solidFill>
              <a:effectLst/>
              <a:uLnTx/>
              <a:uFillTx/>
              <a:latin typeface="Aptos"/>
              <a:ea typeface="+mn-ea"/>
              <a:cs typeface="+mn-cs"/>
            </a:endParaRPr>
          </a:p>
        </p:txBody>
      </p:sp>
      <p:sp>
        <p:nvSpPr>
          <p:cNvPr id="85" name="Shape 30">
            <a:extLst>
              <a:ext uri="{FF2B5EF4-FFF2-40B4-BE49-F238E27FC236}">
                <a16:creationId xmlns:a16="http://schemas.microsoft.com/office/drawing/2014/main" id="{00EFDBE3-C66C-530C-72A1-2A0E0BC0F4CE}"/>
              </a:ext>
            </a:extLst>
          </p:cNvPr>
          <p:cNvSpPr/>
          <p:nvPr/>
        </p:nvSpPr>
        <p:spPr>
          <a:xfrm>
            <a:off x="566928" y="3593592"/>
            <a:ext cx="2633472" cy="603504"/>
          </a:xfrm>
          <a:prstGeom prst="roundRect">
            <a:avLst>
              <a:gd name="adj" fmla="val 7576"/>
            </a:avLst>
          </a:prstGeom>
          <a:solidFill>
            <a:srgbClr val="FFFFFF"/>
          </a:solidFill>
          <a:ln w="10160">
            <a:solidFill>
              <a:srgbClr val="DDE2E8"/>
            </a:solidFill>
            <a:prstDash val="solid"/>
          </a:ln>
          <a:effectLst>
            <a:outerShdw blurRad="12700" dist="3810" dir="2700000" algn="bl" rotWithShape="0">
              <a:srgbClr val="000000">
                <a:alpha val="8000"/>
              </a:srgbClr>
            </a:outerShdw>
          </a:effectLst>
        </p:spPr>
        <p:txBody>
          <a:bodyPr/>
          <a:lstStyle/>
          <a:p>
            <a:endParaRPr lang="en-US"/>
          </a:p>
        </p:txBody>
      </p:sp>
      <p:sp>
        <p:nvSpPr>
          <p:cNvPr id="87" name="Shape 31">
            <a:extLst>
              <a:ext uri="{FF2B5EF4-FFF2-40B4-BE49-F238E27FC236}">
                <a16:creationId xmlns:a16="http://schemas.microsoft.com/office/drawing/2014/main" id="{4350DC26-48A9-0406-EFE5-9BD221FE5544}"/>
              </a:ext>
            </a:extLst>
          </p:cNvPr>
          <p:cNvSpPr/>
          <p:nvPr/>
        </p:nvSpPr>
        <p:spPr>
          <a:xfrm>
            <a:off x="676656" y="3721608"/>
            <a:ext cx="310896" cy="310896"/>
          </a:xfrm>
          <a:prstGeom prst="ellipse">
            <a:avLst/>
          </a:prstGeom>
          <a:solidFill>
            <a:srgbClr val="EDF4FF"/>
          </a:solidFill>
          <a:ln w="12700">
            <a:solidFill>
              <a:srgbClr val="EDF4FF"/>
            </a:solidFill>
            <a:prstDash val="solid"/>
          </a:ln>
        </p:spPr>
        <p:txBody>
          <a:bodyPr/>
          <a:lstStyle/>
          <a:p>
            <a:endParaRPr lang="en-US"/>
          </a:p>
        </p:txBody>
      </p:sp>
      <p:sp>
        <p:nvSpPr>
          <p:cNvPr id="89" name="Text 32">
            <a:extLst>
              <a:ext uri="{FF2B5EF4-FFF2-40B4-BE49-F238E27FC236}">
                <a16:creationId xmlns:a16="http://schemas.microsoft.com/office/drawing/2014/main" id="{FEBAE76C-BD4A-2209-4F78-FDAB674D35C9}"/>
              </a:ext>
            </a:extLst>
          </p:cNvPr>
          <p:cNvSpPr/>
          <p:nvPr/>
        </p:nvSpPr>
        <p:spPr>
          <a:xfrm>
            <a:off x="676656" y="3767328"/>
            <a:ext cx="310896"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563EB"/>
                </a:solidFill>
                <a:effectLst/>
                <a:uLnTx/>
                <a:uFillTx/>
                <a:latin typeface="Aptos"/>
                <a:ea typeface="+mn-ea"/>
                <a:cs typeface="+mn-cs"/>
              </a:rPr>
              <a:t>↗</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91" name="Text 33">
            <a:extLst>
              <a:ext uri="{FF2B5EF4-FFF2-40B4-BE49-F238E27FC236}">
                <a16:creationId xmlns:a16="http://schemas.microsoft.com/office/drawing/2014/main" id="{2D520BF2-4C7B-2E40-13ED-47CE9610F63A}"/>
              </a:ext>
            </a:extLst>
          </p:cNvPr>
          <p:cNvSpPr/>
          <p:nvPr/>
        </p:nvSpPr>
        <p:spPr>
          <a:xfrm>
            <a:off x="1060704" y="3685032"/>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72033"/>
                </a:solidFill>
                <a:effectLst/>
                <a:uLnTx/>
                <a:uFillTx/>
                <a:latin typeface="Aptos"/>
                <a:ea typeface="+mn-ea"/>
                <a:cs typeface="+mn-cs"/>
              </a:rPr>
              <a:t>Data Volumes</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93" name="Text 34">
            <a:extLst>
              <a:ext uri="{FF2B5EF4-FFF2-40B4-BE49-F238E27FC236}">
                <a16:creationId xmlns:a16="http://schemas.microsoft.com/office/drawing/2014/main" id="{13471DBF-DDDF-211E-894F-CC99714068B2}"/>
              </a:ext>
            </a:extLst>
          </p:cNvPr>
          <p:cNvSpPr/>
          <p:nvPr/>
        </p:nvSpPr>
        <p:spPr>
          <a:xfrm>
            <a:off x="1060704" y="3877056"/>
            <a:ext cx="2148840" cy="201168"/>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 Designing the solution to handle high transaction volumes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efficiently, including peak periods and batch processing.​</a:t>
            </a:r>
            <a:endParaRPr kumimoji="0" lang="en-US" sz="700" b="0" i="0" u="none" strike="noStrike" kern="1200" cap="none" spc="0" normalizeH="0" baseline="0" noProof="0">
              <a:ln>
                <a:noFill/>
              </a:ln>
              <a:solidFill>
                <a:prstClr val="black"/>
              </a:solidFill>
              <a:effectLst/>
              <a:uLnTx/>
              <a:uFillTx/>
              <a:latin typeface="Aptos"/>
              <a:ea typeface="+mn-ea"/>
              <a:cs typeface="+mn-cs"/>
            </a:endParaRPr>
          </a:p>
        </p:txBody>
      </p:sp>
      <p:sp>
        <p:nvSpPr>
          <p:cNvPr id="95" name="Shape 35">
            <a:extLst>
              <a:ext uri="{FF2B5EF4-FFF2-40B4-BE49-F238E27FC236}">
                <a16:creationId xmlns:a16="http://schemas.microsoft.com/office/drawing/2014/main" id="{A165C8D0-FE6A-6CD6-0576-5E716DB89B69}"/>
              </a:ext>
            </a:extLst>
          </p:cNvPr>
          <p:cNvSpPr/>
          <p:nvPr/>
        </p:nvSpPr>
        <p:spPr>
          <a:xfrm>
            <a:off x="3355848" y="3593592"/>
            <a:ext cx="2633472" cy="603504"/>
          </a:xfrm>
          <a:prstGeom prst="roundRect">
            <a:avLst>
              <a:gd name="adj" fmla="val 7576"/>
            </a:avLst>
          </a:prstGeom>
          <a:solidFill>
            <a:srgbClr val="FFFFFF"/>
          </a:solidFill>
          <a:ln w="10160">
            <a:solidFill>
              <a:srgbClr val="DDE2E8"/>
            </a:solidFill>
            <a:prstDash val="solid"/>
          </a:ln>
          <a:effectLst>
            <a:outerShdw blurRad="12700" dist="3810" dir="2700000" algn="bl" rotWithShape="0">
              <a:srgbClr val="000000">
                <a:alpha val="8000"/>
              </a:srgbClr>
            </a:outerShdw>
          </a:effectLst>
        </p:spPr>
        <p:txBody>
          <a:bodyPr/>
          <a:lstStyle/>
          <a:p>
            <a:endParaRPr lang="en-US"/>
          </a:p>
        </p:txBody>
      </p:sp>
      <p:sp>
        <p:nvSpPr>
          <p:cNvPr id="97" name="Shape 36">
            <a:extLst>
              <a:ext uri="{FF2B5EF4-FFF2-40B4-BE49-F238E27FC236}">
                <a16:creationId xmlns:a16="http://schemas.microsoft.com/office/drawing/2014/main" id="{8B74236A-DF95-C6C7-C09F-790127D61E5B}"/>
              </a:ext>
            </a:extLst>
          </p:cNvPr>
          <p:cNvSpPr/>
          <p:nvPr/>
        </p:nvSpPr>
        <p:spPr>
          <a:xfrm>
            <a:off x="3465576" y="3721608"/>
            <a:ext cx="310896" cy="310896"/>
          </a:xfrm>
          <a:prstGeom prst="ellipse">
            <a:avLst/>
          </a:prstGeom>
          <a:solidFill>
            <a:srgbClr val="EDF4FF"/>
          </a:solidFill>
          <a:ln w="12700">
            <a:solidFill>
              <a:srgbClr val="EDF4FF"/>
            </a:solidFill>
            <a:prstDash val="solid"/>
          </a:ln>
        </p:spPr>
        <p:txBody>
          <a:bodyPr/>
          <a:lstStyle/>
          <a:p>
            <a:endParaRPr lang="en-US"/>
          </a:p>
        </p:txBody>
      </p:sp>
      <p:sp>
        <p:nvSpPr>
          <p:cNvPr id="99" name="Text 37">
            <a:extLst>
              <a:ext uri="{FF2B5EF4-FFF2-40B4-BE49-F238E27FC236}">
                <a16:creationId xmlns:a16="http://schemas.microsoft.com/office/drawing/2014/main" id="{4D19D6DE-838C-3155-3983-D63C0956B479}"/>
              </a:ext>
            </a:extLst>
          </p:cNvPr>
          <p:cNvSpPr/>
          <p:nvPr/>
        </p:nvSpPr>
        <p:spPr>
          <a:xfrm>
            <a:off x="3465576" y="3767328"/>
            <a:ext cx="310896"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563EB"/>
                </a:solidFill>
                <a:effectLst/>
                <a:uLnTx/>
                <a:uFillTx/>
                <a:latin typeface="Aptos"/>
                <a:ea typeface="+mn-ea"/>
                <a:cs typeface="+mn-cs"/>
              </a:rPr>
              <a:t>◎</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01" name="Text 38">
            <a:extLst>
              <a:ext uri="{FF2B5EF4-FFF2-40B4-BE49-F238E27FC236}">
                <a16:creationId xmlns:a16="http://schemas.microsoft.com/office/drawing/2014/main" id="{1E16AC90-D5D3-BEC2-1EF6-A9D3F87A6B9E}"/>
              </a:ext>
            </a:extLst>
          </p:cNvPr>
          <p:cNvSpPr/>
          <p:nvPr/>
        </p:nvSpPr>
        <p:spPr>
          <a:xfrm>
            <a:off x="3849624" y="3685032"/>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72033"/>
                </a:solidFill>
                <a:effectLst/>
                <a:uLnTx/>
                <a:uFillTx/>
                <a:latin typeface="Aptos"/>
                <a:ea typeface="+mn-ea"/>
                <a:cs typeface="+mn-cs"/>
              </a:rPr>
              <a:t>Geographical Coverage</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03" name="Text 39">
            <a:extLst>
              <a:ext uri="{FF2B5EF4-FFF2-40B4-BE49-F238E27FC236}">
                <a16:creationId xmlns:a16="http://schemas.microsoft.com/office/drawing/2014/main" id="{633A45BC-2747-4DCD-5F4F-7E7387BAAC4C}"/>
              </a:ext>
            </a:extLst>
          </p:cNvPr>
          <p:cNvSpPr/>
          <p:nvPr/>
        </p:nvSpPr>
        <p:spPr>
          <a:xfrm>
            <a:off x="3849624" y="3877056"/>
            <a:ext cx="1993392" cy="246888"/>
          </a:xfrm>
          <a:prstGeom prst="rect">
            <a:avLst/>
          </a:prstGeom>
          <a:noFill/>
          <a:ln/>
        </p:spPr>
        <p:txBody>
          <a:bodyPr wrap="square" lIns="0" tIns="0" rIns="0" bIns="0" rtlCol="0" anchor="ct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B6472"/>
                </a:solidFill>
                <a:effectLst/>
                <a:uLnTx/>
                <a:uFillTx/>
                <a:latin typeface="Aptos"/>
                <a:ea typeface="+mn-ea"/>
                <a:cs typeface="+mn-cs"/>
              </a:rPr>
              <a:t>Supporting invoicing across multiple regions with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B6472"/>
                </a:solidFill>
                <a:effectLst/>
                <a:uLnTx/>
                <a:uFillTx/>
                <a:latin typeface="Aptos"/>
                <a:ea typeface="+mn-ea"/>
                <a:cs typeface="+mn-cs"/>
              </a:rPr>
              <a:t>localized tax, currency, and language requirements.​</a:t>
            </a:r>
            <a:endParaRPr kumimoji="0" lang="en-US" sz="850" b="0" i="0" u="none" strike="noStrike" kern="1200" cap="none" spc="0" normalizeH="0" baseline="0" noProof="0">
              <a:ln>
                <a:noFill/>
              </a:ln>
              <a:solidFill>
                <a:prstClr val="black"/>
              </a:solidFill>
              <a:effectLst/>
              <a:uLnTx/>
              <a:uFillTx/>
              <a:latin typeface="Aptos"/>
              <a:ea typeface="+mn-ea"/>
              <a:cs typeface="+mn-cs"/>
            </a:endParaRPr>
          </a:p>
        </p:txBody>
      </p:sp>
      <p:sp>
        <p:nvSpPr>
          <p:cNvPr id="105" name="Shape 40">
            <a:extLst>
              <a:ext uri="{FF2B5EF4-FFF2-40B4-BE49-F238E27FC236}">
                <a16:creationId xmlns:a16="http://schemas.microsoft.com/office/drawing/2014/main" id="{D1CE36E4-61FC-ADC5-6B72-55EE525674C2}"/>
              </a:ext>
            </a:extLst>
          </p:cNvPr>
          <p:cNvSpPr/>
          <p:nvPr/>
        </p:nvSpPr>
        <p:spPr>
          <a:xfrm>
            <a:off x="566928" y="4315968"/>
            <a:ext cx="2633472" cy="603504"/>
          </a:xfrm>
          <a:prstGeom prst="roundRect">
            <a:avLst>
              <a:gd name="adj" fmla="val 7576"/>
            </a:avLst>
          </a:prstGeom>
          <a:solidFill>
            <a:srgbClr val="FFFFFF"/>
          </a:solidFill>
          <a:ln w="10160">
            <a:solidFill>
              <a:srgbClr val="DDE2E8"/>
            </a:solidFill>
            <a:prstDash val="solid"/>
          </a:ln>
          <a:effectLst>
            <a:outerShdw blurRad="12700" dist="3810" dir="2700000" algn="bl" rotWithShape="0">
              <a:srgbClr val="000000">
                <a:alpha val="8000"/>
              </a:srgbClr>
            </a:outerShdw>
          </a:effectLst>
        </p:spPr>
        <p:txBody>
          <a:bodyPr/>
          <a:lstStyle/>
          <a:p>
            <a:endParaRPr lang="en-US"/>
          </a:p>
        </p:txBody>
      </p:sp>
      <p:sp>
        <p:nvSpPr>
          <p:cNvPr id="107" name="Shape 41">
            <a:extLst>
              <a:ext uri="{FF2B5EF4-FFF2-40B4-BE49-F238E27FC236}">
                <a16:creationId xmlns:a16="http://schemas.microsoft.com/office/drawing/2014/main" id="{6A2A0376-AF4A-A459-6579-E1FF3ED3CFD1}"/>
              </a:ext>
            </a:extLst>
          </p:cNvPr>
          <p:cNvSpPr/>
          <p:nvPr/>
        </p:nvSpPr>
        <p:spPr>
          <a:xfrm>
            <a:off x="676656" y="4443984"/>
            <a:ext cx="310896" cy="310896"/>
          </a:xfrm>
          <a:prstGeom prst="ellipse">
            <a:avLst/>
          </a:prstGeom>
          <a:solidFill>
            <a:srgbClr val="EDF4FF"/>
          </a:solidFill>
          <a:ln w="12700">
            <a:solidFill>
              <a:srgbClr val="EDF4FF"/>
            </a:solidFill>
            <a:prstDash val="solid"/>
          </a:ln>
        </p:spPr>
        <p:txBody>
          <a:bodyPr/>
          <a:lstStyle/>
          <a:p>
            <a:endParaRPr lang="en-US"/>
          </a:p>
        </p:txBody>
      </p:sp>
      <p:sp>
        <p:nvSpPr>
          <p:cNvPr id="109" name="Text 42">
            <a:extLst>
              <a:ext uri="{FF2B5EF4-FFF2-40B4-BE49-F238E27FC236}">
                <a16:creationId xmlns:a16="http://schemas.microsoft.com/office/drawing/2014/main" id="{E377663A-CB83-411F-1E3D-077C6EEC2D6B}"/>
              </a:ext>
            </a:extLst>
          </p:cNvPr>
          <p:cNvSpPr/>
          <p:nvPr/>
        </p:nvSpPr>
        <p:spPr>
          <a:xfrm>
            <a:off x="676656" y="4489704"/>
            <a:ext cx="310896"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563EB"/>
                </a:solidFill>
                <a:effectLst/>
                <a:uLnTx/>
                <a:uFillTx/>
                <a:latin typeface="Aptos"/>
                <a:ea typeface="+mn-ea"/>
                <a:cs typeface="+mn-cs"/>
              </a:rPr>
              <a:t>⇄</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11" name="Text 43">
            <a:extLst>
              <a:ext uri="{FF2B5EF4-FFF2-40B4-BE49-F238E27FC236}">
                <a16:creationId xmlns:a16="http://schemas.microsoft.com/office/drawing/2014/main" id="{3ECCCF15-9FF0-6D92-17FA-3E8B5508CA8C}"/>
              </a:ext>
            </a:extLst>
          </p:cNvPr>
          <p:cNvSpPr/>
          <p:nvPr/>
        </p:nvSpPr>
        <p:spPr>
          <a:xfrm>
            <a:off x="1060704" y="4407408"/>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72033"/>
                </a:solidFill>
                <a:effectLst/>
                <a:uLnTx/>
                <a:uFillTx/>
                <a:latin typeface="Aptos"/>
                <a:ea typeface="+mn-ea"/>
                <a:cs typeface="+mn-cs"/>
              </a:rPr>
              <a:t>Geographical Coverage</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13" name="Text 44">
            <a:extLst>
              <a:ext uri="{FF2B5EF4-FFF2-40B4-BE49-F238E27FC236}">
                <a16:creationId xmlns:a16="http://schemas.microsoft.com/office/drawing/2014/main" id="{5C0E2517-8D0C-C807-A974-7425FA27CDCD}"/>
              </a:ext>
            </a:extLst>
          </p:cNvPr>
          <p:cNvSpPr/>
          <p:nvPr/>
        </p:nvSpPr>
        <p:spPr>
          <a:xfrm>
            <a:off x="1060704" y="4599432"/>
            <a:ext cx="2148840" cy="246888"/>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Connecting order management, finance, and invoicing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platforms for seamless data flow.​</a:t>
            </a:r>
            <a:endParaRPr kumimoji="0" lang="en-US" sz="700" b="0" i="0" u="none" strike="noStrike" kern="1200" cap="none" spc="0" normalizeH="0" baseline="0" noProof="0">
              <a:ln>
                <a:noFill/>
              </a:ln>
              <a:solidFill>
                <a:prstClr val="black"/>
              </a:solidFill>
              <a:effectLst/>
              <a:uLnTx/>
              <a:uFillTx/>
              <a:latin typeface="Aptos"/>
              <a:ea typeface="+mn-ea"/>
              <a:cs typeface="+mn-cs"/>
            </a:endParaRPr>
          </a:p>
        </p:txBody>
      </p:sp>
      <p:sp>
        <p:nvSpPr>
          <p:cNvPr id="115" name="Shape 45">
            <a:extLst>
              <a:ext uri="{FF2B5EF4-FFF2-40B4-BE49-F238E27FC236}">
                <a16:creationId xmlns:a16="http://schemas.microsoft.com/office/drawing/2014/main" id="{C2BCBC61-F2DE-84CF-52BA-66A7EC9B3618}"/>
              </a:ext>
            </a:extLst>
          </p:cNvPr>
          <p:cNvSpPr/>
          <p:nvPr/>
        </p:nvSpPr>
        <p:spPr>
          <a:xfrm>
            <a:off x="3355848" y="4315968"/>
            <a:ext cx="2633472" cy="603504"/>
          </a:xfrm>
          <a:prstGeom prst="roundRect">
            <a:avLst>
              <a:gd name="adj" fmla="val 7576"/>
            </a:avLst>
          </a:prstGeom>
          <a:solidFill>
            <a:srgbClr val="FFFFFF"/>
          </a:solidFill>
          <a:ln w="10160">
            <a:solidFill>
              <a:srgbClr val="DDE2E8"/>
            </a:solidFill>
            <a:prstDash val="solid"/>
          </a:ln>
          <a:effectLst>
            <a:outerShdw blurRad="12700" dist="3810" dir="2700000" algn="bl" rotWithShape="0">
              <a:srgbClr val="000000">
                <a:alpha val="8000"/>
              </a:srgbClr>
            </a:outerShdw>
          </a:effectLst>
        </p:spPr>
        <p:txBody>
          <a:bodyPr/>
          <a:lstStyle/>
          <a:p>
            <a:endParaRPr lang="en-US"/>
          </a:p>
        </p:txBody>
      </p:sp>
      <p:sp>
        <p:nvSpPr>
          <p:cNvPr id="117" name="Shape 46">
            <a:extLst>
              <a:ext uri="{FF2B5EF4-FFF2-40B4-BE49-F238E27FC236}">
                <a16:creationId xmlns:a16="http://schemas.microsoft.com/office/drawing/2014/main" id="{830AA209-CF80-6D2C-F0D3-C18E7064F741}"/>
              </a:ext>
            </a:extLst>
          </p:cNvPr>
          <p:cNvSpPr/>
          <p:nvPr/>
        </p:nvSpPr>
        <p:spPr>
          <a:xfrm>
            <a:off x="3465576" y="4443984"/>
            <a:ext cx="310896" cy="310896"/>
          </a:xfrm>
          <a:prstGeom prst="ellipse">
            <a:avLst/>
          </a:prstGeom>
          <a:solidFill>
            <a:srgbClr val="EDF4FF"/>
          </a:solidFill>
          <a:ln w="12700">
            <a:solidFill>
              <a:srgbClr val="EDF4FF"/>
            </a:solidFill>
            <a:prstDash val="solid"/>
          </a:ln>
        </p:spPr>
        <p:txBody>
          <a:bodyPr/>
          <a:lstStyle/>
          <a:p>
            <a:endParaRPr lang="en-US"/>
          </a:p>
        </p:txBody>
      </p:sp>
      <p:sp>
        <p:nvSpPr>
          <p:cNvPr id="119" name="Text 47">
            <a:extLst>
              <a:ext uri="{FF2B5EF4-FFF2-40B4-BE49-F238E27FC236}">
                <a16:creationId xmlns:a16="http://schemas.microsoft.com/office/drawing/2014/main" id="{3FF1B94F-697D-A961-4DA2-649C303D473E}"/>
              </a:ext>
            </a:extLst>
          </p:cNvPr>
          <p:cNvSpPr/>
          <p:nvPr/>
        </p:nvSpPr>
        <p:spPr>
          <a:xfrm>
            <a:off x="3465576" y="4489704"/>
            <a:ext cx="310896"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563EB"/>
                </a:solidFill>
                <a:effectLst/>
                <a:uLnTx/>
                <a:uFillTx/>
                <a:latin typeface="Aptos"/>
                <a:ea typeface="+mn-ea"/>
                <a:cs typeface="+mn-cs"/>
              </a:rPr>
              <a:t>✓</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21" name="Text 48">
            <a:extLst>
              <a:ext uri="{FF2B5EF4-FFF2-40B4-BE49-F238E27FC236}">
                <a16:creationId xmlns:a16="http://schemas.microsoft.com/office/drawing/2014/main" id="{7DFDC0AE-0D89-DB87-00C9-29DE9267ECF7}"/>
              </a:ext>
            </a:extLst>
          </p:cNvPr>
          <p:cNvSpPr/>
          <p:nvPr/>
        </p:nvSpPr>
        <p:spPr>
          <a:xfrm>
            <a:off x="3849624" y="4407408"/>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72033"/>
                </a:solidFill>
                <a:effectLst/>
                <a:uLnTx/>
                <a:uFillTx/>
                <a:latin typeface="Aptos"/>
                <a:ea typeface="+mn-ea"/>
                <a:cs typeface="+mn-cs"/>
              </a:rPr>
              <a:t>Data Validation and Exception Handling</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23" name="Text 49">
            <a:extLst>
              <a:ext uri="{FF2B5EF4-FFF2-40B4-BE49-F238E27FC236}">
                <a16:creationId xmlns:a16="http://schemas.microsoft.com/office/drawing/2014/main" id="{E91208D0-6C6F-2FC7-E25A-A766A5B49F2B}"/>
              </a:ext>
            </a:extLst>
          </p:cNvPr>
          <p:cNvSpPr/>
          <p:nvPr/>
        </p:nvSpPr>
        <p:spPr>
          <a:xfrm>
            <a:off x="3849624" y="4599432"/>
            <a:ext cx="1993392" cy="24688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Ensuring completeness and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of invoice data before issuance.​</a:t>
            </a:r>
            <a:endParaRPr kumimoji="0" lang="en-US" sz="700" b="0" i="0" u="none" strike="noStrike" kern="1200" cap="none" spc="0" normalizeH="0" baseline="0" noProof="0">
              <a:ln>
                <a:noFill/>
              </a:ln>
              <a:solidFill>
                <a:prstClr val="black"/>
              </a:solidFill>
              <a:effectLst/>
              <a:uLnTx/>
              <a:uFillTx/>
              <a:latin typeface="Aptos"/>
              <a:ea typeface="+mn-ea"/>
              <a:cs typeface="+mn-cs"/>
            </a:endParaRPr>
          </a:p>
        </p:txBody>
      </p:sp>
      <p:sp>
        <p:nvSpPr>
          <p:cNvPr id="125" name="Shape 50">
            <a:extLst>
              <a:ext uri="{FF2B5EF4-FFF2-40B4-BE49-F238E27FC236}">
                <a16:creationId xmlns:a16="http://schemas.microsoft.com/office/drawing/2014/main" id="{68C53DB4-12EB-29C7-16E1-49E54ADAD51C}"/>
              </a:ext>
            </a:extLst>
          </p:cNvPr>
          <p:cNvSpPr/>
          <p:nvPr/>
        </p:nvSpPr>
        <p:spPr>
          <a:xfrm>
            <a:off x="566928" y="5038344"/>
            <a:ext cx="2633472" cy="603504"/>
          </a:xfrm>
          <a:prstGeom prst="roundRect">
            <a:avLst>
              <a:gd name="adj" fmla="val 7576"/>
            </a:avLst>
          </a:prstGeom>
          <a:solidFill>
            <a:srgbClr val="FFFFFF"/>
          </a:solidFill>
          <a:ln w="10160">
            <a:solidFill>
              <a:srgbClr val="DDE2E8"/>
            </a:solidFill>
            <a:prstDash val="solid"/>
          </a:ln>
          <a:effectLst>
            <a:outerShdw blurRad="12700" dist="3810" dir="2700000" algn="bl" rotWithShape="0">
              <a:srgbClr val="000000">
                <a:alpha val="8000"/>
              </a:srgbClr>
            </a:outerShdw>
          </a:effectLst>
        </p:spPr>
        <p:txBody>
          <a:bodyPr/>
          <a:lstStyle/>
          <a:p>
            <a:endParaRPr lang="en-US"/>
          </a:p>
        </p:txBody>
      </p:sp>
      <p:sp>
        <p:nvSpPr>
          <p:cNvPr id="127" name="Shape 51">
            <a:extLst>
              <a:ext uri="{FF2B5EF4-FFF2-40B4-BE49-F238E27FC236}">
                <a16:creationId xmlns:a16="http://schemas.microsoft.com/office/drawing/2014/main" id="{FFB99A89-4DA0-94F5-6445-91C69E6ED4D7}"/>
              </a:ext>
            </a:extLst>
          </p:cNvPr>
          <p:cNvSpPr/>
          <p:nvPr/>
        </p:nvSpPr>
        <p:spPr>
          <a:xfrm>
            <a:off x="676656" y="5166360"/>
            <a:ext cx="310896" cy="310896"/>
          </a:xfrm>
          <a:prstGeom prst="ellipse">
            <a:avLst/>
          </a:prstGeom>
          <a:solidFill>
            <a:srgbClr val="EDF4FF"/>
          </a:solidFill>
          <a:ln w="12700">
            <a:solidFill>
              <a:srgbClr val="EDF4FF"/>
            </a:solidFill>
            <a:prstDash val="solid"/>
          </a:ln>
        </p:spPr>
        <p:txBody>
          <a:bodyPr/>
          <a:lstStyle/>
          <a:p>
            <a:endParaRPr lang="en-US"/>
          </a:p>
        </p:txBody>
      </p:sp>
      <p:sp>
        <p:nvSpPr>
          <p:cNvPr id="129" name="Text 52">
            <a:extLst>
              <a:ext uri="{FF2B5EF4-FFF2-40B4-BE49-F238E27FC236}">
                <a16:creationId xmlns:a16="http://schemas.microsoft.com/office/drawing/2014/main" id="{B8F53AA6-A7F2-D83B-A488-0F9BF40F0868}"/>
              </a:ext>
            </a:extLst>
          </p:cNvPr>
          <p:cNvSpPr/>
          <p:nvPr/>
        </p:nvSpPr>
        <p:spPr>
          <a:xfrm>
            <a:off x="676656" y="5212080"/>
            <a:ext cx="310896"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563EB"/>
                </a:solidFill>
                <a:effectLst/>
                <a:uLnTx/>
                <a:uFillTx/>
                <a:latin typeface="Aptos"/>
                <a:ea typeface="+mn-ea"/>
                <a:cs typeface="+mn-cs"/>
              </a:rPr>
              <a:t>▥</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31" name="Text 53">
            <a:extLst>
              <a:ext uri="{FF2B5EF4-FFF2-40B4-BE49-F238E27FC236}">
                <a16:creationId xmlns:a16="http://schemas.microsoft.com/office/drawing/2014/main" id="{879D0C78-AD7D-97AC-2E76-83395AB88DBE}"/>
              </a:ext>
            </a:extLst>
          </p:cNvPr>
          <p:cNvSpPr/>
          <p:nvPr/>
        </p:nvSpPr>
        <p:spPr>
          <a:xfrm>
            <a:off x="1060704" y="5129784"/>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72033"/>
                </a:solidFill>
                <a:effectLst/>
                <a:uLnTx/>
                <a:uFillTx/>
                <a:latin typeface="Aptos"/>
                <a:ea typeface="+mn-ea"/>
                <a:cs typeface="+mn-cs"/>
              </a:rPr>
              <a:t>Compliance Requirements</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33" name="Text 54">
            <a:extLst>
              <a:ext uri="{FF2B5EF4-FFF2-40B4-BE49-F238E27FC236}">
                <a16:creationId xmlns:a16="http://schemas.microsoft.com/office/drawing/2014/main" id="{FFBD299F-BC53-6370-E6BF-647515138AB6}"/>
              </a:ext>
            </a:extLst>
          </p:cNvPr>
          <p:cNvSpPr/>
          <p:nvPr/>
        </p:nvSpPr>
        <p:spPr>
          <a:xfrm>
            <a:off x="1060704" y="5321808"/>
            <a:ext cx="1993392" cy="246888"/>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Incorporating tax rules, audit trails, and regulatory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5B6472"/>
                </a:solidFill>
                <a:effectLst/>
                <a:uLnTx/>
                <a:uFillTx/>
                <a:latin typeface="Aptos"/>
                <a:ea typeface="+mn-ea"/>
                <a:cs typeface="+mn-cs"/>
              </a:rPr>
              <a:t>standards (e.g., VAT, GST etc.) into the invoicing process</a:t>
            </a:r>
            <a:endParaRPr kumimoji="0" lang="en-US" sz="700" b="0" i="0" u="none" strike="noStrike" kern="1200" cap="none" spc="0" normalizeH="0" baseline="0" noProof="0">
              <a:ln>
                <a:noFill/>
              </a:ln>
              <a:solidFill>
                <a:prstClr val="black"/>
              </a:solidFill>
              <a:effectLst/>
              <a:uLnTx/>
              <a:uFillTx/>
              <a:latin typeface="Aptos"/>
              <a:ea typeface="+mn-ea"/>
              <a:cs typeface="+mn-cs"/>
            </a:endParaRPr>
          </a:p>
        </p:txBody>
      </p:sp>
      <p:sp>
        <p:nvSpPr>
          <p:cNvPr id="135" name="Shape 55">
            <a:extLst>
              <a:ext uri="{FF2B5EF4-FFF2-40B4-BE49-F238E27FC236}">
                <a16:creationId xmlns:a16="http://schemas.microsoft.com/office/drawing/2014/main" id="{2DE33A76-F093-2EEB-CAB8-BF1AD3A57A35}"/>
              </a:ext>
            </a:extLst>
          </p:cNvPr>
          <p:cNvSpPr/>
          <p:nvPr/>
        </p:nvSpPr>
        <p:spPr>
          <a:xfrm>
            <a:off x="3355848" y="5038344"/>
            <a:ext cx="2633472" cy="603504"/>
          </a:xfrm>
          <a:prstGeom prst="roundRect">
            <a:avLst>
              <a:gd name="adj" fmla="val 7576"/>
            </a:avLst>
          </a:prstGeom>
          <a:solidFill>
            <a:srgbClr val="FFFFFF"/>
          </a:solidFill>
          <a:ln w="10160">
            <a:solidFill>
              <a:srgbClr val="DDE2E8"/>
            </a:solidFill>
            <a:prstDash val="solid"/>
          </a:ln>
          <a:effectLst>
            <a:outerShdw blurRad="12700" dist="3810" dir="2700000" algn="bl" rotWithShape="0">
              <a:srgbClr val="000000">
                <a:alpha val="8000"/>
              </a:srgbClr>
            </a:outerShdw>
          </a:effectLst>
        </p:spPr>
        <p:txBody>
          <a:bodyPr/>
          <a:lstStyle/>
          <a:p>
            <a:endParaRPr lang="en-US"/>
          </a:p>
        </p:txBody>
      </p:sp>
      <p:sp>
        <p:nvSpPr>
          <p:cNvPr id="137" name="Shape 56">
            <a:extLst>
              <a:ext uri="{FF2B5EF4-FFF2-40B4-BE49-F238E27FC236}">
                <a16:creationId xmlns:a16="http://schemas.microsoft.com/office/drawing/2014/main" id="{20D40949-0C33-9FCD-B680-C2FD210092D8}"/>
              </a:ext>
            </a:extLst>
          </p:cNvPr>
          <p:cNvSpPr/>
          <p:nvPr/>
        </p:nvSpPr>
        <p:spPr>
          <a:xfrm>
            <a:off x="3465576" y="5166360"/>
            <a:ext cx="310896" cy="310896"/>
          </a:xfrm>
          <a:prstGeom prst="ellipse">
            <a:avLst/>
          </a:prstGeom>
          <a:solidFill>
            <a:srgbClr val="EDF4FF"/>
          </a:solidFill>
          <a:ln w="12700">
            <a:solidFill>
              <a:srgbClr val="EDF4FF"/>
            </a:solidFill>
            <a:prstDash val="solid"/>
          </a:ln>
        </p:spPr>
        <p:txBody>
          <a:bodyPr/>
          <a:lstStyle/>
          <a:p>
            <a:endParaRPr lang="en-US"/>
          </a:p>
        </p:txBody>
      </p:sp>
      <p:sp>
        <p:nvSpPr>
          <p:cNvPr id="139" name="Text 57">
            <a:extLst>
              <a:ext uri="{FF2B5EF4-FFF2-40B4-BE49-F238E27FC236}">
                <a16:creationId xmlns:a16="http://schemas.microsoft.com/office/drawing/2014/main" id="{5BFB22A7-05A0-1963-2624-D238C00646F1}"/>
              </a:ext>
            </a:extLst>
          </p:cNvPr>
          <p:cNvSpPr/>
          <p:nvPr/>
        </p:nvSpPr>
        <p:spPr>
          <a:xfrm>
            <a:off x="3465576" y="5212080"/>
            <a:ext cx="310896"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563EB"/>
                </a:solidFill>
                <a:effectLst/>
                <a:uLnTx/>
                <a:uFillTx/>
                <a:latin typeface="Aptos"/>
                <a:ea typeface="+mn-ea"/>
                <a:cs typeface="+mn-cs"/>
              </a:rPr>
              <a:t>◇</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41" name="Text 58">
            <a:extLst>
              <a:ext uri="{FF2B5EF4-FFF2-40B4-BE49-F238E27FC236}">
                <a16:creationId xmlns:a16="http://schemas.microsoft.com/office/drawing/2014/main" id="{4CA1F359-2163-D6C8-A72B-572EC8B5AAC9}"/>
              </a:ext>
            </a:extLst>
          </p:cNvPr>
          <p:cNvSpPr/>
          <p:nvPr/>
        </p:nvSpPr>
        <p:spPr>
          <a:xfrm>
            <a:off x="3849624" y="5129784"/>
            <a:ext cx="199339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72033"/>
                </a:solidFill>
                <a:effectLst/>
                <a:uLnTx/>
                <a:uFillTx/>
                <a:latin typeface="Aptos"/>
                <a:ea typeface="+mn-ea"/>
                <a:cs typeface="+mn-cs"/>
              </a:rPr>
              <a:t>Reporting and Monitoring</a:t>
            </a:r>
            <a:endParaRPr kumimoji="0" lang="en-US" sz="1050" b="0" i="0" u="none" strike="noStrike" kern="1200" cap="none" spc="0" normalizeH="0" baseline="0" noProof="0">
              <a:ln>
                <a:noFill/>
              </a:ln>
              <a:solidFill>
                <a:prstClr val="black"/>
              </a:solidFill>
              <a:effectLst/>
              <a:uLnTx/>
              <a:uFillTx/>
              <a:latin typeface="Aptos"/>
              <a:ea typeface="+mn-ea"/>
              <a:cs typeface="+mn-cs"/>
            </a:endParaRPr>
          </a:p>
        </p:txBody>
      </p:sp>
      <p:sp>
        <p:nvSpPr>
          <p:cNvPr id="143" name="Text 59">
            <a:extLst>
              <a:ext uri="{FF2B5EF4-FFF2-40B4-BE49-F238E27FC236}">
                <a16:creationId xmlns:a16="http://schemas.microsoft.com/office/drawing/2014/main" id="{F823BCE9-4FE8-D22F-A917-C8A12E0FF30D}"/>
              </a:ext>
            </a:extLst>
          </p:cNvPr>
          <p:cNvSpPr/>
          <p:nvPr/>
        </p:nvSpPr>
        <p:spPr>
          <a:xfrm>
            <a:off x="3849624" y="5321808"/>
            <a:ext cx="1993392" cy="246888"/>
          </a:xfrm>
          <a:prstGeom prst="rect">
            <a:avLst/>
          </a:prstGeom>
          <a:noFill/>
          <a:ln/>
        </p:spPr>
        <p:txBody>
          <a:bodyPr wrap="square" lIns="0" tIns="0" rIns="0" bIns="0" rtlCol="0" anchor="ct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B6472"/>
                </a:solidFill>
                <a:effectLst/>
                <a:uLnTx/>
                <a:uFillTx/>
                <a:latin typeface="Aptos"/>
                <a:ea typeface="+mn-ea"/>
                <a:cs typeface="+mn-cs"/>
              </a:rPr>
              <a:t>Dashboards for invoice status, timeliness,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B6472"/>
                </a:solidFill>
                <a:effectLst/>
                <a:uLnTx/>
                <a:uFillTx/>
                <a:latin typeface="Aptos"/>
                <a:ea typeface="+mn-ea"/>
                <a:cs typeface="+mn-cs"/>
              </a:rPr>
              <a:t>accuracy metrics.​</a:t>
            </a:r>
            <a:endParaRPr kumimoji="0" lang="en-US" sz="850" b="0" i="0" u="none" strike="noStrike" kern="1200" cap="none" spc="0" normalizeH="0" baseline="0" noProof="0">
              <a:ln>
                <a:noFill/>
              </a:ln>
              <a:solidFill>
                <a:prstClr val="black"/>
              </a:solidFill>
              <a:effectLst/>
              <a:uLnTx/>
              <a:uFillTx/>
              <a:latin typeface="Aptos"/>
              <a:ea typeface="+mn-ea"/>
              <a:cs typeface="+mn-cs"/>
            </a:endParaRPr>
          </a:p>
        </p:txBody>
      </p:sp>
      <p:sp>
        <p:nvSpPr>
          <p:cNvPr id="145" name="Shape 60">
            <a:extLst>
              <a:ext uri="{FF2B5EF4-FFF2-40B4-BE49-F238E27FC236}">
                <a16:creationId xmlns:a16="http://schemas.microsoft.com/office/drawing/2014/main" id="{17C12786-C73B-2512-E89F-DDB896989A80}"/>
              </a:ext>
            </a:extLst>
          </p:cNvPr>
          <p:cNvSpPr/>
          <p:nvPr/>
        </p:nvSpPr>
        <p:spPr>
          <a:xfrm>
            <a:off x="6400800" y="3593592"/>
            <a:ext cx="5212080" cy="1353312"/>
          </a:xfrm>
          <a:prstGeom prst="roundRect">
            <a:avLst>
              <a:gd name="adj" fmla="val 4054"/>
            </a:avLst>
          </a:prstGeom>
          <a:solidFill>
            <a:srgbClr val="FFFFFF"/>
          </a:solidFill>
          <a:ln w="10160">
            <a:solidFill>
              <a:srgbClr val="DDE2E8"/>
            </a:solidFill>
            <a:prstDash val="solid"/>
          </a:ln>
        </p:spPr>
        <p:txBody>
          <a:bodyPr/>
          <a:lstStyle/>
          <a:p>
            <a:endParaRPr lang="en-US"/>
          </a:p>
        </p:txBody>
      </p:sp>
      <p:sp>
        <p:nvSpPr>
          <p:cNvPr id="147" name="Text 61">
            <a:extLst>
              <a:ext uri="{FF2B5EF4-FFF2-40B4-BE49-F238E27FC236}">
                <a16:creationId xmlns:a16="http://schemas.microsoft.com/office/drawing/2014/main" id="{874466AE-3FAB-1CC2-C1EC-2A8747D3615A}"/>
              </a:ext>
            </a:extLst>
          </p:cNvPr>
          <p:cNvSpPr/>
          <p:nvPr/>
        </p:nvSpPr>
        <p:spPr>
          <a:xfrm>
            <a:off x="6601968" y="3767328"/>
            <a:ext cx="12801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60" normalizeH="0" baseline="0" noProof="0">
                <a:ln>
                  <a:noFill/>
                </a:ln>
                <a:solidFill>
                  <a:srgbClr val="E2231A"/>
                </a:solidFill>
                <a:effectLst/>
                <a:uLnTx/>
                <a:uFillTx/>
                <a:latin typeface="Aptos"/>
                <a:ea typeface="+mn-ea"/>
                <a:cs typeface="+mn-cs"/>
              </a:rPr>
              <a:t>OUT OF SCOPE</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49" name="Shape 62">
            <a:extLst>
              <a:ext uri="{FF2B5EF4-FFF2-40B4-BE49-F238E27FC236}">
                <a16:creationId xmlns:a16="http://schemas.microsoft.com/office/drawing/2014/main" id="{D90EAF1B-D84F-8CCE-F4A1-1211D9BA2815}"/>
              </a:ext>
            </a:extLst>
          </p:cNvPr>
          <p:cNvSpPr/>
          <p:nvPr/>
        </p:nvSpPr>
        <p:spPr>
          <a:xfrm>
            <a:off x="6611112" y="4050792"/>
            <a:ext cx="73152" cy="73152"/>
          </a:xfrm>
          <a:prstGeom prst="ellipse">
            <a:avLst/>
          </a:prstGeom>
          <a:solidFill>
            <a:srgbClr val="E2231A"/>
          </a:solidFill>
          <a:ln w="12700">
            <a:solidFill>
              <a:srgbClr val="E2231A"/>
            </a:solidFill>
            <a:prstDash val="solid"/>
          </a:ln>
        </p:spPr>
        <p:txBody>
          <a:bodyPr/>
          <a:lstStyle/>
          <a:p>
            <a:endParaRPr lang="en-US"/>
          </a:p>
        </p:txBody>
      </p:sp>
      <p:sp>
        <p:nvSpPr>
          <p:cNvPr id="151" name="Text 63">
            <a:extLst>
              <a:ext uri="{FF2B5EF4-FFF2-40B4-BE49-F238E27FC236}">
                <a16:creationId xmlns:a16="http://schemas.microsoft.com/office/drawing/2014/main" id="{F81A1114-E434-74B2-52E6-F0CAE6C12047}"/>
              </a:ext>
            </a:extLst>
          </p:cNvPr>
          <p:cNvSpPr/>
          <p:nvPr/>
        </p:nvSpPr>
        <p:spPr>
          <a:xfrm>
            <a:off x="6784848" y="3995928"/>
            <a:ext cx="4572000" cy="1554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20" b="0" i="0" u="none" strike="noStrike" kern="1200" cap="none" spc="0" normalizeH="0" baseline="0" noProof="0">
                <a:ln>
                  <a:noFill/>
                </a:ln>
                <a:solidFill>
                  <a:srgbClr val="172033"/>
                </a:solidFill>
                <a:effectLst/>
                <a:uLnTx/>
                <a:uFillTx/>
                <a:latin typeface="Aptos"/>
                <a:ea typeface="+mn-ea"/>
                <a:cs typeface="+mn-cs"/>
              </a:rPr>
              <a:t>Dependent programs: Lithium onboarding and Trailblazer manual orders</a:t>
            </a:r>
            <a:endParaRPr kumimoji="0" lang="en-US" sz="920" b="0" i="0" u="none" strike="noStrike" kern="1200" cap="none" spc="0" normalizeH="0" baseline="0" noProof="0">
              <a:ln>
                <a:noFill/>
              </a:ln>
              <a:solidFill>
                <a:prstClr val="black"/>
              </a:solidFill>
              <a:effectLst/>
              <a:uLnTx/>
              <a:uFillTx/>
              <a:latin typeface="Aptos"/>
              <a:ea typeface="+mn-ea"/>
              <a:cs typeface="+mn-cs"/>
            </a:endParaRPr>
          </a:p>
        </p:txBody>
      </p:sp>
      <p:sp>
        <p:nvSpPr>
          <p:cNvPr id="153" name="Shape 64">
            <a:extLst>
              <a:ext uri="{FF2B5EF4-FFF2-40B4-BE49-F238E27FC236}">
                <a16:creationId xmlns:a16="http://schemas.microsoft.com/office/drawing/2014/main" id="{4EA4B5F2-BB38-B4FC-2E31-51C534E9F34A}"/>
              </a:ext>
            </a:extLst>
          </p:cNvPr>
          <p:cNvSpPr/>
          <p:nvPr/>
        </p:nvSpPr>
        <p:spPr>
          <a:xfrm>
            <a:off x="6611112" y="4251960"/>
            <a:ext cx="73152" cy="73152"/>
          </a:xfrm>
          <a:prstGeom prst="ellipse">
            <a:avLst/>
          </a:prstGeom>
          <a:solidFill>
            <a:srgbClr val="E2231A"/>
          </a:solidFill>
          <a:ln w="12700">
            <a:solidFill>
              <a:srgbClr val="E2231A"/>
            </a:solidFill>
            <a:prstDash val="solid"/>
          </a:ln>
        </p:spPr>
        <p:txBody>
          <a:bodyPr/>
          <a:lstStyle/>
          <a:p>
            <a:endParaRPr lang="en-US"/>
          </a:p>
        </p:txBody>
      </p:sp>
      <p:sp>
        <p:nvSpPr>
          <p:cNvPr id="155" name="Text 65">
            <a:extLst>
              <a:ext uri="{FF2B5EF4-FFF2-40B4-BE49-F238E27FC236}">
                <a16:creationId xmlns:a16="http://schemas.microsoft.com/office/drawing/2014/main" id="{AC73BB99-FD83-94D0-D237-2D3D2BA2E671}"/>
              </a:ext>
            </a:extLst>
          </p:cNvPr>
          <p:cNvSpPr/>
          <p:nvPr/>
        </p:nvSpPr>
        <p:spPr>
          <a:xfrm>
            <a:off x="6784848" y="4197096"/>
            <a:ext cx="4572000" cy="1554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20" b="0" i="0" u="none" strike="noStrike" kern="1200" cap="none" spc="0" normalizeH="0" baseline="0" noProof="0">
                <a:ln>
                  <a:noFill/>
                </a:ln>
                <a:solidFill>
                  <a:srgbClr val="172033"/>
                </a:solidFill>
                <a:effectLst/>
                <a:uLnTx/>
                <a:uFillTx/>
                <a:latin typeface="Aptos"/>
                <a:ea typeface="+mn-ea"/>
                <a:cs typeface="+mn-cs"/>
              </a:rPr>
              <a:t>Pricing or discount-policy changes</a:t>
            </a:r>
            <a:endParaRPr kumimoji="0" lang="en-US" sz="920" b="0" i="0" u="none" strike="noStrike" kern="1200" cap="none" spc="0" normalizeH="0" baseline="0" noProof="0">
              <a:ln>
                <a:noFill/>
              </a:ln>
              <a:solidFill>
                <a:prstClr val="black"/>
              </a:solidFill>
              <a:effectLst/>
              <a:uLnTx/>
              <a:uFillTx/>
              <a:latin typeface="Aptos"/>
              <a:ea typeface="+mn-ea"/>
              <a:cs typeface="+mn-cs"/>
            </a:endParaRPr>
          </a:p>
        </p:txBody>
      </p:sp>
      <p:sp>
        <p:nvSpPr>
          <p:cNvPr id="157" name="Shape 66">
            <a:extLst>
              <a:ext uri="{FF2B5EF4-FFF2-40B4-BE49-F238E27FC236}">
                <a16:creationId xmlns:a16="http://schemas.microsoft.com/office/drawing/2014/main" id="{83417E27-9237-B16C-B6B0-51321941FA53}"/>
              </a:ext>
            </a:extLst>
          </p:cNvPr>
          <p:cNvSpPr/>
          <p:nvPr/>
        </p:nvSpPr>
        <p:spPr>
          <a:xfrm>
            <a:off x="6611112" y="4453128"/>
            <a:ext cx="73152" cy="73152"/>
          </a:xfrm>
          <a:prstGeom prst="ellipse">
            <a:avLst/>
          </a:prstGeom>
          <a:solidFill>
            <a:srgbClr val="E2231A"/>
          </a:solidFill>
          <a:ln w="12700">
            <a:solidFill>
              <a:srgbClr val="E2231A"/>
            </a:solidFill>
            <a:prstDash val="solid"/>
          </a:ln>
        </p:spPr>
        <p:txBody>
          <a:bodyPr/>
          <a:lstStyle/>
          <a:p>
            <a:endParaRPr lang="en-US"/>
          </a:p>
        </p:txBody>
      </p:sp>
      <p:sp>
        <p:nvSpPr>
          <p:cNvPr id="159" name="Text 67">
            <a:extLst>
              <a:ext uri="{FF2B5EF4-FFF2-40B4-BE49-F238E27FC236}">
                <a16:creationId xmlns:a16="http://schemas.microsoft.com/office/drawing/2014/main" id="{C0A3AFA2-B78B-91F4-06F8-6E76EF7B2E89}"/>
              </a:ext>
            </a:extLst>
          </p:cNvPr>
          <p:cNvSpPr/>
          <p:nvPr/>
        </p:nvSpPr>
        <p:spPr>
          <a:xfrm>
            <a:off x="6784848" y="4398264"/>
            <a:ext cx="4572000" cy="1554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20" b="0" i="0" u="none" strike="noStrike" kern="1200" cap="none" spc="0" normalizeH="0" baseline="0" noProof="0">
                <a:ln>
                  <a:noFill/>
                </a:ln>
                <a:solidFill>
                  <a:srgbClr val="172033"/>
                </a:solidFill>
                <a:effectLst/>
                <a:uLnTx/>
                <a:uFillTx/>
                <a:latin typeface="Aptos"/>
                <a:ea typeface="+mn-ea"/>
                <a:cs typeface="+mn-cs"/>
              </a:rPr>
              <a:t>Customer payment-processing systems</a:t>
            </a:r>
            <a:endParaRPr kumimoji="0" lang="en-US" sz="920" b="0" i="0" u="none" strike="noStrike" kern="1200" cap="none" spc="0" normalizeH="0" baseline="0" noProof="0">
              <a:ln>
                <a:noFill/>
              </a:ln>
              <a:solidFill>
                <a:prstClr val="black"/>
              </a:solidFill>
              <a:effectLst/>
              <a:uLnTx/>
              <a:uFillTx/>
              <a:latin typeface="Aptos"/>
              <a:ea typeface="+mn-ea"/>
              <a:cs typeface="+mn-cs"/>
            </a:endParaRPr>
          </a:p>
        </p:txBody>
      </p:sp>
      <p:sp>
        <p:nvSpPr>
          <p:cNvPr id="161" name="Shape 68">
            <a:extLst>
              <a:ext uri="{FF2B5EF4-FFF2-40B4-BE49-F238E27FC236}">
                <a16:creationId xmlns:a16="http://schemas.microsoft.com/office/drawing/2014/main" id="{1A83B512-5D80-BD53-9775-0ED3EA5AE24A}"/>
              </a:ext>
            </a:extLst>
          </p:cNvPr>
          <p:cNvSpPr/>
          <p:nvPr/>
        </p:nvSpPr>
        <p:spPr>
          <a:xfrm>
            <a:off x="6611112" y="4654296"/>
            <a:ext cx="73152" cy="73152"/>
          </a:xfrm>
          <a:prstGeom prst="ellipse">
            <a:avLst/>
          </a:prstGeom>
          <a:solidFill>
            <a:srgbClr val="E2231A"/>
          </a:solidFill>
          <a:ln w="12700">
            <a:solidFill>
              <a:srgbClr val="E2231A"/>
            </a:solidFill>
            <a:prstDash val="solid"/>
          </a:ln>
        </p:spPr>
        <p:txBody>
          <a:bodyPr/>
          <a:lstStyle/>
          <a:p>
            <a:endParaRPr lang="en-US"/>
          </a:p>
        </p:txBody>
      </p:sp>
      <p:sp>
        <p:nvSpPr>
          <p:cNvPr id="163" name="Text 69">
            <a:extLst>
              <a:ext uri="{FF2B5EF4-FFF2-40B4-BE49-F238E27FC236}">
                <a16:creationId xmlns:a16="http://schemas.microsoft.com/office/drawing/2014/main" id="{5806B373-4992-2D16-E353-AE09D83FA0DE}"/>
              </a:ext>
            </a:extLst>
          </p:cNvPr>
          <p:cNvSpPr/>
          <p:nvPr/>
        </p:nvSpPr>
        <p:spPr>
          <a:xfrm>
            <a:off x="6784848" y="4599432"/>
            <a:ext cx="4572000" cy="1554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20" b="0" i="0" u="none" strike="noStrike" kern="1200" cap="none" spc="0" normalizeH="0" baseline="0" noProof="0">
                <a:ln>
                  <a:noFill/>
                </a:ln>
                <a:solidFill>
                  <a:srgbClr val="172033"/>
                </a:solidFill>
                <a:effectLst/>
                <a:uLnTx/>
                <a:uFillTx/>
                <a:latin typeface="Aptos"/>
                <a:ea typeface="+mn-ea"/>
                <a:cs typeface="+mn-cs"/>
              </a:rPr>
              <a:t>External audit or compliance reviews</a:t>
            </a:r>
            <a:endParaRPr kumimoji="0" lang="en-US" sz="920" b="0" i="0" u="none" strike="noStrike" kern="1200" cap="none" spc="0" normalizeH="0" baseline="0" noProof="0">
              <a:ln>
                <a:noFill/>
              </a:ln>
              <a:solidFill>
                <a:prstClr val="black"/>
              </a:solidFill>
              <a:effectLst/>
              <a:uLnTx/>
              <a:uFillTx/>
              <a:latin typeface="Aptos"/>
              <a:ea typeface="+mn-ea"/>
              <a:cs typeface="+mn-cs"/>
            </a:endParaRPr>
          </a:p>
        </p:txBody>
      </p:sp>
      <p:sp>
        <p:nvSpPr>
          <p:cNvPr id="165" name="Text 71">
            <a:extLst>
              <a:ext uri="{FF2B5EF4-FFF2-40B4-BE49-F238E27FC236}">
                <a16:creationId xmlns:a16="http://schemas.microsoft.com/office/drawing/2014/main" id="{44AC5781-BCD9-0D30-F9F3-F98DED499009}"/>
              </a:ext>
            </a:extLst>
          </p:cNvPr>
          <p:cNvSpPr/>
          <p:nvPr/>
        </p:nvSpPr>
        <p:spPr>
          <a:xfrm>
            <a:off x="6601968" y="5276088"/>
            <a:ext cx="22860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50" normalizeH="0" baseline="0" noProof="0">
                <a:ln>
                  <a:noFill/>
                </a:ln>
                <a:solidFill>
                  <a:srgbClr val="16836B"/>
                </a:solidFill>
                <a:effectLst/>
                <a:uLnTx/>
                <a:uFillTx/>
                <a:latin typeface="Aptos"/>
                <a:ea typeface="+mn-ea"/>
                <a:cs typeface="+mn-cs"/>
              </a:rPr>
              <a:t>EXPECTED BUSINESS VALUE</a:t>
            </a:r>
            <a:endParaRPr kumimoji="0" lang="en-US" sz="1000" b="0" i="0" u="none" strike="noStrike" kern="1200" cap="none" spc="0" normalizeH="0" baseline="0" noProof="0">
              <a:ln>
                <a:noFill/>
              </a:ln>
              <a:solidFill>
                <a:prstClr val="black"/>
              </a:solidFill>
              <a:effectLst/>
              <a:uLnTx/>
              <a:uFillTx/>
              <a:latin typeface="Aptos"/>
              <a:ea typeface="+mn-ea"/>
              <a:cs typeface="+mn-cs"/>
            </a:endParaRPr>
          </a:p>
        </p:txBody>
      </p:sp>
      <p:sp>
        <p:nvSpPr>
          <p:cNvPr id="167" name="Text 72">
            <a:extLst>
              <a:ext uri="{FF2B5EF4-FFF2-40B4-BE49-F238E27FC236}">
                <a16:creationId xmlns:a16="http://schemas.microsoft.com/office/drawing/2014/main" id="{382D768D-DF73-4B0E-9E00-D5E5CDA02472}"/>
              </a:ext>
            </a:extLst>
          </p:cNvPr>
          <p:cNvSpPr/>
          <p:nvPr/>
        </p:nvSpPr>
        <p:spPr>
          <a:xfrm>
            <a:off x="6601968" y="5559552"/>
            <a:ext cx="2258568" cy="219456"/>
          </a:xfrm>
          <a:prstGeom prst="rect">
            <a:avLst/>
          </a:prstGeom>
          <a:noFill/>
          <a:ln/>
        </p:spPr>
        <p:txBody>
          <a:bodyPr wrap="square" lIns="0" tIns="0" rIns="0" bIns="0"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1" i="0" u="none" strike="noStrike" kern="1200" cap="none" spc="0" normalizeH="0" baseline="0" noProof="0">
                <a:ln>
                  <a:noFill/>
                </a:ln>
                <a:solidFill>
                  <a:srgbClr val="172033"/>
                </a:solidFill>
                <a:effectLst/>
                <a:uLnTx/>
                <a:uFillTx/>
                <a:latin typeface="Aptos"/>
                <a:ea typeface="+mn-ea"/>
                <a:cs typeface="+mn-cs"/>
              </a:rPr>
              <a:t>Financial Accuracy: </a:t>
            </a:r>
            <a:r>
              <a:rPr kumimoji="0" lang="en-US" sz="860" i="0" u="none" strike="noStrike" kern="1200" cap="none" spc="0" normalizeH="0" baseline="0" noProof="0">
                <a:ln>
                  <a:noFill/>
                </a:ln>
                <a:solidFill>
                  <a:srgbClr val="172033"/>
                </a:solidFill>
                <a:effectLst/>
                <a:uLnTx/>
                <a:uFillTx/>
                <a:latin typeface="Aptos"/>
                <a:ea typeface="+mn-ea"/>
                <a:cs typeface="+mn-cs"/>
              </a:rPr>
              <a:t>Reduced revenue leakage and billing disputes.​</a:t>
            </a:r>
          </a:p>
        </p:txBody>
      </p:sp>
      <p:sp>
        <p:nvSpPr>
          <p:cNvPr id="169" name="Text 73">
            <a:extLst>
              <a:ext uri="{FF2B5EF4-FFF2-40B4-BE49-F238E27FC236}">
                <a16:creationId xmlns:a16="http://schemas.microsoft.com/office/drawing/2014/main" id="{51B411AB-3D86-7A3B-E8A3-11F6A9DA7DF0}"/>
              </a:ext>
            </a:extLst>
          </p:cNvPr>
          <p:cNvSpPr/>
          <p:nvPr/>
        </p:nvSpPr>
        <p:spPr>
          <a:xfrm>
            <a:off x="9025128" y="5559552"/>
            <a:ext cx="2258568" cy="219456"/>
          </a:xfrm>
          <a:prstGeom prst="rect">
            <a:avLst/>
          </a:prstGeom>
          <a:noFill/>
          <a:ln/>
        </p:spPr>
        <p:txBody>
          <a:bodyPr wrap="square" lIns="0" tIns="0" rIns="0" bIns="0" rtlCol="0" anchor="ctr">
            <a:normAutofit fontScale="40000" lnSpcReduction="20000"/>
          </a:bodyPr>
          <a:lstStyle/>
          <a:p>
            <a:pPr lvl="0" fontAlgn="base"/>
            <a:r>
              <a:rPr lang="en-US" b="1"/>
              <a:t>Operational Efficiency: </a:t>
            </a:r>
            <a:r>
              <a:rPr lang="en-US"/>
              <a:t>Less manual intervention and faster processing.​</a:t>
            </a:r>
          </a:p>
        </p:txBody>
      </p:sp>
      <p:sp>
        <p:nvSpPr>
          <p:cNvPr id="171" name="Text 74">
            <a:extLst>
              <a:ext uri="{FF2B5EF4-FFF2-40B4-BE49-F238E27FC236}">
                <a16:creationId xmlns:a16="http://schemas.microsoft.com/office/drawing/2014/main" id="{1C42DBFE-9411-3B5B-3972-E18E64797439}"/>
              </a:ext>
            </a:extLst>
          </p:cNvPr>
          <p:cNvSpPr/>
          <p:nvPr/>
        </p:nvSpPr>
        <p:spPr>
          <a:xfrm>
            <a:off x="6601968" y="5833872"/>
            <a:ext cx="2258568" cy="219456"/>
          </a:xfrm>
          <a:prstGeom prst="rect">
            <a:avLst/>
          </a:prstGeom>
          <a:noFill/>
          <a:ln/>
        </p:spPr>
        <p:txBody>
          <a:bodyPr wrap="square" lIns="0" tIns="0" rIns="0" bIns="0" rtlCol="0" anchor="ctr">
            <a:normAutofit fontScale="40000" lnSpcReduction="20000"/>
          </a:bodyPr>
          <a:lstStyle/>
          <a:p>
            <a:pPr lvl="0" fontAlgn="base"/>
            <a:r>
              <a:rPr lang="en-US" b="1"/>
              <a:t>Customer Satisfaction: </a:t>
            </a:r>
            <a:r>
              <a:rPr lang="en-US"/>
              <a:t>Timely and correct invoices improve trust.​</a:t>
            </a:r>
          </a:p>
        </p:txBody>
      </p:sp>
      <p:sp>
        <p:nvSpPr>
          <p:cNvPr id="173" name="Text 75">
            <a:extLst>
              <a:ext uri="{FF2B5EF4-FFF2-40B4-BE49-F238E27FC236}">
                <a16:creationId xmlns:a16="http://schemas.microsoft.com/office/drawing/2014/main" id="{BE433880-F825-FE96-EE09-2972A44D0586}"/>
              </a:ext>
            </a:extLst>
          </p:cNvPr>
          <p:cNvSpPr/>
          <p:nvPr/>
        </p:nvSpPr>
        <p:spPr>
          <a:xfrm>
            <a:off x="9025128" y="5833872"/>
            <a:ext cx="2258568" cy="219456"/>
          </a:xfrm>
          <a:prstGeom prst="rect">
            <a:avLst/>
          </a:prstGeom>
          <a:noFill/>
          <a:ln/>
        </p:spPr>
        <p:txBody>
          <a:bodyPr wrap="square" lIns="0" tIns="0" rIns="0" bIns="0" rtlCol="0" anchor="ctr">
            <a:normAutofit fontScale="40000" lnSpcReduction="20000"/>
          </a:bodyPr>
          <a:lstStyle/>
          <a:p>
            <a:pPr lvl="0" fontAlgn="base"/>
            <a:r>
              <a:rPr lang="en-US" b="1"/>
              <a:t>Compliance: </a:t>
            </a:r>
            <a:r>
              <a:rPr lang="en-US"/>
              <a:t>Better audit trails and regulatory adherence.​</a:t>
            </a:r>
          </a:p>
        </p:txBody>
      </p:sp>
    </p:spTree>
    <p:extLst>
      <p:ext uri="{BB962C8B-B14F-4D97-AF65-F5344CB8AC3E}">
        <p14:creationId xmlns:p14="http://schemas.microsoft.com/office/powerpoint/2010/main" val="378530084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E139AB3-20B7-0A7C-8241-56B30F8D886C}"/>
              </a:ext>
            </a:extLst>
          </p:cNvPr>
          <p:cNvGraphicFramePr>
            <a:graphicFrameLocks/>
          </p:cNvGraphicFramePr>
          <p:nvPr>
            <p:custDataLst>
              <p:tags r:id="rId1"/>
            </p:custDataLst>
            <p:extLst>
              <p:ext uri="{D42A27DB-BD31-4B8C-83A1-F6EECF244321}">
                <p14:modId xmlns:p14="http://schemas.microsoft.com/office/powerpoint/2010/main" val="1099670630"/>
              </p:ext>
            </p:extLst>
          </p:nvPr>
        </p:nvGraphicFramePr>
        <p:xfrm>
          <a:off x="4762" y="2480"/>
          <a:ext cx="1588" cy="1588"/>
        </p:xfrm>
        <a:graphic>
          <a:graphicData uri="http://schemas.openxmlformats.org/presentationml/2006/ole">
            <mc:AlternateContent xmlns:mc="http://schemas.openxmlformats.org/markup-compatibility/2006">
              <mc:Choice xmlns:v="urn:schemas-microsoft-com:vml" Requires="v">
                <p:oleObj name="thinkcell Slide" r:id="rId3" imgW="456" imgH="456" progId="TCLayout.ActiveDocument.1">
                  <p:embed/>
                </p:oleObj>
              </mc:Choice>
              <mc:Fallback>
                <p:oleObj name="thinkcell Slide" r:id="rId3" imgW="456" imgH="456" progId="TCLayout.ActiveDocument.1">
                  <p:embed/>
                  <p:pic>
                    <p:nvPicPr>
                      <p:cNvPr id="5" name="think-cell data - do not delete" hidden="1">
                        <a:extLst>
                          <a:ext uri="{FF2B5EF4-FFF2-40B4-BE49-F238E27FC236}">
                            <a16:creationId xmlns:a16="http://schemas.microsoft.com/office/drawing/2014/main" id="{1E139AB3-20B7-0A7C-8241-56B30F8D886C}"/>
                          </a:ext>
                        </a:extLst>
                      </p:cNvPr>
                      <p:cNvPicPr/>
                      <p:nvPr/>
                    </p:nvPicPr>
                    <p:blipFill>
                      <a:blip r:embed="rId4"/>
                      <a:stretch>
                        <a:fillRect/>
                      </a:stretch>
                    </p:blipFill>
                    <p:spPr>
                      <a:xfrm>
                        <a:off x="4762"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CFB7206-EE84-E04B-885D-25DE5E4CF02C}"/>
              </a:ext>
            </a:extLst>
          </p:cNvPr>
          <p:cNvSpPr>
            <a:spLocks noGrp="1"/>
          </p:cNvSpPr>
          <p:nvPr>
            <p:ph type="title"/>
          </p:nvPr>
        </p:nvSpPr>
        <p:spPr>
          <a:xfrm>
            <a:off x="320734" y="282276"/>
            <a:ext cx="10668269" cy="418467"/>
          </a:xfrm>
        </p:spPr>
        <p:txBody>
          <a:bodyPr vert="horz" rIns="0">
            <a:normAutofit/>
          </a:bodyPr>
          <a:lstStyle/>
          <a:p>
            <a:r>
              <a:rPr lang="en-US" altLang="zh-CN">
                <a:latin typeface="Arial"/>
                <a:ea typeface="黑体"/>
                <a:cs typeface="Arial"/>
              </a:rPr>
              <a:t>NexBill Project Wave I &amp; II Roadmap</a:t>
            </a:r>
            <a:endParaRPr lang="zh-CN" altLang="en-US">
              <a:latin typeface="Arial"/>
              <a:ea typeface="黑体"/>
              <a:cs typeface="Arial"/>
            </a:endParaRPr>
          </a:p>
        </p:txBody>
      </p:sp>
      <p:sp>
        <p:nvSpPr>
          <p:cNvPr id="4" name="Slide Number Placeholder 3">
            <a:extLst>
              <a:ext uri="{FF2B5EF4-FFF2-40B4-BE49-F238E27FC236}">
                <a16:creationId xmlns:a16="http://schemas.microsoft.com/office/drawing/2014/main" id="{015C1D05-976F-3C70-0A20-62E738477F29}"/>
              </a:ext>
            </a:extLst>
          </p:cNvPr>
          <p:cNvSpPr>
            <a:spLocks noGrp="1"/>
          </p:cNvSpPr>
          <p:nvPr>
            <p:ph type="sldNum" sz="quarter" idx="10"/>
          </p:nvPr>
        </p:nvSpPr>
        <p:spPr>
          <a:xfrm>
            <a:off x="11752176" y="6587238"/>
            <a:ext cx="438798" cy="155408"/>
          </a:xfrm>
        </p:spPr>
        <p:txBody>
          <a:bodyPr/>
          <a:lstStyle/>
          <a:p>
            <a:pPr defTabSz="1218621">
              <a:defRPr/>
            </a:pPr>
            <a:fld id="{6D22F896-40B5-4ADD-8801-0D06FADFA095}" type="slidenum">
              <a:rPr lang="en-US">
                <a:solidFill>
                  <a:srgbClr val="000000"/>
                </a:solidFill>
              </a:rPr>
              <a:pPr defTabSz="1218621">
                <a:defRPr/>
              </a:pPr>
              <a:t>4</a:t>
            </a:fld>
            <a:endParaRPr lang="en-US">
              <a:solidFill>
                <a:srgbClr val="000000"/>
              </a:solidFill>
            </a:endParaRPr>
          </a:p>
        </p:txBody>
      </p:sp>
      <p:grpSp>
        <p:nvGrpSpPr>
          <p:cNvPr id="21" name="Group 20">
            <a:extLst>
              <a:ext uri="{FF2B5EF4-FFF2-40B4-BE49-F238E27FC236}">
                <a16:creationId xmlns:a16="http://schemas.microsoft.com/office/drawing/2014/main" id="{C6B0040B-2F5A-E282-D135-67A3D75907E5}"/>
              </a:ext>
            </a:extLst>
          </p:cNvPr>
          <p:cNvGrpSpPr/>
          <p:nvPr/>
        </p:nvGrpSpPr>
        <p:grpSpPr>
          <a:xfrm>
            <a:off x="3669963" y="2233626"/>
            <a:ext cx="227656" cy="1930781"/>
            <a:chOff x="2825829" y="1734530"/>
            <a:chExt cx="227715" cy="2254149"/>
          </a:xfrm>
        </p:grpSpPr>
        <p:cxnSp>
          <p:nvCxnSpPr>
            <p:cNvPr id="18" name="Straight Connector 17">
              <a:extLst>
                <a:ext uri="{FF2B5EF4-FFF2-40B4-BE49-F238E27FC236}">
                  <a16:creationId xmlns:a16="http://schemas.microsoft.com/office/drawing/2014/main" id="{B9636DA3-6D25-4531-A076-0DCA79492583}"/>
                </a:ext>
              </a:extLst>
            </p:cNvPr>
            <p:cNvCxnSpPr>
              <a:cxnSpLocks/>
            </p:cNvCxnSpPr>
            <p:nvPr/>
          </p:nvCxnSpPr>
          <p:spPr>
            <a:xfrm>
              <a:off x="2939687" y="1866507"/>
              <a:ext cx="0" cy="2122172"/>
            </a:xfrm>
            <a:prstGeom prst="line">
              <a:avLst/>
            </a:prstGeom>
            <a:ln w="1587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C5332580-FDC9-5398-ECCE-1D9734C76756}"/>
                </a:ext>
              </a:extLst>
            </p:cNvPr>
            <p:cNvSpPr/>
            <p:nvPr/>
          </p:nvSpPr>
          <p:spPr>
            <a:xfrm>
              <a:off x="2825829" y="1734530"/>
              <a:ext cx="227715" cy="235670"/>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grpSp>
      <p:sp>
        <p:nvSpPr>
          <p:cNvPr id="22" name="TextBox 21">
            <a:extLst>
              <a:ext uri="{FF2B5EF4-FFF2-40B4-BE49-F238E27FC236}">
                <a16:creationId xmlns:a16="http://schemas.microsoft.com/office/drawing/2014/main" id="{A8EC1364-D4EC-FEEC-D1E8-962A2C992DA4}"/>
              </a:ext>
            </a:extLst>
          </p:cNvPr>
          <p:cNvSpPr txBox="1"/>
          <p:nvPr/>
        </p:nvSpPr>
        <p:spPr>
          <a:xfrm>
            <a:off x="3053609" y="1882379"/>
            <a:ext cx="1232709" cy="338466"/>
          </a:xfrm>
          <a:prstGeom prst="rect">
            <a:avLst/>
          </a:prstGeom>
          <a:noFill/>
        </p:spPr>
        <p:txBody>
          <a:bodyPr wrap="square" rtlCol="0">
            <a:spAutoFit/>
          </a:bodyPr>
          <a:lstStyle/>
          <a:p>
            <a:pPr defTabSz="1218621">
              <a:defRPr/>
            </a:pPr>
            <a:r>
              <a:rPr lang="en-US" sz="1600" b="1">
                <a:solidFill>
                  <a:srgbClr val="000000"/>
                </a:solidFill>
                <a:latin typeface="Arial" pitchFamily="34" charset="0"/>
                <a:cs typeface="Arial" pitchFamily="34" charset="0"/>
              </a:rPr>
              <a:t>Q3 FY2627</a:t>
            </a:r>
          </a:p>
        </p:txBody>
      </p:sp>
      <p:grpSp>
        <p:nvGrpSpPr>
          <p:cNvPr id="23" name="Group 22">
            <a:extLst>
              <a:ext uri="{FF2B5EF4-FFF2-40B4-BE49-F238E27FC236}">
                <a16:creationId xmlns:a16="http://schemas.microsoft.com/office/drawing/2014/main" id="{7F778A0E-C6C4-DE62-BEB6-201A210F7593}"/>
              </a:ext>
            </a:extLst>
          </p:cNvPr>
          <p:cNvGrpSpPr/>
          <p:nvPr/>
        </p:nvGrpSpPr>
        <p:grpSpPr>
          <a:xfrm>
            <a:off x="206907" y="2843552"/>
            <a:ext cx="227656" cy="1930781"/>
            <a:chOff x="2825829" y="1734530"/>
            <a:chExt cx="227715" cy="2254149"/>
          </a:xfrm>
        </p:grpSpPr>
        <p:cxnSp>
          <p:nvCxnSpPr>
            <p:cNvPr id="24" name="Straight Connector 23">
              <a:extLst>
                <a:ext uri="{FF2B5EF4-FFF2-40B4-BE49-F238E27FC236}">
                  <a16:creationId xmlns:a16="http://schemas.microsoft.com/office/drawing/2014/main" id="{D9C918D3-6F33-199B-27FC-CBF17AA60C26}"/>
                </a:ext>
              </a:extLst>
            </p:cNvPr>
            <p:cNvCxnSpPr>
              <a:cxnSpLocks/>
            </p:cNvCxnSpPr>
            <p:nvPr/>
          </p:nvCxnSpPr>
          <p:spPr>
            <a:xfrm>
              <a:off x="2939687" y="1866507"/>
              <a:ext cx="0" cy="2122172"/>
            </a:xfrm>
            <a:prstGeom prst="line">
              <a:avLst/>
            </a:prstGeom>
            <a:ln w="1587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2CBDBCEE-B0F0-516D-E8A6-E6290B956C61}"/>
                </a:ext>
              </a:extLst>
            </p:cNvPr>
            <p:cNvSpPr/>
            <p:nvPr/>
          </p:nvSpPr>
          <p:spPr>
            <a:xfrm>
              <a:off x="2825829" y="1734530"/>
              <a:ext cx="227715" cy="235670"/>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grpSp>
      <p:sp>
        <p:nvSpPr>
          <p:cNvPr id="26" name="TextBox 25">
            <a:extLst>
              <a:ext uri="{FF2B5EF4-FFF2-40B4-BE49-F238E27FC236}">
                <a16:creationId xmlns:a16="http://schemas.microsoft.com/office/drawing/2014/main" id="{79B873CE-E205-4010-95E1-0C3DB8B5F4CA}"/>
              </a:ext>
            </a:extLst>
          </p:cNvPr>
          <p:cNvSpPr txBox="1"/>
          <p:nvPr/>
        </p:nvSpPr>
        <p:spPr>
          <a:xfrm>
            <a:off x="3177" y="2519091"/>
            <a:ext cx="900974" cy="338466"/>
          </a:xfrm>
          <a:prstGeom prst="rect">
            <a:avLst/>
          </a:prstGeom>
          <a:noFill/>
        </p:spPr>
        <p:txBody>
          <a:bodyPr wrap="square" rtlCol="0">
            <a:spAutoFit/>
          </a:bodyPr>
          <a:lstStyle/>
          <a:p>
            <a:pPr defTabSz="1218621">
              <a:defRPr/>
            </a:pPr>
            <a:r>
              <a:rPr lang="en-US" sz="1600" b="1">
                <a:solidFill>
                  <a:srgbClr val="000000"/>
                </a:solidFill>
                <a:latin typeface="Arial" pitchFamily="34" charset="0"/>
                <a:cs typeface="Arial" pitchFamily="34" charset="0"/>
              </a:rPr>
              <a:t>FY2526</a:t>
            </a:r>
          </a:p>
        </p:txBody>
      </p:sp>
      <p:sp>
        <p:nvSpPr>
          <p:cNvPr id="29" name="TextBox 28">
            <a:extLst>
              <a:ext uri="{FF2B5EF4-FFF2-40B4-BE49-F238E27FC236}">
                <a16:creationId xmlns:a16="http://schemas.microsoft.com/office/drawing/2014/main" id="{6E87B150-2084-783E-D15B-2F52104FFBA7}"/>
              </a:ext>
            </a:extLst>
          </p:cNvPr>
          <p:cNvSpPr txBox="1"/>
          <p:nvPr/>
        </p:nvSpPr>
        <p:spPr>
          <a:xfrm>
            <a:off x="4075491" y="2676021"/>
            <a:ext cx="2981867" cy="1323094"/>
          </a:xfrm>
          <a:prstGeom prst="rect">
            <a:avLst/>
          </a:prstGeom>
          <a:noFill/>
        </p:spPr>
        <p:txBody>
          <a:bodyPr wrap="square">
            <a:spAutoFit/>
          </a:bodyPr>
          <a:lstStyle/>
          <a:p>
            <a:pPr marL="171399" indent="-171399" defTabSz="1218255">
              <a:buFont typeface="Arial" panose="020B0604020202020204" pitchFamily="34" charset="0"/>
              <a:buChar char="•"/>
              <a:defRPr/>
            </a:pPr>
            <a:r>
              <a:rPr lang="en-US" sz="1000">
                <a:solidFill>
                  <a:srgbClr val="000000"/>
                </a:solidFill>
                <a:latin typeface="Arial"/>
              </a:rPr>
              <a:t>Implement a holistic invoicing solution encompassing 88 functionalities and migrate NA data from the BRIM system to </a:t>
            </a:r>
            <a:r>
              <a:rPr lang="en-US" sz="1000" err="1">
                <a:solidFill>
                  <a:srgbClr val="000000"/>
                </a:solidFill>
                <a:latin typeface="Arial"/>
              </a:rPr>
              <a:t>NexBill</a:t>
            </a:r>
            <a:r>
              <a:rPr lang="en-US" sz="1000">
                <a:solidFill>
                  <a:srgbClr val="000000"/>
                </a:solidFill>
                <a:latin typeface="Arial"/>
              </a:rPr>
              <a:t> to meet NA compliance requirements by Dec ’26, with ROW migration to follow.</a:t>
            </a:r>
          </a:p>
          <a:p>
            <a:pPr defTabSz="1218255">
              <a:defRPr/>
            </a:pPr>
            <a:endParaRPr lang="en-US" sz="1000">
              <a:solidFill>
                <a:srgbClr val="000000"/>
              </a:solidFill>
              <a:latin typeface="Arial"/>
            </a:endParaRPr>
          </a:p>
          <a:p>
            <a:pPr marL="171399" indent="-171399" defTabSz="1218255">
              <a:buFont typeface="Arial" panose="020B0604020202020204" pitchFamily="34" charset="0"/>
              <a:buChar char="•"/>
              <a:defRPr/>
            </a:pPr>
            <a:r>
              <a:rPr lang="en-US" sz="1000">
                <a:solidFill>
                  <a:srgbClr val="000000"/>
                </a:solidFill>
                <a:latin typeface="Arial"/>
              </a:rPr>
              <a:t>Cease the use of BRIM as an invoicing tool for NA</a:t>
            </a:r>
          </a:p>
        </p:txBody>
      </p:sp>
      <p:grpSp>
        <p:nvGrpSpPr>
          <p:cNvPr id="30" name="Group 29">
            <a:extLst>
              <a:ext uri="{FF2B5EF4-FFF2-40B4-BE49-F238E27FC236}">
                <a16:creationId xmlns:a16="http://schemas.microsoft.com/office/drawing/2014/main" id="{9C409B45-143E-05B3-907E-2260B4E06536}"/>
              </a:ext>
            </a:extLst>
          </p:cNvPr>
          <p:cNvGrpSpPr/>
          <p:nvPr/>
        </p:nvGrpSpPr>
        <p:grpSpPr>
          <a:xfrm>
            <a:off x="7136447" y="1563308"/>
            <a:ext cx="227656" cy="1930781"/>
            <a:chOff x="2825829" y="1734530"/>
            <a:chExt cx="227715" cy="2254149"/>
          </a:xfrm>
        </p:grpSpPr>
        <p:cxnSp>
          <p:nvCxnSpPr>
            <p:cNvPr id="31" name="Straight Connector 30">
              <a:extLst>
                <a:ext uri="{FF2B5EF4-FFF2-40B4-BE49-F238E27FC236}">
                  <a16:creationId xmlns:a16="http://schemas.microsoft.com/office/drawing/2014/main" id="{35CF0139-E3EA-060D-946D-5252175CC215}"/>
                </a:ext>
              </a:extLst>
            </p:cNvPr>
            <p:cNvCxnSpPr>
              <a:cxnSpLocks/>
            </p:cNvCxnSpPr>
            <p:nvPr/>
          </p:nvCxnSpPr>
          <p:spPr>
            <a:xfrm>
              <a:off x="2939687" y="1866507"/>
              <a:ext cx="0" cy="2122172"/>
            </a:xfrm>
            <a:prstGeom prst="line">
              <a:avLst/>
            </a:prstGeom>
            <a:ln w="1587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450F1C72-0AA7-9119-8363-5CF04C3B9231}"/>
                </a:ext>
              </a:extLst>
            </p:cNvPr>
            <p:cNvSpPr/>
            <p:nvPr/>
          </p:nvSpPr>
          <p:spPr>
            <a:xfrm>
              <a:off x="2825829" y="1734530"/>
              <a:ext cx="227715" cy="235670"/>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grpSp>
      <p:sp>
        <p:nvSpPr>
          <p:cNvPr id="33" name="TextBox 32">
            <a:extLst>
              <a:ext uri="{FF2B5EF4-FFF2-40B4-BE49-F238E27FC236}">
                <a16:creationId xmlns:a16="http://schemas.microsoft.com/office/drawing/2014/main" id="{B87AA2F5-C676-9837-9FD5-F2C5F39437AA}"/>
              </a:ext>
            </a:extLst>
          </p:cNvPr>
          <p:cNvSpPr txBox="1"/>
          <p:nvPr/>
        </p:nvSpPr>
        <p:spPr>
          <a:xfrm>
            <a:off x="6793891" y="1185039"/>
            <a:ext cx="1232709" cy="338466"/>
          </a:xfrm>
          <a:prstGeom prst="rect">
            <a:avLst/>
          </a:prstGeom>
          <a:noFill/>
        </p:spPr>
        <p:txBody>
          <a:bodyPr wrap="square" rtlCol="0">
            <a:spAutoFit/>
          </a:bodyPr>
          <a:lstStyle/>
          <a:p>
            <a:pPr defTabSz="1218621">
              <a:defRPr/>
            </a:pPr>
            <a:r>
              <a:rPr lang="en-US" sz="1600" b="1">
                <a:solidFill>
                  <a:srgbClr val="000000"/>
                </a:solidFill>
                <a:latin typeface="Arial" pitchFamily="34" charset="0"/>
                <a:cs typeface="Arial" pitchFamily="34" charset="0"/>
              </a:rPr>
              <a:t>Q4 FY2627</a:t>
            </a:r>
          </a:p>
        </p:txBody>
      </p:sp>
      <p:sp>
        <p:nvSpPr>
          <p:cNvPr id="38" name="TextBox 37">
            <a:extLst>
              <a:ext uri="{FF2B5EF4-FFF2-40B4-BE49-F238E27FC236}">
                <a16:creationId xmlns:a16="http://schemas.microsoft.com/office/drawing/2014/main" id="{55AB1FAA-DE5D-72F9-1593-9E0C87D63A6A}"/>
              </a:ext>
            </a:extLst>
          </p:cNvPr>
          <p:cNvSpPr txBox="1"/>
          <p:nvPr/>
        </p:nvSpPr>
        <p:spPr>
          <a:xfrm>
            <a:off x="7534563" y="1778495"/>
            <a:ext cx="3174674" cy="1569251"/>
          </a:xfrm>
          <a:prstGeom prst="rect">
            <a:avLst/>
          </a:prstGeom>
          <a:noFill/>
        </p:spPr>
        <p:txBody>
          <a:bodyPr wrap="square" rtlCol="0">
            <a:spAutoFit/>
          </a:bodyPr>
          <a:lstStyle/>
          <a:p>
            <a:pPr marL="171399" indent="-171399" defTabSz="1218255">
              <a:buFont typeface="Arial" panose="020B0604020202020204" pitchFamily="34" charset="0"/>
              <a:buChar char="•"/>
              <a:defRPr/>
            </a:pPr>
            <a:r>
              <a:rPr lang="en-US" sz="1200">
                <a:solidFill>
                  <a:srgbClr val="000000"/>
                </a:solidFill>
                <a:latin typeface="Arial"/>
              </a:rPr>
              <a:t>Implement an enhanced invoicing solution encompassing 88 functionalities, migrate data from the BRIM system to </a:t>
            </a:r>
            <a:r>
              <a:rPr lang="en-US" sz="1200" err="1">
                <a:solidFill>
                  <a:srgbClr val="000000"/>
                </a:solidFill>
                <a:latin typeface="Arial"/>
              </a:rPr>
              <a:t>NexBill</a:t>
            </a:r>
            <a:r>
              <a:rPr lang="en-US" sz="1200">
                <a:solidFill>
                  <a:srgbClr val="000000"/>
                </a:solidFill>
                <a:latin typeface="Arial"/>
              </a:rPr>
              <a:t>, and establish readiness to meet future data compliance requirements for EMEA and AP by A</a:t>
            </a:r>
            <a:r>
              <a:rPr lang="en-US" altLang="zh-CN" sz="1200">
                <a:solidFill>
                  <a:srgbClr val="000000"/>
                </a:solidFill>
                <a:latin typeface="Arial"/>
              </a:rPr>
              <a:t>pr</a:t>
            </a:r>
            <a:r>
              <a:rPr lang="en-US" sz="1200">
                <a:solidFill>
                  <a:srgbClr val="000000"/>
                </a:solidFill>
                <a:latin typeface="Arial"/>
              </a:rPr>
              <a:t> ’27</a:t>
            </a:r>
          </a:p>
          <a:p>
            <a:pPr defTabSz="1218255">
              <a:defRPr/>
            </a:pPr>
            <a:endParaRPr lang="en-US" sz="1200">
              <a:solidFill>
                <a:srgbClr val="000000"/>
              </a:solidFill>
              <a:latin typeface="Arial"/>
            </a:endParaRPr>
          </a:p>
          <a:p>
            <a:pPr marL="171399" indent="-171399" defTabSz="1218255">
              <a:buFont typeface="Arial" panose="020B0604020202020204" pitchFamily="34" charset="0"/>
              <a:buChar char="•"/>
              <a:defRPr/>
            </a:pPr>
            <a:r>
              <a:rPr lang="en-US" sz="1200">
                <a:solidFill>
                  <a:srgbClr val="000000"/>
                </a:solidFill>
                <a:latin typeface="Arial"/>
              </a:rPr>
              <a:t>Decommission BRIM tool (M</a:t>
            </a:r>
            <a:r>
              <a:rPr lang="en-US" altLang="zh-CN" sz="1200">
                <a:solidFill>
                  <a:srgbClr val="000000"/>
                </a:solidFill>
                <a:latin typeface="Arial"/>
              </a:rPr>
              <a:t>ay</a:t>
            </a:r>
            <a:r>
              <a:rPr lang="en-US" sz="1200">
                <a:solidFill>
                  <a:srgbClr val="000000"/>
                </a:solidFill>
                <a:latin typeface="Arial"/>
              </a:rPr>
              <a:t> 27)</a:t>
            </a:r>
          </a:p>
        </p:txBody>
      </p:sp>
      <p:sp>
        <p:nvSpPr>
          <p:cNvPr id="45" name="TextBox 44">
            <a:extLst>
              <a:ext uri="{FF2B5EF4-FFF2-40B4-BE49-F238E27FC236}">
                <a16:creationId xmlns:a16="http://schemas.microsoft.com/office/drawing/2014/main" id="{F16EAE40-AEF9-528A-1CD8-F9AD4F584C87}"/>
              </a:ext>
            </a:extLst>
          </p:cNvPr>
          <p:cNvSpPr txBox="1"/>
          <p:nvPr/>
        </p:nvSpPr>
        <p:spPr>
          <a:xfrm>
            <a:off x="436369" y="3336488"/>
            <a:ext cx="2981867" cy="400006"/>
          </a:xfrm>
          <a:prstGeom prst="rect">
            <a:avLst/>
          </a:prstGeom>
          <a:noFill/>
        </p:spPr>
        <p:txBody>
          <a:bodyPr wrap="square">
            <a:spAutoFit/>
          </a:bodyPr>
          <a:lstStyle/>
          <a:p>
            <a:pPr marL="171399" indent="-171399" defTabSz="1218621">
              <a:buFont typeface="Arial" panose="020B0604020202020204" pitchFamily="34" charset="0"/>
              <a:buChar char="•"/>
              <a:defRPr/>
            </a:pPr>
            <a:r>
              <a:rPr lang="en-US" altLang="zh-CN" sz="1000">
                <a:solidFill>
                  <a:prstClr val="white">
                    <a:lumMod val="50000"/>
                  </a:prstClr>
                </a:solidFill>
                <a:latin typeface="Arial"/>
                <a:ea typeface="黑体" panose="02010609060101010101" pitchFamily="49" charset="-122"/>
              </a:rPr>
              <a:t>Program Scope Definition</a:t>
            </a:r>
          </a:p>
          <a:p>
            <a:pPr marL="171399" indent="-171399" defTabSz="1218621">
              <a:buFont typeface="Arial" panose="020B0604020202020204" pitchFamily="34" charset="0"/>
              <a:buChar char="•"/>
              <a:defRPr/>
            </a:pPr>
            <a:r>
              <a:rPr lang="en-US" sz="1000">
                <a:solidFill>
                  <a:prstClr val="white">
                    <a:lumMod val="50000"/>
                  </a:prstClr>
                </a:solidFill>
                <a:latin typeface="Arial"/>
              </a:rPr>
              <a:t>Biz Benefit Case Alignment</a:t>
            </a:r>
          </a:p>
        </p:txBody>
      </p:sp>
      <p:grpSp>
        <p:nvGrpSpPr>
          <p:cNvPr id="52" name="Group 51">
            <a:extLst>
              <a:ext uri="{FF2B5EF4-FFF2-40B4-BE49-F238E27FC236}">
                <a16:creationId xmlns:a16="http://schemas.microsoft.com/office/drawing/2014/main" id="{2CE12C8E-D572-DCEC-AE75-E5878416B844}"/>
              </a:ext>
            </a:extLst>
          </p:cNvPr>
          <p:cNvGrpSpPr/>
          <p:nvPr/>
        </p:nvGrpSpPr>
        <p:grpSpPr>
          <a:xfrm>
            <a:off x="307029" y="3501512"/>
            <a:ext cx="11244135" cy="2297642"/>
            <a:chOff x="593002" y="4010717"/>
            <a:chExt cx="10549479" cy="2298241"/>
          </a:xfrm>
        </p:grpSpPr>
        <p:grpSp>
          <p:nvGrpSpPr>
            <p:cNvPr id="43" name="Group 42">
              <a:extLst>
                <a:ext uri="{FF2B5EF4-FFF2-40B4-BE49-F238E27FC236}">
                  <a16:creationId xmlns:a16="http://schemas.microsoft.com/office/drawing/2014/main" id="{E1101F5E-5FC8-C3CE-19A7-989B578EDBFD}"/>
                </a:ext>
              </a:extLst>
            </p:cNvPr>
            <p:cNvGrpSpPr/>
            <p:nvPr/>
          </p:nvGrpSpPr>
          <p:grpSpPr>
            <a:xfrm>
              <a:off x="593002" y="4010717"/>
              <a:ext cx="10549479" cy="2298241"/>
              <a:chOff x="593003" y="4010717"/>
              <a:chExt cx="8591078" cy="2298241"/>
            </a:xfrm>
          </p:grpSpPr>
          <p:grpSp>
            <p:nvGrpSpPr>
              <p:cNvPr id="42" name="Group 41">
                <a:extLst>
                  <a:ext uri="{FF2B5EF4-FFF2-40B4-BE49-F238E27FC236}">
                    <a16:creationId xmlns:a16="http://schemas.microsoft.com/office/drawing/2014/main" id="{C52E06E0-0596-3024-B7CB-6644073D383B}"/>
                  </a:ext>
                </a:extLst>
              </p:cNvPr>
              <p:cNvGrpSpPr/>
              <p:nvPr/>
            </p:nvGrpSpPr>
            <p:grpSpPr>
              <a:xfrm>
                <a:off x="593003" y="4010717"/>
                <a:ext cx="8591078" cy="2298241"/>
                <a:chOff x="593003" y="4010717"/>
                <a:chExt cx="8591078" cy="2298241"/>
              </a:xfrm>
            </p:grpSpPr>
            <p:sp>
              <p:nvSpPr>
                <p:cNvPr id="6" name="Rectangle 5">
                  <a:extLst>
                    <a:ext uri="{FF2B5EF4-FFF2-40B4-BE49-F238E27FC236}">
                      <a16:creationId xmlns:a16="http://schemas.microsoft.com/office/drawing/2014/main" id="{8B694342-009F-397D-4F16-C05F1DABC336}"/>
                    </a:ext>
                  </a:extLst>
                </p:cNvPr>
                <p:cNvSpPr/>
                <p:nvPr/>
              </p:nvSpPr>
              <p:spPr>
                <a:xfrm>
                  <a:off x="593003" y="5268590"/>
                  <a:ext cx="3291840" cy="1040368"/>
                </a:xfrm>
                <a:prstGeom prst="rect">
                  <a:avLst/>
                </a:prstGeom>
                <a:solidFill>
                  <a:srgbClr val="75192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sp>
              <p:nvSpPr>
                <p:cNvPr id="7" name="Rectangle 6">
                  <a:extLst>
                    <a:ext uri="{FF2B5EF4-FFF2-40B4-BE49-F238E27FC236}">
                      <a16:creationId xmlns:a16="http://schemas.microsoft.com/office/drawing/2014/main" id="{05ADE03F-8741-B203-6F75-FC422BE6534C}"/>
                    </a:ext>
                  </a:extLst>
                </p:cNvPr>
                <p:cNvSpPr/>
                <p:nvPr/>
              </p:nvSpPr>
              <p:spPr>
                <a:xfrm>
                  <a:off x="3244763" y="4665086"/>
                  <a:ext cx="3291840" cy="1040368"/>
                </a:xfrm>
                <a:prstGeom prst="rect">
                  <a:avLst/>
                </a:prstGeom>
                <a:solidFill>
                  <a:srgbClr val="4F111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sp>
              <p:nvSpPr>
                <p:cNvPr id="9" name="Rectangle 8">
                  <a:extLst>
                    <a:ext uri="{FF2B5EF4-FFF2-40B4-BE49-F238E27FC236}">
                      <a16:creationId xmlns:a16="http://schemas.microsoft.com/office/drawing/2014/main" id="{44F5C2A2-2518-77F2-A8F9-3CF4EDD48A9E}"/>
                    </a:ext>
                  </a:extLst>
                </p:cNvPr>
                <p:cNvSpPr/>
                <p:nvPr/>
              </p:nvSpPr>
              <p:spPr>
                <a:xfrm>
                  <a:off x="5892241" y="4010717"/>
                  <a:ext cx="3291840" cy="1040368"/>
                </a:xfrm>
                <a:prstGeom prst="rect">
                  <a:avLst/>
                </a:prstGeom>
                <a:solidFill>
                  <a:srgbClr val="75192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sp>
              <p:nvSpPr>
                <p:cNvPr id="11" name="Right Triangle 10">
                  <a:extLst>
                    <a:ext uri="{FF2B5EF4-FFF2-40B4-BE49-F238E27FC236}">
                      <a16:creationId xmlns:a16="http://schemas.microsoft.com/office/drawing/2014/main" id="{4350C0B5-1764-E8D3-3BB4-03E56AEB97EE}"/>
                    </a:ext>
                  </a:extLst>
                </p:cNvPr>
                <p:cNvSpPr/>
                <p:nvPr/>
              </p:nvSpPr>
              <p:spPr>
                <a:xfrm rot="10800000">
                  <a:off x="3244763" y="5705453"/>
                  <a:ext cx="640080" cy="241439"/>
                </a:xfrm>
                <a:prstGeom prst="rtTriangl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grpSp>
          <p:sp>
            <p:nvSpPr>
              <p:cNvPr id="12" name="Right Triangle 11">
                <a:extLst>
                  <a:ext uri="{FF2B5EF4-FFF2-40B4-BE49-F238E27FC236}">
                    <a16:creationId xmlns:a16="http://schemas.microsoft.com/office/drawing/2014/main" id="{157A7397-327A-35A7-9045-419AD1ABB804}"/>
                  </a:ext>
                </a:extLst>
              </p:cNvPr>
              <p:cNvSpPr/>
              <p:nvPr/>
            </p:nvSpPr>
            <p:spPr>
              <a:xfrm rot="10800000">
                <a:off x="5892241" y="5051085"/>
                <a:ext cx="640080" cy="241439"/>
              </a:xfrm>
              <a:prstGeom prst="rtTriangl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32" tIns="182832" rIns="182832" bIns="182832" rtlCol="0" anchor="t"/>
              <a:lstStyle/>
              <a:p>
                <a:pPr defTabSz="1218621">
                  <a:defRPr/>
                </a:pPr>
                <a:endParaRPr lang="en-US" sz="1600" err="1">
                  <a:solidFill>
                    <a:prstClr val="white"/>
                  </a:solidFill>
                  <a:latin typeface="Arial"/>
                </a:endParaRPr>
              </a:p>
            </p:txBody>
          </p:sp>
        </p:grpSp>
        <p:sp>
          <p:nvSpPr>
            <p:cNvPr id="46" name="TextBox 45">
              <a:extLst>
                <a:ext uri="{FF2B5EF4-FFF2-40B4-BE49-F238E27FC236}">
                  <a16:creationId xmlns:a16="http://schemas.microsoft.com/office/drawing/2014/main" id="{02B5665F-5B50-3AB8-6504-CE877BB75AE5}"/>
                </a:ext>
              </a:extLst>
            </p:cNvPr>
            <p:cNvSpPr txBox="1"/>
            <p:nvPr/>
          </p:nvSpPr>
          <p:spPr>
            <a:xfrm>
              <a:off x="1486669" y="5496181"/>
              <a:ext cx="1518916" cy="584775"/>
            </a:xfrm>
            <a:prstGeom prst="rect">
              <a:avLst/>
            </a:prstGeom>
            <a:noFill/>
          </p:spPr>
          <p:txBody>
            <a:bodyPr wrap="none" rtlCol="0">
              <a:spAutoFit/>
            </a:bodyPr>
            <a:lstStyle/>
            <a:p>
              <a:pPr defTabSz="1218621">
                <a:defRPr/>
              </a:pPr>
              <a:r>
                <a:rPr lang="en-US" sz="3199" b="1">
                  <a:solidFill>
                    <a:prstClr val="white"/>
                  </a:solidFill>
                  <a:latin typeface="Arial" pitchFamily="34" charset="0"/>
                  <a:cs typeface="Arial" pitchFamily="34" charset="0"/>
                </a:rPr>
                <a:t>FY2526</a:t>
              </a:r>
            </a:p>
          </p:txBody>
        </p:sp>
        <p:sp>
          <p:nvSpPr>
            <p:cNvPr id="47" name="TextBox 46">
              <a:extLst>
                <a:ext uri="{FF2B5EF4-FFF2-40B4-BE49-F238E27FC236}">
                  <a16:creationId xmlns:a16="http://schemas.microsoft.com/office/drawing/2014/main" id="{03060947-B8AE-5B80-59DC-78AA2A9B77AF}"/>
                </a:ext>
              </a:extLst>
            </p:cNvPr>
            <p:cNvSpPr txBox="1"/>
            <p:nvPr/>
          </p:nvSpPr>
          <p:spPr>
            <a:xfrm>
              <a:off x="5109272" y="4835949"/>
              <a:ext cx="1518916" cy="584775"/>
            </a:xfrm>
            <a:prstGeom prst="rect">
              <a:avLst/>
            </a:prstGeom>
            <a:noFill/>
          </p:spPr>
          <p:txBody>
            <a:bodyPr wrap="none" rtlCol="0">
              <a:spAutoFit/>
            </a:bodyPr>
            <a:lstStyle/>
            <a:p>
              <a:pPr defTabSz="1218621">
                <a:defRPr/>
              </a:pPr>
              <a:r>
                <a:rPr lang="en-US" sz="3199" b="1">
                  <a:solidFill>
                    <a:prstClr val="white"/>
                  </a:solidFill>
                  <a:latin typeface="Arial" pitchFamily="34" charset="0"/>
                  <a:cs typeface="Arial" pitchFamily="34" charset="0"/>
                </a:rPr>
                <a:t>FY2627</a:t>
              </a:r>
            </a:p>
          </p:txBody>
        </p:sp>
        <p:sp>
          <p:nvSpPr>
            <p:cNvPr id="48" name="TextBox 47">
              <a:extLst>
                <a:ext uri="{FF2B5EF4-FFF2-40B4-BE49-F238E27FC236}">
                  <a16:creationId xmlns:a16="http://schemas.microsoft.com/office/drawing/2014/main" id="{D37E4CBE-C36E-C1C5-C3CF-3BF1C4F299B5}"/>
                </a:ext>
              </a:extLst>
            </p:cNvPr>
            <p:cNvSpPr txBox="1"/>
            <p:nvPr/>
          </p:nvSpPr>
          <p:spPr>
            <a:xfrm>
              <a:off x="8465214" y="4176187"/>
              <a:ext cx="1518916" cy="584775"/>
            </a:xfrm>
            <a:prstGeom prst="rect">
              <a:avLst/>
            </a:prstGeom>
            <a:noFill/>
          </p:spPr>
          <p:txBody>
            <a:bodyPr wrap="none" rtlCol="0">
              <a:spAutoFit/>
            </a:bodyPr>
            <a:lstStyle/>
            <a:p>
              <a:pPr defTabSz="1218621">
                <a:defRPr/>
              </a:pPr>
              <a:r>
                <a:rPr lang="en-US" sz="3199" b="1">
                  <a:solidFill>
                    <a:prstClr val="white"/>
                  </a:solidFill>
                  <a:latin typeface="Arial" pitchFamily="34" charset="0"/>
                  <a:cs typeface="Arial" pitchFamily="34" charset="0"/>
                </a:rPr>
                <a:t>FY2728</a:t>
              </a:r>
            </a:p>
          </p:txBody>
        </p:sp>
      </p:grpSp>
      <p:sp>
        <p:nvSpPr>
          <p:cNvPr id="50" name="TextBox 49">
            <a:extLst>
              <a:ext uri="{FF2B5EF4-FFF2-40B4-BE49-F238E27FC236}">
                <a16:creationId xmlns:a16="http://schemas.microsoft.com/office/drawing/2014/main" id="{DCE89635-F8A3-F45D-1C79-4F403E626E99}"/>
              </a:ext>
            </a:extLst>
          </p:cNvPr>
          <p:cNvSpPr txBox="1"/>
          <p:nvPr/>
        </p:nvSpPr>
        <p:spPr>
          <a:xfrm>
            <a:off x="4286319" y="2300374"/>
            <a:ext cx="3187031" cy="307697"/>
          </a:xfrm>
          <a:prstGeom prst="rect">
            <a:avLst/>
          </a:prstGeom>
          <a:noFill/>
        </p:spPr>
        <p:txBody>
          <a:bodyPr wrap="square">
            <a:spAutoFit/>
          </a:bodyPr>
          <a:lstStyle/>
          <a:p>
            <a:pPr defTabSz="1218621">
              <a:spcBef>
                <a:spcPct val="20000"/>
              </a:spcBef>
              <a:defRPr/>
            </a:pPr>
            <a:r>
              <a:rPr lang="en-US" sz="1400" b="1">
                <a:solidFill>
                  <a:srgbClr val="000000"/>
                </a:solidFill>
                <a:latin typeface="Arial"/>
                <a:cs typeface="Arial" pitchFamily="34" charset="0"/>
              </a:rPr>
              <a:t>Wave I (NA) </a:t>
            </a:r>
          </a:p>
        </p:txBody>
      </p:sp>
      <p:sp>
        <p:nvSpPr>
          <p:cNvPr id="51" name="Content Placeholder 4">
            <a:extLst>
              <a:ext uri="{FF2B5EF4-FFF2-40B4-BE49-F238E27FC236}">
                <a16:creationId xmlns:a16="http://schemas.microsoft.com/office/drawing/2014/main" id="{57322889-20B3-26E3-D72A-BDD930B6C033}"/>
              </a:ext>
            </a:extLst>
          </p:cNvPr>
          <p:cNvSpPr txBox="1">
            <a:spLocks/>
          </p:cNvSpPr>
          <p:nvPr/>
        </p:nvSpPr>
        <p:spPr>
          <a:xfrm>
            <a:off x="7642040" y="1425419"/>
            <a:ext cx="4486612" cy="456961"/>
          </a:xfrm>
          <a:prstGeom prst="rect">
            <a:avLst/>
          </a:prstGeom>
        </p:spPr>
        <p:txBody>
          <a:bodyPr/>
          <a:lstStyle>
            <a:lvl1pPr marL="457120" indent="-457120" algn="l" defTabSz="1218987" rtl="0" eaLnBrk="1" latinLnBrk="0" hangingPunct="1">
              <a:spcBef>
                <a:spcPct val="20000"/>
              </a:spcBef>
              <a:buClrTx/>
              <a:buFont typeface="Arial" panose="020B0604020202020204" pitchFamily="34" charset="0"/>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Tx/>
              <a:buFont typeface="Arial" panose="020B0604020202020204" pitchFamily="34" charset="0"/>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Tx/>
              <a:buFont typeface="Arial" panose="020B0604020202020204" pitchFamily="34" charset="0"/>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defRPr/>
            </a:pPr>
            <a:r>
              <a:rPr lang="en-US" sz="1600" b="1">
                <a:solidFill>
                  <a:srgbClr val="000000"/>
                </a:solidFill>
                <a:latin typeface="Arial"/>
              </a:rPr>
              <a:t>      Wave II (AP &amp; EMEA)</a:t>
            </a:r>
          </a:p>
        </p:txBody>
      </p:sp>
      <p:pic>
        <p:nvPicPr>
          <p:cNvPr id="64" name="Picture 63">
            <a:extLst>
              <a:ext uri="{FF2B5EF4-FFF2-40B4-BE49-F238E27FC236}">
                <a16:creationId xmlns:a16="http://schemas.microsoft.com/office/drawing/2014/main" id="{702AE735-91C2-4D40-1F90-88369EAD06D1}"/>
              </a:ext>
            </a:extLst>
          </p:cNvPr>
          <p:cNvPicPr>
            <a:picLocks noChangeAspect="1"/>
          </p:cNvPicPr>
          <p:nvPr/>
        </p:nvPicPr>
        <p:blipFill>
          <a:blip r:embed="rId5"/>
          <a:stretch>
            <a:fillRect/>
          </a:stretch>
        </p:blipFill>
        <p:spPr>
          <a:xfrm>
            <a:off x="8819934" y="4757056"/>
            <a:ext cx="1830184" cy="1830184"/>
          </a:xfrm>
          <a:prstGeom prst="rect">
            <a:avLst/>
          </a:prstGeom>
        </p:spPr>
      </p:pic>
      <p:sp>
        <p:nvSpPr>
          <p:cNvPr id="3" name="TextBox 2">
            <a:extLst>
              <a:ext uri="{FF2B5EF4-FFF2-40B4-BE49-F238E27FC236}">
                <a16:creationId xmlns:a16="http://schemas.microsoft.com/office/drawing/2014/main" id="{DCF8866E-5C56-D96F-0094-EC93EEE273C2}"/>
              </a:ext>
            </a:extLst>
          </p:cNvPr>
          <p:cNvSpPr txBox="1"/>
          <p:nvPr/>
        </p:nvSpPr>
        <p:spPr>
          <a:xfrm>
            <a:off x="548392" y="2927414"/>
            <a:ext cx="3187031" cy="307697"/>
          </a:xfrm>
          <a:prstGeom prst="rect">
            <a:avLst/>
          </a:prstGeom>
          <a:noFill/>
        </p:spPr>
        <p:txBody>
          <a:bodyPr wrap="square">
            <a:spAutoFit/>
          </a:bodyPr>
          <a:lstStyle/>
          <a:p>
            <a:pPr defTabSz="1218621">
              <a:spcBef>
                <a:spcPct val="20000"/>
              </a:spcBef>
              <a:defRPr/>
            </a:pPr>
            <a:r>
              <a:rPr lang="en-US" sz="1400" b="1" err="1">
                <a:solidFill>
                  <a:srgbClr val="000000"/>
                </a:solidFill>
                <a:latin typeface="Arial"/>
                <a:cs typeface="Arial" pitchFamily="34" charset="0"/>
              </a:rPr>
              <a:t>NexBill</a:t>
            </a:r>
            <a:r>
              <a:rPr lang="en-US" sz="1400" b="1">
                <a:solidFill>
                  <a:srgbClr val="000000"/>
                </a:solidFill>
                <a:latin typeface="Arial"/>
                <a:cs typeface="Arial" pitchFamily="34" charset="0"/>
              </a:rPr>
              <a:t> Program Kick-Off</a:t>
            </a:r>
          </a:p>
        </p:txBody>
      </p:sp>
    </p:spTree>
    <p:extLst>
      <p:ext uri="{BB962C8B-B14F-4D97-AF65-F5344CB8AC3E}">
        <p14:creationId xmlns:p14="http://schemas.microsoft.com/office/powerpoint/2010/main" val="1825768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595E-7D66-669D-26FE-8BF36DAF1AB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26F70C6-2647-19DB-DC79-05DEAD1C32C7}"/>
              </a:ext>
            </a:extLst>
          </p:cNvPr>
          <p:cNvSpPr>
            <a:spLocks noGrp="1"/>
          </p:cNvSpPr>
          <p:nvPr>
            <p:ph type="title"/>
          </p:nvPr>
        </p:nvSpPr>
        <p:spPr/>
        <p:txBody>
          <a:bodyPr/>
          <a:lstStyle/>
          <a:p>
            <a:r>
              <a:rPr lang="en-US" altLang="zh-CN"/>
              <a:t>NexBill -  Overall Introduction</a:t>
            </a:r>
            <a:endParaRPr lang="zh-CN" altLang="en-US"/>
          </a:p>
        </p:txBody>
      </p:sp>
      <p:sp>
        <p:nvSpPr>
          <p:cNvPr id="4" name="矩形 3">
            <a:extLst>
              <a:ext uri="{FF2B5EF4-FFF2-40B4-BE49-F238E27FC236}">
                <a16:creationId xmlns:a16="http://schemas.microsoft.com/office/drawing/2014/main" id="{5907E93C-A29C-94F8-FDF6-2553A282B220}"/>
              </a:ext>
            </a:extLst>
          </p:cNvPr>
          <p:cNvSpPr/>
          <p:nvPr/>
        </p:nvSpPr>
        <p:spPr>
          <a:xfrm>
            <a:off x="789298" y="1559607"/>
            <a:ext cx="10414008" cy="1476000"/>
          </a:xfrm>
          <a:prstGeom prst="rect">
            <a:avLst/>
          </a:prstGeom>
          <a:solidFill>
            <a:schemeClr val="accent1"/>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endParaRPr lang="zh-CN" altLang="en-US" sz="1200" b="1">
              <a:solidFill>
                <a:schemeClr val="tx1"/>
              </a:solidFill>
              <a:latin typeface="Tenorite" panose="00000500000000000000" pitchFamily="2" charset="0"/>
            </a:endParaRPr>
          </a:p>
        </p:txBody>
      </p:sp>
      <p:sp>
        <p:nvSpPr>
          <p:cNvPr id="19" name="矩形 18">
            <a:extLst>
              <a:ext uri="{FF2B5EF4-FFF2-40B4-BE49-F238E27FC236}">
                <a16:creationId xmlns:a16="http://schemas.microsoft.com/office/drawing/2014/main" id="{E52CD80E-7401-9C62-1D38-948C2280C44E}"/>
              </a:ext>
            </a:extLst>
          </p:cNvPr>
          <p:cNvSpPr/>
          <p:nvPr/>
        </p:nvSpPr>
        <p:spPr>
          <a:xfrm>
            <a:off x="789298" y="3087595"/>
            <a:ext cx="10414008" cy="1476000"/>
          </a:xfrm>
          <a:prstGeom prst="rect">
            <a:avLst/>
          </a:prstGeom>
          <a:solidFill>
            <a:schemeClr val="accent1">
              <a:lumMod val="7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endParaRPr lang="zh-CN" altLang="en-US" sz="1200" b="1">
              <a:solidFill>
                <a:schemeClr val="tx1"/>
              </a:solidFill>
              <a:latin typeface="Tenorite" panose="00000500000000000000" pitchFamily="2" charset="0"/>
            </a:endParaRPr>
          </a:p>
        </p:txBody>
      </p:sp>
      <p:sp>
        <p:nvSpPr>
          <p:cNvPr id="21" name="矩形 20">
            <a:extLst>
              <a:ext uri="{FF2B5EF4-FFF2-40B4-BE49-F238E27FC236}">
                <a16:creationId xmlns:a16="http://schemas.microsoft.com/office/drawing/2014/main" id="{6329AF82-54B8-E4FE-FE3E-418B4AF61EBA}"/>
              </a:ext>
            </a:extLst>
          </p:cNvPr>
          <p:cNvSpPr/>
          <p:nvPr/>
        </p:nvSpPr>
        <p:spPr>
          <a:xfrm>
            <a:off x="789298" y="4615584"/>
            <a:ext cx="10414008" cy="1476000"/>
          </a:xfrm>
          <a:prstGeom prst="rect">
            <a:avLst/>
          </a:prstGeom>
          <a:solidFill>
            <a:schemeClr val="accent1">
              <a:lumMod val="5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endParaRPr lang="zh-CN" altLang="en-US" sz="1200" b="1">
              <a:solidFill>
                <a:schemeClr val="tx1"/>
              </a:solidFill>
              <a:latin typeface="Tenorite" panose="00000500000000000000" pitchFamily="2" charset="0"/>
            </a:endParaRPr>
          </a:p>
        </p:txBody>
      </p:sp>
      <p:cxnSp>
        <p:nvCxnSpPr>
          <p:cNvPr id="22" name="Connector 6">
            <a:extLst>
              <a:ext uri="{FF2B5EF4-FFF2-40B4-BE49-F238E27FC236}">
                <a16:creationId xmlns:a16="http://schemas.microsoft.com/office/drawing/2014/main" id="{8705A3BE-E179-2E17-0FF0-FE2C908446C3}"/>
              </a:ext>
            </a:extLst>
          </p:cNvPr>
          <p:cNvCxnSpPr>
            <a:cxnSpLocks/>
          </p:cNvCxnSpPr>
          <p:nvPr/>
        </p:nvCxnSpPr>
        <p:spPr>
          <a:xfrm rot="21595808">
            <a:off x="789302" y="3054327"/>
            <a:ext cx="10414000" cy="12700"/>
          </a:xfrm>
          <a:prstGeom prst="straightConnector1">
            <a:avLst/>
          </a:prstGeom>
          <a:solidFill>
            <a:srgbClr val="DEE0E3">
              <a:alpha val="100000"/>
            </a:srgbClr>
          </a:solidFill>
          <a:ln w="12700" cap="flat" cmpd="sng">
            <a:solidFill>
              <a:srgbClr val="D8D8D8">
                <a:alpha val="100000"/>
              </a:srgbClr>
            </a:solidFill>
            <a:prstDash val="solid"/>
            <a:round/>
            <a:headEnd type="none" w="med" len="med"/>
            <a:tailEnd type="none" w="med" len="med"/>
          </a:ln>
        </p:spPr>
      </p:cxnSp>
      <p:cxnSp>
        <p:nvCxnSpPr>
          <p:cNvPr id="23" name="Connector 6">
            <a:extLst>
              <a:ext uri="{FF2B5EF4-FFF2-40B4-BE49-F238E27FC236}">
                <a16:creationId xmlns:a16="http://schemas.microsoft.com/office/drawing/2014/main" id="{6399EB17-A0E5-28D5-A041-008034EF942A}"/>
              </a:ext>
            </a:extLst>
          </p:cNvPr>
          <p:cNvCxnSpPr>
            <a:cxnSpLocks/>
          </p:cNvCxnSpPr>
          <p:nvPr/>
        </p:nvCxnSpPr>
        <p:spPr>
          <a:xfrm rot="21595808">
            <a:off x="789302" y="4582315"/>
            <a:ext cx="10414000" cy="12700"/>
          </a:xfrm>
          <a:prstGeom prst="straightConnector1">
            <a:avLst/>
          </a:prstGeom>
          <a:solidFill>
            <a:srgbClr val="DEE0E3">
              <a:alpha val="100000"/>
            </a:srgbClr>
          </a:solidFill>
          <a:ln w="12700" cap="flat" cmpd="sng">
            <a:solidFill>
              <a:srgbClr val="D8D8D8">
                <a:alpha val="100000"/>
              </a:srgbClr>
            </a:solidFill>
            <a:prstDash val="solid"/>
            <a:round/>
            <a:headEnd type="none" w="med" len="med"/>
            <a:tailEnd type="none" w="med" len="med"/>
          </a:ln>
        </p:spPr>
      </p:cxnSp>
      <p:sp>
        <p:nvSpPr>
          <p:cNvPr id="24" name="文本框 23">
            <a:extLst>
              <a:ext uri="{FF2B5EF4-FFF2-40B4-BE49-F238E27FC236}">
                <a16:creationId xmlns:a16="http://schemas.microsoft.com/office/drawing/2014/main" id="{5D5F637A-764B-D2B1-F1AE-03945A252529}"/>
              </a:ext>
            </a:extLst>
          </p:cNvPr>
          <p:cNvSpPr txBox="1"/>
          <p:nvPr/>
        </p:nvSpPr>
        <p:spPr>
          <a:xfrm>
            <a:off x="824672" y="2050993"/>
            <a:ext cx="2114618" cy="461665"/>
          </a:xfrm>
          <a:prstGeom prst="rect">
            <a:avLst/>
          </a:prstGeom>
          <a:noFill/>
        </p:spPr>
        <p:txBody>
          <a:bodyPr wrap="none" rtlCol="0">
            <a:spAutoFit/>
          </a:bodyPr>
          <a:lstStyle/>
          <a:p>
            <a:pPr algn="r"/>
            <a:r>
              <a:rPr lang="en-US" altLang="zh-CN" sz="2400" b="1">
                <a:latin typeface="Tenorite" panose="00000500000000000000" pitchFamily="2" charset="0"/>
                <a:cs typeface="Arial" pitchFamily="34" charset="0"/>
              </a:rPr>
              <a:t>Manual Billing</a:t>
            </a:r>
            <a:endParaRPr lang="zh-CN" altLang="en-US" sz="2400" b="1">
              <a:latin typeface="Tenorite" panose="00000500000000000000" pitchFamily="2" charset="0"/>
              <a:cs typeface="Arial" pitchFamily="34" charset="0"/>
            </a:endParaRPr>
          </a:p>
        </p:txBody>
      </p:sp>
      <p:sp>
        <p:nvSpPr>
          <p:cNvPr id="25" name="文本框 24">
            <a:extLst>
              <a:ext uri="{FF2B5EF4-FFF2-40B4-BE49-F238E27FC236}">
                <a16:creationId xmlns:a16="http://schemas.microsoft.com/office/drawing/2014/main" id="{EEF3EAF5-9A5A-E68D-A0A0-C1FDB78A0CF8}"/>
              </a:ext>
            </a:extLst>
          </p:cNvPr>
          <p:cNvSpPr txBox="1"/>
          <p:nvPr/>
        </p:nvSpPr>
        <p:spPr>
          <a:xfrm>
            <a:off x="851250" y="3546836"/>
            <a:ext cx="2061462" cy="461665"/>
          </a:xfrm>
          <a:prstGeom prst="rect">
            <a:avLst/>
          </a:prstGeom>
          <a:noFill/>
        </p:spPr>
        <p:txBody>
          <a:bodyPr wrap="none" rtlCol="0">
            <a:spAutoFit/>
          </a:bodyPr>
          <a:lstStyle/>
          <a:p>
            <a:pPr algn="r"/>
            <a:r>
              <a:rPr lang="en-US" altLang="zh-CN" sz="2400" b="1">
                <a:latin typeface="Tenorite" panose="00000500000000000000" pitchFamily="2" charset="0"/>
                <a:cs typeface="Arial" pitchFamily="34" charset="0"/>
              </a:rPr>
              <a:t>Running DaaS</a:t>
            </a:r>
            <a:endParaRPr lang="zh-CN" altLang="en-US" sz="2400" b="1">
              <a:latin typeface="Tenorite" panose="00000500000000000000" pitchFamily="2" charset="0"/>
              <a:cs typeface="Arial" pitchFamily="34" charset="0"/>
            </a:endParaRPr>
          </a:p>
        </p:txBody>
      </p:sp>
      <p:sp>
        <p:nvSpPr>
          <p:cNvPr id="26" name="文本框 25">
            <a:extLst>
              <a:ext uri="{FF2B5EF4-FFF2-40B4-BE49-F238E27FC236}">
                <a16:creationId xmlns:a16="http://schemas.microsoft.com/office/drawing/2014/main" id="{F8BBC317-3554-77A1-534B-4F91F3EA3D67}"/>
              </a:ext>
            </a:extLst>
          </p:cNvPr>
          <p:cNvSpPr txBox="1"/>
          <p:nvPr/>
        </p:nvSpPr>
        <p:spPr>
          <a:xfrm>
            <a:off x="1454813" y="5128137"/>
            <a:ext cx="854336" cy="461665"/>
          </a:xfrm>
          <a:prstGeom prst="rect">
            <a:avLst/>
          </a:prstGeom>
          <a:noFill/>
        </p:spPr>
        <p:txBody>
          <a:bodyPr wrap="none" rtlCol="0">
            <a:spAutoFit/>
          </a:bodyPr>
          <a:lstStyle/>
          <a:p>
            <a:pPr algn="r"/>
            <a:r>
              <a:rPr lang="en-US" altLang="zh-CN" sz="2400" b="1">
                <a:latin typeface="Tenorite" panose="00000500000000000000" pitchFamily="2" charset="0"/>
                <a:cs typeface="Arial" pitchFamily="34" charset="0"/>
              </a:rPr>
              <a:t>EaaS</a:t>
            </a:r>
            <a:endParaRPr lang="zh-CN" altLang="en-US" sz="2400" b="1">
              <a:latin typeface="Tenorite" panose="00000500000000000000" pitchFamily="2" charset="0"/>
              <a:cs typeface="Arial" pitchFamily="34" charset="0"/>
            </a:endParaRPr>
          </a:p>
        </p:txBody>
      </p:sp>
      <p:cxnSp>
        <p:nvCxnSpPr>
          <p:cNvPr id="27" name="直接连接符 26">
            <a:extLst>
              <a:ext uri="{FF2B5EF4-FFF2-40B4-BE49-F238E27FC236}">
                <a16:creationId xmlns:a16="http://schemas.microsoft.com/office/drawing/2014/main" id="{56752065-BE16-E998-0193-1F4317C73BC7}"/>
              </a:ext>
            </a:extLst>
          </p:cNvPr>
          <p:cNvCxnSpPr/>
          <p:nvPr/>
        </p:nvCxnSpPr>
        <p:spPr>
          <a:xfrm>
            <a:off x="2986755" y="1640793"/>
            <a:ext cx="0" cy="4328444"/>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9CD82B82-880F-D7DB-3480-0E2610A633B9}"/>
              </a:ext>
            </a:extLst>
          </p:cNvPr>
          <p:cNvSpPr txBox="1"/>
          <p:nvPr/>
        </p:nvSpPr>
        <p:spPr>
          <a:xfrm>
            <a:off x="961041" y="1090409"/>
            <a:ext cx="1886414" cy="400110"/>
          </a:xfrm>
          <a:prstGeom prst="rect">
            <a:avLst/>
          </a:prstGeom>
          <a:noFill/>
        </p:spPr>
        <p:txBody>
          <a:bodyPr wrap="none" rtlCol="0">
            <a:spAutoFit/>
          </a:bodyPr>
          <a:lstStyle/>
          <a:p>
            <a:pPr algn="ctr"/>
            <a:r>
              <a:rPr lang="en-US" altLang="zh-CN" sz="2000">
                <a:effectLst>
                  <a:outerShdw blurRad="38100" dist="38100" dir="2700000" algn="tl">
                    <a:srgbClr val="000000">
                      <a:alpha val="43137"/>
                    </a:srgbClr>
                  </a:outerShdw>
                </a:effectLst>
                <a:latin typeface="Tenorite" panose="00000500000000000000" pitchFamily="2" charset="0"/>
                <a:cs typeface="Arial" pitchFamily="34" charset="0"/>
              </a:rPr>
              <a:t>Billing Platform</a:t>
            </a:r>
            <a:endParaRPr lang="zh-CN" altLang="en-US" sz="2000">
              <a:effectLst>
                <a:outerShdw blurRad="38100" dist="38100" dir="2700000" algn="tl">
                  <a:srgbClr val="000000">
                    <a:alpha val="43137"/>
                  </a:srgbClr>
                </a:outerShdw>
              </a:effectLst>
              <a:latin typeface="Tenorite" panose="00000500000000000000" pitchFamily="2" charset="0"/>
              <a:cs typeface="Arial" pitchFamily="34" charset="0"/>
            </a:endParaRPr>
          </a:p>
        </p:txBody>
      </p:sp>
      <p:cxnSp>
        <p:nvCxnSpPr>
          <p:cNvPr id="29" name="直接连接符 28">
            <a:extLst>
              <a:ext uri="{FF2B5EF4-FFF2-40B4-BE49-F238E27FC236}">
                <a16:creationId xmlns:a16="http://schemas.microsoft.com/office/drawing/2014/main" id="{BFE3B600-A8B6-BAEA-F912-4EAB2EBDA2F0}"/>
              </a:ext>
            </a:extLst>
          </p:cNvPr>
          <p:cNvCxnSpPr/>
          <p:nvPr/>
        </p:nvCxnSpPr>
        <p:spPr>
          <a:xfrm>
            <a:off x="6044725" y="1661373"/>
            <a:ext cx="0" cy="4328444"/>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30" name="文本框 29">
            <a:extLst>
              <a:ext uri="{FF2B5EF4-FFF2-40B4-BE49-F238E27FC236}">
                <a16:creationId xmlns:a16="http://schemas.microsoft.com/office/drawing/2014/main" id="{ADD4BAA7-A397-3096-F8FA-EABB768BB24A}"/>
              </a:ext>
            </a:extLst>
          </p:cNvPr>
          <p:cNvSpPr txBox="1"/>
          <p:nvPr/>
        </p:nvSpPr>
        <p:spPr>
          <a:xfrm>
            <a:off x="3102122" y="1630250"/>
            <a:ext cx="2871042" cy="1384995"/>
          </a:xfrm>
          <a:prstGeom prst="rect">
            <a:avLst/>
          </a:prstGeom>
          <a:noFill/>
        </p:spPr>
        <p:txBody>
          <a:bodyPr wrap="none" rtlCol="0">
            <a:spAutoFit/>
          </a:bodyPr>
          <a:lstStyle/>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Billing System: </a:t>
            </a:r>
            <a:r>
              <a:rPr lang="en-US" altLang="zh-CN" sz="1200" i="1" u="sng">
                <a:latin typeface="Tenorite" panose="00000500000000000000" pitchFamily="2" charset="0"/>
                <a:cs typeface="Arial" pitchFamily="34" charset="0"/>
              </a:rPr>
              <a:t>S4/ECC</a:t>
            </a:r>
          </a:p>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Billing Method: Manual Billing</a:t>
            </a:r>
          </a:p>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Key Business Scenarios:</a:t>
            </a:r>
          </a:p>
          <a:p>
            <a:pPr marL="628650" lvl="1" indent="-171450">
              <a:buFont typeface="Arial" panose="020B0604020202020204" pitchFamily="34" charset="0"/>
              <a:buChar char="•"/>
            </a:pPr>
            <a:r>
              <a:rPr lang="en-US" altLang="zh-CN" sz="1200" i="1" strike="sngStrike">
                <a:solidFill>
                  <a:schemeClr val="bg1">
                    <a:lumMod val="65000"/>
                  </a:schemeClr>
                </a:solidFill>
                <a:latin typeface="Tenorite" panose="00000500000000000000" pitchFamily="2" charset="0"/>
                <a:cs typeface="Arial" pitchFamily="34" charset="0"/>
              </a:rPr>
              <a:t>DaaS MLA (Migrated to EaaS)</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DaaS MSA / MLA – Early Order</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IaaS</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Special Charge</a:t>
            </a:r>
            <a:endParaRPr lang="zh-CN" altLang="en-US" sz="1200" i="1">
              <a:latin typeface="Tenorite" panose="00000500000000000000" pitchFamily="2" charset="0"/>
              <a:cs typeface="Arial" pitchFamily="34" charset="0"/>
            </a:endParaRPr>
          </a:p>
        </p:txBody>
      </p:sp>
      <p:sp>
        <p:nvSpPr>
          <p:cNvPr id="31" name="文本框 30">
            <a:extLst>
              <a:ext uri="{FF2B5EF4-FFF2-40B4-BE49-F238E27FC236}">
                <a16:creationId xmlns:a16="http://schemas.microsoft.com/office/drawing/2014/main" id="{68386326-69BB-6364-F99A-96ACA848B085}"/>
              </a:ext>
            </a:extLst>
          </p:cNvPr>
          <p:cNvSpPr txBox="1"/>
          <p:nvPr/>
        </p:nvSpPr>
        <p:spPr>
          <a:xfrm>
            <a:off x="3102122" y="3336442"/>
            <a:ext cx="2259978" cy="1015663"/>
          </a:xfrm>
          <a:prstGeom prst="rect">
            <a:avLst/>
          </a:prstGeom>
          <a:noFill/>
        </p:spPr>
        <p:txBody>
          <a:bodyPr wrap="none" rtlCol="0">
            <a:spAutoFit/>
          </a:bodyPr>
          <a:lstStyle/>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Billing System: </a:t>
            </a:r>
            <a:r>
              <a:rPr lang="en-US" altLang="zh-CN" sz="1200" i="1" u="sng">
                <a:latin typeface="Tenorite" panose="00000500000000000000" pitchFamily="2" charset="0"/>
                <a:cs typeface="Arial" pitchFamily="34" charset="0"/>
              </a:rPr>
              <a:t>LSP + S4/ECC</a:t>
            </a:r>
          </a:p>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Billing Method: Auto Billing</a:t>
            </a:r>
          </a:p>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Key Business Scenarios:</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DaaS MSA (*)</a:t>
            </a:r>
          </a:p>
          <a:p>
            <a:pPr marL="628650" lvl="1" indent="-171450">
              <a:buFont typeface="Arial" panose="020B0604020202020204" pitchFamily="34" charset="0"/>
              <a:buChar char="•"/>
            </a:pPr>
            <a:r>
              <a:rPr lang="en-US" altLang="zh-CN" sz="1200" i="1">
                <a:solidFill>
                  <a:schemeClr val="bg1">
                    <a:lumMod val="75000"/>
                  </a:schemeClr>
                </a:solidFill>
                <a:latin typeface="Tenorite" panose="00000500000000000000" pitchFamily="2" charset="0"/>
                <a:cs typeface="Arial" pitchFamily="34" charset="0"/>
              </a:rPr>
              <a:t>SaaS</a:t>
            </a:r>
          </a:p>
        </p:txBody>
      </p:sp>
      <p:sp>
        <p:nvSpPr>
          <p:cNvPr id="32" name="文本框 31">
            <a:extLst>
              <a:ext uri="{FF2B5EF4-FFF2-40B4-BE49-F238E27FC236}">
                <a16:creationId xmlns:a16="http://schemas.microsoft.com/office/drawing/2014/main" id="{E9EB8D43-E959-FFB3-9AFA-D1E1C179D5DC}"/>
              </a:ext>
            </a:extLst>
          </p:cNvPr>
          <p:cNvSpPr txBox="1"/>
          <p:nvPr/>
        </p:nvSpPr>
        <p:spPr>
          <a:xfrm>
            <a:off x="3102122" y="4753618"/>
            <a:ext cx="2151423" cy="1200329"/>
          </a:xfrm>
          <a:prstGeom prst="rect">
            <a:avLst/>
          </a:prstGeom>
          <a:noFill/>
        </p:spPr>
        <p:txBody>
          <a:bodyPr wrap="none" rtlCol="0">
            <a:spAutoFit/>
          </a:bodyPr>
          <a:lstStyle/>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Billing System: </a:t>
            </a:r>
            <a:r>
              <a:rPr lang="en-US" altLang="zh-CN" sz="1200" i="1" u="sng">
                <a:latin typeface="Tenorite" panose="00000500000000000000" pitchFamily="2" charset="0"/>
                <a:cs typeface="Arial" pitchFamily="34" charset="0"/>
              </a:rPr>
              <a:t>BRIM</a:t>
            </a:r>
          </a:p>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Billing Method: Auto Billing</a:t>
            </a:r>
          </a:p>
          <a:p>
            <a:pPr marL="171450" indent="-171450" algn="l">
              <a:buFont typeface="Arial" panose="020B0604020202020204" pitchFamily="34" charset="0"/>
              <a:buChar char="•"/>
            </a:pPr>
            <a:r>
              <a:rPr lang="en-US" altLang="zh-CN" sz="1200" i="1">
                <a:latin typeface="Tenorite" panose="00000500000000000000" pitchFamily="2" charset="0"/>
                <a:cs typeface="Arial" pitchFamily="34" charset="0"/>
              </a:rPr>
              <a:t>Key Business Scenarios:</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DaaS MSA / MLA</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IaaS</a:t>
            </a:r>
          </a:p>
          <a:p>
            <a:pPr marL="628650" lvl="1" indent="-171450">
              <a:buFont typeface="Arial" panose="020B0604020202020204" pitchFamily="34" charset="0"/>
              <a:buChar char="•"/>
            </a:pPr>
            <a:r>
              <a:rPr lang="en-US" altLang="zh-CN" sz="1200" i="1">
                <a:latin typeface="Tenorite" panose="00000500000000000000" pitchFamily="2" charset="0"/>
                <a:cs typeface="Arial" pitchFamily="34" charset="0"/>
              </a:rPr>
              <a:t>ISG Lease</a:t>
            </a:r>
          </a:p>
        </p:txBody>
      </p:sp>
      <p:sp>
        <p:nvSpPr>
          <p:cNvPr id="33" name="文本框 32">
            <a:extLst>
              <a:ext uri="{FF2B5EF4-FFF2-40B4-BE49-F238E27FC236}">
                <a16:creationId xmlns:a16="http://schemas.microsoft.com/office/drawing/2014/main" id="{D6D49A2F-74DF-5C8A-5828-0607F7F1AB24}"/>
              </a:ext>
            </a:extLst>
          </p:cNvPr>
          <p:cNvSpPr txBox="1"/>
          <p:nvPr/>
        </p:nvSpPr>
        <p:spPr>
          <a:xfrm>
            <a:off x="3594489" y="4337489"/>
            <a:ext cx="2428870" cy="215444"/>
          </a:xfrm>
          <a:prstGeom prst="rect">
            <a:avLst/>
          </a:prstGeom>
          <a:noFill/>
        </p:spPr>
        <p:txBody>
          <a:bodyPr wrap="none" rtlCol="0">
            <a:spAutoFit/>
          </a:bodyPr>
          <a:lstStyle/>
          <a:p>
            <a:pPr algn="l"/>
            <a:r>
              <a:rPr lang="en-US" altLang="zh-CN" sz="800">
                <a:latin typeface="Tenorite" panose="00000500000000000000" pitchFamily="2" charset="0"/>
                <a:cs typeface="Arial" pitchFamily="34" charset="0"/>
              </a:rPr>
              <a:t>* Only for existing deals / original Hub (NL10) / LA</a:t>
            </a:r>
            <a:endParaRPr lang="zh-CN" altLang="en-US" sz="800">
              <a:latin typeface="Tenorite" panose="00000500000000000000" pitchFamily="2" charset="0"/>
              <a:cs typeface="Arial" pitchFamily="34" charset="0"/>
            </a:endParaRPr>
          </a:p>
        </p:txBody>
      </p:sp>
      <p:sp>
        <p:nvSpPr>
          <p:cNvPr id="34" name="文本框 33">
            <a:extLst>
              <a:ext uri="{FF2B5EF4-FFF2-40B4-BE49-F238E27FC236}">
                <a16:creationId xmlns:a16="http://schemas.microsoft.com/office/drawing/2014/main" id="{567BC203-D601-065F-AA8C-1472BE7B413F}"/>
              </a:ext>
            </a:extLst>
          </p:cNvPr>
          <p:cNvSpPr txBox="1"/>
          <p:nvPr/>
        </p:nvSpPr>
        <p:spPr>
          <a:xfrm>
            <a:off x="3472384" y="1090409"/>
            <a:ext cx="2059859" cy="400110"/>
          </a:xfrm>
          <a:prstGeom prst="rect">
            <a:avLst/>
          </a:prstGeom>
          <a:noFill/>
        </p:spPr>
        <p:txBody>
          <a:bodyPr wrap="none" rtlCol="0">
            <a:spAutoFit/>
          </a:bodyPr>
          <a:lstStyle/>
          <a:p>
            <a:pPr algn="ctr"/>
            <a:r>
              <a:rPr lang="en-US" altLang="zh-CN" sz="2000">
                <a:effectLst>
                  <a:outerShdw blurRad="38100" dist="38100" dir="2700000" algn="tl">
                    <a:srgbClr val="000000">
                      <a:alpha val="43137"/>
                    </a:srgbClr>
                  </a:outerShdw>
                </a:effectLst>
                <a:latin typeface="Tenorite" panose="00000500000000000000" pitchFamily="2" charset="0"/>
                <a:cs typeface="Arial" pitchFamily="34" charset="0"/>
              </a:rPr>
              <a:t>Current Situation</a:t>
            </a:r>
            <a:endParaRPr lang="zh-CN" altLang="en-US" sz="2000">
              <a:effectLst>
                <a:outerShdw blurRad="38100" dist="38100" dir="2700000" algn="tl">
                  <a:srgbClr val="000000">
                    <a:alpha val="43137"/>
                  </a:srgbClr>
                </a:outerShdw>
              </a:effectLst>
              <a:latin typeface="Tenorite" panose="00000500000000000000" pitchFamily="2" charset="0"/>
              <a:cs typeface="Arial" pitchFamily="34" charset="0"/>
            </a:endParaRPr>
          </a:p>
        </p:txBody>
      </p:sp>
      <p:sp>
        <p:nvSpPr>
          <p:cNvPr id="35" name="文本框 34">
            <a:extLst>
              <a:ext uri="{FF2B5EF4-FFF2-40B4-BE49-F238E27FC236}">
                <a16:creationId xmlns:a16="http://schemas.microsoft.com/office/drawing/2014/main" id="{00532378-363C-D903-F35C-073332CC90A1}"/>
              </a:ext>
            </a:extLst>
          </p:cNvPr>
          <p:cNvSpPr txBox="1"/>
          <p:nvPr/>
        </p:nvSpPr>
        <p:spPr>
          <a:xfrm>
            <a:off x="6541453" y="1090409"/>
            <a:ext cx="1490729" cy="400110"/>
          </a:xfrm>
          <a:prstGeom prst="rect">
            <a:avLst/>
          </a:prstGeom>
          <a:noFill/>
        </p:spPr>
        <p:txBody>
          <a:bodyPr wrap="none" rtlCol="0">
            <a:spAutoFit/>
          </a:bodyPr>
          <a:lstStyle/>
          <a:p>
            <a:pPr algn="ctr"/>
            <a:r>
              <a:rPr lang="en-US" altLang="zh-CN" sz="2000">
                <a:effectLst>
                  <a:outerShdw blurRad="38100" dist="38100" dir="2700000" algn="tl">
                    <a:srgbClr val="000000">
                      <a:alpha val="43137"/>
                    </a:srgbClr>
                  </a:outerShdw>
                </a:effectLst>
                <a:latin typeface="Tenorite" panose="00000500000000000000" pitchFamily="2" charset="0"/>
                <a:cs typeface="Arial" pitchFamily="34" charset="0"/>
              </a:rPr>
              <a:t>Key Change</a:t>
            </a:r>
            <a:endParaRPr lang="zh-CN" altLang="en-US" sz="2000">
              <a:effectLst>
                <a:outerShdw blurRad="38100" dist="38100" dir="2700000" algn="tl">
                  <a:srgbClr val="000000">
                    <a:alpha val="43137"/>
                  </a:srgbClr>
                </a:outerShdw>
              </a:effectLst>
              <a:latin typeface="Tenorite" panose="00000500000000000000" pitchFamily="2" charset="0"/>
              <a:cs typeface="Arial" pitchFamily="34" charset="0"/>
            </a:endParaRPr>
          </a:p>
        </p:txBody>
      </p:sp>
      <p:cxnSp>
        <p:nvCxnSpPr>
          <p:cNvPr id="36" name="直接连接符 35">
            <a:extLst>
              <a:ext uri="{FF2B5EF4-FFF2-40B4-BE49-F238E27FC236}">
                <a16:creationId xmlns:a16="http://schemas.microsoft.com/office/drawing/2014/main" id="{A2578C3B-F479-1021-0A35-8F7A5AB301EF}"/>
              </a:ext>
            </a:extLst>
          </p:cNvPr>
          <p:cNvCxnSpPr/>
          <p:nvPr/>
        </p:nvCxnSpPr>
        <p:spPr>
          <a:xfrm>
            <a:off x="8542946" y="1661373"/>
            <a:ext cx="0" cy="4328444"/>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37" name="文本框 36">
            <a:extLst>
              <a:ext uri="{FF2B5EF4-FFF2-40B4-BE49-F238E27FC236}">
                <a16:creationId xmlns:a16="http://schemas.microsoft.com/office/drawing/2014/main" id="{5E981E3F-1DB9-0B4A-CDEE-333C4BC583DA}"/>
              </a:ext>
            </a:extLst>
          </p:cNvPr>
          <p:cNvSpPr txBox="1"/>
          <p:nvPr/>
        </p:nvSpPr>
        <p:spPr>
          <a:xfrm>
            <a:off x="6435525" y="2119866"/>
            <a:ext cx="1754648" cy="338554"/>
          </a:xfrm>
          <a:prstGeom prst="rect">
            <a:avLst/>
          </a:prstGeom>
          <a:noFill/>
        </p:spPr>
        <p:txBody>
          <a:bodyPr wrap="none" rtlCol="0">
            <a:spAutoFit/>
          </a:bodyPr>
          <a:lstStyle/>
          <a:p>
            <a:pPr algn="l"/>
            <a:r>
              <a:rPr lang="en-US" altLang="zh-CN" sz="1600" b="1">
                <a:solidFill>
                  <a:srgbClr val="FF0000"/>
                </a:solidFill>
                <a:latin typeface="Tenorite" panose="00000500000000000000" pitchFamily="2" charset="0"/>
                <a:cs typeface="Arial" pitchFamily="34" charset="0"/>
              </a:rPr>
              <a:t>S4/ECC </a:t>
            </a:r>
            <a:r>
              <a:rPr lang="en-US" altLang="zh-CN" sz="1600" b="1">
                <a:latin typeface="Tenorite" panose="00000500000000000000" pitchFamily="2" charset="0"/>
                <a:cs typeface="Arial" pitchFamily="34" charset="0"/>
                <a:sym typeface="Wingdings" panose="05000000000000000000" pitchFamily="2" charset="2"/>
              </a:rPr>
              <a:t> </a:t>
            </a:r>
            <a:r>
              <a:rPr lang="en-US" altLang="zh-CN" sz="1600" b="1">
                <a:solidFill>
                  <a:srgbClr val="00B050"/>
                </a:solidFill>
                <a:latin typeface="Tenorite" panose="00000500000000000000" pitchFamily="2" charset="0"/>
                <a:cs typeface="Arial" pitchFamily="34" charset="0"/>
                <a:sym typeface="Wingdings" panose="05000000000000000000" pitchFamily="2" charset="2"/>
              </a:rPr>
              <a:t>NexBill</a:t>
            </a:r>
            <a:endParaRPr lang="zh-CN" altLang="en-US" sz="1600" b="1">
              <a:solidFill>
                <a:srgbClr val="00B050"/>
              </a:solidFill>
              <a:latin typeface="Tenorite" panose="00000500000000000000" pitchFamily="2" charset="0"/>
              <a:cs typeface="Arial" pitchFamily="34" charset="0"/>
            </a:endParaRPr>
          </a:p>
        </p:txBody>
      </p:sp>
      <p:sp>
        <p:nvSpPr>
          <p:cNvPr id="38" name="文本框 37">
            <a:extLst>
              <a:ext uri="{FF2B5EF4-FFF2-40B4-BE49-F238E27FC236}">
                <a16:creationId xmlns:a16="http://schemas.microsoft.com/office/drawing/2014/main" id="{F992E75B-D4C5-9C9B-5EA7-7F106B39361C}"/>
              </a:ext>
            </a:extLst>
          </p:cNvPr>
          <p:cNvSpPr txBox="1"/>
          <p:nvPr/>
        </p:nvSpPr>
        <p:spPr>
          <a:xfrm>
            <a:off x="6746412" y="3613442"/>
            <a:ext cx="1132874" cy="338554"/>
          </a:xfrm>
          <a:prstGeom prst="rect">
            <a:avLst/>
          </a:prstGeom>
          <a:noFill/>
        </p:spPr>
        <p:txBody>
          <a:bodyPr wrap="none" rtlCol="0">
            <a:spAutoFit/>
          </a:bodyPr>
          <a:lstStyle/>
          <a:p>
            <a:pPr algn="l"/>
            <a:r>
              <a:rPr lang="en-US" altLang="zh-CN" sz="1600" b="1">
                <a:latin typeface="Tenorite" panose="00000500000000000000" pitchFamily="2" charset="0"/>
                <a:cs typeface="Arial" pitchFamily="34" charset="0"/>
              </a:rPr>
              <a:t>No Impact</a:t>
            </a:r>
            <a:endParaRPr lang="zh-CN" altLang="en-US" sz="1600" b="1">
              <a:latin typeface="Tenorite" panose="00000500000000000000" pitchFamily="2" charset="0"/>
              <a:cs typeface="Arial" pitchFamily="34" charset="0"/>
            </a:endParaRPr>
          </a:p>
        </p:txBody>
      </p:sp>
      <p:sp>
        <p:nvSpPr>
          <p:cNvPr id="39" name="文本框 38">
            <a:extLst>
              <a:ext uri="{FF2B5EF4-FFF2-40B4-BE49-F238E27FC236}">
                <a16:creationId xmlns:a16="http://schemas.microsoft.com/office/drawing/2014/main" id="{9C0D8B84-645D-F16A-2871-9503D3778EB6}"/>
              </a:ext>
            </a:extLst>
          </p:cNvPr>
          <p:cNvSpPr txBox="1"/>
          <p:nvPr/>
        </p:nvSpPr>
        <p:spPr>
          <a:xfrm>
            <a:off x="6435525" y="5111864"/>
            <a:ext cx="1592615" cy="338554"/>
          </a:xfrm>
          <a:prstGeom prst="rect">
            <a:avLst/>
          </a:prstGeom>
          <a:noFill/>
        </p:spPr>
        <p:txBody>
          <a:bodyPr wrap="none" rtlCol="0">
            <a:spAutoFit/>
          </a:bodyPr>
          <a:lstStyle/>
          <a:p>
            <a:pPr algn="l"/>
            <a:r>
              <a:rPr lang="en-US" altLang="zh-CN" sz="1600" b="1">
                <a:solidFill>
                  <a:srgbClr val="FF0000"/>
                </a:solidFill>
                <a:latin typeface="Tenorite" panose="00000500000000000000" pitchFamily="2" charset="0"/>
                <a:cs typeface="Arial" pitchFamily="34" charset="0"/>
              </a:rPr>
              <a:t>BRIM </a:t>
            </a:r>
            <a:r>
              <a:rPr lang="en-US" altLang="zh-CN" sz="1600" b="1">
                <a:latin typeface="Tenorite" panose="00000500000000000000" pitchFamily="2" charset="0"/>
                <a:cs typeface="Arial" pitchFamily="34" charset="0"/>
                <a:sym typeface="Wingdings" panose="05000000000000000000" pitchFamily="2" charset="2"/>
              </a:rPr>
              <a:t> </a:t>
            </a:r>
            <a:r>
              <a:rPr lang="en-US" altLang="zh-CN" sz="1600" b="1">
                <a:solidFill>
                  <a:srgbClr val="00B050"/>
                </a:solidFill>
                <a:latin typeface="Tenorite" panose="00000500000000000000" pitchFamily="2" charset="0"/>
                <a:cs typeface="Arial" pitchFamily="34" charset="0"/>
                <a:sym typeface="Wingdings" panose="05000000000000000000" pitchFamily="2" charset="2"/>
              </a:rPr>
              <a:t>NexBill</a:t>
            </a:r>
            <a:endParaRPr lang="zh-CN" altLang="en-US" sz="1600" b="1">
              <a:solidFill>
                <a:srgbClr val="00B050"/>
              </a:solidFill>
              <a:latin typeface="Tenorite" panose="00000500000000000000" pitchFamily="2" charset="0"/>
              <a:cs typeface="Arial" pitchFamily="34" charset="0"/>
            </a:endParaRPr>
          </a:p>
        </p:txBody>
      </p:sp>
      <p:sp>
        <p:nvSpPr>
          <p:cNvPr id="40" name="文本框 39">
            <a:extLst>
              <a:ext uri="{FF2B5EF4-FFF2-40B4-BE49-F238E27FC236}">
                <a16:creationId xmlns:a16="http://schemas.microsoft.com/office/drawing/2014/main" id="{89468F30-1B55-FC0B-F615-BF99D627EFAD}"/>
              </a:ext>
            </a:extLst>
          </p:cNvPr>
          <p:cNvSpPr txBox="1"/>
          <p:nvPr/>
        </p:nvSpPr>
        <p:spPr>
          <a:xfrm>
            <a:off x="6371430" y="4337489"/>
            <a:ext cx="2161169" cy="215444"/>
          </a:xfrm>
          <a:prstGeom prst="rect">
            <a:avLst/>
          </a:prstGeom>
          <a:noFill/>
        </p:spPr>
        <p:txBody>
          <a:bodyPr wrap="none" rtlCol="0">
            <a:spAutoFit/>
          </a:bodyPr>
          <a:lstStyle/>
          <a:p>
            <a:pPr algn="l"/>
            <a:r>
              <a:rPr lang="en-US" altLang="zh-CN" sz="800">
                <a:latin typeface="Tenorite" panose="00000500000000000000" pitchFamily="2" charset="0"/>
                <a:cs typeface="Arial" pitchFamily="34" charset="0"/>
              </a:rPr>
              <a:t>* After deal migration, run on EaaS platform</a:t>
            </a:r>
            <a:endParaRPr lang="zh-CN" altLang="en-US" sz="800">
              <a:latin typeface="Tenorite" panose="00000500000000000000" pitchFamily="2" charset="0"/>
              <a:cs typeface="Arial" pitchFamily="34" charset="0"/>
            </a:endParaRPr>
          </a:p>
        </p:txBody>
      </p:sp>
      <p:sp>
        <p:nvSpPr>
          <p:cNvPr id="41" name="文本框 40">
            <a:extLst>
              <a:ext uri="{FF2B5EF4-FFF2-40B4-BE49-F238E27FC236}">
                <a16:creationId xmlns:a16="http://schemas.microsoft.com/office/drawing/2014/main" id="{E9F0BB26-149F-76B2-F9E6-1B7CB9C1F87E}"/>
              </a:ext>
            </a:extLst>
          </p:cNvPr>
          <p:cNvSpPr txBox="1"/>
          <p:nvPr/>
        </p:nvSpPr>
        <p:spPr>
          <a:xfrm>
            <a:off x="6622959" y="5838976"/>
            <a:ext cx="1888659" cy="215444"/>
          </a:xfrm>
          <a:prstGeom prst="rect">
            <a:avLst/>
          </a:prstGeom>
          <a:noFill/>
        </p:spPr>
        <p:txBody>
          <a:bodyPr wrap="none" rtlCol="0">
            <a:spAutoFit/>
          </a:bodyPr>
          <a:lstStyle/>
          <a:p>
            <a:pPr algn="l"/>
            <a:r>
              <a:rPr lang="en-US" altLang="zh-CN" sz="800">
                <a:latin typeface="Tenorite" panose="00000500000000000000" pitchFamily="2" charset="0"/>
                <a:cs typeface="Arial" pitchFamily="34" charset="0"/>
              </a:rPr>
              <a:t>* BRIM will sunset after NexBill rollout</a:t>
            </a:r>
            <a:endParaRPr lang="zh-CN" altLang="en-US" sz="800">
              <a:latin typeface="Tenorite" panose="00000500000000000000" pitchFamily="2" charset="0"/>
              <a:cs typeface="Arial" pitchFamily="34" charset="0"/>
            </a:endParaRPr>
          </a:p>
        </p:txBody>
      </p:sp>
      <p:sp>
        <p:nvSpPr>
          <p:cNvPr id="42" name="文本框 41">
            <a:extLst>
              <a:ext uri="{FF2B5EF4-FFF2-40B4-BE49-F238E27FC236}">
                <a16:creationId xmlns:a16="http://schemas.microsoft.com/office/drawing/2014/main" id="{F752BDFB-4D1E-9046-4EBD-737E3EA8643F}"/>
              </a:ext>
            </a:extLst>
          </p:cNvPr>
          <p:cNvSpPr txBox="1"/>
          <p:nvPr/>
        </p:nvSpPr>
        <p:spPr>
          <a:xfrm>
            <a:off x="9168610" y="1090409"/>
            <a:ext cx="1437958" cy="400110"/>
          </a:xfrm>
          <a:prstGeom prst="rect">
            <a:avLst/>
          </a:prstGeom>
          <a:noFill/>
        </p:spPr>
        <p:txBody>
          <a:bodyPr wrap="none" rtlCol="0">
            <a:spAutoFit/>
          </a:bodyPr>
          <a:lstStyle/>
          <a:p>
            <a:pPr algn="ctr"/>
            <a:r>
              <a:rPr lang="en-US" altLang="zh-CN" sz="2000">
                <a:effectLst>
                  <a:outerShdw blurRad="38100" dist="38100" dir="2700000" algn="tl">
                    <a:srgbClr val="000000">
                      <a:alpha val="43137"/>
                    </a:srgbClr>
                  </a:outerShdw>
                </a:effectLst>
                <a:latin typeface="Tenorite" panose="00000500000000000000" pitchFamily="2" charset="0"/>
                <a:cs typeface="Arial" pitchFamily="34" charset="0"/>
              </a:rPr>
              <a:t>Key Impact</a:t>
            </a:r>
            <a:endParaRPr lang="zh-CN" altLang="en-US" sz="2000">
              <a:effectLst>
                <a:outerShdw blurRad="38100" dist="38100" dir="2700000" algn="tl">
                  <a:srgbClr val="000000">
                    <a:alpha val="43137"/>
                  </a:srgbClr>
                </a:outerShdw>
              </a:effectLst>
              <a:latin typeface="Tenorite" panose="00000500000000000000" pitchFamily="2" charset="0"/>
              <a:cs typeface="Arial" pitchFamily="34" charset="0"/>
            </a:endParaRPr>
          </a:p>
        </p:txBody>
      </p:sp>
      <p:sp>
        <p:nvSpPr>
          <p:cNvPr id="43" name="文本框 42">
            <a:extLst>
              <a:ext uri="{FF2B5EF4-FFF2-40B4-BE49-F238E27FC236}">
                <a16:creationId xmlns:a16="http://schemas.microsoft.com/office/drawing/2014/main" id="{D5328839-6884-0CCF-B0E4-10CE046F9E26}"/>
              </a:ext>
            </a:extLst>
          </p:cNvPr>
          <p:cNvSpPr txBox="1"/>
          <p:nvPr/>
        </p:nvSpPr>
        <p:spPr>
          <a:xfrm>
            <a:off x="8603864" y="1857487"/>
            <a:ext cx="2507195" cy="861774"/>
          </a:xfrm>
          <a:prstGeom prst="rect">
            <a:avLst/>
          </a:prstGeom>
          <a:noFill/>
        </p:spPr>
        <p:txBody>
          <a:bodyPr wrap="square" rtlCol="0">
            <a:spAutoFit/>
          </a:bodyPr>
          <a:lstStyle/>
          <a:p>
            <a:pPr marL="171450" indent="-171450" algn="l">
              <a:buFont typeface="Arial" panose="020B0604020202020204" pitchFamily="34" charset="0"/>
              <a:buChar char="•"/>
            </a:pPr>
            <a:r>
              <a:rPr lang="en-US" altLang="zh-CN" sz="1000" i="1" u="sng">
                <a:latin typeface="Tenorite" panose="00000500000000000000" pitchFamily="2" charset="0"/>
                <a:cs typeface="Arial" pitchFamily="34" charset="0"/>
              </a:rPr>
              <a:t>LOT team</a:t>
            </a:r>
            <a:r>
              <a:rPr lang="en-US" altLang="zh-CN" sz="1000" i="1">
                <a:latin typeface="Tenorite" panose="00000500000000000000" pitchFamily="2" charset="0"/>
                <a:cs typeface="Arial" pitchFamily="34" charset="0"/>
              </a:rPr>
              <a:t> directly raises billing requests in NexBill system and generates the invoices. Invoice process will follow EaaS flow with invoice preview, invoice email to the customer.</a:t>
            </a:r>
            <a:endParaRPr lang="zh-CN" altLang="en-US" sz="1000" i="1">
              <a:latin typeface="Tenorite" panose="00000500000000000000" pitchFamily="2" charset="0"/>
              <a:cs typeface="Arial" pitchFamily="34" charset="0"/>
            </a:endParaRPr>
          </a:p>
        </p:txBody>
      </p:sp>
      <p:sp>
        <p:nvSpPr>
          <p:cNvPr id="44" name="文本框 43">
            <a:extLst>
              <a:ext uri="{FF2B5EF4-FFF2-40B4-BE49-F238E27FC236}">
                <a16:creationId xmlns:a16="http://schemas.microsoft.com/office/drawing/2014/main" id="{ED0155D0-57CB-2C46-57C5-3318256F0C3F}"/>
              </a:ext>
            </a:extLst>
          </p:cNvPr>
          <p:cNvSpPr txBox="1"/>
          <p:nvPr/>
        </p:nvSpPr>
        <p:spPr>
          <a:xfrm>
            <a:off x="8603864" y="3703142"/>
            <a:ext cx="2434794" cy="246221"/>
          </a:xfrm>
          <a:prstGeom prst="rect">
            <a:avLst/>
          </a:prstGeom>
          <a:noFill/>
        </p:spPr>
        <p:txBody>
          <a:bodyPr wrap="square" rtlCol="0">
            <a:spAutoFit/>
          </a:bodyPr>
          <a:lstStyle/>
          <a:p>
            <a:pPr marL="171450" indent="-171450" algn="l">
              <a:buFont typeface="Arial" panose="020B0604020202020204" pitchFamily="34" charset="0"/>
              <a:buChar char="•"/>
            </a:pPr>
            <a:r>
              <a:rPr lang="en-US" altLang="zh-CN" sz="1000" i="1">
                <a:latin typeface="Tenorite" panose="00000500000000000000" pitchFamily="2" charset="0"/>
                <a:cs typeface="Arial" pitchFamily="34" charset="0"/>
              </a:rPr>
              <a:t>N/A</a:t>
            </a:r>
            <a:endParaRPr lang="zh-CN" altLang="en-US" sz="1000" i="1">
              <a:latin typeface="Tenorite" panose="00000500000000000000" pitchFamily="2" charset="0"/>
              <a:cs typeface="Arial" pitchFamily="34" charset="0"/>
            </a:endParaRPr>
          </a:p>
        </p:txBody>
      </p:sp>
      <p:sp>
        <p:nvSpPr>
          <p:cNvPr id="45" name="文本框 44">
            <a:extLst>
              <a:ext uri="{FF2B5EF4-FFF2-40B4-BE49-F238E27FC236}">
                <a16:creationId xmlns:a16="http://schemas.microsoft.com/office/drawing/2014/main" id="{D6A5D342-16F2-9481-C8AC-D1A092E43344}"/>
              </a:ext>
            </a:extLst>
          </p:cNvPr>
          <p:cNvSpPr txBox="1"/>
          <p:nvPr/>
        </p:nvSpPr>
        <p:spPr>
          <a:xfrm>
            <a:off x="8603864" y="4690914"/>
            <a:ext cx="2507195" cy="1323439"/>
          </a:xfrm>
          <a:prstGeom prst="rect">
            <a:avLst/>
          </a:prstGeom>
          <a:noFill/>
        </p:spPr>
        <p:txBody>
          <a:bodyPr wrap="square" rtlCol="0">
            <a:spAutoFit/>
          </a:bodyPr>
          <a:lstStyle/>
          <a:p>
            <a:pPr marL="171450" indent="-171450">
              <a:buFont typeface="Arial" panose="020B0604020202020204" pitchFamily="34" charset="0"/>
              <a:buChar char="•"/>
            </a:pPr>
            <a:r>
              <a:rPr lang="en-US" altLang="zh-CN" sz="1000" i="1" u="sng">
                <a:latin typeface="Tenorite" panose="00000500000000000000" pitchFamily="2" charset="0"/>
                <a:cs typeface="Arial" pitchFamily="34" charset="0"/>
              </a:rPr>
              <a:t>LOT team</a:t>
            </a:r>
            <a:r>
              <a:rPr lang="en-US" altLang="zh-CN" sz="1000" i="1">
                <a:latin typeface="Tenorite" panose="00000500000000000000" pitchFamily="2" charset="0"/>
                <a:cs typeface="Arial" pitchFamily="34" charset="0"/>
              </a:rPr>
              <a:t> generate invoice in advance and issue CMR &amp; DMR easily</a:t>
            </a:r>
            <a:endParaRPr lang="en-US" altLang="zh-CN" sz="1000" i="1" u="sng">
              <a:latin typeface="Tenorite" panose="00000500000000000000" pitchFamily="2" charset="0"/>
              <a:cs typeface="Arial" pitchFamily="34" charset="0"/>
            </a:endParaRPr>
          </a:p>
          <a:p>
            <a:pPr marL="171450" indent="-171450" algn="l">
              <a:buFont typeface="Arial" panose="020B0604020202020204" pitchFamily="34" charset="0"/>
              <a:buChar char="•"/>
            </a:pPr>
            <a:r>
              <a:rPr lang="en-US" altLang="zh-CN" sz="1000" i="1">
                <a:latin typeface="Tenorite" panose="00000500000000000000" pitchFamily="2" charset="0"/>
                <a:cs typeface="Arial" pitchFamily="34" charset="0"/>
              </a:rPr>
              <a:t>New dashboard for data visibility to all NexBill users</a:t>
            </a:r>
          </a:p>
          <a:p>
            <a:pPr marL="171450" indent="-171450" algn="l">
              <a:buFont typeface="Arial" panose="020B0604020202020204" pitchFamily="34" charset="0"/>
              <a:buChar char="•"/>
            </a:pPr>
            <a:r>
              <a:rPr lang="en-US" altLang="zh-CN" sz="1000" i="1">
                <a:latin typeface="Tenorite" panose="00000500000000000000" pitchFamily="2" charset="0"/>
                <a:cs typeface="Arial" pitchFamily="34" charset="0"/>
              </a:rPr>
              <a:t>New reports for daily operation like invoice detail report (header &amp; item), invoice payment tracking, projected cash flow (WIP), F&amp;A related reports.</a:t>
            </a:r>
            <a:endParaRPr lang="zh-CN" altLang="en-US" sz="1000" i="1">
              <a:latin typeface="Tenorite" panose="00000500000000000000" pitchFamily="2" charset="0"/>
              <a:cs typeface="Arial" pitchFamily="34" charset="0"/>
            </a:endParaRPr>
          </a:p>
        </p:txBody>
      </p:sp>
    </p:spTree>
    <p:extLst>
      <p:ext uri="{BB962C8B-B14F-4D97-AF65-F5344CB8AC3E}">
        <p14:creationId xmlns:p14="http://schemas.microsoft.com/office/powerpoint/2010/main" val="12387373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F8DC6-7A27-8C35-ECA8-4E57176AEC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B99188-2C4E-3425-A4AB-95BD73E36AAC}"/>
              </a:ext>
            </a:extLst>
          </p:cNvPr>
          <p:cNvSpPr>
            <a:spLocks noGrp="1"/>
          </p:cNvSpPr>
          <p:nvPr>
            <p:ph type="title"/>
          </p:nvPr>
        </p:nvSpPr>
        <p:spPr/>
        <p:txBody>
          <a:bodyPr/>
          <a:lstStyle/>
          <a:p>
            <a:r>
              <a:rPr lang="en-US" altLang="zh-CN"/>
              <a:t>NexBill -  System Function</a:t>
            </a:r>
            <a:endParaRPr lang="zh-CN" altLang="en-US"/>
          </a:p>
        </p:txBody>
      </p:sp>
      <p:sp>
        <p:nvSpPr>
          <p:cNvPr id="156" name="矩形: 圆角 155">
            <a:extLst>
              <a:ext uri="{FF2B5EF4-FFF2-40B4-BE49-F238E27FC236}">
                <a16:creationId xmlns:a16="http://schemas.microsoft.com/office/drawing/2014/main" id="{9DC3CCBD-81AF-905E-B4AD-3D3CE98EA59E}"/>
              </a:ext>
            </a:extLst>
          </p:cNvPr>
          <p:cNvSpPr/>
          <p:nvPr/>
        </p:nvSpPr>
        <p:spPr>
          <a:xfrm>
            <a:off x="9470981" y="951206"/>
            <a:ext cx="1600844" cy="3862448"/>
          </a:xfrm>
          <a:prstGeom prst="roundRect">
            <a:avLst>
              <a:gd name="adj" fmla="val 8123"/>
            </a:avLst>
          </a:prstGeom>
          <a:solidFill>
            <a:srgbClr val="3E8DDD">
              <a:lumMod val="60000"/>
              <a:lumOff val="40000"/>
            </a:srgbClr>
          </a:solidFill>
          <a:ln w="12700" cap="flat" cmpd="sng" algn="ctr">
            <a:noFill/>
            <a:prstDash val="solid"/>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zh-CN" altLang="en-US" sz="2399" b="0"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57" name="矩形: 圆角 156">
            <a:extLst>
              <a:ext uri="{FF2B5EF4-FFF2-40B4-BE49-F238E27FC236}">
                <a16:creationId xmlns:a16="http://schemas.microsoft.com/office/drawing/2014/main" id="{DE3442EA-0AA9-ED8A-8FD6-3BCC3FB87883}"/>
              </a:ext>
            </a:extLst>
          </p:cNvPr>
          <p:cNvSpPr/>
          <p:nvPr/>
        </p:nvSpPr>
        <p:spPr>
          <a:xfrm>
            <a:off x="4437420" y="962857"/>
            <a:ext cx="1600844" cy="3862448"/>
          </a:xfrm>
          <a:prstGeom prst="roundRect">
            <a:avLst>
              <a:gd name="adj" fmla="val 8123"/>
            </a:avLst>
          </a:prstGeom>
          <a:solidFill>
            <a:srgbClr val="3E8DDD">
              <a:lumMod val="60000"/>
              <a:lumOff val="40000"/>
            </a:srgbClr>
          </a:solidFill>
          <a:ln w="12700" cap="flat" cmpd="sng" algn="ctr">
            <a:noFill/>
            <a:prstDash val="solid"/>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zh-CN" altLang="en-US" sz="2399" b="0"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58" name="矩形: 圆角 157">
            <a:extLst>
              <a:ext uri="{FF2B5EF4-FFF2-40B4-BE49-F238E27FC236}">
                <a16:creationId xmlns:a16="http://schemas.microsoft.com/office/drawing/2014/main" id="{D9BA78FD-53C6-D2AC-CD66-6585A72ACB7A}"/>
              </a:ext>
            </a:extLst>
          </p:cNvPr>
          <p:cNvSpPr/>
          <p:nvPr/>
        </p:nvSpPr>
        <p:spPr>
          <a:xfrm>
            <a:off x="4541038" y="2476788"/>
            <a:ext cx="1393608" cy="2282804"/>
          </a:xfrm>
          <a:prstGeom prst="roundRect">
            <a:avLst>
              <a:gd name="adj" fmla="val 5731"/>
            </a:avLst>
          </a:prstGeom>
          <a:solidFill>
            <a:srgbClr val="3E8DDD">
              <a:lumMod val="60000"/>
              <a:lumOff val="40000"/>
            </a:srgbClr>
          </a:solidFill>
          <a:ln w="9525" cap="sq" cmpd="sng" algn="ctr">
            <a:solidFill>
              <a:sysClr val="window" lastClr="FFFFFF">
                <a:lumMod val="95000"/>
              </a:sysClr>
            </a:solidFill>
            <a:prstDash val="solid"/>
            <a:miter lim="800000"/>
          </a:ln>
          <a:effectLst/>
        </p:spPr>
        <p:txBody>
          <a:bodyPr rot="0" spcFirstLastPara="0" vertOverflow="overflow" horzOverflow="overflow" vert="horz" wrap="square" lIns="0" tIns="71981" rIns="0" bIns="0" numCol="1" spcCol="0" rtlCol="0" fromWordArt="0" anchor="t"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prstClr val="white"/>
                </a:solidFill>
                <a:effectLst/>
                <a:uLnTx/>
                <a:uFillTx/>
                <a:latin typeface="Tenorite" panose="00000500000000000000" pitchFamily="2" charset="0"/>
                <a:cs typeface="Arial" panose="020B0604020202020204" pitchFamily="34" charset="0"/>
              </a:rPr>
              <a:t>Subscription Lifecycle Mgmt.</a:t>
            </a:r>
            <a:endParaRPr kumimoji="0" lang="zh-CN" altLang="en-US" sz="800" b="1" i="0" u="none" strike="noStrike" kern="0" cap="none" spc="0" normalizeH="0" baseline="0" noProof="0">
              <a:ln>
                <a:noFill/>
              </a:ln>
              <a:solidFill>
                <a:prstClr val="white"/>
              </a:solidFill>
              <a:effectLst/>
              <a:uLnTx/>
              <a:uFillTx/>
              <a:latin typeface="Tenorite" panose="00000500000000000000" pitchFamily="2" charset="0"/>
              <a:cs typeface="Arial" panose="020B0604020202020204" pitchFamily="34" charset="0"/>
            </a:endParaRPr>
          </a:p>
        </p:txBody>
      </p:sp>
      <p:sp>
        <p:nvSpPr>
          <p:cNvPr id="159" name="矩形: 圆角 158">
            <a:extLst>
              <a:ext uri="{FF2B5EF4-FFF2-40B4-BE49-F238E27FC236}">
                <a16:creationId xmlns:a16="http://schemas.microsoft.com/office/drawing/2014/main" id="{18CDE7B7-02CF-2F6C-EC9C-D5558281D853}"/>
              </a:ext>
            </a:extLst>
          </p:cNvPr>
          <p:cNvSpPr/>
          <p:nvPr/>
        </p:nvSpPr>
        <p:spPr>
          <a:xfrm>
            <a:off x="2751282" y="962857"/>
            <a:ext cx="1600844" cy="3862448"/>
          </a:xfrm>
          <a:prstGeom prst="roundRect">
            <a:avLst>
              <a:gd name="adj" fmla="val 8123"/>
            </a:avLst>
          </a:prstGeom>
          <a:solidFill>
            <a:srgbClr val="3E8DDD">
              <a:lumMod val="60000"/>
              <a:lumOff val="40000"/>
            </a:srgbClr>
          </a:solidFill>
          <a:ln w="12700" cap="flat" cmpd="sng" algn="ctr">
            <a:noFill/>
            <a:prstDash val="solid"/>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zh-CN" altLang="en-US" sz="2399" b="0"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60" name="矩形: 圆角 159">
            <a:extLst>
              <a:ext uri="{FF2B5EF4-FFF2-40B4-BE49-F238E27FC236}">
                <a16:creationId xmlns:a16="http://schemas.microsoft.com/office/drawing/2014/main" id="{B532EF79-9361-6F6E-2CD3-8A8283911D0E}"/>
              </a:ext>
            </a:extLst>
          </p:cNvPr>
          <p:cNvSpPr/>
          <p:nvPr/>
        </p:nvSpPr>
        <p:spPr>
          <a:xfrm>
            <a:off x="1099539" y="962857"/>
            <a:ext cx="1600844" cy="3862448"/>
          </a:xfrm>
          <a:prstGeom prst="roundRect">
            <a:avLst>
              <a:gd name="adj" fmla="val 8123"/>
            </a:avLst>
          </a:prstGeom>
          <a:solidFill>
            <a:srgbClr val="3E8DDD">
              <a:lumMod val="60000"/>
              <a:lumOff val="4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endParaRPr kumimoji="0" lang="zh-CN" altLang="en-US" sz="600" b="0" i="0" u="none" strike="noStrike" kern="0" cap="none" spc="0" normalizeH="0" baseline="0" noProof="0">
              <a:ln>
                <a:noFill/>
              </a:ln>
              <a:solidFill>
                <a:srgbClr val="000000"/>
              </a:solidFill>
              <a:effectLst/>
              <a:uLnTx/>
              <a:uFillTx/>
              <a:latin typeface="Tenorite" panose="00000500000000000000" pitchFamily="2" charset="0"/>
            </a:endParaRPr>
          </a:p>
        </p:txBody>
      </p:sp>
      <p:sp>
        <p:nvSpPr>
          <p:cNvPr id="161" name="矩形: 圆角 160">
            <a:extLst>
              <a:ext uri="{FF2B5EF4-FFF2-40B4-BE49-F238E27FC236}">
                <a16:creationId xmlns:a16="http://schemas.microsoft.com/office/drawing/2014/main" id="{EA08FCD4-860F-9C46-ED1E-A27732AAED71}"/>
              </a:ext>
            </a:extLst>
          </p:cNvPr>
          <p:cNvSpPr/>
          <p:nvPr/>
        </p:nvSpPr>
        <p:spPr>
          <a:xfrm>
            <a:off x="6085810" y="962857"/>
            <a:ext cx="1600844" cy="3862448"/>
          </a:xfrm>
          <a:prstGeom prst="roundRect">
            <a:avLst>
              <a:gd name="adj" fmla="val 8123"/>
            </a:avLst>
          </a:prstGeom>
          <a:solidFill>
            <a:srgbClr val="3E8DDD">
              <a:lumMod val="60000"/>
              <a:lumOff val="40000"/>
            </a:srgbClr>
          </a:solidFill>
          <a:ln w="12700" cap="flat" cmpd="sng" algn="ctr">
            <a:noFill/>
            <a:prstDash val="solid"/>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zh-CN" altLang="en-US" sz="2399" b="0"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62" name="矩形: 圆角 161">
            <a:extLst>
              <a:ext uri="{FF2B5EF4-FFF2-40B4-BE49-F238E27FC236}">
                <a16:creationId xmlns:a16="http://schemas.microsoft.com/office/drawing/2014/main" id="{E692836F-7F90-AE46-6ED2-305A08913D0D}"/>
              </a:ext>
            </a:extLst>
          </p:cNvPr>
          <p:cNvSpPr/>
          <p:nvPr/>
        </p:nvSpPr>
        <p:spPr>
          <a:xfrm>
            <a:off x="7766128" y="962857"/>
            <a:ext cx="1600844" cy="3862448"/>
          </a:xfrm>
          <a:prstGeom prst="roundRect">
            <a:avLst>
              <a:gd name="adj" fmla="val 8123"/>
            </a:avLst>
          </a:prstGeom>
          <a:solidFill>
            <a:srgbClr val="3E8DDD">
              <a:lumMod val="60000"/>
              <a:lumOff val="40000"/>
            </a:srgbClr>
          </a:solidFill>
          <a:ln w="12700" cap="flat" cmpd="sng" algn="ctr">
            <a:noFill/>
            <a:prstDash val="solid"/>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zh-CN" altLang="en-US" sz="2399" b="0"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63" name="矩形: 圆角 162">
            <a:extLst>
              <a:ext uri="{FF2B5EF4-FFF2-40B4-BE49-F238E27FC236}">
                <a16:creationId xmlns:a16="http://schemas.microsoft.com/office/drawing/2014/main" id="{619D4402-6C69-FB58-5BDA-F56B0627767E}"/>
              </a:ext>
            </a:extLst>
          </p:cNvPr>
          <p:cNvSpPr/>
          <p:nvPr/>
        </p:nvSpPr>
        <p:spPr>
          <a:xfrm>
            <a:off x="1203543" y="1695314"/>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Offering Model Definition</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64" name="矩形: 圆角 163">
            <a:extLst>
              <a:ext uri="{FF2B5EF4-FFF2-40B4-BE49-F238E27FC236}">
                <a16:creationId xmlns:a16="http://schemas.microsoft.com/office/drawing/2014/main" id="{43B330AC-B654-AB8A-32B3-3B215EF02205}"/>
              </a:ext>
            </a:extLst>
          </p:cNvPr>
          <p:cNvSpPr/>
          <p:nvPr/>
        </p:nvSpPr>
        <p:spPr>
          <a:xfrm>
            <a:off x="2855286" y="1695314"/>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Contract Lifecycle Mgmt.</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65" name="矩形: 圆角 164">
            <a:extLst>
              <a:ext uri="{FF2B5EF4-FFF2-40B4-BE49-F238E27FC236}">
                <a16:creationId xmlns:a16="http://schemas.microsoft.com/office/drawing/2014/main" id="{E49EEE1B-54F6-B497-1F00-F8507F9C63AC}"/>
              </a:ext>
            </a:extLst>
          </p:cNvPr>
          <p:cNvSpPr/>
          <p:nvPr/>
        </p:nvSpPr>
        <p:spPr>
          <a:xfrm>
            <a:off x="4541424" y="1695314"/>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Subscription Contract Mgmt.</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66" name="矩形: 圆角 165">
            <a:extLst>
              <a:ext uri="{FF2B5EF4-FFF2-40B4-BE49-F238E27FC236}">
                <a16:creationId xmlns:a16="http://schemas.microsoft.com/office/drawing/2014/main" id="{CC7A6EB6-A9BA-2FB0-9FAC-515CA7A8CC6E}"/>
              </a:ext>
            </a:extLst>
          </p:cNvPr>
          <p:cNvSpPr/>
          <p:nvPr/>
        </p:nvSpPr>
        <p:spPr>
          <a:xfrm>
            <a:off x="6189814" y="1690710"/>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Billing Schedule</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67" name="矩形: 圆角 166">
            <a:extLst>
              <a:ext uri="{FF2B5EF4-FFF2-40B4-BE49-F238E27FC236}">
                <a16:creationId xmlns:a16="http://schemas.microsoft.com/office/drawing/2014/main" id="{29686512-DCB3-DBE3-4DE8-47A5E096C314}"/>
              </a:ext>
            </a:extLst>
          </p:cNvPr>
          <p:cNvSpPr/>
          <p:nvPr/>
        </p:nvSpPr>
        <p:spPr>
          <a:xfrm>
            <a:off x="7870132" y="1695314"/>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Convergent Invoicing</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68" name="矩形: 圆角 167">
            <a:extLst>
              <a:ext uri="{FF2B5EF4-FFF2-40B4-BE49-F238E27FC236}">
                <a16:creationId xmlns:a16="http://schemas.microsoft.com/office/drawing/2014/main" id="{035CBA04-90BE-37CD-9A3B-13EDB6DA8B91}"/>
              </a:ext>
            </a:extLst>
          </p:cNvPr>
          <p:cNvSpPr/>
          <p:nvPr/>
        </p:nvSpPr>
        <p:spPr>
          <a:xfrm>
            <a:off x="7870132" y="2476788"/>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Statement</a:t>
            </a:r>
            <a:endParaRPr kumimoji="0" lang="en-US" altLang="zh-CN" sz="800" b="0"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69" name="矩形: 圆角 168">
            <a:extLst>
              <a:ext uri="{FF2B5EF4-FFF2-40B4-BE49-F238E27FC236}">
                <a16:creationId xmlns:a16="http://schemas.microsoft.com/office/drawing/2014/main" id="{B2F7C3E3-8309-0E30-4B19-BC1A69E252F1}"/>
              </a:ext>
            </a:extLst>
          </p:cNvPr>
          <p:cNvSpPr/>
          <p:nvPr/>
        </p:nvSpPr>
        <p:spPr>
          <a:xfrm>
            <a:off x="7870132" y="3258262"/>
            <a:ext cx="1392837" cy="291524"/>
          </a:xfrm>
          <a:prstGeom prst="roundRect">
            <a:avLst>
              <a:gd name="adj" fmla="val 16056"/>
            </a:avLst>
          </a:prstGeom>
          <a:solidFill>
            <a:sysClr val="window" lastClr="FFFFFF">
              <a:lumMod val="85000"/>
            </a:sys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Invoice Delivery (LIC)</a:t>
            </a:r>
          </a:p>
        </p:txBody>
      </p:sp>
      <p:sp>
        <p:nvSpPr>
          <p:cNvPr id="170" name="矩形: 圆角 169">
            <a:extLst>
              <a:ext uri="{FF2B5EF4-FFF2-40B4-BE49-F238E27FC236}">
                <a16:creationId xmlns:a16="http://schemas.microsoft.com/office/drawing/2014/main" id="{1EE5304C-44CD-9E79-CF83-26AB5C8ED4E7}"/>
              </a:ext>
            </a:extLst>
          </p:cNvPr>
          <p:cNvSpPr/>
          <p:nvPr/>
        </p:nvSpPr>
        <p:spPr>
          <a:xfrm>
            <a:off x="4652447" y="2867525"/>
            <a:ext cx="1170790"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Early Termination</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71" name="矩形: 圆角 170">
            <a:extLst>
              <a:ext uri="{FF2B5EF4-FFF2-40B4-BE49-F238E27FC236}">
                <a16:creationId xmlns:a16="http://schemas.microsoft.com/office/drawing/2014/main" id="{2CDE5BF3-62B2-9368-AFD4-83B94D81067B}"/>
              </a:ext>
            </a:extLst>
          </p:cNvPr>
          <p:cNvSpPr/>
          <p:nvPr/>
        </p:nvSpPr>
        <p:spPr>
          <a:xfrm>
            <a:off x="4652447" y="3258262"/>
            <a:ext cx="1170790"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Flex Options</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72" name="矩形: 圆角 171">
            <a:extLst>
              <a:ext uri="{FF2B5EF4-FFF2-40B4-BE49-F238E27FC236}">
                <a16:creationId xmlns:a16="http://schemas.microsoft.com/office/drawing/2014/main" id="{B6E21CD1-F64F-4C64-5BD0-4653FD548E15}"/>
              </a:ext>
            </a:extLst>
          </p:cNvPr>
          <p:cNvSpPr/>
          <p:nvPr/>
        </p:nvSpPr>
        <p:spPr>
          <a:xfrm>
            <a:off x="4652447" y="3648999"/>
            <a:ext cx="1170790"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End of Term</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73" name="箭头: 右 172">
            <a:extLst>
              <a:ext uri="{FF2B5EF4-FFF2-40B4-BE49-F238E27FC236}">
                <a16:creationId xmlns:a16="http://schemas.microsoft.com/office/drawing/2014/main" id="{69425658-4A52-FE0A-8FB0-6617E7992EA0}"/>
              </a:ext>
            </a:extLst>
          </p:cNvPr>
          <p:cNvSpPr/>
          <p:nvPr/>
        </p:nvSpPr>
        <p:spPr>
          <a:xfrm>
            <a:off x="28131" y="943721"/>
            <a:ext cx="12160693" cy="791794"/>
          </a:xfrm>
          <a:prstGeom prst="rightArrow">
            <a:avLst>
              <a:gd name="adj1" fmla="val 70164"/>
              <a:gd name="adj2" fmla="val 50000"/>
            </a:avLst>
          </a:prstGeom>
          <a:solidFill>
            <a:srgbClr val="3E8DDD">
              <a:lumMod val="75000"/>
            </a:srgbClr>
          </a:solidFill>
          <a:ln w="6350">
            <a:solidFill>
              <a:srgbClr val="000000"/>
            </a:solid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74" name="矩形 173">
            <a:extLst>
              <a:ext uri="{FF2B5EF4-FFF2-40B4-BE49-F238E27FC236}">
                <a16:creationId xmlns:a16="http://schemas.microsoft.com/office/drawing/2014/main" id="{7F6B6874-C63C-6906-363B-B2E1961B523B}"/>
              </a:ext>
            </a:extLst>
          </p:cNvPr>
          <p:cNvSpPr/>
          <p:nvPr/>
        </p:nvSpPr>
        <p:spPr>
          <a:xfrm>
            <a:off x="1376668" y="1151937"/>
            <a:ext cx="1046586" cy="359906"/>
          </a:xfrm>
          <a:prstGeom prst="rect">
            <a:avLst/>
          </a:prstGeom>
          <a:no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1. Billing Model</a:t>
            </a:r>
          </a:p>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Mgmt.</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75" name="矩形 174">
            <a:extLst>
              <a:ext uri="{FF2B5EF4-FFF2-40B4-BE49-F238E27FC236}">
                <a16:creationId xmlns:a16="http://schemas.microsoft.com/office/drawing/2014/main" id="{BF8E1BC9-3942-F4B1-FBA6-8B321744F0B7}"/>
              </a:ext>
            </a:extLst>
          </p:cNvPr>
          <p:cNvSpPr/>
          <p:nvPr/>
        </p:nvSpPr>
        <p:spPr>
          <a:xfrm>
            <a:off x="3028411" y="1151937"/>
            <a:ext cx="1046586" cy="359906"/>
          </a:xfrm>
          <a:prstGeom prst="rect">
            <a:avLst/>
          </a:prstGeom>
          <a:no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2. Contract</a:t>
            </a:r>
          </a:p>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Mgmt.</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76" name="矩形 175">
            <a:extLst>
              <a:ext uri="{FF2B5EF4-FFF2-40B4-BE49-F238E27FC236}">
                <a16:creationId xmlns:a16="http://schemas.microsoft.com/office/drawing/2014/main" id="{1AF6E4C4-2933-8A06-014C-56D8DC9271F9}"/>
              </a:ext>
            </a:extLst>
          </p:cNvPr>
          <p:cNvSpPr/>
          <p:nvPr/>
        </p:nvSpPr>
        <p:spPr>
          <a:xfrm>
            <a:off x="4714549" y="1151937"/>
            <a:ext cx="1046586" cy="359906"/>
          </a:xfrm>
          <a:prstGeom prst="rect">
            <a:avLst/>
          </a:prstGeom>
          <a:no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3. Subscription</a:t>
            </a:r>
          </a:p>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Mgmt.</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77" name="矩形 176">
            <a:extLst>
              <a:ext uri="{FF2B5EF4-FFF2-40B4-BE49-F238E27FC236}">
                <a16:creationId xmlns:a16="http://schemas.microsoft.com/office/drawing/2014/main" id="{4EABD028-AFDB-14FE-C9F6-15B12D8EC342}"/>
              </a:ext>
            </a:extLst>
          </p:cNvPr>
          <p:cNvSpPr/>
          <p:nvPr/>
        </p:nvSpPr>
        <p:spPr>
          <a:xfrm>
            <a:off x="6362939" y="1151937"/>
            <a:ext cx="1046586" cy="359906"/>
          </a:xfrm>
          <a:prstGeom prst="rect">
            <a:avLst/>
          </a:prstGeom>
          <a:no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4. Usage &amp; Billing</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78" name="矩形 177">
            <a:extLst>
              <a:ext uri="{FF2B5EF4-FFF2-40B4-BE49-F238E27FC236}">
                <a16:creationId xmlns:a16="http://schemas.microsoft.com/office/drawing/2014/main" id="{2AFC3157-9BC4-302D-092C-B2290D6C9841}"/>
              </a:ext>
            </a:extLst>
          </p:cNvPr>
          <p:cNvSpPr/>
          <p:nvPr/>
        </p:nvSpPr>
        <p:spPr>
          <a:xfrm>
            <a:off x="8043257" y="1151937"/>
            <a:ext cx="1046586" cy="359906"/>
          </a:xfrm>
          <a:prstGeom prst="rect">
            <a:avLst/>
          </a:prstGeom>
          <a:no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5. Invoicing</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79" name="文本框 178">
            <a:extLst>
              <a:ext uri="{FF2B5EF4-FFF2-40B4-BE49-F238E27FC236}">
                <a16:creationId xmlns:a16="http://schemas.microsoft.com/office/drawing/2014/main" id="{F54123E0-B58E-B10D-CCC0-9B2CAF2E56F4}"/>
              </a:ext>
            </a:extLst>
          </p:cNvPr>
          <p:cNvSpPr txBox="1"/>
          <p:nvPr/>
        </p:nvSpPr>
        <p:spPr>
          <a:xfrm>
            <a:off x="1770309" y="1930087"/>
            <a:ext cx="839755" cy="107694"/>
          </a:xfrm>
          <a:prstGeom prst="rect">
            <a:avLst/>
          </a:prstGeom>
          <a:noFill/>
        </p:spPr>
        <p:txBody>
          <a:bodyPr wrap="none" lIns="0" tIns="0" rIns="0" bIns="0" rtlCol="0">
            <a:spAutoFit/>
          </a:bodyPr>
          <a:lstStyle/>
          <a:p>
            <a:pPr defTabSz="914126">
              <a:defRPr/>
            </a:pPr>
            <a:r>
              <a:rPr lang="en-US" altLang="zh-CN" sz="700">
                <a:solidFill>
                  <a:srgbClr val="FF0000"/>
                </a:solidFill>
                <a:latin typeface="Tenorite" panose="00000500000000000000" pitchFamily="2" charset="0"/>
                <a:cs typeface="Arial" pitchFamily="34" charset="0"/>
              </a:rPr>
              <a:t>* </a:t>
            </a:r>
            <a:r>
              <a:rPr lang="en-US" altLang="zh-CN" sz="700">
                <a:solidFill>
                  <a:srgbClr val="000000"/>
                </a:solidFill>
                <a:latin typeface="Tenorite" panose="00000500000000000000" pitchFamily="2" charset="0"/>
                <a:cs typeface="Arial" pitchFamily="34" charset="0"/>
              </a:rPr>
              <a:t>Refer to IaaS Model</a:t>
            </a:r>
            <a:endParaRPr lang="zh-CN" altLang="en-US" sz="700">
              <a:solidFill>
                <a:srgbClr val="000000"/>
              </a:solidFill>
              <a:latin typeface="Tenorite" panose="00000500000000000000" pitchFamily="2" charset="0"/>
              <a:cs typeface="Arial" pitchFamily="34" charset="0"/>
            </a:endParaRPr>
          </a:p>
        </p:txBody>
      </p:sp>
      <p:sp>
        <p:nvSpPr>
          <p:cNvPr id="180" name="等腰三角形 179">
            <a:extLst>
              <a:ext uri="{FF2B5EF4-FFF2-40B4-BE49-F238E27FC236}">
                <a16:creationId xmlns:a16="http://schemas.microsoft.com/office/drawing/2014/main" id="{5F3F25EC-629A-66CA-684A-3BF104C550B8}"/>
              </a:ext>
            </a:extLst>
          </p:cNvPr>
          <p:cNvSpPr/>
          <p:nvPr/>
        </p:nvSpPr>
        <p:spPr>
          <a:xfrm rot="5400000">
            <a:off x="2633953" y="1239497"/>
            <a:ext cx="214353" cy="184787"/>
          </a:xfrm>
          <a:prstGeom prst="triangle">
            <a:avLst>
              <a:gd name="adj" fmla="val 52962"/>
            </a:avLst>
          </a:prstGeom>
          <a:solidFill>
            <a:srgbClr val="3E8DDD"/>
          </a:solid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81" name="等腰三角形 180">
            <a:extLst>
              <a:ext uri="{FF2B5EF4-FFF2-40B4-BE49-F238E27FC236}">
                <a16:creationId xmlns:a16="http://schemas.microsoft.com/office/drawing/2014/main" id="{353210AA-5ABA-C49B-2993-A414905F676E}"/>
              </a:ext>
            </a:extLst>
          </p:cNvPr>
          <p:cNvSpPr/>
          <p:nvPr/>
        </p:nvSpPr>
        <p:spPr>
          <a:xfrm rot="5400000">
            <a:off x="4307558" y="1239497"/>
            <a:ext cx="214353" cy="184787"/>
          </a:xfrm>
          <a:prstGeom prst="triangle">
            <a:avLst>
              <a:gd name="adj" fmla="val 52962"/>
            </a:avLst>
          </a:prstGeom>
          <a:solidFill>
            <a:srgbClr val="3E8DDD"/>
          </a:solid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82" name="等腰三角形 181">
            <a:extLst>
              <a:ext uri="{FF2B5EF4-FFF2-40B4-BE49-F238E27FC236}">
                <a16:creationId xmlns:a16="http://schemas.microsoft.com/office/drawing/2014/main" id="{333F9C4F-7AA0-05C2-1031-9C9208AF83F6}"/>
              </a:ext>
            </a:extLst>
          </p:cNvPr>
          <p:cNvSpPr/>
          <p:nvPr/>
        </p:nvSpPr>
        <p:spPr>
          <a:xfrm rot="5400000">
            <a:off x="5963487" y="1239497"/>
            <a:ext cx="214353" cy="184787"/>
          </a:xfrm>
          <a:prstGeom prst="triangle">
            <a:avLst>
              <a:gd name="adj" fmla="val 52962"/>
            </a:avLst>
          </a:prstGeom>
          <a:solidFill>
            <a:srgbClr val="3E8DDD"/>
          </a:solid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83" name="等腰三角形 182">
            <a:extLst>
              <a:ext uri="{FF2B5EF4-FFF2-40B4-BE49-F238E27FC236}">
                <a16:creationId xmlns:a16="http://schemas.microsoft.com/office/drawing/2014/main" id="{3568DBC2-0D1D-AE20-31FA-AD66B3C5F5E9}"/>
              </a:ext>
            </a:extLst>
          </p:cNvPr>
          <p:cNvSpPr/>
          <p:nvPr/>
        </p:nvSpPr>
        <p:spPr>
          <a:xfrm rot="5400000">
            <a:off x="7622382" y="1239497"/>
            <a:ext cx="214353" cy="184787"/>
          </a:xfrm>
          <a:prstGeom prst="triangle">
            <a:avLst>
              <a:gd name="adj" fmla="val 52962"/>
            </a:avLst>
          </a:prstGeom>
          <a:solidFill>
            <a:srgbClr val="3E8DDD"/>
          </a:solid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84" name="矩形: 圆角 183">
            <a:extLst>
              <a:ext uri="{FF2B5EF4-FFF2-40B4-BE49-F238E27FC236}">
                <a16:creationId xmlns:a16="http://schemas.microsoft.com/office/drawing/2014/main" id="{414FE623-1005-5CA3-A585-A92BE26F66B8}"/>
              </a:ext>
            </a:extLst>
          </p:cNvPr>
          <p:cNvSpPr/>
          <p:nvPr/>
        </p:nvSpPr>
        <p:spPr>
          <a:xfrm>
            <a:off x="7870132" y="2867525"/>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Invoice &amp; Statement Approval</a:t>
            </a:r>
          </a:p>
        </p:txBody>
      </p:sp>
      <p:sp>
        <p:nvSpPr>
          <p:cNvPr id="185" name="矩形: 圆角 184">
            <a:extLst>
              <a:ext uri="{FF2B5EF4-FFF2-40B4-BE49-F238E27FC236}">
                <a16:creationId xmlns:a16="http://schemas.microsoft.com/office/drawing/2014/main" id="{62CA82D9-33E7-C6CA-F8D2-FEC49C29D6BA}"/>
              </a:ext>
            </a:extLst>
          </p:cNvPr>
          <p:cNvSpPr/>
          <p:nvPr/>
        </p:nvSpPr>
        <p:spPr>
          <a:xfrm>
            <a:off x="7870132" y="2086051"/>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Taxation.</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86" name="矩形: 圆角 185">
            <a:extLst>
              <a:ext uri="{FF2B5EF4-FFF2-40B4-BE49-F238E27FC236}">
                <a16:creationId xmlns:a16="http://schemas.microsoft.com/office/drawing/2014/main" id="{B31FCC41-0B65-FAAB-6DB1-E9A0097EEC3F}"/>
              </a:ext>
            </a:extLst>
          </p:cNvPr>
          <p:cNvSpPr/>
          <p:nvPr/>
        </p:nvSpPr>
        <p:spPr>
          <a:xfrm>
            <a:off x="4652447" y="4039733"/>
            <a:ext cx="1170790"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End of Term Extension</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87" name="矩形: 圆角 33">
            <a:extLst>
              <a:ext uri="{FF2B5EF4-FFF2-40B4-BE49-F238E27FC236}">
                <a16:creationId xmlns:a16="http://schemas.microsoft.com/office/drawing/2014/main" id="{9CD387FD-4296-697F-C2B8-7B438BE8F2F0}"/>
              </a:ext>
            </a:extLst>
          </p:cNvPr>
          <p:cNvSpPr/>
          <p:nvPr/>
        </p:nvSpPr>
        <p:spPr>
          <a:xfrm>
            <a:off x="2855286" y="2086051"/>
            <a:ext cx="1392837" cy="291524"/>
          </a:xfrm>
          <a:prstGeom prst="roundRect">
            <a:avLst>
              <a:gd name="adj" fmla="val 16056"/>
            </a:avLst>
          </a:prstGeom>
          <a:solidFill>
            <a:srgbClr val="D9D9D9"/>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Revenue Sharing Model</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88" name="矩形: 圆角 45">
            <a:extLst>
              <a:ext uri="{FF2B5EF4-FFF2-40B4-BE49-F238E27FC236}">
                <a16:creationId xmlns:a16="http://schemas.microsoft.com/office/drawing/2014/main" id="{DEDD54E6-8AD2-D7A9-B5DC-C7B20B708457}"/>
              </a:ext>
            </a:extLst>
          </p:cNvPr>
          <p:cNvSpPr/>
          <p:nvPr/>
        </p:nvSpPr>
        <p:spPr>
          <a:xfrm>
            <a:off x="7870132" y="3648999"/>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Invoice Adjustment</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89" name="矩形: 圆角 24">
            <a:extLst>
              <a:ext uri="{FF2B5EF4-FFF2-40B4-BE49-F238E27FC236}">
                <a16:creationId xmlns:a16="http://schemas.microsoft.com/office/drawing/2014/main" id="{925ECAD9-4971-201B-608A-7D0DA5962911}"/>
              </a:ext>
            </a:extLst>
          </p:cNvPr>
          <p:cNvSpPr/>
          <p:nvPr/>
        </p:nvSpPr>
        <p:spPr>
          <a:xfrm>
            <a:off x="1203543" y="2086051"/>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Usage Pricing Metrics</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90" name="矩形: 圆角 24">
            <a:extLst>
              <a:ext uri="{FF2B5EF4-FFF2-40B4-BE49-F238E27FC236}">
                <a16:creationId xmlns:a16="http://schemas.microsoft.com/office/drawing/2014/main" id="{98F5DFDA-FDB5-AC43-3425-53D389FC5728}"/>
              </a:ext>
            </a:extLst>
          </p:cNvPr>
          <p:cNvSpPr/>
          <p:nvPr/>
        </p:nvSpPr>
        <p:spPr>
          <a:xfrm>
            <a:off x="1203543" y="2476788"/>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Generalized Price Calculation Model</a:t>
            </a:r>
            <a:endParaRPr kumimoji="0" lang="zh-CN" altLang="en-US" sz="800" b="1" i="0" u="none" strike="noStrike" kern="0" cap="none" spc="0" normalizeH="0" baseline="0" noProof="0">
              <a:ln>
                <a:noFill/>
              </a:ln>
              <a:solidFill>
                <a:srgbClr val="3E8DDD">
                  <a:lumMod val="50000"/>
                </a:srgbClr>
              </a:solidFill>
              <a:effectLst/>
              <a:highlight>
                <a:srgbClr val="FFFF00"/>
              </a:highlight>
              <a:uLnTx/>
              <a:uFillTx/>
              <a:latin typeface="Tenorite" panose="00000500000000000000" pitchFamily="2" charset="0"/>
            </a:endParaRPr>
          </a:p>
        </p:txBody>
      </p:sp>
      <p:sp>
        <p:nvSpPr>
          <p:cNvPr id="191" name="矩形: 圆角 190">
            <a:extLst>
              <a:ext uri="{FF2B5EF4-FFF2-40B4-BE49-F238E27FC236}">
                <a16:creationId xmlns:a16="http://schemas.microsoft.com/office/drawing/2014/main" id="{7C1B1FCA-DE29-29F8-7F28-ABB46282AE23}"/>
              </a:ext>
            </a:extLst>
          </p:cNvPr>
          <p:cNvSpPr/>
          <p:nvPr/>
        </p:nvSpPr>
        <p:spPr>
          <a:xfrm>
            <a:off x="7870132" y="4039733"/>
            <a:ext cx="1392837" cy="291524"/>
          </a:xfrm>
          <a:prstGeom prst="roundRect">
            <a:avLst>
              <a:gd name="adj" fmla="val 16056"/>
            </a:avLst>
          </a:prstGeom>
          <a:solidFill>
            <a:srgbClr val="D9D9D9"/>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Revenue Sharing</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92" name="矩形: 圆角 5">
            <a:extLst>
              <a:ext uri="{FF2B5EF4-FFF2-40B4-BE49-F238E27FC236}">
                <a16:creationId xmlns:a16="http://schemas.microsoft.com/office/drawing/2014/main" id="{02B2F2F4-10AE-EA58-B1B2-E70834E9C6FC}"/>
              </a:ext>
            </a:extLst>
          </p:cNvPr>
          <p:cNvSpPr/>
          <p:nvPr/>
        </p:nvSpPr>
        <p:spPr>
          <a:xfrm>
            <a:off x="1099539" y="5077336"/>
            <a:ext cx="10338990" cy="657433"/>
          </a:xfrm>
          <a:prstGeom prst="roundRect">
            <a:avLst>
              <a:gd name="adj" fmla="val 8123"/>
            </a:avLst>
          </a:prstGeom>
          <a:solidFill>
            <a:srgbClr val="3E8DDD">
              <a:lumMod val="60000"/>
              <a:lumOff val="4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endParaRPr kumimoji="0" lang="zh-CN" altLang="en-US" sz="600" b="0" i="0" u="none" strike="noStrike" kern="0" cap="none" spc="0" normalizeH="0" baseline="0" noProof="0">
              <a:ln>
                <a:noFill/>
              </a:ln>
              <a:solidFill>
                <a:srgbClr val="000000"/>
              </a:solidFill>
              <a:effectLst/>
              <a:uLnTx/>
              <a:uFillTx/>
              <a:latin typeface="Tenorite" panose="00000500000000000000" pitchFamily="2" charset="0"/>
            </a:endParaRPr>
          </a:p>
        </p:txBody>
      </p:sp>
      <p:sp>
        <p:nvSpPr>
          <p:cNvPr id="193" name="Rectangle 20">
            <a:extLst>
              <a:ext uri="{FF2B5EF4-FFF2-40B4-BE49-F238E27FC236}">
                <a16:creationId xmlns:a16="http://schemas.microsoft.com/office/drawing/2014/main" id="{E90EAB0E-AFB5-D3B0-8BE2-B28AD0FAB400}"/>
              </a:ext>
            </a:extLst>
          </p:cNvPr>
          <p:cNvSpPr/>
          <p:nvPr/>
        </p:nvSpPr>
        <p:spPr>
          <a:xfrm>
            <a:off x="128454" y="5123551"/>
            <a:ext cx="1015735" cy="565003"/>
          </a:xfrm>
          <a:prstGeom prst="rect">
            <a:avLst/>
          </a:prstGeom>
          <a:solidFill>
            <a:srgbClr val="206AB4"/>
          </a:solidFill>
          <a:ln w="6350">
            <a:solidFill>
              <a:srgbClr val="000000"/>
            </a:solid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7. Common Functions</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94" name="矩形: 圆角 31">
            <a:extLst>
              <a:ext uri="{FF2B5EF4-FFF2-40B4-BE49-F238E27FC236}">
                <a16:creationId xmlns:a16="http://schemas.microsoft.com/office/drawing/2014/main" id="{1E10658B-BFDB-F020-33E3-56B3DE260B6A}"/>
              </a:ext>
            </a:extLst>
          </p:cNvPr>
          <p:cNvSpPr/>
          <p:nvPr/>
        </p:nvSpPr>
        <p:spPr>
          <a:xfrm>
            <a:off x="1192684" y="5259667"/>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Product Master Data </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195" name="矩形: 圆角 30">
            <a:extLst>
              <a:ext uri="{FF2B5EF4-FFF2-40B4-BE49-F238E27FC236}">
                <a16:creationId xmlns:a16="http://schemas.microsoft.com/office/drawing/2014/main" id="{69FF3311-1898-0E8F-EF1D-E2663D2E30BA}"/>
              </a:ext>
            </a:extLst>
          </p:cNvPr>
          <p:cNvSpPr/>
          <p:nvPr/>
        </p:nvSpPr>
        <p:spPr>
          <a:xfrm>
            <a:off x="2855286" y="5259667"/>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Customer Master Data</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96" name="矩形: 圆角 30">
            <a:extLst>
              <a:ext uri="{FF2B5EF4-FFF2-40B4-BE49-F238E27FC236}">
                <a16:creationId xmlns:a16="http://schemas.microsoft.com/office/drawing/2014/main" id="{D6AD9EF7-C08B-E6C1-A8FE-1F5E3DDB071F}"/>
              </a:ext>
            </a:extLst>
          </p:cNvPr>
          <p:cNvSpPr/>
          <p:nvPr/>
        </p:nvSpPr>
        <p:spPr>
          <a:xfrm>
            <a:off x="4541424" y="5259667"/>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Exchange Rate Mgmt. </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197" name="矩形: 圆角 5">
            <a:extLst>
              <a:ext uri="{FF2B5EF4-FFF2-40B4-BE49-F238E27FC236}">
                <a16:creationId xmlns:a16="http://schemas.microsoft.com/office/drawing/2014/main" id="{03EF3380-5C2B-51DB-5618-30A9C971752B}"/>
              </a:ext>
            </a:extLst>
          </p:cNvPr>
          <p:cNvSpPr/>
          <p:nvPr/>
        </p:nvSpPr>
        <p:spPr>
          <a:xfrm>
            <a:off x="1099539" y="6026689"/>
            <a:ext cx="10338990" cy="657433"/>
          </a:xfrm>
          <a:prstGeom prst="roundRect">
            <a:avLst>
              <a:gd name="adj" fmla="val 8123"/>
            </a:avLst>
          </a:prstGeom>
          <a:solidFill>
            <a:srgbClr val="3E8DDD">
              <a:lumMod val="60000"/>
              <a:lumOff val="4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endParaRPr kumimoji="0" lang="zh-CN" altLang="en-US" sz="600" b="0" i="0" u="none" strike="noStrike" kern="0" cap="none" spc="0" normalizeH="0" baseline="0" noProof="0">
              <a:ln>
                <a:noFill/>
              </a:ln>
              <a:solidFill>
                <a:srgbClr val="000000"/>
              </a:solidFill>
              <a:effectLst/>
              <a:uLnTx/>
              <a:uFillTx/>
              <a:latin typeface="Tenorite" panose="00000500000000000000" pitchFamily="2" charset="0"/>
            </a:endParaRPr>
          </a:p>
        </p:txBody>
      </p:sp>
      <p:sp>
        <p:nvSpPr>
          <p:cNvPr id="198" name="Rectangle 11">
            <a:extLst>
              <a:ext uri="{FF2B5EF4-FFF2-40B4-BE49-F238E27FC236}">
                <a16:creationId xmlns:a16="http://schemas.microsoft.com/office/drawing/2014/main" id="{1F923B03-2FF1-510C-07C7-68ECF7EF6440}"/>
              </a:ext>
            </a:extLst>
          </p:cNvPr>
          <p:cNvSpPr/>
          <p:nvPr/>
        </p:nvSpPr>
        <p:spPr>
          <a:xfrm>
            <a:off x="128454" y="6072904"/>
            <a:ext cx="1015735" cy="565003"/>
          </a:xfrm>
          <a:prstGeom prst="rect">
            <a:avLst/>
          </a:prstGeom>
          <a:solidFill>
            <a:srgbClr val="206AB4"/>
          </a:solidFill>
          <a:ln w="6350">
            <a:solidFill>
              <a:srgbClr val="000000"/>
            </a:solid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8. Reports</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199" name="矩形: 圆角 31">
            <a:extLst>
              <a:ext uri="{FF2B5EF4-FFF2-40B4-BE49-F238E27FC236}">
                <a16:creationId xmlns:a16="http://schemas.microsoft.com/office/drawing/2014/main" id="{EF22BF04-C339-F18E-B093-0A071D899630}"/>
              </a:ext>
            </a:extLst>
          </p:cNvPr>
          <p:cNvSpPr/>
          <p:nvPr/>
        </p:nvSpPr>
        <p:spPr>
          <a:xfrm>
            <a:off x="1192684" y="6209020"/>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Business Operation reporting</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200" name="矩形: 圆角 30">
            <a:extLst>
              <a:ext uri="{FF2B5EF4-FFF2-40B4-BE49-F238E27FC236}">
                <a16:creationId xmlns:a16="http://schemas.microsoft.com/office/drawing/2014/main" id="{7640FE88-6346-B2C7-A334-4E2246BCBA98}"/>
              </a:ext>
            </a:extLst>
          </p:cNvPr>
          <p:cNvSpPr/>
          <p:nvPr/>
        </p:nvSpPr>
        <p:spPr>
          <a:xfrm>
            <a:off x="2855286" y="6209020"/>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Tax Reports</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1" name="矩形 200">
            <a:extLst>
              <a:ext uri="{FF2B5EF4-FFF2-40B4-BE49-F238E27FC236}">
                <a16:creationId xmlns:a16="http://schemas.microsoft.com/office/drawing/2014/main" id="{BCF95029-8E95-B3E0-E1EE-497F9D23BC5B}"/>
              </a:ext>
            </a:extLst>
          </p:cNvPr>
          <p:cNvSpPr/>
          <p:nvPr/>
        </p:nvSpPr>
        <p:spPr>
          <a:xfrm>
            <a:off x="9777501" y="1151937"/>
            <a:ext cx="1046586" cy="359906"/>
          </a:xfrm>
          <a:prstGeom prst="rect">
            <a:avLst/>
          </a:prstGeom>
          <a:no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rPr>
              <a:t>6. F &amp; A </a:t>
            </a:r>
            <a:endParaRPr kumimoji="0" lang="zh-CN" altLang="en-US" sz="1200" b="1" i="0" u="none" strike="noStrike" kern="0" cap="none" spc="0" normalizeH="0" baseline="0" noProof="0">
              <a:ln>
                <a:noFill/>
              </a:ln>
              <a:solidFill>
                <a:prstClr val="white"/>
              </a:solidFill>
              <a:effectLst/>
              <a:uLnTx/>
              <a:uFillTx/>
              <a:latin typeface="Tenorite" panose="00000500000000000000" pitchFamily="2" charset="0"/>
              <a:ea typeface="黑体" panose="02010609060101010101" pitchFamily="49" charset="-122"/>
              <a:cs typeface="+mn-cs"/>
            </a:endParaRPr>
          </a:p>
        </p:txBody>
      </p:sp>
      <p:sp>
        <p:nvSpPr>
          <p:cNvPr id="202" name="等腰三角形 201">
            <a:extLst>
              <a:ext uri="{FF2B5EF4-FFF2-40B4-BE49-F238E27FC236}">
                <a16:creationId xmlns:a16="http://schemas.microsoft.com/office/drawing/2014/main" id="{29D38595-3D27-E03D-37B6-374209C04A48}"/>
              </a:ext>
            </a:extLst>
          </p:cNvPr>
          <p:cNvSpPr/>
          <p:nvPr/>
        </p:nvSpPr>
        <p:spPr>
          <a:xfrm rot="5400000">
            <a:off x="9352189" y="1239497"/>
            <a:ext cx="214353" cy="184787"/>
          </a:xfrm>
          <a:prstGeom prst="triangle">
            <a:avLst>
              <a:gd name="adj" fmla="val 52962"/>
            </a:avLst>
          </a:prstGeom>
          <a:solidFill>
            <a:srgbClr val="3E8DDD"/>
          </a:solidFill>
          <a:ln w="6350">
            <a:noFill/>
          </a:ln>
          <a:effectLst/>
        </p:spPr>
        <p:txBody>
          <a:bodyPr lIns="0" tIns="0" rIns="0" bIns="0" rtlCol="0" anchor="ct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03" name="矩形: 圆角 202">
            <a:extLst>
              <a:ext uri="{FF2B5EF4-FFF2-40B4-BE49-F238E27FC236}">
                <a16:creationId xmlns:a16="http://schemas.microsoft.com/office/drawing/2014/main" id="{6689C186-7F6D-CAF6-4BAE-F700D1C77815}"/>
              </a:ext>
            </a:extLst>
          </p:cNvPr>
          <p:cNvSpPr/>
          <p:nvPr/>
        </p:nvSpPr>
        <p:spPr>
          <a:xfrm>
            <a:off x="4652447" y="4430467"/>
            <a:ext cx="1170790" cy="291524"/>
          </a:xfrm>
          <a:prstGeom prst="roundRect">
            <a:avLst>
              <a:gd name="adj" fmla="val 16056"/>
            </a:avLst>
          </a:prstGeom>
          <a:solidFill>
            <a:sysClr val="window" lastClr="FFFFFF">
              <a:lumMod val="95000"/>
            </a:sys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Mid Term Rewrite</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4" name="矩形: 圆角 203">
            <a:extLst>
              <a:ext uri="{FF2B5EF4-FFF2-40B4-BE49-F238E27FC236}">
                <a16:creationId xmlns:a16="http://schemas.microsoft.com/office/drawing/2014/main" id="{94572EDA-FF05-5D16-9E5D-81EC172D5CBF}"/>
              </a:ext>
            </a:extLst>
          </p:cNvPr>
          <p:cNvSpPr/>
          <p:nvPr/>
        </p:nvSpPr>
        <p:spPr>
          <a:xfrm>
            <a:off x="6189814" y="2086051"/>
            <a:ext cx="1392837" cy="291524"/>
          </a:xfrm>
          <a:prstGeom prst="roundRect">
            <a:avLst>
              <a:gd name="adj" fmla="val 14877"/>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Consumption billing engine</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5" name="矩形: 圆角 204">
            <a:extLst>
              <a:ext uri="{FF2B5EF4-FFF2-40B4-BE49-F238E27FC236}">
                <a16:creationId xmlns:a16="http://schemas.microsoft.com/office/drawing/2014/main" id="{1F76B934-06D0-D7B6-7037-12361F6D72E3}"/>
              </a:ext>
            </a:extLst>
          </p:cNvPr>
          <p:cNvSpPr/>
          <p:nvPr/>
        </p:nvSpPr>
        <p:spPr>
          <a:xfrm>
            <a:off x="6189814" y="2476788"/>
            <a:ext cx="1392837" cy="291524"/>
          </a:xfrm>
          <a:prstGeom prst="roundRect">
            <a:avLst>
              <a:gd name="adj" fmla="val 14554"/>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Recurring billing engine</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6" name="矩形: 圆角 205">
            <a:extLst>
              <a:ext uri="{FF2B5EF4-FFF2-40B4-BE49-F238E27FC236}">
                <a16:creationId xmlns:a16="http://schemas.microsoft.com/office/drawing/2014/main" id="{CE3AEB9D-C29C-8191-C05F-45E8847B91D5}"/>
              </a:ext>
            </a:extLst>
          </p:cNvPr>
          <p:cNvSpPr/>
          <p:nvPr/>
        </p:nvSpPr>
        <p:spPr>
          <a:xfrm>
            <a:off x="6189814" y="3258262"/>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One-Off Billing</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7" name="矩形: 圆角 48">
            <a:extLst>
              <a:ext uri="{FF2B5EF4-FFF2-40B4-BE49-F238E27FC236}">
                <a16:creationId xmlns:a16="http://schemas.microsoft.com/office/drawing/2014/main" id="{B276CD01-1B41-4A47-3BF6-1020CCCA4C7A}"/>
              </a:ext>
            </a:extLst>
          </p:cNvPr>
          <p:cNvSpPr/>
          <p:nvPr/>
        </p:nvSpPr>
        <p:spPr>
          <a:xfrm>
            <a:off x="6189814" y="2867525"/>
            <a:ext cx="1392837" cy="291524"/>
          </a:xfrm>
          <a:prstGeom prst="roundRect">
            <a:avLst>
              <a:gd name="adj" fmla="val 14554"/>
            </a:avLst>
          </a:prstGeom>
          <a:solidFill>
            <a:schemeClr val="bg1">
              <a:lumMod val="95000"/>
            </a:scheme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Structure Payment billing engine</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8" name="矩形: 圆角 30">
            <a:extLst>
              <a:ext uri="{FF2B5EF4-FFF2-40B4-BE49-F238E27FC236}">
                <a16:creationId xmlns:a16="http://schemas.microsoft.com/office/drawing/2014/main" id="{A235A7AD-F0E9-3F75-FC86-A0075ABB8FBE}"/>
              </a:ext>
            </a:extLst>
          </p:cNvPr>
          <p:cNvSpPr/>
          <p:nvPr/>
        </p:nvSpPr>
        <p:spPr>
          <a:xfrm>
            <a:off x="6189814" y="5259667"/>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Vendor/funder</a:t>
            </a:r>
          </a:p>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Master Data</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09" name="矩形: 圆角 30">
            <a:extLst>
              <a:ext uri="{FF2B5EF4-FFF2-40B4-BE49-F238E27FC236}">
                <a16:creationId xmlns:a16="http://schemas.microsoft.com/office/drawing/2014/main" id="{1E9880B1-6824-53EA-50ED-4B7085D0E87D}"/>
              </a:ext>
            </a:extLst>
          </p:cNvPr>
          <p:cNvSpPr/>
          <p:nvPr/>
        </p:nvSpPr>
        <p:spPr>
          <a:xfrm>
            <a:off x="7870132" y="5259667"/>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Common Config</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10" name="矩形: 圆角 209">
            <a:extLst>
              <a:ext uri="{FF2B5EF4-FFF2-40B4-BE49-F238E27FC236}">
                <a16:creationId xmlns:a16="http://schemas.microsoft.com/office/drawing/2014/main" id="{A1D30525-4478-11E0-34CF-221A7DB8BB33}"/>
              </a:ext>
            </a:extLst>
          </p:cNvPr>
          <p:cNvSpPr/>
          <p:nvPr/>
        </p:nvSpPr>
        <p:spPr>
          <a:xfrm>
            <a:off x="9574985" y="1696022"/>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Reconciliation</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11" name="矩形: 圆角 31">
            <a:extLst>
              <a:ext uri="{FF2B5EF4-FFF2-40B4-BE49-F238E27FC236}">
                <a16:creationId xmlns:a16="http://schemas.microsoft.com/office/drawing/2014/main" id="{381BF63B-ABFE-2435-BDA0-201A2EE9234A}"/>
              </a:ext>
            </a:extLst>
          </p:cNvPr>
          <p:cNvSpPr/>
          <p:nvPr/>
        </p:nvSpPr>
        <p:spPr>
          <a:xfrm>
            <a:off x="4541424" y="6209020"/>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Invoice Reports</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212" name="矩形: 圆角 211">
            <a:extLst>
              <a:ext uri="{FF2B5EF4-FFF2-40B4-BE49-F238E27FC236}">
                <a16:creationId xmlns:a16="http://schemas.microsoft.com/office/drawing/2014/main" id="{8CDA5C0D-CAB8-8330-BEE0-3527F2ED9F22}"/>
              </a:ext>
            </a:extLst>
          </p:cNvPr>
          <p:cNvSpPr/>
          <p:nvPr/>
        </p:nvSpPr>
        <p:spPr>
          <a:xfrm>
            <a:off x="9574985" y="2086051"/>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Accounting Entry</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13" name="矩形: 圆角 212">
            <a:extLst>
              <a:ext uri="{FF2B5EF4-FFF2-40B4-BE49-F238E27FC236}">
                <a16:creationId xmlns:a16="http://schemas.microsoft.com/office/drawing/2014/main" id="{F2605237-5BA2-1E12-4624-001D2CE7A2AC}"/>
              </a:ext>
            </a:extLst>
          </p:cNvPr>
          <p:cNvSpPr/>
          <p:nvPr/>
        </p:nvSpPr>
        <p:spPr>
          <a:xfrm>
            <a:off x="9574985" y="2476788"/>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GL Posting</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14" name="矩形: 圆角 213">
            <a:extLst>
              <a:ext uri="{FF2B5EF4-FFF2-40B4-BE49-F238E27FC236}">
                <a16:creationId xmlns:a16="http://schemas.microsoft.com/office/drawing/2014/main" id="{65C38F0E-B419-9D27-5FA6-CB8259990949}"/>
              </a:ext>
            </a:extLst>
          </p:cNvPr>
          <p:cNvSpPr/>
          <p:nvPr/>
        </p:nvSpPr>
        <p:spPr>
          <a:xfrm>
            <a:off x="9574985" y="2867525"/>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Deferral</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15" name="矩形: 圆角 214">
            <a:extLst>
              <a:ext uri="{FF2B5EF4-FFF2-40B4-BE49-F238E27FC236}">
                <a16:creationId xmlns:a16="http://schemas.microsoft.com/office/drawing/2014/main" id="{C0ED2646-75FC-2423-614E-91B46C6D5875}"/>
              </a:ext>
            </a:extLst>
          </p:cNvPr>
          <p:cNvSpPr/>
          <p:nvPr/>
        </p:nvSpPr>
        <p:spPr>
          <a:xfrm>
            <a:off x="9574985" y="3258262"/>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Revenue Split</a:t>
            </a:r>
            <a:endParaRPr kumimoji="0" lang="zh-CN" altLang="en-US" sz="800" b="1" i="0" u="none" strike="noStrike" kern="0" cap="none" spc="0" normalizeH="0" baseline="0" noProof="0">
              <a:ln>
                <a:noFill/>
              </a:ln>
              <a:solidFill>
                <a:srgbClr val="3E8DDD">
                  <a:lumMod val="50000"/>
                </a:srgbClr>
              </a:solidFill>
              <a:effectLst/>
              <a:highlight>
                <a:srgbClr val="FFFF00"/>
              </a:highlight>
              <a:uLnTx/>
              <a:uFillTx/>
              <a:latin typeface="Tenorite" panose="00000500000000000000" pitchFamily="2" charset="0"/>
              <a:cs typeface="Arial" panose="020B0604020202020204" pitchFamily="34" charset="0"/>
            </a:endParaRPr>
          </a:p>
        </p:txBody>
      </p:sp>
      <p:sp>
        <p:nvSpPr>
          <p:cNvPr id="216" name="矩形: 圆角 215">
            <a:extLst>
              <a:ext uri="{FF2B5EF4-FFF2-40B4-BE49-F238E27FC236}">
                <a16:creationId xmlns:a16="http://schemas.microsoft.com/office/drawing/2014/main" id="{3F8C407B-EA6D-FA79-124C-D19B642D0D76}"/>
              </a:ext>
            </a:extLst>
          </p:cNvPr>
          <p:cNvSpPr/>
          <p:nvPr/>
        </p:nvSpPr>
        <p:spPr>
          <a:xfrm>
            <a:off x="4541424" y="2086051"/>
            <a:ext cx="1392837" cy="291524"/>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1218621" eaLnBrk="1" fontAlgn="auto" latinLnBrk="0" hangingPunct="1">
              <a:lnSpc>
                <a:spcPct val="100000"/>
              </a:lnSpc>
              <a:spcBef>
                <a:spcPts val="0"/>
              </a:spcBef>
              <a:spcAft>
                <a:spcPts val="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rPr>
              <a:t>Subscription Contract Change Mgmt.</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cs typeface="Arial" panose="020B0604020202020204" pitchFamily="34" charset="0"/>
            </a:endParaRPr>
          </a:p>
        </p:txBody>
      </p:sp>
      <p:sp>
        <p:nvSpPr>
          <p:cNvPr id="217" name="矩形: 圆角 31">
            <a:extLst>
              <a:ext uri="{FF2B5EF4-FFF2-40B4-BE49-F238E27FC236}">
                <a16:creationId xmlns:a16="http://schemas.microsoft.com/office/drawing/2014/main" id="{C2313901-CBEA-B25E-8685-B6DC795FD1D1}"/>
              </a:ext>
            </a:extLst>
          </p:cNvPr>
          <p:cNvSpPr/>
          <p:nvPr/>
        </p:nvSpPr>
        <p:spPr>
          <a:xfrm>
            <a:off x="6189043" y="6209020"/>
            <a:ext cx="1393608" cy="292771"/>
          </a:xfrm>
          <a:prstGeom prst="roundRect">
            <a:avLst>
              <a:gd name="adj" fmla="val 16056"/>
            </a:avLst>
          </a:prstGeom>
          <a:solidFill>
            <a:srgbClr val="6AC346">
              <a:lumMod val="20000"/>
              <a:lumOff val="80000"/>
            </a:srgbClr>
          </a:solidFill>
          <a:ln w="6350" cap="sq"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300"/>
              </a:spcBef>
              <a:spcAft>
                <a:spcPts val="300"/>
              </a:spcAft>
              <a:buClrTx/>
              <a:buSzTx/>
              <a:buFontTx/>
              <a:buNone/>
              <a:tabLst/>
              <a:defRPr/>
            </a:pPr>
            <a:r>
              <a:rPr kumimoji="0" lang="en-US" altLang="zh-CN" sz="800" b="1" i="0" u="none" strike="noStrike" kern="0" cap="none" spc="0" normalizeH="0" baseline="0" noProof="0">
                <a:ln>
                  <a:noFill/>
                </a:ln>
                <a:solidFill>
                  <a:srgbClr val="3E8DDD">
                    <a:lumMod val="50000"/>
                  </a:srgbClr>
                </a:solidFill>
                <a:effectLst/>
                <a:uLnTx/>
                <a:uFillTx/>
                <a:latin typeface="Tenorite" panose="00000500000000000000" pitchFamily="2" charset="0"/>
              </a:rPr>
              <a:t>Other Reports</a:t>
            </a:r>
            <a:endParaRPr kumimoji="0" lang="zh-CN" altLang="en-US" sz="800" b="1" i="0" u="none" strike="noStrike" kern="0" cap="none" spc="0" normalizeH="0" baseline="0" noProof="0">
              <a:ln>
                <a:noFill/>
              </a:ln>
              <a:solidFill>
                <a:srgbClr val="3E8DDD">
                  <a:lumMod val="50000"/>
                </a:srgbClr>
              </a:solidFill>
              <a:effectLst/>
              <a:uLnTx/>
              <a:uFillTx/>
              <a:latin typeface="Tenorite" panose="00000500000000000000" pitchFamily="2" charset="0"/>
            </a:endParaRPr>
          </a:p>
        </p:txBody>
      </p:sp>
      <p:sp>
        <p:nvSpPr>
          <p:cNvPr id="218" name="文本框 217">
            <a:extLst>
              <a:ext uri="{FF2B5EF4-FFF2-40B4-BE49-F238E27FC236}">
                <a16:creationId xmlns:a16="http://schemas.microsoft.com/office/drawing/2014/main" id="{EE602985-FE35-33D3-A976-358B687A0F1C}"/>
              </a:ext>
            </a:extLst>
          </p:cNvPr>
          <p:cNvSpPr txBox="1"/>
          <p:nvPr/>
        </p:nvSpPr>
        <p:spPr>
          <a:xfrm>
            <a:off x="6747211" y="2333487"/>
            <a:ext cx="979180" cy="92309"/>
          </a:xfrm>
          <a:prstGeom prst="rect">
            <a:avLst/>
          </a:prstGeom>
          <a:noFill/>
        </p:spPr>
        <p:txBody>
          <a:bodyPr wrap="none" lIns="0" tIns="0" rIns="0" bIns="0" rtlCol="0">
            <a:spAutoFit/>
          </a:bodyPr>
          <a:lstStyle/>
          <a:p>
            <a:pPr defTabSz="914126">
              <a:defRPr/>
            </a:pPr>
            <a:r>
              <a:rPr lang="en-US" altLang="zh-CN" sz="600">
                <a:solidFill>
                  <a:srgbClr val="FF0000"/>
                </a:solidFill>
                <a:latin typeface="Tenorite" panose="00000500000000000000" pitchFamily="2" charset="0"/>
                <a:cs typeface="Arial" pitchFamily="34" charset="0"/>
              </a:rPr>
              <a:t>*</a:t>
            </a:r>
            <a:r>
              <a:rPr lang="en-US" altLang="zh-CN" sz="600">
                <a:solidFill>
                  <a:srgbClr val="000000"/>
                </a:solidFill>
                <a:latin typeface="Tenorite" panose="00000500000000000000" pitchFamily="2" charset="0"/>
                <a:cs typeface="Arial" pitchFamily="34" charset="0"/>
              </a:rPr>
              <a:t> Refer to IaaS Consumption</a:t>
            </a:r>
            <a:endParaRPr lang="zh-CN" altLang="en-US" sz="600">
              <a:solidFill>
                <a:srgbClr val="000000"/>
              </a:solidFill>
              <a:latin typeface="Tenorite" panose="00000500000000000000" pitchFamily="2" charset="0"/>
              <a:cs typeface="Arial" pitchFamily="34" charset="0"/>
            </a:endParaRPr>
          </a:p>
        </p:txBody>
      </p:sp>
    </p:spTree>
    <p:extLst>
      <p:ext uri="{BB962C8B-B14F-4D97-AF65-F5344CB8AC3E}">
        <p14:creationId xmlns:p14="http://schemas.microsoft.com/office/powerpoint/2010/main" val="268175091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1620-96B5-E613-435C-DA03EBACEA75}"/>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C014360-D9EC-8930-9302-EB8C4C6F5436}"/>
              </a:ext>
            </a:extLst>
          </p:cNvPr>
          <p:cNvGraphicFramePr>
            <a:graphicFrameLocks/>
          </p:cNvGraphicFramePr>
          <p:nvPr>
            <p:custDataLst>
              <p:tags r:id="rId1"/>
            </p:custDataLst>
            <p:extLst>
              <p:ext uri="{D42A27DB-BD31-4B8C-83A1-F6EECF244321}">
                <p14:modId xmlns:p14="http://schemas.microsoft.com/office/powerpoint/2010/main" val="934803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6" imgH="456" progId="TCLayout.ActiveDocument.1">
                  <p:embed/>
                </p:oleObj>
              </mc:Choice>
              <mc:Fallback>
                <p:oleObj name="thinkcell Slide" r:id="rId3" imgW="456" imgH="456" progId="TCLayout.ActiveDocument.1">
                  <p:embed/>
                  <p:pic>
                    <p:nvPicPr>
                      <p:cNvPr id="7" name="thinkcell data - do not delete" hidden="1">
                        <a:extLst>
                          <a:ext uri="{FF2B5EF4-FFF2-40B4-BE49-F238E27FC236}">
                            <a16:creationId xmlns:a16="http://schemas.microsoft.com/office/drawing/2014/main" id="{8C014360-D9EC-8930-9302-EB8C4C6F54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标题 2">
            <a:extLst>
              <a:ext uri="{FF2B5EF4-FFF2-40B4-BE49-F238E27FC236}">
                <a16:creationId xmlns:a16="http://schemas.microsoft.com/office/drawing/2014/main" id="{D7CF27D8-C160-1665-2895-88406EBFC40A}"/>
              </a:ext>
            </a:extLst>
          </p:cNvPr>
          <p:cNvSpPr>
            <a:spLocks noGrp="1"/>
          </p:cNvSpPr>
          <p:nvPr>
            <p:ph type="title"/>
          </p:nvPr>
        </p:nvSpPr>
        <p:spPr>
          <a:xfrm>
            <a:off x="330200" y="177800"/>
            <a:ext cx="11303000" cy="381000"/>
          </a:xfrm>
        </p:spPr>
        <p:txBody>
          <a:bodyPr vert="horz" rIns="0"/>
          <a:lstStyle/>
          <a:p>
            <a:r>
              <a:rPr lang="en-US" altLang="zh-CN" sz="3400" kern="0" err="1">
                <a:solidFill>
                  <a:srgbClr val="000000"/>
                </a:solidFill>
                <a:latin typeface="Aptos Display" panose="020B0004020202020204" pitchFamily="34" charset="0"/>
                <a:cs typeface="Cascadia Code" panose="020B0609020000020004" pitchFamily="49" charset="0"/>
              </a:rPr>
              <a:t>NexBill</a:t>
            </a:r>
            <a:r>
              <a:rPr lang="en-US" altLang="zh-CN" sz="3400" kern="0">
                <a:solidFill>
                  <a:srgbClr val="000000"/>
                </a:solidFill>
                <a:latin typeface="Aptos Display" panose="020B0004020202020204" pitchFamily="34" charset="0"/>
                <a:cs typeface="Cascadia Code" panose="020B0609020000020004" pitchFamily="49" charset="0"/>
              </a:rPr>
              <a:t> Business Process</a:t>
            </a:r>
            <a:endParaRPr lang="zh-CN" altLang="en-US" sz="3400">
              <a:solidFill>
                <a:srgbClr val="000000"/>
              </a:solidFill>
              <a:latin typeface="Aptos Display" panose="020B0004020202020204" pitchFamily="34" charset="0"/>
            </a:endParaRPr>
          </a:p>
        </p:txBody>
      </p:sp>
      <p:sp>
        <p:nvSpPr>
          <p:cNvPr id="4" name="Rectangle 2">
            <a:extLst>
              <a:ext uri="{FF2B5EF4-FFF2-40B4-BE49-F238E27FC236}">
                <a16:creationId xmlns:a16="http://schemas.microsoft.com/office/drawing/2014/main" id="{5EA74172-A29C-7F35-7232-9E0554F89D44}"/>
              </a:ext>
            </a:extLst>
          </p:cNvPr>
          <p:cNvSpPr/>
          <p:nvPr/>
        </p:nvSpPr>
        <p:spPr>
          <a:xfrm>
            <a:off x="1707408" y="1484016"/>
            <a:ext cx="7771807" cy="4484833"/>
          </a:xfrm>
          <a:prstGeom prst="rect">
            <a:avLst/>
          </a:prstGeom>
          <a:solidFill>
            <a:srgbClr val="F8FBFC"/>
          </a:solidFill>
          <a:ln w="15875">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t"/>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1500" b="1"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Subscription &amp; Billing – NexBill  </a:t>
            </a:r>
            <a:endParaRPr kumimoji="0" lang="zh-CN" altLang="en-US" sz="1500" b="1" i="0" u="none" strike="noStrike" kern="1200" cap="none" spc="0" normalizeH="0" baseline="0" noProof="0">
              <a:ln>
                <a:noFill/>
              </a:ln>
              <a:solidFill>
                <a:srgbClr val="1B2434"/>
              </a:solidFill>
              <a:effectLst/>
              <a:uLnTx/>
              <a:uFillTx/>
              <a:latin typeface="Aptos" panose="020B0004020202020204" pitchFamily="34" charset="0"/>
              <a:ea typeface="黑体"/>
              <a:cs typeface="Lato" panose="020F0502020204030203" pitchFamily="34" charset="0"/>
            </a:endParaRPr>
          </a:p>
        </p:txBody>
      </p:sp>
      <p:sp>
        <p:nvSpPr>
          <p:cNvPr id="5" name="Rectangle 1">
            <a:extLst>
              <a:ext uri="{FF2B5EF4-FFF2-40B4-BE49-F238E27FC236}">
                <a16:creationId xmlns:a16="http://schemas.microsoft.com/office/drawing/2014/main" id="{7E7FBE32-2D6F-CABD-FE5F-0BA01FE1AD73}"/>
              </a:ext>
            </a:extLst>
          </p:cNvPr>
          <p:cNvSpPr/>
          <p:nvPr/>
        </p:nvSpPr>
        <p:spPr>
          <a:xfrm>
            <a:off x="423586" y="1484017"/>
            <a:ext cx="1273257" cy="4484832"/>
          </a:xfrm>
          <a:prstGeom prst="rect">
            <a:avLst/>
          </a:prstGeom>
          <a:solidFill>
            <a:srgbClr val="E7F2F6"/>
          </a:solidFill>
          <a:ln w="9525">
            <a:solidFill>
              <a:srgbClr val="AEBDD4"/>
            </a:solid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Lato" panose="020F0502020204030203" pitchFamily="34" charset="0"/>
              <a:ea typeface="黑体" panose="02010609060101010101" pitchFamily="49" charset="-122"/>
              <a:cs typeface="Lato" panose="020F0502020204030203" pitchFamily="34" charset="0"/>
            </a:endParaRPr>
          </a:p>
        </p:txBody>
      </p:sp>
      <p:sp>
        <p:nvSpPr>
          <p:cNvPr id="6" name="Rectangle 4">
            <a:extLst>
              <a:ext uri="{FF2B5EF4-FFF2-40B4-BE49-F238E27FC236}">
                <a16:creationId xmlns:a16="http://schemas.microsoft.com/office/drawing/2014/main" id="{F4F9D541-042B-9702-6DF4-55CF1238E3FE}"/>
              </a:ext>
            </a:extLst>
          </p:cNvPr>
          <p:cNvSpPr/>
          <p:nvPr/>
        </p:nvSpPr>
        <p:spPr>
          <a:xfrm>
            <a:off x="9850929" y="1453518"/>
            <a:ext cx="1469009" cy="4484832"/>
          </a:xfrm>
          <a:prstGeom prst="rect">
            <a:avLst/>
          </a:prstGeom>
          <a:solidFill>
            <a:srgbClr val="E7F2F6"/>
          </a:solidFill>
          <a:ln w="9525">
            <a:solidFill>
              <a:srgbClr val="AEBDD4"/>
            </a:solid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Lato" panose="020F0502020204030203" pitchFamily="34" charset="0"/>
              <a:ea typeface="黑体" panose="02010609060101010101" pitchFamily="49" charset="-122"/>
              <a:cs typeface="Lato" panose="020F0502020204030203" pitchFamily="34" charset="0"/>
            </a:endParaRPr>
          </a:p>
        </p:txBody>
      </p:sp>
      <p:sp>
        <p:nvSpPr>
          <p:cNvPr id="8" name="TextBox 5">
            <a:extLst>
              <a:ext uri="{FF2B5EF4-FFF2-40B4-BE49-F238E27FC236}">
                <a16:creationId xmlns:a16="http://schemas.microsoft.com/office/drawing/2014/main" id="{417EE945-71F7-6404-7F99-1B1F9DC45956}"/>
              </a:ext>
            </a:extLst>
          </p:cNvPr>
          <p:cNvSpPr txBox="1"/>
          <p:nvPr/>
        </p:nvSpPr>
        <p:spPr>
          <a:xfrm>
            <a:off x="724172" y="1484017"/>
            <a:ext cx="714939" cy="343684"/>
          </a:xfrm>
          <a:prstGeom prst="rect">
            <a:avLst/>
          </a:prstGeom>
          <a:noFill/>
        </p:spPr>
        <p:txBody>
          <a:bodyPr wrap="none" lIns="50800" tIns="25400" rIns="50800" bIns="25400"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950" b="1"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Customer</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950" b="1"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Interaction</a:t>
            </a:r>
            <a:endParaRPr kumimoji="0" lang="zh-CN" altLang="en-US" sz="950" b="1"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9" name="Rectangle 7">
            <a:extLst>
              <a:ext uri="{FF2B5EF4-FFF2-40B4-BE49-F238E27FC236}">
                <a16:creationId xmlns:a16="http://schemas.microsoft.com/office/drawing/2014/main" id="{3AE1EEA2-F90F-2333-74FA-243FBE3011B1}"/>
              </a:ext>
            </a:extLst>
          </p:cNvPr>
          <p:cNvSpPr/>
          <p:nvPr/>
        </p:nvSpPr>
        <p:spPr>
          <a:xfrm>
            <a:off x="608772"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SPS Sign Off / FGLA</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0" name="Rectangle 8">
            <a:extLst>
              <a:ext uri="{FF2B5EF4-FFF2-40B4-BE49-F238E27FC236}">
                <a16:creationId xmlns:a16="http://schemas.microsoft.com/office/drawing/2014/main" id="{40BDEC68-A645-3445-8493-631BC8A45154}"/>
              </a:ext>
            </a:extLst>
          </p:cNvPr>
          <p:cNvSpPr/>
          <p:nvPr/>
        </p:nvSpPr>
        <p:spPr>
          <a:xfrm>
            <a:off x="608772" y="2107367"/>
            <a:ext cx="902524" cy="338400"/>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1" name="Rectangle 9">
            <a:extLst>
              <a:ext uri="{FF2B5EF4-FFF2-40B4-BE49-F238E27FC236}">
                <a16:creationId xmlns:a16="http://schemas.microsoft.com/office/drawing/2014/main" id="{F26514DB-7058-1AD2-13BE-21CC29BA6FB1}"/>
              </a:ext>
            </a:extLst>
          </p:cNvPr>
          <p:cNvSpPr/>
          <p:nvPr/>
        </p:nvSpPr>
        <p:spPr>
          <a:xfrm>
            <a:off x="2138977"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Subscription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Initiation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2" name="Rectangle 10">
            <a:extLst>
              <a:ext uri="{FF2B5EF4-FFF2-40B4-BE49-F238E27FC236}">
                <a16:creationId xmlns:a16="http://schemas.microsoft.com/office/drawing/2014/main" id="{7D7F7988-3F2D-F3CC-44B8-108208BC9501}"/>
              </a:ext>
            </a:extLst>
          </p:cNvPr>
          <p:cNvSpPr/>
          <p:nvPr/>
        </p:nvSpPr>
        <p:spPr>
          <a:xfrm>
            <a:off x="3385149"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Payment Schedule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Generation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3" name="Rectangle 11">
            <a:extLst>
              <a:ext uri="{FF2B5EF4-FFF2-40B4-BE49-F238E27FC236}">
                <a16:creationId xmlns:a16="http://schemas.microsoft.com/office/drawing/2014/main" id="{F4756248-E3C1-11F0-A359-7941C7F48F29}"/>
              </a:ext>
            </a:extLst>
          </p:cNvPr>
          <p:cNvSpPr/>
          <p:nvPr/>
        </p:nvSpPr>
        <p:spPr>
          <a:xfrm>
            <a:off x="2138976" y="539740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Metering Data Acquisition </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4" name="Rectangle 12">
            <a:extLst>
              <a:ext uri="{FF2B5EF4-FFF2-40B4-BE49-F238E27FC236}">
                <a16:creationId xmlns:a16="http://schemas.microsoft.com/office/drawing/2014/main" id="{6C3235C1-0B7B-65AF-D5AB-44644B15613C}"/>
              </a:ext>
            </a:extLst>
          </p:cNvPr>
          <p:cNvSpPr/>
          <p:nvPr/>
        </p:nvSpPr>
        <p:spPr>
          <a:xfrm>
            <a:off x="3385149" y="539740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Data Processing</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5" name="Rectangle 14">
            <a:extLst>
              <a:ext uri="{FF2B5EF4-FFF2-40B4-BE49-F238E27FC236}">
                <a16:creationId xmlns:a16="http://schemas.microsoft.com/office/drawing/2014/main" id="{0FA440FA-5CAC-2091-E8F9-AB1E371D4612}"/>
              </a:ext>
            </a:extLst>
          </p:cNvPr>
          <p:cNvSpPr/>
          <p:nvPr/>
        </p:nvSpPr>
        <p:spPr>
          <a:xfrm>
            <a:off x="4470121" y="2610688"/>
            <a:ext cx="902524" cy="3222035"/>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2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Billable Item</a:t>
            </a:r>
            <a:endParaRPr kumimoji="0" lang="zh-CN" altLang="en-US" sz="72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6" name="Rectangle 15">
            <a:extLst>
              <a:ext uri="{FF2B5EF4-FFF2-40B4-BE49-F238E27FC236}">
                <a16:creationId xmlns:a16="http://schemas.microsoft.com/office/drawing/2014/main" id="{D9129786-13E5-ECBF-AE41-0A7C4929F7BF}"/>
              </a:ext>
            </a:extLst>
          </p:cNvPr>
          <p:cNvSpPr/>
          <p:nvPr/>
        </p:nvSpPr>
        <p:spPr>
          <a:xfrm>
            <a:off x="5676966" y="2610689"/>
            <a:ext cx="902524" cy="2073781"/>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2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Invoice Preview &amp; Approval </a:t>
            </a:r>
            <a:endParaRPr kumimoji="0" lang="zh-CN" altLang="en-US" sz="72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7" name="Rectangle 16">
            <a:extLst>
              <a:ext uri="{FF2B5EF4-FFF2-40B4-BE49-F238E27FC236}">
                <a16:creationId xmlns:a16="http://schemas.microsoft.com/office/drawing/2014/main" id="{7388FF56-D4AA-4C11-32CD-3909064C0F8C}"/>
              </a:ext>
            </a:extLst>
          </p:cNvPr>
          <p:cNvSpPr/>
          <p:nvPr/>
        </p:nvSpPr>
        <p:spPr>
          <a:xfrm>
            <a:off x="5676966" y="479173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Invoice Adjustment</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8" name="Rectangle 17">
            <a:extLst>
              <a:ext uri="{FF2B5EF4-FFF2-40B4-BE49-F238E27FC236}">
                <a16:creationId xmlns:a16="http://schemas.microsoft.com/office/drawing/2014/main" id="{8F3198E1-36CB-A277-7480-2F968FEE96A1}"/>
              </a:ext>
            </a:extLst>
          </p:cNvPr>
          <p:cNvSpPr/>
          <p:nvPr/>
        </p:nvSpPr>
        <p:spPr>
          <a:xfrm>
            <a:off x="6897676"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Customer Invoice Generation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19" name="Rectangle 18">
            <a:extLst>
              <a:ext uri="{FF2B5EF4-FFF2-40B4-BE49-F238E27FC236}">
                <a16:creationId xmlns:a16="http://schemas.microsoft.com/office/drawing/2014/main" id="{79CFA885-77F6-542D-84F1-C1544A09BBDF}"/>
              </a:ext>
            </a:extLst>
          </p:cNvPr>
          <p:cNvSpPr/>
          <p:nvPr/>
        </p:nvSpPr>
        <p:spPr>
          <a:xfrm>
            <a:off x="6897676" y="3701251"/>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ICO Billing Generation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20" name="Rectangle 20">
            <a:extLst>
              <a:ext uri="{FF2B5EF4-FFF2-40B4-BE49-F238E27FC236}">
                <a16:creationId xmlns:a16="http://schemas.microsoft.com/office/drawing/2014/main" id="{BB73E8BC-CDB8-986B-1280-3922CB32E626}"/>
              </a:ext>
            </a:extLst>
          </p:cNvPr>
          <p:cNvSpPr/>
          <p:nvPr/>
        </p:nvSpPr>
        <p:spPr>
          <a:xfrm>
            <a:off x="6897676" y="434465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Partner Settlement</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21" name="Rectangle 21">
            <a:extLst>
              <a:ext uri="{FF2B5EF4-FFF2-40B4-BE49-F238E27FC236}">
                <a16:creationId xmlns:a16="http://schemas.microsoft.com/office/drawing/2014/main" id="{CF48EE1A-9F97-A529-5FE4-20743FCBB872}"/>
              </a:ext>
            </a:extLst>
          </p:cNvPr>
          <p:cNvSpPr/>
          <p:nvPr/>
        </p:nvSpPr>
        <p:spPr>
          <a:xfrm>
            <a:off x="6897675" y="3186068"/>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Invoice delivery</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22" name="Rectangle 22">
            <a:extLst>
              <a:ext uri="{FF2B5EF4-FFF2-40B4-BE49-F238E27FC236}">
                <a16:creationId xmlns:a16="http://schemas.microsoft.com/office/drawing/2014/main" id="{636A0706-C797-960D-0E34-BFBC3BD29B0F}"/>
              </a:ext>
            </a:extLst>
          </p:cNvPr>
          <p:cNvSpPr/>
          <p:nvPr/>
        </p:nvSpPr>
        <p:spPr>
          <a:xfrm>
            <a:off x="10227046" y="2580190"/>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AR Generation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23" name="Rectangle 23">
            <a:extLst>
              <a:ext uri="{FF2B5EF4-FFF2-40B4-BE49-F238E27FC236}">
                <a16:creationId xmlns:a16="http://schemas.microsoft.com/office/drawing/2014/main" id="{8DD5657E-BF18-E316-0F0D-4908BBC87957}"/>
              </a:ext>
            </a:extLst>
          </p:cNvPr>
          <p:cNvSpPr/>
          <p:nvPr/>
        </p:nvSpPr>
        <p:spPr>
          <a:xfrm>
            <a:off x="10227046" y="3125514"/>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Customer Collection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24" name="Rectangle 24">
            <a:extLst>
              <a:ext uri="{FF2B5EF4-FFF2-40B4-BE49-F238E27FC236}">
                <a16:creationId xmlns:a16="http://schemas.microsoft.com/office/drawing/2014/main" id="{48ECFCB2-FE2F-B053-8486-59E2FC9980BB}"/>
              </a:ext>
            </a:extLst>
          </p:cNvPr>
          <p:cNvSpPr/>
          <p:nvPr/>
        </p:nvSpPr>
        <p:spPr>
          <a:xfrm>
            <a:off x="10227046" y="4601426"/>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AP Generation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25" name="Rectangle 25">
            <a:extLst>
              <a:ext uri="{FF2B5EF4-FFF2-40B4-BE49-F238E27FC236}">
                <a16:creationId xmlns:a16="http://schemas.microsoft.com/office/drawing/2014/main" id="{7FE755A6-18C2-192F-4CC7-FA3670EF86AB}"/>
              </a:ext>
            </a:extLst>
          </p:cNvPr>
          <p:cNvSpPr/>
          <p:nvPr/>
        </p:nvSpPr>
        <p:spPr>
          <a:xfrm>
            <a:off x="10227046" y="5092292"/>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Payment</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26" name="Straight Arrow Connector 27">
            <a:extLst>
              <a:ext uri="{FF2B5EF4-FFF2-40B4-BE49-F238E27FC236}">
                <a16:creationId xmlns:a16="http://schemas.microsoft.com/office/drawing/2014/main" id="{BD4571AF-9109-4AED-A849-40E0FBB99CEE}"/>
              </a:ext>
            </a:extLst>
          </p:cNvPr>
          <p:cNvCxnSpPr>
            <a:cxnSpLocks/>
            <a:stCxn id="9" idx="3"/>
            <a:endCxn id="11" idx="1"/>
          </p:cNvCxnSpPr>
          <p:nvPr/>
        </p:nvCxnSpPr>
        <p:spPr>
          <a:xfrm>
            <a:off x="1511296" y="2780599"/>
            <a:ext cx="627681"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33">
            <a:extLst>
              <a:ext uri="{FF2B5EF4-FFF2-40B4-BE49-F238E27FC236}">
                <a16:creationId xmlns:a16="http://schemas.microsoft.com/office/drawing/2014/main" id="{C02414AB-214E-1828-90FE-49EECC70F580}"/>
              </a:ext>
            </a:extLst>
          </p:cNvPr>
          <p:cNvCxnSpPr>
            <a:stCxn id="11" idx="3"/>
            <a:endCxn id="12" idx="1"/>
          </p:cNvCxnSpPr>
          <p:nvPr/>
        </p:nvCxnSpPr>
        <p:spPr>
          <a:xfrm>
            <a:off x="3041501" y="2780599"/>
            <a:ext cx="343648"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35">
            <a:extLst>
              <a:ext uri="{FF2B5EF4-FFF2-40B4-BE49-F238E27FC236}">
                <a16:creationId xmlns:a16="http://schemas.microsoft.com/office/drawing/2014/main" id="{D83898A6-7CC7-5652-A9BD-DA342CEC5736}"/>
              </a:ext>
            </a:extLst>
          </p:cNvPr>
          <p:cNvCxnSpPr>
            <a:cxnSpLocks/>
            <a:stCxn id="13" idx="3"/>
            <a:endCxn id="14" idx="1"/>
          </p:cNvCxnSpPr>
          <p:nvPr/>
        </p:nvCxnSpPr>
        <p:spPr>
          <a:xfrm>
            <a:off x="3041500" y="5567313"/>
            <a:ext cx="343649"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37">
            <a:extLst>
              <a:ext uri="{FF2B5EF4-FFF2-40B4-BE49-F238E27FC236}">
                <a16:creationId xmlns:a16="http://schemas.microsoft.com/office/drawing/2014/main" id="{481EB6D2-8882-F346-45EB-0F2FC9944730}"/>
              </a:ext>
            </a:extLst>
          </p:cNvPr>
          <p:cNvCxnSpPr>
            <a:cxnSpLocks/>
            <a:stCxn id="12" idx="3"/>
          </p:cNvCxnSpPr>
          <p:nvPr/>
        </p:nvCxnSpPr>
        <p:spPr>
          <a:xfrm flipV="1">
            <a:off x="4287673" y="2780598"/>
            <a:ext cx="178254"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38">
            <a:extLst>
              <a:ext uri="{FF2B5EF4-FFF2-40B4-BE49-F238E27FC236}">
                <a16:creationId xmlns:a16="http://schemas.microsoft.com/office/drawing/2014/main" id="{2A1985AA-DF0A-A3D7-1CF5-DB9647B98A0E}"/>
              </a:ext>
            </a:extLst>
          </p:cNvPr>
          <p:cNvCxnSpPr>
            <a:cxnSpLocks/>
            <a:stCxn id="14" idx="3"/>
          </p:cNvCxnSpPr>
          <p:nvPr/>
        </p:nvCxnSpPr>
        <p:spPr>
          <a:xfrm flipV="1">
            <a:off x="4287673" y="5567312"/>
            <a:ext cx="209525"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41">
            <a:extLst>
              <a:ext uri="{FF2B5EF4-FFF2-40B4-BE49-F238E27FC236}">
                <a16:creationId xmlns:a16="http://schemas.microsoft.com/office/drawing/2014/main" id="{6314614D-F7F0-8DEC-2D54-2DFA478E4C0E}"/>
              </a:ext>
            </a:extLst>
          </p:cNvPr>
          <p:cNvCxnSpPr>
            <a:cxnSpLocks/>
            <a:endCxn id="16" idx="1"/>
          </p:cNvCxnSpPr>
          <p:nvPr/>
        </p:nvCxnSpPr>
        <p:spPr>
          <a:xfrm>
            <a:off x="5372645" y="3647580"/>
            <a:ext cx="304321"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2" name="Arrow: Left-Right 43">
            <a:extLst>
              <a:ext uri="{FF2B5EF4-FFF2-40B4-BE49-F238E27FC236}">
                <a16:creationId xmlns:a16="http://schemas.microsoft.com/office/drawing/2014/main" id="{4F382C72-1D17-C037-BC24-71260DCD50D2}"/>
              </a:ext>
            </a:extLst>
          </p:cNvPr>
          <p:cNvSpPr/>
          <p:nvPr/>
        </p:nvSpPr>
        <p:spPr>
          <a:xfrm rot="5400000">
            <a:off x="6028000" y="4673944"/>
            <a:ext cx="245015" cy="126420"/>
          </a:xfrm>
          <a:prstGeom prst="leftRightArrow">
            <a:avLst/>
          </a:prstGeom>
          <a:solidFill>
            <a:schemeClr val="bg1"/>
          </a:solidFill>
          <a:ln w="11430">
            <a:solidFill>
              <a:srgbClr val="AEBDD4"/>
            </a:solid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Lato" panose="020F0502020204030203" pitchFamily="34" charset="0"/>
              <a:ea typeface="黑体" panose="02010609060101010101" pitchFamily="49" charset="-122"/>
              <a:cs typeface="Lato" panose="020F0502020204030203" pitchFamily="34" charset="0"/>
            </a:endParaRPr>
          </a:p>
        </p:txBody>
      </p:sp>
      <p:cxnSp>
        <p:nvCxnSpPr>
          <p:cNvPr id="33" name="Connector: Elbow 51">
            <a:extLst>
              <a:ext uri="{FF2B5EF4-FFF2-40B4-BE49-F238E27FC236}">
                <a16:creationId xmlns:a16="http://schemas.microsoft.com/office/drawing/2014/main" id="{C4755E38-CC43-8609-FDBF-234F288E45FB}"/>
              </a:ext>
            </a:extLst>
          </p:cNvPr>
          <p:cNvCxnSpPr>
            <a:cxnSpLocks/>
            <a:stCxn id="16" idx="3"/>
            <a:endCxn id="18" idx="1"/>
          </p:cNvCxnSpPr>
          <p:nvPr/>
        </p:nvCxnSpPr>
        <p:spPr>
          <a:xfrm flipV="1">
            <a:off x="6579490" y="2780599"/>
            <a:ext cx="318186" cy="866981"/>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53">
            <a:extLst>
              <a:ext uri="{FF2B5EF4-FFF2-40B4-BE49-F238E27FC236}">
                <a16:creationId xmlns:a16="http://schemas.microsoft.com/office/drawing/2014/main" id="{FCAB770D-5469-20E4-731B-BE8D005E772E}"/>
              </a:ext>
            </a:extLst>
          </p:cNvPr>
          <p:cNvCxnSpPr>
            <a:cxnSpLocks/>
            <a:stCxn id="16" idx="3"/>
            <a:endCxn id="20" idx="1"/>
          </p:cNvCxnSpPr>
          <p:nvPr/>
        </p:nvCxnSpPr>
        <p:spPr>
          <a:xfrm>
            <a:off x="6579490" y="3647580"/>
            <a:ext cx="318186" cy="866983"/>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55">
            <a:extLst>
              <a:ext uri="{FF2B5EF4-FFF2-40B4-BE49-F238E27FC236}">
                <a16:creationId xmlns:a16="http://schemas.microsoft.com/office/drawing/2014/main" id="{2626FAEF-DEB8-FB33-7D42-55E26BAA41BB}"/>
              </a:ext>
            </a:extLst>
          </p:cNvPr>
          <p:cNvCxnSpPr>
            <a:cxnSpLocks/>
            <a:stCxn id="16" idx="3"/>
            <a:endCxn id="19" idx="1"/>
          </p:cNvCxnSpPr>
          <p:nvPr/>
        </p:nvCxnSpPr>
        <p:spPr>
          <a:xfrm>
            <a:off x="6579490" y="3647580"/>
            <a:ext cx="318186" cy="223581"/>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60">
            <a:extLst>
              <a:ext uri="{FF2B5EF4-FFF2-40B4-BE49-F238E27FC236}">
                <a16:creationId xmlns:a16="http://schemas.microsoft.com/office/drawing/2014/main" id="{AC0AED8F-7F74-B833-76E9-1A1CFD0FC529}"/>
              </a:ext>
            </a:extLst>
          </p:cNvPr>
          <p:cNvCxnSpPr>
            <a:cxnSpLocks/>
            <a:stCxn id="18" idx="2"/>
            <a:endCxn id="21" idx="0"/>
          </p:cNvCxnSpPr>
          <p:nvPr/>
        </p:nvCxnSpPr>
        <p:spPr>
          <a:xfrm rot="5400000">
            <a:off x="7231159" y="3068288"/>
            <a:ext cx="235560" cy="1"/>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62">
            <a:extLst>
              <a:ext uri="{FF2B5EF4-FFF2-40B4-BE49-F238E27FC236}">
                <a16:creationId xmlns:a16="http://schemas.microsoft.com/office/drawing/2014/main" id="{86325858-4182-EAB1-B6FE-0DA6A8D5A48B}"/>
              </a:ext>
            </a:extLst>
          </p:cNvPr>
          <p:cNvCxnSpPr>
            <a:cxnSpLocks/>
          </p:cNvCxnSpPr>
          <p:nvPr/>
        </p:nvCxnSpPr>
        <p:spPr>
          <a:xfrm>
            <a:off x="7800200" y="4514562"/>
            <a:ext cx="441024"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64">
            <a:extLst>
              <a:ext uri="{FF2B5EF4-FFF2-40B4-BE49-F238E27FC236}">
                <a16:creationId xmlns:a16="http://schemas.microsoft.com/office/drawing/2014/main" id="{352985E7-ED04-F134-DC92-2553704E3206}"/>
              </a:ext>
            </a:extLst>
          </p:cNvPr>
          <p:cNvCxnSpPr>
            <a:cxnSpLocks/>
            <a:stCxn id="22" idx="2"/>
            <a:endCxn id="23" idx="0"/>
          </p:cNvCxnSpPr>
          <p:nvPr/>
        </p:nvCxnSpPr>
        <p:spPr>
          <a:xfrm>
            <a:off x="10678308" y="2920009"/>
            <a:ext cx="0" cy="205505"/>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9" name="Rectangle 70">
            <a:extLst>
              <a:ext uri="{FF2B5EF4-FFF2-40B4-BE49-F238E27FC236}">
                <a16:creationId xmlns:a16="http://schemas.microsoft.com/office/drawing/2014/main" id="{84B8E861-3EE5-08B4-898E-9F979632E064}"/>
              </a:ext>
            </a:extLst>
          </p:cNvPr>
          <p:cNvSpPr/>
          <p:nvPr/>
        </p:nvSpPr>
        <p:spPr>
          <a:xfrm>
            <a:off x="8248672" y="2610688"/>
            <a:ext cx="902524" cy="2073782"/>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2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F&amp;A Posting</a:t>
            </a:r>
            <a:endParaRPr kumimoji="0" lang="zh-CN" altLang="en-US" sz="72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40" name="Straight Arrow Connector 95">
            <a:extLst>
              <a:ext uri="{FF2B5EF4-FFF2-40B4-BE49-F238E27FC236}">
                <a16:creationId xmlns:a16="http://schemas.microsoft.com/office/drawing/2014/main" id="{6523F1FD-32B5-AFF2-9C64-08C60913DF00}"/>
              </a:ext>
            </a:extLst>
          </p:cNvPr>
          <p:cNvCxnSpPr>
            <a:cxnSpLocks/>
            <a:stCxn id="19" idx="3"/>
          </p:cNvCxnSpPr>
          <p:nvPr/>
        </p:nvCxnSpPr>
        <p:spPr>
          <a:xfrm flipV="1">
            <a:off x="7800200" y="3871160"/>
            <a:ext cx="448472"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1" name="Rectangle 98">
            <a:extLst>
              <a:ext uri="{FF2B5EF4-FFF2-40B4-BE49-F238E27FC236}">
                <a16:creationId xmlns:a16="http://schemas.microsoft.com/office/drawing/2014/main" id="{1DC12622-7173-ED8B-257D-91326D354C9E}"/>
              </a:ext>
            </a:extLst>
          </p:cNvPr>
          <p:cNvSpPr/>
          <p:nvPr/>
        </p:nvSpPr>
        <p:spPr>
          <a:xfrm>
            <a:off x="608772" y="3956296"/>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Flex Pause/Down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2" name="Rectangle 99">
            <a:extLst>
              <a:ext uri="{FF2B5EF4-FFF2-40B4-BE49-F238E27FC236}">
                <a16:creationId xmlns:a16="http://schemas.microsoft.com/office/drawing/2014/main" id="{32355BB0-F94A-8253-A558-F76F0C82F73D}"/>
              </a:ext>
            </a:extLst>
          </p:cNvPr>
          <p:cNvSpPr/>
          <p:nvPr/>
        </p:nvSpPr>
        <p:spPr>
          <a:xfrm>
            <a:off x="608772" y="443666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Early Termination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3" name="Rectangle 100">
            <a:extLst>
              <a:ext uri="{FF2B5EF4-FFF2-40B4-BE49-F238E27FC236}">
                <a16:creationId xmlns:a16="http://schemas.microsoft.com/office/drawing/2014/main" id="{C237296C-D6F0-B114-25DE-D98D3C954383}"/>
              </a:ext>
            </a:extLst>
          </p:cNvPr>
          <p:cNvSpPr/>
          <p:nvPr/>
        </p:nvSpPr>
        <p:spPr>
          <a:xfrm>
            <a:off x="608772" y="4917034"/>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Termination/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Extension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4" name="TextBox 102">
            <a:extLst>
              <a:ext uri="{FF2B5EF4-FFF2-40B4-BE49-F238E27FC236}">
                <a16:creationId xmlns:a16="http://schemas.microsoft.com/office/drawing/2014/main" id="{A65B46EF-62BD-AFDC-0940-4514E665FEDD}"/>
              </a:ext>
            </a:extLst>
          </p:cNvPr>
          <p:cNvSpPr txBox="1"/>
          <p:nvPr/>
        </p:nvSpPr>
        <p:spPr>
          <a:xfrm>
            <a:off x="9899063" y="1453518"/>
            <a:ext cx="1243987" cy="197490"/>
          </a:xfrm>
          <a:prstGeom prst="rect">
            <a:avLst/>
          </a:prstGeom>
          <a:noFill/>
        </p:spPr>
        <p:txBody>
          <a:bodyPr wrap="square" lIns="50800" tIns="25400" rIns="50800" bIns="25400"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950" b="1"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AR/AP Handling</a:t>
            </a:r>
            <a:endParaRPr kumimoji="0" lang="zh-CN" altLang="en-US" sz="950" b="1"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5" name="Flowchart: Punched Tape 103">
            <a:extLst>
              <a:ext uri="{FF2B5EF4-FFF2-40B4-BE49-F238E27FC236}">
                <a16:creationId xmlns:a16="http://schemas.microsoft.com/office/drawing/2014/main" id="{77B11F75-13A4-F6F0-CA94-5BBE3DDA9021}"/>
              </a:ext>
            </a:extLst>
          </p:cNvPr>
          <p:cNvSpPr/>
          <p:nvPr/>
        </p:nvSpPr>
        <p:spPr>
          <a:xfrm>
            <a:off x="7517804" y="2875606"/>
            <a:ext cx="359154" cy="260937"/>
          </a:xfrm>
          <a:prstGeom prst="flowChartPunchedTape">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Taxation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6" name="Flowchart: Punched Tape 104">
            <a:extLst>
              <a:ext uri="{FF2B5EF4-FFF2-40B4-BE49-F238E27FC236}">
                <a16:creationId xmlns:a16="http://schemas.microsoft.com/office/drawing/2014/main" id="{45BA8375-8852-37CF-A365-C8BC32BDBEA9}"/>
              </a:ext>
            </a:extLst>
          </p:cNvPr>
          <p:cNvSpPr/>
          <p:nvPr/>
        </p:nvSpPr>
        <p:spPr>
          <a:xfrm>
            <a:off x="7517804" y="3959746"/>
            <a:ext cx="359154" cy="260937"/>
          </a:xfrm>
          <a:prstGeom prst="flowChartPunchedTape">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Taxation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7" name="Flowchart: Punched Tape 105">
            <a:extLst>
              <a:ext uri="{FF2B5EF4-FFF2-40B4-BE49-F238E27FC236}">
                <a16:creationId xmlns:a16="http://schemas.microsoft.com/office/drawing/2014/main" id="{3F978E8B-7328-363D-47D3-656A158CA320}"/>
              </a:ext>
            </a:extLst>
          </p:cNvPr>
          <p:cNvSpPr/>
          <p:nvPr/>
        </p:nvSpPr>
        <p:spPr>
          <a:xfrm>
            <a:off x="7517804" y="4593445"/>
            <a:ext cx="359154" cy="260937"/>
          </a:xfrm>
          <a:prstGeom prst="flowChartPunchedTape">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Taxation</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sp>
        <p:nvSpPr>
          <p:cNvPr id="48" name="Rectangle 107">
            <a:extLst>
              <a:ext uri="{FF2B5EF4-FFF2-40B4-BE49-F238E27FC236}">
                <a16:creationId xmlns:a16="http://schemas.microsoft.com/office/drawing/2014/main" id="{EDCFCF64-ED68-7BD8-0BEC-62D947E35CC3}"/>
              </a:ext>
            </a:extLst>
          </p:cNvPr>
          <p:cNvSpPr/>
          <p:nvPr/>
        </p:nvSpPr>
        <p:spPr>
          <a:xfrm>
            <a:off x="3385148" y="443666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Payment Schedule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Updating</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49" name="Straight Arrow Connector 109">
            <a:extLst>
              <a:ext uri="{FF2B5EF4-FFF2-40B4-BE49-F238E27FC236}">
                <a16:creationId xmlns:a16="http://schemas.microsoft.com/office/drawing/2014/main" id="{C718E890-7F67-F39D-1BA5-8D2970B30DE7}"/>
              </a:ext>
            </a:extLst>
          </p:cNvPr>
          <p:cNvCxnSpPr>
            <a:cxnSpLocks/>
            <a:stCxn id="42" idx="3"/>
            <a:endCxn id="59" idx="1"/>
          </p:cNvCxnSpPr>
          <p:nvPr/>
        </p:nvCxnSpPr>
        <p:spPr>
          <a:xfrm>
            <a:off x="1511296" y="4606575"/>
            <a:ext cx="627680"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11">
            <a:extLst>
              <a:ext uri="{FF2B5EF4-FFF2-40B4-BE49-F238E27FC236}">
                <a16:creationId xmlns:a16="http://schemas.microsoft.com/office/drawing/2014/main" id="{E6E7F7E3-BBE5-FDAA-775D-4CEFEDE6EFE8}"/>
              </a:ext>
            </a:extLst>
          </p:cNvPr>
          <p:cNvCxnSpPr>
            <a:cxnSpLocks/>
            <a:stCxn id="41" idx="3"/>
            <a:endCxn id="59" idx="1"/>
          </p:cNvCxnSpPr>
          <p:nvPr/>
        </p:nvCxnSpPr>
        <p:spPr>
          <a:xfrm>
            <a:off x="1511296" y="4126206"/>
            <a:ext cx="627680" cy="480369"/>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112">
            <a:extLst>
              <a:ext uri="{FF2B5EF4-FFF2-40B4-BE49-F238E27FC236}">
                <a16:creationId xmlns:a16="http://schemas.microsoft.com/office/drawing/2014/main" id="{A4112D4C-C127-6C63-0555-7594AF1AC039}"/>
              </a:ext>
            </a:extLst>
          </p:cNvPr>
          <p:cNvCxnSpPr>
            <a:cxnSpLocks/>
            <a:stCxn id="43" idx="3"/>
            <a:endCxn id="59" idx="1"/>
          </p:cNvCxnSpPr>
          <p:nvPr/>
        </p:nvCxnSpPr>
        <p:spPr>
          <a:xfrm flipV="1">
            <a:off x="1511296" y="4606575"/>
            <a:ext cx="627680" cy="480369"/>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121">
            <a:extLst>
              <a:ext uri="{FF2B5EF4-FFF2-40B4-BE49-F238E27FC236}">
                <a16:creationId xmlns:a16="http://schemas.microsoft.com/office/drawing/2014/main" id="{93F2C07B-03AF-4949-AD30-12D4B5C1C8FF}"/>
              </a:ext>
            </a:extLst>
          </p:cNvPr>
          <p:cNvCxnSpPr>
            <a:cxnSpLocks/>
            <a:stCxn id="48" idx="3"/>
          </p:cNvCxnSpPr>
          <p:nvPr/>
        </p:nvCxnSpPr>
        <p:spPr>
          <a:xfrm>
            <a:off x="4287672" y="4606575"/>
            <a:ext cx="192036" cy="807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3" name="Rectangle 141">
            <a:extLst>
              <a:ext uri="{FF2B5EF4-FFF2-40B4-BE49-F238E27FC236}">
                <a16:creationId xmlns:a16="http://schemas.microsoft.com/office/drawing/2014/main" id="{FD85B5A6-9D32-8E0A-4719-FE1D97E7794F}"/>
              </a:ext>
            </a:extLst>
          </p:cNvPr>
          <p:cNvSpPr/>
          <p:nvPr/>
        </p:nvSpPr>
        <p:spPr>
          <a:xfrm>
            <a:off x="608772" y="539740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Customer Usage</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54" name="Straight Arrow Connector 142">
            <a:extLst>
              <a:ext uri="{FF2B5EF4-FFF2-40B4-BE49-F238E27FC236}">
                <a16:creationId xmlns:a16="http://schemas.microsoft.com/office/drawing/2014/main" id="{362B92B3-46AB-EA95-F7A1-49DA6B68D338}"/>
              </a:ext>
            </a:extLst>
          </p:cNvPr>
          <p:cNvCxnSpPr>
            <a:cxnSpLocks/>
            <a:stCxn id="53" idx="3"/>
            <a:endCxn id="13" idx="1"/>
          </p:cNvCxnSpPr>
          <p:nvPr/>
        </p:nvCxnSpPr>
        <p:spPr>
          <a:xfrm>
            <a:off x="1511296" y="5567313"/>
            <a:ext cx="627680"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159">
            <a:extLst>
              <a:ext uri="{FF2B5EF4-FFF2-40B4-BE49-F238E27FC236}">
                <a16:creationId xmlns:a16="http://schemas.microsoft.com/office/drawing/2014/main" id="{EFAA8310-0BCF-77B2-4FBB-1C5DEEEA553E}"/>
              </a:ext>
            </a:extLst>
          </p:cNvPr>
          <p:cNvCxnSpPr>
            <a:cxnSpLocks/>
            <a:stCxn id="24" idx="2"/>
            <a:endCxn id="25" idx="0"/>
          </p:cNvCxnSpPr>
          <p:nvPr/>
        </p:nvCxnSpPr>
        <p:spPr>
          <a:xfrm>
            <a:off x="10678308" y="4941245"/>
            <a:ext cx="0" cy="151047"/>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164">
            <a:extLst>
              <a:ext uri="{FF2B5EF4-FFF2-40B4-BE49-F238E27FC236}">
                <a16:creationId xmlns:a16="http://schemas.microsoft.com/office/drawing/2014/main" id="{F014DCC9-EEBD-F674-C707-27229D4A8C48}"/>
              </a:ext>
            </a:extLst>
          </p:cNvPr>
          <p:cNvCxnSpPr>
            <a:cxnSpLocks/>
            <a:stCxn id="10" idx="2"/>
            <a:endCxn id="9" idx="0"/>
          </p:cNvCxnSpPr>
          <p:nvPr/>
        </p:nvCxnSpPr>
        <p:spPr>
          <a:xfrm>
            <a:off x="1060034" y="2445767"/>
            <a:ext cx="0" cy="164922"/>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C83D0957-172A-836E-8830-52B318BD7C9C}"/>
              </a:ext>
            </a:extLst>
          </p:cNvPr>
          <p:cNvCxnSpPr>
            <a:cxnSpLocks/>
            <a:stCxn id="39" idx="3"/>
            <a:endCxn id="24" idx="1"/>
          </p:cNvCxnSpPr>
          <p:nvPr/>
        </p:nvCxnSpPr>
        <p:spPr>
          <a:xfrm>
            <a:off x="9151196" y="3647579"/>
            <a:ext cx="1075850" cy="1123757"/>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8" name="连接符: 肘形 57">
            <a:extLst>
              <a:ext uri="{FF2B5EF4-FFF2-40B4-BE49-F238E27FC236}">
                <a16:creationId xmlns:a16="http://schemas.microsoft.com/office/drawing/2014/main" id="{1A1224DC-353E-E937-080E-113552D45F18}"/>
              </a:ext>
            </a:extLst>
          </p:cNvPr>
          <p:cNvCxnSpPr>
            <a:cxnSpLocks/>
            <a:stCxn id="39" idx="3"/>
            <a:endCxn id="22" idx="1"/>
          </p:cNvCxnSpPr>
          <p:nvPr/>
        </p:nvCxnSpPr>
        <p:spPr>
          <a:xfrm flipV="1">
            <a:off x="9151196" y="2750100"/>
            <a:ext cx="1075850" cy="897479"/>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9" name="Rectangle 9">
            <a:extLst>
              <a:ext uri="{FF2B5EF4-FFF2-40B4-BE49-F238E27FC236}">
                <a16:creationId xmlns:a16="http://schemas.microsoft.com/office/drawing/2014/main" id="{D03A4FF8-D916-FC03-4F89-BF72E0DF339E}"/>
              </a:ext>
            </a:extLst>
          </p:cNvPr>
          <p:cNvSpPr/>
          <p:nvPr/>
        </p:nvSpPr>
        <p:spPr>
          <a:xfrm>
            <a:off x="2138976" y="443666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Subscription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Change</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60" name="直接箭头连接符 59">
            <a:extLst>
              <a:ext uri="{FF2B5EF4-FFF2-40B4-BE49-F238E27FC236}">
                <a16:creationId xmlns:a16="http://schemas.microsoft.com/office/drawing/2014/main" id="{42B75B76-796D-37B5-6325-85D7F9FB435D}"/>
              </a:ext>
            </a:extLst>
          </p:cNvPr>
          <p:cNvCxnSpPr>
            <a:stCxn id="18" idx="3"/>
          </p:cNvCxnSpPr>
          <p:nvPr/>
        </p:nvCxnSpPr>
        <p:spPr>
          <a:xfrm flipV="1">
            <a:off x="7800200" y="2780598"/>
            <a:ext cx="441024"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00DAE344-1A57-7423-C139-063FA2846885}"/>
              </a:ext>
            </a:extLst>
          </p:cNvPr>
          <p:cNvCxnSpPr>
            <a:cxnSpLocks/>
            <a:stCxn id="59" idx="3"/>
            <a:endCxn id="48" idx="1"/>
          </p:cNvCxnSpPr>
          <p:nvPr/>
        </p:nvCxnSpPr>
        <p:spPr>
          <a:xfrm>
            <a:off x="3041500" y="4606575"/>
            <a:ext cx="343648"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4" name="Rectangle 101">
            <a:extLst>
              <a:ext uri="{FF2B5EF4-FFF2-40B4-BE49-F238E27FC236}">
                <a16:creationId xmlns:a16="http://schemas.microsoft.com/office/drawing/2014/main" id="{EBE36E6F-3128-4180-F314-DC739824C77B}"/>
              </a:ext>
            </a:extLst>
          </p:cNvPr>
          <p:cNvSpPr/>
          <p:nvPr/>
        </p:nvSpPr>
        <p:spPr>
          <a:xfrm>
            <a:off x="609963" y="352602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On Demand Charge</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65" name="Straight Arrow Connector 124">
            <a:extLst>
              <a:ext uri="{FF2B5EF4-FFF2-40B4-BE49-F238E27FC236}">
                <a16:creationId xmlns:a16="http://schemas.microsoft.com/office/drawing/2014/main" id="{D46FC916-C6D0-00D1-2063-8B70668FF067}"/>
              </a:ext>
            </a:extLst>
          </p:cNvPr>
          <p:cNvCxnSpPr>
            <a:cxnSpLocks/>
            <a:endCxn id="68" idx="1"/>
          </p:cNvCxnSpPr>
          <p:nvPr/>
        </p:nvCxnSpPr>
        <p:spPr>
          <a:xfrm>
            <a:off x="1471968" y="3670766"/>
            <a:ext cx="636448"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6" name="Rectangle 101">
            <a:extLst>
              <a:ext uri="{FF2B5EF4-FFF2-40B4-BE49-F238E27FC236}">
                <a16:creationId xmlns:a16="http://schemas.microsoft.com/office/drawing/2014/main" id="{7FA789B8-E371-D96F-AACC-2A0393D069A1}"/>
              </a:ext>
            </a:extLst>
          </p:cNvPr>
          <p:cNvSpPr/>
          <p:nvPr/>
        </p:nvSpPr>
        <p:spPr>
          <a:xfrm>
            <a:off x="608772" y="3045654"/>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Damage Charge</a:t>
            </a:r>
            <a:endParaRPr kumimoji="0" lang="zh-CN" altLang="en-US" sz="680" b="0" i="0" u="none" strike="noStrike" kern="1200" cap="none" spc="0" normalizeH="0" baseline="0" noProof="0">
              <a:ln>
                <a:noFill/>
              </a:ln>
              <a:solidFill>
                <a:srgbClr val="1B2434"/>
              </a:solidFill>
              <a:effectLst/>
              <a:uLnTx/>
              <a:uFillTx/>
              <a:latin typeface="Aptos" panose="020B0004020202020204" pitchFamily="34" charset="0"/>
              <a:ea typeface="黑体" panose="02010609060101010101" pitchFamily="49" charset="-122"/>
              <a:cs typeface="Lato" panose="020F0502020204030203" pitchFamily="34" charset="0"/>
            </a:endParaRPr>
          </a:p>
        </p:txBody>
      </p:sp>
      <p:cxnSp>
        <p:nvCxnSpPr>
          <p:cNvPr id="67" name="连接符: 肘形 66">
            <a:extLst>
              <a:ext uri="{FF2B5EF4-FFF2-40B4-BE49-F238E27FC236}">
                <a16:creationId xmlns:a16="http://schemas.microsoft.com/office/drawing/2014/main" id="{D62EF45A-B756-473E-639F-D5F0747AF534}"/>
              </a:ext>
            </a:extLst>
          </p:cNvPr>
          <p:cNvCxnSpPr>
            <a:cxnSpLocks/>
            <a:stCxn id="66" idx="3"/>
            <a:endCxn id="68" idx="1"/>
          </p:cNvCxnSpPr>
          <p:nvPr/>
        </p:nvCxnSpPr>
        <p:spPr>
          <a:xfrm>
            <a:off x="1511296" y="3215564"/>
            <a:ext cx="597120" cy="455203"/>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8" name="Rectangle 9">
            <a:extLst>
              <a:ext uri="{FF2B5EF4-FFF2-40B4-BE49-F238E27FC236}">
                <a16:creationId xmlns:a16="http://schemas.microsoft.com/office/drawing/2014/main" id="{A64B8A7E-0272-7DD5-4F78-D1D9997E9A5B}"/>
              </a:ext>
            </a:extLst>
          </p:cNvPr>
          <p:cNvSpPr/>
          <p:nvPr/>
        </p:nvSpPr>
        <p:spPr>
          <a:xfrm>
            <a:off x="2108416" y="3500857"/>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One-off</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Subscription</a:t>
            </a:r>
          </a:p>
        </p:txBody>
      </p:sp>
      <p:cxnSp>
        <p:nvCxnSpPr>
          <p:cNvPr id="70" name="连接符: 肘形 69">
            <a:extLst>
              <a:ext uri="{FF2B5EF4-FFF2-40B4-BE49-F238E27FC236}">
                <a16:creationId xmlns:a16="http://schemas.microsoft.com/office/drawing/2014/main" id="{92A58313-4F77-7C87-FEE4-AA60541894DC}"/>
              </a:ext>
            </a:extLst>
          </p:cNvPr>
          <p:cNvCxnSpPr>
            <a:cxnSpLocks/>
            <a:stCxn id="68" idx="3"/>
            <a:endCxn id="12" idx="1"/>
          </p:cNvCxnSpPr>
          <p:nvPr/>
        </p:nvCxnSpPr>
        <p:spPr>
          <a:xfrm flipV="1">
            <a:off x="3010940" y="2780599"/>
            <a:ext cx="374209" cy="890168"/>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1" name="Rectangle 9">
            <a:extLst>
              <a:ext uri="{FF2B5EF4-FFF2-40B4-BE49-F238E27FC236}">
                <a16:creationId xmlns:a16="http://schemas.microsoft.com/office/drawing/2014/main" id="{2E99AE4A-A4C9-7DAA-ED5F-10101CDF5593}"/>
              </a:ext>
            </a:extLst>
          </p:cNvPr>
          <p:cNvSpPr/>
          <p:nvPr/>
        </p:nvSpPr>
        <p:spPr>
          <a:xfrm>
            <a:off x="2143170" y="491668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One-off</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680" b="0" i="0" u="none" strike="noStrike" kern="1200" cap="none" spc="0" normalizeH="0" baseline="0" noProof="0">
                <a:ln>
                  <a:noFill/>
                </a:ln>
                <a:solidFill>
                  <a:srgbClr val="1B2434"/>
                </a:solidFill>
                <a:effectLst/>
                <a:uLnTx/>
                <a:uFillTx/>
                <a:latin typeface="Aptos" panose="020B0004020202020204" pitchFamily="34" charset="0"/>
                <a:ea typeface="Lato" panose="020F0502020204030203" pitchFamily="34" charset="0"/>
                <a:cs typeface="Lato" panose="020F0502020204030203" pitchFamily="34" charset="0"/>
              </a:rPr>
              <a:t>Subscription</a:t>
            </a:r>
          </a:p>
        </p:txBody>
      </p:sp>
      <p:cxnSp>
        <p:nvCxnSpPr>
          <p:cNvPr id="72" name="连接符: 肘形 71">
            <a:extLst>
              <a:ext uri="{FF2B5EF4-FFF2-40B4-BE49-F238E27FC236}">
                <a16:creationId xmlns:a16="http://schemas.microsoft.com/office/drawing/2014/main" id="{698D9179-CDDB-7CB7-6923-77FE0B15B687}"/>
              </a:ext>
            </a:extLst>
          </p:cNvPr>
          <p:cNvCxnSpPr>
            <a:cxnSpLocks/>
            <a:endCxn id="71" idx="1"/>
          </p:cNvCxnSpPr>
          <p:nvPr/>
        </p:nvCxnSpPr>
        <p:spPr>
          <a:xfrm>
            <a:off x="1518744" y="4605876"/>
            <a:ext cx="624426" cy="480719"/>
          </a:xfrm>
          <a:prstGeom prst="bentConnector3">
            <a:avLst>
              <a:gd name="adj1" fmla="val 7047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2AF073CF-F152-8F23-041D-86319FFE5867}"/>
              </a:ext>
            </a:extLst>
          </p:cNvPr>
          <p:cNvCxnSpPr>
            <a:stCxn id="71" idx="3"/>
            <a:endCxn id="48" idx="1"/>
          </p:cNvCxnSpPr>
          <p:nvPr/>
        </p:nvCxnSpPr>
        <p:spPr>
          <a:xfrm flipV="1">
            <a:off x="3045694" y="4606575"/>
            <a:ext cx="339454" cy="480020"/>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934010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7A243-9CD9-2C0E-42CB-EFEF9A628B9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197B73-3DDC-C665-070F-D0770309FEDF}"/>
              </a:ext>
            </a:extLst>
          </p:cNvPr>
          <p:cNvSpPr>
            <a:spLocks noGrp="1"/>
          </p:cNvSpPr>
          <p:nvPr>
            <p:ph type="title"/>
          </p:nvPr>
        </p:nvSpPr>
        <p:spPr>
          <a:xfrm>
            <a:off x="267690" y="1412760"/>
            <a:ext cx="7209879" cy="965108"/>
          </a:xfrm>
        </p:spPr>
        <p:txBody>
          <a:bodyPr/>
          <a:lstStyle/>
          <a:p>
            <a:r>
              <a:rPr lang="en-US" altLang="zh-CN" sz="4800"/>
              <a:t>1. Login &amp; Setting</a:t>
            </a:r>
            <a:endParaRPr lang="zh-CN" altLang="en-US" sz="4800"/>
          </a:p>
        </p:txBody>
      </p:sp>
      <p:sp>
        <p:nvSpPr>
          <p:cNvPr id="4" name="文本占位符 3">
            <a:extLst>
              <a:ext uri="{FF2B5EF4-FFF2-40B4-BE49-F238E27FC236}">
                <a16:creationId xmlns:a16="http://schemas.microsoft.com/office/drawing/2014/main" id="{4B4A8870-6921-2A58-7E6E-54C3EEF8A40E}"/>
              </a:ext>
            </a:extLst>
          </p:cNvPr>
          <p:cNvSpPr>
            <a:spLocks noGrp="1"/>
          </p:cNvSpPr>
          <p:nvPr>
            <p:ph type="body" idx="11"/>
          </p:nvPr>
        </p:nvSpPr>
        <p:spPr>
          <a:xfrm>
            <a:off x="750528" y="5517488"/>
            <a:ext cx="6265272" cy="133626"/>
          </a:xfrm>
        </p:spPr>
        <p:txBody>
          <a:bodyPr/>
          <a:lstStyle/>
          <a:p>
            <a:r>
              <a:rPr lang="en-US" altLang="zh-CN" sz="1000"/>
              <a:t>Duration:		</a:t>
            </a:r>
            <a:r>
              <a:rPr lang="en-US" altLang="zh-CN"/>
              <a:t>5</a:t>
            </a:r>
            <a:r>
              <a:rPr lang="en-US" altLang="zh-CN" sz="1000"/>
              <a:t> Minutes</a:t>
            </a:r>
            <a:endParaRPr lang="zh-CN" altLang="en-US" sz="1000"/>
          </a:p>
        </p:txBody>
      </p:sp>
      <p:sp>
        <p:nvSpPr>
          <p:cNvPr id="5" name="文本占位符 4">
            <a:extLst>
              <a:ext uri="{FF2B5EF4-FFF2-40B4-BE49-F238E27FC236}">
                <a16:creationId xmlns:a16="http://schemas.microsoft.com/office/drawing/2014/main" id="{41365C2D-4656-5E9B-8C03-7AA29AA3D9E2}"/>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Login			- Joy Jiang</a:t>
            </a:r>
          </a:p>
          <a:p>
            <a:pPr marL="171450" indent="-171450">
              <a:lnSpc>
                <a:spcPct val="150000"/>
              </a:lnSpc>
              <a:buFont typeface="Arial" panose="020B0604020202020204" pitchFamily="34" charset="0"/>
              <a:buChar char="•"/>
            </a:pPr>
            <a:r>
              <a:rPr lang="en-US" altLang="zh-CN">
                <a:solidFill>
                  <a:schemeClr val="bg1"/>
                </a:solidFill>
              </a:rPr>
              <a:t>Setting			- Joy Jiang</a:t>
            </a:r>
          </a:p>
        </p:txBody>
      </p:sp>
    </p:spTree>
    <p:extLst>
      <p:ext uri="{BB962C8B-B14F-4D97-AF65-F5344CB8AC3E}">
        <p14:creationId xmlns:p14="http://schemas.microsoft.com/office/powerpoint/2010/main" val="23707538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387A-FF38-DBF2-3A8E-66CBDA94E87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3F0FA08-9475-7AFB-4D2D-9F1D2A8BFF92}"/>
              </a:ext>
            </a:extLst>
          </p:cNvPr>
          <p:cNvSpPr>
            <a:spLocks noGrp="1"/>
          </p:cNvSpPr>
          <p:nvPr>
            <p:ph type="title"/>
          </p:nvPr>
        </p:nvSpPr>
        <p:spPr/>
        <p:txBody>
          <a:bodyPr/>
          <a:lstStyle/>
          <a:p>
            <a:r>
              <a:rPr lang="en-US" altLang="zh-CN"/>
              <a:t>Login</a:t>
            </a:r>
            <a:endParaRPr lang="zh-CN" altLang="en-US"/>
          </a:p>
        </p:txBody>
      </p:sp>
      <p:pic>
        <p:nvPicPr>
          <p:cNvPr id="7" name="图片 6">
            <a:extLst>
              <a:ext uri="{FF2B5EF4-FFF2-40B4-BE49-F238E27FC236}">
                <a16:creationId xmlns:a16="http://schemas.microsoft.com/office/drawing/2014/main" id="{7D6F7FC5-7AD3-E2FC-E354-12E354681DB0}"/>
              </a:ext>
            </a:extLst>
          </p:cNvPr>
          <p:cNvPicPr>
            <a:picLocks noChangeAspect="1"/>
          </p:cNvPicPr>
          <p:nvPr/>
        </p:nvPicPr>
        <p:blipFill>
          <a:blip r:embed="rId2"/>
          <a:stretch>
            <a:fillRect/>
          </a:stretch>
        </p:blipFill>
        <p:spPr>
          <a:xfrm>
            <a:off x="334919" y="1563521"/>
            <a:ext cx="8324375" cy="3730957"/>
          </a:xfrm>
          <a:prstGeom prst="rect">
            <a:avLst/>
          </a:prstGeom>
        </p:spPr>
      </p:pic>
      <p:sp>
        <p:nvSpPr>
          <p:cNvPr id="5" name="Text 2">
            <a:extLst>
              <a:ext uri="{FF2B5EF4-FFF2-40B4-BE49-F238E27FC236}">
                <a16:creationId xmlns:a16="http://schemas.microsoft.com/office/drawing/2014/main" id="{B12F9688-89B5-3400-BA15-F837DC2B372A}"/>
              </a:ext>
            </a:extLst>
          </p:cNvPr>
          <p:cNvSpPr/>
          <p:nvPr/>
        </p:nvSpPr>
        <p:spPr>
          <a:xfrm>
            <a:off x="320181" y="752557"/>
            <a:ext cx="11639523" cy="725830"/>
          </a:xfrm>
          <a:prstGeom prst="rect">
            <a:avLst/>
          </a:prstGeom>
          <a:noFill/>
          <a:ln/>
        </p:spPr>
        <p:txBody>
          <a:bodyPr wrap="square" lIns="0" tIns="0" rIns="0" bIns="0" rtlCol="0" anchor="ctr">
            <a:normAutofit/>
          </a:bodyPr>
          <a:lstStyle/>
          <a:p>
            <a:r>
              <a:rPr lang="en-US" altLang="zh-CN" sz="1200">
                <a:cs typeface="Lato Light"/>
              </a:rPr>
              <a:t>The </a:t>
            </a:r>
            <a:r>
              <a:rPr lang="en-US" altLang="zh-CN" sz="1200" err="1">
                <a:cs typeface="Lato Light"/>
              </a:rPr>
              <a:t>NexBill</a:t>
            </a:r>
            <a:r>
              <a:rPr lang="en-US" altLang="zh-CN" sz="1200">
                <a:cs typeface="Lato Light"/>
              </a:rPr>
              <a:t> Login page provides secure access to the Lenovo Next Billing platform through Lenovo Single Sign-On (SSO). All users must be authenticated and authorized before accessing system functions.</a:t>
            </a:r>
          </a:p>
          <a:p>
            <a:r>
              <a:rPr lang="en-US" altLang="zh-CN" sz="1200" b="1"/>
              <a:t>Login:</a:t>
            </a:r>
            <a:r>
              <a:rPr lang="zh-CN" altLang="en-US" sz="1200" b="1"/>
              <a:t> </a:t>
            </a:r>
            <a:r>
              <a:rPr lang="en-US" altLang="zh-CN" sz="1200" b="1"/>
              <a:t>SSO → Access request → Role assignment → Login</a:t>
            </a:r>
            <a:endParaRPr lang="en-US" sz="1200" b="1">
              <a:cs typeface="Lato Light"/>
            </a:endParaRPr>
          </a:p>
        </p:txBody>
      </p:sp>
      <p:sp>
        <p:nvSpPr>
          <p:cNvPr id="6" name="TextBox 72">
            <a:extLst>
              <a:ext uri="{FF2B5EF4-FFF2-40B4-BE49-F238E27FC236}">
                <a16:creationId xmlns:a16="http://schemas.microsoft.com/office/drawing/2014/main" id="{F1527E7F-05DD-B316-753C-6982417EF9B1}"/>
              </a:ext>
            </a:extLst>
          </p:cNvPr>
          <p:cNvSpPr txBox="1"/>
          <p:nvPr/>
        </p:nvSpPr>
        <p:spPr>
          <a:xfrm>
            <a:off x="9070442" y="1478387"/>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Sign in with Lenovo SSO</a:t>
            </a:r>
            <a:endParaRPr lang="id-ID" sz="1300" b="1">
              <a:solidFill>
                <a:schemeClr val="accent6">
                  <a:lumMod val="75000"/>
                  <a:lumOff val="25000"/>
                </a:schemeClr>
              </a:solidFill>
              <a:latin typeface="+mj-lt"/>
              <a:cs typeface="Lato Regular"/>
            </a:endParaRPr>
          </a:p>
        </p:txBody>
      </p:sp>
      <p:sp>
        <p:nvSpPr>
          <p:cNvPr id="8" name="TextBox 73">
            <a:extLst>
              <a:ext uri="{FF2B5EF4-FFF2-40B4-BE49-F238E27FC236}">
                <a16:creationId xmlns:a16="http://schemas.microsoft.com/office/drawing/2014/main" id="{609BCBFE-98FF-8215-CE42-00D52C5660BB}"/>
              </a:ext>
            </a:extLst>
          </p:cNvPr>
          <p:cNvSpPr txBox="1"/>
          <p:nvPr/>
        </p:nvSpPr>
        <p:spPr>
          <a:xfrm>
            <a:off x="9068373" y="1738788"/>
            <a:ext cx="2570080" cy="400110"/>
          </a:xfrm>
          <a:prstGeom prst="rect">
            <a:avLst/>
          </a:prstGeom>
          <a:noFill/>
        </p:spPr>
        <p:txBody>
          <a:bodyPr wrap="square" rtlCol="0">
            <a:spAutoFit/>
          </a:bodyPr>
          <a:lstStyle/>
          <a:p>
            <a:r>
              <a:rPr lang="en-US" altLang="zh-CN" sz="1000">
                <a:latin typeface="+mj-lt"/>
                <a:cs typeface="Lato Light"/>
              </a:rPr>
              <a:t>Click </a:t>
            </a:r>
            <a:r>
              <a:rPr lang="en-US" altLang="zh-CN" sz="1000" b="1">
                <a:latin typeface="+mj-lt"/>
                <a:cs typeface="Lato Light"/>
              </a:rPr>
              <a:t>Sign in with Lenovo SSO </a:t>
            </a:r>
            <a:r>
              <a:rPr lang="en-US" altLang="zh-CN" sz="1000">
                <a:latin typeface="+mj-lt"/>
                <a:cs typeface="Lato Light"/>
              </a:rPr>
              <a:t>to access </a:t>
            </a:r>
            <a:r>
              <a:rPr lang="en-US" altLang="zh-CN" sz="1000" err="1">
                <a:latin typeface="+mj-lt"/>
                <a:cs typeface="Lato Light"/>
              </a:rPr>
              <a:t>NexBill</a:t>
            </a:r>
            <a:r>
              <a:rPr lang="en-US" altLang="zh-CN" sz="1000">
                <a:latin typeface="+mj-lt"/>
                <a:cs typeface="Lato Light"/>
              </a:rPr>
              <a:t> using your Lenovo IT Code.</a:t>
            </a:r>
          </a:p>
        </p:txBody>
      </p:sp>
      <p:sp>
        <p:nvSpPr>
          <p:cNvPr id="9" name="TextBox 82">
            <a:extLst>
              <a:ext uri="{FF2B5EF4-FFF2-40B4-BE49-F238E27FC236}">
                <a16:creationId xmlns:a16="http://schemas.microsoft.com/office/drawing/2014/main" id="{A0205D6B-E084-380E-1E74-5BD9E44E432A}"/>
              </a:ext>
            </a:extLst>
          </p:cNvPr>
          <p:cNvSpPr txBox="1"/>
          <p:nvPr/>
        </p:nvSpPr>
        <p:spPr>
          <a:xfrm>
            <a:off x="9068373" y="2340189"/>
            <a:ext cx="2529791" cy="292388"/>
          </a:xfrm>
          <a:prstGeom prst="rect">
            <a:avLst/>
          </a:prstGeom>
          <a:noFill/>
        </p:spPr>
        <p:txBody>
          <a:bodyPr wrap="square" rtlCol="0">
            <a:spAutoFit/>
          </a:bodyPr>
          <a:lstStyle/>
          <a:p>
            <a:r>
              <a:rPr lang="en-US" altLang="zh-CN" sz="1300" b="1">
                <a:solidFill>
                  <a:srgbClr val="126C36"/>
                </a:solidFill>
                <a:latin typeface="+mj-lt"/>
                <a:cs typeface="Lato Regular"/>
              </a:rPr>
              <a:t>F</a:t>
            </a:r>
            <a:r>
              <a:rPr lang="en-US" sz="1300" b="1">
                <a:solidFill>
                  <a:srgbClr val="126C36"/>
                </a:solidFill>
                <a:latin typeface="+mj-lt"/>
                <a:cs typeface="Lato Regular"/>
              </a:rPr>
              <a:t>irst-Time Login Process</a:t>
            </a:r>
            <a:endParaRPr lang="id-ID" sz="1300" b="1">
              <a:solidFill>
                <a:srgbClr val="126C36"/>
              </a:solidFill>
              <a:latin typeface="+mj-lt"/>
              <a:cs typeface="Lato Regular"/>
            </a:endParaRPr>
          </a:p>
        </p:txBody>
      </p:sp>
      <p:sp>
        <p:nvSpPr>
          <p:cNvPr id="10" name="TextBox 83">
            <a:extLst>
              <a:ext uri="{FF2B5EF4-FFF2-40B4-BE49-F238E27FC236}">
                <a16:creationId xmlns:a16="http://schemas.microsoft.com/office/drawing/2014/main" id="{9C6636CB-6EBB-C639-AB96-1BAB51E55537}"/>
              </a:ext>
            </a:extLst>
          </p:cNvPr>
          <p:cNvSpPr txBox="1"/>
          <p:nvPr/>
        </p:nvSpPr>
        <p:spPr>
          <a:xfrm>
            <a:off x="9080879" y="2586784"/>
            <a:ext cx="2695961" cy="1169551"/>
          </a:xfrm>
          <a:prstGeom prst="rect">
            <a:avLst/>
          </a:prstGeom>
          <a:noFill/>
        </p:spPr>
        <p:txBody>
          <a:bodyPr wrap="square" rtlCol="0">
            <a:spAutoFit/>
          </a:bodyPr>
          <a:lstStyle/>
          <a:p>
            <a:r>
              <a:rPr lang="en-US" sz="1000">
                <a:latin typeface="+mj-lt"/>
                <a:cs typeface="Lato Light"/>
              </a:rPr>
              <a:t>1. Click Sign in with Lenovo SSO.</a:t>
            </a:r>
          </a:p>
          <a:p>
            <a:r>
              <a:rPr lang="en-US" sz="1000">
                <a:latin typeface="+mj-lt"/>
                <a:cs typeface="Lato Light"/>
              </a:rPr>
              <a:t>2. </a:t>
            </a:r>
            <a:r>
              <a:rPr lang="en-US" sz="1000" err="1">
                <a:latin typeface="+mj-lt"/>
                <a:cs typeface="Lato Light"/>
              </a:rPr>
              <a:t>NexBill</a:t>
            </a:r>
            <a:r>
              <a:rPr lang="en-US" sz="1000">
                <a:latin typeface="+mj-lt"/>
                <a:cs typeface="Lato Light"/>
              </a:rPr>
              <a:t> automatically sends an access request to the </a:t>
            </a:r>
            <a:r>
              <a:rPr lang="en-US" sz="1000" err="1">
                <a:latin typeface="+mj-lt"/>
                <a:cs typeface="Lato Light"/>
              </a:rPr>
              <a:t>NexBill</a:t>
            </a:r>
            <a:r>
              <a:rPr lang="en-US" sz="1000">
                <a:latin typeface="+mj-lt"/>
                <a:cs typeface="Lato Light"/>
              </a:rPr>
              <a:t> Administrator.</a:t>
            </a:r>
          </a:p>
          <a:p>
            <a:r>
              <a:rPr lang="en-US" sz="1000">
                <a:latin typeface="+mj-lt"/>
                <a:cs typeface="Lato Light"/>
              </a:rPr>
              <a:t>3. The administrator assigns the required roles and permissions.</a:t>
            </a:r>
          </a:p>
          <a:p>
            <a:r>
              <a:rPr lang="en-US" sz="1000">
                <a:latin typeface="+mj-lt"/>
                <a:cs typeface="Lato Light"/>
              </a:rPr>
              <a:t>4. After approval, the user receives a notification email and can access </a:t>
            </a:r>
            <a:r>
              <a:rPr lang="en-US" sz="1000" err="1">
                <a:latin typeface="+mj-lt"/>
                <a:cs typeface="Lato Light"/>
              </a:rPr>
              <a:t>NexBill</a:t>
            </a:r>
            <a:r>
              <a:rPr lang="en-US" sz="1000">
                <a:latin typeface="+mj-lt"/>
                <a:cs typeface="Lato Light"/>
              </a:rPr>
              <a:t>.</a:t>
            </a:r>
          </a:p>
        </p:txBody>
      </p:sp>
      <p:sp>
        <p:nvSpPr>
          <p:cNvPr id="11" name="TextBox 92">
            <a:extLst>
              <a:ext uri="{FF2B5EF4-FFF2-40B4-BE49-F238E27FC236}">
                <a16:creationId xmlns:a16="http://schemas.microsoft.com/office/drawing/2014/main" id="{0A5AA4E5-CEFA-4B10-25AD-48786447B3E1}"/>
              </a:ext>
            </a:extLst>
          </p:cNvPr>
          <p:cNvSpPr txBox="1"/>
          <p:nvPr/>
        </p:nvSpPr>
        <p:spPr>
          <a:xfrm>
            <a:off x="9080879" y="4716428"/>
            <a:ext cx="1839512" cy="292388"/>
          </a:xfrm>
          <a:prstGeom prst="rect">
            <a:avLst/>
          </a:prstGeom>
          <a:noFill/>
        </p:spPr>
        <p:txBody>
          <a:bodyPr wrap="square" rtlCol="0">
            <a:spAutoFit/>
          </a:bodyPr>
          <a:lstStyle/>
          <a:p>
            <a:r>
              <a:rPr lang="en-US" sz="1300" b="1">
                <a:solidFill>
                  <a:schemeClr val="accent4">
                    <a:lumMod val="75000"/>
                    <a:lumOff val="25000"/>
                  </a:schemeClr>
                </a:solidFill>
                <a:latin typeface="+mj-lt"/>
                <a:cs typeface="Lato Regular"/>
              </a:rPr>
              <a:t>Access Control</a:t>
            </a:r>
            <a:endParaRPr lang="id-ID" sz="1300" b="1">
              <a:solidFill>
                <a:schemeClr val="accent4">
                  <a:lumMod val="75000"/>
                  <a:lumOff val="25000"/>
                </a:schemeClr>
              </a:solidFill>
              <a:latin typeface="+mj-lt"/>
              <a:cs typeface="Lato Regular"/>
            </a:endParaRPr>
          </a:p>
        </p:txBody>
      </p:sp>
      <p:sp>
        <p:nvSpPr>
          <p:cNvPr id="12" name="TextBox 97">
            <a:extLst>
              <a:ext uri="{FF2B5EF4-FFF2-40B4-BE49-F238E27FC236}">
                <a16:creationId xmlns:a16="http://schemas.microsoft.com/office/drawing/2014/main" id="{FD3FB615-AE47-E3B4-9506-CF4FCD970017}"/>
              </a:ext>
            </a:extLst>
          </p:cNvPr>
          <p:cNvSpPr txBox="1"/>
          <p:nvPr/>
        </p:nvSpPr>
        <p:spPr>
          <a:xfrm>
            <a:off x="9080879" y="3911833"/>
            <a:ext cx="1897289" cy="292388"/>
          </a:xfrm>
          <a:prstGeom prst="rect">
            <a:avLst/>
          </a:prstGeom>
          <a:noFill/>
        </p:spPr>
        <p:txBody>
          <a:bodyPr wrap="square" rtlCol="0">
            <a:spAutoFit/>
          </a:bodyPr>
          <a:lstStyle/>
          <a:p>
            <a:r>
              <a:rPr lang="en-US" sz="1300" b="1">
                <a:solidFill>
                  <a:srgbClr val="F26A52"/>
                </a:solidFill>
                <a:latin typeface="+mj-lt"/>
                <a:cs typeface="Lato Regular"/>
              </a:rPr>
              <a:t>Subsequent Logins</a:t>
            </a:r>
            <a:endParaRPr lang="id-ID" sz="1300" b="1">
              <a:solidFill>
                <a:schemeClr val="tx2"/>
              </a:solidFill>
              <a:latin typeface="+mj-lt"/>
              <a:cs typeface="Lato Regular"/>
            </a:endParaRPr>
          </a:p>
        </p:txBody>
      </p:sp>
      <p:sp>
        <p:nvSpPr>
          <p:cNvPr id="13" name="TextBox 98">
            <a:extLst>
              <a:ext uri="{FF2B5EF4-FFF2-40B4-BE49-F238E27FC236}">
                <a16:creationId xmlns:a16="http://schemas.microsoft.com/office/drawing/2014/main" id="{11C2EAB8-98BF-E79E-C0EA-41A6C0F7A07D}"/>
              </a:ext>
            </a:extLst>
          </p:cNvPr>
          <p:cNvSpPr txBox="1"/>
          <p:nvPr/>
        </p:nvSpPr>
        <p:spPr>
          <a:xfrm>
            <a:off x="9069190" y="4162017"/>
            <a:ext cx="2528974" cy="400110"/>
          </a:xfrm>
          <a:prstGeom prst="rect">
            <a:avLst/>
          </a:prstGeom>
          <a:noFill/>
        </p:spPr>
        <p:txBody>
          <a:bodyPr wrap="square" rtlCol="0">
            <a:spAutoFit/>
          </a:bodyPr>
          <a:lstStyle/>
          <a:p>
            <a:r>
              <a:rPr lang="en-US" sz="1000">
                <a:latin typeface="+mj-lt"/>
                <a:cs typeface="Lato Light"/>
              </a:rPr>
              <a:t>Authorized users can directly click Sign in with Lenovo SSO to access </a:t>
            </a:r>
            <a:r>
              <a:rPr lang="en-US" sz="1000" err="1">
                <a:latin typeface="+mj-lt"/>
                <a:cs typeface="Lato Light"/>
              </a:rPr>
              <a:t>NexBill</a:t>
            </a:r>
            <a:r>
              <a:rPr lang="en-US" sz="1000">
                <a:latin typeface="+mj-lt"/>
                <a:cs typeface="Lato Light"/>
              </a:rPr>
              <a:t>.</a:t>
            </a:r>
          </a:p>
        </p:txBody>
      </p:sp>
      <p:sp>
        <p:nvSpPr>
          <p:cNvPr id="14" name="Oval 111">
            <a:extLst>
              <a:ext uri="{FF2B5EF4-FFF2-40B4-BE49-F238E27FC236}">
                <a16:creationId xmlns:a16="http://schemas.microsoft.com/office/drawing/2014/main" id="{192495B2-9637-7ACF-33C0-9FDABBED1296}"/>
              </a:ext>
            </a:extLst>
          </p:cNvPr>
          <p:cNvSpPr/>
          <p:nvPr/>
        </p:nvSpPr>
        <p:spPr>
          <a:xfrm>
            <a:off x="8824650" y="154667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15" name="Oval 112">
            <a:extLst>
              <a:ext uri="{FF2B5EF4-FFF2-40B4-BE49-F238E27FC236}">
                <a16:creationId xmlns:a16="http://schemas.microsoft.com/office/drawing/2014/main" id="{B22A16FF-DF2E-73C2-F445-4A9D3BF176A0}"/>
              </a:ext>
            </a:extLst>
          </p:cNvPr>
          <p:cNvSpPr/>
          <p:nvPr/>
        </p:nvSpPr>
        <p:spPr>
          <a:xfrm>
            <a:off x="8839774" y="235818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16" name="Oval 113">
            <a:extLst>
              <a:ext uri="{FF2B5EF4-FFF2-40B4-BE49-F238E27FC236}">
                <a16:creationId xmlns:a16="http://schemas.microsoft.com/office/drawing/2014/main" id="{779498AA-54DF-A6CA-DBFB-9D7286783DC2}"/>
              </a:ext>
            </a:extLst>
          </p:cNvPr>
          <p:cNvSpPr/>
          <p:nvPr/>
        </p:nvSpPr>
        <p:spPr>
          <a:xfrm>
            <a:off x="8839773" y="4747295"/>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4</a:t>
            </a:r>
          </a:p>
        </p:txBody>
      </p:sp>
      <p:sp>
        <p:nvSpPr>
          <p:cNvPr id="17" name="Oval 114">
            <a:extLst>
              <a:ext uri="{FF2B5EF4-FFF2-40B4-BE49-F238E27FC236}">
                <a16:creationId xmlns:a16="http://schemas.microsoft.com/office/drawing/2014/main" id="{9F539DC3-9ADA-4C1B-5091-69AE21DB0034}"/>
              </a:ext>
            </a:extLst>
          </p:cNvPr>
          <p:cNvSpPr/>
          <p:nvPr/>
        </p:nvSpPr>
        <p:spPr>
          <a:xfrm>
            <a:off x="8830296" y="3920595"/>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
        <p:nvSpPr>
          <p:cNvPr id="18" name="TextBox 93">
            <a:extLst>
              <a:ext uri="{FF2B5EF4-FFF2-40B4-BE49-F238E27FC236}">
                <a16:creationId xmlns:a16="http://schemas.microsoft.com/office/drawing/2014/main" id="{ACB8172A-7A2A-8AC3-8BE1-542CA13C1D39}"/>
              </a:ext>
            </a:extLst>
          </p:cNvPr>
          <p:cNvSpPr txBox="1"/>
          <p:nvPr/>
        </p:nvSpPr>
        <p:spPr>
          <a:xfrm>
            <a:off x="9068372" y="4967913"/>
            <a:ext cx="2528973" cy="553998"/>
          </a:xfrm>
          <a:prstGeom prst="rect">
            <a:avLst/>
          </a:prstGeom>
          <a:noFill/>
        </p:spPr>
        <p:txBody>
          <a:bodyPr wrap="square" rtlCol="0">
            <a:spAutoFit/>
          </a:bodyPr>
          <a:lstStyle/>
          <a:p>
            <a:r>
              <a:rPr lang="en-US" sz="1000">
                <a:latin typeface="+mj-lt"/>
                <a:cs typeface="Lato Light"/>
              </a:rPr>
              <a:t>Access to menus, functions, and business operations is controlled based on assigned roles.</a:t>
            </a:r>
          </a:p>
        </p:txBody>
      </p:sp>
      <p:sp>
        <p:nvSpPr>
          <p:cNvPr id="20" name="Text 2">
            <a:extLst>
              <a:ext uri="{FF2B5EF4-FFF2-40B4-BE49-F238E27FC236}">
                <a16:creationId xmlns:a16="http://schemas.microsoft.com/office/drawing/2014/main" id="{54F5F175-E2B6-7D14-BA17-17ACA8C15C11}"/>
              </a:ext>
            </a:extLst>
          </p:cNvPr>
          <p:cNvSpPr/>
          <p:nvPr/>
        </p:nvSpPr>
        <p:spPr>
          <a:xfrm>
            <a:off x="334919" y="5379612"/>
            <a:ext cx="8324375" cy="886025"/>
          </a:xfrm>
          <a:prstGeom prst="rect">
            <a:avLst/>
          </a:prstGeom>
          <a:noFill/>
          <a:ln/>
        </p:spPr>
        <p:txBody>
          <a:bodyPr wrap="square" lIns="0" tIns="0" rIns="0" bIns="0" rtlCol="0" anchor="ctr">
            <a:normAutofit/>
          </a:bodyPr>
          <a:lstStyle/>
          <a:p>
            <a:r>
              <a:rPr lang="en-US" altLang="zh-CN" sz="1000">
                <a:cs typeface="Lato Light"/>
              </a:rPr>
              <a:t>Note: If login access has not yet been approved, users will not be able to enter the </a:t>
            </a:r>
            <a:r>
              <a:rPr lang="en-US" altLang="zh-CN" sz="1000" err="1">
                <a:cs typeface="Lato Light"/>
              </a:rPr>
              <a:t>NexBill</a:t>
            </a:r>
            <a:r>
              <a:rPr lang="en-US" altLang="zh-CN" sz="1000">
                <a:cs typeface="Lato Light"/>
              </a:rPr>
              <a:t> system after SSO authentication. Please contact the </a:t>
            </a:r>
            <a:r>
              <a:rPr lang="en-US" altLang="zh-CN" sz="1000" err="1">
                <a:cs typeface="Lato Light"/>
              </a:rPr>
              <a:t>NexBill</a:t>
            </a:r>
            <a:r>
              <a:rPr lang="en-US" altLang="zh-CN" sz="1000">
                <a:cs typeface="Lato Light"/>
              </a:rPr>
              <a:t> administrator if access approval is required urgently.</a:t>
            </a:r>
          </a:p>
          <a:p>
            <a:endParaRPr lang="en-US" altLang="zh-CN" sz="1000">
              <a:cs typeface="Lato Light"/>
            </a:endParaRPr>
          </a:p>
          <a:p>
            <a:r>
              <a:rPr lang="en-US" altLang="zh-CN" sz="1000" err="1">
                <a:cs typeface="Lato Light"/>
              </a:rPr>
              <a:t>Nexbill</a:t>
            </a:r>
            <a:r>
              <a:rPr lang="en-US" altLang="zh-CN" sz="1000">
                <a:cs typeface="Lato Light"/>
              </a:rPr>
              <a:t> UAT: </a:t>
            </a:r>
            <a:r>
              <a:rPr lang="en-US" altLang="zh-CN" sz="1000">
                <a:cs typeface="Lato Light"/>
                <a:hlinkClick r:id="rId3"/>
              </a:rPr>
              <a:t>https://nbl-uat.lenovo.com/</a:t>
            </a:r>
            <a:endParaRPr lang="en-US" altLang="zh-CN" sz="1000">
              <a:cs typeface="Lato Light"/>
            </a:endParaRPr>
          </a:p>
          <a:p>
            <a:r>
              <a:rPr lang="en-US" altLang="zh-CN" sz="1000" err="1">
                <a:cs typeface="Lato Light"/>
              </a:rPr>
              <a:t>Nexbill</a:t>
            </a:r>
            <a:r>
              <a:rPr lang="en-US" altLang="zh-CN" sz="1000">
                <a:cs typeface="Lato Light"/>
              </a:rPr>
              <a:t> PRD: </a:t>
            </a:r>
            <a:r>
              <a:rPr lang="en-US" altLang="zh-CN" sz="1000">
                <a:cs typeface="Lato Light"/>
                <a:hlinkClick r:id="rId4"/>
              </a:rPr>
              <a:t>https://nbl.lenovo.com/</a:t>
            </a:r>
            <a:endParaRPr lang="en-US" altLang="zh-CN" sz="1000">
              <a:cs typeface="Lato Light"/>
            </a:endParaRPr>
          </a:p>
        </p:txBody>
      </p:sp>
      <p:sp>
        <p:nvSpPr>
          <p:cNvPr id="2" name="Oval 111">
            <a:extLst>
              <a:ext uri="{FF2B5EF4-FFF2-40B4-BE49-F238E27FC236}">
                <a16:creationId xmlns:a16="http://schemas.microsoft.com/office/drawing/2014/main" id="{D000CCA9-BEB4-35CB-3679-3EA7E92469BC}"/>
              </a:ext>
            </a:extLst>
          </p:cNvPr>
          <p:cNvSpPr/>
          <p:nvPr/>
        </p:nvSpPr>
        <p:spPr>
          <a:xfrm>
            <a:off x="6796154" y="398553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Tree>
    <p:extLst>
      <p:ext uri="{BB962C8B-B14F-4D97-AF65-F5344CB8AC3E}">
        <p14:creationId xmlns:p14="http://schemas.microsoft.com/office/powerpoint/2010/main" val="25160718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4" grpId="0" animBg="1"/>
      <p:bldP spid="15" grpId="0" animBg="1"/>
      <p:bldP spid="16" grpId="0" animBg="1"/>
      <p:bldP spid="17" grpId="0" animBg="1"/>
      <p:bldP spid="18" grpId="0"/>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0E82C-01CF-0B4A-1498-C64E7947179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1ED2264-0460-45DC-EEBA-05D802E65D3D}"/>
              </a:ext>
            </a:extLst>
          </p:cNvPr>
          <p:cNvSpPr>
            <a:spLocks noGrp="1"/>
          </p:cNvSpPr>
          <p:nvPr>
            <p:ph type="title"/>
          </p:nvPr>
        </p:nvSpPr>
        <p:spPr/>
        <p:txBody>
          <a:bodyPr/>
          <a:lstStyle/>
          <a:p>
            <a:r>
              <a:rPr lang="en-US" altLang="zh-CN"/>
              <a:t>Setting</a:t>
            </a:r>
            <a:endParaRPr lang="zh-CN" altLang="en-US"/>
          </a:p>
        </p:txBody>
      </p:sp>
      <p:sp>
        <p:nvSpPr>
          <p:cNvPr id="5" name="Text 2">
            <a:extLst>
              <a:ext uri="{FF2B5EF4-FFF2-40B4-BE49-F238E27FC236}">
                <a16:creationId xmlns:a16="http://schemas.microsoft.com/office/drawing/2014/main" id="{4DA9271D-8F6F-5A2A-0A7B-55BE36ED9439}"/>
              </a:ext>
            </a:extLst>
          </p:cNvPr>
          <p:cNvSpPr/>
          <p:nvPr/>
        </p:nvSpPr>
        <p:spPr>
          <a:xfrm>
            <a:off x="320181" y="729868"/>
            <a:ext cx="11639523" cy="640203"/>
          </a:xfrm>
          <a:prstGeom prst="rect">
            <a:avLst/>
          </a:prstGeom>
          <a:noFill/>
          <a:ln/>
        </p:spPr>
        <p:txBody>
          <a:bodyPr wrap="square" lIns="0" tIns="0" rIns="0" bIns="0" rtlCol="0" anchor="ctr">
            <a:normAutofit/>
          </a:bodyPr>
          <a:lstStyle/>
          <a:p>
            <a:r>
              <a:rPr lang="en-US" altLang="zh-CN" sz="1200">
                <a:cs typeface="Lato Light"/>
              </a:rPr>
              <a:t>The Setting page allows users to personalize their </a:t>
            </a:r>
            <a:r>
              <a:rPr lang="en-US" altLang="zh-CN" sz="1200" err="1">
                <a:cs typeface="Lato Light"/>
              </a:rPr>
              <a:t>NexBill</a:t>
            </a:r>
            <a:r>
              <a:rPr lang="en-US" altLang="zh-CN" sz="1200">
                <a:cs typeface="Lato Light"/>
              </a:rPr>
              <a:t> workspace. Users can customize the visual appearance, font style, layout preferences, amount visibility, and animation settings to create a more comfortable and productive working environment.</a:t>
            </a:r>
          </a:p>
          <a:p>
            <a:r>
              <a:rPr lang="en-US" altLang="zh-CN" sz="1200">
                <a:cs typeface="Lato Light"/>
              </a:rPr>
              <a:t>All settings are applied immediately and are saved </a:t>
            </a:r>
            <a:r>
              <a:rPr lang="en-US" altLang="zh-CN" sz="1200" b="1">
                <a:cs typeface="Lato Light"/>
              </a:rPr>
              <a:t>in the user's browser</a:t>
            </a:r>
            <a:r>
              <a:rPr lang="en-US" altLang="zh-CN" sz="1200">
                <a:cs typeface="Lato Light"/>
              </a:rPr>
              <a:t>. Users can also restore the default configuration at any time by selecting </a:t>
            </a:r>
            <a:r>
              <a:rPr lang="en-US" altLang="zh-CN" sz="1200" b="1">
                <a:cs typeface="Lato Light"/>
              </a:rPr>
              <a:t>Reset to Defaults</a:t>
            </a:r>
            <a:r>
              <a:rPr lang="en-US" altLang="zh-CN" sz="1200">
                <a:cs typeface="Lato Light"/>
              </a:rPr>
              <a:t>.</a:t>
            </a:r>
          </a:p>
        </p:txBody>
      </p:sp>
      <p:sp>
        <p:nvSpPr>
          <p:cNvPr id="6" name="TextBox 72">
            <a:extLst>
              <a:ext uri="{FF2B5EF4-FFF2-40B4-BE49-F238E27FC236}">
                <a16:creationId xmlns:a16="http://schemas.microsoft.com/office/drawing/2014/main" id="{5DFC65DF-ACAC-6D44-D0AA-741A01FDE4E8}"/>
              </a:ext>
            </a:extLst>
          </p:cNvPr>
          <p:cNvSpPr txBox="1"/>
          <p:nvPr/>
        </p:nvSpPr>
        <p:spPr>
          <a:xfrm>
            <a:off x="8396265" y="1457571"/>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Appearance</a:t>
            </a:r>
            <a:endParaRPr lang="id-ID" sz="1300" b="1">
              <a:solidFill>
                <a:schemeClr val="accent6">
                  <a:lumMod val="75000"/>
                  <a:lumOff val="25000"/>
                </a:schemeClr>
              </a:solidFill>
              <a:latin typeface="+mj-lt"/>
              <a:cs typeface="Lato Regular"/>
            </a:endParaRPr>
          </a:p>
        </p:txBody>
      </p:sp>
      <p:sp>
        <p:nvSpPr>
          <p:cNvPr id="8" name="TextBox 73">
            <a:extLst>
              <a:ext uri="{FF2B5EF4-FFF2-40B4-BE49-F238E27FC236}">
                <a16:creationId xmlns:a16="http://schemas.microsoft.com/office/drawing/2014/main" id="{E41EC0F7-FCB7-04A5-63E1-71C34CB7E333}"/>
              </a:ext>
            </a:extLst>
          </p:cNvPr>
          <p:cNvSpPr txBox="1"/>
          <p:nvPr/>
        </p:nvSpPr>
        <p:spPr>
          <a:xfrm>
            <a:off x="8394196" y="1717972"/>
            <a:ext cx="3546104" cy="1692771"/>
          </a:xfrm>
          <a:prstGeom prst="rect">
            <a:avLst/>
          </a:prstGeom>
          <a:noFill/>
        </p:spPr>
        <p:txBody>
          <a:bodyPr wrap="square" rtlCol="0">
            <a:spAutoFit/>
          </a:bodyPr>
          <a:lstStyle/>
          <a:p>
            <a:r>
              <a:rPr lang="en-US" altLang="zh-CN" sz="1000">
                <a:latin typeface="+mj-lt"/>
                <a:cs typeface="Lato Light"/>
              </a:rPr>
              <a:t>The Appearance section allows users to customize the overall look and feel of the </a:t>
            </a:r>
            <a:r>
              <a:rPr lang="en-US" altLang="zh-CN" sz="1000" err="1">
                <a:latin typeface="+mj-lt"/>
                <a:cs typeface="Lato Light"/>
              </a:rPr>
              <a:t>NexBill</a:t>
            </a:r>
            <a:r>
              <a:rPr lang="en-US" altLang="zh-CN" sz="1000">
                <a:latin typeface="+mj-lt"/>
                <a:cs typeface="Lato Light"/>
              </a:rPr>
              <a:t> interface.</a:t>
            </a:r>
            <a:endParaRPr lang="en-US" sz="1000" b="1">
              <a:latin typeface="+mj-lt"/>
              <a:cs typeface="Lato Light"/>
            </a:endParaRPr>
          </a:p>
          <a:p>
            <a:r>
              <a:rPr lang="en-US" sz="1000" b="1">
                <a:latin typeface="+mj-lt"/>
                <a:cs typeface="Lato Light"/>
              </a:rPr>
              <a:t>Theme</a:t>
            </a:r>
          </a:p>
          <a:p>
            <a:r>
              <a:rPr lang="en-US" sz="1000">
                <a:latin typeface="+mj-lt"/>
                <a:cs typeface="Lato Light"/>
              </a:rPr>
              <a:t>Choose </a:t>
            </a:r>
            <a:r>
              <a:rPr lang="en-US" sz="1000" b="1">
                <a:latin typeface="+mj-lt"/>
                <a:cs typeface="Lato Light"/>
              </a:rPr>
              <a:t>Light, Dark, or System </a:t>
            </a:r>
            <a:r>
              <a:rPr lang="en-US" sz="1000">
                <a:latin typeface="+mj-lt"/>
                <a:cs typeface="Lato Light"/>
              </a:rPr>
              <a:t>mode.</a:t>
            </a:r>
          </a:p>
          <a:p>
            <a:endParaRPr lang="en-US" sz="1000">
              <a:latin typeface="+mj-lt"/>
              <a:cs typeface="Lato Light"/>
            </a:endParaRPr>
          </a:p>
          <a:p>
            <a:r>
              <a:rPr lang="en-US" sz="1000" b="1">
                <a:latin typeface="+mj-lt"/>
                <a:cs typeface="Lato Light"/>
              </a:rPr>
              <a:t>Corner Radius</a:t>
            </a:r>
          </a:p>
          <a:p>
            <a:r>
              <a:rPr lang="en-US" altLang="zh-CN" sz="1000">
                <a:cs typeface="Lato Light"/>
              </a:rPr>
              <a:t>Choose </a:t>
            </a:r>
            <a:r>
              <a:rPr lang="en-US" sz="1000" b="1">
                <a:latin typeface="+mj-lt"/>
                <a:cs typeface="Lato Light"/>
              </a:rPr>
              <a:t>Sharp, Default,</a:t>
            </a:r>
            <a:r>
              <a:rPr lang="en-US" sz="1000">
                <a:latin typeface="+mj-lt"/>
                <a:cs typeface="Lato Light"/>
              </a:rPr>
              <a:t> </a:t>
            </a:r>
            <a:r>
              <a:rPr lang="en-US" sz="1000" b="1">
                <a:latin typeface="+mj-lt"/>
                <a:cs typeface="Lato Light"/>
              </a:rPr>
              <a:t>or</a:t>
            </a:r>
            <a:r>
              <a:rPr lang="en-US" sz="1000">
                <a:latin typeface="+mj-lt"/>
                <a:cs typeface="Lato Light"/>
              </a:rPr>
              <a:t> </a:t>
            </a:r>
            <a:r>
              <a:rPr lang="en-US" sz="1000" b="1">
                <a:latin typeface="+mj-lt"/>
                <a:cs typeface="Lato Light"/>
              </a:rPr>
              <a:t>Rounded</a:t>
            </a:r>
            <a:r>
              <a:rPr lang="en-US" sz="1000">
                <a:latin typeface="+mj-lt"/>
                <a:cs typeface="Lato Light"/>
              </a:rPr>
              <a:t> mode.</a:t>
            </a:r>
          </a:p>
          <a:p>
            <a:endParaRPr lang="en-US" sz="1000">
              <a:latin typeface="+mj-lt"/>
              <a:cs typeface="Lato Light"/>
            </a:endParaRPr>
          </a:p>
          <a:p>
            <a:r>
              <a:rPr lang="en-US" sz="1000">
                <a:latin typeface="+mj-lt"/>
                <a:cs typeface="Lato Light"/>
              </a:rPr>
              <a:t>A preview area is provided to demonstrate how the selected theme and style will appear within the application.</a:t>
            </a:r>
          </a:p>
        </p:txBody>
      </p:sp>
      <p:sp>
        <p:nvSpPr>
          <p:cNvPr id="14" name="Oval 111">
            <a:extLst>
              <a:ext uri="{FF2B5EF4-FFF2-40B4-BE49-F238E27FC236}">
                <a16:creationId xmlns:a16="http://schemas.microsoft.com/office/drawing/2014/main" id="{969D5B4C-1DA3-7058-8169-8A9F19221346}"/>
              </a:ext>
            </a:extLst>
          </p:cNvPr>
          <p:cNvSpPr/>
          <p:nvPr/>
        </p:nvSpPr>
        <p:spPr>
          <a:xfrm>
            <a:off x="8150473" y="152585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28" name="图片 27">
            <a:extLst>
              <a:ext uri="{FF2B5EF4-FFF2-40B4-BE49-F238E27FC236}">
                <a16:creationId xmlns:a16="http://schemas.microsoft.com/office/drawing/2014/main" id="{BC36B951-1175-C563-9841-C27DF9B4ACA9}"/>
              </a:ext>
            </a:extLst>
          </p:cNvPr>
          <p:cNvPicPr>
            <a:picLocks noChangeAspect="1"/>
          </p:cNvPicPr>
          <p:nvPr/>
        </p:nvPicPr>
        <p:blipFill>
          <a:blip r:embed="rId3"/>
          <a:stretch>
            <a:fillRect/>
          </a:stretch>
        </p:blipFill>
        <p:spPr>
          <a:xfrm>
            <a:off x="232120" y="1388725"/>
            <a:ext cx="2074901" cy="1029282"/>
          </a:xfrm>
          <a:prstGeom prst="rect">
            <a:avLst/>
          </a:prstGeom>
        </p:spPr>
      </p:pic>
      <p:pic>
        <p:nvPicPr>
          <p:cNvPr id="29" name="图片 28">
            <a:extLst>
              <a:ext uri="{FF2B5EF4-FFF2-40B4-BE49-F238E27FC236}">
                <a16:creationId xmlns:a16="http://schemas.microsoft.com/office/drawing/2014/main" id="{8F1552C7-9DA1-F85A-DC34-A7831D38CCEB}"/>
              </a:ext>
            </a:extLst>
          </p:cNvPr>
          <p:cNvPicPr>
            <a:picLocks noChangeAspect="1"/>
          </p:cNvPicPr>
          <p:nvPr/>
        </p:nvPicPr>
        <p:blipFill>
          <a:blip r:embed="rId4"/>
          <a:stretch>
            <a:fillRect/>
          </a:stretch>
        </p:blipFill>
        <p:spPr>
          <a:xfrm>
            <a:off x="232120" y="2406053"/>
            <a:ext cx="7741761" cy="4221058"/>
          </a:xfrm>
          <a:prstGeom prst="rect">
            <a:avLst/>
          </a:prstGeom>
        </p:spPr>
      </p:pic>
      <p:sp>
        <p:nvSpPr>
          <p:cNvPr id="30" name="Oval 111">
            <a:extLst>
              <a:ext uri="{FF2B5EF4-FFF2-40B4-BE49-F238E27FC236}">
                <a16:creationId xmlns:a16="http://schemas.microsoft.com/office/drawing/2014/main" id="{657819DF-01A8-C2C0-DD42-A6E69D4E5F9C}"/>
              </a:ext>
            </a:extLst>
          </p:cNvPr>
          <p:cNvSpPr/>
          <p:nvPr/>
        </p:nvSpPr>
        <p:spPr>
          <a:xfrm>
            <a:off x="1987672" y="320040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34" name="TextBox 82">
            <a:extLst>
              <a:ext uri="{FF2B5EF4-FFF2-40B4-BE49-F238E27FC236}">
                <a16:creationId xmlns:a16="http://schemas.microsoft.com/office/drawing/2014/main" id="{61119B33-B2E2-0214-546B-433BBBD26776}"/>
              </a:ext>
            </a:extLst>
          </p:cNvPr>
          <p:cNvSpPr txBox="1"/>
          <p:nvPr/>
        </p:nvSpPr>
        <p:spPr>
          <a:xfrm>
            <a:off x="8394196" y="3410743"/>
            <a:ext cx="2529791" cy="292388"/>
          </a:xfrm>
          <a:prstGeom prst="rect">
            <a:avLst/>
          </a:prstGeom>
          <a:noFill/>
        </p:spPr>
        <p:txBody>
          <a:bodyPr wrap="square" rtlCol="0">
            <a:spAutoFit/>
          </a:bodyPr>
          <a:lstStyle/>
          <a:p>
            <a:r>
              <a:rPr lang="en-US" altLang="zh-CN" sz="1300" b="1">
                <a:solidFill>
                  <a:srgbClr val="126C36"/>
                </a:solidFill>
                <a:latin typeface="+mj-lt"/>
                <a:cs typeface="Lato Regular"/>
              </a:rPr>
              <a:t>Amount Visibility</a:t>
            </a:r>
          </a:p>
        </p:txBody>
      </p:sp>
      <p:sp>
        <p:nvSpPr>
          <p:cNvPr id="35" name="Oval 112">
            <a:extLst>
              <a:ext uri="{FF2B5EF4-FFF2-40B4-BE49-F238E27FC236}">
                <a16:creationId xmlns:a16="http://schemas.microsoft.com/office/drawing/2014/main" id="{B9663459-F62B-FE13-8645-B3788458A966}"/>
              </a:ext>
            </a:extLst>
          </p:cNvPr>
          <p:cNvSpPr/>
          <p:nvPr/>
        </p:nvSpPr>
        <p:spPr>
          <a:xfrm>
            <a:off x="8165597" y="342873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36" name="TextBox 93">
            <a:extLst>
              <a:ext uri="{FF2B5EF4-FFF2-40B4-BE49-F238E27FC236}">
                <a16:creationId xmlns:a16="http://schemas.microsoft.com/office/drawing/2014/main" id="{1FDFEA88-3DD5-46A8-2FD0-39E36CA709FA}"/>
              </a:ext>
            </a:extLst>
          </p:cNvPr>
          <p:cNvSpPr txBox="1"/>
          <p:nvPr/>
        </p:nvSpPr>
        <p:spPr>
          <a:xfrm>
            <a:off x="8394195" y="3657338"/>
            <a:ext cx="3561227" cy="2277547"/>
          </a:xfrm>
          <a:prstGeom prst="rect">
            <a:avLst/>
          </a:prstGeom>
          <a:noFill/>
        </p:spPr>
        <p:txBody>
          <a:bodyPr wrap="square" rtlCol="0">
            <a:spAutoFit/>
          </a:bodyPr>
          <a:lstStyle/>
          <a:p>
            <a:r>
              <a:rPr lang="en-US" altLang="zh-CN" sz="1000">
                <a:cs typeface="Lato Light"/>
              </a:rPr>
              <a:t>Show or hide monetary amounts displayed in </a:t>
            </a:r>
            <a:r>
              <a:rPr lang="en-US" altLang="zh-CN" sz="1000" err="1">
                <a:cs typeface="Lato Light"/>
              </a:rPr>
              <a:t>NexBill</a:t>
            </a:r>
            <a:r>
              <a:rPr lang="en-US" altLang="zh-CN" sz="1000">
                <a:cs typeface="Lato Light"/>
              </a:rPr>
              <a:t>.</a:t>
            </a:r>
          </a:p>
          <a:p>
            <a:endParaRPr lang="en-US" altLang="zh-CN" sz="1000">
              <a:cs typeface="Lato Light"/>
            </a:endParaRPr>
          </a:p>
          <a:p>
            <a:r>
              <a:rPr lang="en-US" altLang="zh-CN" sz="1000" b="1">
                <a:cs typeface="Lato Light"/>
              </a:rPr>
              <a:t>Show Amount Data</a:t>
            </a:r>
          </a:p>
          <a:p>
            <a:r>
              <a:rPr lang="en-US" altLang="zh-CN" sz="1000" b="1">
                <a:cs typeface="Lato Light"/>
              </a:rPr>
              <a:t>Enabled</a:t>
            </a:r>
            <a:r>
              <a:rPr lang="en-US" altLang="zh-CN" sz="1000">
                <a:cs typeface="Lato Light"/>
              </a:rPr>
              <a:t>: Monetary values are displayed normally.</a:t>
            </a:r>
          </a:p>
          <a:p>
            <a:r>
              <a:rPr lang="en-US" altLang="zh-CN" sz="1000" b="1">
                <a:cs typeface="Lato Light"/>
              </a:rPr>
              <a:t>Disabled</a:t>
            </a:r>
            <a:r>
              <a:rPr lang="en-US" altLang="zh-CN" sz="1000">
                <a:cs typeface="Lato Light"/>
              </a:rPr>
              <a:t>: Monetary values are masked and displayed as ****.</a:t>
            </a:r>
          </a:p>
          <a:p>
            <a:endParaRPr lang="en-US" altLang="zh-CN" sz="1000">
              <a:cs typeface="Lato Light"/>
            </a:endParaRPr>
          </a:p>
          <a:p>
            <a:r>
              <a:rPr lang="en-US" altLang="zh-CN" sz="1000">
                <a:cs typeface="Lato Light"/>
              </a:rPr>
              <a:t>This setting applies across major business modules, including:</a:t>
            </a:r>
          </a:p>
          <a:p>
            <a:r>
              <a:rPr lang="en-US" altLang="zh-CN" sz="1000">
                <a:cs typeface="Lato Light"/>
              </a:rPr>
              <a:t>Order Management</a:t>
            </a:r>
          </a:p>
          <a:p>
            <a:r>
              <a:rPr lang="en-US" altLang="zh-CN" sz="1000">
                <a:cs typeface="Lato Light"/>
              </a:rPr>
              <a:t>Invoice Management</a:t>
            </a:r>
          </a:p>
          <a:p>
            <a:r>
              <a:rPr lang="en-US" altLang="zh-CN" sz="1000">
                <a:cs typeface="Lato Light"/>
              </a:rPr>
              <a:t>Finance &amp; Revenue</a:t>
            </a:r>
          </a:p>
          <a:p>
            <a:endParaRPr lang="en-US" altLang="zh-CN" sz="1000">
              <a:cs typeface="Lato Light"/>
            </a:endParaRPr>
          </a:p>
          <a:p>
            <a:r>
              <a:rPr lang="en-US" altLang="zh-CN" sz="1000">
                <a:cs typeface="Lato Light"/>
              </a:rPr>
              <a:t>This feature helps protect sensitive financial information when sharing screens or working in public environments.</a:t>
            </a:r>
          </a:p>
        </p:txBody>
      </p:sp>
      <p:sp>
        <p:nvSpPr>
          <p:cNvPr id="37" name="Oval 112">
            <a:extLst>
              <a:ext uri="{FF2B5EF4-FFF2-40B4-BE49-F238E27FC236}">
                <a16:creationId xmlns:a16="http://schemas.microsoft.com/office/drawing/2014/main" id="{BBAAF2FA-72FC-3571-7465-DD8ADE177B26}"/>
              </a:ext>
            </a:extLst>
          </p:cNvPr>
          <p:cNvSpPr/>
          <p:nvPr/>
        </p:nvSpPr>
        <p:spPr>
          <a:xfrm>
            <a:off x="1913458" y="571306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Tree>
    <p:extLst>
      <p:ext uri="{BB962C8B-B14F-4D97-AF65-F5344CB8AC3E}">
        <p14:creationId xmlns:p14="http://schemas.microsoft.com/office/powerpoint/2010/main" val="19737815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4" grpId="0" animBg="1"/>
      <p:bldP spid="30" grpId="0" animBg="1"/>
      <p:bldP spid="34" grpId="0"/>
      <p:bldP spid="35" grpId="0" animBg="1"/>
      <p:bldP spid="36" grpId="0"/>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148F3-375D-F3F3-CE49-1641B034EEAD}"/>
            </a:ext>
          </a:extLst>
        </p:cNvPr>
        <p:cNvGrpSpPr/>
        <p:nvPr/>
      </p:nvGrpSpPr>
      <p:grpSpPr>
        <a:xfrm>
          <a:off x="0" y="0"/>
          <a:ext cx="0" cy="0"/>
          <a:chOff x="0" y="0"/>
          <a:chExt cx="0" cy="0"/>
        </a:xfrm>
      </p:grpSpPr>
      <p:pic>
        <p:nvPicPr>
          <p:cNvPr id="30" name="图片 29">
            <a:extLst>
              <a:ext uri="{FF2B5EF4-FFF2-40B4-BE49-F238E27FC236}">
                <a16:creationId xmlns:a16="http://schemas.microsoft.com/office/drawing/2014/main" id="{76816A22-7389-498D-FBBD-1D36ECEA78C1}"/>
              </a:ext>
            </a:extLst>
          </p:cNvPr>
          <p:cNvPicPr>
            <a:picLocks noChangeAspect="1"/>
          </p:cNvPicPr>
          <p:nvPr/>
        </p:nvPicPr>
        <p:blipFill>
          <a:blip r:embed="rId2"/>
          <a:stretch>
            <a:fillRect/>
          </a:stretch>
        </p:blipFill>
        <p:spPr>
          <a:xfrm>
            <a:off x="320181" y="1235712"/>
            <a:ext cx="7007472" cy="4572647"/>
          </a:xfrm>
          <a:prstGeom prst="rect">
            <a:avLst/>
          </a:prstGeom>
        </p:spPr>
      </p:pic>
      <p:sp>
        <p:nvSpPr>
          <p:cNvPr id="3" name="标题 2">
            <a:extLst>
              <a:ext uri="{FF2B5EF4-FFF2-40B4-BE49-F238E27FC236}">
                <a16:creationId xmlns:a16="http://schemas.microsoft.com/office/drawing/2014/main" id="{48573671-1D21-C5CB-344F-CFD0E3605A49}"/>
              </a:ext>
            </a:extLst>
          </p:cNvPr>
          <p:cNvSpPr>
            <a:spLocks noGrp="1"/>
          </p:cNvSpPr>
          <p:nvPr>
            <p:ph type="title"/>
          </p:nvPr>
        </p:nvSpPr>
        <p:spPr/>
        <p:txBody>
          <a:bodyPr/>
          <a:lstStyle/>
          <a:p>
            <a:r>
              <a:rPr lang="en-US" altLang="zh-CN"/>
              <a:t>Setting</a:t>
            </a:r>
            <a:endParaRPr lang="zh-CN" altLang="en-US"/>
          </a:p>
        </p:txBody>
      </p:sp>
      <p:sp>
        <p:nvSpPr>
          <p:cNvPr id="5" name="Text 2">
            <a:extLst>
              <a:ext uri="{FF2B5EF4-FFF2-40B4-BE49-F238E27FC236}">
                <a16:creationId xmlns:a16="http://schemas.microsoft.com/office/drawing/2014/main" id="{89CCFCC7-274D-0AA2-954F-E58B59C1AA88}"/>
              </a:ext>
            </a:extLst>
          </p:cNvPr>
          <p:cNvSpPr/>
          <p:nvPr/>
        </p:nvSpPr>
        <p:spPr>
          <a:xfrm>
            <a:off x="320181" y="751544"/>
            <a:ext cx="11639523" cy="387719"/>
          </a:xfrm>
          <a:prstGeom prst="rect">
            <a:avLst/>
          </a:prstGeom>
          <a:noFill/>
          <a:ln/>
        </p:spPr>
        <p:txBody>
          <a:bodyPr wrap="square" lIns="0" tIns="0" rIns="0" bIns="0" rtlCol="0" anchor="ctr">
            <a:normAutofit/>
          </a:bodyPr>
          <a:lstStyle/>
          <a:p>
            <a:r>
              <a:rPr lang="en-US" altLang="zh-CN" sz="1200">
                <a:cs typeface="Lato Light"/>
              </a:rPr>
              <a:t>All settings are applied immediately and are saved in the user's browser. Users can also restore the default configuration at any time by selecting Reset to Defaults.</a:t>
            </a:r>
          </a:p>
        </p:txBody>
      </p:sp>
      <p:sp>
        <p:nvSpPr>
          <p:cNvPr id="12" name="TextBox 98">
            <a:extLst>
              <a:ext uri="{FF2B5EF4-FFF2-40B4-BE49-F238E27FC236}">
                <a16:creationId xmlns:a16="http://schemas.microsoft.com/office/drawing/2014/main" id="{F215C326-7BF8-C7E2-6449-BB85097EA927}"/>
              </a:ext>
            </a:extLst>
          </p:cNvPr>
          <p:cNvSpPr txBox="1"/>
          <p:nvPr/>
        </p:nvSpPr>
        <p:spPr>
          <a:xfrm>
            <a:off x="7760873" y="1433658"/>
            <a:ext cx="3968355" cy="1477328"/>
          </a:xfrm>
          <a:prstGeom prst="rect">
            <a:avLst/>
          </a:prstGeom>
          <a:noFill/>
        </p:spPr>
        <p:txBody>
          <a:bodyPr wrap="square" rtlCol="0">
            <a:spAutoFit/>
          </a:bodyPr>
          <a:lstStyle/>
          <a:p>
            <a:r>
              <a:rPr lang="en-US" sz="1000">
                <a:latin typeface="+mj-lt"/>
                <a:cs typeface="Lato Light"/>
              </a:rPr>
              <a:t>Select </a:t>
            </a:r>
            <a:r>
              <a:rPr lang="en-US" sz="1000" b="1">
                <a:latin typeface="+mj-lt"/>
                <a:cs typeface="Lato Light"/>
              </a:rPr>
              <a:t>Comfortable or Compact </a:t>
            </a:r>
            <a:r>
              <a:rPr lang="en-US" sz="1000">
                <a:latin typeface="+mj-lt"/>
                <a:cs typeface="Lato Light"/>
              </a:rPr>
              <a:t>view to control how much information is displayed in tables.</a:t>
            </a:r>
          </a:p>
          <a:p>
            <a:endParaRPr lang="en-US" sz="1000">
              <a:latin typeface="+mj-lt"/>
              <a:cs typeface="Lato Light"/>
            </a:endParaRPr>
          </a:p>
          <a:p>
            <a:r>
              <a:rPr lang="en-US" sz="1000" b="1">
                <a:latin typeface="+mj-lt"/>
                <a:cs typeface="Lato Light"/>
              </a:rPr>
              <a:t>Comfortable</a:t>
            </a:r>
            <a:r>
              <a:rPr lang="en-US" sz="1000">
                <a:latin typeface="+mj-lt"/>
                <a:cs typeface="Lato Light"/>
              </a:rPr>
              <a:t>: Larger spacing between rows for better readability.</a:t>
            </a:r>
          </a:p>
          <a:p>
            <a:r>
              <a:rPr lang="en-US" sz="1000" b="1">
                <a:latin typeface="+mj-lt"/>
                <a:cs typeface="Lato Light"/>
              </a:rPr>
              <a:t>Compact</a:t>
            </a:r>
            <a:r>
              <a:rPr lang="en-US" sz="1000">
                <a:latin typeface="+mj-lt"/>
                <a:cs typeface="Lato Light"/>
              </a:rPr>
              <a:t>: Displays more records within the available screen space.</a:t>
            </a:r>
          </a:p>
          <a:p>
            <a:endParaRPr lang="en-US" sz="1000">
              <a:latin typeface="+mj-lt"/>
              <a:cs typeface="Lato Light"/>
            </a:endParaRPr>
          </a:p>
          <a:p>
            <a:r>
              <a:rPr lang="en-US" sz="1000" b="1">
                <a:latin typeface="+mj-lt"/>
                <a:cs typeface="Lato Light"/>
              </a:rPr>
              <a:t>Reduce Motion</a:t>
            </a:r>
            <a:r>
              <a:rPr lang="en-US" sz="1000">
                <a:latin typeface="+mj-lt"/>
                <a:cs typeface="Lato Light"/>
              </a:rPr>
              <a:t>:</a:t>
            </a:r>
            <a:r>
              <a:rPr lang="en-US" sz="1000" b="1">
                <a:latin typeface="+mj-lt"/>
                <a:cs typeface="Lato Light"/>
              </a:rPr>
              <a:t> </a:t>
            </a:r>
            <a:r>
              <a:rPr lang="en-US" sz="1000">
                <a:latin typeface="+mj-lt"/>
                <a:cs typeface="Lato Light"/>
              </a:rPr>
              <a:t>When enabled, animations and transition effects throughout the application are minimized to improve accessibility and reduce visual distractions.</a:t>
            </a:r>
          </a:p>
        </p:txBody>
      </p:sp>
      <p:sp>
        <p:nvSpPr>
          <p:cNvPr id="16" name="TextBox 92">
            <a:extLst>
              <a:ext uri="{FF2B5EF4-FFF2-40B4-BE49-F238E27FC236}">
                <a16:creationId xmlns:a16="http://schemas.microsoft.com/office/drawing/2014/main" id="{94581212-D304-AF12-A6EC-4C8E91C790A7}"/>
              </a:ext>
            </a:extLst>
          </p:cNvPr>
          <p:cNvSpPr txBox="1"/>
          <p:nvPr/>
        </p:nvSpPr>
        <p:spPr>
          <a:xfrm>
            <a:off x="7760873" y="2910986"/>
            <a:ext cx="1839512" cy="292388"/>
          </a:xfrm>
          <a:prstGeom prst="rect">
            <a:avLst/>
          </a:prstGeom>
          <a:noFill/>
        </p:spPr>
        <p:txBody>
          <a:bodyPr wrap="square" rtlCol="0">
            <a:spAutoFit/>
          </a:bodyPr>
          <a:lstStyle/>
          <a:p>
            <a:r>
              <a:rPr lang="en-US" sz="1300" b="1">
                <a:solidFill>
                  <a:schemeClr val="accent4">
                    <a:lumMod val="75000"/>
                    <a:lumOff val="25000"/>
                  </a:schemeClr>
                </a:solidFill>
                <a:cs typeface="Lato Regular"/>
              </a:rPr>
              <a:t>Layout &amp; Motion</a:t>
            </a:r>
          </a:p>
        </p:txBody>
      </p:sp>
      <p:sp>
        <p:nvSpPr>
          <p:cNvPr id="17" name="TextBox 93">
            <a:extLst>
              <a:ext uri="{FF2B5EF4-FFF2-40B4-BE49-F238E27FC236}">
                <a16:creationId xmlns:a16="http://schemas.microsoft.com/office/drawing/2014/main" id="{41CDEEA0-9B81-3E8C-DCFB-B9754D5D87F5}"/>
              </a:ext>
            </a:extLst>
          </p:cNvPr>
          <p:cNvSpPr txBox="1"/>
          <p:nvPr/>
        </p:nvSpPr>
        <p:spPr>
          <a:xfrm>
            <a:off x="7760873" y="3235268"/>
            <a:ext cx="3763404" cy="707886"/>
          </a:xfrm>
          <a:prstGeom prst="rect">
            <a:avLst/>
          </a:prstGeom>
          <a:noFill/>
        </p:spPr>
        <p:txBody>
          <a:bodyPr wrap="square" rtlCol="0">
            <a:spAutoFit/>
          </a:bodyPr>
          <a:lstStyle/>
          <a:p>
            <a:r>
              <a:rPr lang="en-US" sz="1000">
                <a:cs typeface="Lato Light"/>
              </a:rPr>
              <a:t>Available fonts:</a:t>
            </a:r>
          </a:p>
          <a:p>
            <a:r>
              <a:rPr lang="en-US" sz="1000" b="1">
                <a:cs typeface="Lato Light"/>
              </a:rPr>
              <a:t>Inter</a:t>
            </a:r>
            <a:r>
              <a:rPr lang="en-US" sz="1000">
                <a:cs typeface="Lato Light"/>
              </a:rPr>
              <a:t>, </a:t>
            </a:r>
            <a:r>
              <a:rPr lang="en-US" sz="1000" b="1">
                <a:cs typeface="Lato Light"/>
              </a:rPr>
              <a:t>Roboto</a:t>
            </a:r>
            <a:r>
              <a:rPr lang="en-US" sz="1000">
                <a:cs typeface="Lato Light"/>
              </a:rPr>
              <a:t>, </a:t>
            </a:r>
            <a:r>
              <a:rPr lang="en-US" sz="1000" b="1">
                <a:cs typeface="Lato Light"/>
              </a:rPr>
              <a:t>Open Sans</a:t>
            </a:r>
            <a:r>
              <a:rPr lang="en-US" sz="1000">
                <a:cs typeface="Lato Light"/>
              </a:rPr>
              <a:t>, </a:t>
            </a:r>
            <a:r>
              <a:rPr lang="en-US" sz="1000" b="1">
                <a:cs typeface="Lato Light"/>
              </a:rPr>
              <a:t>Lato</a:t>
            </a:r>
            <a:r>
              <a:rPr lang="en-US" sz="1000">
                <a:cs typeface="Lato Light"/>
              </a:rPr>
              <a:t> </a:t>
            </a:r>
          </a:p>
          <a:p>
            <a:r>
              <a:rPr lang="en-US" sz="1000">
                <a:cs typeface="Lato Light"/>
              </a:rPr>
              <a:t>Available </a:t>
            </a:r>
            <a:r>
              <a:rPr lang="en-US" altLang="zh-CN" sz="1000">
                <a:cs typeface="Lato Light"/>
              </a:rPr>
              <a:t>font size</a:t>
            </a:r>
            <a:r>
              <a:rPr lang="en-US" sz="1000">
                <a:cs typeface="Lato Light"/>
              </a:rPr>
              <a:t>:</a:t>
            </a:r>
          </a:p>
          <a:p>
            <a:r>
              <a:rPr lang="en-US" sz="1000" b="1">
                <a:cs typeface="Lato Light"/>
              </a:rPr>
              <a:t>Small (14px), Default (16px), Large (18px), Extra Large (20px)</a:t>
            </a:r>
            <a:endParaRPr lang="en-US" sz="1000">
              <a:cs typeface="Lato Light"/>
            </a:endParaRPr>
          </a:p>
        </p:txBody>
      </p:sp>
      <p:sp>
        <p:nvSpPr>
          <p:cNvPr id="18" name="Oval 113">
            <a:extLst>
              <a:ext uri="{FF2B5EF4-FFF2-40B4-BE49-F238E27FC236}">
                <a16:creationId xmlns:a16="http://schemas.microsoft.com/office/drawing/2014/main" id="{F1516822-D8D3-AB38-FBC0-C82B0D33CDA4}"/>
              </a:ext>
            </a:extLst>
          </p:cNvPr>
          <p:cNvSpPr/>
          <p:nvPr/>
        </p:nvSpPr>
        <p:spPr>
          <a:xfrm>
            <a:off x="7522714" y="2942880"/>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2" name="TextBox 97">
            <a:extLst>
              <a:ext uri="{FF2B5EF4-FFF2-40B4-BE49-F238E27FC236}">
                <a16:creationId xmlns:a16="http://schemas.microsoft.com/office/drawing/2014/main" id="{DB238DD5-BA6E-EBFC-7F0B-BE2F91DA54DA}"/>
              </a:ext>
            </a:extLst>
          </p:cNvPr>
          <p:cNvSpPr txBox="1"/>
          <p:nvPr/>
        </p:nvSpPr>
        <p:spPr>
          <a:xfrm>
            <a:off x="7748367" y="1139263"/>
            <a:ext cx="1897289" cy="292388"/>
          </a:xfrm>
          <a:prstGeom prst="rect">
            <a:avLst/>
          </a:prstGeom>
          <a:noFill/>
        </p:spPr>
        <p:txBody>
          <a:bodyPr wrap="square" rtlCol="0">
            <a:spAutoFit/>
          </a:bodyPr>
          <a:lstStyle/>
          <a:p>
            <a:r>
              <a:rPr lang="en-US" sz="1300" b="1">
                <a:solidFill>
                  <a:srgbClr val="F26A52"/>
                </a:solidFill>
                <a:latin typeface="+mj-lt"/>
                <a:cs typeface="Lato Regular"/>
              </a:rPr>
              <a:t>Table Density</a:t>
            </a:r>
          </a:p>
        </p:txBody>
      </p:sp>
      <p:sp>
        <p:nvSpPr>
          <p:cNvPr id="6" name="Oval 114">
            <a:extLst>
              <a:ext uri="{FF2B5EF4-FFF2-40B4-BE49-F238E27FC236}">
                <a16:creationId xmlns:a16="http://schemas.microsoft.com/office/drawing/2014/main" id="{B42FA366-76DA-F0AD-C539-FE2AA4360822}"/>
              </a:ext>
            </a:extLst>
          </p:cNvPr>
          <p:cNvSpPr/>
          <p:nvPr/>
        </p:nvSpPr>
        <p:spPr>
          <a:xfrm>
            <a:off x="7519767" y="117115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
        <p:nvSpPr>
          <p:cNvPr id="13" name="TextBox 93">
            <a:extLst>
              <a:ext uri="{FF2B5EF4-FFF2-40B4-BE49-F238E27FC236}">
                <a16:creationId xmlns:a16="http://schemas.microsoft.com/office/drawing/2014/main" id="{DC81814F-1E6E-4F37-8F24-E84727B7D605}"/>
              </a:ext>
            </a:extLst>
          </p:cNvPr>
          <p:cNvSpPr txBox="1"/>
          <p:nvPr/>
        </p:nvSpPr>
        <p:spPr>
          <a:xfrm>
            <a:off x="7760874" y="4225262"/>
            <a:ext cx="3968354" cy="400110"/>
          </a:xfrm>
          <a:prstGeom prst="rect">
            <a:avLst/>
          </a:prstGeom>
          <a:noFill/>
        </p:spPr>
        <p:txBody>
          <a:bodyPr wrap="square" rtlCol="0">
            <a:spAutoFit/>
          </a:bodyPr>
          <a:lstStyle/>
          <a:p>
            <a:r>
              <a:rPr lang="en-US" sz="1000">
                <a:cs typeface="Lato Light"/>
              </a:rPr>
              <a:t>View </a:t>
            </a:r>
            <a:r>
              <a:rPr lang="en-US" sz="1000" err="1">
                <a:cs typeface="Lato Light"/>
              </a:rPr>
              <a:t>NexBill's</a:t>
            </a:r>
            <a:r>
              <a:rPr lang="en-US" sz="1000">
                <a:cs typeface="Lato Light"/>
              </a:rPr>
              <a:t> cookie and privacy information. User preferences are stored locally to improve the application experience.</a:t>
            </a:r>
          </a:p>
        </p:txBody>
      </p:sp>
      <p:sp>
        <p:nvSpPr>
          <p:cNvPr id="14" name="TextBox 92">
            <a:extLst>
              <a:ext uri="{FF2B5EF4-FFF2-40B4-BE49-F238E27FC236}">
                <a16:creationId xmlns:a16="http://schemas.microsoft.com/office/drawing/2014/main" id="{C7A63F94-72A4-FAB7-9854-688571EB74FA}"/>
              </a:ext>
            </a:extLst>
          </p:cNvPr>
          <p:cNvSpPr txBox="1"/>
          <p:nvPr/>
        </p:nvSpPr>
        <p:spPr>
          <a:xfrm>
            <a:off x="7763087" y="3937946"/>
            <a:ext cx="1839512" cy="292388"/>
          </a:xfrm>
          <a:prstGeom prst="rect">
            <a:avLst/>
          </a:prstGeom>
          <a:noFill/>
        </p:spPr>
        <p:txBody>
          <a:bodyPr wrap="square" rtlCol="0">
            <a:spAutoFit/>
          </a:bodyPr>
          <a:lstStyle/>
          <a:p>
            <a:r>
              <a:rPr lang="en-US" sz="1300" b="1">
                <a:solidFill>
                  <a:srgbClr val="57D3FF"/>
                </a:solidFill>
                <a:cs typeface="Lato Regular"/>
              </a:rPr>
              <a:t>Privacy &amp; Cookies</a:t>
            </a:r>
          </a:p>
        </p:txBody>
      </p:sp>
      <p:sp>
        <p:nvSpPr>
          <p:cNvPr id="15" name="Oval 113">
            <a:extLst>
              <a:ext uri="{FF2B5EF4-FFF2-40B4-BE49-F238E27FC236}">
                <a16:creationId xmlns:a16="http://schemas.microsoft.com/office/drawing/2014/main" id="{0370E96C-AD0A-6877-2C98-431D6E157E18}"/>
              </a:ext>
            </a:extLst>
          </p:cNvPr>
          <p:cNvSpPr/>
          <p:nvPr/>
        </p:nvSpPr>
        <p:spPr>
          <a:xfrm>
            <a:off x="7521981" y="3968813"/>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19" name="TextBox 92">
            <a:extLst>
              <a:ext uri="{FF2B5EF4-FFF2-40B4-BE49-F238E27FC236}">
                <a16:creationId xmlns:a16="http://schemas.microsoft.com/office/drawing/2014/main" id="{5173E478-7DB8-1A19-8D37-0B507776CD7B}"/>
              </a:ext>
            </a:extLst>
          </p:cNvPr>
          <p:cNvSpPr txBox="1"/>
          <p:nvPr/>
        </p:nvSpPr>
        <p:spPr>
          <a:xfrm>
            <a:off x="7760873" y="4637555"/>
            <a:ext cx="2717625" cy="292388"/>
          </a:xfrm>
          <a:prstGeom prst="rect">
            <a:avLst/>
          </a:prstGeom>
          <a:noFill/>
        </p:spPr>
        <p:txBody>
          <a:bodyPr wrap="square" rtlCol="0">
            <a:spAutoFit/>
          </a:bodyPr>
          <a:lstStyle/>
          <a:p>
            <a:r>
              <a:rPr lang="en-US" sz="1300" b="1">
                <a:solidFill>
                  <a:srgbClr val="7030A0"/>
                </a:solidFill>
                <a:cs typeface="Lato Regular"/>
              </a:rPr>
              <a:t>Global Header Functions</a:t>
            </a:r>
          </a:p>
        </p:txBody>
      </p:sp>
      <p:sp>
        <p:nvSpPr>
          <p:cNvPr id="21" name="Oval 113">
            <a:extLst>
              <a:ext uri="{FF2B5EF4-FFF2-40B4-BE49-F238E27FC236}">
                <a16:creationId xmlns:a16="http://schemas.microsoft.com/office/drawing/2014/main" id="{A6EA529A-43A2-B002-2C8F-A1B58BEC198B}"/>
              </a:ext>
            </a:extLst>
          </p:cNvPr>
          <p:cNvSpPr/>
          <p:nvPr/>
        </p:nvSpPr>
        <p:spPr>
          <a:xfrm>
            <a:off x="7519768" y="4668422"/>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
        <p:nvSpPr>
          <p:cNvPr id="23" name="TextBox 93">
            <a:extLst>
              <a:ext uri="{FF2B5EF4-FFF2-40B4-BE49-F238E27FC236}">
                <a16:creationId xmlns:a16="http://schemas.microsoft.com/office/drawing/2014/main" id="{5C9307B3-DCEE-DDDC-690F-058405E46101}"/>
              </a:ext>
            </a:extLst>
          </p:cNvPr>
          <p:cNvSpPr txBox="1"/>
          <p:nvPr/>
        </p:nvSpPr>
        <p:spPr>
          <a:xfrm>
            <a:off x="7760874" y="4870206"/>
            <a:ext cx="4052438" cy="1015663"/>
          </a:xfrm>
          <a:prstGeom prst="rect">
            <a:avLst/>
          </a:prstGeom>
          <a:noFill/>
        </p:spPr>
        <p:txBody>
          <a:bodyPr wrap="square" rtlCol="0">
            <a:spAutoFit/>
          </a:bodyPr>
          <a:lstStyle/>
          <a:p>
            <a:r>
              <a:rPr lang="en-US" sz="1000" b="1">
                <a:cs typeface="Lato Light"/>
              </a:rPr>
              <a:t>Screenshot</a:t>
            </a:r>
            <a:r>
              <a:rPr lang="en-US" sz="1000">
                <a:cs typeface="Lato Light"/>
              </a:rPr>
              <a:t>: Capture the current page.</a:t>
            </a:r>
          </a:p>
          <a:p>
            <a:r>
              <a:rPr lang="en-US" sz="1000" b="1">
                <a:cs typeface="Lato Light"/>
              </a:rPr>
              <a:t>Hide Amount Data</a:t>
            </a:r>
            <a:r>
              <a:rPr lang="en-US" sz="1000">
                <a:cs typeface="Lato Light"/>
              </a:rPr>
              <a:t>: Mask monetary values.</a:t>
            </a:r>
          </a:p>
          <a:p>
            <a:r>
              <a:rPr lang="en-US" sz="1000" b="1">
                <a:cs typeface="Lato Light"/>
              </a:rPr>
              <a:t>Notification Center</a:t>
            </a:r>
            <a:r>
              <a:rPr lang="en-US" sz="1000">
                <a:cs typeface="Lato Light"/>
              </a:rPr>
              <a:t>: View system notifications and approval updates.</a:t>
            </a:r>
          </a:p>
          <a:p>
            <a:r>
              <a:rPr lang="en-US" sz="1000" b="1">
                <a:cs typeface="Lato Light"/>
              </a:rPr>
              <a:t>Help</a:t>
            </a:r>
            <a:r>
              <a:rPr lang="en-US" sz="1000">
                <a:cs typeface="Lato Light"/>
              </a:rPr>
              <a:t>: Access user guides and support resources.</a:t>
            </a:r>
          </a:p>
          <a:p>
            <a:r>
              <a:rPr lang="en-US" sz="1000" b="1">
                <a:cs typeface="Lato Light"/>
              </a:rPr>
              <a:t>Theme Mode</a:t>
            </a:r>
            <a:r>
              <a:rPr lang="en-US" sz="1000">
                <a:cs typeface="Lato Light"/>
              </a:rPr>
              <a:t>: Switch between Light and Dark Mode.</a:t>
            </a:r>
          </a:p>
          <a:p>
            <a:r>
              <a:rPr lang="en-US" sz="1000" b="1">
                <a:cs typeface="Lato Light"/>
              </a:rPr>
              <a:t>User Profile</a:t>
            </a:r>
            <a:r>
              <a:rPr lang="en-US" sz="1000">
                <a:cs typeface="Lato Light"/>
              </a:rPr>
              <a:t>: View account information </a:t>
            </a:r>
            <a:r>
              <a:rPr lang="en-US" sz="1000" b="1">
                <a:cs typeface="Lato Light"/>
              </a:rPr>
              <a:t>and sign out</a:t>
            </a:r>
            <a:r>
              <a:rPr lang="en-US" sz="1000">
                <a:cs typeface="Lato Light"/>
              </a:rPr>
              <a:t>.</a:t>
            </a:r>
          </a:p>
        </p:txBody>
      </p:sp>
      <p:sp>
        <p:nvSpPr>
          <p:cNvPr id="28" name="Oval 114">
            <a:extLst>
              <a:ext uri="{FF2B5EF4-FFF2-40B4-BE49-F238E27FC236}">
                <a16:creationId xmlns:a16="http://schemas.microsoft.com/office/drawing/2014/main" id="{F48F53F0-CF6D-1432-1F94-3606AD52EC2F}"/>
              </a:ext>
            </a:extLst>
          </p:cNvPr>
          <p:cNvSpPr/>
          <p:nvPr/>
        </p:nvSpPr>
        <p:spPr>
          <a:xfrm>
            <a:off x="1480933" y="2114123"/>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
        <p:nvSpPr>
          <p:cNvPr id="31" name="Oval 113">
            <a:extLst>
              <a:ext uri="{FF2B5EF4-FFF2-40B4-BE49-F238E27FC236}">
                <a16:creationId xmlns:a16="http://schemas.microsoft.com/office/drawing/2014/main" id="{31139583-6E83-63BA-2CAB-BFEC75AE699E}"/>
              </a:ext>
            </a:extLst>
          </p:cNvPr>
          <p:cNvSpPr/>
          <p:nvPr/>
        </p:nvSpPr>
        <p:spPr>
          <a:xfrm>
            <a:off x="1480933" y="3549433"/>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32" name="Oval 113">
            <a:extLst>
              <a:ext uri="{FF2B5EF4-FFF2-40B4-BE49-F238E27FC236}">
                <a16:creationId xmlns:a16="http://schemas.microsoft.com/office/drawing/2014/main" id="{4F326DD1-DC4F-9D0C-3D08-C42E501139D6}"/>
              </a:ext>
            </a:extLst>
          </p:cNvPr>
          <p:cNvSpPr/>
          <p:nvPr/>
        </p:nvSpPr>
        <p:spPr>
          <a:xfrm>
            <a:off x="1469722" y="5203367"/>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33" name="Oval 113">
            <a:extLst>
              <a:ext uri="{FF2B5EF4-FFF2-40B4-BE49-F238E27FC236}">
                <a16:creationId xmlns:a16="http://schemas.microsoft.com/office/drawing/2014/main" id="{091678EB-DDA6-F1BF-96C0-97CEDDAB63CD}"/>
              </a:ext>
            </a:extLst>
          </p:cNvPr>
          <p:cNvSpPr/>
          <p:nvPr/>
        </p:nvSpPr>
        <p:spPr>
          <a:xfrm>
            <a:off x="4429085" y="1339128"/>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pic>
        <p:nvPicPr>
          <p:cNvPr id="35" name="图片 34">
            <a:extLst>
              <a:ext uri="{FF2B5EF4-FFF2-40B4-BE49-F238E27FC236}">
                <a16:creationId xmlns:a16="http://schemas.microsoft.com/office/drawing/2014/main" id="{0BDF1355-0DF1-ED4E-6B40-F8BF35A341F2}"/>
              </a:ext>
            </a:extLst>
          </p:cNvPr>
          <p:cNvPicPr>
            <a:picLocks noChangeAspect="1"/>
          </p:cNvPicPr>
          <p:nvPr/>
        </p:nvPicPr>
        <p:blipFill>
          <a:blip r:embed="rId3"/>
          <a:stretch>
            <a:fillRect/>
          </a:stretch>
        </p:blipFill>
        <p:spPr>
          <a:xfrm>
            <a:off x="4722718" y="1462975"/>
            <a:ext cx="1761123" cy="2255851"/>
          </a:xfrm>
          <a:prstGeom prst="rect">
            <a:avLst/>
          </a:prstGeom>
        </p:spPr>
      </p:pic>
      <p:pic>
        <p:nvPicPr>
          <p:cNvPr id="37" name="图片 36">
            <a:extLst>
              <a:ext uri="{FF2B5EF4-FFF2-40B4-BE49-F238E27FC236}">
                <a16:creationId xmlns:a16="http://schemas.microsoft.com/office/drawing/2014/main" id="{EECFC6DD-EF3E-707A-1DCF-6AC1ECB5A1C4}"/>
              </a:ext>
            </a:extLst>
          </p:cNvPr>
          <p:cNvPicPr>
            <a:picLocks noChangeAspect="1"/>
          </p:cNvPicPr>
          <p:nvPr/>
        </p:nvPicPr>
        <p:blipFill>
          <a:blip r:embed="rId4"/>
          <a:stretch>
            <a:fillRect/>
          </a:stretch>
        </p:blipFill>
        <p:spPr>
          <a:xfrm>
            <a:off x="6370226" y="1220965"/>
            <a:ext cx="957427" cy="738355"/>
          </a:xfrm>
          <a:prstGeom prst="rect">
            <a:avLst/>
          </a:prstGeom>
        </p:spPr>
      </p:pic>
    </p:spTree>
    <p:extLst>
      <p:ext uri="{BB962C8B-B14F-4D97-AF65-F5344CB8AC3E}">
        <p14:creationId xmlns:p14="http://schemas.microsoft.com/office/powerpoint/2010/main" val="260338824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childTnLst>
                          </p:cTn>
                        </p:par>
                        <p:par>
                          <p:cTn id="45" fill="hold">
                            <p:stCondLst>
                              <p:cond delay="2500"/>
                            </p:stCondLst>
                            <p:childTnLst>
                              <p:par>
                                <p:cTn id="46" presetID="10" presetClass="entr" presetSubtype="0" fill="hold" grpId="0" nodeType="after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childTnLst>
                          </p:cTn>
                        </p:par>
                        <p:par>
                          <p:cTn id="49" fill="hold">
                            <p:stCondLst>
                              <p:cond delay="3000"/>
                            </p:stCondLst>
                            <p:childTnLst>
                              <p:par>
                                <p:cTn id="50" presetID="10" presetClass="entr" presetSubtype="0"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childTnLst>
                          </p:cTn>
                        </p:par>
                        <p:par>
                          <p:cTn id="53" fill="hold">
                            <p:stCondLst>
                              <p:cond delay="3500"/>
                            </p:stCondLst>
                            <p:childTnLst>
                              <p:par>
                                <p:cTn id="54" presetID="10" presetClass="entr" presetSubtype="0" fill="hold" grpId="0"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par>
                          <p:cTn id="57" fill="hold">
                            <p:stCondLst>
                              <p:cond delay="4000"/>
                            </p:stCondLst>
                            <p:childTnLst>
                              <p:par>
                                <p:cTn id="58" presetID="10" presetClass="entr" presetSubtype="0" fill="hold" grpId="0" nodeType="after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animBg="1"/>
      <p:bldP spid="2" grpId="0"/>
      <p:bldP spid="6" grpId="0" animBg="1"/>
      <p:bldP spid="13" grpId="0"/>
      <p:bldP spid="14" grpId="0"/>
      <p:bldP spid="15" grpId="0" animBg="1"/>
      <p:bldP spid="19" grpId="0"/>
      <p:bldP spid="21" grpId="0" animBg="1"/>
      <p:bldP spid="23" grpId="0"/>
      <p:bldP spid="28" grpId="0" animBg="1"/>
      <p:bldP spid="31" grpId="0" animBg="1"/>
      <p:bldP spid="32"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5E90F9-9C66-535D-22DF-39271EB2C7A4}"/>
              </a:ext>
            </a:extLst>
          </p:cNvPr>
          <p:cNvSpPr>
            <a:spLocks noGrp="1"/>
          </p:cNvSpPr>
          <p:nvPr>
            <p:ph type="title"/>
          </p:nvPr>
        </p:nvSpPr>
        <p:spPr>
          <a:xfrm>
            <a:off x="267690" y="1412760"/>
            <a:ext cx="7209879" cy="965108"/>
          </a:xfrm>
        </p:spPr>
        <p:txBody>
          <a:bodyPr/>
          <a:lstStyle/>
          <a:p>
            <a:r>
              <a:rPr lang="en-US" altLang="zh-CN" sz="4800"/>
              <a:t>2. Home</a:t>
            </a:r>
            <a:endParaRPr lang="zh-CN" altLang="en-US" sz="4800"/>
          </a:p>
        </p:txBody>
      </p:sp>
      <p:sp>
        <p:nvSpPr>
          <p:cNvPr id="4" name="文本占位符 3">
            <a:extLst>
              <a:ext uri="{FF2B5EF4-FFF2-40B4-BE49-F238E27FC236}">
                <a16:creationId xmlns:a16="http://schemas.microsoft.com/office/drawing/2014/main" id="{F8F708E7-7FAC-A604-4334-EE60088BBB3D}"/>
              </a:ext>
            </a:extLst>
          </p:cNvPr>
          <p:cNvSpPr>
            <a:spLocks noGrp="1"/>
          </p:cNvSpPr>
          <p:nvPr>
            <p:ph type="body" idx="11"/>
          </p:nvPr>
        </p:nvSpPr>
        <p:spPr>
          <a:xfrm>
            <a:off x="750528" y="5517488"/>
            <a:ext cx="6265272" cy="133626"/>
          </a:xfrm>
        </p:spPr>
        <p:txBody>
          <a:bodyPr/>
          <a:lstStyle/>
          <a:p>
            <a:r>
              <a:rPr lang="en-US" altLang="zh-CN" sz="1000"/>
              <a:t>Duration:		</a:t>
            </a:r>
            <a:r>
              <a:rPr lang="en-US" altLang="zh-CN">
                <a:solidFill>
                  <a:schemeClr val="tx1"/>
                </a:solidFill>
              </a:rPr>
              <a:t>15</a:t>
            </a:r>
            <a:r>
              <a:rPr lang="en-US" altLang="zh-CN" sz="1000">
                <a:solidFill>
                  <a:schemeClr val="tx1"/>
                </a:solidFill>
              </a:rPr>
              <a:t> </a:t>
            </a:r>
            <a:r>
              <a:rPr lang="en-US" altLang="zh-CN" sz="1000"/>
              <a:t>+ 10 Minutes</a:t>
            </a:r>
            <a:endParaRPr lang="zh-CN" altLang="en-US" sz="1000"/>
          </a:p>
        </p:txBody>
      </p:sp>
      <p:sp>
        <p:nvSpPr>
          <p:cNvPr id="5" name="文本占位符 4">
            <a:extLst>
              <a:ext uri="{FF2B5EF4-FFF2-40B4-BE49-F238E27FC236}">
                <a16:creationId xmlns:a16="http://schemas.microsoft.com/office/drawing/2014/main" id="{FEC6BB15-8F27-0B2F-65FA-A8CC0633449C}"/>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Timeliness &amp; Accuracy		- Xuezhi Ding</a:t>
            </a:r>
          </a:p>
          <a:p>
            <a:pPr marL="171450" indent="-171450">
              <a:lnSpc>
                <a:spcPct val="150000"/>
              </a:lnSpc>
              <a:buFont typeface="Arial" panose="020B0604020202020204" pitchFamily="34" charset="0"/>
              <a:buChar char="•"/>
            </a:pPr>
            <a:r>
              <a:rPr lang="en-US" altLang="zh-CN">
                <a:solidFill>
                  <a:schemeClr val="bg1"/>
                </a:solidFill>
              </a:rPr>
              <a:t>Delayed Invoice Aging		- Xuezhi Ding</a:t>
            </a:r>
          </a:p>
          <a:p>
            <a:pPr marL="171450" indent="-171450">
              <a:lnSpc>
                <a:spcPct val="150000"/>
              </a:lnSpc>
              <a:buFont typeface="Arial" panose="020B0604020202020204" pitchFamily="34" charset="0"/>
              <a:buChar char="•"/>
            </a:pPr>
            <a:r>
              <a:rPr lang="en-US" altLang="zh-CN">
                <a:solidFill>
                  <a:schemeClr val="bg1"/>
                </a:solidFill>
              </a:rPr>
              <a:t>Invoice Volume Trend		- Joy Jiang</a:t>
            </a:r>
          </a:p>
          <a:p>
            <a:pPr marL="171450" indent="-171450">
              <a:lnSpc>
                <a:spcPct val="150000"/>
              </a:lnSpc>
              <a:buFont typeface="Arial" panose="020B0604020202020204" pitchFamily="34" charset="0"/>
              <a:buChar char="•"/>
            </a:pPr>
            <a:r>
              <a:rPr lang="en-US" altLang="zh-CN">
                <a:solidFill>
                  <a:schemeClr val="bg1"/>
                </a:solidFill>
              </a:rPr>
              <a:t>Invoice Rejections		- Joy Jiang</a:t>
            </a:r>
          </a:p>
          <a:p>
            <a:pPr marL="171450" indent="-171450">
              <a:lnSpc>
                <a:spcPct val="150000"/>
              </a:lnSpc>
              <a:buFont typeface="Arial" panose="020B0604020202020204" pitchFamily="34" charset="0"/>
              <a:buChar char="•"/>
            </a:pPr>
            <a:r>
              <a:rPr lang="en-US" altLang="zh-CN">
                <a:solidFill>
                  <a:schemeClr val="bg1"/>
                </a:solidFill>
              </a:rPr>
              <a:t>Volume &amp; Billing		- Joy Jiang</a:t>
            </a:r>
          </a:p>
          <a:p>
            <a:pPr marL="171450" indent="-171450">
              <a:lnSpc>
                <a:spcPct val="150000"/>
              </a:lnSpc>
              <a:buFont typeface="Arial" panose="020B0604020202020204" pitchFamily="34" charset="0"/>
              <a:buChar char="•"/>
            </a:pPr>
            <a:r>
              <a:rPr lang="en-US" altLang="zh-CN">
                <a:solidFill>
                  <a:schemeClr val="bg1"/>
                </a:solidFill>
              </a:rPr>
              <a:t>Focus Items			- Joy Jiang</a:t>
            </a:r>
          </a:p>
          <a:p>
            <a:pPr marL="171450" indent="-171450">
              <a:lnSpc>
                <a:spcPct val="150000"/>
              </a:lnSpc>
              <a:buFont typeface="Arial" panose="020B0604020202020204" pitchFamily="34" charset="0"/>
              <a:buChar char="•"/>
            </a:pPr>
            <a:r>
              <a:rPr lang="en-US" altLang="zh-CN">
                <a:solidFill>
                  <a:schemeClr val="bg1"/>
                </a:solidFill>
              </a:rPr>
              <a:t>Customer Billing Status		- Joy Jiang</a:t>
            </a:r>
            <a:endParaRPr lang="zh-CN" altLang="en-US">
              <a:solidFill>
                <a:schemeClr val="bg1"/>
              </a:solidFill>
            </a:endParaRPr>
          </a:p>
        </p:txBody>
      </p:sp>
    </p:spTree>
    <p:extLst>
      <p:ext uri="{BB962C8B-B14F-4D97-AF65-F5344CB8AC3E}">
        <p14:creationId xmlns:p14="http://schemas.microsoft.com/office/powerpoint/2010/main" val="298552778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3E7ACA-69FD-5BC8-0ABC-3BA5AAE2BD84}"/>
              </a:ext>
            </a:extLst>
          </p:cNvPr>
          <p:cNvSpPr>
            <a:spLocks noGrp="1"/>
          </p:cNvSpPr>
          <p:nvPr>
            <p:ph type="title"/>
          </p:nvPr>
        </p:nvSpPr>
        <p:spPr/>
        <p:txBody>
          <a:bodyPr wrap="square"/>
          <a:lstStyle/>
          <a:p>
            <a:r>
              <a:rPr lang="en-US" altLang="zh-CN">
                <a:latin typeface="+mj-lt"/>
              </a:rPr>
              <a:t>Home — Your Billing Operations Launchpad</a:t>
            </a:r>
            <a:endParaRPr lang="zh-CN" altLang="en-US">
              <a:latin typeface="+mj-lt"/>
            </a:endParaRPr>
          </a:p>
        </p:txBody>
      </p:sp>
      <p:sp>
        <p:nvSpPr>
          <p:cNvPr id="2" name="Text 2">
            <a:extLst>
              <a:ext uri="{FF2B5EF4-FFF2-40B4-BE49-F238E27FC236}">
                <a16:creationId xmlns:a16="http://schemas.microsoft.com/office/drawing/2014/main" id="{8D3EC9C9-18EE-EEEA-9AFA-4446F2A3E29E}"/>
              </a:ext>
            </a:extLst>
          </p:cNvPr>
          <p:cNvSpPr/>
          <p:nvPr/>
        </p:nvSpPr>
        <p:spPr>
          <a:xfrm>
            <a:off x="356968" y="748486"/>
            <a:ext cx="10881360" cy="310896"/>
          </a:xfrm>
          <a:prstGeom prst="rect">
            <a:avLst/>
          </a:prstGeom>
          <a:noFill/>
          <a:ln/>
        </p:spPr>
        <p:txBody>
          <a:bodyPr wrap="square" lIns="0" tIns="0" rIns="0" bIns="0" rtlCol="0" anchor="ctr">
            <a:normAutofit/>
          </a:bodyPr>
          <a:lstStyle/>
          <a:p>
            <a:pPr marL="0" indent="0" algn="l">
              <a:buNone/>
            </a:pPr>
            <a:r>
              <a:rPr lang="en-US" sz="1200">
                <a:solidFill>
                  <a:srgbClr val="5C6675"/>
                </a:solidFill>
                <a:latin typeface="+mj-lt"/>
                <a:ea typeface="Arial" pitchFamily="34" charset="-122"/>
                <a:cs typeface="Arial" pitchFamily="34" charset="-120"/>
              </a:rPr>
              <a:t>Your first page after entering NexBill: one view of billing health, workload, exceptions, and customer progress.</a:t>
            </a:r>
            <a:endParaRPr lang="en-US" sz="1200">
              <a:latin typeface="+mj-lt"/>
            </a:endParaRPr>
          </a:p>
        </p:txBody>
      </p:sp>
      <p:sp>
        <p:nvSpPr>
          <p:cNvPr id="7" name="Shape 3">
            <a:extLst>
              <a:ext uri="{FF2B5EF4-FFF2-40B4-BE49-F238E27FC236}">
                <a16:creationId xmlns:a16="http://schemas.microsoft.com/office/drawing/2014/main" id="{12E8040B-2E1E-4B37-64A7-6E7D9410D5BF}"/>
              </a:ext>
            </a:extLst>
          </p:cNvPr>
          <p:cNvSpPr/>
          <p:nvPr/>
        </p:nvSpPr>
        <p:spPr>
          <a:xfrm>
            <a:off x="356968" y="1203960"/>
            <a:ext cx="10916992" cy="381781"/>
          </a:xfrm>
          <a:prstGeom prst="roundRect">
            <a:avLst>
              <a:gd name="adj" fmla="val 12903"/>
            </a:avLst>
          </a:prstGeom>
          <a:solidFill>
            <a:srgbClr val="EEF4FB"/>
          </a:solidFill>
          <a:ln w="12700">
            <a:solidFill>
              <a:srgbClr val="B8CCE5"/>
            </a:solidFill>
            <a:prstDash val="solid"/>
          </a:ln>
        </p:spPr>
        <p:txBody>
          <a:bodyPr wrap="square"/>
          <a:lstStyle/>
          <a:p>
            <a:endParaRPr lang="zh-CN" altLang="en-US">
              <a:latin typeface="+mj-lt"/>
            </a:endParaRPr>
          </a:p>
        </p:txBody>
      </p:sp>
      <p:sp>
        <p:nvSpPr>
          <p:cNvPr id="8" name="Text 4">
            <a:extLst>
              <a:ext uri="{FF2B5EF4-FFF2-40B4-BE49-F238E27FC236}">
                <a16:creationId xmlns:a16="http://schemas.microsoft.com/office/drawing/2014/main" id="{148382F2-D08C-E63C-4C2B-103B075BBE6F}"/>
              </a:ext>
            </a:extLst>
          </p:cNvPr>
          <p:cNvSpPr/>
          <p:nvPr/>
        </p:nvSpPr>
        <p:spPr>
          <a:xfrm>
            <a:off x="573442" y="1280467"/>
            <a:ext cx="1143000" cy="22860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MESSAGE</a:t>
            </a:r>
            <a:endParaRPr lang="en-US" sz="1100">
              <a:latin typeface="+mj-lt"/>
            </a:endParaRPr>
          </a:p>
        </p:txBody>
      </p:sp>
      <p:sp>
        <p:nvSpPr>
          <p:cNvPr id="10" name="Text 5">
            <a:extLst>
              <a:ext uri="{FF2B5EF4-FFF2-40B4-BE49-F238E27FC236}">
                <a16:creationId xmlns:a16="http://schemas.microsoft.com/office/drawing/2014/main" id="{70FC27AA-6910-EE87-72AA-7CD182AD4CDE}"/>
              </a:ext>
            </a:extLst>
          </p:cNvPr>
          <p:cNvSpPr/>
          <p:nvPr/>
        </p:nvSpPr>
        <p:spPr>
          <a:xfrm>
            <a:off x="1728568" y="1259245"/>
            <a:ext cx="9601200" cy="274320"/>
          </a:xfrm>
          <a:prstGeom prst="rect">
            <a:avLst/>
          </a:prstGeom>
          <a:noFill/>
          <a:ln/>
        </p:spPr>
        <p:txBody>
          <a:bodyPr wrap="square" lIns="0" tIns="0" rIns="0" bIns="0" rtlCol="0" anchor="ctr">
            <a:normAutofit/>
          </a:bodyPr>
          <a:lstStyle/>
          <a:p>
            <a:pPr marL="0" indent="0" algn="l">
              <a:buNone/>
            </a:pPr>
            <a:r>
              <a:rPr lang="en-US" sz="1400" b="1">
                <a:solidFill>
                  <a:srgbClr val="0B2D6B"/>
                </a:solidFill>
                <a:latin typeface="+mj-lt"/>
                <a:ea typeface="Arial" pitchFamily="34" charset="-122"/>
                <a:cs typeface="Arial" pitchFamily="34" charset="-120"/>
              </a:rPr>
              <a:t>See what is on track, what is delayed, and what needs action — then drill directly into the underlying records.</a:t>
            </a:r>
            <a:endParaRPr lang="en-US" sz="1400">
              <a:latin typeface="+mj-lt"/>
            </a:endParaRPr>
          </a:p>
        </p:txBody>
      </p:sp>
      <p:sp>
        <p:nvSpPr>
          <p:cNvPr id="12" name="Shape 6">
            <a:extLst>
              <a:ext uri="{FF2B5EF4-FFF2-40B4-BE49-F238E27FC236}">
                <a16:creationId xmlns:a16="http://schemas.microsoft.com/office/drawing/2014/main" id="{C5B88BCD-721A-725D-7A6C-D872CDEAF96F}"/>
              </a:ext>
            </a:extLst>
          </p:cNvPr>
          <p:cNvSpPr/>
          <p:nvPr/>
        </p:nvSpPr>
        <p:spPr>
          <a:xfrm>
            <a:off x="356968" y="1698420"/>
            <a:ext cx="3337560" cy="2743200"/>
          </a:xfrm>
          <a:prstGeom prst="roundRect">
            <a:avLst>
              <a:gd name="adj" fmla="val 2388"/>
            </a:avLst>
          </a:prstGeom>
          <a:solidFill>
            <a:srgbClr val="F7FAFE"/>
          </a:solidFill>
          <a:ln w="12700">
            <a:solidFill>
              <a:srgbClr val="B8CCE5"/>
            </a:solidFill>
            <a:prstDash val="solid"/>
          </a:ln>
        </p:spPr>
        <p:txBody>
          <a:bodyPr wrap="square"/>
          <a:lstStyle/>
          <a:p>
            <a:endParaRPr lang="zh-CN" altLang="en-US">
              <a:latin typeface="+mj-lt"/>
            </a:endParaRPr>
          </a:p>
        </p:txBody>
      </p:sp>
      <p:sp>
        <p:nvSpPr>
          <p:cNvPr id="14" name="Text 7">
            <a:extLst>
              <a:ext uri="{FF2B5EF4-FFF2-40B4-BE49-F238E27FC236}">
                <a16:creationId xmlns:a16="http://schemas.microsoft.com/office/drawing/2014/main" id="{C60D4875-8FE7-AFE9-E13F-2824FF01B532}"/>
              </a:ext>
            </a:extLst>
          </p:cNvPr>
          <p:cNvSpPr/>
          <p:nvPr/>
        </p:nvSpPr>
        <p:spPr>
          <a:xfrm>
            <a:off x="558136"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1467B8"/>
                </a:solidFill>
                <a:latin typeface="+mj-lt"/>
                <a:ea typeface="Arial" pitchFamily="34" charset="-122"/>
                <a:cs typeface="Arial" pitchFamily="34" charset="-120"/>
              </a:rPr>
              <a:t>1  MONITOR BILLING HEALTH</a:t>
            </a:r>
            <a:endParaRPr lang="en-US" sz="1400">
              <a:latin typeface="+mj-lt"/>
            </a:endParaRPr>
          </a:p>
        </p:txBody>
      </p:sp>
      <p:sp>
        <p:nvSpPr>
          <p:cNvPr id="24" name="Text 17">
            <a:extLst>
              <a:ext uri="{FF2B5EF4-FFF2-40B4-BE49-F238E27FC236}">
                <a16:creationId xmlns:a16="http://schemas.microsoft.com/office/drawing/2014/main" id="{8BDBB20C-A7E6-8E08-F6F0-EB45010C2C7E}"/>
              </a:ext>
            </a:extLst>
          </p:cNvPr>
          <p:cNvSpPr/>
          <p:nvPr/>
        </p:nvSpPr>
        <p:spPr>
          <a:xfrm>
            <a:off x="612648"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 Timeliness &amp; Accuracy — preview/final timeliness, accuracy and issue rate</a:t>
            </a:r>
            <a:endParaRPr lang="en-US" sz="1100">
              <a:latin typeface="+mj-lt"/>
            </a:endParaRPr>
          </a:p>
          <a:p>
            <a:pPr algn="l">
              <a:lnSpc>
                <a:spcPct val="105000"/>
              </a:lnSpc>
              <a:spcAft>
                <a:spcPts val="700"/>
              </a:spcAft>
            </a:pPr>
            <a:r>
              <a:rPr sz="1250">
                <a:solidFill>
                  <a:srgbClr val="202833"/>
                </a:solidFill>
                <a:latin typeface="+mj-lt"/>
              </a:rPr>
              <a:t>• Delayed Invoice Aging — overdue count and amount across six aging buckets</a:t>
            </a:r>
          </a:p>
          <a:p>
            <a:pPr algn="l">
              <a:lnSpc>
                <a:spcPct val="105000"/>
              </a:lnSpc>
              <a:spcAft>
                <a:spcPts val="0"/>
              </a:spcAft>
            </a:pPr>
            <a:r>
              <a:rPr sz="1250">
                <a:solidFill>
                  <a:srgbClr val="202833"/>
                </a:solidFill>
                <a:latin typeface="+mj-lt"/>
              </a:rPr>
              <a:t>• Invoice Volume Trend — plan vs. actual vs. delay, by count or amount</a:t>
            </a:r>
          </a:p>
        </p:txBody>
      </p:sp>
      <p:sp>
        <p:nvSpPr>
          <p:cNvPr id="25" name="Shape 18">
            <a:extLst>
              <a:ext uri="{FF2B5EF4-FFF2-40B4-BE49-F238E27FC236}">
                <a16:creationId xmlns:a16="http://schemas.microsoft.com/office/drawing/2014/main" id="{6775DEFE-CDE3-21E5-CC43-53580B272089}"/>
              </a:ext>
            </a:extLst>
          </p:cNvPr>
          <p:cNvSpPr/>
          <p:nvPr/>
        </p:nvSpPr>
        <p:spPr>
          <a:xfrm>
            <a:off x="4146684" y="1698420"/>
            <a:ext cx="3337560" cy="2743200"/>
          </a:xfrm>
          <a:prstGeom prst="roundRect">
            <a:avLst>
              <a:gd name="adj" fmla="val 2388"/>
            </a:avLst>
          </a:prstGeom>
          <a:solidFill>
            <a:srgbClr val="FBFAFE"/>
          </a:solidFill>
          <a:ln w="12700">
            <a:solidFill>
              <a:srgbClr val="D2C5E8"/>
            </a:solidFill>
            <a:prstDash val="solid"/>
          </a:ln>
        </p:spPr>
        <p:txBody>
          <a:bodyPr wrap="square"/>
          <a:lstStyle/>
          <a:p>
            <a:endParaRPr lang="zh-CN" altLang="en-US">
              <a:latin typeface="+mj-lt"/>
            </a:endParaRPr>
          </a:p>
        </p:txBody>
      </p:sp>
      <p:sp>
        <p:nvSpPr>
          <p:cNvPr id="26" name="Text 19">
            <a:extLst>
              <a:ext uri="{FF2B5EF4-FFF2-40B4-BE49-F238E27FC236}">
                <a16:creationId xmlns:a16="http://schemas.microsoft.com/office/drawing/2014/main" id="{F16B4304-9D07-92BF-1CED-5E7122ECA145}"/>
              </a:ext>
            </a:extLst>
          </p:cNvPr>
          <p:cNvSpPr/>
          <p:nvPr/>
        </p:nvSpPr>
        <p:spPr>
          <a:xfrm>
            <a:off x="4347852"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6B3FA0"/>
                </a:solidFill>
                <a:latin typeface="+mj-lt"/>
                <a:ea typeface="Arial" pitchFamily="34" charset="-122"/>
                <a:cs typeface="Arial" pitchFamily="34" charset="-120"/>
              </a:rPr>
              <a:t>2  PRIORITIZE ACTION</a:t>
            </a:r>
            <a:endParaRPr lang="en-US" sz="1400">
              <a:latin typeface="+mj-lt"/>
            </a:endParaRPr>
          </a:p>
        </p:txBody>
      </p:sp>
      <p:sp>
        <p:nvSpPr>
          <p:cNvPr id="34" name="Text 26">
            <a:extLst>
              <a:ext uri="{FF2B5EF4-FFF2-40B4-BE49-F238E27FC236}">
                <a16:creationId xmlns:a16="http://schemas.microsoft.com/office/drawing/2014/main" id="{EF052F77-33BC-BF77-092B-F1888A924F28}"/>
              </a:ext>
            </a:extLst>
          </p:cNvPr>
          <p:cNvSpPr/>
          <p:nvPr/>
        </p:nvSpPr>
        <p:spPr>
          <a:xfrm>
            <a:off x="4398264"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 Invoice Rejections — identify affected customers, periods and rejection details</a:t>
            </a:r>
            <a:endParaRPr lang="en-US" sz="1100">
              <a:latin typeface="+mj-lt"/>
            </a:endParaRPr>
          </a:p>
          <a:p>
            <a:pPr algn="l">
              <a:lnSpc>
                <a:spcPct val="105000"/>
              </a:lnSpc>
              <a:spcAft>
                <a:spcPts val="700"/>
              </a:spcAft>
            </a:pPr>
            <a:r>
              <a:rPr sz="1250">
                <a:solidFill>
                  <a:srgbClr val="202833"/>
                </a:solidFill>
                <a:latin typeface="+mj-lt"/>
              </a:rPr>
              <a:t>• Focus Items — see unposted finals, previews pending over 7 days and recent adjustments</a:t>
            </a:r>
          </a:p>
          <a:p>
            <a:pPr algn="l">
              <a:lnSpc>
                <a:spcPct val="105000"/>
              </a:lnSpc>
              <a:spcAft>
                <a:spcPts val="0"/>
              </a:spcAft>
            </a:pPr>
            <a:r>
              <a:rPr sz="1250">
                <a:solidFill>
                  <a:srgbClr val="202833"/>
                </a:solidFill>
                <a:latin typeface="+mj-lt"/>
              </a:rPr>
              <a:t>• Direct links take users to the relevant invoice and search pages</a:t>
            </a:r>
          </a:p>
        </p:txBody>
      </p:sp>
      <p:sp>
        <p:nvSpPr>
          <p:cNvPr id="35" name="Shape 27">
            <a:extLst>
              <a:ext uri="{FF2B5EF4-FFF2-40B4-BE49-F238E27FC236}">
                <a16:creationId xmlns:a16="http://schemas.microsoft.com/office/drawing/2014/main" id="{D578B627-8840-937B-B526-B15F79AE3D3C}"/>
              </a:ext>
            </a:extLst>
          </p:cNvPr>
          <p:cNvSpPr/>
          <p:nvPr/>
        </p:nvSpPr>
        <p:spPr>
          <a:xfrm>
            <a:off x="7936400" y="1706197"/>
            <a:ext cx="3337560" cy="2743200"/>
          </a:xfrm>
          <a:prstGeom prst="roundRect">
            <a:avLst>
              <a:gd name="adj" fmla="val 2388"/>
            </a:avLst>
          </a:prstGeom>
          <a:solidFill>
            <a:srgbClr val="F8FCF5"/>
          </a:solidFill>
          <a:ln w="12700">
            <a:solidFill>
              <a:srgbClr val="C5DFB4"/>
            </a:solidFill>
            <a:prstDash val="solid"/>
          </a:ln>
        </p:spPr>
        <p:txBody>
          <a:bodyPr wrap="square"/>
          <a:lstStyle/>
          <a:p>
            <a:endParaRPr lang="zh-CN" altLang="en-US">
              <a:latin typeface="+mj-lt"/>
            </a:endParaRPr>
          </a:p>
        </p:txBody>
      </p:sp>
      <p:sp>
        <p:nvSpPr>
          <p:cNvPr id="36" name="Text 28">
            <a:extLst>
              <a:ext uri="{FF2B5EF4-FFF2-40B4-BE49-F238E27FC236}">
                <a16:creationId xmlns:a16="http://schemas.microsoft.com/office/drawing/2014/main" id="{1992E5A8-A434-0966-EDCF-60CC7F87A2A9}"/>
              </a:ext>
            </a:extLst>
          </p:cNvPr>
          <p:cNvSpPr/>
          <p:nvPr/>
        </p:nvSpPr>
        <p:spPr>
          <a:xfrm>
            <a:off x="8137568" y="1870789"/>
            <a:ext cx="2880360" cy="256032"/>
          </a:xfrm>
          <a:prstGeom prst="rect">
            <a:avLst/>
          </a:prstGeom>
          <a:noFill/>
          <a:ln/>
        </p:spPr>
        <p:txBody>
          <a:bodyPr wrap="square" lIns="0" tIns="0" rIns="0" bIns="0" rtlCol="0" anchor="ctr">
            <a:normAutofit fontScale="85000" lnSpcReduction="10000"/>
          </a:bodyPr>
          <a:lstStyle/>
          <a:p>
            <a:pPr marL="0" indent="0" algn="l">
              <a:buNone/>
            </a:pPr>
            <a:r>
              <a:rPr lang="en-US" sz="1400" b="1">
                <a:solidFill>
                  <a:srgbClr val="4A9B22"/>
                </a:solidFill>
                <a:latin typeface="+mj-lt"/>
                <a:ea typeface="Arial" pitchFamily="34" charset="-122"/>
                <a:cs typeface="Arial" pitchFamily="34" charset="-120"/>
              </a:rPr>
              <a:t>3  UNDERSTAND BUSINESS PROGRESS</a:t>
            </a:r>
            <a:endParaRPr lang="en-US" sz="1400">
              <a:latin typeface="+mj-lt"/>
            </a:endParaRPr>
          </a:p>
        </p:txBody>
      </p:sp>
      <p:sp>
        <p:nvSpPr>
          <p:cNvPr id="43" name="Text 35">
            <a:extLst>
              <a:ext uri="{FF2B5EF4-FFF2-40B4-BE49-F238E27FC236}">
                <a16:creationId xmlns:a16="http://schemas.microsoft.com/office/drawing/2014/main" id="{24E73783-A617-9EB7-B379-D51FF8B0C8C4}"/>
              </a:ext>
            </a:extLst>
          </p:cNvPr>
          <p:cNvSpPr/>
          <p:nvPr/>
        </p:nvSpPr>
        <p:spPr>
          <a:xfrm>
            <a:off x="8183879"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 Volume &amp; Billing — monthly subscription-order and invoice activity</a:t>
            </a:r>
            <a:endParaRPr lang="en-US" sz="1100">
              <a:latin typeface="+mj-lt"/>
            </a:endParaRPr>
          </a:p>
          <a:p>
            <a:pPr algn="l">
              <a:lnSpc>
                <a:spcPct val="105000"/>
              </a:lnSpc>
              <a:spcAft>
                <a:spcPts val="700"/>
              </a:spcAft>
            </a:pPr>
            <a:r>
              <a:rPr sz="1250">
                <a:solidFill>
                  <a:srgbClr val="202833"/>
                </a:solidFill>
                <a:latin typeface="+mj-lt"/>
              </a:rPr>
              <a:t>• Customer Billing Status — invoice count plus preview and billed amounts by customer</a:t>
            </a:r>
          </a:p>
          <a:p>
            <a:pPr algn="l">
              <a:lnSpc>
                <a:spcPct val="105000"/>
              </a:lnSpc>
              <a:spcAft>
                <a:spcPts val="0"/>
              </a:spcAft>
            </a:pPr>
            <a:r>
              <a:rPr sz="1250">
                <a:solidFill>
                  <a:srgbClr val="202833"/>
                </a:solidFill>
                <a:latin typeface="+mj-lt"/>
              </a:rPr>
              <a:t>• Drill down or export data for follow-up and offline analysis</a:t>
            </a:r>
          </a:p>
        </p:txBody>
      </p:sp>
      <p:sp>
        <p:nvSpPr>
          <p:cNvPr id="46" name="Shape 38">
            <a:extLst>
              <a:ext uri="{FF2B5EF4-FFF2-40B4-BE49-F238E27FC236}">
                <a16:creationId xmlns:a16="http://schemas.microsoft.com/office/drawing/2014/main" id="{796CD512-209F-AF0C-385A-E54DF81FCDD2}"/>
              </a:ext>
            </a:extLst>
          </p:cNvPr>
          <p:cNvSpPr/>
          <p:nvPr/>
        </p:nvSpPr>
        <p:spPr>
          <a:xfrm>
            <a:off x="356968" y="4546515"/>
            <a:ext cx="10916992" cy="1887814"/>
          </a:xfrm>
          <a:prstGeom prst="roundRect">
            <a:avLst>
              <a:gd name="adj" fmla="val 6250"/>
            </a:avLst>
          </a:prstGeom>
          <a:solidFill>
            <a:srgbClr val="FFF8EF"/>
          </a:solidFill>
          <a:ln w="12700">
            <a:solidFill>
              <a:srgbClr val="F2C38D"/>
            </a:solidFill>
            <a:prstDash val="solid"/>
          </a:ln>
        </p:spPr>
        <p:txBody>
          <a:bodyPr wrap="square"/>
          <a:lstStyle/>
          <a:p>
            <a:endParaRPr lang="zh-CN" altLang="en-US">
              <a:latin typeface="+mj-lt"/>
            </a:endParaRPr>
          </a:p>
        </p:txBody>
      </p:sp>
      <p:sp>
        <p:nvSpPr>
          <p:cNvPr id="47" name="Text 39">
            <a:extLst>
              <a:ext uri="{FF2B5EF4-FFF2-40B4-BE49-F238E27FC236}">
                <a16:creationId xmlns:a16="http://schemas.microsoft.com/office/drawing/2014/main" id="{43212CD5-F510-5716-D611-FD0E9B42A64D}"/>
              </a:ext>
            </a:extLst>
          </p:cNvPr>
          <p:cNvSpPr/>
          <p:nvPr/>
        </p:nvSpPr>
        <p:spPr>
          <a:xfrm>
            <a:off x="667512" y="5806440"/>
            <a:ext cx="1508760" cy="256032"/>
          </a:xfrm>
          <a:prstGeom prst="rect">
            <a:avLst/>
          </a:prstGeom>
          <a:noFill/>
          <a:ln/>
        </p:spPr>
        <p:txBody>
          <a:bodyPr wrap="square" lIns="0" tIns="0" rIns="0" bIns="0" rtlCol="0" anchor="ctr">
            <a:noAutofit/>
          </a:bodyPr>
          <a:lstStyle/>
          <a:p>
            <a:pPr marL="0" indent="0" algn="l">
              <a:buNone/>
            </a:pPr>
            <a:r>
              <a:rPr lang="en-US" sz="1000" b="1">
                <a:solidFill>
                  <a:srgbClr val="0070C0"/>
                </a:solidFill>
                <a:latin typeface="+mj-lt"/>
                <a:cs typeface="Arial" pitchFamily="34" charset="-120"/>
              </a:rPr>
              <a:t>QUICK CONTROLS</a:t>
            </a:r>
          </a:p>
        </p:txBody>
      </p:sp>
      <p:sp>
        <p:nvSpPr>
          <p:cNvPr id="48" name="Text 40">
            <a:extLst>
              <a:ext uri="{FF2B5EF4-FFF2-40B4-BE49-F238E27FC236}">
                <a16:creationId xmlns:a16="http://schemas.microsoft.com/office/drawing/2014/main" id="{9ED07268-E6B6-5D0A-2835-243DCC71CEBC}"/>
              </a:ext>
            </a:extLst>
          </p:cNvPr>
          <p:cNvSpPr/>
          <p:nvPr/>
        </p:nvSpPr>
        <p:spPr>
          <a:xfrm>
            <a:off x="2148840" y="5806440"/>
            <a:ext cx="8641080" cy="256032"/>
          </a:xfrm>
          <a:prstGeom prst="rect">
            <a:avLst/>
          </a:prstGeom>
          <a:noFill/>
          <a:ln/>
        </p:spPr>
        <p:txBody>
          <a:bodyPr wrap="square" lIns="0" tIns="0" rIns="0" bIns="0" rtlCol="0" anchor="ctr">
            <a:normAutofit/>
          </a:bodyPr>
          <a:lstStyle/>
          <a:p>
            <a:pPr algn="ctr"/>
            <a:r>
              <a:rPr lang="en-US" altLang="zh-CN" sz="1200" b="1">
                <a:solidFill>
                  <a:srgbClr val="0070C0"/>
                </a:solidFill>
                <a:ea typeface="Arial" pitchFamily="34" charset="-122"/>
                <a:cs typeface="Arial" pitchFamily="34" charset="-120"/>
              </a:rPr>
              <a:t>Month  •  Service Model  •  Biz/System View  •  Count/Amount  •  Chart/Table  •  Export</a:t>
            </a:r>
            <a:endParaRPr lang="en-US" sz="1200">
              <a:solidFill>
                <a:srgbClr val="0070C0"/>
              </a:solidFill>
              <a:latin typeface="+mj-lt"/>
            </a:endParaRPr>
          </a:p>
        </p:txBody>
      </p:sp>
      <p:sp>
        <p:nvSpPr>
          <p:cNvPr id="63" name="Text 55">
            <a:extLst>
              <a:ext uri="{FF2B5EF4-FFF2-40B4-BE49-F238E27FC236}">
                <a16:creationId xmlns:a16="http://schemas.microsoft.com/office/drawing/2014/main" id="{BB40B536-00AE-2469-7DDA-A3C1BD093C1B}"/>
              </a:ext>
            </a:extLst>
          </p:cNvPr>
          <p:cNvSpPr/>
          <p:nvPr/>
        </p:nvSpPr>
        <p:spPr>
          <a:xfrm>
            <a:off x="556124" y="6443472"/>
            <a:ext cx="10717836" cy="27432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USER RULE  |  Start with Focus Items and exception indicators; apply filters, then drill into the relevant invoice or customer record.</a:t>
            </a:r>
            <a:endParaRPr lang="en-US" sz="1100">
              <a:latin typeface="+mj-lt"/>
            </a:endParaRPr>
          </a:p>
        </p:txBody>
      </p:sp>
      <p:sp>
        <p:nvSpPr>
          <p:cNvPr id="4" name="Text 39">
            <a:extLst>
              <a:ext uri="{FF2B5EF4-FFF2-40B4-BE49-F238E27FC236}">
                <a16:creationId xmlns:a16="http://schemas.microsoft.com/office/drawing/2014/main" id="{9212B622-A758-1181-6820-AB465595D928}"/>
              </a:ext>
            </a:extLst>
          </p:cNvPr>
          <p:cNvSpPr/>
          <p:nvPr/>
        </p:nvSpPr>
        <p:spPr>
          <a:xfrm>
            <a:off x="663066" y="4643029"/>
            <a:ext cx="3383280" cy="237744"/>
          </a:xfrm>
          <a:prstGeom prst="rect">
            <a:avLst/>
          </a:prstGeom>
          <a:noFill/>
          <a:ln/>
        </p:spPr>
        <p:txBody>
          <a:bodyPr wrap="square" lIns="0" tIns="0" rIns="0" bIns="0" rtlCol="0" anchor="ctr">
            <a:normAutofit/>
          </a:bodyPr>
          <a:lstStyle/>
          <a:p>
            <a:pPr marL="0" indent="0" algn="l">
              <a:buNone/>
            </a:pPr>
            <a:r>
              <a:rPr lang="en-US" sz="1300" b="1">
                <a:solidFill>
                  <a:srgbClr val="E66A13"/>
                </a:solidFill>
                <a:latin typeface="+mj-lt"/>
                <a:ea typeface="Arial" pitchFamily="34" charset="-122"/>
                <a:cs typeface="Arial" pitchFamily="34" charset="-120"/>
              </a:rPr>
              <a:t>A USER’S HOME WORKFLOW</a:t>
            </a:r>
            <a:endParaRPr lang="en-US" sz="1300">
              <a:latin typeface="+mj-lt"/>
            </a:endParaRPr>
          </a:p>
        </p:txBody>
      </p:sp>
      <p:sp>
        <p:nvSpPr>
          <p:cNvPr id="6" name="Shape 41">
            <a:extLst>
              <a:ext uri="{FF2B5EF4-FFF2-40B4-BE49-F238E27FC236}">
                <a16:creationId xmlns:a16="http://schemas.microsoft.com/office/drawing/2014/main" id="{6673A0E2-E452-0924-CAE8-8E9F8CD35483}"/>
              </a:ext>
            </a:extLst>
          </p:cNvPr>
          <p:cNvSpPr/>
          <p:nvPr/>
        </p:nvSpPr>
        <p:spPr>
          <a:xfrm>
            <a:off x="786384"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9" name="Text 42">
            <a:extLst>
              <a:ext uri="{FF2B5EF4-FFF2-40B4-BE49-F238E27FC236}">
                <a16:creationId xmlns:a16="http://schemas.microsoft.com/office/drawing/2014/main" id="{EC0A2DD2-BF4C-C15F-A4F1-1187608D6BF9}"/>
              </a:ext>
            </a:extLst>
          </p:cNvPr>
          <p:cNvSpPr/>
          <p:nvPr/>
        </p:nvSpPr>
        <p:spPr>
          <a:xfrm>
            <a:off x="841248"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LAND
Open Home</a:t>
            </a:r>
            <a:endParaRPr lang="en-US" sz="1000">
              <a:solidFill>
                <a:srgbClr val="126C36"/>
              </a:solidFill>
              <a:latin typeface="+mj-lt"/>
            </a:endParaRPr>
          </a:p>
        </p:txBody>
      </p:sp>
      <p:sp>
        <p:nvSpPr>
          <p:cNvPr id="11" name="Shape 43">
            <a:extLst>
              <a:ext uri="{FF2B5EF4-FFF2-40B4-BE49-F238E27FC236}">
                <a16:creationId xmlns:a16="http://schemas.microsoft.com/office/drawing/2014/main" id="{66E7F336-553F-5078-7A79-C10164B68673}"/>
              </a:ext>
            </a:extLst>
          </p:cNvPr>
          <p:cNvSpPr/>
          <p:nvPr/>
        </p:nvSpPr>
        <p:spPr>
          <a:xfrm>
            <a:off x="2487168"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13" name="Shape 44">
            <a:extLst>
              <a:ext uri="{FF2B5EF4-FFF2-40B4-BE49-F238E27FC236}">
                <a16:creationId xmlns:a16="http://schemas.microsoft.com/office/drawing/2014/main" id="{81E31F32-2913-0D63-2E76-554EFB0570C8}"/>
              </a:ext>
            </a:extLst>
          </p:cNvPr>
          <p:cNvSpPr/>
          <p:nvPr/>
        </p:nvSpPr>
        <p:spPr>
          <a:xfrm>
            <a:off x="2779776"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29" name="Text 45">
            <a:extLst>
              <a:ext uri="{FF2B5EF4-FFF2-40B4-BE49-F238E27FC236}">
                <a16:creationId xmlns:a16="http://schemas.microsoft.com/office/drawing/2014/main" id="{6FAA8040-F8A6-379E-36CE-D54066A47F14}"/>
              </a:ext>
            </a:extLst>
          </p:cNvPr>
          <p:cNvSpPr/>
          <p:nvPr/>
        </p:nvSpPr>
        <p:spPr>
          <a:xfrm>
            <a:off x="2834640" y="4983480"/>
            <a:ext cx="1517904" cy="329184"/>
          </a:xfrm>
          <a:prstGeom prst="rect">
            <a:avLst/>
          </a:prstGeom>
          <a:noFill/>
          <a:ln/>
        </p:spPr>
        <p:txBody>
          <a:bodyPr wrap="square" lIns="0" tIns="0" rIns="0" bIns="0" rtlCol="0" anchor="ctr">
            <a:normAutofit/>
          </a:bodyPr>
          <a:lstStyle/>
          <a:p>
            <a:pPr marL="0" indent="0" algn="ctr">
              <a:buNone/>
            </a:pPr>
            <a:r>
              <a:rPr lang="en-US" sz="1000" b="1" err="1">
                <a:solidFill>
                  <a:srgbClr val="126C36"/>
                </a:solidFill>
                <a:latin typeface="+mj-lt"/>
                <a:ea typeface="Arial" pitchFamily="34" charset="-122"/>
                <a:cs typeface="Arial" pitchFamily="34" charset="-120"/>
              </a:rPr>
              <a:t>SCAN
Check health</a:t>
            </a:r>
            <a:endParaRPr lang="en-US" sz="1000">
              <a:solidFill>
                <a:srgbClr val="126C36"/>
              </a:solidFill>
              <a:latin typeface="+mj-lt"/>
            </a:endParaRPr>
          </a:p>
        </p:txBody>
      </p:sp>
      <p:sp>
        <p:nvSpPr>
          <p:cNvPr id="64" name="Shape 46">
            <a:extLst>
              <a:ext uri="{FF2B5EF4-FFF2-40B4-BE49-F238E27FC236}">
                <a16:creationId xmlns:a16="http://schemas.microsoft.com/office/drawing/2014/main" id="{A8B5A121-1242-58DE-894A-15E4A52783BA}"/>
              </a:ext>
            </a:extLst>
          </p:cNvPr>
          <p:cNvSpPr/>
          <p:nvPr/>
        </p:nvSpPr>
        <p:spPr>
          <a:xfrm>
            <a:off x="4480560"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65" name="Shape 47">
            <a:extLst>
              <a:ext uri="{FF2B5EF4-FFF2-40B4-BE49-F238E27FC236}">
                <a16:creationId xmlns:a16="http://schemas.microsoft.com/office/drawing/2014/main" id="{A182A138-9C15-8A6B-7995-B34AE7615AC8}"/>
              </a:ext>
            </a:extLst>
          </p:cNvPr>
          <p:cNvSpPr/>
          <p:nvPr/>
        </p:nvSpPr>
        <p:spPr>
          <a:xfrm>
            <a:off x="4773168" y="4928616"/>
            <a:ext cx="1627632" cy="475488"/>
          </a:xfrm>
          <a:prstGeom prst="roundRect">
            <a:avLst>
              <a:gd name="adj" fmla="val 15385"/>
            </a:avLst>
          </a:prstGeom>
          <a:solidFill>
            <a:srgbClr val="FFF0DF"/>
          </a:solidFill>
          <a:ln w="12700">
            <a:solidFill>
              <a:srgbClr val="E6A55B"/>
            </a:solidFill>
            <a:prstDash val="solid"/>
          </a:ln>
        </p:spPr>
        <p:txBody>
          <a:bodyPr wrap="square"/>
          <a:lstStyle/>
          <a:p>
            <a:endParaRPr lang="zh-CN" altLang="en-US">
              <a:latin typeface="+mj-lt"/>
            </a:endParaRPr>
          </a:p>
        </p:txBody>
      </p:sp>
      <p:sp>
        <p:nvSpPr>
          <p:cNvPr id="66" name="Text 48">
            <a:extLst>
              <a:ext uri="{FF2B5EF4-FFF2-40B4-BE49-F238E27FC236}">
                <a16:creationId xmlns:a16="http://schemas.microsoft.com/office/drawing/2014/main" id="{8D64D422-F41A-3151-FADC-C8667ED09B02}"/>
              </a:ext>
            </a:extLst>
          </p:cNvPr>
          <p:cNvSpPr/>
          <p:nvPr/>
        </p:nvSpPr>
        <p:spPr>
          <a:xfrm>
            <a:off x="4828032"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E66A13"/>
                </a:solidFill>
                <a:latin typeface="+mj-lt"/>
                <a:ea typeface="Arial" pitchFamily="34" charset="-122"/>
                <a:cs typeface="Arial" pitchFamily="34" charset="-120"/>
              </a:rPr>
              <a:t>FILTER
Narrow the view</a:t>
            </a:r>
            <a:endParaRPr lang="en-US" sz="1000">
              <a:latin typeface="+mj-lt"/>
            </a:endParaRPr>
          </a:p>
        </p:txBody>
      </p:sp>
      <p:sp>
        <p:nvSpPr>
          <p:cNvPr id="67" name="Shape 49">
            <a:extLst>
              <a:ext uri="{FF2B5EF4-FFF2-40B4-BE49-F238E27FC236}">
                <a16:creationId xmlns:a16="http://schemas.microsoft.com/office/drawing/2014/main" id="{6F609507-B6B0-3A84-DD5C-01DACE205152}"/>
              </a:ext>
            </a:extLst>
          </p:cNvPr>
          <p:cNvSpPr/>
          <p:nvPr/>
        </p:nvSpPr>
        <p:spPr>
          <a:xfrm>
            <a:off x="6473952" y="5010912"/>
            <a:ext cx="219456" cy="310896"/>
          </a:xfrm>
          <a:prstGeom prst="chevron">
            <a:avLst/>
          </a:prstGeom>
          <a:solidFill>
            <a:srgbClr val="E66A13"/>
          </a:solidFill>
          <a:ln w="12700">
            <a:solidFill>
              <a:srgbClr val="E66A13"/>
            </a:solidFill>
            <a:prstDash val="solid"/>
          </a:ln>
        </p:spPr>
        <p:txBody>
          <a:bodyPr wrap="square"/>
          <a:lstStyle/>
          <a:p>
            <a:endParaRPr lang="zh-CN" altLang="en-US">
              <a:latin typeface="+mj-lt"/>
            </a:endParaRPr>
          </a:p>
        </p:txBody>
      </p:sp>
      <p:sp>
        <p:nvSpPr>
          <p:cNvPr id="68" name="Shape 50">
            <a:extLst>
              <a:ext uri="{FF2B5EF4-FFF2-40B4-BE49-F238E27FC236}">
                <a16:creationId xmlns:a16="http://schemas.microsoft.com/office/drawing/2014/main" id="{02C68D20-DE35-D665-2DE9-802F692EAF64}"/>
              </a:ext>
            </a:extLst>
          </p:cNvPr>
          <p:cNvSpPr/>
          <p:nvPr/>
        </p:nvSpPr>
        <p:spPr>
          <a:xfrm>
            <a:off x="6766560"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69" name="Text 51">
            <a:extLst>
              <a:ext uri="{FF2B5EF4-FFF2-40B4-BE49-F238E27FC236}">
                <a16:creationId xmlns:a16="http://schemas.microsoft.com/office/drawing/2014/main" id="{3DFF838A-47B0-9AC2-621A-394FA2A00DAF}"/>
              </a:ext>
            </a:extLst>
          </p:cNvPr>
          <p:cNvSpPr/>
          <p:nvPr/>
        </p:nvSpPr>
        <p:spPr>
          <a:xfrm>
            <a:off x="6821424"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PRIORITIZE
Review exceptions</a:t>
            </a:r>
            <a:endParaRPr lang="en-US" sz="1000">
              <a:solidFill>
                <a:srgbClr val="126C36"/>
              </a:solidFill>
              <a:latin typeface="+mj-lt"/>
            </a:endParaRPr>
          </a:p>
        </p:txBody>
      </p:sp>
      <p:sp>
        <p:nvSpPr>
          <p:cNvPr id="70" name="Shape 52">
            <a:extLst>
              <a:ext uri="{FF2B5EF4-FFF2-40B4-BE49-F238E27FC236}">
                <a16:creationId xmlns:a16="http://schemas.microsoft.com/office/drawing/2014/main" id="{E050ED16-6BAF-36F2-A886-2BDBA5E7549B}"/>
              </a:ext>
            </a:extLst>
          </p:cNvPr>
          <p:cNvSpPr/>
          <p:nvPr/>
        </p:nvSpPr>
        <p:spPr>
          <a:xfrm>
            <a:off x="8467344"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71" name="Shape 53">
            <a:extLst>
              <a:ext uri="{FF2B5EF4-FFF2-40B4-BE49-F238E27FC236}">
                <a16:creationId xmlns:a16="http://schemas.microsoft.com/office/drawing/2014/main" id="{7B471988-7E59-F88A-1186-C7C22E64E47C}"/>
              </a:ext>
            </a:extLst>
          </p:cNvPr>
          <p:cNvSpPr/>
          <p:nvPr/>
        </p:nvSpPr>
        <p:spPr>
          <a:xfrm>
            <a:off x="8759952"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72" name="Text 54">
            <a:extLst>
              <a:ext uri="{FF2B5EF4-FFF2-40B4-BE49-F238E27FC236}">
                <a16:creationId xmlns:a16="http://schemas.microsoft.com/office/drawing/2014/main" id="{6FB22D03-C000-FDFF-4C7C-F02C49799769}"/>
              </a:ext>
            </a:extLst>
          </p:cNvPr>
          <p:cNvSpPr/>
          <p:nvPr/>
        </p:nvSpPr>
        <p:spPr>
          <a:xfrm>
            <a:off x="8814816"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DRILL DOWN
Open details</a:t>
            </a:r>
            <a:endParaRPr lang="en-US" sz="1000">
              <a:solidFill>
                <a:srgbClr val="126C36"/>
              </a:solidFill>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B549-6DB9-48A5-4E74-7D0B4F315B6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52260BF-EABB-5EB5-B7E8-755E71EB1DBF}"/>
              </a:ext>
            </a:extLst>
          </p:cNvPr>
          <p:cNvSpPr>
            <a:spLocks noGrp="1"/>
          </p:cNvSpPr>
          <p:nvPr>
            <p:ph type="title"/>
          </p:nvPr>
        </p:nvSpPr>
        <p:spPr/>
        <p:txBody>
          <a:bodyPr/>
          <a:lstStyle/>
          <a:p>
            <a:r>
              <a:rPr lang="en-US" altLang="zh-CN"/>
              <a:t>Invoice</a:t>
            </a:r>
            <a:r>
              <a:rPr lang="zh-CN" altLang="en-US"/>
              <a:t> </a:t>
            </a:r>
            <a:r>
              <a:rPr lang="en-US" altLang="zh-CN"/>
              <a:t>Dashboard</a:t>
            </a:r>
            <a:endParaRPr lang="zh-CN" altLang="en-US"/>
          </a:p>
        </p:txBody>
      </p:sp>
      <p:sp>
        <p:nvSpPr>
          <p:cNvPr id="9" name="TextBox 72">
            <a:extLst>
              <a:ext uri="{FF2B5EF4-FFF2-40B4-BE49-F238E27FC236}">
                <a16:creationId xmlns:a16="http://schemas.microsoft.com/office/drawing/2014/main" id="{AB8AC128-B73F-27DA-2B0F-96C6C8C9FA74}"/>
              </a:ext>
            </a:extLst>
          </p:cNvPr>
          <p:cNvSpPr txBox="1"/>
          <p:nvPr/>
        </p:nvSpPr>
        <p:spPr>
          <a:xfrm>
            <a:off x="9221891" y="1400885"/>
            <a:ext cx="281173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1. Timeliness &amp; Accuracy</a:t>
            </a: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10" name="TextBox 73">
            <a:extLst>
              <a:ext uri="{FF2B5EF4-FFF2-40B4-BE49-F238E27FC236}">
                <a16:creationId xmlns:a16="http://schemas.microsoft.com/office/drawing/2014/main" id="{A5E13FC1-3761-08C6-D0AE-E47993DEBD90}"/>
              </a:ext>
            </a:extLst>
          </p:cNvPr>
          <p:cNvSpPr txBox="1"/>
          <p:nvPr/>
        </p:nvSpPr>
        <p:spPr>
          <a:xfrm>
            <a:off x="9219822" y="1661286"/>
            <a:ext cx="257008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b="0" i="0" u="none" strike="noStrike" kern="1200" cap="none" spc="0" normalizeH="0" baseline="0" noProof="0">
                <a:ln>
                  <a:noFill/>
                </a:ln>
                <a:solidFill>
                  <a:srgbClr val="000000"/>
                </a:solidFill>
                <a:effectLst/>
                <a:uLnTx/>
                <a:uFillTx/>
                <a:latin typeface="Aptos"/>
                <a:ea typeface="黑体"/>
                <a:cs typeface="+mn-cs"/>
              </a:rPr>
              <a:t>Tracks recurring invoice performance across timeliness (% preview/final missed target date) and accuracy (% preview rejected).</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24" name="TextBox 72">
            <a:extLst>
              <a:ext uri="{FF2B5EF4-FFF2-40B4-BE49-F238E27FC236}">
                <a16:creationId xmlns:a16="http://schemas.microsoft.com/office/drawing/2014/main" id="{0C218808-E9EF-CC76-F9DB-632A9E060ABE}"/>
              </a:ext>
            </a:extLst>
          </p:cNvPr>
          <p:cNvSpPr txBox="1"/>
          <p:nvPr/>
        </p:nvSpPr>
        <p:spPr>
          <a:xfrm>
            <a:off x="9221891" y="2506480"/>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2. Delayed Invoice Aging</a:t>
            </a: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25" name="TextBox 73">
            <a:extLst>
              <a:ext uri="{FF2B5EF4-FFF2-40B4-BE49-F238E27FC236}">
                <a16:creationId xmlns:a16="http://schemas.microsoft.com/office/drawing/2014/main" id="{53CF2501-0A5E-2A6D-0D90-34AA23310A09}"/>
              </a:ext>
            </a:extLst>
          </p:cNvPr>
          <p:cNvSpPr txBox="1"/>
          <p:nvPr/>
        </p:nvSpPr>
        <p:spPr>
          <a:xfrm>
            <a:off x="9219822" y="2766881"/>
            <a:ext cx="25700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b="0" i="0" u="none" strike="noStrike" kern="1200" cap="none" spc="0" normalizeH="0" baseline="0" noProof="0">
                <a:ln>
                  <a:noFill/>
                </a:ln>
                <a:solidFill>
                  <a:srgbClr val="000000"/>
                </a:solidFill>
                <a:effectLst/>
                <a:uLnTx/>
                <a:uFillTx/>
                <a:latin typeface="Aptos"/>
                <a:ea typeface="黑体"/>
                <a:cs typeface="+mn-cs"/>
              </a:rPr>
              <a:t>Final invoices missed target date grouped by aging bucket.</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pic>
        <p:nvPicPr>
          <p:cNvPr id="40" name="图片 39">
            <a:extLst>
              <a:ext uri="{FF2B5EF4-FFF2-40B4-BE49-F238E27FC236}">
                <a16:creationId xmlns:a16="http://schemas.microsoft.com/office/drawing/2014/main" id="{32BED11B-0A9D-3E51-2E24-E2D2F4CA604C}"/>
              </a:ext>
            </a:extLst>
          </p:cNvPr>
          <p:cNvPicPr>
            <a:picLocks noChangeAspect="1"/>
          </p:cNvPicPr>
          <p:nvPr/>
        </p:nvPicPr>
        <p:blipFill>
          <a:blip r:embed="rId2"/>
          <a:stretch>
            <a:fillRect/>
          </a:stretch>
        </p:blipFill>
        <p:spPr>
          <a:xfrm>
            <a:off x="158375" y="980831"/>
            <a:ext cx="1992197" cy="2949079"/>
          </a:xfrm>
          <a:prstGeom prst="rect">
            <a:avLst/>
          </a:prstGeom>
        </p:spPr>
      </p:pic>
      <p:pic>
        <p:nvPicPr>
          <p:cNvPr id="41" name="图片 40">
            <a:extLst>
              <a:ext uri="{FF2B5EF4-FFF2-40B4-BE49-F238E27FC236}">
                <a16:creationId xmlns:a16="http://schemas.microsoft.com/office/drawing/2014/main" id="{3A75D59F-7CDF-B6F4-7A3A-C2FD54639527}"/>
              </a:ext>
            </a:extLst>
          </p:cNvPr>
          <p:cNvPicPr>
            <a:picLocks noChangeAspect="1"/>
          </p:cNvPicPr>
          <p:nvPr/>
        </p:nvPicPr>
        <p:blipFill>
          <a:blip r:embed="rId3"/>
          <a:stretch>
            <a:fillRect/>
          </a:stretch>
        </p:blipFill>
        <p:spPr>
          <a:xfrm>
            <a:off x="1203699" y="2352445"/>
            <a:ext cx="7772400" cy="3545802"/>
          </a:xfrm>
          <a:prstGeom prst="rect">
            <a:avLst/>
          </a:prstGeom>
        </p:spPr>
      </p:pic>
    </p:spTree>
    <p:extLst>
      <p:ext uri="{BB962C8B-B14F-4D97-AF65-F5344CB8AC3E}">
        <p14:creationId xmlns:p14="http://schemas.microsoft.com/office/powerpoint/2010/main" val="162643710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9F949-289B-E45A-C6D8-5AC7FF04081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72D8622-F120-3FFF-690A-307AB9D79F31}"/>
              </a:ext>
            </a:extLst>
          </p:cNvPr>
          <p:cNvSpPr>
            <a:spLocks noGrp="1"/>
          </p:cNvSpPr>
          <p:nvPr>
            <p:ph type="title"/>
          </p:nvPr>
        </p:nvSpPr>
        <p:spPr/>
        <p:txBody>
          <a:bodyPr/>
          <a:lstStyle/>
          <a:p>
            <a:r>
              <a:rPr lang="en-US" altLang="zh-CN"/>
              <a:t>Timeliness &amp; Accuracy </a:t>
            </a:r>
            <a:endParaRPr lang="zh-CN" altLang="en-US"/>
          </a:p>
        </p:txBody>
      </p:sp>
      <p:pic>
        <p:nvPicPr>
          <p:cNvPr id="7" name="图片 6">
            <a:extLst>
              <a:ext uri="{FF2B5EF4-FFF2-40B4-BE49-F238E27FC236}">
                <a16:creationId xmlns:a16="http://schemas.microsoft.com/office/drawing/2014/main" id="{9EE58F93-82F5-B941-A4BC-B9131DD7F0F0}"/>
              </a:ext>
            </a:extLst>
          </p:cNvPr>
          <p:cNvPicPr>
            <a:picLocks noChangeAspect="1"/>
          </p:cNvPicPr>
          <p:nvPr/>
        </p:nvPicPr>
        <p:blipFill>
          <a:blip r:embed="rId3"/>
          <a:stretch>
            <a:fillRect/>
          </a:stretch>
        </p:blipFill>
        <p:spPr>
          <a:xfrm>
            <a:off x="93391" y="1661286"/>
            <a:ext cx="8882708" cy="2861469"/>
          </a:xfrm>
          <a:prstGeom prst="rect">
            <a:avLst/>
          </a:prstGeom>
        </p:spPr>
      </p:pic>
      <p:sp>
        <p:nvSpPr>
          <p:cNvPr id="9" name="TextBox 72">
            <a:extLst>
              <a:ext uri="{FF2B5EF4-FFF2-40B4-BE49-F238E27FC236}">
                <a16:creationId xmlns:a16="http://schemas.microsoft.com/office/drawing/2014/main" id="{8C13CF84-BE1C-6B11-45FF-E9D24AC8E68D}"/>
              </a:ext>
            </a:extLst>
          </p:cNvPr>
          <p:cNvSpPr txBox="1"/>
          <p:nvPr/>
        </p:nvSpPr>
        <p:spPr>
          <a:xfrm>
            <a:off x="9141764" y="812609"/>
            <a:ext cx="281173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1. Quantity Timeliness(Business)</a:t>
            </a: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10" name="TextBox 73">
            <a:extLst>
              <a:ext uri="{FF2B5EF4-FFF2-40B4-BE49-F238E27FC236}">
                <a16:creationId xmlns:a16="http://schemas.microsoft.com/office/drawing/2014/main" id="{339D3923-BF19-D40E-DB4A-C428D44024A1}"/>
              </a:ext>
            </a:extLst>
          </p:cNvPr>
          <p:cNvSpPr txBox="1"/>
          <p:nvPr/>
        </p:nvSpPr>
        <p:spPr>
          <a:xfrm>
            <a:off x="9141764" y="1073010"/>
            <a:ext cx="257008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Count of final statements not at Customer Final Invoice Date of current month </a:t>
            </a:r>
            <a:r>
              <a:rPr kumimoji="0" lang="en-US" altLang="zh-CN" sz="10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Count of total final statements </a:t>
            </a:r>
            <a:r>
              <a:rPr kumimoji="0" lang="en-US" altLang="zh-CN" sz="1000" b="0" i="0" u="none" strike="noStrike" kern="1200" cap="none" spc="0" normalizeH="0" baseline="0" noProof="0">
                <a:ln>
                  <a:noFill/>
                </a:ln>
                <a:solidFill>
                  <a:srgbClr val="7030A0"/>
                </a:solidFill>
                <a:effectLst/>
                <a:uLnTx/>
                <a:uFillTx/>
                <a:latin typeface="Lato" panose="020F0502020204030203" pitchFamily="34" charset="0"/>
                <a:ea typeface="Lato" panose="020F0502020204030203" pitchFamily="34" charset="0"/>
                <a:cs typeface="Lato" panose="020F0502020204030203" pitchFamily="34" charset="0"/>
              </a:rPr>
              <a:t>should</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be created in current month</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24" name="TextBox 72">
            <a:extLst>
              <a:ext uri="{FF2B5EF4-FFF2-40B4-BE49-F238E27FC236}">
                <a16:creationId xmlns:a16="http://schemas.microsoft.com/office/drawing/2014/main" id="{5D6C5586-9673-7BD6-8199-8F6AC2181FA1}"/>
              </a:ext>
            </a:extLst>
          </p:cNvPr>
          <p:cNvSpPr txBox="1"/>
          <p:nvPr/>
        </p:nvSpPr>
        <p:spPr>
          <a:xfrm>
            <a:off x="9141764" y="1748909"/>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2. Amount Timeliness(</a:t>
            </a: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Business</a:t>
            </a:r>
            <a:r>
              <a:rPr kumimoji="0" lang="en-US" sz="1300" b="1" i="0" u="none" strike="noStrike" kern="1200" cap="none" spc="0" normalizeH="0" baseline="0" noProof="0">
                <a:ln>
                  <a:noFill/>
                </a:ln>
                <a:solidFill>
                  <a:srgbClr val="000000"/>
                </a:solidFill>
                <a:effectLst/>
                <a:uLnTx/>
                <a:uFillTx/>
                <a:latin typeface="Aptos"/>
                <a:ea typeface="黑体"/>
                <a:cs typeface="Lato Regular"/>
              </a:rPr>
              <a:t>)</a:t>
            </a: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25" name="TextBox 73">
            <a:extLst>
              <a:ext uri="{FF2B5EF4-FFF2-40B4-BE49-F238E27FC236}">
                <a16:creationId xmlns:a16="http://schemas.microsoft.com/office/drawing/2014/main" id="{6523BF33-75C7-F3C5-0014-A8D382248888}"/>
              </a:ext>
            </a:extLst>
          </p:cNvPr>
          <p:cNvSpPr txBox="1"/>
          <p:nvPr/>
        </p:nvSpPr>
        <p:spPr>
          <a:xfrm>
            <a:off x="9141764" y="2009310"/>
            <a:ext cx="257008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Amount of final invoices not at Customer Final Invoice Date of current month </a:t>
            </a:r>
            <a:r>
              <a:rPr kumimoji="0" lang="en-US" altLang="zh-CN" sz="10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Amount of total final invoices </a:t>
            </a:r>
            <a:r>
              <a:rPr kumimoji="0" lang="en-US" altLang="zh-CN" sz="1000" b="0" i="0" u="none" strike="noStrike" kern="1200" cap="none" spc="0" normalizeH="0" baseline="0" noProof="0">
                <a:ln>
                  <a:noFill/>
                </a:ln>
                <a:solidFill>
                  <a:srgbClr val="7030A0"/>
                </a:solidFill>
                <a:effectLst/>
                <a:uLnTx/>
                <a:uFillTx/>
                <a:latin typeface="Lato" panose="020F0502020204030203" pitchFamily="34" charset="0"/>
                <a:ea typeface="Lato" panose="020F0502020204030203" pitchFamily="34" charset="0"/>
                <a:cs typeface="Lato" panose="020F0502020204030203" pitchFamily="34" charset="0"/>
              </a:rPr>
              <a:t>should</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be created in current month in USD</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27" name="TextBox 72">
            <a:extLst>
              <a:ext uri="{FF2B5EF4-FFF2-40B4-BE49-F238E27FC236}">
                <a16:creationId xmlns:a16="http://schemas.microsoft.com/office/drawing/2014/main" id="{7E7BD0B0-F570-A24C-9D26-C7D1AA4A409E}"/>
              </a:ext>
            </a:extLst>
          </p:cNvPr>
          <p:cNvSpPr txBox="1"/>
          <p:nvPr/>
        </p:nvSpPr>
        <p:spPr>
          <a:xfrm>
            <a:off x="9141764" y="2735830"/>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3. Quantity Timeliness(System)</a:t>
            </a:r>
            <a:endParaRPr kumimoji="0" lang="id-ID" altLang="zh-CN"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28" name="TextBox 73">
            <a:extLst>
              <a:ext uri="{FF2B5EF4-FFF2-40B4-BE49-F238E27FC236}">
                <a16:creationId xmlns:a16="http://schemas.microsoft.com/office/drawing/2014/main" id="{F597511D-BD6D-1ED3-1B02-AB0055C26D72}"/>
              </a:ext>
            </a:extLst>
          </p:cNvPr>
          <p:cNvSpPr txBox="1"/>
          <p:nvPr/>
        </p:nvSpPr>
        <p:spPr>
          <a:xfrm>
            <a:off x="9141764" y="2996231"/>
            <a:ext cx="257008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Count of preview statements not at Customer Preview Invoice Date of current month </a:t>
            </a:r>
            <a:r>
              <a:rPr kumimoji="0" lang="en-US" altLang="zh-CN" sz="10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Count of total preview statements </a:t>
            </a:r>
            <a:r>
              <a:rPr kumimoji="0" lang="en-US" altLang="zh-CN" sz="1000" b="0" i="0" u="none" strike="noStrike" kern="1200" cap="none" spc="0" normalizeH="0" baseline="0" noProof="0">
                <a:ln>
                  <a:noFill/>
                </a:ln>
                <a:solidFill>
                  <a:srgbClr val="7030A0"/>
                </a:solidFill>
                <a:effectLst/>
                <a:uLnTx/>
                <a:uFillTx/>
                <a:latin typeface="Lato" panose="020F0502020204030203" pitchFamily="34" charset="0"/>
                <a:ea typeface="Lato" panose="020F0502020204030203" pitchFamily="34" charset="0"/>
                <a:cs typeface="Lato" panose="020F0502020204030203" pitchFamily="34" charset="0"/>
              </a:rPr>
              <a:t>should</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be created in current month</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30" name="TextBox 72">
            <a:extLst>
              <a:ext uri="{FF2B5EF4-FFF2-40B4-BE49-F238E27FC236}">
                <a16:creationId xmlns:a16="http://schemas.microsoft.com/office/drawing/2014/main" id="{E31C6E77-8506-E8C2-CB59-C7D0D212F557}"/>
              </a:ext>
            </a:extLst>
          </p:cNvPr>
          <p:cNvSpPr txBox="1"/>
          <p:nvPr/>
        </p:nvSpPr>
        <p:spPr>
          <a:xfrm>
            <a:off x="9141764" y="3852348"/>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4. Amount Timeliness(System)</a:t>
            </a:r>
            <a:endParaRPr kumimoji="0" lang="id-ID" altLang="zh-CN"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31" name="TextBox 73">
            <a:extLst>
              <a:ext uri="{FF2B5EF4-FFF2-40B4-BE49-F238E27FC236}">
                <a16:creationId xmlns:a16="http://schemas.microsoft.com/office/drawing/2014/main" id="{363A94EE-4726-93B7-4A45-12C3FA465897}"/>
              </a:ext>
            </a:extLst>
          </p:cNvPr>
          <p:cNvSpPr txBox="1"/>
          <p:nvPr/>
        </p:nvSpPr>
        <p:spPr>
          <a:xfrm>
            <a:off x="9141764" y="4118406"/>
            <a:ext cx="257008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Amount of preview invoices not at Customer Preview Invoice Date of current month </a:t>
            </a:r>
            <a:r>
              <a:rPr kumimoji="0" lang="en-US" altLang="zh-CN" sz="10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Amount of total preview invoices </a:t>
            </a:r>
            <a:r>
              <a:rPr kumimoji="0" lang="en-US" altLang="zh-CN" sz="1000" b="0" i="0" u="none" strike="noStrike" kern="1200" cap="none" spc="0" normalizeH="0" baseline="0" noProof="0">
                <a:ln>
                  <a:noFill/>
                </a:ln>
                <a:solidFill>
                  <a:srgbClr val="7030A0"/>
                </a:solidFill>
                <a:effectLst/>
                <a:uLnTx/>
                <a:uFillTx/>
                <a:latin typeface="Lato" panose="020F0502020204030203" pitchFamily="34" charset="0"/>
                <a:ea typeface="Lato" panose="020F0502020204030203" pitchFamily="34" charset="0"/>
                <a:cs typeface="Lato" panose="020F0502020204030203" pitchFamily="34" charset="0"/>
              </a:rPr>
              <a:t>should</a:t>
            </a: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 be created in current month) in USD</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33" name="TextBox 72">
            <a:extLst>
              <a:ext uri="{FF2B5EF4-FFF2-40B4-BE49-F238E27FC236}">
                <a16:creationId xmlns:a16="http://schemas.microsoft.com/office/drawing/2014/main" id="{60F67F57-8167-AA85-5219-AE5945F7AB7B}"/>
              </a:ext>
            </a:extLst>
          </p:cNvPr>
          <p:cNvSpPr txBox="1"/>
          <p:nvPr/>
        </p:nvSpPr>
        <p:spPr>
          <a:xfrm>
            <a:off x="9141764" y="5843578"/>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6. Issue Rate</a:t>
            </a:r>
            <a:endParaRPr kumimoji="0" lang="id-ID" altLang="zh-CN"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34" name="TextBox 73">
            <a:extLst>
              <a:ext uri="{FF2B5EF4-FFF2-40B4-BE49-F238E27FC236}">
                <a16:creationId xmlns:a16="http://schemas.microsoft.com/office/drawing/2014/main" id="{D6DE83B1-58F8-93CA-2F77-3050EADA30F1}"/>
              </a:ext>
            </a:extLst>
          </p:cNvPr>
          <p:cNvSpPr txBox="1"/>
          <p:nvPr/>
        </p:nvSpPr>
        <p:spPr>
          <a:xfrm>
            <a:off x="9141764" y="6103979"/>
            <a:ext cx="257008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Count of rejected preview statement with system error of current month / Count of rejected preview statements of current month </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36" name="TextBox 72">
            <a:extLst>
              <a:ext uri="{FF2B5EF4-FFF2-40B4-BE49-F238E27FC236}">
                <a16:creationId xmlns:a16="http://schemas.microsoft.com/office/drawing/2014/main" id="{B1D32FA6-7559-2451-B7DA-DE11744B5300}"/>
              </a:ext>
            </a:extLst>
          </p:cNvPr>
          <p:cNvSpPr txBox="1"/>
          <p:nvPr/>
        </p:nvSpPr>
        <p:spPr>
          <a:xfrm>
            <a:off x="9141764" y="4980180"/>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5. Invoice Accuracy</a:t>
            </a:r>
            <a:endParaRPr kumimoji="0" lang="id-ID" altLang="zh-CN"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37" name="TextBox 73">
            <a:extLst>
              <a:ext uri="{FF2B5EF4-FFF2-40B4-BE49-F238E27FC236}">
                <a16:creationId xmlns:a16="http://schemas.microsoft.com/office/drawing/2014/main" id="{136A9C53-E1F7-DA78-CB8F-F16B8571AE1A}"/>
              </a:ext>
            </a:extLst>
          </p:cNvPr>
          <p:cNvSpPr txBox="1"/>
          <p:nvPr/>
        </p:nvSpPr>
        <p:spPr>
          <a:xfrm>
            <a:off x="9141764" y="5226004"/>
            <a:ext cx="2570080"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Count of rejected preview statements of current month / Count of total preview statements of current month</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2" name="TextBox 73">
            <a:extLst>
              <a:ext uri="{FF2B5EF4-FFF2-40B4-BE49-F238E27FC236}">
                <a16:creationId xmlns:a16="http://schemas.microsoft.com/office/drawing/2014/main" id="{3D87ECC4-B1BE-95D0-7AEC-A28BD7B13F65}"/>
              </a:ext>
            </a:extLst>
          </p:cNvPr>
          <p:cNvSpPr txBox="1"/>
          <p:nvPr/>
        </p:nvSpPr>
        <p:spPr>
          <a:xfrm>
            <a:off x="93391" y="958803"/>
            <a:ext cx="888270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M</a:t>
            </a:r>
            <a:r>
              <a:rPr kumimoji="0" lang="zh-CN" altLang="zh-CN" sz="1000" b="0" i="0" u="none" strike="noStrike" kern="1200" cap="none" spc="0" normalizeH="0" baseline="0" noProof="0">
                <a:ln>
                  <a:noFill/>
                </a:ln>
                <a:solidFill>
                  <a:srgbClr val="000000"/>
                </a:solidFill>
                <a:effectLst/>
                <a:uLnTx/>
                <a:uFillTx/>
                <a:latin typeface="Aptos"/>
                <a:ea typeface="黑体"/>
                <a:cs typeface="+mn-cs"/>
              </a:rPr>
              <a:t>onitoring the processing performance of invoices for different service models to identify bottlenecks and areas for improvement, ensuring efficiency and accuracy in billing</a:t>
            </a:r>
            <a:r>
              <a:rPr kumimoji="0" lang="en-US" altLang="zh-CN" sz="1000" b="0" i="0" u="none" strike="noStrike" kern="1200" cap="none" spc="0" normalizeH="0" baseline="0" noProof="0">
                <a:ln>
                  <a:noFill/>
                </a:ln>
                <a:solidFill>
                  <a:srgbClr val="000000"/>
                </a:solidFill>
                <a:effectLst/>
                <a:uLnTx/>
                <a:uFillTx/>
                <a:latin typeface="Aptos"/>
                <a:ea typeface="黑体"/>
                <a:cs typeface="+mn-cs"/>
              </a:rPr>
              <a:t>.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Only recurring invoices are calculated</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Tree>
    <p:extLst>
      <p:ext uri="{BB962C8B-B14F-4D97-AF65-F5344CB8AC3E}">
        <p14:creationId xmlns:p14="http://schemas.microsoft.com/office/powerpoint/2010/main" val="421502201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E51A6-51E5-E310-B446-FDF30ECFC82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313A266-EA34-C574-C802-44829D76B7EF}"/>
              </a:ext>
            </a:extLst>
          </p:cNvPr>
          <p:cNvSpPr>
            <a:spLocks noGrp="1"/>
          </p:cNvSpPr>
          <p:nvPr>
            <p:ph type="title"/>
          </p:nvPr>
        </p:nvSpPr>
        <p:spPr/>
        <p:txBody>
          <a:bodyPr/>
          <a:lstStyle/>
          <a:p>
            <a:r>
              <a:rPr lang="en-US" altLang="zh-CN"/>
              <a:t>Timeliness &amp; Accuracy </a:t>
            </a:r>
            <a:endParaRPr lang="zh-CN" altLang="en-US"/>
          </a:p>
        </p:txBody>
      </p:sp>
      <p:sp>
        <p:nvSpPr>
          <p:cNvPr id="9" name="TextBox 72">
            <a:extLst>
              <a:ext uri="{FF2B5EF4-FFF2-40B4-BE49-F238E27FC236}">
                <a16:creationId xmlns:a16="http://schemas.microsoft.com/office/drawing/2014/main" id="{1D97ACFA-E267-4968-C72D-6DE60C07A6B3}"/>
              </a:ext>
            </a:extLst>
          </p:cNvPr>
          <p:cNvSpPr txBox="1"/>
          <p:nvPr/>
        </p:nvSpPr>
        <p:spPr>
          <a:xfrm>
            <a:off x="9176924" y="1331074"/>
            <a:ext cx="2612978"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1. </a:t>
            </a: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Select Month &amp; Service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10" name="TextBox 73">
            <a:extLst>
              <a:ext uri="{FF2B5EF4-FFF2-40B4-BE49-F238E27FC236}">
                <a16:creationId xmlns:a16="http://schemas.microsoft.com/office/drawing/2014/main" id="{D62479DC-D372-76B6-2F2A-5F8A55F60396}"/>
              </a:ext>
            </a:extLst>
          </p:cNvPr>
          <p:cNvSpPr txBox="1"/>
          <p:nvPr/>
        </p:nvSpPr>
        <p:spPr>
          <a:xfrm>
            <a:off x="9176924" y="1604620"/>
            <a:ext cx="257008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 the Month filter (e.g. 2027.01) and the Service Model filter (Total, DaaS-MLA, DaaS-MSA, IaaS, ISGLEASE, MSAAS). All gauges, tables and the timeline refresh with the selection.</a:t>
            </a:r>
          </a:p>
        </p:txBody>
      </p:sp>
      <p:sp>
        <p:nvSpPr>
          <p:cNvPr id="24" name="TextBox 72">
            <a:extLst>
              <a:ext uri="{FF2B5EF4-FFF2-40B4-BE49-F238E27FC236}">
                <a16:creationId xmlns:a16="http://schemas.microsoft.com/office/drawing/2014/main" id="{DEF7AE23-B48F-3C4A-5071-265B9FD86D49}"/>
              </a:ext>
            </a:extLst>
          </p:cNvPr>
          <p:cNvSpPr txBox="1"/>
          <p:nvPr/>
        </p:nvSpPr>
        <p:spPr>
          <a:xfrm>
            <a:off x="9176924" y="2598925"/>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2.</a:t>
            </a: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 Switch Biz View / System View</a:t>
            </a:r>
          </a:p>
        </p:txBody>
      </p:sp>
      <p:sp>
        <p:nvSpPr>
          <p:cNvPr id="25" name="TextBox 73">
            <a:extLst>
              <a:ext uri="{FF2B5EF4-FFF2-40B4-BE49-F238E27FC236}">
                <a16:creationId xmlns:a16="http://schemas.microsoft.com/office/drawing/2014/main" id="{7C6A3115-025F-7C5D-6918-CCF718336D36}"/>
              </a:ext>
            </a:extLst>
          </p:cNvPr>
          <p:cNvSpPr txBox="1"/>
          <p:nvPr/>
        </p:nvSpPr>
        <p:spPr>
          <a:xfrm>
            <a:off x="9176924" y="2831729"/>
            <a:ext cx="2570080"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Biz View reads final-invoice timeliness (only net amount considered); System View reads preview-invoice timeliness. </a:t>
            </a:r>
          </a:p>
        </p:txBody>
      </p:sp>
      <p:sp>
        <p:nvSpPr>
          <p:cNvPr id="30" name="TextBox 72">
            <a:extLst>
              <a:ext uri="{FF2B5EF4-FFF2-40B4-BE49-F238E27FC236}">
                <a16:creationId xmlns:a16="http://schemas.microsoft.com/office/drawing/2014/main" id="{90AD1F3C-A0A5-575F-34B7-F72671F2C7D9}"/>
              </a:ext>
            </a:extLst>
          </p:cNvPr>
          <p:cNvSpPr txBox="1"/>
          <p:nvPr/>
        </p:nvSpPr>
        <p:spPr>
          <a:xfrm>
            <a:off x="9176924" y="3688570"/>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3. Show Table/Hide Table</a:t>
            </a:r>
            <a:endParaRPr kumimoji="0" lang="id-ID" altLang="zh-CN"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31" name="TextBox 73">
            <a:extLst>
              <a:ext uri="{FF2B5EF4-FFF2-40B4-BE49-F238E27FC236}">
                <a16:creationId xmlns:a16="http://schemas.microsoft.com/office/drawing/2014/main" id="{E0580727-8428-79FD-53B8-3C58A4E7676E}"/>
              </a:ext>
            </a:extLst>
          </p:cNvPr>
          <p:cNvSpPr txBox="1"/>
          <p:nvPr/>
        </p:nvSpPr>
        <p:spPr>
          <a:xfrm>
            <a:off x="9176924" y="3948971"/>
            <a:ext cx="25700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 Show Table / Hide Table to toggle the detail table.</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pic>
        <p:nvPicPr>
          <p:cNvPr id="2" name="图片 1">
            <a:extLst>
              <a:ext uri="{FF2B5EF4-FFF2-40B4-BE49-F238E27FC236}">
                <a16:creationId xmlns:a16="http://schemas.microsoft.com/office/drawing/2014/main" id="{09EA5F32-D6AB-5CBD-3E8B-85F45F1EAA47}"/>
              </a:ext>
            </a:extLst>
          </p:cNvPr>
          <p:cNvPicPr>
            <a:picLocks noChangeAspect="1"/>
          </p:cNvPicPr>
          <p:nvPr/>
        </p:nvPicPr>
        <p:blipFill>
          <a:blip r:embed="rId2"/>
          <a:stretch>
            <a:fillRect/>
          </a:stretch>
        </p:blipFill>
        <p:spPr>
          <a:xfrm>
            <a:off x="320182" y="1358913"/>
            <a:ext cx="7772400" cy="2568437"/>
          </a:xfrm>
          <a:prstGeom prst="rect">
            <a:avLst/>
          </a:prstGeom>
        </p:spPr>
      </p:pic>
      <p:pic>
        <p:nvPicPr>
          <p:cNvPr id="4" name="图片 3">
            <a:extLst>
              <a:ext uri="{FF2B5EF4-FFF2-40B4-BE49-F238E27FC236}">
                <a16:creationId xmlns:a16="http://schemas.microsoft.com/office/drawing/2014/main" id="{A2EA7747-501D-E2E3-134F-22388B00F9E9}"/>
              </a:ext>
            </a:extLst>
          </p:cNvPr>
          <p:cNvPicPr>
            <a:picLocks noChangeAspect="1"/>
          </p:cNvPicPr>
          <p:nvPr/>
        </p:nvPicPr>
        <p:blipFill>
          <a:blip r:embed="rId3"/>
          <a:stretch>
            <a:fillRect/>
          </a:stretch>
        </p:blipFill>
        <p:spPr>
          <a:xfrm>
            <a:off x="1203699" y="3131136"/>
            <a:ext cx="7772400" cy="2578068"/>
          </a:xfrm>
          <a:prstGeom prst="rect">
            <a:avLst/>
          </a:prstGeom>
        </p:spPr>
      </p:pic>
      <p:sp>
        <p:nvSpPr>
          <p:cNvPr id="5" name="TextBox 73">
            <a:extLst>
              <a:ext uri="{FF2B5EF4-FFF2-40B4-BE49-F238E27FC236}">
                <a16:creationId xmlns:a16="http://schemas.microsoft.com/office/drawing/2014/main" id="{A8B5BB45-639B-5AD1-C4E9-267DA516556E}"/>
              </a:ext>
            </a:extLst>
          </p:cNvPr>
          <p:cNvSpPr txBox="1"/>
          <p:nvPr/>
        </p:nvSpPr>
        <p:spPr>
          <a:xfrm>
            <a:off x="93391" y="958803"/>
            <a:ext cx="888270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M</a:t>
            </a:r>
            <a:r>
              <a:rPr kumimoji="0" lang="zh-CN" altLang="zh-CN" sz="1000" b="0" i="0" u="none" strike="noStrike" kern="1200" cap="none" spc="0" normalizeH="0" baseline="0" noProof="0">
                <a:ln>
                  <a:noFill/>
                </a:ln>
                <a:solidFill>
                  <a:srgbClr val="000000"/>
                </a:solidFill>
                <a:effectLst/>
                <a:uLnTx/>
                <a:uFillTx/>
                <a:latin typeface="Aptos"/>
                <a:ea typeface="黑体"/>
                <a:cs typeface="+mn-cs"/>
              </a:rPr>
              <a:t>onitoring the processing performance of invoices for different service models to identify bottlenecks and areas for improvement, ensuring efficiency and accuracy in billing</a:t>
            </a:r>
            <a:r>
              <a:rPr kumimoji="0" lang="en-US" altLang="zh-CN" sz="1000" b="0" i="0" u="none" strike="noStrike" kern="1200" cap="none" spc="0" normalizeH="0" baseline="0" noProof="0">
                <a:ln>
                  <a:noFill/>
                </a:ln>
                <a:solidFill>
                  <a:srgbClr val="000000"/>
                </a:solidFill>
                <a:effectLst/>
                <a:uLnTx/>
                <a:uFillTx/>
                <a:latin typeface="Aptos"/>
                <a:ea typeface="黑体"/>
                <a:cs typeface="+mn-cs"/>
              </a:rPr>
              <a:t>.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Only recurring invoices are calculated</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Tree>
    <p:extLst>
      <p:ext uri="{BB962C8B-B14F-4D97-AF65-F5344CB8AC3E}">
        <p14:creationId xmlns:p14="http://schemas.microsoft.com/office/powerpoint/2010/main" val="82910948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04EFF-B4F4-91E1-ABA3-D5764166800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0860700-4C4C-EE7F-A807-5AF7928E515E}"/>
              </a:ext>
            </a:extLst>
          </p:cNvPr>
          <p:cNvSpPr>
            <a:spLocks noGrp="1"/>
          </p:cNvSpPr>
          <p:nvPr>
            <p:ph type="title"/>
          </p:nvPr>
        </p:nvSpPr>
        <p:spPr/>
        <p:txBody>
          <a:bodyPr/>
          <a:lstStyle/>
          <a:p>
            <a:r>
              <a:rPr lang="en-US" altLang="zh-CN"/>
              <a:t>Delayed Invoice Aging</a:t>
            </a:r>
            <a:endParaRPr lang="zh-CN" altLang="en-US"/>
          </a:p>
        </p:txBody>
      </p:sp>
      <p:pic>
        <p:nvPicPr>
          <p:cNvPr id="2" name="图片 1">
            <a:extLst>
              <a:ext uri="{FF2B5EF4-FFF2-40B4-BE49-F238E27FC236}">
                <a16:creationId xmlns:a16="http://schemas.microsoft.com/office/drawing/2014/main" id="{F42F593D-5369-EAC9-4B1B-583382C24D03}"/>
              </a:ext>
            </a:extLst>
          </p:cNvPr>
          <p:cNvPicPr>
            <a:picLocks noChangeAspect="1"/>
          </p:cNvPicPr>
          <p:nvPr/>
        </p:nvPicPr>
        <p:blipFill>
          <a:blip r:embed="rId2"/>
          <a:stretch>
            <a:fillRect/>
          </a:stretch>
        </p:blipFill>
        <p:spPr>
          <a:xfrm>
            <a:off x="187134" y="1689400"/>
            <a:ext cx="8813586" cy="2774040"/>
          </a:xfrm>
          <a:prstGeom prst="rect">
            <a:avLst/>
          </a:prstGeom>
        </p:spPr>
      </p:pic>
      <p:sp>
        <p:nvSpPr>
          <p:cNvPr id="4" name="TextBox 72">
            <a:extLst>
              <a:ext uri="{FF2B5EF4-FFF2-40B4-BE49-F238E27FC236}">
                <a16:creationId xmlns:a16="http://schemas.microsoft.com/office/drawing/2014/main" id="{46E2C402-C89D-8838-AE71-9456BF78A7FE}"/>
              </a:ext>
            </a:extLst>
          </p:cNvPr>
          <p:cNvSpPr txBox="1"/>
          <p:nvPr/>
        </p:nvSpPr>
        <p:spPr>
          <a:xfrm>
            <a:off x="9233042" y="1584830"/>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1. Quantity Aging</a:t>
            </a: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5" name="TextBox 73">
            <a:extLst>
              <a:ext uri="{FF2B5EF4-FFF2-40B4-BE49-F238E27FC236}">
                <a16:creationId xmlns:a16="http://schemas.microsoft.com/office/drawing/2014/main" id="{043E4DE2-3892-DC1B-65BF-22F5121B3F2C}"/>
              </a:ext>
            </a:extLst>
          </p:cNvPr>
          <p:cNvSpPr txBox="1"/>
          <p:nvPr/>
        </p:nvSpPr>
        <p:spPr>
          <a:xfrm>
            <a:off x="9230973" y="1845231"/>
            <a:ext cx="2570080"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Count of delayed final statements - 1-5 days, 6-15 days, 16-30 days, 31-60 days, 61-90 days, 90 days plus</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7" name="TextBox 72">
            <a:extLst>
              <a:ext uri="{FF2B5EF4-FFF2-40B4-BE49-F238E27FC236}">
                <a16:creationId xmlns:a16="http://schemas.microsoft.com/office/drawing/2014/main" id="{43E6F9F4-FD60-DB47-ACCB-1657A945C2E2}"/>
              </a:ext>
            </a:extLst>
          </p:cNvPr>
          <p:cNvSpPr txBox="1"/>
          <p:nvPr/>
        </p:nvSpPr>
        <p:spPr>
          <a:xfrm>
            <a:off x="9233042" y="2690425"/>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2. Amount Aging</a:t>
            </a: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8" name="TextBox 73">
            <a:extLst>
              <a:ext uri="{FF2B5EF4-FFF2-40B4-BE49-F238E27FC236}">
                <a16:creationId xmlns:a16="http://schemas.microsoft.com/office/drawing/2014/main" id="{84802FF1-EF0C-37A0-2470-31DD1953D410}"/>
              </a:ext>
            </a:extLst>
          </p:cNvPr>
          <p:cNvSpPr txBox="1"/>
          <p:nvPr/>
        </p:nvSpPr>
        <p:spPr>
          <a:xfrm>
            <a:off x="9230973" y="2950826"/>
            <a:ext cx="2570080"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Amount of delayed final invoices – 1-5 days, 6-15 days, 16-30 days, 31-60 days, 61-90 days, 90 days plus</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10" name="TextBox 73">
            <a:extLst>
              <a:ext uri="{FF2B5EF4-FFF2-40B4-BE49-F238E27FC236}">
                <a16:creationId xmlns:a16="http://schemas.microsoft.com/office/drawing/2014/main" id="{96726E34-4E3F-0B73-49A1-76685D985199}"/>
              </a:ext>
            </a:extLst>
          </p:cNvPr>
          <p:cNvSpPr txBox="1"/>
          <p:nvPr/>
        </p:nvSpPr>
        <p:spPr>
          <a:xfrm>
            <a:off x="187134" y="1024463"/>
            <a:ext cx="1022624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The aging table is grouped by service model and shows delayed statement count and delayed invoice amount for each bucket. For each service model, columns show delayed statement count and delayed invoice amount (USD with thousand separators) across six buckets: 1-5, 6-15, 16-30, 31-60, 61-90, 90+ days. Each delayed invoice falls into exactly one bucket by its overdue days.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Tree>
    <p:extLst>
      <p:ext uri="{BB962C8B-B14F-4D97-AF65-F5344CB8AC3E}">
        <p14:creationId xmlns:p14="http://schemas.microsoft.com/office/powerpoint/2010/main" val="396020151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80DE-248C-F744-02FF-7023C2F3CF5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AD8D700-2C11-EFF4-506E-26D86651393C}"/>
              </a:ext>
            </a:extLst>
          </p:cNvPr>
          <p:cNvSpPr>
            <a:spLocks noGrp="1"/>
          </p:cNvSpPr>
          <p:nvPr>
            <p:ph type="title"/>
          </p:nvPr>
        </p:nvSpPr>
        <p:spPr/>
        <p:txBody>
          <a:bodyPr/>
          <a:lstStyle/>
          <a:p>
            <a:r>
              <a:rPr lang="en-US" altLang="zh-CN"/>
              <a:t>Delayed Invoice Aging</a:t>
            </a:r>
            <a:endParaRPr lang="zh-CN" altLang="en-US"/>
          </a:p>
        </p:txBody>
      </p:sp>
      <p:pic>
        <p:nvPicPr>
          <p:cNvPr id="2" name="图片 1">
            <a:extLst>
              <a:ext uri="{FF2B5EF4-FFF2-40B4-BE49-F238E27FC236}">
                <a16:creationId xmlns:a16="http://schemas.microsoft.com/office/drawing/2014/main" id="{FAA48DB8-7A14-7069-CD68-55F56F148402}"/>
              </a:ext>
            </a:extLst>
          </p:cNvPr>
          <p:cNvPicPr>
            <a:picLocks noChangeAspect="1"/>
          </p:cNvPicPr>
          <p:nvPr/>
        </p:nvPicPr>
        <p:blipFill>
          <a:blip r:embed="rId2"/>
          <a:stretch>
            <a:fillRect/>
          </a:stretch>
        </p:blipFill>
        <p:spPr>
          <a:xfrm>
            <a:off x="187134" y="1554732"/>
            <a:ext cx="8813586" cy="2774040"/>
          </a:xfrm>
          <a:prstGeom prst="rect">
            <a:avLst/>
          </a:prstGeom>
        </p:spPr>
      </p:pic>
      <p:pic>
        <p:nvPicPr>
          <p:cNvPr id="16" name="图片 15">
            <a:extLst>
              <a:ext uri="{FF2B5EF4-FFF2-40B4-BE49-F238E27FC236}">
                <a16:creationId xmlns:a16="http://schemas.microsoft.com/office/drawing/2014/main" id="{B7D6F069-A0BE-C429-A033-58D8E0005CF2}"/>
              </a:ext>
            </a:extLst>
          </p:cNvPr>
          <p:cNvPicPr>
            <a:picLocks noChangeAspect="1"/>
          </p:cNvPicPr>
          <p:nvPr/>
        </p:nvPicPr>
        <p:blipFill>
          <a:blip r:embed="rId3"/>
          <a:stretch>
            <a:fillRect/>
          </a:stretch>
        </p:blipFill>
        <p:spPr>
          <a:xfrm>
            <a:off x="785205" y="2859581"/>
            <a:ext cx="7772400" cy="2440283"/>
          </a:xfrm>
          <a:prstGeom prst="rect">
            <a:avLst/>
          </a:prstGeom>
        </p:spPr>
      </p:pic>
      <p:pic>
        <p:nvPicPr>
          <p:cNvPr id="17" name="图片 16">
            <a:extLst>
              <a:ext uri="{FF2B5EF4-FFF2-40B4-BE49-F238E27FC236}">
                <a16:creationId xmlns:a16="http://schemas.microsoft.com/office/drawing/2014/main" id="{6138B4D2-24CB-68E6-766E-2D581558F95C}"/>
              </a:ext>
            </a:extLst>
          </p:cNvPr>
          <p:cNvPicPr>
            <a:picLocks noChangeAspect="1"/>
          </p:cNvPicPr>
          <p:nvPr/>
        </p:nvPicPr>
        <p:blipFill>
          <a:blip r:embed="rId4"/>
          <a:stretch>
            <a:fillRect/>
          </a:stretch>
        </p:blipFill>
        <p:spPr>
          <a:xfrm>
            <a:off x="1511568" y="4024121"/>
            <a:ext cx="7772400" cy="2458517"/>
          </a:xfrm>
          <a:prstGeom prst="rect">
            <a:avLst/>
          </a:prstGeom>
        </p:spPr>
      </p:pic>
      <p:sp>
        <p:nvSpPr>
          <p:cNvPr id="4" name="TextBox 72">
            <a:extLst>
              <a:ext uri="{FF2B5EF4-FFF2-40B4-BE49-F238E27FC236}">
                <a16:creationId xmlns:a16="http://schemas.microsoft.com/office/drawing/2014/main" id="{11A860ED-827B-9ABF-53AA-71B632F815E4}"/>
              </a:ext>
            </a:extLst>
          </p:cNvPr>
          <p:cNvSpPr txBox="1"/>
          <p:nvPr/>
        </p:nvSpPr>
        <p:spPr>
          <a:xfrm>
            <a:off x="9176924" y="1331074"/>
            <a:ext cx="2612978"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1. </a:t>
            </a:r>
            <a:r>
              <a:rPr kumimoji="0" lang="en-US" altLang="zh-CN" sz="1300" b="1" i="0" u="none" strike="noStrike" kern="1200" cap="none" spc="0" normalizeH="0" baseline="0" noProof="0">
                <a:ln>
                  <a:noFill/>
                </a:ln>
                <a:solidFill>
                  <a:srgbClr val="126C36"/>
                </a:solidFill>
                <a:effectLst/>
                <a:uLnTx/>
                <a:uFillTx/>
                <a:latin typeface="Aptos"/>
                <a:ea typeface="黑体"/>
                <a:cs typeface="Lato Regular"/>
              </a:rPr>
              <a:t>Select Month &amp; Service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5" name="TextBox 73">
            <a:extLst>
              <a:ext uri="{FF2B5EF4-FFF2-40B4-BE49-F238E27FC236}">
                <a16:creationId xmlns:a16="http://schemas.microsoft.com/office/drawing/2014/main" id="{50DB54B9-438A-6967-81A3-C5D6BC8187A9}"/>
              </a:ext>
            </a:extLst>
          </p:cNvPr>
          <p:cNvSpPr txBox="1"/>
          <p:nvPr/>
        </p:nvSpPr>
        <p:spPr>
          <a:xfrm>
            <a:off x="9176924" y="1604620"/>
            <a:ext cx="257008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 the Month filter (e.g. 2027.01) and the Service Model filter (Total, DaaS-MLA, DaaS-MSA, IaaS, ISGLEASE, MSAAS). All gauges, tables and the timeline refresh with the selection.</a:t>
            </a:r>
          </a:p>
        </p:txBody>
      </p:sp>
      <p:sp>
        <p:nvSpPr>
          <p:cNvPr id="7" name="TextBox 72">
            <a:extLst>
              <a:ext uri="{FF2B5EF4-FFF2-40B4-BE49-F238E27FC236}">
                <a16:creationId xmlns:a16="http://schemas.microsoft.com/office/drawing/2014/main" id="{D04A47D0-7394-6BEE-955F-B91ED152EFFB}"/>
              </a:ext>
            </a:extLst>
          </p:cNvPr>
          <p:cNvSpPr txBox="1"/>
          <p:nvPr/>
        </p:nvSpPr>
        <p:spPr>
          <a:xfrm>
            <a:off x="9221891" y="2598925"/>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ptos"/>
                <a:ea typeface="黑体"/>
                <a:cs typeface="Lato Regular"/>
              </a:rPr>
              <a:t>2.</a:t>
            </a:r>
            <a:r>
              <a:rPr kumimoji="0" lang="en-US" altLang="zh-CN" sz="1300" b="1" i="0" u="none" strike="noStrike" kern="1200" cap="none" spc="0" normalizeH="0" baseline="0" noProof="0">
                <a:ln>
                  <a:noFill/>
                </a:ln>
                <a:solidFill>
                  <a:srgbClr val="F26A52"/>
                </a:solidFill>
                <a:effectLst/>
                <a:uLnTx/>
                <a:uFillTx/>
                <a:latin typeface="Aptos"/>
                <a:ea typeface="黑体"/>
                <a:cs typeface="Lato Regular"/>
              </a:rPr>
              <a:t> Switch Biz View / System View</a:t>
            </a:r>
          </a:p>
        </p:txBody>
      </p:sp>
      <p:sp>
        <p:nvSpPr>
          <p:cNvPr id="8" name="TextBox 73">
            <a:extLst>
              <a:ext uri="{FF2B5EF4-FFF2-40B4-BE49-F238E27FC236}">
                <a16:creationId xmlns:a16="http://schemas.microsoft.com/office/drawing/2014/main" id="{1116DF2F-24B4-FC99-5E22-07AABB621F9B}"/>
              </a:ext>
            </a:extLst>
          </p:cNvPr>
          <p:cNvSpPr txBox="1"/>
          <p:nvPr/>
        </p:nvSpPr>
        <p:spPr>
          <a:xfrm>
            <a:off x="9221891" y="2831729"/>
            <a:ext cx="2570080"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Biz View reads final-invoice timeliness (only net amount considered); System View reads preview-invoice timeliness. </a:t>
            </a:r>
          </a:p>
        </p:txBody>
      </p:sp>
      <p:sp>
        <p:nvSpPr>
          <p:cNvPr id="12" name="TextBox 72">
            <a:extLst>
              <a:ext uri="{FF2B5EF4-FFF2-40B4-BE49-F238E27FC236}">
                <a16:creationId xmlns:a16="http://schemas.microsoft.com/office/drawing/2014/main" id="{D809B764-6CC7-45AC-7416-23B34C8E62EB}"/>
              </a:ext>
            </a:extLst>
          </p:cNvPr>
          <p:cNvSpPr txBox="1"/>
          <p:nvPr/>
        </p:nvSpPr>
        <p:spPr>
          <a:xfrm>
            <a:off x="9221891" y="3688570"/>
            <a:ext cx="2612978"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0000"/>
                </a:solidFill>
                <a:effectLst/>
                <a:uLnTx/>
                <a:uFillTx/>
                <a:latin typeface="Aptos"/>
                <a:ea typeface="黑体"/>
                <a:cs typeface="Lato Regular"/>
              </a:rPr>
              <a:t>3. Show Table/Hide Table</a:t>
            </a:r>
            <a:endParaRPr kumimoji="0" lang="id-ID" altLang="zh-CN" sz="1300" b="1" i="0" u="none" strike="noStrike" kern="1200" cap="none" spc="0" normalizeH="0" baseline="0" noProof="0">
              <a:ln>
                <a:noFill/>
              </a:ln>
              <a:solidFill>
                <a:srgbClr val="000000"/>
              </a:solidFill>
              <a:effectLst/>
              <a:uLnTx/>
              <a:uFillTx/>
              <a:latin typeface="Aptos"/>
              <a:ea typeface="黑体"/>
              <a:cs typeface="Lato Regular"/>
            </a:endParaRPr>
          </a:p>
        </p:txBody>
      </p:sp>
      <p:sp>
        <p:nvSpPr>
          <p:cNvPr id="13" name="TextBox 73">
            <a:extLst>
              <a:ext uri="{FF2B5EF4-FFF2-40B4-BE49-F238E27FC236}">
                <a16:creationId xmlns:a16="http://schemas.microsoft.com/office/drawing/2014/main" id="{3C4ED6AF-382D-C4A3-EAE4-8320849CAF34}"/>
              </a:ext>
            </a:extLst>
          </p:cNvPr>
          <p:cNvSpPr txBox="1"/>
          <p:nvPr/>
        </p:nvSpPr>
        <p:spPr>
          <a:xfrm>
            <a:off x="9219822" y="3948971"/>
            <a:ext cx="25700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 Show Table / Hide Table to toggle the detail table.</a:t>
            </a: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6" name="TextBox 73">
            <a:extLst>
              <a:ext uri="{FF2B5EF4-FFF2-40B4-BE49-F238E27FC236}">
                <a16:creationId xmlns:a16="http://schemas.microsoft.com/office/drawing/2014/main" id="{AA90D380-5897-50C7-710C-3417D87FA517}"/>
              </a:ext>
            </a:extLst>
          </p:cNvPr>
          <p:cNvSpPr txBox="1"/>
          <p:nvPr/>
        </p:nvSpPr>
        <p:spPr>
          <a:xfrm>
            <a:off x="187134" y="1024463"/>
            <a:ext cx="10226244"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The aging table is grouped by service model and shows delayed statement count and delayed invoice amount for each bucket. For each service model, columns show delayed statement count and delayed invoice amount (USD with thousand separators) across six buckets: 1-5, 6-15, 16-30, 31-60, 61-90, 90+ days. Each delayed invoice falls into exactly one bucket by its overdue days.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ptos"/>
              <a:ea typeface="黑体"/>
              <a:cs typeface="Lato Light"/>
            </a:endParaRPr>
          </a:p>
        </p:txBody>
      </p:sp>
    </p:spTree>
    <p:extLst>
      <p:ext uri="{BB962C8B-B14F-4D97-AF65-F5344CB8AC3E}">
        <p14:creationId xmlns:p14="http://schemas.microsoft.com/office/powerpoint/2010/main" val="192056489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0DE9E-FBBD-B93B-2AF0-2B9DE7F90F5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A9E8F3E-4AEE-BFCD-0DE7-4DFDB16D4F16}"/>
              </a:ext>
            </a:extLst>
          </p:cNvPr>
          <p:cNvSpPr>
            <a:spLocks noGrp="1"/>
          </p:cNvSpPr>
          <p:nvPr>
            <p:ph type="title"/>
          </p:nvPr>
        </p:nvSpPr>
        <p:spPr/>
        <p:txBody>
          <a:bodyPr/>
          <a:lstStyle/>
          <a:p>
            <a:r>
              <a:rPr lang="en-US" altLang="zh-CN"/>
              <a:t>Invoice Volume Trend	</a:t>
            </a:r>
            <a:endParaRPr lang="zh-CN" altLang="en-US"/>
          </a:p>
        </p:txBody>
      </p:sp>
      <p:sp>
        <p:nvSpPr>
          <p:cNvPr id="7" name="Text 2">
            <a:extLst>
              <a:ext uri="{FF2B5EF4-FFF2-40B4-BE49-F238E27FC236}">
                <a16:creationId xmlns:a16="http://schemas.microsoft.com/office/drawing/2014/main" id="{F0308080-1588-AAE5-DD75-736C235ACBB2}"/>
              </a:ext>
            </a:extLst>
          </p:cNvPr>
          <p:cNvSpPr/>
          <p:nvPr/>
        </p:nvSpPr>
        <p:spPr>
          <a:xfrm>
            <a:off x="320181" y="794445"/>
            <a:ext cx="11639523" cy="440611"/>
          </a:xfrm>
          <a:prstGeom prst="rect">
            <a:avLst/>
          </a:prstGeom>
          <a:noFill/>
          <a:ln/>
        </p:spPr>
        <p:txBody>
          <a:bodyPr wrap="square" lIns="0" tIns="0" rIns="0" bIns="0" rtlCol="0" anchor="ctr">
            <a:normAutofit/>
          </a:bodyPr>
          <a:lstStyle/>
          <a:p>
            <a:r>
              <a:rPr lang="en-US" altLang="zh-CN" sz="1200"/>
              <a:t>The dashboard enables users to monitor planned invoices, actual billed invoices, and delayed invoices. It helps users quickly identify billing trends, monitor billing timeliness, and assess billing performance across the selected fiscal year. Users can analyze data by </a:t>
            </a:r>
            <a:r>
              <a:rPr lang="en-US" altLang="zh-CN" sz="1200" b="1"/>
              <a:t>Count</a:t>
            </a:r>
            <a:r>
              <a:rPr lang="en-US" altLang="zh-CN" sz="1200"/>
              <a:t> or </a:t>
            </a:r>
            <a:r>
              <a:rPr lang="en-US" altLang="zh-CN" sz="1200" b="1"/>
              <a:t>Amount</a:t>
            </a:r>
            <a:r>
              <a:rPr lang="en-US" altLang="zh-CN" sz="1200"/>
              <a:t> and switch between </a:t>
            </a:r>
            <a:r>
              <a:rPr lang="en-US" altLang="zh-CN" sz="1200" b="1"/>
              <a:t>Chart</a:t>
            </a:r>
            <a:r>
              <a:rPr lang="en-US" altLang="zh-CN" sz="1200"/>
              <a:t> and </a:t>
            </a:r>
            <a:r>
              <a:rPr lang="en-US" altLang="zh-CN" sz="1200" b="1"/>
              <a:t>Table </a:t>
            </a:r>
            <a:r>
              <a:rPr lang="en-US" altLang="zh-CN" sz="1200"/>
              <a:t>views for detailed review.</a:t>
            </a:r>
            <a:endParaRPr lang="en-US" sz="1200">
              <a:cs typeface="Lato Light"/>
            </a:endParaRPr>
          </a:p>
        </p:txBody>
      </p:sp>
      <p:pic>
        <p:nvPicPr>
          <p:cNvPr id="9" name="图片 8">
            <a:extLst>
              <a:ext uri="{FF2B5EF4-FFF2-40B4-BE49-F238E27FC236}">
                <a16:creationId xmlns:a16="http://schemas.microsoft.com/office/drawing/2014/main" id="{209E940F-E99E-F81D-F855-16AEFB39D53E}"/>
              </a:ext>
            </a:extLst>
          </p:cNvPr>
          <p:cNvPicPr>
            <a:picLocks noChangeAspect="1"/>
          </p:cNvPicPr>
          <p:nvPr/>
        </p:nvPicPr>
        <p:blipFill>
          <a:blip r:embed="rId2"/>
          <a:stretch>
            <a:fillRect/>
          </a:stretch>
        </p:blipFill>
        <p:spPr>
          <a:xfrm>
            <a:off x="232296" y="1434662"/>
            <a:ext cx="8431274" cy="2375834"/>
          </a:xfrm>
          <a:prstGeom prst="rect">
            <a:avLst/>
          </a:prstGeom>
        </p:spPr>
      </p:pic>
      <p:sp>
        <p:nvSpPr>
          <p:cNvPr id="12" name="TextBox 72">
            <a:extLst>
              <a:ext uri="{FF2B5EF4-FFF2-40B4-BE49-F238E27FC236}">
                <a16:creationId xmlns:a16="http://schemas.microsoft.com/office/drawing/2014/main" id="{A1BFB829-68AD-5771-9DCC-9ACDE6811212}"/>
              </a:ext>
            </a:extLst>
          </p:cNvPr>
          <p:cNvSpPr txBox="1"/>
          <p:nvPr/>
        </p:nvSpPr>
        <p:spPr>
          <a:xfrm>
            <a:off x="9091435" y="1385329"/>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Invoice Volume Trend</a:t>
            </a:r>
            <a:endParaRPr lang="id-ID" sz="1300" b="1">
              <a:solidFill>
                <a:schemeClr val="accent6">
                  <a:lumMod val="75000"/>
                  <a:lumOff val="25000"/>
                </a:schemeClr>
              </a:solidFill>
              <a:latin typeface="+mj-lt"/>
              <a:cs typeface="Lato Regular"/>
            </a:endParaRPr>
          </a:p>
        </p:txBody>
      </p:sp>
      <p:sp>
        <p:nvSpPr>
          <p:cNvPr id="13" name="TextBox 73">
            <a:extLst>
              <a:ext uri="{FF2B5EF4-FFF2-40B4-BE49-F238E27FC236}">
                <a16:creationId xmlns:a16="http://schemas.microsoft.com/office/drawing/2014/main" id="{8A602C29-4E22-7D29-2D07-89C2550B126D}"/>
              </a:ext>
            </a:extLst>
          </p:cNvPr>
          <p:cNvSpPr txBox="1"/>
          <p:nvPr/>
        </p:nvSpPr>
        <p:spPr>
          <a:xfrm>
            <a:off x="9089366" y="1645730"/>
            <a:ext cx="2854132" cy="1015663"/>
          </a:xfrm>
          <a:prstGeom prst="rect">
            <a:avLst/>
          </a:prstGeom>
          <a:noFill/>
        </p:spPr>
        <p:txBody>
          <a:bodyPr wrap="square" rtlCol="0">
            <a:spAutoFit/>
          </a:bodyPr>
          <a:lstStyle/>
          <a:p>
            <a:r>
              <a:rPr lang="en-US" sz="1000" b="1">
                <a:latin typeface="+mj-lt"/>
                <a:cs typeface="Lato Light"/>
              </a:rPr>
              <a:t>Metrics </a:t>
            </a:r>
          </a:p>
          <a:p>
            <a:r>
              <a:rPr lang="en-US" sz="1000" b="1">
                <a:latin typeface="+mj-lt"/>
                <a:cs typeface="Lato Light"/>
              </a:rPr>
              <a:t>Plan</a:t>
            </a:r>
            <a:r>
              <a:rPr lang="en-US" sz="1000">
                <a:latin typeface="+mj-lt"/>
                <a:cs typeface="Lato Light"/>
              </a:rPr>
              <a:t>: Invoices scheduled to be billed during the selected month.</a:t>
            </a:r>
          </a:p>
          <a:p>
            <a:r>
              <a:rPr lang="en-US" sz="1000" b="1">
                <a:latin typeface="+mj-lt"/>
                <a:cs typeface="Lato Light"/>
              </a:rPr>
              <a:t>Actual</a:t>
            </a:r>
            <a:r>
              <a:rPr lang="en-US" sz="1000">
                <a:latin typeface="+mj-lt"/>
                <a:cs typeface="Lato Light"/>
              </a:rPr>
              <a:t>: Invoices billed on time.</a:t>
            </a:r>
          </a:p>
          <a:p>
            <a:r>
              <a:rPr lang="en-US" sz="1000" b="1">
                <a:latin typeface="+mj-lt"/>
                <a:cs typeface="Lato Light"/>
              </a:rPr>
              <a:t>Delay</a:t>
            </a:r>
            <a:r>
              <a:rPr lang="en-US" sz="1000">
                <a:latin typeface="+mj-lt"/>
                <a:cs typeface="Lato Light"/>
              </a:rPr>
              <a:t>: Invoices billed late or not yet billed.</a:t>
            </a:r>
          </a:p>
          <a:p>
            <a:r>
              <a:rPr lang="en-US" sz="1000">
                <a:latin typeface="+mj-lt"/>
                <a:cs typeface="Lato Light"/>
              </a:rPr>
              <a:t>Actual + Delay = Plan</a:t>
            </a:r>
          </a:p>
        </p:txBody>
      </p:sp>
      <p:sp>
        <p:nvSpPr>
          <p:cNvPr id="14" name="Oval 111">
            <a:extLst>
              <a:ext uri="{FF2B5EF4-FFF2-40B4-BE49-F238E27FC236}">
                <a16:creationId xmlns:a16="http://schemas.microsoft.com/office/drawing/2014/main" id="{AD701E0A-60EB-1E8F-5A2E-703E6B3DA935}"/>
              </a:ext>
            </a:extLst>
          </p:cNvPr>
          <p:cNvSpPr/>
          <p:nvPr/>
        </p:nvSpPr>
        <p:spPr>
          <a:xfrm>
            <a:off x="8845643" y="1453617"/>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15" name="TextBox 82">
            <a:extLst>
              <a:ext uri="{FF2B5EF4-FFF2-40B4-BE49-F238E27FC236}">
                <a16:creationId xmlns:a16="http://schemas.microsoft.com/office/drawing/2014/main" id="{27DE94E3-8ACB-B5AB-E3EE-0622DC9D4625}"/>
              </a:ext>
            </a:extLst>
          </p:cNvPr>
          <p:cNvSpPr txBox="1"/>
          <p:nvPr/>
        </p:nvSpPr>
        <p:spPr>
          <a:xfrm>
            <a:off x="9089366" y="2644923"/>
            <a:ext cx="1890516" cy="292388"/>
          </a:xfrm>
          <a:prstGeom prst="rect">
            <a:avLst/>
          </a:prstGeom>
          <a:noFill/>
        </p:spPr>
        <p:txBody>
          <a:bodyPr wrap="square" rtlCol="0">
            <a:spAutoFit/>
          </a:bodyPr>
          <a:lstStyle/>
          <a:p>
            <a:r>
              <a:rPr lang="en-US" altLang="zh-CN" sz="1300" b="1">
                <a:solidFill>
                  <a:srgbClr val="126C36"/>
                </a:solidFill>
                <a:latin typeface="+mj-lt"/>
                <a:cs typeface="Lato Regular"/>
              </a:rPr>
              <a:t>Count / Amount View</a:t>
            </a:r>
          </a:p>
        </p:txBody>
      </p:sp>
      <p:sp>
        <p:nvSpPr>
          <p:cNvPr id="17" name="TextBox 93">
            <a:extLst>
              <a:ext uri="{FF2B5EF4-FFF2-40B4-BE49-F238E27FC236}">
                <a16:creationId xmlns:a16="http://schemas.microsoft.com/office/drawing/2014/main" id="{526B3B3D-57CE-3DBA-B21B-516DFA04BB5D}"/>
              </a:ext>
            </a:extLst>
          </p:cNvPr>
          <p:cNvSpPr txBox="1"/>
          <p:nvPr/>
        </p:nvSpPr>
        <p:spPr>
          <a:xfrm>
            <a:off x="9089364" y="2891518"/>
            <a:ext cx="2661309" cy="861774"/>
          </a:xfrm>
          <a:prstGeom prst="rect">
            <a:avLst/>
          </a:prstGeom>
          <a:noFill/>
        </p:spPr>
        <p:txBody>
          <a:bodyPr wrap="square" rtlCol="0">
            <a:spAutoFit/>
          </a:bodyPr>
          <a:lstStyle/>
          <a:p>
            <a:r>
              <a:rPr lang="en-US" altLang="zh-CN" sz="1000">
                <a:cs typeface="Lato Light"/>
              </a:rPr>
              <a:t>Users can switch between two measurement:</a:t>
            </a:r>
          </a:p>
          <a:p>
            <a:r>
              <a:rPr lang="en-US" altLang="zh-CN" sz="1000" b="1">
                <a:cs typeface="Lato Light"/>
              </a:rPr>
              <a:t>Count</a:t>
            </a:r>
            <a:r>
              <a:rPr lang="en-US" altLang="zh-CN" sz="1000">
                <a:cs typeface="Lato Light"/>
              </a:rPr>
              <a:t>: Displays invoice volume based on the number of invoices.</a:t>
            </a:r>
          </a:p>
          <a:p>
            <a:r>
              <a:rPr lang="en-US" altLang="zh-CN" sz="1000" b="1">
                <a:cs typeface="Lato Light"/>
              </a:rPr>
              <a:t>Amount</a:t>
            </a:r>
            <a:r>
              <a:rPr lang="en-US" altLang="zh-CN" sz="1000">
                <a:cs typeface="Lato Light"/>
              </a:rPr>
              <a:t>: Displays invoice volume based on invoice monetary values (USD).</a:t>
            </a:r>
          </a:p>
        </p:txBody>
      </p:sp>
      <p:sp>
        <p:nvSpPr>
          <p:cNvPr id="19" name="Oval 112">
            <a:extLst>
              <a:ext uri="{FF2B5EF4-FFF2-40B4-BE49-F238E27FC236}">
                <a16:creationId xmlns:a16="http://schemas.microsoft.com/office/drawing/2014/main" id="{1FF7C98C-690D-9F56-BD2A-64035181970E}"/>
              </a:ext>
            </a:extLst>
          </p:cNvPr>
          <p:cNvSpPr/>
          <p:nvPr/>
        </p:nvSpPr>
        <p:spPr>
          <a:xfrm>
            <a:off x="8860765" y="2677180"/>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20" name="TextBox 83">
            <a:extLst>
              <a:ext uri="{FF2B5EF4-FFF2-40B4-BE49-F238E27FC236}">
                <a16:creationId xmlns:a16="http://schemas.microsoft.com/office/drawing/2014/main" id="{21DC1F00-21A0-9B92-23C7-CA1A7F8AF81F}"/>
              </a:ext>
            </a:extLst>
          </p:cNvPr>
          <p:cNvSpPr txBox="1"/>
          <p:nvPr/>
        </p:nvSpPr>
        <p:spPr>
          <a:xfrm>
            <a:off x="9108264" y="4691723"/>
            <a:ext cx="2876207" cy="707886"/>
          </a:xfrm>
          <a:prstGeom prst="rect">
            <a:avLst/>
          </a:prstGeom>
          <a:noFill/>
        </p:spPr>
        <p:txBody>
          <a:bodyPr wrap="square" rtlCol="0">
            <a:spAutoFit/>
          </a:bodyPr>
          <a:lstStyle/>
          <a:p>
            <a:r>
              <a:rPr lang="en-US" sz="1000">
                <a:latin typeface="+mj-lt"/>
                <a:cs typeface="Lato Light"/>
              </a:rPr>
              <a:t>Displays the same data in a tabular format for detailed review and comparison.</a:t>
            </a:r>
          </a:p>
          <a:p>
            <a:r>
              <a:rPr lang="en-US" sz="1000">
                <a:latin typeface="+mj-lt"/>
                <a:cs typeface="Lato Light"/>
              </a:rPr>
              <a:t>Users can switch between the two views at any time.</a:t>
            </a:r>
          </a:p>
        </p:txBody>
      </p:sp>
      <p:sp>
        <p:nvSpPr>
          <p:cNvPr id="21" name="TextBox 97">
            <a:extLst>
              <a:ext uri="{FF2B5EF4-FFF2-40B4-BE49-F238E27FC236}">
                <a16:creationId xmlns:a16="http://schemas.microsoft.com/office/drawing/2014/main" id="{6770D859-0FE4-99C4-9CC2-0E8AA155CCE7}"/>
              </a:ext>
            </a:extLst>
          </p:cNvPr>
          <p:cNvSpPr txBox="1"/>
          <p:nvPr/>
        </p:nvSpPr>
        <p:spPr>
          <a:xfrm>
            <a:off x="9089363" y="3754549"/>
            <a:ext cx="1897289" cy="292388"/>
          </a:xfrm>
          <a:prstGeom prst="rect">
            <a:avLst/>
          </a:prstGeom>
          <a:noFill/>
        </p:spPr>
        <p:txBody>
          <a:bodyPr wrap="square" rtlCol="0">
            <a:spAutoFit/>
          </a:bodyPr>
          <a:lstStyle/>
          <a:p>
            <a:r>
              <a:rPr lang="en-US" sz="1300" b="1">
                <a:solidFill>
                  <a:srgbClr val="F26A52"/>
                </a:solidFill>
                <a:latin typeface="+mj-lt"/>
                <a:cs typeface="Lato Regular"/>
              </a:rPr>
              <a:t>Fiscal Year Selection</a:t>
            </a:r>
          </a:p>
        </p:txBody>
      </p:sp>
      <p:sp>
        <p:nvSpPr>
          <p:cNvPr id="22" name="Oval 114">
            <a:extLst>
              <a:ext uri="{FF2B5EF4-FFF2-40B4-BE49-F238E27FC236}">
                <a16:creationId xmlns:a16="http://schemas.microsoft.com/office/drawing/2014/main" id="{CA25AC6F-24FC-1338-7D51-45A24DDD1765}"/>
              </a:ext>
            </a:extLst>
          </p:cNvPr>
          <p:cNvSpPr/>
          <p:nvPr/>
        </p:nvSpPr>
        <p:spPr>
          <a:xfrm>
            <a:off x="8860763" y="3786443"/>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
        <p:nvSpPr>
          <p:cNvPr id="23" name="TextBox 98">
            <a:extLst>
              <a:ext uri="{FF2B5EF4-FFF2-40B4-BE49-F238E27FC236}">
                <a16:creationId xmlns:a16="http://schemas.microsoft.com/office/drawing/2014/main" id="{63298FB5-86BF-E5BB-586B-D51425AB7E8E}"/>
              </a:ext>
            </a:extLst>
          </p:cNvPr>
          <p:cNvSpPr txBox="1"/>
          <p:nvPr/>
        </p:nvSpPr>
        <p:spPr>
          <a:xfrm>
            <a:off x="9089363" y="4026523"/>
            <a:ext cx="2895108" cy="400110"/>
          </a:xfrm>
          <a:prstGeom prst="rect">
            <a:avLst/>
          </a:prstGeom>
          <a:noFill/>
        </p:spPr>
        <p:txBody>
          <a:bodyPr wrap="square" rtlCol="0">
            <a:spAutoFit/>
          </a:bodyPr>
          <a:lstStyle/>
          <a:p>
            <a:r>
              <a:rPr lang="en-US" altLang="zh-CN" sz="1000">
                <a:cs typeface="Lato Light"/>
              </a:rPr>
              <a:t>The Fiscal Year filter allows users to view dashboard data for a specific fiscal year.</a:t>
            </a:r>
          </a:p>
        </p:txBody>
      </p:sp>
      <p:sp>
        <p:nvSpPr>
          <p:cNvPr id="24" name="TextBox 92">
            <a:extLst>
              <a:ext uri="{FF2B5EF4-FFF2-40B4-BE49-F238E27FC236}">
                <a16:creationId xmlns:a16="http://schemas.microsoft.com/office/drawing/2014/main" id="{143D25D8-22A3-7AD5-C40E-A097CDD28980}"/>
              </a:ext>
            </a:extLst>
          </p:cNvPr>
          <p:cNvSpPr txBox="1"/>
          <p:nvPr/>
        </p:nvSpPr>
        <p:spPr>
          <a:xfrm>
            <a:off x="9104651" y="4426158"/>
            <a:ext cx="1839512" cy="292388"/>
          </a:xfrm>
          <a:prstGeom prst="rect">
            <a:avLst/>
          </a:prstGeom>
          <a:noFill/>
        </p:spPr>
        <p:txBody>
          <a:bodyPr wrap="square" rtlCol="0">
            <a:spAutoFit/>
          </a:bodyPr>
          <a:lstStyle/>
          <a:p>
            <a:r>
              <a:rPr lang="en-US" altLang="zh-CN" sz="1300" b="1">
                <a:cs typeface="Lato Regular"/>
              </a:rPr>
              <a:t>Table View</a:t>
            </a:r>
            <a:endParaRPr lang="en-US" sz="1300" b="1">
              <a:cs typeface="Lato Regular"/>
            </a:endParaRPr>
          </a:p>
        </p:txBody>
      </p:sp>
      <p:sp>
        <p:nvSpPr>
          <p:cNvPr id="25" name="Oval 113">
            <a:extLst>
              <a:ext uri="{FF2B5EF4-FFF2-40B4-BE49-F238E27FC236}">
                <a16:creationId xmlns:a16="http://schemas.microsoft.com/office/drawing/2014/main" id="{E1E4636D-BF71-6A96-0481-2367DE904CE3}"/>
              </a:ext>
            </a:extLst>
          </p:cNvPr>
          <p:cNvSpPr/>
          <p:nvPr/>
        </p:nvSpPr>
        <p:spPr>
          <a:xfrm>
            <a:off x="8863545" y="4457025"/>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27" name="图片 26">
            <a:extLst>
              <a:ext uri="{FF2B5EF4-FFF2-40B4-BE49-F238E27FC236}">
                <a16:creationId xmlns:a16="http://schemas.microsoft.com/office/drawing/2014/main" id="{F59C3A0A-832F-345D-E469-FC2D547C9D21}"/>
              </a:ext>
            </a:extLst>
          </p:cNvPr>
          <p:cNvPicPr>
            <a:picLocks noChangeAspect="1"/>
          </p:cNvPicPr>
          <p:nvPr/>
        </p:nvPicPr>
        <p:blipFill>
          <a:blip r:embed="rId3"/>
          <a:stretch>
            <a:fillRect/>
          </a:stretch>
        </p:blipFill>
        <p:spPr>
          <a:xfrm>
            <a:off x="232295" y="3882518"/>
            <a:ext cx="8410876" cy="2684769"/>
          </a:xfrm>
          <a:prstGeom prst="rect">
            <a:avLst/>
          </a:prstGeom>
        </p:spPr>
      </p:pic>
      <p:sp>
        <p:nvSpPr>
          <p:cNvPr id="28" name="Oval 111">
            <a:extLst>
              <a:ext uri="{FF2B5EF4-FFF2-40B4-BE49-F238E27FC236}">
                <a16:creationId xmlns:a16="http://schemas.microsoft.com/office/drawing/2014/main" id="{724D453E-C535-3127-3278-3682D0C8BE69}"/>
              </a:ext>
            </a:extLst>
          </p:cNvPr>
          <p:cNvSpPr/>
          <p:nvPr/>
        </p:nvSpPr>
        <p:spPr>
          <a:xfrm>
            <a:off x="117995" y="147992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29" name="Oval 112">
            <a:extLst>
              <a:ext uri="{FF2B5EF4-FFF2-40B4-BE49-F238E27FC236}">
                <a16:creationId xmlns:a16="http://schemas.microsoft.com/office/drawing/2014/main" id="{748EBF7F-4A9F-5CC0-CDC4-355B7808CD56}"/>
              </a:ext>
            </a:extLst>
          </p:cNvPr>
          <p:cNvSpPr/>
          <p:nvPr/>
        </p:nvSpPr>
        <p:spPr>
          <a:xfrm>
            <a:off x="6744439" y="167771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31" name="Oval 114">
            <a:extLst>
              <a:ext uri="{FF2B5EF4-FFF2-40B4-BE49-F238E27FC236}">
                <a16:creationId xmlns:a16="http://schemas.microsoft.com/office/drawing/2014/main" id="{2D48173B-8593-3FC3-B88E-C8ACE612741F}"/>
              </a:ext>
            </a:extLst>
          </p:cNvPr>
          <p:cNvSpPr/>
          <p:nvPr/>
        </p:nvSpPr>
        <p:spPr>
          <a:xfrm>
            <a:off x="7516948" y="1717721"/>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
        <p:nvSpPr>
          <p:cNvPr id="32" name="Oval 113">
            <a:extLst>
              <a:ext uri="{FF2B5EF4-FFF2-40B4-BE49-F238E27FC236}">
                <a16:creationId xmlns:a16="http://schemas.microsoft.com/office/drawing/2014/main" id="{DA25BEB9-EE13-90B2-EE00-255D32055FB0}"/>
              </a:ext>
            </a:extLst>
          </p:cNvPr>
          <p:cNvSpPr/>
          <p:nvPr/>
        </p:nvSpPr>
        <p:spPr>
          <a:xfrm>
            <a:off x="8318926" y="1704647"/>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Tree>
    <p:extLst>
      <p:ext uri="{BB962C8B-B14F-4D97-AF65-F5344CB8AC3E}">
        <p14:creationId xmlns:p14="http://schemas.microsoft.com/office/powerpoint/2010/main" val="119057283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par>
                          <p:cTn id="48" fill="hold">
                            <p:stCondLst>
                              <p:cond delay="2500"/>
                            </p:stCondLst>
                            <p:childTnLst>
                              <p:par>
                                <p:cTn id="49" presetID="10" presetClass="entr" presetSubtype="0"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par>
                          <p:cTn id="56" fill="hold">
                            <p:stCondLst>
                              <p:cond delay="3500"/>
                            </p:stCondLst>
                            <p:childTnLst>
                              <p:par>
                                <p:cTn id="57" presetID="10"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5" grpId="0"/>
      <p:bldP spid="17" grpId="0"/>
      <p:bldP spid="19" grpId="0" animBg="1"/>
      <p:bldP spid="20" grpId="0"/>
      <p:bldP spid="21" grpId="0"/>
      <p:bldP spid="22" grpId="0" animBg="1"/>
      <p:bldP spid="23" grpId="0"/>
      <p:bldP spid="24" grpId="0"/>
      <p:bldP spid="25" grpId="0" animBg="1"/>
      <p:bldP spid="28" grpId="0" animBg="1"/>
      <p:bldP spid="29"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F39B2-D7C8-03D9-695B-822A06F9988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6CE6C91-7371-476C-A04E-0ADD19580DB2}"/>
              </a:ext>
            </a:extLst>
          </p:cNvPr>
          <p:cNvSpPr>
            <a:spLocks noGrp="1"/>
          </p:cNvSpPr>
          <p:nvPr>
            <p:ph type="title"/>
          </p:nvPr>
        </p:nvSpPr>
        <p:spPr/>
        <p:txBody>
          <a:bodyPr/>
          <a:lstStyle/>
          <a:p>
            <a:r>
              <a:rPr lang="en-US" altLang="zh-CN"/>
              <a:t>Invoice Rejections</a:t>
            </a:r>
            <a:endParaRPr lang="zh-CN" altLang="en-US"/>
          </a:p>
        </p:txBody>
      </p:sp>
      <p:sp>
        <p:nvSpPr>
          <p:cNvPr id="6" name="Text 2">
            <a:extLst>
              <a:ext uri="{FF2B5EF4-FFF2-40B4-BE49-F238E27FC236}">
                <a16:creationId xmlns:a16="http://schemas.microsoft.com/office/drawing/2014/main" id="{C54C017C-A0F1-F72D-0C06-2C8E6C2D400C}"/>
              </a:ext>
            </a:extLst>
          </p:cNvPr>
          <p:cNvSpPr/>
          <p:nvPr/>
        </p:nvSpPr>
        <p:spPr>
          <a:xfrm>
            <a:off x="320181" y="794445"/>
            <a:ext cx="11639523" cy="440611"/>
          </a:xfrm>
          <a:prstGeom prst="rect">
            <a:avLst/>
          </a:prstGeom>
          <a:noFill/>
          <a:ln/>
        </p:spPr>
        <p:txBody>
          <a:bodyPr wrap="square" lIns="0" tIns="0" rIns="0" bIns="0" rtlCol="0" anchor="ctr">
            <a:normAutofit/>
          </a:bodyPr>
          <a:lstStyle/>
          <a:p>
            <a:r>
              <a:rPr lang="en-US" altLang="zh-CN" sz="1200"/>
              <a:t>The dashboard provides visibility into invoice rejection activities across customers and billing periods. It helps users identify customers with rejected invoices, monitor rejection trends over time, and prioritize follow-up actions to improve billing efficiency and invoice acceptance rates.</a:t>
            </a:r>
          </a:p>
        </p:txBody>
      </p:sp>
      <p:pic>
        <p:nvPicPr>
          <p:cNvPr id="8" name="图片 7">
            <a:extLst>
              <a:ext uri="{FF2B5EF4-FFF2-40B4-BE49-F238E27FC236}">
                <a16:creationId xmlns:a16="http://schemas.microsoft.com/office/drawing/2014/main" id="{827798ED-EFDC-30F9-AD33-09D0BB1FCDEC}"/>
              </a:ext>
            </a:extLst>
          </p:cNvPr>
          <p:cNvPicPr>
            <a:picLocks noChangeAspect="1"/>
          </p:cNvPicPr>
          <p:nvPr/>
        </p:nvPicPr>
        <p:blipFill>
          <a:blip r:embed="rId2"/>
          <a:stretch>
            <a:fillRect/>
          </a:stretch>
        </p:blipFill>
        <p:spPr>
          <a:xfrm>
            <a:off x="320181" y="1554884"/>
            <a:ext cx="8268753" cy="1813682"/>
          </a:xfrm>
          <a:prstGeom prst="rect">
            <a:avLst/>
          </a:prstGeom>
        </p:spPr>
      </p:pic>
      <p:sp>
        <p:nvSpPr>
          <p:cNvPr id="9" name="TextBox 72">
            <a:extLst>
              <a:ext uri="{FF2B5EF4-FFF2-40B4-BE49-F238E27FC236}">
                <a16:creationId xmlns:a16="http://schemas.microsoft.com/office/drawing/2014/main" id="{FC6F909D-F1B2-55C6-2613-E2981936C0C6}"/>
              </a:ext>
            </a:extLst>
          </p:cNvPr>
          <p:cNvSpPr txBox="1"/>
          <p:nvPr/>
        </p:nvSpPr>
        <p:spPr>
          <a:xfrm>
            <a:off x="8984745" y="1408690"/>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Invoice Rejections</a:t>
            </a:r>
          </a:p>
        </p:txBody>
      </p:sp>
      <p:sp>
        <p:nvSpPr>
          <p:cNvPr id="10" name="TextBox 73">
            <a:extLst>
              <a:ext uri="{FF2B5EF4-FFF2-40B4-BE49-F238E27FC236}">
                <a16:creationId xmlns:a16="http://schemas.microsoft.com/office/drawing/2014/main" id="{D3BBB07B-F801-4083-2744-BAC8DC32676C}"/>
              </a:ext>
            </a:extLst>
          </p:cNvPr>
          <p:cNvSpPr txBox="1"/>
          <p:nvPr/>
        </p:nvSpPr>
        <p:spPr>
          <a:xfrm>
            <a:off x="8982676" y="1669091"/>
            <a:ext cx="2854132" cy="2708434"/>
          </a:xfrm>
          <a:prstGeom prst="rect">
            <a:avLst/>
          </a:prstGeom>
          <a:noFill/>
        </p:spPr>
        <p:txBody>
          <a:bodyPr wrap="square" rtlCol="0">
            <a:spAutoFit/>
          </a:bodyPr>
          <a:lstStyle/>
          <a:p>
            <a:r>
              <a:rPr lang="en-US" sz="1000">
                <a:latin typeface="+mj-lt"/>
                <a:cs typeface="Lato Light"/>
              </a:rPr>
              <a:t>The Invoice Rejections widget displays the </a:t>
            </a:r>
            <a:r>
              <a:rPr lang="en-US" sz="1000" b="1">
                <a:latin typeface="+mj-lt"/>
                <a:cs typeface="Lato Light"/>
              </a:rPr>
              <a:t>number</a:t>
            </a:r>
            <a:r>
              <a:rPr lang="en-US" sz="1000">
                <a:latin typeface="+mj-lt"/>
                <a:cs typeface="Lato Light"/>
              </a:rPr>
              <a:t> of rejected invoices by customer and billing month.</a:t>
            </a:r>
          </a:p>
          <a:p>
            <a:endParaRPr lang="en-US" sz="1000">
              <a:latin typeface="+mj-lt"/>
              <a:cs typeface="Lato Light"/>
            </a:endParaRPr>
          </a:p>
          <a:p>
            <a:r>
              <a:rPr lang="en-US" sz="1000" b="1">
                <a:latin typeface="+mj-lt"/>
                <a:cs typeface="Lato Light"/>
              </a:rPr>
              <a:t>Customer Rejection View</a:t>
            </a:r>
            <a:endParaRPr lang="en-US" sz="1000">
              <a:latin typeface="+mj-lt"/>
              <a:cs typeface="Lato Light"/>
            </a:endParaRPr>
          </a:p>
          <a:p>
            <a:r>
              <a:rPr lang="en-US" sz="1000">
                <a:latin typeface="+mj-lt"/>
                <a:cs typeface="Lato Light"/>
              </a:rPr>
              <a:t>Displays customers with invoice rejection counts by month and total rejections.</a:t>
            </a:r>
          </a:p>
          <a:p>
            <a:r>
              <a:rPr lang="en-US" sz="1000">
                <a:latin typeface="+mj-lt"/>
                <a:cs typeface="Lato Light"/>
              </a:rPr>
              <a:t>Highlights customers with the highest number of rejections.</a:t>
            </a:r>
          </a:p>
          <a:p>
            <a:endParaRPr lang="en-US" sz="1000">
              <a:latin typeface="+mj-lt"/>
              <a:cs typeface="Lato Light"/>
            </a:endParaRPr>
          </a:p>
          <a:p>
            <a:r>
              <a:rPr lang="en-US" sz="1000" b="1">
                <a:latin typeface="+mj-lt"/>
                <a:cs typeface="Lato Light"/>
              </a:rPr>
              <a:t>Monthly Rejection Trend</a:t>
            </a:r>
            <a:endParaRPr lang="en-US" sz="1000">
              <a:latin typeface="+mj-lt"/>
              <a:cs typeface="Lato Light"/>
            </a:endParaRPr>
          </a:p>
          <a:p>
            <a:r>
              <a:rPr lang="en-US" sz="1000">
                <a:latin typeface="+mj-lt"/>
                <a:cs typeface="Lato Light"/>
              </a:rPr>
              <a:t>Shows invoice rejection counts across monthly periods.</a:t>
            </a:r>
          </a:p>
          <a:p>
            <a:endParaRPr lang="en-US" sz="1000">
              <a:latin typeface="+mj-lt"/>
              <a:cs typeface="Lato Light"/>
            </a:endParaRPr>
          </a:p>
          <a:p>
            <a:r>
              <a:rPr lang="en-US" sz="1000" b="1">
                <a:latin typeface="+mj-lt"/>
                <a:cs typeface="Lato Light"/>
              </a:rPr>
              <a:t>Total Rejections</a:t>
            </a:r>
            <a:endParaRPr lang="en-US" sz="1000">
              <a:latin typeface="+mj-lt"/>
              <a:cs typeface="Lato Light"/>
            </a:endParaRPr>
          </a:p>
          <a:p>
            <a:r>
              <a:rPr lang="en-US" sz="1000">
                <a:latin typeface="+mj-lt"/>
                <a:cs typeface="Lato Light"/>
              </a:rPr>
              <a:t>Displays the cumulative number of rejected invoices for each customer.</a:t>
            </a:r>
          </a:p>
        </p:txBody>
      </p:sp>
      <p:sp>
        <p:nvSpPr>
          <p:cNvPr id="11" name="Oval 111">
            <a:extLst>
              <a:ext uri="{FF2B5EF4-FFF2-40B4-BE49-F238E27FC236}">
                <a16:creationId xmlns:a16="http://schemas.microsoft.com/office/drawing/2014/main" id="{3F33DD20-14CC-7403-98AC-53435FDFF024}"/>
              </a:ext>
            </a:extLst>
          </p:cNvPr>
          <p:cNvSpPr/>
          <p:nvPr/>
        </p:nvSpPr>
        <p:spPr>
          <a:xfrm>
            <a:off x="8738953" y="147697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15" name="图片 14">
            <a:extLst>
              <a:ext uri="{FF2B5EF4-FFF2-40B4-BE49-F238E27FC236}">
                <a16:creationId xmlns:a16="http://schemas.microsoft.com/office/drawing/2014/main" id="{1220543A-E4D5-F424-92BC-DC6047DA8A98}"/>
              </a:ext>
            </a:extLst>
          </p:cNvPr>
          <p:cNvPicPr>
            <a:picLocks noChangeAspect="1"/>
          </p:cNvPicPr>
          <p:nvPr/>
        </p:nvPicPr>
        <p:blipFill>
          <a:blip r:embed="rId3"/>
          <a:stretch>
            <a:fillRect/>
          </a:stretch>
        </p:blipFill>
        <p:spPr>
          <a:xfrm>
            <a:off x="320181" y="3489435"/>
            <a:ext cx="8268752" cy="1977538"/>
          </a:xfrm>
          <a:prstGeom prst="rect">
            <a:avLst/>
          </a:prstGeom>
        </p:spPr>
      </p:pic>
      <p:sp>
        <p:nvSpPr>
          <p:cNvPr id="17" name="TextBox 82">
            <a:extLst>
              <a:ext uri="{FF2B5EF4-FFF2-40B4-BE49-F238E27FC236}">
                <a16:creationId xmlns:a16="http://schemas.microsoft.com/office/drawing/2014/main" id="{D3BCDB55-321B-EFD5-1718-7BC3EECFB52D}"/>
              </a:ext>
            </a:extLst>
          </p:cNvPr>
          <p:cNvSpPr txBox="1"/>
          <p:nvPr/>
        </p:nvSpPr>
        <p:spPr>
          <a:xfrm>
            <a:off x="8984399" y="4345538"/>
            <a:ext cx="2805497" cy="292388"/>
          </a:xfrm>
          <a:prstGeom prst="rect">
            <a:avLst/>
          </a:prstGeom>
          <a:noFill/>
        </p:spPr>
        <p:txBody>
          <a:bodyPr wrap="square" rtlCol="0">
            <a:spAutoFit/>
          </a:bodyPr>
          <a:lstStyle/>
          <a:p>
            <a:r>
              <a:rPr lang="en-US" altLang="zh-CN" sz="1300" b="1">
                <a:solidFill>
                  <a:srgbClr val="126C36"/>
                </a:solidFill>
                <a:latin typeface="+mj-lt"/>
                <a:cs typeface="Lato Regular"/>
              </a:rPr>
              <a:t>Rejection Details Drill-Down</a:t>
            </a:r>
          </a:p>
        </p:txBody>
      </p:sp>
      <p:sp>
        <p:nvSpPr>
          <p:cNvPr id="18" name="TextBox 93">
            <a:extLst>
              <a:ext uri="{FF2B5EF4-FFF2-40B4-BE49-F238E27FC236}">
                <a16:creationId xmlns:a16="http://schemas.microsoft.com/office/drawing/2014/main" id="{74EB91B9-12B9-5998-B163-B7457851B596}"/>
              </a:ext>
            </a:extLst>
          </p:cNvPr>
          <p:cNvSpPr txBox="1"/>
          <p:nvPr/>
        </p:nvSpPr>
        <p:spPr>
          <a:xfrm>
            <a:off x="8984397" y="4592133"/>
            <a:ext cx="2661309" cy="1323439"/>
          </a:xfrm>
          <a:prstGeom prst="rect">
            <a:avLst/>
          </a:prstGeom>
          <a:noFill/>
        </p:spPr>
        <p:txBody>
          <a:bodyPr wrap="square" rtlCol="0">
            <a:spAutoFit/>
          </a:bodyPr>
          <a:lstStyle/>
          <a:p>
            <a:r>
              <a:rPr lang="en-US" altLang="zh-CN" sz="1000">
                <a:cs typeface="Lato Light"/>
              </a:rPr>
              <a:t>Users can select a rejection count displayed in the dashboard to view the underlying rejected invoices:</a:t>
            </a:r>
          </a:p>
          <a:p>
            <a:r>
              <a:rPr lang="en-US" altLang="zh-CN" sz="1000">
                <a:cs typeface="Lato Light"/>
              </a:rPr>
              <a:t>Invoice Number</a:t>
            </a:r>
          </a:p>
          <a:p>
            <a:r>
              <a:rPr lang="en-US" altLang="zh-CN" sz="1000">
                <a:cs typeface="Lato Light"/>
              </a:rPr>
              <a:t>Invoice Type</a:t>
            </a:r>
          </a:p>
          <a:p>
            <a:r>
              <a:rPr lang="en-US" altLang="zh-CN" sz="1000">
                <a:cs typeface="Lato Light"/>
              </a:rPr>
              <a:t>Rejection Reason</a:t>
            </a:r>
          </a:p>
          <a:p>
            <a:r>
              <a:rPr lang="en-US" altLang="zh-CN" sz="1000">
                <a:cs typeface="Lato Light"/>
              </a:rPr>
              <a:t>Operator</a:t>
            </a:r>
          </a:p>
          <a:p>
            <a:r>
              <a:rPr lang="en-US" altLang="zh-CN" sz="1000">
                <a:cs typeface="Lato Light"/>
              </a:rPr>
              <a:t>Rejected Date and Time</a:t>
            </a:r>
          </a:p>
        </p:txBody>
      </p:sp>
      <p:sp>
        <p:nvSpPr>
          <p:cNvPr id="19" name="Oval 112">
            <a:extLst>
              <a:ext uri="{FF2B5EF4-FFF2-40B4-BE49-F238E27FC236}">
                <a16:creationId xmlns:a16="http://schemas.microsoft.com/office/drawing/2014/main" id="{56476E82-C5F8-9D77-06C3-2E4F78692749}"/>
              </a:ext>
            </a:extLst>
          </p:cNvPr>
          <p:cNvSpPr/>
          <p:nvPr/>
        </p:nvSpPr>
        <p:spPr>
          <a:xfrm>
            <a:off x="8755798" y="437779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20" name="Oval 111">
            <a:extLst>
              <a:ext uri="{FF2B5EF4-FFF2-40B4-BE49-F238E27FC236}">
                <a16:creationId xmlns:a16="http://schemas.microsoft.com/office/drawing/2014/main" id="{9E5A1F6F-32E3-40FA-B432-AEAF3089C972}"/>
              </a:ext>
            </a:extLst>
          </p:cNvPr>
          <p:cNvSpPr/>
          <p:nvPr/>
        </p:nvSpPr>
        <p:spPr>
          <a:xfrm>
            <a:off x="170162" y="164943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21" name="Oval 112">
            <a:extLst>
              <a:ext uri="{FF2B5EF4-FFF2-40B4-BE49-F238E27FC236}">
                <a16:creationId xmlns:a16="http://schemas.microsoft.com/office/drawing/2014/main" id="{E0A3DAAA-75E3-E8D2-67E1-C28DFCA0FF51}"/>
              </a:ext>
            </a:extLst>
          </p:cNvPr>
          <p:cNvSpPr/>
          <p:nvPr/>
        </p:nvSpPr>
        <p:spPr>
          <a:xfrm>
            <a:off x="6819735" y="4086452"/>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Tree>
    <p:extLst>
      <p:ext uri="{BB962C8B-B14F-4D97-AF65-F5344CB8AC3E}">
        <p14:creationId xmlns:p14="http://schemas.microsoft.com/office/powerpoint/2010/main" val="352878581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7" grpId="0"/>
      <p:bldP spid="18" grpId="0"/>
      <p:bldP spid="19" grpId="0" animBg="1"/>
      <p:bldP spid="20" grpId="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7AA85-37FA-5912-A589-00FCF3A743B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4E43607-9A33-1614-7B08-45C6F6D7E0D8}"/>
              </a:ext>
            </a:extLst>
          </p:cNvPr>
          <p:cNvSpPr>
            <a:spLocks noGrp="1"/>
          </p:cNvSpPr>
          <p:nvPr>
            <p:ph type="title"/>
          </p:nvPr>
        </p:nvSpPr>
        <p:spPr/>
        <p:txBody>
          <a:bodyPr/>
          <a:lstStyle/>
          <a:p>
            <a:r>
              <a:rPr lang="en-US" altLang="zh-CN"/>
              <a:t>Volume &amp; Billing</a:t>
            </a:r>
            <a:endParaRPr lang="zh-CN" altLang="en-US"/>
          </a:p>
        </p:txBody>
      </p:sp>
      <p:sp>
        <p:nvSpPr>
          <p:cNvPr id="6" name="Text 2">
            <a:extLst>
              <a:ext uri="{FF2B5EF4-FFF2-40B4-BE49-F238E27FC236}">
                <a16:creationId xmlns:a16="http://schemas.microsoft.com/office/drawing/2014/main" id="{B9D5E5DD-ED04-AA42-0D9B-EFFC7CAEE8E1}"/>
              </a:ext>
            </a:extLst>
          </p:cNvPr>
          <p:cNvSpPr/>
          <p:nvPr/>
        </p:nvSpPr>
        <p:spPr>
          <a:xfrm>
            <a:off x="320182" y="810211"/>
            <a:ext cx="11639523" cy="440611"/>
          </a:xfrm>
          <a:prstGeom prst="rect">
            <a:avLst/>
          </a:prstGeom>
          <a:noFill/>
          <a:ln/>
        </p:spPr>
        <p:txBody>
          <a:bodyPr wrap="square" lIns="0" tIns="0" rIns="0" bIns="0" rtlCol="0" anchor="ctr">
            <a:normAutofit/>
          </a:bodyPr>
          <a:lstStyle/>
          <a:p>
            <a:r>
              <a:rPr lang="en-US" altLang="zh-CN" sz="1200"/>
              <a:t>The dashboard provides a monthly overview of subscription order and invoice processing activities in </a:t>
            </a:r>
            <a:r>
              <a:rPr lang="en-US" altLang="zh-CN" sz="1200" err="1"/>
              <a:t>NexBill</a:t>
            </a:r>
            <a:r>
              <a:rPr lang="en-US" altLang="zh-CN" sz="1200"/>
              <a:t>. It helps users monitor business volume, track subscription order and invoice trends, and quickly access detailed transaction information.</a:t>
            </a:r>
          </a:p>
        </p:txBody>
      </p:sp>
      <p:pic>
        <p:nvPicPr>
          <p:cNvPr id="8" name="图片 7">
            <a:extLst>
              <a:ext uri="{FF2B5EF4-FFF2-40B4-BE49-F238E27FC236}">
                <a16:creationId xmlns:a16="http://schemas.microsoft.com/office/drawing/2014/main" id="{DE015FEE-4BFC-584C-2A73-0163E26750B8}"/>
              </a:ext>
            </a:extLst>
          </p:cNvPr>
          <p:cNvPicPr>
            <a:picLocks noChangeAspect="1"/>
          </p:cNvPicPr>
          <p:nvPr/>
        </p:nvPicPr>
        <p:blipFill>
          <a:blip r:embed="rId2"/>
          <a:stretch>
            <a:fillRect/>
          </a:stretch>
        </p:blipFill>
        <p:spPr>
          <a:xfrm>
            <a:off x="320182" y="1554884"/>
            <a:ext cx="7924800" cy="1753849"/>
          </a:xfrm>
          <a:prstGeom prst="rect">
            <a:avLst/>
          </a:prstGeom>
        </p:spPr>
      </p:pic>
      <p:pic>
        <p:nvPicPr>
          <p:cNvPr id="10" name="图片 9">
            <a:extLst>
              <a:ext uri="{FF2B5EF4-FFF2-40B4-BE49-F238E27FC236}">
                <a16:creationId xmlns:a16="http://schemas.microsoft.com/office/drawing/2014/main" id="{4F462C30-DECB-552C-6707-792EBDE190C8}"/>
              </a:ext>
            </a:extLst>
          </p:cNvPr>
          <p:cNvPicPr>
            <a:picLocks noChangeAspect="1"/>
          </p:cNvPicPr>
          <p:nvPr/>
        </p:nvPicPr>
        <p:blipFill>
          <a:blip r:embed="rId3"/>
          <a:stretch>
            <a:fillRect/>
          </a:stretch>
        </p:blipFill>
        <p:spPr>
          <a:xfrm>
            <a:off x="320182" y="3308733"/>
            <a:ext cx="5097134" cy="1474344"/>
          </a:xfrm>
          <a:prstGeom prst="rect">
            <a:avLst/>
          </a:prstGeom>
        </p:spPr>
      </p:pic>
      <p:pic>
        <p:nvPicPr>
          <p:cNvPr id="12" name="图片 11">
            <a:extLst>
              <a:ext uri="{FF2B5EF4-FFF2-40B4-BE49-F238E27FC236}">
                <a16:creationId xmlns:a16="http://schemas.microsoft.com/office/drawing/2014/main" id="{91A7E96C-DBB2-65B1-7FB3-927C1BDC1825}"/>
              </a:ext>
            </a:extLst>
          </p:cNvPr>
          <p:cNvPicPr>
            <a:picLocks noChangeAspect="1"/>
          </p:cNvPicPr>
          <p:nvPr/>
        </p:nvPicPr>
        <p:blipFill>
          <a:blip r:embed="rId4"/>
          <a:stretch>
            <a:fillRect/>
          </a:stretch>
        </p:blipFill>
        <p:spPr>
          <a:xfrm>
            <a:off x="320181" y="4783077"/>
            <a:ext cx="5097133" cy="1575589"/>
          </a:xfrm>
          <a:prstGeom prst="rect">
            <a:avLst/>
          </a:prstGeom>
        </p:spPr>
      </p:pic>
      <p:sp>
        <p:nvSpPr>
          <p:cNvPr id="13" name="TextBox 72">
            <a:extLst>
              <a:ext uri="{FF2B5EF4-FFF2-40B4-BE49-F238E27FC236}">
                <a16:creationId xmlns:a16="http://schemas.microsoft.com/office/drawing/2014/main" id="{AADFA4E6-0038-80DF-6F03-DDF101353557}"/>
              </a:ext>
            </a:extLst>
          </p:cNvPr>
          <p:cNvSpPr txBox="1"/>
          <p:nvPr/>
        </p:nvSpPr>
        <p:spPr>
          <a:xfrm>
            <a:off x="8640519" y="1408690"/>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Volume &amp; Billing</a:t>
            </a:r>
          </a:p>
        </p:txBody>
      </p:sp>
      <p:sp>
        <p:nvSpPr>
          <p:cNvPr id="14" name="TextBox 73">
            <a:extLst>
              <a:ext uri="{FF2B5EF4-FFF2-40B4-BE49-F238E27FC236}">
                <a16:creationId xmlns:a16="http://schemas.microsoft.com/office/drawing/2014/main" id="{40D0B43B-0240-7A0C-6AC6-45B8BEDA6EEB}"/>
              </a:ext>
            </a:extLst>
          </p:cNvPr>
          <p:cNvSpPr txBox="1"/>
          <p:nvPr/>
        </p:nvSpPr>
        <p:spPr>
          <a:xfrm>
            <a:off x="8638450" y="1669091"/>
            <a:ext cx="3022778" cy="4862870"/>
          </a:xfrm>
          <a:prstGeom prst="rect">
            <a:avLst/>
          </a:prstGeom>
          <a:noFill/>
        </p:spPr>
        <p:txBody>
          <a:bodyPr wrap="square" rtlCol="0">
            <a:spAutoFit/>
          </a:bodyPr>
          <a:lstStyle/>
          <a:p>
            <a:r>
              <a:rPr lang="en-US" sz="1000">
                <a:latin typeface="+mj-lt"/>
                <a:cs typeface="Lato Light"/>
              </a:rPr>
              <a:t>The Volume &amp; Billing widget summarizes key subscription order and billing activities for the selected month. The Month filter allows users to view dashboard data for a specific reporting month.</a:t>
            </a:r>
          </a:p>
          <a:p>
            <a:endParaRPr lang="en-US" sz="1000">
              <a:latin typeface="+mj-lt"/>
              <a:cs typeface="Lato Light"/>
            </a:endParaRPr>
          </a:p>
          <a:p>
            <a:r>
              <a:rPr lang="en-US" sz="1000" b="1">
                <a:latin typeface="+mj-lt"/>
                <a:cs typeface="Lato Light"/>
              </a:rPr>
              <a:t>Subscription Orders</a:t>
            </a:r>
          </a:p>
          <a:p>
            <a:r>
              <a:rPr lang="en-US" sz="1000">
                <a:latin typeface="+mj-lt"/>
                <a:cs typeface="Lato Light"/>
              </a:rPr>
              <a:t>Provides an overview of subscription order creation and processing status, including:</a:t>
            </a:r>
          </a:p>
          <a:p>
            <a:r>
              <a:rPr lang="en-US" sz="1000" b="1">
                <a:latin typeface="+mj-lt"/>
                <a:cs typeface="Lato Light"/>
              </a:rPr>
              <a:t>New Orders</a:t>
            </a:r>
            <a:r>
              <a:rPr lang="en-US" sz="1000">
                <a:latin typeface="+mj-lt"/>
                <a:cs typeface="Lato Light"/>
              </a:rPr>
              <a:t>: Number of subscription orders created during the selected month.</a:t>
            </a:r>
          </a:p>
          <a:p>
            <a:r>
              <a:rPr lang="en-US" sz="1000" b="1">
                <a:latin typeface="+mj-lt"/>
                <a:cs typeface="Lato Light"/>
              </a:rPr>
              <a:t>Active / Complete</a:t>
            </a:r>
            <a:r>
              <a:rPr lang="en-US" sz="1000">
                <a:latin typeface="+mj-lt"/>
                <a:cs typeface="Lato Light"/>
              </a:rPr>
              <a:t>: Number of subscription orders that are active or completed.</a:t>
            </a:r>
          </a:p>
          <a:p>
            <a:endParaRPr lang="en-US" sz="1000">
              <a:latin typeface="+mj-lt"/>
              <a:cs typeface="Lato Light"/>
            </a:endParaRPr>
          </a:p>
          <a:p>
            <a:r>
              <a:rPr lang="en-US" sz="1000">
                <a:latin typeface="+mj-lt"/>
                <a:cs typeface="Lato Light"/>
              </a:rPr>
              <a:t>Users can select the arrow icon (↗) or View Subscription Orders link to navigate directly to the Subscription Order Search page for detailed subscription order review and management.</a:t>
            </a:r>
          </a:p>
          <a:p>
            <a:endParaRPr lang="en-US" sz="1000">
              <a:latin typeface="+mj-lt"/>
              <a:cs typeface="Lato Light"/>
            </a:endParaRPr>
          </a:p>
          <a:p>
            <a:r>
              <a:rPr lang="en-US" sz="1000" b="1">
                <a:latin typeface="+mj-lt"/>
                <a:cs typeface="Lato Light"/>
              </a:rPr>
              <a:t>Invoice Documents</a:t>
            </a:r>
          </a:p>
          <a:p>
            <a:r>
              <a:rPr lang="en-US" sz="1000">
                <a:latin typeface="+mj-lt"/>
                <a:cs typeface="Lato Light"/>
              </a:rPr>
              <a:t>Provides an overview of invoice document generation status, including:</a:t>
            </a:r>
          </a:p>
          <a:p>
            <a:r>
              <a:rPr lang="en-US" sz="1000" b="1">
                <a:latin typeface="+mj-lt"/>
                <a:cs typeface="Lato Light"/>
              </a:rPr>
              <a:t>Final Invoices</a:t>
            </a:r>
            <a:r>
              <a:rPr lang="en-US" sz="1000">
                <a:latin typeface="+mj-lt"/>
                <a:cs typeface="Lato Light"/>
              </a:rPr>
              <a:t>: Number of finalized invoice documents.</a:t>
            </a:r>
          </a:p>
          <a:p>
            <a:r>
              <a:rPr lang="en-US" sz="1000" b="1">
                <a:latin typeface="+mj-lt"/>
                <a:cs typeface="Lato Light"/>
              </a:rPr>
              <a:t>Preview Invoices</a:t>
            </a:r>
            <a:r>
              <a:rPr lang="en-US" sz="1000">
                <a:latin typeface="+mj-lt"/>
                <a:cs typeface="Lato Light"/>
              </a:rPr>
              <a:t>: Number of invoice documents in preview status.</a:t>
            </a:r>
          </a:p>
          <a:p>
            <a:endParaRPr lang="en-US" sz="1000">
              <a:latin typeface="+mj-lt"/>
              <a:cs typeface="Lato Light"/>
            </a:endParaRPr>
          </a:p>
          <a:p>
            <a:r>
              <a:rPr lang="en-US" sz="1000">
                <a:latin typeface="+mj-lt"/>
                <a:cs typeface="Lato Light"/>
              </a:rPr>
              <a:t>Users can select the arrow icon (↗) or Manage Invoices link to navigate directly to the Invoice Document Search page for detailed invoice review and processing.</a:t>
            </a:r>
          </a:p>
        </p:txBody>
      </p:sp>
      <p:sp>
        <p:nvSpPr>
          <p:cNvPr id="15" name="Oval 111">
            <a:extLst>
              <a:ext uri="{FF2B5EF4-FFF2-40B4-BE49-F238E27FC236}">
                <a16:creationId xmlns:a16="http://schemas.microsoft.com/office/drawing/2014/main" id="{D01C93C0-3501-03B1-37B2-87A2A7DD29F2}"/>
              </a:ext>
            </a:extLst>
          </p:cNvPr>
          <p:cNvSpPr/>
          <p:nvPr/>
        </p:nvSpPr>
        <p:spPr>
          <a:xfrm>
            <a:off x="8394727" y="147697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2" name="Oval 111">
            <a:extLst>
              <a:ext uri="{FF2B5EF4-FFF2-40B4-BE49-F238E27FC236}">
                <a16:creationId xmlns:a16="http://schemas.microsoft.com/office/drawing/2014/main" id="{7A2F24A6-168E-138E-6E27-A8DAF685217B}"/>
              </a:ext>
            </a:extLst>
          </p:cNvPr>
          <p:cNvSpPr/>
          <p:nvPr/>
        </p:nvSpPr>
        <p:spPr>
          <a:xfrm>
            <a:off x="170437" y="1681327"/>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Tree>
    <p:extLst>
      <p:ext uri="{BB962C8B-B14F-4D97-AF65-F5344CB8AC3E}">
        <p14:creationId xmlns:p14="http://schemas.microsoft.com/office/powerpoint/2010/main" val="19571895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AFC1-19E8-0EB0-DC1E-35EE7EBBBB1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45824D9-EF40-2D08-4712-43C9D3B14BA7}"/>
              </a:ext>
            </a:extLst>
          </p:cNvPr>
          <p:cNvSpPr>
            <a:spLocks noGrp="1"/>
          </p:cNvSpPr>
          <p:nvPr>
            <p:ph type="title"/>
          </p:nvPr>
        </p:nvSpPr>
        <p:spPr/>
        <p:txBody>
          <a:bodyPr/>
          <a:lstStyle/>
          <a:p>
            <a:r>
              <a:rPr lang="en-US" altLang="zh-CN"/>
              <a:t>Focus Items	</a:t>
            </a:r>
            <a:endParaRPr lang="zh-CN" altLang="en-US"/>
          </a:p>
        </p:txBody>
      </p:sp>
      <p:pic>
        <p:nvPicPr>
          <p:cNvPr id="9" name="图片 8">
            <a:extLst>
              <a:ext uri="{FF2B5EF4-FFF2-40B4-BE49-F238E27FC236}">
                <a16:creationId xmlns:a16="http://schemas.microsoft.com/office/drawing/2014/main" id="{970495EC-6069-4213-875D-C949DB3BE0CB}"/>
              </a:ext>
            </a:extLst>
          </p:cNvPr>
          <p:cNvPicPr>
            <a:picLocks noChangeAspect="1"/>
          </p:cNvPicPr>
          <p:nvPr/>
        </p:nvPicPr>
        <p:blipFill>
          <a:blip r:embed="rId2"/>
          <a:stretch>
            <a:fillRect/>
          </a:stretch>
        </p:blipFill>
        <p:spPr>
          <a:xfrm>
            <a:off x="3371322" y="1579802"/>
            <a:ext cx="5251475" cy="2027671"/>
          </a:xfrm>
          <a:prstGeom prst="rect">
            <a:avLst/>
          </a:prstGeom>
        </p:spPr>
      </p:pic>
      <p:pic>
        <p:nvPicPr>
          <p:cNvPr id="15" name="图片 14">
            <a:extLst>
              <a:ext uri="{FF2B5EF4-FFF2-40B4-BE49-F238E27FC236}">
                <a16:creationId xmlns:a16="http://schemas.microsoft.com/office/drawing/2014/main" id="{E808B5B6-BA09-7F00-CAB5-E7C5F757587C}"/>
              </a:ext>
            </a:extLst>
          </p:cNvPr>
          <p:cNvPicPr>
            <a:picLocks noChangeAspect="1"/>
          </p:cNvPicPr>
          <p:nvPr/>
        </p:nvPicPr>
        <p:blipFill>
          <a:blip r:embed="rId3"/>
          <a:stretch>
            <a:fillRect/>
          </a:stretch>
        </p:blipFill>
        <p:spPr>
          <a:xfrm>
            <a:off x="3371322" y="3733075"/>
            <a:ext cx="5251475" cy="1765362"/>
          </a:xfrm>
          <a:prstGeom prst="rect">
            <a:avLst/>
          </a:prstGeom>
        </p:spPr>
      </p:pic>
      <p:pic>
        <p:nvPicPr>
          <p:cNvPr id="17" name="图片 16">
            <a:extLst>
              <a:ext uri="{FF2B5EF4-FFF2-40B4-BE49-F238E27FC236}">
                <a16:creationId xmlns:a16="http://schemas.microsoft.com/office/drawing/2014/main" id="{E98FC6C1-C56F-D2AF-7D94-B0AFE5224241}"/>
              </a:ext>
            </a:extLst>
          </p:cNvPr>
          <p:cNvPicPr>
            <a:picLocks noChangeAspect="1"/>
          </p:cNvPicPr>
          <p:nvPr/>
        </p:nvPicPr>
        <p:blipFill>
          <a:blip r:embed="rId4"/>
          <a:stretch>
            <a:fillRect/>
          </a:stretch>
        </p:blipFill>
        <p:spPr>
          <a:xfrm>
            <a:off x="340720" y="1579802"/>
            <a:ext cx="2999125" cy="2398488"/>
          </a:xfrm>
          <a:prstGeom prst="rect">
            <a:avLst/>
          </a:prstGeom>
        </p:spPr>
      </p:pic>
      <p:sp>
        <p:nvSpPr>
          <p:cNvPr id="18" name="Text 2">
            <a:extLst>
              <a:ext uri="{FF2B5EF4-FFF2-40B4-BE49-F238E27FC236}">
                <a16:creationId xmlns:a16="http://schemas.microsoft.com/office/drawing/2014/main" id="{D3C78984-A55E-4ED8-5545-BD08C1135C3A}"/>
              </a:ext>
            </a:extLst>
          </p:cNvPr>
          <p:cNvSpPr/>
          <p:nvPr/>
        </p:nvSpPr>
        <p:spPr>
          <a:xfrm>
            <a:off x="320182" y="810211"/>
            <a:ext cx="11639523" cy="509377"/>
          </a:xfrm>
          <a:prstGeom prst="rect">
            <a:avLst/>
          </a:prstGeom>
          <a:noFill/>
          <a:ln/>
        </p:spPr>
        <p:txBody>
          <a:bodyPr wrap="square" lIns="0" tIns="0" rIns="0" bIns="0" rtlCol="0" anchor="ctr">
            <a:normAutofit/>
          </a:bodyPr>
          <a:lstStyle/>
          <a:p>
            <a:r>
              <a:rPr lang="en-US" altLang="zh-CN" sz="1200"/>
              <a:t>The dashboard highlights important billing and approval activities that require user attention. It provides quick access to pending tasks and exception items, helping users prioritize daily operations and take timely action.  Each focus item displays the current volume of records that meet specific business conditions. </a:t>
            </a:r>
          </a:p>
        </p:txBody>
      </p:sp>
      <p:sp>
        <p:nvSpPr>
          <p:cNvPr id="19" name="TextBox 72">
            <a:extLst>
              <a:ext uri="{FF2B5EF4-FFF2-40B4-BE49-F238E27FC236}">
                <a16:creationId xmlns:a16="http://schemas.microsoft.com/office/drawing/2014/main" id="{30813B62-C3A7-EDDC-40BF-EA1B92D355C9}"/>
              </a:ext>
            </a:extLst>
          </p:cNvPr>
          <p:cNvSpPr txBox="1"/>
          <p:nvPr/>
        </p:nvSpPr>
        <p:spPr>
          <a:xfrm>
            <a:off x="9051381" y="1433608"/>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Final Invoices Not Yet Posted</a:t>
            </a:r>
          </a:p>
        </p:txBody>
      </p:sp>
      <p:sp>
        <p:nvSpPr>
          <p:cNvPr id="20" name="TextBox 73">
            <a:extLst>
              <a:ext uri="{FF2B5EF4-FFF2-40B4-BE49-F238E27FC236}">
                <a16:creationId xmlns:a16="http://schemas.microsoft.com/office/drawing/2014/main" id="{7EA1CE7C-6B5B-E3EC-5729-9BDA39BC0593}"/>
              </a:ext>
            </a:extLst>
          </p:cNvPr>
          <p:cNvSpPr txBox="1"/>
          <p:nvPr/>
        </p:nvSpPr>
        <p:spPr>
          <a:xfrm>
            <a:off x="9049312" y="1694009"/>
            <a:ext cx="2854132" cy="1015663"/>
          </a:xfrm>
          <a:prstGeom prst="rect">
            <a:avLst/>
          </a:prstGeom>
          <a:noFill/>
        </p:spPr>
        <p:txBody>
          <a:bodyPr wrap="square" rtlCol="0">
            <a:spAutoFit/>
          </a:bodyPr>
          <a:lstStyle/>
          <a:p>
            <a:r>
              <a:rPr lang="en-US" sz="1000">
                <a:latin typeface="+mj-lt"/>
                <a:cs typeface="Lato Light"/>
              </a:rPr>
              <a:t>Displays the number of finalized invoices that have not yet been posted.</a:t>
            </a:r>
          </a:p>
          <a:p>
            <a:endParaRPr lang="en-US" sz="1000">
              <a:latin typeface="+mj-lt"/>
              <a:cs typeface="Lato Light"/>
            </a:endParaRPr>
          </a:p>
          <a:p>
            <a:r>
              <a:rPr lang="en-US" sz="1000">
                <a:latin typeface="+mj-lt"/>
                <a:cs typeface="Lato Light"/>
              </a:rPr>
              <a:t>Click the arrow icon (</a:t>
            </a:r>
            <a:r>
              <a:rPr lang="en-US" sz="1000" b="1">
                <a:latin typeface="+mj-lt"/>
                <a:cs typeface="Lato Light"/>
              </a:rPr>
              <a:t>&gt;</a:t>
            </a:r>
            <a:r>
              <a:rPr lang="en-US" sz="1000">
                <a:latin typeface="+mj-lt"/>
                <a:cs typeface="Lato Light"/>
              </a:rPr>
              <a:t>) to open the Invoice Document Search page with the relevant invoice records.</a:t>
            </a:r>
          </a:p>
        </p:txBody>
      </p:sp>
      <p:sp>
        <p:nvSpPr>
          <p:cNvPr id="21" name="Oval 111">
            <a:extLst>
              <a:ext uri="{FF2B5EF4-FFF2-40B4-BE49-F238E27FC236}">
                <a16:creationId xmlns:a16="http://schemas.microsoft.com/office/drawing/2014/main" id="{95A63E8D-4985-1D29-9A10-251F4134221E}"/>
              </a:ext>
            </a:extLst>
          </p:cNvPr>
          <p:cNvSpPr/>
          <p:nvPr/>
        </p:nvSpPr>
        <p:spPr>
          <a:xfrm>
            <a:off x="8805589" y="150189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22" name="TextBox 82">
            <a:extLst>
              <a:ext uri="{FF2B5EF4-FFF2-40B4-BE49-F238E27FC236}">
                <a16:creationId xmlns:a16="http://schemas.microsoft.com/office/drawing/2014/main" id="{ACDC22CA-83CE-824B-A737-D0D2164A9A20}"/>
              </a:ext>
            </a:extLst>
          </p:cNvPr>
          <p:cNvSpPr txBox="1"/>
          <p:nvPr/>
        </p:nvSpPr>
        <p:spPr>
          <a:xfrm>
            <a:off x="9049311" y="2693202"/>
            <a:ext cx="2804875" cy="492443"/>
          </a:xfrm>
          <a:prstGeom prst="rect">
            <a:avLst/>
          </a:prstGeom>
          <a:noFill/>
        </p:spPr>
        <p:txBody>
          <a:bodyPr wrap="square" rtlCol="0">
            <a:spAutoFit/>
          </a:bodyPr>
          <a:lstStyle/>
          <a:p>
            <a:r>
              <a:rPr lang="en-US" altLang="zh-CN" sz="1300" b="1">
                <a:solidFill>
                  <a:srgbClr val="126C36"/>
                </a:solidFill>
                <a:latin typeface="+mj-lt"/>
                <a:cs typeface="Lato Regular"/>
              </a:rPr>
              <a:t>Preview Invoices Pending Over 7 Days</a:t>
            </a:r>
          </a:p>
        </p:txBody>
      </p:sp>
      <p:sp>
        <p:nvSpPr>
          <p:cNvPr id="23" name="TextBox 93">
            <a:extLst>
              <a:ext uri="{FF2B5EF4-FFF2-40B4-BE49-F238E27FC236}">
                <a16:creationId xmlns:a16="http://schemas.microsoft.com/office/drawing/2014/main" id="{8C62F17C-88F8-0BDF-C7A7-816589DDE784}"/>
              </a:ext>
            </a:extLst>
          </p:cNvPr>
          <p:cNvSpPr txBox="1"/>
          <p:nvPr/>
        </p:nvSpPr>
        <p:spPr>
          <a:xfrm>
            <a:off x="9064597" y="3153817"/>
            <a:ext cx="2661309" cy="1169551"/>
          </a:xfrm>
          <a:prstGeom prst="rect">
            <a:avLst/>
          </a:prstGeom>
          <a:noFill/>
        </p:spPr>
        <p:txBody>
          <a:bodyPr wrap="square" rtlCol="0">
            <a:spAutoFit/>
          </a:bodyPr>
          <a:lstStyle/>
          <a:p>
            <a:r>
              <a:rPr lang="en-US" altLang="zh-CN" sz="1000">
                <a:cs typeface="Lato Light"/>
              </a:rPr>
              <a:t>Displays the number of preview invoices that have remained in preview status for more than seven days.</a:t>
            </a:r>
          </a:p>
          <a:p>
            <a:endParaRPr lang="en-US" altLang="zh-CN" sz="1000">
              <a:cs typeface="Lato Light"/>
            </a:endParaRPr>
          </a:p>
          <a:p>
            <a:r>
              <a:rPr lang="en-US" altLang="zh-CN" sz="1000">
                <a:cs typeface="Lato Light"/>
              </a:rPr>
              <a:t>Click the arrow icon (</a:t>
            </a:r>
            <a:r>
              <a:rPr lang="en-US" altLang="zh-CN" sz="1000" b="1">
                <a:cs typeface="Lato Light"/>
              </a:rPr>
              <a:t>&gt;</a:t>
            </a:r>
            <a:r>
              <a:rPr lang="en-US" altLang="zh-CN" sz="1000">
                <a:cs typeface="Lato Light"/>
              </a:rPr>
              <a:t>) to open the Invoice Document Search page with the corresponding invoice records.</a:t>
            </a:r>
          </a:p>
        </p:txBody>
      </p:sp>
      <p:sp>
        <p:nvSpPr>
          <p:cNvPr id="24" name="Oval 112">
            <a:extLst>
              <a:ext uri="{FF2B5EF4-FFF2-40B4-BE49-F238E27FC236}">
                <a16:creationId xmlns:a16="http://schemas.microsoft.com/office/drawing/2014/main" id="{2491E7BE-DACD-2434-29BD-7AE9A92A0AD9}"/>
              </a:ext>
            </a:extLst>
          </p:cNvPr>
          <p:cNvSpPr/>
          <p:nvPr/>
        </p:nvSpPr>
        <p:spPr>
          <a:xfrm>
            <a:off x="8820711" y="272545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26" name="TextBox 97">
            <a:extLst>
              <a:ext uri="{FF2B5EF4-FFF2-40B4-BE49-F238E27FC236}">
                <a16:creationId xmlns:a16="http://schemas.microsoft.com/office/drawing/2014/main" id="{26CF8DB7-E3B5-B5D2-D98A-AA8998D8F47C}"/>
              </a:ext>
            </a:extLst>
          </p:cNvPr>
          <p:cNvSpPr txBox="1"/>
          <p:nvPr/>
        </p:nvSpPr>
        <p:spPr>
          <a:xfrm>
            <a:off x="9064597" y="4323368"/>
            <a:ext cx="2895108" cy="292388"/>
          </a:xfrm>
          <a:prstGeom prst="rect">
            <a:avLst/>
          </a:prstGeom>
          <a:noFill/>
        </p:spPr>
        <p:txBody>
          <a:bodyPr wrap="square" rtlCol="0">
            <a:spAutoFit/>
          </a:bodyPr>
          <a:lstStyle/>
          <a:p>
            <a:r>
              <a:rPr lang="en-US" sz="1300" b="1">
                <a:solidFill>
                  <a:srgbClr val="F26A52"/>
                </a:solidFill>
                <a:latin typeface="+mj-lt"/>
                <a:cs typeface="Lato Regular"/>
              </a:rPr>
              <a:t>Adjustments in the Last 7 Days</a:t>
            </a:r>
          </a:p>
        </p:txBody>
      </p:sp>
      <p:sp>
        <p:nvSpPr>
          <p:cNvPr id="27" name="Oval 114">
            <a:extLst>
              <a:ext uri="{FF2B5EF4-FFF2-40B4-BE49-F238E27FC236}">
                <a16:creationId xmlns:a16="http://schemas.microsoft.com/office/drawing/2014/main" id="{CD40DE34-45D1-85AB-1929-01D6508BCD41}"/>
              </a:ext>
            </a:extLst>
          </p:cNvPr>
          <p:cNvSpPr/>
          <p:nvPr/>
        </p:nvSpPr>
        <p:spPr>
          <a:xfrm>
            <a:off x="8835997" y="4355262"/>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
        <p:nvSpPr>
          <p:cNvPr id="28" name="TextBox 98">
            <a:extLst>
              <a:ext uri="{FF2B5EF4-FFF2-40B4-BE49-F238E27FC236}">
                <a16:creationId xmlns:a16="http://schemas.microsoft.com/office/drawing/2014/main" id="{35F5FFD9-0080-25B8-B192-85790B3FB349}"/>
              </a:ext>
            </a:extLst>
          </p:cNvPr>
          <p:cNvSpPr txBox="1"/>
          <p:nvPr/>
        </p:nvSpPr>
        <p:spPr>
          <a:xfrm>
            <a:off x="9064597" y="4595342"/>
            <a:ext cx="2895108" cy="1015663"/>
          </a:xfrm>
          <a:prstGeom prst="rect">
            <a:avLst/>
          </a:prstGeom>
          <a:noFill/>
        </p:spPr>
        <p:txBody>
          <a:bodyPr wrap="square" rtlCol="0">
            <a:spAutoFit/>
          </a:bodyPr>
          <a:lstStyle/>
          <a:p>
            <a:r>
              <a:rPr lang="en-US" altLang="zh-CN" sz="1000">
                <a:cs typeface="Lato Light"/>
              </a:rPr>
              <a:t>Displays the number of invoice adjustment requests created during the last seven days.</a:t>
            </a:r>
          </a:p>
          <a:p>
            <a:endParaRPr lang="en-US" altLang="zh-CN" sz="1000">
              <a:cs typeface="Lato Light"/>
            </a:endParaRPr>
          </a:p>
          <a:p>
            <a:r>
              <a:rPr lang="en-US" altLang="zh-CN" sz="1000">
                <a:cs typeface="Lato Light"/>
              </a:rPr>
              <a:t>Click the arrow icon (</a:t>
            </a:r>
            <a:r>
              <a:rPr lang="en-US" altLang="zh-CN" sz="1000" b="1">
                <a:cs typeface="Lato Light"/>
              </a:rPr>
              <a:t>&gt;</a:t>
            </a:r>
            <a:r>
              <a:rPr lang="en-US" altLang="zh-CN" sz="1000">
                <a:cs typeface="Lato Light"/>
              </a:rPr>
              <a:t>) to open the Invoice Revision / Adjustment Request page for detailed review and processing.</a:t>
            </a:r>
          </a:p>
        </p:txBody>
      </p:sp>
      <p:sp>
        <p:nvSpPr>
          <p:cNvPr id="2" name="Oval 111">
            <a:extLst>
              <a:ext uri="{FF2B5EF4-FFF2-40B4-BE49-F238E27FC236}">
                <a16:creationId xmlns:a16="http://schemas.microsoft.com/office/drawing/2014/main" id="{107A2632-10F6-9872-0D20-FF1B7FE1C60D}"/>
              </a:ext>
            </a:extLst>
          </p:cNvPr>
          <p:cNvSpPr/>
          <p:nvPr/>
        </p:nvSpPr>
        <p:spPr>
          <a:xfrm>
            <a:off x="185446" y="2235254"/>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5" name="Oval 112">
            <a:extLst>
              <a:ext uri="{FF2B5EF4-FFF2-40B4-BE49-F238E27FC236}">
                <a16:creationId xmlns:a16="http://schemas.microsoft.com/office/drawing/2014/main" id="{31464CB6-0764-16E2-6048-C3118F7288E7}"/>
              </a:ext>
            </a:extLst>
          </p:cNvPr>
          <p:cNvSpPr/>
          <p:nvPr/>
        </p:nvSpPr>
        <p:spPr>
          <a:xfrm>
            <a:off x="167253" y="2916262"/>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6" name="Oval 114">
            <a:extLst>
              <a:ext uri="{FF2B5EF4-FFF2-40B4-BE49-F238E27FC236}">
                <a16:creationId xmlns:a16="http://schemas.microsoft.com/office/drawing/2014/main" id="{F01D8F31-B7ED-09AC-96F2-972EC12DD749}"/>
              </a:ext>
            </a:extLst>
          </p:cNvPr>
          <p:cNvSpPr/>
          <p:nvPr/>
        </p:nvSpPr>
        <p:spPr>
          <a:xfrm>
            <a:off x="167253" y="3656186"/>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Tree>
    <p:extLst>
      <p:ext uri="{BB962C8B-B14F-4D97-AF65-F5344CB8AC3E}">
        <p14:creationId xmlns:p14="http://schemas.microsoft.com/office/powerpoint/2010/main" val="29057746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P spid="22" grpId="0"/>
      <p:bldP spid="23" grpId="0"/>
      <p:bldP spid="24" grpId="0" animBg="1"/>
      <p:bldP spid="26" grpId="0"/>
      <p:bldP spid="27" grpId="0" animBg="1"/>
      <p:bldP spid="28" grpId="0"/>
      <p:bldP spid="2"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694A4-DA4D-DAE3-19BC-F3FEA9B5970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C169EBB-67C0-5249-96ED-C56C35293EA2}"/>
              </a:ext>
            </a:extLst>
          </p:cNvPr>
          <p:cNvSpPr>
            <a:spLocks noGrp="1"/>
          </p:cNvSpPr>
          <p:nvPr>
            <p:ph type="title"/>
          </p:nvPr>
        </p:nvSpPr>
        <p:spPr/>
        <p:txBody>
          <a:bodyPr/>
          <a:lstStyle/>
          <a:p>
            <a:r>
              <a:rPr lang="en-US" altLang="zh-CN"/>
              <a:t>Customer Billing Status</a:t>
            </a:r>
            <a:endParaRPr lang="zh-CN" altLang="en-US"/>
          </a:p>
        </p:txBody>
      </p:sp>
      <p:pic>
        <p:nvPicPr>
          <p:cNvPr id="7" name="图片 6">
            <a:extLst>
              <a:ext uri="{FF2B5EF4-FFF2-40B4-BE49-F238E27FC236}">
                <a16:creationId xmlns:a16="http://schemas.microsoft.com/office/drawing/2014/main" id="{867F8FE9-6F43-15C2-E71A-3671B77397C1}"/>
              </a:ext>
            </a:extLst>
          </p:cNvPr>
          <p:cNvPicPr>
            <a:picLocks noChangeAspect="1"/>
          </p:cNvPicPr>
          <p:nvPr/>
        </p:nvPicPr>
        <p:blipFill>
          <a:blip r:embed="rId2"/>
          <a:stretch>
            <a:fillRect/>
          </a:stretch>
        </p:blipFill>
        <p:spPr>
          <a:xfrm>
            <a:off x="317649" y="1648090"/>
            <a:ext cx="8321267" cy="3667349"/>
          </a:xfrm>
          <a:prstGeom prst="rect">
            <a:avLst/>
          </a:prstGeom>
        </p:spPr>
      </p:pic>
      <p:sp>
        <p:nvSpPr>
          <p:cNvPr id="8" name="Text 2">
            <a:extLst>
              <a:ext uri="{FF2B5EF4-FFF2-40B4-BE49-F238E27FC236}">
                <a16:creationId xmlns:a16="http://schemas.microsoft.com/office/drawing/2014/main" id="{B89A2D49-E8EA-0027-C477-14D1DE7E8C60}"/>
              </a:ext>
            </a:extLst>
          </p:cNvPr>
          <p:cNvSpPr/>
          <p:nvPr/>
        </p:nvSpPr>
        <p:spPr>
          <a:xfrm>
            <a:off x="320182" y="810211"/>
            <a:ext cx="11639523" cy="509377"/>
          </a:xfrm>
          <a:prstGeom prst="rect">
            <a:avLst/>
          </a:prstGeom>
          <a:noFill/>
          <a:ln/>
        </p:spPr>
        <p:txBody>
          <a:bodyPr wrap="square" lIns="0" tIns="0" rIns="0" bIns="0" rtlCol="0" anchor="ctr">
            <a:normAutofit/>
          </a:bodyPr>
          <a:lstStyle/>
          <a:p>
            <a:r>
              <a:rPr lang="en-US" altLang="zh-CN" sz="1200"/>
              <a:t>The dashboard provides a customer-level overview of billing activity and invoice generation status. It helps users compare preview invoice amounts with billed amounts, monitor customer billing progress, and identify customers with significant billing volumes.</a:t>
            </a:r>
          </a:p>
        </p:txBody>
      </p:sp>
      <p:sp>
        <p:nvSpPr>
          <p:cNvPr id="9" name="TextBox 72">
            <a:extLst>
              <a:ext uri="{FF2B5EF4-FFF2-40B4-BE49-F238E27FC236}">
                <a16:creationId xmlns:a16="http://schemas.microsoft.com/office/drawing/2014/main" id="{0CA9A70F-C28B-6077-373A-2040ABC54C6A}"/>
              </a:ext>
            </a:extLst>
          </p:cNvPr>
          <p:cNvSpPr txBox="1"/>
          <p:nvPr/>
        </p:nvSpPr>
        <p:spPr>
          <a:xfrm>
            <a:off x="9022288" y="1542121"/>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Customer Billing Status</a:t>
            </a:r>
          </a:p>
        </p:txBody>
      </p:sp>
      <p:sp>
        <p:nvSpPr>
          <p:cNvPr id="10" name="TextBox 73">
            <a:extLst>
              <a:ext uri="{FF2B5EF4-FFF2-40B4-BE49-F238E27FC236}">
                <a16:creationId xmlns:a16="http://schemas.microsoft.com/office/drawing/2014/main" id="{00F4DF64-496C-8F8C-662A-A8EE1ACF8173}"/>
              </a:ext>
            </a:extLst>
          </p:cNvPr>
          <p:cNvSpPr txBox="1"/>
          <p:nvPr/>
        </p:nvSpPr>
        <p:spPr>
          <a:xfrm>
            <a:off x="9020219" y="1802522"/>
            <a:ext cx="2854132" cy="2554545"/>
          </a:xfrm>
          <a:prstGeom prst="rect">
            <a:avLst/>
          </a:prstGeom>
          <a:noFill/>
        </p:spPr>
        <p:txBody>
          <a:bodyPr wrap="square" rtlCol="0">
            <a:spAutoFit/>
          </a:bodyPr>
          <a:lstStyle/>
          <a:p>
            <a:r>
              <a:rPr lang="en-US" sz="1000">
                <a:latin typeface="+mj-lt"/>
                <a:cs typeface="Lato Light"/>
              </a:rPr>
              <a:t>The Customer Billing Status widget displays billing information by customer and country.</a:t>
            </a:r>
          </a:p>
          <a:p>
            <a:endParaRPr lang="en-US" sz="1000">
              <a:latin typeface="+mj-lt"/>
              <a:cs typeface="Lato Light"/>
            </a:endParaRPr>
          </a:p>
          <a:p>
            <a:r>
              <a:rPr lang="en-US" sz="1000" b="1">
                <a:latin typeface="+mj-lt"/>
                <a:cs typeface="Lato Light"/>
              </a:rPr>
              <a:t>Country</a:t>
            </a:r>
            <a:r>
              <a:rPr lang="en-US" sz="1000">
                <a:latin typeface="+mj-lt"/>
                <a:cs typeface="Lato Light"/>
              </a:rPr>
              <a:t>: Displays the customer's country or region.</a:t>
            </a:r>
          </a:p>
          <a:p>
            <a:r>
              <a:rPr lang="en-US" sz="1000" b="1">
                <a:latin typeface="+mj-lt"/>
                <a:cs typeface="Lato Light"/>
              </a:rPr>
              <a:t>Customer</a:t>
            </a:r>
            <a:r>
              <a:rPr lang="en-US" sz="1000">
                <a:latin typeface="+mj-lt"/>
                <a:cs typeface="Lato Light"/>
              </a:rPr>
              <a:t>: Displays the customer name.</a:t>
            </a:r>
          </a:p>
          <a:p>
            <a:r>
              <a:rPr lang="en-US" sz="1000" b="1">
                <a:latin typeface="+mj-lt"/>
                <a:cs typeface="Lato Light"/>
              </a:rPr>
              <a:t>Invoices</a:t>
            </a:r>
            <a:r>
              <a:rPr lang="en-US" sz="1000">
                <a:latin typeface="+mj-lt"/>
                <a:cs typeface="Lato Light"/>
              </a:rPr>
              <a:t>: Displays the total number of invoices associated with the customer.</a:t>
            </a:r>
          </a:p>
          <a:p>
            <a:r>
              <a:rPr lang="en-US" sz="1000" b="1">
                <a:latin typeface="+mj-lt"/>
                <a:cs typeface="Lato Light"/>
              </a:rPr>
              <a:t>Preview</a:t>
            </a:r>
            <a:r>
              <a:rPr lang="en-US" sz="1000">
                <a:latin typeface="+mj-lt"/>
                <a:cs typeface="Lato Light"/>
              </a:rPr>
              <a:t>: Displays the total value of invoices currently in Preview status.</a:t>
            </a:r>
          </a:p>
          <a:p>
            <a:r>
              <a:rPr lang="en-US" sz="1000" b="1">
                <a:latin typeface="+mj-lt"/>
                <a:cs typeface="Lato Light"/>
              </a:rPr>
              <a:t>Billed</a:t>
            </a:r>
            <a:r>
              <a:rPr lang="en-US" sz="1000">
                <a:latin typeface="+mj-lt"/>
                <a:cs typeface="Lato Light"/>
              </a:rPr>
              <a:t>: Displays the total value of invoices that have been finalized and billed.</a:t>
            </a:r>
          </a:p>
          <a:p>
            <a:endParaRPr lang="en-US" sz="1000">
              <a:latin typeface="+mj-lt"/>
              <a:cs typeface="Lato Light"/>
            </a:endParaRPr>
          </a:p>
          <a:p>
            <a:r>
              <a:rPr lang="en-US" sz="1000">
                <a:latin typeface="+mj-lt"/>
                <a:cs typeface="Lato Light"/>
              </a:rPr>
              <a:t>Users can click anywhere within the Customer Billing Status dashboard to navigate directly to the Invoice Document Search page.</a:t>
            </a:r>
          </a:p>
        </p:txBody>
      </p:sp>
      <p:sp>
        <p:nvSpPr>
          <p:cNvPr id="11" name="Oval 111">
            <a:extLst>
              <a:ext uri="{FF2B5EF4-FFF2-40B4-BE49-F238E27FC236}">
                <a16:creationId xmlns:a16="http://schemas.microsoft.com/office/drawing/2014/main" id="{4852BF62-BC05-3F10-6361-B59189EC2C62}"/>
              </a:ext>
            </a:extLst>
          </p:cNvPr>
          <p:cNvSpPr/>
          <p:nvPr/>
        </p:nvSpPr>
        <p:spPr>
          <a:xfrm>
            <a:off x="8776496" y="161040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12" name="TextBox 82">
            <a:extLst>
              <a:ext uri="{FF2B5EF4-FFF2-40B4-BE49-F238E27FC236}">
                <a16:creationId xmlns:a16="http://schemas.microsoft.com/office/drawing/2014/main" id="{1B369475-D752-6E66-775E-51F49F261402}"/>
              </a:ext>
            </a:extLst>
          </p:cNvPr>
          <p:cNvSpPr txBox="1"/>
          <p:nvPr/>
        </p:nvSpPr>
        <p:spPr>
          <a:xfrm>
            <a:off x="9022564" y="4357067"/>
            <a:ext cx="2804875" cy="292388"/>
          </a:xfrm>
          <a:prstGeom prst="rect">
            <a:avLst/>
          </a:prstGeom>
          <a:noFill/>
        </p:spPr>
        <p:txBody>
          <a:bodyPr wrap="square" rtlCol="0">
            <a:spAutoFit/>
          </a:bodyPr>
          <a:lstStyle/>
          <a:p>
            <a:r>
              <a:rPr lang="en-US" altLang="zh-CN" sz="1300" b="1">
                <a:solidFill>
                  <a:srgbClr val="126C36"/>
                </a:solidFill>
                <a:latin typeface="+mj-lt"/>
                <a:cs typeface="Lato Regular"/>
              </a:rPr>
              <a:t>Export</a:t>
            </a:r>
          </a:p>
        </p:txBody>
      </p:sp>
      <p:sp>
        <p:nvSpPr>
          <p:cNvPr id="13" name="TextBox 93">
            <a:extLst>
              <a:ext uri="{FF2B5EF4-FFF2-40B4-BE49-F238E27FC236}">
                <a16:creationId xmlns:a16="http://schemas.microsoft.com/office/drawing/2014/main" id="{617D26CE-E7C3-33BD-6CC6-D5ECDE748259}"/>
              </a:ext>
            </a:extLst>
          </p:cNvPr>
          <p:cNvSpPr txBox="1"/>
          <p:nvPr/>
        </p:nvSpPr>
        <p:spPr>
          <a:xfrm>
            <a:off x="9020219" y="4592363"/>
            <a:ext cx="2661309" cy="553998"/>
          </a:xfrm>
          <a:prstGeom prst="rect">
            <a:avLst/>
          </a:prstGeom>
          <a:noFill/>
        </p:spPr>
        <p:txBody>
          <a:bodyPr wrap="square" rtlCol="0">
            <a:spAutoFit/>
          </a:bodyPr>
          <a:lstStyle/>
          <a:p>
            <a:r>
              <a:rPr lang="en-US" altLang="zh-CN" sz="1000">
                <a:cs typeface="Lato Light"/>
              </a:rPr>
              <a:t>The Export function allows users to download the dashboard data for offline review, reporting, and analysis.</a:t>
            </a:r>
          </a:p>
        </p:txBody>
      </p:sp>
      <p:sp>
        <p:nvSpPr>
          <p:cNvPr id="14" name="Oval 112">
            <a:extLst>
              <a:ext uri="{FF2B5EF4-FFF2-40B4-BE49-F238E27FC236}">
                <a16:creationId xmlns:a16="http://schemas.microsoft.com/office/drawing/2014/main" id="{70ECAB5E-D107-269F-8AD8-6FFE4F3F40BA}"/>
              </a:ext>
            </a:extLst>
          </p:cNvPr>
          <p:cNvSpPr/>
          <p:nvPr/>
        </p:nvSpPr>
        <p:spPr>
          <a:xfrm>
            <a:off x="8793964" y="438932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
        <p:nvSpPr>
          <p:cNvPr id="2" name="Oval 111">
            <a:extLst>
              <a:ext uri="{FF2B5EF4-FFF2-40B4-BE49-F238E27FC236}">
                <a16:creationId xmlns:a16="http://schemas.microsoft.com/office/drawing/2014/main" id="{C610290E-A557-20CC-E199-16A6766921D0}"/>
              </a:ext>
            </a:extLst>
          </p:cNvPr>
          <p:cNvSpPr/>
          <p:nvPr/>
        </p:nvSpPr>
        <p:spPr>
          <a:xfrm>
            <a:off x="194753" y="187219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
        <p:nvSpPr>
          <p:cNvPr id="5" name="Oval 112">
            <a:extLst>
              <a:ext uri="{FF2B5EF4-FFF2-40B4-BE49-F238E27FC236}">
                <a16:creationId xmlns:a16="http://schemas.microsoft.com/office/drawing/2014/main" id="{7854CDA3-28C0-338E-7AED-97534C43B7BA}"/>
              </a:ext>
            </a:extLst>
          </p:cNvPr>
          <p:cNvSpPr/>
          <p:nvPr/>
        </p:nvSpPr>
        <p:spPr>
          <a:xfrm>
            <a:off x="7713738" y="1946321"/>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2</a:t>
            </a:r>
          </a:p>
        </p:txBody>
      </p:sp>
    </p:spTree>
    <p:extLst>
      <p:ext uri="{BB962C8B-B14F-4D97-AF65-F5344CB8AC3E}">
        <p14:creationId xmlns:p14="http://schemas.microsoft.com/office/powerpoint/2010/main" val="25333867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p:bldP spid="13" grpId="0"/>
      <p:bldP spid="14" grpId="0" animBg="1"/>
      <p:bldP spid="2"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D2086-0791-B9F9-C8D0-2711FCD83AB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7AAA22-F112-C928-B9D9-8A62C832AF9B}"/>
              </a:ext>
            </a:extLst>
          </p:cNvPr>
          <p:cNvSpPr>
            <a:spLocks noGrp="1"/>
          </p:cNvSpPr>
          <p:nvPr>
            <p:ph type="title"/>
          </p:nvPr>
        </p:nvSpPr>
        <p:spPr>
          <a:xfrm>
            <a:off x="267690" y="1412760"/>
            <a:ext cx="7209879" cy="965108"/>
          </a:xfrm>
        </p:spPr>
        <p:txBody>
          <a:bodyPr/>
          <a:lstStyle/>
          <a:p>
            <a:r>
              <a:rPr lang="en-US" altLang="zh-CN" sz="4800"/>
              <a:t>3. Master Data</a:t>
            </a:r>
            <a:endParaRPr lang="zh-CN" altLang="en-US" sz="4800"/>
          </a:p>
        </p:txBody>
      </p:sp>
      <p:sp>
        <p:nvSpPr>
          <p:cNvPr id="4" name="文本占位符 3">
            <a:extLst>
              <a:ext uri="{FF2B5EF4-FFF2-40B4-BE49-F238E27FC236}">
                <a16:creationId xmlns:a16="http://schemas.microsoft.com/office/drawing/2014/main" id="{D51B6797-3CD3-2EC7-07D1-F786A83319EF}"/>
              </a:ext>
            </a:extLst>
          </p:cNvPr>
          <p:cNvSpPr>
            <a:spLocks noGrp="1"/>
          </p:cNvSpPr>
          <p:nvPr>
            <p:ph type="body" idx="11"/>
          </p:nvPr>
        </p:nvSpPr>
        <p:spPr>
          <a:xfrm>
            <a:off x="750528" y="5517487"/>
            <a:ext cx="6265272" cy="133626"/>
          </a:xfrm>
        </p:spPr>
        <p:txBody>
          <a:bodyPr/>
          <a:lstStyle/>
          <a:p>
            <a:r>
              <a:rPr lang="en-US" altLang="zh-CN" sz="1000"/>
              <a:t>Duration:		</a:t>
            </a:r>
            <a:r>
              <a:rPr lang="en-US" altLang="zh-CN"/>
              <a:t>10</a:t>
            </a:r>
            <a:r>
              <a:rPr lang="en-US" altLang="zh-CN" sz="1000"/>
              <a:t> Minutes</a:t>
            </a:r>
            <a:endParaRPr lang="zh-CN" altLang="en-US" sz="1000"/>
          </a:p>
        </p:txBody>
      </p:sp>
      <p:sp>
        <p:nvSpPr>
          <p:cNvPr id="5" name="文本占位符 4">
            <a:extLst>
              <a:ext uri="{FF2B5EF4-FFF2-40B4-BE49-F238E27FC236}">
                <a16:creationId xmlns:a16="http://schemas.microsoft.com/office/drawing/2014/main" id="{E6C1C784-7567-3B81-CBBE-41FC968E0AD9}"/>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Product Master		- Joy Jiang</a:t>
            </a:r>
          </a:p>
          <a:p>
            <a:pPr marL="171450" indent="-171450">
              <a:lnSpc>
                <a:spcPct val="150000"/>
              </a:lnSpc>
              <a:buFont typeface="Arial" panose="020B0604020202020204" pitchFamily="34" charset="0"/>
              <a:buChar char="•"/>
            </a:pPr>
            <a:r>
              <a:rPr lang="en-US" altLang="zh-CN">
                <a:solidFill>
                  <a:schemeClr val="bg1"/>
                </a:solidFill>
              </a:rPr>
              <a:t>Account Master		- Joy Jiang</a:t>
            </a:r>
            <a:endParaRPr lang="zh-CN" altLang="en-US">
              <a:solidFill>
                <a:schemeClr val="bg1"/>
              </a:solidFill>
            </a:endParaRPr>
          </a:p>
        </p:txBody>
      </p:sp>
    </p:spTree>
    <p:extLst>
      <p:ext uri="{BB962C8B-B14F-4D97-AF65-F5344CB8AC3E}">
        <p14:creationId xmlns:p14="http://schemas.microsoft.com/office/powerpoint/2010/main" val="249836134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3E7ACA-69FD-5BC8-0ABC-3BA5AAE2BD84}"/>
              </a:ext>
            </a:extLst>
          </p:cNvPr>
          <p:cNvSpPr>
            <a:spLocks noGrp="1"/>
          </p:cNvSpPr>
          <p:nvPr>
            <p:ph type="title"/>
          </p:nvPr>
        </p:nvSpPr>
        <p:spPr/>
        <p:txBody>
          <a:bodyPr wrap="square"/>
          <a:lstStyle/>
          <a:p>
            <a:r>
              <a:rPr lang="en-US" altLang="zh-CN">
                <a:latin typeface="+mj-lt"/>
              </a:rPr>
              <a:t>Master Data — Trust the Data Before You Transact</a:t>
            </a:r>
            <a:endParaRPr lang="zh-CN" altLang="en-US">
              <a:latin typeface="+mj-lt"/>
            </a:endParaRPr>
          </a:p>
        </p:txBody>
      </p:sp>
      <p:sp>
        <p:nvSpPr>
          <p:cNvPr id="2" name="Text 2">
            <a:extLst>
              <a:ext uri="{FF2B5EF4-FFF2-40B4-BE49-F238E27FC236}">
                <a16:creationId xmlns:a16="http://schemas.microsoft.com/office/drawing/2014/main" id="{8D3EC9C9-18EE-EEEA-9AFA-4446F2A3E29E}"/>
              </a:ext>
            </a:extLst>
          </p:cNvPr>
          <p:cNvSpPr/>
          <p:nvPr/>
        </p:nvSpPr>
        <p:spPr>
          <a:xfrm>
            <a:off x="356968" y="748486"/>
            <a:ext cx="10881360" cy="310896"/>
          </a:xfrm>
          <a:prstGeom prst="rect">
            <a:avLst/>
          </a:prstGeom>
          <a:noFill/>
          <a:ln/>
        </p:spPr>
        <p:txBody>
          <a:bodyPr wrap="square" lIns="0" tIns="0" rIns="0" bIns="0" rtlCol="0" anchor="ctr">
            <a:normAutofit/>
          </a:bodyPr>
          <a:lstStyle/>
          <a:p>
            <a:pPr marL="0" indent="0" algn="l">
              <a:buNone/>
            </a:pPr>
            <a:r>
              <a:rPr lang="en-US" sz="1200">
                <a:solidFill>
                  <a:srgbClr val="5C6675"/>
                </a:solidFill>
                <a:latin typeface="+mj-lt"/>
                <a:ea typeface="Arial" pitchFamily="34" charset="-122"/>
                <a:cs typeface="Arial" pitchFamily="34" charset="-120"/>
              </a:rPr>
              <a:t>Your starting point for finding, understanding, and safely maintaining the product and account data used across NexBill.</a:t>
            </a:r>
            <a:endParaRPr lang="en-US" sz="1200">
              <a:latin typeface="+mj-lt"/>
            </a:endParaRPr>
          </a:p>
        </p:txBody>
      </p:sp>
      <p:sp>
        <p:nvSpPr>
          <p:cNvPr id="7" name="Shape 3">
            <a:extLst>
              <a:ext uri="{FF2B5EF4-FFF2-40B4-BE49-F238E27FC236}">
                <a16:creationId xmlns:a16="http://schemas.microsoft.com/office/drawing/2014/main" id="{12E8040B-2E1E-4B37-64A7-6E7D9410D5BF}"/>
              </a:ext>
            </a:extLst>
          </p:cNvPr>
          <p:cNvSpPr/>
          <p:nvPr/>
        </p:nvSpPr>
        <p:spPr>
          <a:xfrm>
            <a:off x="356968" y="1203960"/>
            <a:ext cx="10916992" cy="381781"/>
          </a:xfrm>
          <a:prstGeom prst="roundRect">
            <a:avLst>
              <a:gd name="adj" fmla="val 12903"/>
            </a:avLst>
          </a:prstGeom>
          <a:solidFill>
            <a:srgbClr val="EEF4FB"/>
          </a:solidFill>
          <a:ln w="12700">
            <a:solidFill>
              <a:srgbClr val="B8CCE5"/>
            </a:solidFill>
            <a:prstDash val="solid"/>
          </a:ln>
        </p:spPr>
        <p:txBody>
          <a:bodyPr wrap="square"/>
          <a:lstStyle/>
          <a:p>
            <a:endParaRPr lang="zh-CN" altLang="en-US">
              <a:latin typeface="+mj-lt"/>
            </a:endParaRPr>
          </a:p>
        </p:txBody>
      </p:sp>
      <p:sp>
        <p:nvSpPr>
          <p:cNvPr id="8" name="Text 4">
            <a:extLst>
              <a:ext uri="{FF2B5EF4-FFF2-40B4-BE49-F238E27FC236}">
                <a16:creationId xmlns:a16="http://schemas.microsoft.com/office/drawing/2014/main" id="{148382F2-D08C-E63C-4C2B-103B075BBE6F}"/>
              </a:ext>
            </a:extLst>
          </p:cNvPr>
          <p:cNvSpPr/>
          <p:nvPr/>
        </p:nvSpPr>
        <p:spPr>
          <a:xfrm>
            <a:off x="573442" y="1280467"/>
            <a:ext cx="1143000" cy="22860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MESSAGE</a:t>
            </a:r>
            <a:endParaRPr lang="en-US" sz="1100">
              <a:latin typeface="+mj-lt"/>
            </a:endParaRPr>
          </a:p>
        </p:txBody>
      </p:sp>
      <p:sp>
        <p:nvSpPr>
          <p:cNvPr id="10" name="Text 5">
            <a:extLst>
              <a:ext uri="{FF2B5EF4-FFF2-40B4-BE49-F238E27FC236}">
                <a16:creationId xmlns:a16="http://schemas.microsoft.com/office/drawing/2014/main" id="{70FC27AA-6910-EE87-72AA-7CD182AD4CDE}"/>
              </a:ext>
            </a:extLst>
          </p:cNvPr>
          <p:cNvSpPr/>
          <p:nvPr/>
        </p:nvSpPr>
        <p:spPr>
          <a:xfrm>
            <a:off x="1728568" y="1259245"/>
            <a:ext cx="9601200" cy="274320"/>
          </a:xfrm>
          <a:prstGeom prst="rect">
            <a:avLst/>
          </a:prstGeom>
          <a:noFill/>
          <a:ln/>
        </p:spPr>
        <p:txBody>
          <a:bodyPr wrap="square" lIns="0" tIns="0" rIns="0" bIns="0" rtlCol="0" anchor="ctr">
            <a:normAutofit fontScale="92500"/>
          </a:bodyPr>
          <a:lstStyle/>
          <a:p>
            <a:pPr marL="0" indent="0" algn="l">
              <a:buNone/>
            </a:pPr>
            <a:r>
              <a:rPr lang="en-US" sz="1400" b="1">
                <a:solidFill>
                  <a:srgbClr val="0B2D6B"/>
                </a:solidFill>
                <a:latin typeface="+mj-lt"/>
                <a:ea typeface="Arial" pitchFamily="34" charset="-122"/>
                <a:cs typeface="Arial" pitchFamily="34" charset="-120"/>
              </a:rPr>
              <a:t>Search the right master record, confirm its source and readiness, then follow the governed path when a change is needed.</a:t>
            </a:r>
            <a:endParaRPr lang="en-US" sz="1400">
              <a:latin typeface="+mj-lt"/>
            </a:endParaRPr>
          </a:p>
        </p:txBody>
      </p:sp>
      <p:sp>
        <p:nvSpPr>
          <p:cNvPr id="12" name="Shape 6">
            <a:extLst>
              <a:ext uri="{FF2B5EF4-FFF2-40B4-BE49-F238E27FC236}">
                <a16:creationId xmlns:a16="http://schemas.microsoft.com/office/drawing/2014/main" id="{C5B88BCD-721A-725D-7A6C-D872CDEAF96F}"/>
              </a:ext>
            </a:extLst>
          </p:cNvPr>
          <p:cNvSpPr/>
          <p:nvPr/>
        </p:nvSpPr>
        <p:spPr>
          <a:xfrm>
            <a:off x="356968" y="1698420"/>
            <a:ext cx="3337560" cy="2743200"/>
          </a:xfrm>
          <a:prstGeom prst="roundRect">
            <a:avLst>
              <a:gd name="adj" fmla="val 2388"/>
            </a:avLst>
          </a:prstGeom>
          <a:solidFill>
            <a:srgbClr val="F7FAFE"/>
          </a:solidFill>
          <a:ln w="12700">
            <a:solidFill>
              <a:srgbClr val="B8CCE5"/>
            </a:solidFill>
            <a:prstDash val="solid"/>
          </a:ln>
        </p:spPr>
        <p:txBody>
          <a:bodyPr wrap="square"/>
          <a:lstStyle/>
          <a:p>
            <a:endParaRPr lang="zh-CN" altLang="en-US">
              <a:latin typeface="+mj-lt"/>
            </a:endParaRPr>
          </a:p>
        </p:txBody>
      </p:sp>
      <p:sp>
        <p:nvSpPr>
          <p:cNvPr id="14" name="Text 7">
            <a:extLst>
              <a:ext uri="{FF2B5EF4-FFF2-40B4-BE49-F238E27FC236}">
                <a16:creationId xmlns:a16="http://schemas.microsoft.com/office/drawing/2014/main" id="{C60D4875-8FE7-AFE9-E13F-2824FF01B532}"/>
              </a:ext>
            </a:extLst>
          </p:cNvPr>
          <p:cNvSpPr/>
          <p:nvPr/>
        </p:nvSpPr>
        <p:spPr>
          <a:xfrm>
            <a:off x="558136"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1467B8"/>
                </a:solidFill>
                <a:latin typeface="+mj-lt"/>
                <a:ea typeface="Arial" pitchFamily="34" charset="-122"/>
                <a:cs typeface="Arial" pitchFamily="34" charset="-120"/>
              </a:rPr>
              <a:t>1  FIND &amp; UNDERSTAND</a:t>
            </a:r>
            <a:endParaRPr lang="en-US" sz="1400">
              <a:latin typeface="+mj-lt"/>
            </a:endParaRPr>
          </a:p>
        </p:txBody>
      </p:sp>
      <p:sp>
        <p:nvSpPr>
          <p:cNvPr id="24" name="Text 17">
            <a:extLst>
              <a:ext uri="{FF2B5EF4-FFF2-40B4-BE49-F238E27FC236}">
                <a16:creationId xmlns:a16="http://schemas.microsoft.com/office/drawing/2014/main" id="{8BDBB20C-A7E6-8E08-F6F0-EB45010C2C7E}"/>
              </a:ext>
            </a:extLst>
          </p:cNvPr>
          <p:cNvSpPr/>
          <p:nvPr/>
        </p:nvSpPr>
        <p:spPr>
          <a:xfrm>
            <a:off x="612648"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 Search Product and Account Master with flexible criteria and saved searches
• Review product classification, sales, plant, tax, bundle and charge-plan details
• Review account identity, address, tax, relationships and invoice profile</a:t>
            </a:r>
            <a:endParaRPr lang="en-US" sz="1100">
              <a:latin typeface="+mj-lt"/>
            </a:endParaRPr>
          </a:p>
        </p:txBody>
      </p:sp>
      <p:sp>
        <p:nvSpPr>
          <p:cNvPr id="25" name="Shape 18">
            <a:extLst>
              <a:ext uri="{FF2B5EF4-FFF2-40B4-BE49-F238E27FC236}">
                <a16:creationId xmlns:a16="http://schemas.microsoft.com/office/drawing/2014/main" id="{6775DEFE-CDE3-21E5-CC43-53580B272089}"/>
              </a:ext>
            </a:extLst>
          </p:cNvPr>
          <p:cNvSpPr/>
          <p:nvPr/>
        </p:nvSpPr>
        <p:spPr>
          <a:xfrm>
            <a:off x="4146684" y="1698420"/>
            <a:ext cx="3337560" cy="2743200"/>
          </a:xfrm>
          <a:prstGeom prst="roundRect">
            <a:avLst>
              <a:gd name="adj" fmla="val 2388"/>
            </a:avLst>
          </a:prstGeom>
          <a:solidFill>
            <a:srgbClr val="FBFAFE"/>
          </a:solidFill>
          <a:ln w="12700">
            <a:solidFill>
              <a:srgbClr val="D2C5E8"/>
            </a:solidFill>
            <a:prstDash val="solid"/>
          </a:ln>
        </p:spPr>
        <p:txBody>
          <a:bodyPr wrap="square"/>
          <a:lstStyle/>
          <a:p>
            <a:endParaRPr lang="zh-CN" altLang="en-US">
              <a:latin typeface="+mj-lt"/>
            </a:endParaRPr>
          </a:p>
        </p:txBody>
      </p:sp>
      <p:sp>
        <p:nvSpPr>
          <p:cNvPr id="26" name="Text 19">
            <a:extLst>
              <a:ext uri="{FF2B5EF4-FFF2-40B4-BE49-F238E27FC236}">
                <a16:creationId xmlns:a16="http://schemas.microsoft.com/office/drawing/2014/main" id="{F16B4304-9D07-92BF-1CED-5E7122ECA145}"/>
              </a:ext>
            </a:extLst>
          </p:cNvPr>
          <p:cNvSpPr/>
          <p:nvPr/>
        </p:nvSpPr>
        <p:spPr>
          <a:xfrm>
            <a:off x="4347852"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6B3FA0"/>
                </a:solidFill>
                <a:latin typeface="+mj-lt"/>
                <a:ea typeface="Arial" pitchFamily="34" charset="-122"/>
                <a:cs typeface="Arial" pitchFamily="34" charset="-120"/>
              </a:rPr>
              <a:t>2  KNOW THE SOURCE</a:t>
            </a:r>
            <a:endParaRPr lang="en-US" sz="1400">
              <a:latin typeface="+mj-lt"/>
            </a:endParaRPr>
          </a:p>
        </p:txBody>
      </p:sp>
      <p:sp>
        <p:nvSpPr>
          <p:cNvPr id="34" name="Text 26">
            <a:extLst>
              <a:ext uri="{FF2B5EF4-FFF2-40B4-BE49-F238E27FC236}">
                <a16:creationId xmlns:a16="http://schemas.microsoft.com/office/drawing/2014/main" id="{EF052F77-33BC-BF77-092B-F1888A924F28}"/>
              </a:ext>
            </a:extLst>
          </p:cNvPr>
          <p:cNvSpPr/>
          <p:nvPr/>
        </p:nvSpPr>
        <p:spPr>
          <a:xfrm>
            <a:off x="4398264"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 Products: ECC/S4 via LPC; WBD bundles from EPR; SUB* products from PLM
• IaaS usage products need the correct metering type and Charge Plan
• Accounts normally come from Account Service; invoice profiles sync from ServiceNow</a:t>
            </a:r>
            <a:endParaRPr lang="en-US" sz="1100">
              <a:latin typeface="+mj-lt"/>
            </a:endParaRPr>
          </a:p>
        </p:txBody>
      </p:sp>
      <p:sp>
        <p:nvSpPr>
          <p:cNvPr id="35" name="Shape 27">
            <a:extLst>
              <a:ext uri="{FF2B5EF4-FFF2-40B4-BE49-F238E27FC236}">
                <a16:creationId xmlns:a16="http://schemas.microsoft.com/office/drawing/2014/main" id="{D578B627-8840-937B-B526-B15F79AE3D3C}"/>
              </a:ext>
            </a:extLst>
          </p:cNvPr>
          <p:cNvSpPr/>
          <p:nvPr/>
        </p:nvSpPr>
        <p:spPr>
          <a:xfrm>
            <a:off x="7936400" y="1706197"/>
            <a:ext cx="3337560" cy="2743200"/>
          </a:xfrm>
          <a:prstGeom prst="roundRect">
            <a:avLst>
              <a:gd name="adj" fmla="val 2388"/>
            </a:avLst>
          </a:prstGeom>
          <a:solidFill>
            <a:srgbClr val="F8FCF5"/>
          </a:solidFill>
          <a:ln w="12700">
            <a:solidFill>
              <a:srgbClr val="C5DFB4"/>
            </a:solidFill>
            <a:prstDash val="solid"/>
          </a:ln>
        </p:spPr>
        <p:txBody>
          <a:bodyPr wrap="square"/>
          <a:lstStyle/>
          <a:p>
            <a:endParaRPr lang="zh-CN" altLang="en-US">
              <a:latin typeface="+mj-lt"/>
            </a:endParaRPr>
          </a:p>
        </p:txBody>
      </p:sp>
      <p:sp>
        <p:nvSpPr>
          <p:cNvPr id="36" name="Text 28">
            <a:extLst>
              <a:ext uri="{FF2B5EF4-FFF2-40B4-BE49-F238E27FC236}">
                <a16:creationId xmlns:a16="http://schemas.microsoft.com/office/drawing/2014/main" id="{1992E5A8-A434-0966-EDCF-60CC7F87A2A9}"/>
              </a:ext>
            </a:extLst>
          </p:cNvPr>
          <p:cNvSpPr/>
          <p:nvPr/>
        </p:nvSpPr>
        <p:spPr>
          <a:xfrm>
            <a:off x="8137568" y="1870789"/>
            <a:ext cx="2880360" cy="256032"/>
          </a:xfrm>
          <a:prstGeom prst="rect">
            <a:avLst/>
          </a:prstGeom>
          <a:noFill/>
          <a:ln/>
        </p:spPr>
        <p:txBody>
          <a:bodyPr wrap="square" lIns="0" tIns="0" rIns="0" bIns="0" rtlCol="0" anchor="ctr">
            <a:normAutofit/>
          </a:bodyPr>
          <a:lstStyle/>
          <a:p>
            <a:pPr marL="0" indent="0" algn="l">
              <a:buNone/>
            </a:pPr>
            <a:r>
              <a:rPr lang="en-US" sz="1400" b="1">
                <a:solidFill>
                  <a:srgbClr val="4A9B22"/>
                </a:solidFill>
                <a:latin typeface="+mj-lt"/>
                <a:ea typeface="Arial" pitchFamily="34" charset="-122"/>
                <a:cs typeface="Arial" pitchFamily="34" charset="-120"/>
              </a:rPr>
              <a:t>3  ACT WITH CONTROL</a:t>
            </a:r>
            <a:endParaRPr lang="en-US" sz="1400">
              <a:latin typeface="+mj-lt"/>
            </a:endParaRPr>
          </a:p>
        </p:txBody>
      </p:sp>
      <p:sp>
        <p:nvSpPr>
          <p:cNvPr id="43" name="Text 35">
            <a:extLst>
              <a:ext uri="{FF2B5EF4-FFF2-40B4-BE49-F238E27FC236}">
                <a16:creationId xmlns:a16="http://schemas.microsoft.com/office/drawing/2014/main" id="{24E73783-A617-9EB7-B379-D51FF8B0C8C4}"/>
              </a:ext>
            </a:extLst>
          </p:cNvPr>
          <p:cNvSpPr/>
          <p:nvPr/>
        </p:nvSpPr>
        <p:spPr>
          <a:xfrm>
            <a:off x="8183879"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 New, Copy and Pull actions support authorized exception handling
• Edit creates a Change Request and requires approval before data becomes effective
• Change Request and Change History provide status visibility and an audit trail</a:t>
            </a:r>
            <a:endParaRPr lang="en-US" sz="1100">
              <a:latin typeface="+mj-lt"/>
            </a:endParaRPr>
          </a:p>
        </p:txBody>
      </p:sp>
      <p:sp>
        <p:nvSpPr>
          <p:cNvPr id="46" name="Shape 38">
            <a:extLst>
              <a:ext uri="{FF2B5EF4-FFF2-40B4-BE49-F238E27FC236}">
                <a16:creationId xmlns:a16="http://schemas.microsoft.com/office/drawing/2014/main" id="{796CD512-209F-AF0C-385A-E54DF81FCDD2}"/>
              </a:ext>
            </a:extLst>
          </p:cNvPr>
          <p:cNvSpPr/>
          <p:nvPr/>
        </p:nvSpPr>
        <p:spPr>
          <a:xfrm>
            <a:off x="356968" y="4546515"/>
            <a:ext cx="10916992" cy="1887814"/>
          </a:xfrm>
          <a:prstGeom prst="roundRect">
            <a:avLst>
              <a:gd name="adj" fmla="val 6250"/>
            </a:avLst>
          </a:prstGeom>
          <a:solidFill>
            <a:srgbClr val="FFF8EF"/>
          </a:solidFill>
          <a:ln w="12700">
            <a:solidFill>
              <a:srgbClr val="F2C38D"/>
            </a:solidFill>
            <a:prstDash val="solid"/>
          </a:ln>
        </p:spPr>
        <p:txBody>
          <a:bodyPr wrap="square"/>
          <a:lstStyle/>
          <a:p>
            <a:endParaRPr lang="zh-CN" altLang="en-US">
              <a:latin typeface="+mj-lt"/>
            </a:endParaRPr>
          </a:p>
        </p:txBody>
      </p:sp>
      <p:sp>
        <p:nvSpPr>
          <p:cNvPr id="47" name="Text 39">
            <a:extLst>
              <a:ext uri="{FF2B5EF4-FFF2-40B4-BE49-F238E27FC236}">
                <a16:creationId xmlns:a16="http://schemas.microsoft.com/office/drawing/2014/main" id="{43212CD5-F510-5716-D611-FD0E9B42A64D}"/>
              </a:ext>
            </a:extLst>
          </p:cNvPr>
          <p:cNvSpPr/>
          <p:nvPr/>
        </p:nvSpPr>
        <p:spPr>
          <a:xfrm>
            <a:off x="667512" y="5806440"/>
            <a:ext cx="1508760" cy="256032"/>
          </a:xfrm>
          <a:prstGeom prst="rect">
            <a:avLst/>
          </a:prstGeom>
          <a:noFill/>
          <a:ln/>
        </p:spPr>
        <p:txBody>
          <a:bodyPr wrap="square" lIns="0" tIns="0" rIns="0" bIns="0" rtlCol="0" anchor="ctr">
            <a:noAutofit/>
          </a:bodyPr>
          <a:lstStyle/>
          <a:p>
            <a:pPr marL="0" indent="0" algn="l">
              <a:buNone/>
            </a:pPr>
            <a:r>
              <a:rPr lang="en-US" sz="1000" b="1">
                <a:solidFill>
                  <a:srgbClr val="0070C0"/>
                </a:solidFill>
                <a:latin typeface="+mj-lt"/>
                <a:cs typeface="Arial" pitchFamily="34" charset="-120"/>
              </a:rPr>
              <a:t>QUICK ACCESS</a:t>
            </a:r>
          </a:p>
        </p:txBody>
      </p:sp>
      <p:sp>
        <p:nvSpPr>
          <p:cNvPr id="48" name="Text 40">
            <a:extLst>
              <a:ext uri="{FF2B5EF4-FFF2-40B4-BE49-F238E27FC236}">
                <a16:creationId xmlns:a16="http://schemas.microsoft.com/office/drawing/2014/main" id="{9ED07268-E6B6-5D0A-2835-243DCC71CEBC}"/>
              </a:ext>
            </a:extLst>
          </p:cNvPr>
          <p:cNvSpPr/>
          <p:nvPr/>
        </p:nvSpPr>
        <p:spPr>
          <a:xfrm>
            <a:off x="2148840" y="5806440"/>
            <a:ext cx="8641080" cy="256032"/>
          </a:xfrm>
          <a:prstGeom prst="rect">
            <a:avLst/>
          </a:prstGeom>
          <a:noFill/>
          <a:ln/>
        </p:spPr>
        <p:txBody>
          <a:bodyPr wrap="square" lIns="0" tIns="0" rIns="0" bIns="0" rtlCol="0" anchor="ctr">
            <a:normAutofit/>
          </a:bodyPr>
          <a:lstStyle/>
          <a:p>
            <a:pPr algn="ctr"/>
            <a:r>
              <a:rPr lang="en-US" altLang="zh-CN" sz="1200" b="1">
                <a:solidFill>
                  <a:srgbClr val="0070C0"/>
                </a:solidFill>
                <a:ea typeface="Arial" pitchFamily="34" charset="-122"/>
                <a:cs typeface="Arial" pitchFamily="34" charset="-120"/>
              </a:rPr>
              <a:t>Filters  •  Save Search / My Searches  •  Sort &amp; Reorder  •  Detail Tabs  •  Change Request  •  History</a:t>
            </a:r>
            <a:endParaRPr lang="en-US" sz="1200">
              <a:solidFill>
                <a:srgbClr val="0070C0"/>
              </a:solidFill>
              <a:latin typeface="+mj-lt"/>
            </a:endParaRPr>
          </a:p>
        </p:txBody>
      </p:sp>
      <p:sp>
        <p:nvSpPr>
          <p:cNvPr id="63" name="Text 55">
            <a:extLst>
              <a:ext uri="{FF2B5EF4-FFF2-40B4-BE49-F238E27FC236}">
                <a16:creationId xmlns:a16="http://schemas.microsoft.com/office/drawing/2014/main" id="{BB40B536-00AE-2469-7DDA-A3C1BD093C1B}"/>
              </a:ext>
            </a:extLst>
          </p:cNvPr>
          <p:cNvSpPr/>
          <p:nvPr/>
        </p:nvSpPr>
        <p:spPr>
          <a:xfrm>
            <a:off x="556124" y="6443472"/>
            <a:ext cx="10717836" cy="27432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USER RULE  |  If integrated data is wrong, correct it in the source system; use NexBill maintenance only for authorized exceptions. Edits require approval.</a:t>
            </a:r>
            <a:endParaRPr lang="en-US" sz="1100">
              <a:latin typeface="+mj-lt"/>
            </a:endParaRPr>
          </a:p>
        </p:txBody>
      </p:sp>
      <p:sp>
        <p:nvSpPr>
          <p:cNvPr id="4" name="Text 39">
            <a:extLst>
              <a:ext uri="{FF2B5EF4-FFF2-40B4-BE49-F238E27FC236}">
                <a16:creationId xmlns:a16="http://schemas.microsoft.com/office/drawing/2014/main" id="{9212B622-A758-1181-6820-AB465595D928}"/>
              </a:ext>
            </a:extLst>
          </p:cNvPr>
          <p:cNvSpPr/>
          <p:nvPr/>
        </p:nvSpPr>
        <p:spPr>
          <a:xfrm>
            <a:off x="663066" y="4643029"/>
            <a:ext cx="3383280" cy="237744"/>
          </a:xfrm>
          <a:prstGeom prst="rect">
            <a:avLst/>
          </a:prstGeom>
          <a:noFill/>
          <a:ln/>
        </p:spPr>
        <p:txBody>
          <a:bodyPr wrap="square" lIns="0" tIns="0" rIns="0" bIns="0" rtlCol="0" anchor="ctr">
            <a:normAutofit/>
          </a:bodyPr>
          <a:lstStyle/>
          <a:p>
            <a:pPr marL="0" indent="0" algn="l">
              <a:buNone/>
            </a:pPr>
            <a:r>
              <a:rPr lang="en-US" sz="1300" b="1">
                <a:solidFill>
                  <a:srgbClr val="E66A13"/>
                </a:solidFill>
                <a:latin typeface="+mj-lt"/>
                <a:ea typeface="Arial" pitchFamily="34" charset="-122"/>
                <a:cs typeface="Arial" pitchFamily="34" charset="-120"/>
              </a:rPr>
              <a:t>A USER’S MASTER DATA WORKFLOW</a:t>
            </a:r>
            <a:endParaRPr lang="en-US" sz="1300">
              <a:latin typeface="+mj-lt"/>
            </a:endParaRPr>
          </a:p>
        </p:txBody>
      </p:sp>
      <p:sp>
        <p:nvSpPr>
          <p:cNvPr id="6" name="Shape 41">
            <a:extLst>
              <a:ext uri="{FF2B5EF4-FFF2-40B4-BE49-F238E27FC236}">
                <a16:creationId xmlns:a16="http://schemas.microsoft.com/office/drawing/2014/main" id="{6673A0E2-E452-0924-CAE8-8E9F8CD35483}"/>
              </a:ext>
            </a:extLst>
          </p:cNvPr>
          <p:cNvSpPr/>
          <p:nvPr/>
        </p:nvSpPr>
        <p:spPr>
          <a:xfrm>
            <a:off x="786384"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9" name="Text 42">
            <a:extLst>
              <a:ext uri="{FF2B5EF4-FFF2-40B4-BE49-F238E27FC236}">
                <a16:creationId xmlns:a16="http://schemas.microsoft.com/office/drawing/2014/main" id="{EC0A2DD2-BF4C-C15F-A4F1-1187608D6BF9}"/>
              </a:ext>
            </a:extLst>
          </p:cNvPr>
          <p:cNvSpPr/>
          <p:nvPr/>
        </p:nvSpPr>
        <p:spPr>
          <a:xfrm>
            <a:off x="841248"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SEARCH
Find record</a:t>
            </a:r>
            <a:endParaRPr lang="en-US" sz="1000">
              <a:solidFill>
                <a:srgbClr val="126C36"/>
              </a:solidFill>
              <a:latin typeface="+mj-lt"/>
            </a:endParaRPr>
          </a:p>
        </p:txBody>
      </p:sp>
      <p:sp>
        <p:nvSpPr>
          <p:cNvPr id="11" name="Shape 43">
            <a:extLst>
              <a:ext uri="{FF2B5EF4-FFF2-40B4-BE49-F238E27FC236}">
                <a16:creationId xmlns:a16="http://schemas.microsoft.com/office/drawing/2014/main" id="{66E7F336-553F-5078-7A79-C10164B68673}"/>
              </a:ext>
            </a:extLst>
          </p:cNvPr>
          <p:cNvSpPr/>
          <p:nvPr/>
        </p:nvSpPr>
        <p:spPr>
          <a:xfrm>
            <a:off x="2487168"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13" name="Shape 44">
            <a:extLst>
              <a:ext uri="{FF2B5EF4-FFF2-40B4-BE49-F238E27FC236}">
                <a16:creationId xmlns:a16="http://schemas.microsoft.com/office/drawing/2014/main" id="{81E31F32-2913-0D63-2E76-554EFB0570C8}"/>
              </a:ext>
            </a:extLst>
          </p:cNvPr>
          <p:cNvSpPr/>
          <p:nvPr/>
        </p:nvSpPr>
        <p:spPr>
          <a:xfrm>
            <a:off x="2779776"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29" name="Text 45">
            <a:extLst>
              <a:ext uri="{FF2B5EF4-FFF2-40B4-BE49-F238E27FC236}">
                <a16:creationId xmlns:a16="http://schemas.microsoft.com/office/drawing/2014/main" id="{6FAA8040-F8A6-379E-36CE-D54066A47F14}"/>
              </a:ext>
            </a:extLst>
          </p:cNvPr>
          <p:cNvSpPr/>
          <p:nvPr/>
        </p:nvSpPr>
        <p:spPr>
          <a:xfrm>
            <a:off x="2834640" y="4983480"/>
            <a:ext cx="1517904" cy="329184"/>
          </a:xfrm>
          <a:prstGeom prst="rect">
            <a:avLst/>
          </a:prstGeom>
          <a:noFill/>
          <a:ln/>
        </p:spPr>
        <p:txBody>
          <a:bodyPr wrap="square" lIns="0" tIns="0" rIns="0" bIns="0" rtlCol="0" anchor="ctr">
            <a:normAutofit/>
          </a:bodyPr>
          <a:lstStyle/>
          <a:p>
            <a:pPr marL="0" indent="0" algn="ctr">
              <a:buNone/>
            </a:pPr>
            <a:r>
              <a:rPr lang="en-US" sz="1000" b="1" err="1">
                <a:solidFill>
                  <a:srgbClr val="126C36"/>
                </a:solidFill>
                <a:latin typeface="+mj-lt"/>
                <a:ea typeface="Arial" pitchFamily="34" charset="-122"/>
                <a:cs typeface="Arial" pitchFamily="34" charset="-120"/>
              </a:rPr>
              <a:t>REVIEW
Check details</a:t>
            </a:r>
            <a:endParaRPr lang="en-US" sz="1000">
              <a:solidFill>
                <a:srgbClr val="126C36"/>
              </a:solidFill>
              <a:latin typeface="+mj-lt"/>
            </a:endParaRPr>
          </a:p>
        </p:txBody>
      </p:sp>
      <p:sp>
        <p:nvSpPr>
          <p:cNvPr id="64" name="Shape 46">
            <a:extLst>
              <a:ext uri="{FF2B5EF4-FFF2-40B4-BE49-F238E27FC236}">
                <a16:creationId xmlns:a16="http://schemas.microsoft.com/office/drawing/2014/main" id="{A8B5A121-1242-58DE-894A-15E4A52783BA}"/>
              </a:ext>
            </a:extLst>
          </p:cNvPr>
          <p:cNvSpPr/>
          <p:nvPr/>
        </p:nvSpPr>
        <p:spPr>
          <a:xfrm>
            <a:off x="4480560"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65" name="Shape 47">
            <a:extLst>
              <a:ext uri="{FF2B5EF4-FFF2-40B4-BE49-F238E27FC236}">
                <a16:creationId xmlns:a16="http://schemas.microsoft.com/office/drawing/2014/main" id="{A182A138-9C15-8A6B-7995-B34AE7615AC8}"/>
              </a:ext>
            </a:extLst>
          </p:cNvPr>
          <p:cNvSpPr/>
          <p:nvPr/>
        </p:nvSpPr>
        <p:spPr>
          <a:xfrm>
            <a:off x="4773168" y="4928616"/>
            <a:ext cx="1627632" cy="475488"/>
          </a:xfrm>
          <a:prstGeom prst="roundRect">
            <a:avLst>
              <a:gd name="adj" fmla="val 15385"/>
            </a:avLst>
          </a:prstGeom>
          <a:solidFill>
            <a:srgbClr val="FFF0DF"/>
          </a:solidFill>
          <a:ln w="12700">
            <a:solidFill>
              <a:srgbClr val="E6A55B"/>
            </a:solidFill>
            <a:prstDash val="solid"/>
          </a:ln>
        </p:spPr>
        <p:txBody>
          <a:bodyPr wrap="square"/>
          <a:lstStyle/>
          <a:p>
            <a:endParaRPr lang="zh-CN" altLang="en-US">
              <a:latin typeface="+mj-lt"/>
            </a:endParaRPr>
          </a:p>
        </p:txBody>
      </p:sp>
      <p:sp>
        <p:nvSpPr>
          <p:cNvPr id="66" name="Text 48">
            <a:extLst>
              <a:ext uri="{FF2B5EF4-FFF2-40B4-BE49-F238E27FC236}">
                <a16:creationId xmlns:a16="http://schemas.microsoft.com/office/drawing/2014/main" id="{8D64D422-F41A-3151-FADC-C8667ED09B02}"/>
              </a:ext>
            </a:extLst>
          </p:cNvPr>
          <p:cNvSpPr/>
          <p:nvPr/>
        </p:nvSpPr>
        <p:spPr>
          <a:xfrm>
            <a:off x="4828032"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E66A13"/>
                </a:solidFill>
                <a:latin typeface="+mj-lt"/>
                <a:ea typeface="Arial" pitchFamily="34" charset="-122"/>
                <a:cs typeface="Arial" pitchFamily="34" charset="-120"/>
              </a:rPr>
              <a:t>VERIFY
Confirm source</a:t>
            </a:r>
            <a:endParaRPr lang="en-US" sz="1000">
              <a:latin typeface="+mj-lt"/>
            </a:endParaRPr>
          </a:p>
        </p:txBody>
      </p:sp>
      <p:sp>
        <p:nvSpPr>
          <p:cNvPr id="67" name="Shape 49">
            <a:extLst>
              <a:ext uri="{FF2B5EF4-FFF2-40B4-BE49-F238E27FC236}">
                <a16:creationId xmlns:a16="http://schemas.microsoft.com/office/drawing/2014/main" id="{6F609507-B6B0-3A84-DD5C-01DACE205152}"/>
              </a:ext>
            </a:extLst>
          </p:cNvPr>
          <p:cNvSpPr/>
          <p:nvPr/>
        </p:nvSpPr>
        <p:spPr>
          <a:xfrm>
            <a:off x="6473952" y="5010912"/>
            <a:ext cx="219456" cy="310896"/>
          </a:xfrm>
          <a:prstGeom prst="chevron">
            <a:avLst/>
          </a:prstGeom>
          <a:solidFill>
            <a:srgbClr val="E66A13"/>
          </a:solidFill>
          <a:ln w="12700">
            <a:solidFill>
              <a:srgbClr val="E66A13"/>
            </a:solidFill>
            <a:prstDash val="solid"/>
          </a:ln>
        </p:spPr>
        <p:txBody>
          <a:bodyPr wrap="square"/>
          <a:lstStyle/>
          <a:p>
            <a:endParaRPr lang="zh-CN" altLang="en-US">
              <a:latin typeface="+mj-lt"/>
            </a:endParaRPr>
          </a:p>
        </p:txBody>
      </p:sp>
      <p:sp>
        <p:nvSpPr>
          <p:cNvPr id="68" name="Shape 50">
            <a:extLst>
              <a:ext uri="{FF2B5EF4-FFF2-40B4-BE49-F238E27FC236}">
                <a16:creationId xmlns:a16="http://schemas.microsoft.com/office/drawing/2014/main" id="{02C68D20-DE35-D665-2DE9-802F692EAF64}"/>
              </a:ext>
            </a:extLst>
          </p:cNvPr>
          <p:cNvSpPr/>
          <p:nvPr/>
        </p:nvSpPr>
        <p:spPr>
          <a:xfrm>
            <a:off x="6766560"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69" name="Text 51">
            <a:extLst>
              <a:ext uri="{FF2B5EF4-FFF2-40B4-BE49-F238E27FC236}">
                <a16:creationId xmlns:a16="http://schemas.microsoft.com/office/drawing/2014/main" id="{3DFF838A-47B0-9AC2-621A-394FA2A00DAF}"/>
              </a:ext>
            </a:extLst>
          </p:cNvPr>
          <p:cNvSpPr/>
          <p:nvPr/>
        </p:nvSpPr>
        <p:spPr>
          <a:xfrm>
            <a:off x="6821424"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ACT
Submit change</a:t>
            </a:r>
            <a:endParaRPr lang="en-US" sz="1000">
              <a:solidFill>
                <a:srgbClr val="126C36"/>
              </a:solidFill>
              <a:latin typeface="+mj-lt"/>
            </a:endParaRPr>
          </a:p>
        </p:txBody>
      </p:sp>
      <p:sp>
        <p:nvSpPr>
          <p:cNvPr id="70" name="Shape 52">
            <a:extLst>
              <a:ext uri="{FF2B5EF4-FFF2-40B4-BE49-F238E27FC236}">
                <a16:creationId xmlns:a16="http://schemas.microsoft.com/office/drawing/2014/main" id="{E050ED16-6BAF-36F2-A886-2BDBA5E7549B}"/>
              </a:ext>
            </a:extLst>
          </p:cNvPr>
          <p:cNvSpPr/>
          <p:nvPr/>
        </p:nvSpPr>
        <p:spPr>
          <a:xfrm>
            <a:off x="8467344"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71" name="Shape 53">
            <a:extLst>
              <a:ext uri="{FF2B5EF4-FFF2-40B4-BE49-F238E27FC236}">
                <a16:creationId xmlns:a16="http://schemas.microsoft.com/office/drawing/2014/main" id="{7B471988-7E59-F88A-1186-C7C22E64E47C}"/>
              </a:ext>
            </a:extLst>
          </p:cNvPr>
          <p:cNvSpPr/>
          <p:nvPr/>
        </p:nvSpPr>
        <p:spPr>
          <a:xfrm>
            <a:off x="8759952"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72" name="Text 54">
            <a:extLst>
              <a:ext uri="{FF2B5EF4-FFF2-40B4-BE49-F238E27FC236}">
                <a16:creationId xmlns:a16="http://schemas.microsoft.com/office/drawing/2014/main" id="{6FB22D03-C000-FDFF-4C7C-F02C49799769}"/>
              </a:ext>
            </a:extLst>
          </p:cNvPr>
          <p:cNvSpPr/>
          <p:nvPr/>
        </p:nvSpPr>
        <p:spPr>
          <a:xfrm>
            <a:off x="8814816"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TRACK
Follow approval</a:t>
            </a:r>
            <a:endParaRPr lang="en-US" sz="1000">
              <a:solidFill>
                <a:srgbClr val="126C36"/>
              </a:solidFill>
              <a:latin typeface="+mj-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2A52-4A3F-48C4-301C-460C178DA4F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83E7ACA-69FD-5BC8-0ABC-3BA5AAE2BD84}"/>
              </a:ext>
            </a:extLst>
          </p:cNvPr>
          <p:cNvSpPr>
            <a:spLocks noGrp="1"/>
          </p:cNvSpPr>
          <p:nvPr>
            <p:ph type="title"/>
          </p:nvPr>
        </p:nvSpPr>
        <p:spPr/>
        <p:txBody>
          <a:bodyPr/>
          <a:lstStyle/>
          <a:p>
            <a:r>
              <a:rPr lang="en-US" altLang="zh-CN">
                <a:latin typeface="+mj-lt"/>
              </a:rPr>
              <a:t>Product Master - What Key Users Need to Know</a:t>
            </a:r>
            <a:endParaRPr lang="zh-CN" altLang="en-US">
              <a:latin typeface="+mj-lt"/>
            </a:endParaRPr>
          </a:p>
        </p:txBody>
      </p:sp>
      <p:sp>
        <p:nvSpPr>
          <p:cNvPr id="2" name="Text 2">
            <a:extLst>
              <a:ext uri="{FF2B5EF4-FFF2-40B4-BE49-F238E27FC236}">
                <a16:creationId xmlns:a16="http://schemas.microsoft.com/office/drawing/2014/main" id="{8D3EC9C9-18EE-EEEA-9AFA-4446F2A3E29E}"/>
              </a:ext>
            </a:extLst>
          </p:cNvPr>
          <p:cNvSpPr/>
          <p:nvPr/>
        </p:nvSpPr>
        <p:spPr>
          <a:xfrm>
            <a:off x="356968" y="748486"/>
            <a:ext cx="10881360" cy="310896"/>
          </a:xfrm>
          <a:prstGeom prst="rect">
            <a:avLst/>
          </a:prstGeom>
          <a:noFill/>
          <a:ln/>
        </p:spPr>
        <p:txBody>
          <a:bodyPr wrap="square" lIns="0" tIns="0" rIns="0" bIns="0" rtlCol="0" anchor="ctr">
            <a:normAutofit/>
          </a:bodyPr>
          <a:lstStyle/>
          <a:p>
            <a:pPr marL="0" indent="0" algn="l">
              <a:buNone/>
            </a:pPr>
            <a:r>
              <a:rPr lang="en-US" sz="1200">
                <a:solidFill>
                  <a:srgbClr val="5C6675"/>
                </a:solidFill>
                <a:latin typeface="+mj-lt"/>
                <a:ea typeface="Arial" pitchFamily="34" charset="-122"/>
                <a:cs typeface="Arial" pitchFamily="34" charset="-120"/>
              </a:rPr>
              <a:t>Understand where products come from, how they are created in NexBill, and what IaaS products require before EPR use.</a:t>
            </a:r>
            <a:endParaRPr lang="en-US" sz="1200">
              <a:latin typeface="+mj-lt"/>
            </a:endParaRPr>
          </a:p>
        </p:txBody>
      </p:sp>
      <p:sp>
        <p:nvSpPr>
          <p:cNvPr id="7" name="Shape 3">
            <a:extLst>
              <a:ext uri="{FF2B5EF4-FFF2-40B4-BE49-F238E27FC236}">
                <a16:creationId xmlns:a16="http://schemas.microsoft.com/office/drawing/2014/main" id="{12E8040B-2E1E-4B37-64A7-6E7D9410D5BF}"/>
              </a:ext>
            </a:extLst>
          </p:cNvPr>
          <p:cNvSpPr/>
          <p:nvPr/>
        </p:nvSpPr>
        <p:spPr>
          <a:xfrm>
            <a:off x="356968" y="1203960"/>
            <a:ext cx="10916992" cy="381781"/>
          </a:xfrm>
          <a:prstGeom prst="roundRect">
            <a:avLst>
              <a:gd name="adj" fmla="val 12903"/>
            </a:avLst>
          </a:prstGeom>
          <a:solidFill>
            <a:srgbClr val="EEF4FB"/>
          </a:solidFill>
          <a:ln w="12700">
            <a:solidFill>
              <a:srgbClr val="B8CCE5"/>
            </a:solidFill>
            <a:prstDash val="solid"/>
          </a:ln>
        </p:spPr>
        <p:txBody>
          <a:bodyPr/>
          <a:lstStyle/>
          <a:p>
            <a:endParaRPr lang="zh-CN" altLang="en-US">
              <a:latin typeface="+mj-lt"/>
            </a:endParaRPr>
          </a:p>
        </p:txBody>
      </p:sp>
      <p:sp>
        <p:nvSpPr>
          <p:cNvPr id="8" name="Text 4">
            <a:extLst>
              <a:ext uri="{FF2B5EF4-FFF2-40B4-BE49-F238E27FC236}">
                <a16:creationId xmlns:a16="http://schemas.microsoft.com/office/drawing/2014/main" id="{148382F2-D08C-E63C-4C2B-103B075BBE6F}"/>
              </a:ext>
            </a:extLst>
          </p:cNvPr>
          <p:cNvSpPr/>
          <p:nvPr/>
        </p:nvSpPr>
        <p:spPr>
          <a:xfrm>
            <a:off x="573442" y="1280467"/>
            <a:ext cx="1143000" cy="22860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MESSAGE</a:t>
            </a:r>
            <a:endParaRPr lang="en-US" sz="1100">
              <a:latin typeface="+mj-lt"/>
            </a:endParaRPr>
          </a:p>
        </p:txBody>
      </p:sp>
      <p:sp>
        <p:nvSpPr>
          <p:cNvPr id="10" name="Text 5">
            <a:extLst>
              <a:ext uri="{FF2B5EF4-FFF2-40B4-BE49-F238E27FC236}">
                <a16:creationId xmlns:a16="http://schemas.microsoft.com/office/drawing/2014/main" id="{70FC27AA-6910-EE87-72AA-7CD182AD4CDE}"/>
              </a:ext>
            </a:extLst>
          </p:cNvPr>
          <p:cNvSpPr/>
          <p:nvPr/>
        </p:nvSpPr>
        <p:spPr>
          <a:xfrm>
            <a:off x="1728568" y="1259245"/>
            <a:ext cx="9601200" cy="274320"/>
          </a:xfrm>
          <a:prstGeom prst="rect">
            <a:avLst/>
          </a:prstGeom>
          <a:noFill/>
          <a:ln/>
        </p:spPr>
        <p:txBody>
          <a:bodyPr wrap="square" lIns="0" tIns="0" rIns="0" bIns="0" rtlCol="0" anchor="ctr">
            <a:normAutofit/>
          </a:bodyPr>
          <a:lstStyle/>
          <a:p>
            <a:pPr marL="0" indent="0" algn="l">
              <a:buNone/>
            </a:pPr>
            <a:r>
              <a:rPr lang="en-US" sz="1400" b="1">
                <a:solidFill>
                  <a:srgbClr val="0B2D6B"/>
                </a:solidFill>
                <a:latin typeface="+mj-lt"/>
                <a:ea typeface="Arial" pitchFamily="34" charset="-122"/>
                <a:cs typeface="Arial" pitchFamily="34" charset="-120"/>
              </a:rPr>
              <a:t>Different product types follow different source and preparation flows before they can be used in </a:t>
            </a:r>
            <a:r>
              <a:rPr lang="en-US" sz="1400" b="1" err="1">
                <a:solidFill>
                  <a:srgbClr val="0B2D6B"/>
                </a:solidFill>
                <a:latin typeface="+mj-lt"/>
                <a:ea typeface="Arial" pitchFamily="34" charset="-122"/>
                <a:cs typeface="Arial" pitchFamily="34" charset="-120"/>
              </a:rPr>
              <a:t>NexBill</a:t>
            </a:r>
            <a:r>
              <a:rPr lang="en-US" sz="1400" b="1">
                <a:solidFill>
                  <a:srgbClr val="0B2D6B"/>
                </a:solidFill>
                <a:latin typeface="+mj-lt"/>
                <a:ea typeface="Arial" pitchFamily="34" charset="-122"/>
                <a:cs typeface="Arial" pitchFamily="34" charset="-120"/>
              </a:rPr>
              <a:t>.</a:t>
            </a:r>
            <a:endParaRPr lang="en-US" sz="1400">
              <a:latin typeface="+mj-lt"/>
            </a:endParaRPr>
          </a:p>
        </p:txBody>
      </p:sp>
      <p:sp>
        <p:nvSpPr>
          <p:cNvPr id="12" name="Shape 6">
            <a:extLst>
              <a:ext uri="{FF2B5EF4-FFF2-40B4-BE49-F238E27FC236}">
                <a16:creationId xmlns:a16="http://schemas.microsoft.com/office/drawing/2014/main" id="{C5B88BCD-721A-725D-7A6C-D872CDEAF96F}"/>
              </a:ext>
            </a:extLst>
          </p:cNvPr>
          <p:cNvSpPr/>
          <p:nvPr/>
        </p:nvSpPr>
        <p:spPr>
          <a:xfrm>
            <a:off x="356968" y="1698420"/>
            <a:ext cx="3337560" cy="2743200"/>
          </a:xfrm>
          <a:prstGeom prst="roundRect">
            <a:avLst>
              <a:gd name="adj" fmla="val 2388"/>
            </a:avLst>
          </a:prstGeom>
          <a:solidFill>
            <a:srgbClr val="F7FAFE"/>
          </a:solidFill>
          <a:ln w="12700">
            <a:solidFill>
              <a:srgbClr val="B8CCE5"/>
            </a:solidFill>
            <a:prstDash val="solid"/>
          </a:ln>
        </p:spPr>
        <p:txBody>
          <a:bodyPr/>
          <a:lstStyle/>
          <a:p>
            <a:endParaRPr lang="zh-CN" altLang="en-US">
              <a:latin typeface="+mj-lt"/>
            </a:endParaRPr>
          </a:p>
        </p:txBody>
      </p:sp>
      <p:sp>
        <p:nvSpPr>
          <p:cNvPr id="14" name="Text 7">
            <a:extLst>
              <a:ext uri="{FF2B5EF4-FFF2-40B4-BE49-F238E27FC236}">
                <a16:creationId xmlns:a16="http://schemas.microsoft.com/office/drawing/2014/main" id="{C60D4875-8FE7-AFE9-E13F-2824FF01B532}"/>
              </a:ext>
            </a:extLst>
          </p:cNvPr>
          <p:cNvSpPr/>
          <p:nvPr/>
        </p:nvSpPr>
        <p:spPr>
          <a:xfrm>
            <a:off x="558136"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1467B8"/>
                </a:solidFill>
                <a:latin typeface="+mj-lt"/>
                <a:ea typeface="Arial" pitchFamily="34" charset="-122"/>
                <a:cs typeface="Arial" pitchFamily="34" charset="-120"/>
              </a:rPr>
              <a:t>1  NORMAL ECC / S4 PRODUCT</a:t>
            </a:r>
            <a:endParaRPr lang="en-US" sz="1400">
              <a:latin typeface="+mj-lt"/>
            </a:endParaRPr>
          </a:p>
        </p:txBody>
      </p:sp>
      <p:sp>
        <p:nvSpPr>
          <p:cNvPr id="15" name="Shape 8">
            <a:extLst>
              <a:ext uri="{FF2B5EF4-FFF2-40B4-BE49-F238E27FC236}">
                <a16:creationId xmlns:a16="http://schemas.microsoft.com/office/drawing/2014/main" id="{C13C39AB-2079-711E-3936-45382A6EB543}"/>
              </a:ext>
            </a:extLst>
          </p:cNvPr>
          <p:cNvSpPr/>
          <p:nvPr/>
        </p:nvSpPr>
        <p:spPr>
          <a:xfrm>
            <a:off x="704440" y="2320212"/>
            <a:ext cx="1024128" cy="446689"/>
          </a:xfrm>
          <a:prstGeom prst="roundRect">
            <a:avLst>
              <a:gd name="adj" fmla="val 12903"/>
            </a:avLst>
          </a:prstGeom>
          <a:solidFill>
            <a:srgbClr val="E9F2FB"/>
          </a:solidFill>
          <a:ln w="12700">
            <a:solidFill>
              <a:srgbClr val="A8C5E5"/>
            </a:solidFill>
            <a:prstDash val="solid"/>
          </a:ln>
        </p:spPr>
        <p:txBody>
          <a:bodyPr/>
          <a:lstStyle/>
          <a:p>
            <a:endParaRPr lang="zh-CN" altLang="en-US">
              <a:latin typeface="+mj-lt"/>
            </a:endParaRPr>
          </a:p>
        </p:txBody>
      </p:sp>
      <p:sp>
        <p:nvSpPr>
          <p:cNvPr id="16" name="Text 9">
            <a:extLst>
              <a:ext uri="{FF2B5EF4-FFF2-40B4-BE49-F238E27FC236}">
                <a16:creationId xmlns:a16="http://schemas.microsoft.com/office/drawing/2014/main" id="{1649FC8B-3B5F-9246-C05C-56190BDD2A46}"/>
              </a:ext>
            </a:extLst>
          </p:cNvPr>
          <p:cNvSpPr/>
          <p:nvPr/>
        </p:nvSpPr>
        <p:spPr>
          <a:xfrm>
            <a:off x="704440" y="2448228"/>
            <a:ext cx="1024128" cy="201168"/>
          </a:xfrm>
          <a:prstGeom prst="rect">
            <a:avLst/>
          </a:prstGeom>
          <a:noFill/>
          <a:ln/>
        </p:spPr>
        <p:txBody>
          <a:bodyPr wrap="square" lIns="0" tIns="0" rIns="0" bIns="0" rtlCol="0" anchor="ctr">
            <a:normAutofit/>
          </a:bodyPr>
          <a:lstStyle/>
          <a:p>
            <a:pPr marL="0" indent="0" algn="ctr">
              <a:buNone/>
            </a:pPr>
            <a:r>
              <a:rPr lang="en-US" sz="1300" b="1">
                <a:solidFill>
                  <a:srgbClr val="0B2D6B"/>
                </a:solidFill>
                <a:latin typeface="+mj-lt"/>
                <a:ea typeface="Arial" pitchFamily="34" charset="-122"/>
                <a:cs typeface="Arial" pitchFamily="34" charset="-120"/>
              </a:rPr>
              <a:t>ECC / S4</a:t>
            </a:r>
            <a:endParaRPr lang="en-US" sz="1300">
              <a:latin typeface="+mj-lt"/>
            </a:endParaRPr>
          </a:p>
        </p:txBody>
      </p:sp>
      <p:sp>
        <p:nvSpPr>
          <p:cNvPr id="17" name="Shape 10">
            <a:extLst>
              <a:ext uri="{FF2B5EF4-FFF2-40B4-BE49-F238E27FC236}">
                <a16:creationId xmlns:a16="http://schemas.microsoft.com/office/drawing/2014/main" id="{011C4CC6-2A75-B0C6-8CE1-6338BDEA5834}"/>
              </a:ext>
            </a:extLst>
          </p:cNvPr>
          <p:cNvSpPr/>
          <p:nvPr/>
        </p:nvSpPr>
        <p:spPr>
          <a:xfrm>
            <a:off x="1806292" y="2407763"/>
            <a:ext cx="256032" cy="310896"/>
          </a:xfrm>
          <a:prstGeom prst="chevron">
            <a:avLst/>
          </a:prstGeom>
          <a:solidFill>
            <a:srgbClr val="1467B8"/>
          </a:solidFill>
          <a:ln w="12700">
            <a:solidFill>
              <a:srgbClr val="1467B8"/>
            </a:solidFill>
            <a:prstDash val="solid"/>
          </a:ln>
        </p:spPr>
        <p:txBody>
          <a:bodyPr/>
          <a:lstStyle/>
          <a:p>
            <a:endParaRPr lang="zh-CN" altLang="en-US">
              <a:latin typeface="+mj-lt"/>
            </a:endParaRPr>
          </a:p>
        </p:txBody>
      </p:sp>
      <p:sp>
        <p:nvSpPr>
          <p:cNvPr id="18" name="Shape 11">
            <a:extLst>
              <a:ext uri="{FF2B5EF4-FFF2-40B4-BE49-F238E27FC236}">
                <a16:creationId xmlns:a16="http://schemas.microsoft.com/office/drawing/2014/main" id="{9FEE8CB8-D601-28F7-B797-A21DF34CB45E}"/>
              </a:ext>
            </a:extLst>
          </p:cNvPr>
          <p:cNvSpPr/>
          <p:nvPr/>
        </p:nvSpPr>
        <p:spPr>
          <a:xfrm>
            <a:off x="2130904" y="2320212"/>
            <a:ext cx="1005840" cy="446689"/>
          </a:xfrm>
          <a:prstGeom prst="roundRect">
            <a:avLst>
              <a:gd name="adj" fmla="val 12903"/>
            </a:avLst>
          </a:prstGeom>
          <a:solidFill>
            <a:srgbClr val="E9F2FB"/>
          </a:solidFill>
          <a:ln w="12700">
            <a:solidFill>
              <a:srgbClr val="A8C5E5"/>
            </a:solidFill>
            <a:prstDash val="solid"/>
          </a:ln>
        </p:spPr>
        <p:txBody>
          <a:bodyPr/>
          <a:lstStyle/>
          <a:p>
            <a:endParaRPr lang="zh-CN" altLang="en-US">
              <a:latin typeface="+mj-lt"/>
            </a:endParaRPr>
          </a:p>
        </p:txBody>
      </p:sp>
      <p:sp>
        <p:nvSpPr>
          <p:cNvPr id="19" name="Text 12">
            <a:extLst>
              <a:ext uri="{FF2B5EF4-FFF2-40B4-BE49-F238E27FC236}">
                <a16:creationId xmlns:a16="http://schemas.microsoft.com/office/drawing/2014/main" id="{3AC61960-BAD9-A7C8-EE9E-A995A1368E9F}"/>
              </a:ext>
            </a:extLst>
          </p:cNvPr>
          <p:cNvSpPr/>
          <p:nvPr/>
        </p:nvSpPr>
        <p:spPr>
          <a:xfrm>
            <a:off x="2130904" y="2448228"/>
            <a:ext cx="1005840" cy="201168"/>
          </a:xfrm>
          <a:prstGeom prst="rect">
            <a:avLst/>
          </a:prstGeom>
          <a:noFill/>
          <a:ln/>
        </p:spPr>
        <p:txBody>
          <a:bodyPr wrap="square" lIns="0" tIns="0" rIns="0" bIns="0" rtlCol="0" anchor="ctr">
            <a:normAutofit/>
          </a:bodyPr>
          <a:lstStyle/>
          <a:p>
            <a:pPr marL="0" indent="0" algn="ctr">
              <a:buNone/>
            </a:pPr>
            <a:r>
              <a:rPr lang="en-US" sz="1300" b="1">
                <a:solidFill>
                  <a:srgbClr val="0B2D6B"/>
                </a:solidFill>
                <a:latin typeface="+mj-lt"/>
                <a:ea typeface="Arial" pitchFamily="34" charset="-122"/>
                <a:cs typeface="Arial" pitchFamily="34" charset="-120"/>
              </a:rPr>
              <a:t>LPC</a:t>
            </a:r>
            <a:endParaRPr lang="en-US" sz="1300">
              <a:latin typeface="+mj-lt"/>
            </a:endParaRPr>
          </a:p>
        </p:txBody>
      </p:sp>
      <p:sp>
        <p:nvSpPr>
          <p:cNvPr id="20" name="Shape 13">
            <a:extLst>
              <a:ext uri="{FF2B5EF4-FFF2-40B4-BE49-F238E27FC236}">
                <a16:creationId xmlns:a16="http://schemas.microsoft.com/office/drawing/2014/main" id="{C12CBD77-82AC-53C8-E52A-2E9DBDD3BDC6}"/>
              </a:ext>
            </a:extLst>
          </p:cNvPr>
          <p:cNvSpPr/>
          <p:nvPr/>
        </p:nvSpPr>
        <p:spPr>
          <a:xfrm>
            <a:off x="1797148" y="3077902"/>
            <a:ext cx="274320" cy="280416"/>
          </a:xfrm>
          <a:prstGeom prst="chevron">
            <a:avLst/>
          </a:prstGeom>
          <a:solidFill>
            <a:srgbClr val="1467B8"/>
          </a:solidFill>
          <a:ln w="12700">
            <a:solidFill>
              <a:srgbClr val="1467B8"/>
            </a:solidFill>
            <a:prstDash val="solid"/>
          </a:ln>
        </p:spPr>
        <p:txBody>
          <a:bodyPr/>
          <a:lstStyle/>
          <a:p>
            <a:endParaRPr lang="zh-CN" altLang="en-US">
              <a:latin typeface="+mj-lt"/>
            </a:endParaRPr>
          </a:p>
        </p:txBody>
      </p:sp>
      <p:sp>
        <p:nvSpPr>
          <p:cNvPr id="21" name="Text 14">
            <a:extLst>
              <a:ext uri="{FF2B5EF4-FFF2-40B4-BE49-F238E27FC236}">
                <a16:creationId xmlns:a16="http://schemas.microsoft.com/office/drawing/2014/main" id="{495EBA15-E848-683E-E37A-C5894A23DF32}"/>
              </a:ext>
            </a:extLst>
          </p:cNvPr>
          <p:cNvSpPr/>
          <p:nvPr/>
        </p:nvSpPr>
        <p:spPr>
          <a:xfrm>
            <a:off x="763876" y="2840053"/>
            <a:ext cx="2514600" cy="235222"/>
          </a:xfrm>
          <a:prstGeom prst="rect">
            <a:avLst/>
          </a:prstGeom>
          <a:noFill/>
          <a:ln/>
        </p:spPr>
        <p:txBody>
          <a:bodyPr wrap="square" lIns="0" tIns="0" rIns="0" bIns="0" rtlCol="0" anchor="ctr">
            <a:normAutofit/>
          </a:bodyPr>
          <a:lstStyle/>
          <a:p>
            <a:pPr marL="0" indent="0" algn="ctr">
              <a:buNone/>
            </a:pPr>
            <a:r>
              <a:rPr lang="en-US" sz="1000">
                <a:solidFill>
                  <a:srgbClr val="5C6675"/>
                </a:solidFill>
                <a:latin typeface="+mj-lt"/>
                <a:ea typeface="Arial" pitchFamily="34" charset="-122"/>
                <a:cs typeface="Arial" pitchFamily="34" charset="-120"/>
              </a:rPr>
              <a:t>EPR inbound triggers product retrieval</a:t>
            </a:r>
            <a:endParaRPr lang="en-US" sz="1000">
              <a:latin typeface="+mj-lt"/>
            </a:endParaRPr>
          </a:p>
        </p:txBody>
      </p:sp>
      <p:sp>
        <p:nvSpPr>
          <p:cNvPr id="22" name="Shape 15">
            <a:extLst>
              <a:ext uri="{FF2B5EF4-FFF2-40B4-BE49-F238E27FC236}">
                <a16:creationId xmlns:a16="http://schemas.microsoft.com/office/drawing/2014/main" id="{4C5D0B66-DE69-47FC-0E96-6174A8111C71}"/>
              </a:ext>
            </a:extLst>
          </p:cNvPr>
          <p:cNvSpPr/>
          <p:nvPr/>
        </p:nvSpPr>
        <p:spPr>
          <a:xfrm>
            <a:off x="1038196" y="3385750"/>
            <a:ext cx="1965960" cy="471178"/>
          </a:xfrm>
          <a:prstGeom prst="roundRect">
            <a:avLst>
              <a:gd name="adj" fmla="val 11765"/>
            </a:avLst>
          </a:prstGeom>
          <a:solidFill>
            <a:srgbClr val="EAF7F8"/>
          </a:solidFill>
          <a:ln w="12700">
            <a:solidFill>
              <a:srgbClr val="9BD6DB"/>
            </a:solidFill>
            <a:prstDash val="solid"/>
          </a:ln>
        </p:spPr>
        <p:txBody>
          <a:bodyPr/>
          <a:lstStyle/>
          <a:p>
            <a:endParaRPr lang="zh-CN" altLang="en-US">
              <a:latin typeface="+mj-lt"/>
            </a:endParaRPr>
          </a:p>
        </p:txBody>
      </p:sp>
      <p:sp>
        <p:nvSpPr>
          <p:cNvPr id="23" name="Text 16">
            <a:extLst>
              <a:ext uri="{FF2B5EF4-FFF2-40B4-BE49-F238E27FC236}">
                <a16:creationId xmlns:a16="http://schemas.microsoft.com/office/drawing/2014/main" id="{2DA4D6B6-7D18-879F-3935-EBE619FB5F55}"/>
              </a:ext>
            </a:extLst>
          </p:cNvPr>
          <p:cNvSpPr/>
          <p:nvPr/>
        </p:nvSpPr>
        <p:spPr>
          <a:xfrm>
            <a:off x="1038196" y="3504622"/>
            <a:ext cx="1965960" cy="228600"/>
          </a:xfrm>
          <a:prstGeom prst="rect">
            <a:avLst/>
          </a:prstGeom>
          <a:noFill/>
          <a:ln/>
        </p:spPr>
        <p:txBody>
          <a:bodyPr wrap="square" lIns="0" tIns="0" rIns="0" bIns="0" rtlCol="0" anchor="ctr">
            <a:normAutofit/>
          </a:bodyPr>
          <a:lstStyle/>
          <a:p>
            <a:pPr marL="0" indent="0" algn="ctr">
              <a:buNone/>
            </a:pPr>
            <a:r>
              <a:rPr lang="en-US" sz="1300" b="1" err="1">
                <a:solidFill>
                  <a:srgbClr val="00A6B2"/>
                </a:solidFill>
                <a:latin typeface="+mj-lt"/>
                <a:ea typeface="Arial" pitchFamily="34" charset="-122"/>
                <a:cs typeface="Arial" pitchFamily="34" charset="-120"/>
              </a:rPr>
              <a:t>NexBill</a:t>
            </a:r>
            <a:r>
              <a:rPr lang="en-US" sz="1300" b="1">
                <a:solidFill>
                  <a:srgbClr val="00A6B2"/>
                </a:solidFill>
                <a:latin typeface="+mj-lt"/>
                <a:ea typeface="Arial" pitchFamily="34" charset="-122"/>
                <a:cs typeface="Arial" pitchFamily="34" charset="-120"/>
              </a:rPr>
              <a:t> Product Master</a:t>
            </a:r>
            <a:endParaRPr lang="en-US" sz="1300">
              <a:latin typeface="+mj-lt"/>
            </a:endParaRPr>
          </a:p>
        </p:txBody>
      </p:sp>
      <p:sp>
        <p:nvSpPr>
          <p:cNvPr id="24" name="Text 17">
            <a:extLst>
              <a:ext uri="{FF2B5EF4-FFF2-40B4-BE49-F238E27FC236}">
                <a16:creationId xmlns:a16="http://schemas.microsoft.com/office/drawing/2014/main" id="{8BDBB20C-A7E6-8E08-F6F0-EB45010C2C7E}"/>
              </a:ext>
            </a:extLst>
          </p:cNvPr>
          <p:cNvSpPr/>
          <p:nvPr/>
        </p:nvSpPr>
        <p:spPr>
          <a:xfrm>
            <a:off x="654148" y="3961822"/>
            <a:ext cx="2743200" cy="384048"/>
          </a:xfrm>
          <a:prstGeom prst="rect">
            <a:avLst/>
          </a:prstGeom>
          <a:noFill/>
          <a:ln/>
        </p:spPr>
        <p:txBody>
          <a:bodyPr wrap="square" lIns="0" tIns="0" rIns="0" bIns="0" rtlCol="0" anchor="ctr">
            <a:normAutofit/>
          </a:bodyPr>
          <a:lstStyle/>
          <a:p>
            <a:pPr marL="0" indent="0" algn="ctr">
              <a:buNone/>
            </a:pPr>
            <a:r>
              <a:rPr lang="en-US" sz="1100">
                <a:solidFill>
                  <a:srgbClr val="202833"/>
                </a:solidFill>
                <a:latin typeface="+mj-lt"/>
                <a:ea typeface="Arial" pitchFamily="34" charset="-122"/>
                <a:cs typeface="Arial" pitchFamily="34" charset="-120"/>
              </a:rPr>
              <a:t>Created automatically from LPC when required during EPR processing.</a:t>
            </a:r>
            <a:endParaRPr lang="en-US" sz="1100">
              <a:latin typeface="+mj-lt"/>
            </a:endParaRPr>
          </a:p>
        </p:txBody>
      </p:sp>
      <p:sp>
        <p:nvSpPr>
          <p:cNvPr id="25" name="Shape 18">
            <a:extLst>
              <a:ext uri="{FF2B5EF4-FFF2-40B4-BE49-F238E27FC236}">
                <a16:creationId xmlns:a16="http://schemas.microsoft.com/office/drawing/2014/main" id="{6775DEFE-CDE3-21E5-CC43-53580B272089}"/>
              </a:ext>
            </a:extLst>
          </p:cNvPr>
          <p:cNvSpPr/>
          <p:nvPr/>
        </p:nvSpPr>
        <p:spPr>
          <a:xfrm>
            <a:off x="4146684" y="1698420"/>
            <a:ext cx="3337560" cy="2743200"/>
          </a:xfrm>
          <a:prstGeom prst="roundRect">
            <a:avLst>
              <a:gd name="adj" fmla="val 2388"/>
            </a:avLst>
          </a:prstGeom>
          <a:solidFill>
            <a:srgbClr val="FBFAFE"/>
          </a:solidFill>
          <a:ln w="12700">
            <a:solidFill>
              <a:srgbClr val="D2C5E8"/>
            </a:solidFill>
            <a:prstDash val="solid"/>
          </a:ln>
        </p:spPr>
        <p:txBody>
          <a:bodyPr/>
          <a:lstStyle/>
          <a:p>
            <a:endParaRPr lang="zh-CN" altLang="en-US">
              <a:latin typeface="+mj-lt"/>
            </a:endParaRPr>
          </a:p>
        </p:txBody>
      </p:sp>
      <p:sp>
        <p:nvSpPr>
          <p:cNvPr id="26" name="Text 19">
            <a:extLst>
              <a:ext uri="{FF2B5EF4-FFF2-40B4-BE49-F238E27FC236}">
                <a16:creationId xmlns:a16="http://schemas.microsoft.com/office/drawing/2014/main" id="{F16B4304-9D07-92BF-1CED-5E7122ECA145}"/>
              </a:ext>
            </a:extLst>
          </p:cNvPr>
          <p:cNvSpPr/>
          <p:nvPr/>
        </p:nvSpPr>
        <p:spPr>
          <a:xfrm>
            <a:off x="4347852"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6B3FA0"/>
                </a:solidFill>
                <a:latin typeface="+mj-lt"/>
                <a:ea typeface="Arial" pitchFamily="34" charset="-122"/>
                <a:cs typeface="Arial" pitchFamily="34" charset="-120"/>
              </a:rPr>
              <a:t>2  WBD* BUNDLE PRODUCT</a:t>
            </a:r>
            <a:endParaRPr lang="en-US" sz="1400">
              <a:latin typeface="+mj-lt"/>
            </a:endParaRPr>
          </a:p>
        </p:txBody>
      </p:sp>
      <p:sp>
        <p:nvSpPr>
          <p:cNvPr id="27" name="Shape 20">
            <a:extLst>
              <a:ext uri="{FF2B5EF4-FFF2-40B4-BE49-F238E27FC236}">
                <a16:creationId xmlns:a16="http://schemas.microsoft.com/office/drawing/2014/main" id="{08711A16-12E8-FDAC-6E8A-E91FFCDB3F83}"/>
              </a:ext>
            </a:extLst>
          </p:cNvPr>
          <p:cNvSpPr/>
          <p:nvPr/>
        </p:nvSpPr>
        <p:spPr>
          <a:xfrm>
            <a:off x="4722756" y="2320212"/>
            <a:ext cx="2148840" cy="446689"/>
          </a:xfrm>
          <a:prstGeom prst="roundRect">
            <a:avLst>
              <a:gd name="adj" fmla="val 12903"/>
            </a:avLst>
          </a:prstGeom>
          <a:solidFill>
            <a:srgbClr val="F2ECFA"/>
          </a:solidFill>
          <a:ln w="12700">
            <a:solidFill>
              <a:srgbClr val="D2C5E8"/>
            </a:solidFill>
            <a:prstDash val="solid"/>
          </a:ln>
        </p:spPr>
        <p:txBody>
          <a:bodyPr/>
          <a:lstStyle/>
          <a:p>
            <a:endParaRPr lang="zh-CN" altLang="en-US">
              <a:latin typeface="+mj-lt"/>
            </a:endParaRPr>
          </a:p>
        </p:txBody>
      </p:sp>
      <p:sp>
        <p:nvSpPr>
          <p:cNvPr id="28" name="Text 21">
            <a:extLst>
              <a:ext uri="{FF2B5EF4-FFF2-40B4-BE49-F238E27FC236}">
                <a16:creationId xmlns:a16="http://schemas.microsoft.com/office/drawing/2014/main" id="{01248D7B-2881-DA82-89AC-F3F56478F958}"/>
              </a:ext>
            </a:extLst>
          </p:cNvPr>
          <p:cNvSpPr/>
          <p:nvPr/>
        </p:nvSpPr>
        <p:spPr>
          <a:xfrm>
            <a:off x="4722756" y="2448228"/>
            <a:ext cx="2148840" cy="201168"/>
          </a:xfrm>
          <a:prstGeom prst="rect">
            <a:avLst/>
          </a:prstGeom>
          <a:noFill/>
          <a:ln/>
        </p:spPr>
        <p:txBody>
          <a:bodyPr wrap="square" lIns="0" tIns="0" rIns="0" bIns="0" rtlCol="0" anchor="ctr">
            <a:normAutofit/>
          </a:bodyPr>
          <a:lstStyle/>
          <a:p>
            <a:pPr marL="0" indent="0" algn="ctr">
              <a:buNone/>
            </a:pPr>
            <a:r>
              <a:rPr lang="en-US" sz="1300" b="1">
                <a:solidFill>
                  <a:srgbClr val="6B3FA0"/>
                </a:solidFill>
                <a:latin typeface="+mj-lt"/>
                <a:ea typeface="Arial" pitchFamily="34" charset="-122"/>
                <a:cs typeface="Arial" pitchFamily="34" charset="-120"/>
              </a:rPr>
              <a:t>EPR Bundle Structure</a:t>
            </a:r>
            <a:endParaRPr lang="en-US" sz="1300">
              <a:latin typeface="+mj-lt"/>
            </a:endParaRPr>
          </a:p>
        </p:txBody>
      </p:sp>
      <p:sp>
        <p:nvSpPr>
          <p:cNvPr id="30" name="Shape 22">
            <a:extLst>
              <a:ext uri="{FF2B5EF4-FFF2-40B4-BE49-F238E27FC236}">
                <a16:creationId xmlns:a16="http://schemas.microsoft.com/office/drawing/2014/main" id="{8DA29729-75AB-3058-C58E-16DD66E382BB}"/>
              </a:ext>
            </a:extLst>
          </p:cNvPr>
          <p:cNvSpPr/>
          <p:nvPr/>
        </p:nvSpPr>
        <p:spPr>
          <a:xfrm>
            <a:off x="5692034" y="3046896"/>
            <a:ext cx="251445" cy="310896"/>
          </a:xfrm>
          <a:prstGeom prst="chevron">
            <a:avLst/>
          </a:prstGeom>
          <a:solidFill>
            <a:srgbClr val="6B3FA0"/>
          </a:solidFill>
          <a:ln w="12700">
            <a:solidFill>
              <a:srgbClr val="6B3FA0"/>
            </a:solidFill>
            <a:prstDash val="solid"/>
          </a:ln>
        </p:spPr>
        <p:txBody>
          <a:bodyPr/>
          <a:lstStyle/>
          <a:p>
            <a:endParaRPr lang="zh-CN" altLang="en-US">
              <a:latin typeface="+mj-lt"/>
            </a:endParaRPr>
          </a:p>
        </p:txBody>
      </p:sp>
      <p:sp>
        <p:nvSpPr>
          <p:cNvPr id="31" name="Text 23">
            <a:extLst>
              <a:ext uri="{FF2B5EF4-FFF2-40B4-BE49-F238E27FC236}">
                <a16:creationId xmlns:a16="http://schemas.microsoft.com/office/drawing/2014/main" id="{EABE0C43-5418-B0AE-4ACB-B3F73F816597}"/>
              </a:ext>
            </a:extLst>
          </p:cNvPr>
          <p:cNvSpPr/>
          <p:nvPr/>
        </p:nvSpPr>
        <p:spPr>
          <a:xfrm>
            <a:off x="4530732" y="2821765"/>
            <a:ext cx="2560320" cy="235222"/>
          </a:xfrm>
          <a:prstGeom prst="rect">
            <a:avLst/>
          </a:prstGeom>
          <a:noFill/>
          <a:ln/>
        </p:spPr>
        <p:txBody>
          <a:bodyPr wrap="square" lIns="0" tIns="0" rIns="0" bIns="0" rtlCol="0" anchor="ctr">
            <a:normAutofit/>
          </a:bodyPr>
          <a:lstStyle/>
          <a:p>
            <a:pPr marL="0" indent="0" algn="ctr">
              <a:buNone/>
            </a:pPr>
            <a:r>
              <a:rPr lang="en-US" sz="1000">
                <a:solidFill>
                  <a:srgbClr val="5C6675"/>
                </a:solidFill>
                <a:latin typeface="+mj-lt"/>
                <a:ea typeface="Arial" pitchFamily="34" charset="-122"/>
                <a:cs typeface="Arial" pitchFamily="34" charset="-120"/>
              </a:rPr>
              <a:t>WBD bundle detected during EPR inbound</a:t>
            </a:r>
            <a:endParaRPr lang="en-US" sz="1000">
              <a:latin typeface="+mj-lt"/>
            </a:endParaRPr>
          </a:p>
        </p:txBody>
      </p:sp>
      <p:sp>
        <p:nvSpPr>
          <p:cNvPr id="32" name="Shape 24">
            <a:extLst>
              <a:ext uri="{FF2B5EF4-FFF2-40B4-BE49-F238E27FC236}">
                <a16:creationId xmlns:a16="http://schemas.microsoft.com/office/drawing/2014/main" id="{6740730A-BBF1-558D-A3E7-407BA3E87A74}"/>
              </a:ext>
            </a:extLst>
          </p:cNvPr>
          <p:cNvSpPr/>
          <p:nvPr/>
        </p:nvSpPr>
        <p:spPr>
          <a:xfrm>
            <a:off x="4827912" y="3385750"/>
            <a:ext cx="1965960" cy="471178"/>
          </a:xfrm>
          <a:prstGeom prst="roundRect">
            <a:avLst>
              <a:gd name="adj" fmla="val 11765"/>
            </a:avLst>
          </a:prstGeom>
          <a:solidFill>
            <a:srgbClr val="F2ECFA"/>
          </a:solidFill>
          <a:ln w="12700">
            <a:solidFill>
              <a:srgbClr val="D2C5E8"/>
            </a:solidFill>
            <a:prstDash val="solid"/>
          </a:ln>
        </p:spPr>
        <p:txBody>
          <a:bodyPr/>
          <a:lstStyle/>
          <a:p>
            <a:endParaRPr lang="zh-CN" altLang="en-US">
              <a:latin typeface="+mj-lt"/>
            </a:endParaRPr>
          </a:p>
        </p:txBody>
      </p:sp>
      <p:sp>
        <p:nvSpPr>
          <p:cNvPr id="33" name="Text 25">
            <a:extLst>
              <a:ext uri="{FF2B5EF4-FFF2-40B4-BE49-F238E27FC236}">
                <a16:creationId xmlns:a16="http://schemas.microsoft.com/office/drawing/2014/main" id="{5DA60AC7-F7D9-A883-1988-478577BCDE03}"/>
              </a:ext>
            </a:extLst>
          </p:cNvPr>
          <p:cNvSpPr/>
          <p:nvPr/>
        </p:nvSpPr>
        <p:spPr>
          <a:xfrm>
            <a:off x="4832484" y="3518600"/>
            <a:ext cx="1965960" cy="228600"/>
          </a:xfrm>
          <a:prstGeom prst="rect">
            <a:avLst/>
          </a:prstGeom>
          <a:noFill/>
          <a:ln/>
        </p:spPr>
        <p:txBody>
          <a:bodyPr wrap="square" lIns="0" tIns="0" rIns="0" bIns="0" rtlCol="0" anchor="ctr">
            <a:normAutofit/>
          </a:bodyPr>
          <a:lstStyle/>
          <a:p>
            <a:pPr marL="0" indent="0" algn="ctr">
              <a:buNone/>
            </a:pPr>
            <a:r>
              <a:rPr lang="en-US" sz="1300" b="1" err="1">
                <a:solidFill>
                  <a:srgbClr val="6B3FA0"/>
                </a:solidFill>
                <a:latin typeface="+mj-lt"/>
                <a:ea typeface="Arial" pitchFamily="34" charset="-122"/>
                <a:cs typeface="Arial" pitchFamily="34" charset="-120"/>
              </a:rPr>
              <a:t>NexBill</a:t>
            </a:r>
            <a:r>
              <a:rPr lang="en-US" sz="1300" b="1">
                <a:solidFill>
                  <a:srgbClr val="6B3FA0"/>
                </a:solidFill>
                <a:latin typeface="+mj-lt"/>
                <a:ea typeface="Arial" pitchFamily="34" charset="-122"/>
                <a:cs typeface="Arial" pitchFamily="34" charset="-120"/>
              </a:rPr>
              <a:t> Auto Create</a:t>
            </a:r>
            <a:endParaRPr lang="en-US" sz="1300">
              <a:latin typeface="+mj-lt"/>
            </a:endParaRPr>
          </a:p>
        </p:txBody>
      </p:sp>
      <p:sp>
        <p:nvSpPr>
          <p:cNvPr id="34" name="Text 26">
            <a:extLst>
              <a:ext uri="{FF2B5EF4-FFF2-40B4-BE49-F238E27FC236}">
                <a16:creationId xmlns:a16="http://schemas.microsoft.com/office/drawing/2014/main" id="{EF052F77-33BC-BF77-092B-F1888A924F28}"/>
              </a:ext>
            </a:extLst>
          </p:cNvPr>
          <p:cNvSpPr/>
          <p:nvPr/>
        </p:nvSpPr>
        <p:spPr>
          <a:xfrm>
            <a:off x="4416432" y="3980110"/>
            <a:ext cx="2743200" cy="384048"/>
          </a:xfrm>
          <a:prstGeom prst="rect">
            <a:avLst/>
          </a:prstGeom>
          <a:noFill/>
          <a:ln/>
        </p:spPr>
        <p:txBody>
          <a:bodyPr wrap="square" lIns="0" tIns="0" rIns="0" bIns="0" rtlCol="0" anchor="ctr">
            <a:normAutofit/>
          </a:bodyPr>
          <a:lstStyle/>
          <a:p>
            <a:pPr marL="0" indent="0" algn="ctr">
              <a:buNone/>
            </a:pPr>
            <a:r>
              <a:rPr lang="en-US" sz="1100" err="1">
                <a:solidFill>
                  <a:srgbClr val="202833"/>
                </a:solidFill>
                <a:latin typeface="+mj-lt"/>
                <a:ea typeface="Arial" pitchFamily="34" charset="-122"/>
                <a:cs typeface="Arial" pitchFamily="34" charset="-120"/>
              </a:rPr>
              <a:t>NexBill</a:t>
            </a:r>
            <a:r>
              <a:rPr lang="en-US" sz="1100">
                <a:solidFill>
                  <a:srgbClr val="202833"/>
                </a:solidFill>
                <a:latin typeface="+mj-lt"/>
                <a:ea typeface="Arial" pitchFamily="34" charset="-122"/>
                <a:cs typeface="Arial" pitchFamily="34" charset="-120"/>
              </a:rPr>
              <a:t> creates the WBD bundle product from the EPR bundle structure.</a:t>
            </a:r>
            <a:endParaRPr lang="en-US" sz="1100">
              <a:latin typeface="+mj-lt"/>
            </a:endParaRPr>
          </a:p>
        </p:txBody>
      </p:sp>
      <p:sp>
        <p:nvSpPr>
          <p:cNvPr id="35" name="Shape 27">
            <a:extLst>
              <a:ext uri="{FF2B5EF4-FFF2-40B4-BE49-F238E27FC236}">
                <a16:creationId xmlns:a16="http://schemas.microsoft.com/office/drawing/2014/main" id="{D578B627-8840-937B-B526-B15F79AE3D3C}"/>
              </a:ext>
            </a:extLst>
          </p:cNvPr>
          <p:cNvSpPr/>
          <p:nvPr/>
        </p:nvSpPr>
        <p:spPr>
          <a:xfrm>
            <a:off x="7936400" y="1706197"/>
            <a:ext cx="3337560" cy="2743200"/>
          </a:xfrm>
          <a:prstGeom prst="roundRect">
            <a:avLst>
              <a:gd name="adj" fmla="val 2388"/>
            </a:avLst>
          </a:prstGeom>
          <a:solidFill>
            <a:srgbClr val="F8FCF5"/>
          </a:solidFill>
          <a:ln w="12700">
            <a:solidFill>
              <a:srgbClr val="C5DFB4"/>
            </a:solidFill>
            <a:prstDash val="solid"/>
          </a:ln>
        </p:spPr>
        <p:txBody>
          <a:bodyPr/>
          <a:lstStyle/>
          <a:p>
            <a:endParaRPr lang="zh-CN" altLang="en-US">
              <a:latin typeface="+mj-lt"/>
            </a:endParaRPr>
          </a:p>
        </p:txBody>
      </p:sp>
      <p:sp>
        <p:nvSpPr>
          <p:cNvPr id="36" name="Text 28">
            <a:extLst>
              <a:ext uri="{FF2B5EF4-FFF2-40B4-BE49-F238E27FC236}">
                <a16:creationId xmlns:a16="http://schemas.microsoft.com/office/drawing/2014/main" id="{1992E5A8-A434-0966-EDCF-60CC7F87A2A9}"/>
              </a:ext>
            </a:extLst>
          </p:cNvPr>
          <p:cNvSpPr/>
          <p:nvPr/>
        </p:nvSpPr>
        <p:spPr>
          <a:xfrm>
            <a:off x="8137568" y="1870789"/>
            <a:ext cx="2880360" cy="256032"/>
          </a:xfrm>
          <a:prstGeom prst="rect">
            <a:avLst/>
          </a:prstGeom>
          <a:noFill/>
          <a:ln/>
        </p:spPr>
        <p:txBody>
          <a:bodyPr wrap="square" lIns="0" tIns="0" rIns="0" bIns="0" rtlCol="0" anchor="ctr">
            <a:normAutofit/>
          </a:bodyPr>
          <a:lstStyle/>
          <a:p>
            <a:pPr marL="0" indent="0" algn="l">
              <a:buNone/>
            </a:pPr>
            <a:r>
              <a:rPr lang="en-US" sz="1400" b="1">
                <a:solidFill>
                  <a:srgbClr val="4A9B22"/>
                </a:solidFill>
                <a:latin typeface="+mj-lt"/>
                <a:ea typeface="Arial" pitchFamily="34" charset="-122"/>
                <a:cs typeface="Arial" pitchFamily="34" charset="-120"/>
              </a:rPr>
              <a:t>3  SUB* PRODUCT</a:t>
            </a:r>
            <a:endParaRPr lang="en-US" sz="1400">
              <a:latin typeface="+mj-lt"/>
            </a:endParaRPr>
          </a:p>
        </p:txBody>
      </p:sp>
      <p:sp>
        <p:nvSpPr>
          <p:cNvPr id="37" name="Shape 29">
            <a:extLst>
              <a:ext uri="{FF2B5EF4-FFF2-40B4-BE49-F238E27FC236}">
                <a16:creationId xmlns:a16="http://schemas.microsoft.com/office/drawing/2014/main" id="{7EC0E96D-C6BC-C14B-7F9C-5EFF478AF34C}"/>
              </a:ext>
            </a:extLst>
          </p:cNvPr>
          <p:cNvSpPr/>
          <p:nvPr/>
        </p:nvSpPr>
        <p:spPr>
          <a:xfrm>
            <a:off x="8137568" y="2327989"/>
            <a:ext cx="717487" cy="438912"/>
          </a:xfrm>
          <a:prstGeom prst="roundRect">
            <a:avLst>
              <a:gd name="adj" fmla="val 12903"/>
            </a:avLst>
          </a:prstGeom>
          <a:solidFill>
            <a:srgbClr val="EEF7E8"/>
          </a:solidFill>
          <a:ln w="12700">
            <a:solidFill>
              <a:srgbClr val="C5DFB4"/>
            </a:solidFill>
            <a:prstDash val="solid"/>
          </a:ln>
        </p:spPr>
        <p:txBody>
          <a:bodyPr/>
          <a:lstStyle/>
          <a:p>
            <a:endParaRPr lang="zh-CN" altLang="en-US">
              <a:latin typeface="+mj-lt"/>
            </a:endParaRPr>
          </a:p>
        </p:txBody>
      </p:sp>
      <p:sp>
        <p:nvSpPr>
          <p:cNvPr id="38" name="Text 30">
            <a:extLst>
              <a:ext uri="{FF2B5EF4-FFF2-40B4-BE49-F238E27FC236}">
                <a16:creationId xmlns:a16="http://schemas.microsoft.com/office/drawing/2014/main" id="{6D38E320-DA06-977D-52BC-BF1EBE0D45BA}"/>
              </a:ext>
            </a:extLst>
          </p:cNvPr>
          <p:cNvSpPr/>
          <p:nvPr/>
        </p:nvSpPr>
        <p:spPr>
          <a:xfrm>
            <a:off x="8137568" y="2456005"/>
            <a:ext cx="696491" cy="176842"/>
          </a:xfrm>
          <a:prstGeom prst="rect">
            <a:avLst/>
          </a:prstGeom>
          <a:noFill/>
          <a:ln/>
        </p:spPr>
        <p:txBody>
          <a:bodyPr wrap="square" lIns="0" tIns="0" rIns="0" bIns="0" rtlCol="0" anchor="ctr">
            <a:normAutofit fontScale="92500" lnSpcReduction="10000"/>
          </a:bodyPr>
          <a:lstStyle/>
          <a:p>
            <a:pPr marL="0" indent="0" algn="ctr">
              <a:buNone/>
            </a:pPr>
            <a:r>
              <a:rPr lang="en-US" sz="1300" b="1">
                <a:solidFill>
                  <a:srgbClr val="4A9B22"/>
                </a:solidFill>
                <a:latin typeface="+mj-lt"/>
                <a:ea typeface="Arial" pitchFamily="34" charset="-122"/>
                <a:cs typeface="Arial" pitchFamily="34" charset="-120"/>
              </a:rPr>
              <a:t>PLM</a:t>
            </a:r>
            <a:endParaRPr lang="en-US" sz="1300">
              <a:latin typeface="+mj-lt"/>
            </a:endParaRPr>
          </a:p>
        </p:txBody>
      </p:sp>
      <p:sp>
        <p:nvSpPr>
          <p:cNvPr id="39" name="Shape 31">
            <a:extLst>
              <a:ext uri="{FF2B5EF4-FFF2-40B4-BE49-F238E27FC236}">
                <a16:creationId xmlns:a16="http://schemas.microsoft.com/office/drawing/2014/main" id="{88194190-90A3-99E8-DF64-E19CF86852E7}"/>
              </a:ext>
            </a:extLst>
          </p:cNvPr>
          <p:cNvSpPr/>
          <p:nvPr/>
        </p:nvSpPr>
        <p:spPr>
          <a:xfrm>
            <a:off x="8937575" y="2404402"/>
            <a:ext cx="256032" cy="310896"/>
          </a:xfrm>
          <a:prstGeom prst="chevron">
            <a:avLst/>
          </a:prstGeom>
          <a:solidFill>
            <a:srgbClr val="4A9B22"/>
          </a:solidFill>
          <a:ln w="12700">
            <a:solidFill>
              <a:srgbClr val="4A9B22"/>
            </a:solidFill>
            <a:prstDash val="solid"/>
          </a:ln>
        </p:spPr>
        <p:txBody>
          <a:bodyPr/>
          <a:lstStyle/>
          <a:p>
            <a:endParaRPr lang="zh-CN" altLang="en-US">
              <a:latin typeface="+mj-lt"/>
            </a:endParaRPr>
          </a:p>
        </p:txBody>
      </p:sp>
      <p:sp>
        <p:nvSpPr>
          <p:cNvPr id="40" name="Shape 32">
            <a:extLst>
              <a:ext uri="{FF2B5EF4-FFF2-40B4-BE49-F238E27FC236}">
                <a16:creationId xmlns:a16="http://schemas.microsoft.com/office/drawing/2014/main" id="{B47CDF52-143C-7C02-9FA2-5FFFA6375585}"/>
              </a:ext>
            </a:extLst>
          </p:cNvPr>
          <p:cNvSpPr/>
          <p:nvPr/>
        </p:nvSpPr>
        <p:spPr>
          <a:xfrm>
            <a:off x="9262819" y="2333667"/>
            <a:ext cx="653706" cy="438912"/>
          </a:xfrm>
          <a:prstGeom prst="roundRect">
            <a:avLst>
              <a:gd name="adj" fmla="val 12903"/>
            </a:avLst>
          </a:prstGeom>
          <a:solidFill>
            <a:srgbClr val="EEF7E8"/>
          </a:solidFill>
          <a:ln w="12700">
            <a:solidFill>
              <a:srgbClr val="C5DFB4"/>
            </a:solidFill>
            <a:prstDash val="solid"/>
          </a:ln>
        </p:spPr>
        <p:txBody>
          <a:bodyPr/>
          <a:lstStyle/>
          <a:p>
            <a:endParaRPr lang="zh-CN" altLang="en-US">
              <a:latin typeface="+mj-lt"/>
            </a:endParaRPr>
          </a:p>
        </p:txBody>
      </p:sp>
      <p:sp>
        <p:nvSpPr>
          <p:cNvPr id="41" name="Text 33">
            <a:extLst>
              <a:ext uri="{FF2B5EF4-FFF2-40B4-BE49-F238E27FC236}">
                <a16:creationId xmlns:a16="http://schemas.microsoft.com/office/drawing/2014/main" id="{4C47A287-958F-16CA-9C80-D477B80B8C2B}"/>
              </a:ext>
            </a:extLst>
          </p:cNvPr>
          <p:cNvSpPr/>
          <p:nvPr/>
        </p:nvSpPr>
        <p:spPr>
          <a:xfrm>
            <a:off x="9262819" y="2461683"/>
            <a:ext cx="653706" cy="177625"/>
          </a:xfrm>
          <a:prstGeom prst="rect">
            <a:avLst/>
          </a:prstGeom>
          <a:noFill/>
          <a:ln/>
        </p:spPr>
        <p:txBody>
          <a:bodyPr wrap="square" lIns="0" tIns="0" rIns="0" bIns="0" rtlCol="0" anchor="ctr">
            <a:normAutofit fontScale="92500" lnSpcReduction="10000"/>
          </a:bodyPr>
          <a:lstStyle/>
          <a:p>
            <a:pPr marL="0" indent="0" algn="ctr">
              <a:buNone/>
            </a:pPr>
            <a:r>
              <a:rPr lang="en-US" sz="1300" b="1" err="1">
                <a:solidFill>
                  <a:srgbClr val="4A9B22"/>
                </a:solidFill>
                <a:latin typeface="+mj-lt"/>
                <a:ea typeface="Arial" pitchFamily="34" charset="-122"/>
                <a:cs typeface="Arial" pitchFamily="34" charset="-120"/>
              </a:rPr>
              <a:t>NexBill</a:t>
            </a:r>
            <a:endParaRPr lang="en-US" sz="1300">
              <a:latin typeface="+mj-lt"/>
            </a:endParaRPr>
          </a:p>
        </p:txBody>
      </p:sp>
      <p:sp>
        <p:nvSpPr>
          <p:cNvPr id="42" name="Text 34">
            <a:extLst>
              <a:ext uri="{FF2B5EF4-FFF2-40B4-BE49-F238E27FC236}">
                <a16:creationId xmlns:a16="http://schemas.microsoft.com/office/drawing/2014/main" id="{68B03C24-55CC-BD89-94FC-58DC723957AE}"/>
              </a:ext>
            </a:extLst>
          </p:cNvPr>
          <p:cNvSpPr/>
          <p:nvPr/>
        </p:nvSpPr>
        <p:spPr>
          <a:xfrm>
            <a:off x="8466752" y="2840053"/>
            <a:ext cx="2331720" cy="193712"/>
          </a:xfrm>
          <a:prstGeom prst="rect">
            <a:avLst/>
          </a:prstGeom>
          <a:noFill/>
          <a:ln/>
        </p:spPr>
        <p:txBody>
          <a:bodyPr wrap="square" lIns="0" tIns="0" rIns="0" bIns="0" rtlCol="0" anchor="ctr">
            <a:normAutofit/>
          </a:bodyPr>
          <a:lstStyle/>
          <a:p>
            <a:pPr marL="0" indent="0" algn="ctr">
              <a:buNone/>
            </a:pPr>
            <a:r>
              <a:rPr lang="en-US" sz="1000">
                <a:solidFill>
                  <a:srgbClr val="5C6675"/>
                </a:solidFill>
                <a:latin typeface="+mj-lt"/>
                <a:ea typeface="Arial" pitchFamily="34" charset="-122"/>
                <a:cs typeface="Arial" pitchFamily="34" charset="-120"/>
              </a:rPr>
              <a:t>Created before EPR</a:t>
            </a:r>
            <a:endParaRPr lang="en-US" sz="1000">
              <a:latin typeface="+mj-lt"/>
            </a:endParaRPr>
          </a:p>
        </p:txBody>
      </p:sp>
      <p:sp>
        <p:nvSpPr>
          <p:cNvPr id="43" name="Text 35">
            <a:extLst>
              <a:ext uri="{FF2B5EF4-FFF2-40B4-BE49-F238E27FC236}">
                <a16:creationId xmlns:a16="http://schemas.microsoft.com/office/drawing/2014/main" id="{24E73783-A617-9EB7-B379-D51FF8B0C8C4}"/>
              </a:ext>
            </a:extLst>
          </p:cNvPr>
          <p:cNvSpPr/>
          <p:nvPr/>
        </p:nvSpPr>
        <p:spPr>
          <a:xfrm>
            <a:off x="8229008" y="3044482"/>
            <a:ext cx="2743200" cy="457200"/>
          </a:xfrm>
          <a:prstGeom prst="rect">
            <a:avLst/>
          </a:prstGeom>
          <a:noFill/>
          <a:ln/>
        </p:spPr>
        <p:txBody>
          <a:bodyPr wrap="square" lIns="0" tIns="0" rIns="0" bIns="0" rtlCol="0" anchor="ctr">
            <a:normAutofit/>
          </a:bodyPr>
          <a:lstStyle/>
          <a:p>
            <a:pPr marL="0" indent="0" algn="ctr">
              <a:buNone/>
            </a:pPr>
            <a:r>
              <a:rPr lang="en-US" sz="1100">
                <a:solidFill>
                  <a:srgbClr val="202833"/>
                </a:solidFill>
                <a:latin typeface="+mj-lt"/>
                <a:ea typeface="Arial" pitchFamily="34" charset="-122"/>
                <a:cs typeface="Arial" pitchFamily="34" charset="-120"/>
              </a:rPr>
              <a:t>PLM sends SUB* products to </a:t>
            </a:r>
            <a:r>
              <a:rPr lang="en-US" sz="1100" err="1">
                <a:solidFill>
                  <a:srgbClr val="202833"/>
                </a:solidFill>
                <a:latin typeface="+mj-lt"/>
                <a:ea typeface="Arial" pitchFamily="34" charset="-122"/>
                <a:cs typeface="Arial" pitchFamily="34" charset="-120"/>
              </a:rPr>
              <a:t>NexBill</a:t>
            </a:r>
            <a:r>
              <a:rPr lang="en-US" sz="1100">
                <a:solidFill>
                  <a:srgbClr val="202833"/>
                </a:solidFill>
                <a:latin typeface="+mj-lt"/>
                <a:ea typeface="Arial" pitchFamily="34" charset="-122"/>
                <a:cs typeface="Arial" pitchFamily="34" charset="-120"/>
              </a:rPr>
              <a:t> before the EPR is generated.</a:t>
            </a:r>
            <a:endParaRPr lang="en-US" sz="1100">
              <a:latin typeface="+mj-lt"/>
            </a:endParaRPr>
          </a:p>
        </p:txBody>
      </p:sp>
      <p:sp>
        <p:nvSpPr>
          <p:cNvPr id="44" name="Shape 36">
            <a:extLst>
              <a:ext uri="{FF2B5EF4-FFF2-40B4-BE49-F238E27FC236}">
                <a16:creationId xmlns:a16="http://schemas.microsoft.com/office/drawing/2014/main" id="{BF5D672F-36D6-80BC-330C-DD6F1711398A}"/>
              </a:ext>
            </a:extLst>
          </p:cNvPr>
          <p:cNvSpPr/>
          <p:nvPr/>
        </p:nvSpPr>
        <p:spPr>
          <a:xfrm>
            <a:off x="8466752" y="3541198"/>
            <a:ext cx="2331720" cy="438912"/>
          </a:xfrm>
          <a:prstGeom prst="roundRect">
            <a:avLst>
              <a:gd name="adj" fmla="val 16667"/>
            </a:avLst>
          </a:prstGeom>
          <a:solidFill>
            <a:srgbClr val="EEF7E8"/>
          </a:solidFill>
          <a:ln w="12700">
            <a:solidFill>
              <a:srgbClr val="C5DFB4"/>
            </a:solidFill>
            <a:prstDash val="solid"/>
          </a:ln>
        </p:spPr>
        <p:txBody>
          <a:bodyPr/>
          <a:lstStyle/>
          <a:p>
            <a:endParaRPr lang="zh-CN" altLang="en-US">
              <a:latin typeface="+mj-lt"/>
            </a:endParaRPr>
          </a:p>
        </p:txBody>
      </p:sp>
      <p:sp>
        <p:nvSpPr>
          <p:cNvPr id="45" name="Text 37">
            <a:extLst>
              <a:ext uri="{FF2B5EF4-FFF2-40B4-BE49-F238E27FC236}">
                <a16:creationId xmlns:a16="http://schemas.microsoft.com/office/drawing/2014/main" id="{1D8F1583-9D20-6AB9-71A4-823F868AB5B9}"/>
              </a:ext>
            </a:extLst>
          </p:cNvPr>
          <p:cNvSpPr/>
          <p:nvPr/>
        </p:nvSpPr>
        <p:spPr>
          <a:xfrm>
            <a:off x="8466752" y="3641782"/>
            <a:ext cx="2331720" cy="182880"/>
          </a:xfrm>
          <a:prstGeom prst="rect">
            <a:avLst/>
          </a:prstGeom>
          <a:noFill/>
          <a:ln/>
        </p:spPr>
        <p:txBody>
          <a:bodyPr wrap="square" lIns="0" tIns="0" rIns="0" bIns="0" rtlCol="0" anchor="ctr">
            <a:normAutofit/>
          </a:bodyPr>
          <a:lstStyle/>
          <a:p>
            <a:pPr marL="0" indent="0" algn="ctr">
              <a:buNone/>
            </a:pPr>
            <a:r>
              <a:rPr lang="en-US" sz="1200" b="1">
                <a:solidFill>
                  <a:srgbClr val="4A9B22"/>
                </a:solidFill>
                <a:latin typeface="+mj-lt"/>
                <a:ea typeface="Arial" pitchFamily="34" charset="-122"/>
                <a:cs typeface="Arial" pitchFamily="34" charset="-120"/>
              </a:rPr>
              <a:t>Available for EPR use</a:t>
            </a:r>
            <a:endParaRPr lang="en-US" sz="1200">
              <a:latin typeface="+mj-lt"/>
            </a:endParaRPr>
          </a:p>
        </p:txBody>
      </p:sp>
      <p:sp>
        <p:nvSpPr>
          <p:cNvPr id="46" name="Shape 38">
            <a:extLst>
              <a:ext uri="{FF2B5EF4-FFF2-40B4-BE49-F238E27FC236}">
                <a16:creationId xmlns:a16="http://schemas.microsoft.com/office/drawing/2014/main" id="{796CD512-209F-AF0C-385A-E54DF81FCDD2}"/>
              </a:ext>
            </a:extLst>
          </p:cNvPr>
          <p:cNvSpPr/>
          <p:nvPr/>
        </p:nvSpPr>
        <p:spPr>
          <a:xfrm>
            <a:off x="356968" y="4546515"/>
            <a:ext cx="10916992" cy="1887814"/>
          </a:xfrm>
          <a:prstGeom prst="roundRect">
            <a:avLst>
              <a:gd name="adj" fmla="val 6250"/>
            </a:avLst>
          </a:prstGeom>
          <a:solidFill>
            <a:srgbClr val="FFF8EF"/>
          </a:solidFill>
          <a:ln w="12700">
            <a:solidFill>
              <a:srgbClr val="F2C38D"/>
            </a:solidFill>
            <a:prstDash val="solid"/>
          </a:ln>
        </p:spPr>
        <p:txBody>
          <a:bodyPr/>
          <a:lstStyle/>
          <a:p>
            <a:endParaRPr lang="zh-CN" altLang="en-US">
              <a:latin typeface="+mj-lt"/>
            </a:endParaRPr>
          </a:p>
        </p:txBody>
      </p:sp>
      <p:sp>
        <p:nvSpPr>
          <p:cNvPr id="47" name="Text 39">
            <a:extLst>
              <a:ext uri="{FF2B5EF4-FFF2-40B4-BE49-F238E27FC236}">
                <a16:creationId xmlns:a16="http://schemas.microsoft.com/office/drawing/2014/main" id="{43212CD5-F510-5716-D611-FD0E9B42A64D}"/>
              </a:ext>
            </a:extLst>
          </p:cNvPr>
          <p:cNvSpPr/>
          <p:nvPr/>
        </p:nvSpPr>
        <p:spPr>
          <a:xfrm>
            <a:off x="663066" y="5575742"/>
            <a:ext cx="3383280" cy="251621"/>
          </a:xfrm>
          <a:prstGeom prst="rect">
            <a:avLst/>
          </a:prstGeom>
          <a:noFill/>
          <a:ln/>
        </p:spPr>
        <p:txBody>
          <a:bodyPr wrap="square" lIns="0" tIns="0" rIns="0" bIns="0" rtlCol="0" anchor="ctr">
            <a:noAutofit/>
          </a:bodyPr>
          <a:lstStyle/>
          <a:p>
            <a:pPr marL="0" indent="0" algn="l">
              <a:buNone/>
            </a:pPr>
            <a:r>
              <a:rPr lang="en-US" sz="1000" b="1">
                <a:solidFill>
                  <a:srgbClr val="0070C0"/>
                </a:solidFill>
                <a:latin typeface="+mj-lt"/>
                <a:cs typeface="Arial" pitchFamily="34" charset="-120"/>
              </a:rPr>
              <a:t>IaaS </a:t>
            </a:r>
            <a:r>
              <a:rPr lang="en-US" altLang="zh-CN" sz="1000" b="1">
                <a:solidFill>
                  <a:srgbClr val="0070C0"/>
                </a:solidFill>
                <a:latin typeface="+mj-lt"/>
                <a:cs typeface="Arial" pitchFamily="34" charset="-120"/>
              </a:rPr>
              <a:t>Product without Charge Plan</a:t>
            </a:r>
            <a:r>
              <a:rPr lang="en-US" sz="1000" b="1">
                <a:solidFill>
                  <a:srgbClr val="0070C0"/>
                </a:solidFill>
                <a:latin typeface="+mj-lt"/>
                <a:cs typeface="Arial" pitchFamily="34" charset="-120"/>
              </a:rPr>
              <a:t>  |  SUB* + Fix Metering</a:t>
            </a:r>
          </a:p>
        </p:txBody>
      </p:sp>
      <p:sp>
        <p:nvSpPr>
          <p:cNvPr id="48" name="Text 40">
            <a:extLst>
              <a:ext uri="{FF2B5EF4-FFF2-40B4-BE49-F238E27FC236}">
                <a16:creationId xmlns:a16="http://schemas.microsoft.com/office/drawing/2014/main" id="{9ED07268-E6B6-5D0A-2835-243DCC71CEBC}"/>
              </a:ext>
            </a:extLst>
          </p:cNvPr>
          <p:cNvSpPr/>
          <p:nvPr/>
        </p:nvSpPr>
        <p:spPr>
          <a:xfrm>
            <a:off x="4684321" y="5593093"/>
            <a:ext cx="1566178" cy="210311"/>
          </a:xfrm>
          <a:prstGeom prst="rect">
            <a:avLst/>
          </a:prstGeom>
          <a:noFill/>
          <a:ln/>
        </p:spPr>
        <p:txBody>
          <a:bodyPr wrap="square" lIns="0" tIns="0" rIns="0" bIns="0" rtlCol="0" anchor="ctr">
            <a:normAutofit/>
          </a:bodyPr>
          <a:lstStyle/>
          <a:p>
            <a:pPr algn="ctr"/>
            <a:r>
              <a:rPr lang="en-US" altLang="zh-CN" sz="1200" b="1">
                <a:solidFill>
                  <a:srgbClr val="0070C0"/>
                </a:solidFill>
                <a:ea typeface="Arial" pitchFamily="34" charset="-122"/>
                <a:cs typeface="Arial" pitchFamily="34" charset="-120"/>
              </a:rPr>
              <a:t>POWERFIX •  FIX</a:t>
            </a:r>
            <a:endParaRPr lang="en-US" sz="1200">
              <a:solidFill>
                <a:srgbClr val="0070C0"/>
              </a:solidFill>
              <a:latin typeface="+mj-lt"/>
            </a:endParaRPr>
          </a:p>
        </p:txBody>
      </p:sp>
      <p:sp>
        <p:nvSpPr>
          <p:cNvPr id="49" name="Shape 41">
            <a:extLst>
              <a:ext uri="{FF2B5EF4-FFF2-40B4-BE49-F238E27FC236}">
                <a16:creationId xmlns:a16="http://schemas.microsoft.com/office/drawing/2014/main" id="{C9D479C0-54B6-CDFD-BB13-D8DE326BB13D}"/>
              </a:ext>
            </a:extLst>
          </p:cNvPr>
          <p:cNvSpPr/>
          <p:nvPr/>
        </p:nvSpPr>
        <p:spPr>
          <a:xfrm>
            <a:off x="791308" y="5882537"/>
            <a:ext cx="1627632" cy="393192"/>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50" name="Text 42">
            <a:extLst>
              <a:ext uri="{FF2B5EF4-FFF2-40B4-BE49-F238E27FC236}">
                <a16:creationId xmlns:a16="http://schemas.microsoft.com/office/drawing/2014/main" id="{DE748392-E236-16DC-C49A-46CD732154E3}"/>
              </a:ext>
            </a:extLst>
          </p:cNvPr>
          <p:cNvSpPr/>
          <p:nvPr/>
        </p:nvSpPr>
        <p:spPr>
          <a:xfrm>
            <a:off x="846172" y="5914541"/>
            <a:ext cx="1517904" cy="329184"/>
          </a:xfrm>
          <a:prstGeom prst="rect">
            <a:avLst/>
          </a:prstGeom>
          <a:noFill/>
          <a:ln/>
        </p:spPr>
        <p:txBody>
          <a:bodyPr wrap="square" lIns="0" tIns="0" rIns="0" bIns="0" rtlCol="0" anchor="ctr">
            <a:normAutofit/>
          </a:bodyPr>
          <a:lstStyle/>
          <a:p>
            <a:pPr marL="0" indent="0" algn="ctr">
              <a:buNone/>
            </a:pPr>
            <a:r>
              <a:rPr lang="en-US" sz="1000" b="1">
                <a:solidFill>
                  <a:srgbClr val="0B2D6B"/>
                </a:solidFill>
                <a:latin typeface="+mj-lt"/>
                <a:ea typeface="Arial" pitchFamily="34" charset="-122"/>
                <a:cs typeface="Arial" pitchFamily="34" charset="-120"/>
              </a:rPr>
              <a:t>PLM sends</a:t>
            </a:r>
            <a:endParaRPr lang="en-US" sz="1000">
              <a:latin typeface="+mj-lt"/>
            </a:endParaRPr>
          </a:p>
          <a:p>
            <a:pPr marL="0" indent="0" algn="ctr">
              <a:buNone/>
            </a:pPr>
            <a:r>
              <a:rPr lang="en-US" sz="1000" b="1">
                <a:solidFill>
                  <a:srgbClr val="0B2D6B"/>
                </a:solidFill>
                <a:latin typeface="+mj-lt"/>
                <a:ea typeface="Arial" pitchFamily="34" charset="-122"/>
                <a:cs typeface="Arial" pitchFamily="34" charset="-120"/>
              </a:rPr>
              <a:t>SUB* product</a:t>
            </a:r>
            <a:endParaRPr lang="en-US" sz="1000">
              <a:latin typeface="+mj-lt"/>
            </a:endParaRPr>
          </a:p>
        </p:txBody>
      </p:sp>
      <p:sp>
        <p:nvSpPr>
          <p:cNvPr id="51" name="Shape 43">
            <a:extLst>
              <a:ext uri="{FF2B5EF4-FFF2-40B4-BE49-F238E27FC236}">
                <a16:creationId xmlns:a16="http://schemas.microsoft.com/office/drawing/2014/main" id="{298D2A16-4E90-4BA8-11C4-3BCFB6E0F5FB}"/>
              </a:ext>
            </a:extLst>
          </p:cNvPr>
          <p:cNvSpPr/>
          <p:nvPr/>
        </p:nvSpPr>
        <p:spPr>
          <a:xfrm>
            <a:off x="2536483" y="5920219"/>
            <a:ext cx="228600" cy="310896"/>
          </a:xfrm>
          <a:prstGeom prst="chevron">
            <a:avLst/>
          </a:prstGeom>
          <a:solidFill>
            <a:srgbClr val="1467B8"/>
          </a:solidFill>
          <a:ln w="12700">
            <a:solidFill>
              <a:srgbClr val="1467B8"/>
            </a:solidFill>
            <a:prstDash val="solid"/>
          </a:ln>
        </p:spPr>
        <p:txBody>
          <a:bodyPr/>
          <a:lstStyle/>
          <a:p>
            <a:endParaRPr lang="zh-CN" altLang="en-US">
              <a:latin typeface="+mj-lt"/>
            </a:endParaRPr>
          </a:p>
        </p:txBody>
      </p:sp>
      <p:sp>
        <p:nvSpPr>
          <p:cNvPr id="52" name="Shape 44">
            <a:extLst>
              <a:ext uri="{FF2B5EF4-FFF2-40B4-BE49-F238E27FC236}">
                <a16:creationId xmlns:a16="http://schemas.microsoft.com/office/drawing/2014/main" id="{B7C7E5DF-480E-9663-8CCB-E78B16C0C965}"/>
              </a:ext>
            </a:extLst>
          </p:cNvPr>
          <p:cNvSpPr/>
          <p:nvPr/>
        </p:nvSpPr>
        <p:spPr>
          <a:xfrm>
            <a:off x="2882626" y="5877491"/>
            <a:ext cx="1627632" cy="393192"/>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53" name="Text 45">
            <a:extLst>
              <a:ext uri="{FF2B5EF4-FFF2-40B4-BE49-F238E27FC236}">
                <a16:creationId xmlns:a16="http://schemas.microsoft.com/office/drawing/2014/main" id="{21E83E92-EEAB-3A5C-8612-29B67073A90E}"/>
              </a:ext>
            </a:extLst>
          </p:cNvPr>
          <p:cNvSpPr/>
          <p:nvPr/>
        </p:nvSpPr>
        <p:spPr>
          <a:xfrm>
            <a:off x="2937490" y="5915173"/>
            <a:ext cx="1517904" cy="329184"/>
          </a:xfrm>
          <a:prstGeom prst="rect">
            <a:avLst/>
          </a:prstGeom>
          <a:noFill/>
          <a:ln/>
        </p:spPr>
        <p:txBody>
          <a:bodyPr wrap="square" lIns="0" tIns="0" rIns="0" bIns="0" rtlCol="0" anchor="ctr">
            <a:normAutofit/>
          </a:bodyPr>
          <a:lstStyle/>
          <a:p>
            <a:pPr marL="0" indent="0" algn="ctr">
              <a:buNone/>
            </a:pPr>
            <a:r>
              <a:rPr lang="en-US" sz="1000" b="1" err="1">
                <a:solidFill>
                  <a:srgbClr val="0B2D6B"/>
                </a:solidFill>
                <a:latin typeface="+mj-lt"/>
                <a:ea typeface="Arial" pitchFamily="34" charset="-122"/>
                <a:cs typeface="Arial" pitchFamily="34" charset="-120"/>
              </a:rPr>
              <a:t>NexBill</a:t>
            </a:r>
            <a:r>
              <a:rPr lang="en-US" sz="1000" b="1">
                <a:solidFill>
                  <a:srgbClr val="0B2D6B"/>
                </a:solidFill>
                <a:latin typeface="+mj-lt"/>
                <a:ea typeface="Arial" pitchFamily="34" charset="-122"/>
                <a:cs typeface="Arial" pitchFamily="34" charset="-120"/>
              </a:rPr>
              <a:t> creates and sends</a:t>
            </a:r>
            <a:endParaRPr lang="en-US" sz="1000">
              <a:latin typeface="+mj-lt"/>
            </a:endParaRPr>
          </a:p>
          <a:p>
            <a:pPr marL="0" indent="0" algn="ctr">
              <a:buNone/>
            </a:pPr>
            <a:r>
              <a:rPr lang="en-US" sz="1000" b="1">
                <a:solidFill>
                  <a:srgbClr val="0B2D6B"/>
                </a:solidFill>
                <a:latin typeface="+mj-lt"/>
                <a:ea typeface="Arial" pitchFamily="34" charset="-122"/>
                <a:cs typeface="Arial" pitchFamily="34" charset="-120"/>
              </a:rPr>
              <a:t>Product Master  </a:t>
            </a:r>
            <a:endParaRPr lang="en-US" sz="1000">
              <a:latin typeface="+mj-lt"/>
            </a:endParaRPr>
          </a:p>
        </p:txBody>
      </p:sp>
      <p:sp>
        <p:nvSpPr>
          <p:cNvPr id="54" name="Shape 46">
            <a:extLst>
              <a:ext uri="{FF2B5EF4-FFF2-40B4-BE49-F238E27FC236}">
                <a16:creationId xmlns:a16="http://schemas.microsoft.com/office/drawing/2014/main" id="{AD7611A9-057E-E646-783F-ED22B1D68EBD}"/>
              </a:ext>
            </a:extLst>
          </p:cNvPr>
          <p:cNvSpPr/>
          <p:nvPr/>
        </p:nvSpPr>
        <p:spPr>
          <a:xfrm>
            <a:off x="6687173" y="5914328"/>
            <a:ext cx="228600" cy="310896"/>
          </a:xfrm>
          <a:prstGeom prst="chevron">
            <a:avLst/>
          </a:prstGeom>
          <a:solidFill>
            <a:srgbClr val="1467B8"/>
          </a:solidFill>
          <a:ln w="12700">
            <a:solidFill>
              <a:srgbClr val="1467B8"/>
            </a:solidFill>
            <a:prstDash val="solid"/>
          </a:ln>
        </p:spPr>
        <p:txBody>
          <a:bodyPr/>
          <a:lstStyle/>
          <a:p>
            <a:endParaRPr lang="zh-CN" altLang="en-US">
              <a:latin typeface="+mj-lt"/>
            </a:endParaRPr>
          </a:p>
        </p:txBody>
      </p:sp>
      <p:sp>
        <p:nvSpPr>
          <p:cNvPr id="58" name="Shape 50">
            <a:extLst>
              <a:ext uri="{FF2B5EF4-FFF2-40B4-BE49-F238E27FC236}">
                <a16:creationId xmlns:a16="http://schemas.microsoft.com/office/drawing/2014/main" id="{136B58DA-0746-4A55-F819-E959A8E2931A}"/>
              </a:ext>
            </a:extLst>
          </p:cNvPr>
          <p:cNvSpPr/>
          <p:nvPr/>
        </p:nvSpPr>
        <p:spPr>
          <a:xfrm>
            <a:off x="7021144" y="5879750"/>
            <a:ext cx="1627632" cy="393192"/>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59" name="Text 51">
            <a:extLst>
              <a:ext uri="{FF2B5EF4-FFF2-40B4-BE49-F238E27FC236}">
                <a16:creationId xmlns:a16="http://schemas.microsoft.com/office/drawing/2014/main" id="{11D7E97D-D0F5-BAF7-B1CC-F42F217C38D6}"/>
              </a:ext>
            </a:extLst>
          </p:cNvPr>
          <p:cNvSpPr/>
          <p:nvPr/>
        </p:nvSpPr>
        <p:spPr>
          <a:xfrm>
            <a:off x="7085941" y="5906342"/>
            <a:ext cx="1517904" cy="329184"/>
          </a:xfrm>
          <a:prstGeom prst="rect">
            <a:avLst/>
          </a:prstGeom>
          <a:noFill/>
          <a:ln/>
        </p:spPr>
        <p:txBody>
          <a:bodyPr wrap="square" lIns="0" tIns="0" rIns="0" bIns="0" rtlCol="0" anchor="ctr">
            <a:normAutofit/>
          </a:bodyPr>
          <a:lstStyle/>
          <a:p>
            <a:pPr marL="0" indent="0" algn="ctr">
              <a:buNone/>
            </a:pPr>
            <a:r>
              <a:rPr lang="en-US" sz="1000" b="1">
                <a:solidFill>
                  <a:srgbClr val="0B2D6B"/>
                </a:solidFill>
                <a:latin typeface="+mj-lt"/>
                <a:ea typeface="Arial" pitchFamily="34" charset="-122"/>
                <a:cs typeface="Arial" pitchFamily="34" charset="-120"/>
              </a:rPr>
              <a:t>EPR Inbound</a:t>
            </a:r>
            <a:endParaRPr lang="en-US" sz="1000">
              <a:latin typeface="+mj-lt"/>
            </a:endParaRPr>
          </a:p>
          <a:p>
            <a:pPr marL="0" indent="0" algn="ctr">
              <a:buNone/>
            </a:pPr>
            <a:r>
              <a:rPr lang="en-US" sz="1000" b="1">
                <a:solidFill>
                  <a:srgbClr val="0B2D6B"/>
                </a:solidFill>
                <a:latin typeface="+mj-lt"/>
                <a:ea typeface="Arial" pitchFamily="34" charset="-122"/>
                <a:cs typeface="Arial" pitchFamily="34" charset="-120"/>
              </a:rPr>
              <a:t>uses product</a:t>
            </a:r>
            <a:endParaRPr lang="en-US" sz="1000">
              <a:latin typeface="+mj-lt"/>
            </a:endParaRPr>
          </a:p>
        </p:txBody>
      </p:sp>
      <p:sp>
        <p:nvSpPr>
          <p:cNvPr id="60" name="Shape 52">
            <a:extLst>
              <a:ext uri="{FF2B5EF4-FFF2-40B4-BE49-F238E27FC236}">
                <a16:creationId xmlns:a16="http://schemas.microsoft.com/office/drawing/2014/main" id="{8776308A-9D6F-341A-C476-B49109F9025D}"/>
              </a:ext>
            </a:extLst>
          </p:cNvPr>
          <p:cNvSpPr/>
          <p:nvPr/>
        </p:nvSpPr>
        <p:spPr>
          <a:xfrm>
            <a:off x="8766319" y="5917432"/>
            <a:ext cx="228600" cy="310896"/>
          </a:xfrm>
          <a:prstGeom prst="chevron">
            <a:avLst/>
          </a:prstGeom>
          <a:solidFill>
            <a:srgbClr val="1467B8"/>
          </a:solidFill>
          <a:ln w="12700">
            <a:solidFill>
              <a:srgbClr val="1467B8"/>
            </a:solidFill>
            <a:prstDash val="solid"/>
          </a:ln>
        </p:spPr>
        <p:txBody>
          <a:bodyPr/>
          <a:lstStyle/>
          <a:p>
            <a:endParaRPr lang="zh-CN" altLang="en-US">
              <a:latin typeface="+mj-lt"/>
            </a:endParaRPr>
          </a:p>
        </p:txBody>
      </p:sp>
      <p:sp>
        <p:nvSpPr>
          <p:cNvPr id="61" name="Shape 53">
            <a:extLst>
              <a:ext uri="{FF2B5EF4-FFF2-40B4-BE49-F238E27FC236}">
                <a16:creationId xmlns:a16="http://schemas.microsoft.com/office/drawing/2014/main" id="{02BB386C-0438-70CD-AF0F-FD30A7A79857}"/>
              </a:ext>
            </a:extLst>
          </p:cNvPr>
          <p:cNvSpPr/>
          <p:nvPr/>
        </p:nvSpPr>
        <p:spPr>
          <a:xfrm>
            <a:off x="9111120" y="5885404"/>
            <a:ext cx="1627632" cy="374904"/>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62" name="Text 54">
            <a:extLst>
              <a:ext uri="{FF2B5EF4-FFF2-40B4-BE49-F238E27FC236}">
                <a16:creationId xmlns:a16="http://schemas.microsoft.com/office/drawing/2014/main" id="{EE49CBE4-47F1-CFE9-031D-8A73A7D90C1A}"/>
              </a:ext>
            </a:extLst>
          </p:cNvPr>
          <p:cNvSpPr/>
          <p:nvPr/>
        </p:nvSpPr>
        <p:spPr>
          <a:xfrm>
            <a:off x="9147552" y="5931461"/>
            <a:ext cx="1517904" cy="284570"/>
          </a:xfrm>
          <a:prstGeom prst="rect">
            <a:avLst/>
          </a:prstGeom>
          <a:noFill/>
          <a:ln/>
        </p:spPr>
        <p:txBody>
          <a:bodyPr wrap="square" lIns="0" tIns="0" rIns="0" bIns="0" rtlCol="0" anchor="ctr">
            <a:normAutofit lnSpcReduction="10000"/>
          </a:bodyPr>
          <a:lstStyle/>
          <a:p>
            <a:pPr marL="0" indent="0" algn="ctr">
              <a:buNone/>
            </a:pPr>
            <a:r>
              <a:rPr lang="en-US" sz="1000" b="1">
                <a:solidFill>
                  <a:srgbClr val="0B2D6B"/>
                </a:solidFill>
                <a:latin typeface="+mj-lt"/>
                <a:ea typeface="Arial" pitchFamily="34" charset="-122"/>
                <a:cs typeface="Arial" pitchFamily="34" charset="-120"/>
              </a:rPr>
              <a:t>IaaS billing</a:t>
            </a:r>
            <a:endParaRPr lang="en-US" sz="1000">
              <a:latin typeface="+mj-lt"/>
            </a:endParaRPr>
          </a:p>
          <a:p>
            <a:pPr marL="0" indent="0" algn="ctr">
              <a:buNone/>
            </a:pPr>
            <a:r>
              <a:rPr lang="en-US" sz="1000" b="1">
                <a:solidFill>
                  <a:srgbClr val="0B2D6B"/>
                </a:solidFill>
                <a:latin typeface="+mj-lt"/>
                <a:ea typeface="Arial" pitchFamily="34" charset="-122"/>
                <a:cs typeface="Arial" pitchFamily="34" charset="-120"/>
              </a:rPr>
              <a:t>ready</a:t>
            </a:r>
            <a:endParaRPr lang="en-US" sz="1000">
              <a:latin typeface="+mj-lt"/>
            </a:endParaRPr>
          </a:p>
        </p:txBody>
      </p:sp>
      <p:sp>
        <p:nvSpPr>
          <p:cNvPr id="63" name="Text 55">
            <a:extLst>
              <a:ext uri="{FF2B5EF4-FFF2-40B4-BE49-F238E27FC236}">
                <a16:creationId xmlns:a16="http://schemas.microsoft.com/office/drawing/2014/main" id="{BB40B536-00AE-2469-7DDA-A3C1BD093C1B}"/>
              </a:ext>
            </a:extLst>
          </p:cNvPr>
          <p:cNvSpPr/>
          <p:nvPr/>
        </p:nvSpPr>
        <p:spPr>
          <a:xfrm>
            <a:off x="556124" y="6443472"/>
            <a:ext cx="10717836" cy="27432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USER RULE  |  Product exists ≠ IaaS product is ready. A valid Charge Plan must be configured before normal EPR / usage billing processing.</a:t>
            </a:r>
            <a:endParaRPr lang="en-US" sz="1100">
              <a:latin typeface="+mj-lt"/>
            </a:endParaRPr>
          </a:p>
        </p:txBody>
      </p:sp>
      <p:sp>
        <p:nvSpPr>
          <p:cNvPr id="4" name="Text 39">
            <a:extLst>
              <a:ext uri="{FF2B5EF4-FFF2-40B4-BE49-F238E27FC236}">
                <a16:creationId xmlns:a16="http://schemas.microsoft.com/office/drawing/2014/main" id="{9212B622-A758-1181-6820-AB465595D928}"/>
              </a:ext>
            </a:extLst>
          </p:cNvPr>
          <p:cNvSpPr/>
          <p:nvPr/>
        </p:nvSpPr>
        <p:spPr>
          <a:xfrm>
            <a:off x="663066" y="4643029"/>
            <a:ext cx="3383280" cy="237744"/>
          </a:xfrm>
          <a:prstGeom prst="rect">
            <a:avLst/>
          </a:prstGeom>
          <a:noFill/>
          <a:ln/>
        </p:spPr>
        <p:txBody>
          <a:bodyPr wrap="square" lIns="0" tIns="0" rIns="0" bIns="0" rtlCol="0" anchor="ctr">
            <a:normAutofit fontScale="77500" lnSpcReduction="20000"/>
          </a:bodyPr>
          <a:lstStyle/>
          <a:p>
            <a:pPr marL="0" indent="0" algn="l">
              <a:buNone/>
            </a:pPr>
            <a:r>
              <a:rPr lang="en-US" sz="1300" b="1">
                <a:solidFill>
                  <a:srgbClr val="E66A13"/>
                </a:solidFill>
                <a:latin typeface="+mj-lt"/>
                <a:ea typeface="Arial" pitchFamily="34" charset="-122"/>
                <a:cs typeface="Arial" pitchFamily="34" charset="-120"/>
              </a:rPr>
              <a:t>IaaS SPECIAL PREPARATION  |  SUB* + Usage Metering</a:t>
            </a:r>
            <a:endParaRPr lang="en-US" sz="1300">
              <a:latin typeface="+mj-lt"/>
            </a:endParaRPr>
          </a:p>
        </p:txBody>
      </p:sp>
      <p:sp>
        <p:nvSpPr>
          <p:cNvPr id="5" name="Text 40">
            <a:extLst>
              <a:ext uri="{FF2B5EF4-FFF2-40B4-BE49-F238E27FC236}">
                <a16:creationId xmlns:a16="http://schemas.microsoft.com/office/drawing/2014/main" id="{939F999C-4F11-4461-EDC9-5DD07362B2D2}"/>
              </a:ext>
            </a:extLst>
          </p:cNvPr>
          <p:cNvSpPr/>
          <p:nvPr/>
        </p:nvSpPr>
        <p:spPr>
          <a:xfrm>
            <a:off x="4018914" y="4670461"/>
            <a:ext cx="6019658" cy="210312"/>
          </a:xfrm>
          <a:prstGeom prst="rect">
            <a:avLst/>
          </a:prstGeom>
          <a:noFill/>
          <a:ln/>
        </p:spPr>
        <p:txBody>
          <a:bodyPr wrap="square" lIns="0" tIns="0" rIns="0" bIns="0" rtlCol="0" anchor="ctr">
            <a:normAutofit/>
          </a:bodyPr>
          <a:lstStyle/>
          <a:p>
            <a:pPr algn="ctr"/>
            <a:r>
              <a:rPr lang="en-US" sz="1200" b="1">
                <a:solidFill>
                  <a:srgbClr val="E66A13"/>
                </a:solidFill>
                <a:latin typeface="+mj-lt"/>
                <a:ea typeface="Arial" pitchFamily="34" charset="-122"/>
                <a:cs typeface="Arial" pitchFamily="34" charset="-120"/>
              </a:rPr>
              <a:t>POWER  •  HYBCLOUD  •  BAAS  •  STAAS  •  STORAGE  •  AZURE</a:t>
            </a:r>
            <a:endParaRPr lang="en-US" sz="1200">
              <a:latin typeface="+mj-lt"/>
            </a:endParaRPr>
          </a:p>
        </p:txBody>
      </p:sp>
      <p:sp>
        <p:nvSpPr>
          <p:cNvPr id="6" name="Shape 41">
            <a:extLst>
              <a:ext uri="{FF2B5EF4-FFF2-40B4-BE49-F238E27FC236}">
                <a16:creationId xmlns:a16="http://schemas.microsoft.com/office/drawing/2014/main" id="{6673A0E2-E452-0924-CAE8-8E9F8CD35483}"/>
              </a:ext>
            </a:extLst>
          </p:cNvPr>
          <p:cNvSpPr/>
          <p:nvPr/>
        </p:nvSpPr>
        <p:spPr>
          <a:xfrm>
            <a:off x="782164" y="4932401"/>
            <a:ext cx="1627632" cy="475488"/>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9" name="Text 42">
            <a:extLst>
              <a:ext uri="{FF2B5EF4-FFF2-40B4-BE49-F238E27FC236}">
                <a16:creationId xmlns:a16="http://schemas.microsoft.com/office/drawing/2014/main" id="{EC0A2DD2-BF4C-C15F-A4F1-1187608D6BF9}"/>
              </a:ext>
            </a:extLst>
          </p:cNvPr>
          <p:cNvSpPr/>
          <p:nvPr/>
        </p:nvSpPr>
        <p:spPr>
          <a:xfrm>
            <a:off x="837028" y="4996409"/>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PLM sends</a:t>
            </a:r>
            <a:endParaRPr lang="en-US" sz="1000">
              <a:solidFill>
                <a:srgbClr val="126C36"/>
              </a:solidFill>
              <a:latin typeface="+mj-lt"/>
            </a:endParaRPr>
          </a:p>
          <a:p>
            <a:pPr marL="0" indent="0" algn="ctr">
              <a:buNone/>
            </a:pPr>
            <a:r>
              <a:rPr lang="en-US" sz="1000" b="1">
                <a:solidFill>
                  <a:srgbClr val="126C36"/>
                </a:solidFill>
                <a:latin typeface="+mj-lt"/>
                <a:ea typeface="Arial" pitchFamily="34" charset="-122"/>
                <a:cs typeface="Arial" pitchFamily="34" charset="-120"/>
              </a:rPr>
              <a:t>SUB* product</a:t>
            </a:r>
            <a:endParaRPr lang="en-US" sz="1000">
              <a:solidFill>
                <a:srgbClr val="126C36"/>
              </a:solidFill>
              <a:latin typeface="+mj-lt"/>
            </a:endParaRPr>
          </a:p>
        </p:txBody>
      </p:sp>
      <p:sp>
        <p:nvSpPr>
          <p:cNvPr id="11" name="Shape 43">
            <a:extLst>
              <a:ext uri="{FF2B5EF4-FFF2-40B4-BE49-F238E27FC236}">
                <a16:creationId xmlns:a16="http://schemas.microsoft.com/office/drawing/2014/main" id="{66E7F336-553F-5078-7A79-C10164B68673}"/>
              </a:ext>
            </a:extLst>
          </p:cNvPr>
          <p:cNvSpPr/>
          <p:nvPr/>
        </p:nvSpPr>
        <p:spPr>
          <a:xfrm>
            <a:off x="2482948" y="5014697"/>
            <a:ext cx="221298" cy="310896"/>
          </a:xfrm>
          <a:prstGeom prst="chevron">
            <a:avLst/>
          </a:prstGeom>
          <a:solidFill>
            <a:srgbClr val="126C36"/>
          </a:solidFill>
          <a:ln w="12700">
            <a:solidFill>
              <a:srgbClr val="1467B8"/>
            </a:solidFill>
            <a:prstDash val="solid"/>
          </a:ln>
        </p:spPr>
        <p:txBody>
          <a:bodyPr/>
          <a:lstStyle/>
          <a:p>
            <a:endParaRPr lang="zh-CN" altLang="en-US">
              <a:latin typeface="+mj-lt"/>
            </a:endParaRPr>
          </a:p>
        </p:txBody>
      </p:sp>
      <p:sp>
        <p:nvSpPr>
          <p:cNvPr id="13" name="Shape 44">
            <a:extLst>
              <a:ext uri="{FF2B5EF4-FFF2-40B4-BE49-F238E27FC236}">
                <a16:creationId xmlns:a16="http://schemas.microsoft.com/office/drawing/2014/main" id="{81E31F32-2913-0D63-2E76-554EFB0570C8}"/>
              </a:ext>
            </a:extLst>
          </p:cNvPr>
          <p:cNvSpPr/>
          <p:nvPr/>
        </p:nvSpPr>
        <p:spPr>
          <a:xfrm>
            <a:off x="2777398" y="4929879"/>
            <a:ext cx="1627632" cy="475488"/>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29" name="Text 45">
            <a:extLst>
              <a:ext uri="{FF2B5EF4-FFF2-40B4-BE49-F238E27FC236}">
                <a16:creationId xmlns:a16="http://schemas.microsoft.com/office/drawing/2014/main" id="{6FAA8040-F8A6-379E-36CE-D54066A47F14}"/>
              </a:ext>
            </a:extLst>
          </p:cNvPr>
          <p:cNvSpPr/>
          <p:nvPr/>
        </p:nvSpPr>
        <p:spPr>
          <a:xfrm>
            <a:off x="2832262" y="4993887"/>
            <a:ext cx="1517904" cy="329184"/>
          </a:xfrm>
          <a:prstGeom prst="rect">
            <a:avLst/>
          </a:prstGeom>
          <a:noFill/>
          <a:ln/>
        </p:spPr>
        <p:txBody>
          <a:bodyPr wrap="square" lIns="0" tIns="0" rIns="0" bIns="0" rtlCol="0" anchor="ctr">
            <a:normAutofit/>
          </a:bodyPr>
          <a:lstStyle/>
          <a:p>
            <a:pPr marL="0" indent="0" algn="ctr">
              <a:buNone/>
            </a:pPr>
            <a:r>
              <a:rPr lang="en-US" sz="1000" b="1" err="1">
                <a:solidFill>
                  <a:srgbClr val="126C36"/>
                </a:solidFill>
                <a:latin typeface="+mj-lt"/>
                <a:ea typeface="Arial" pitchFamily="34" charset="-122"/>
                <a:cs typeface="Arial" pitchFamily="34" charset="-120"/>
              </a:rPr>
              <a:t>NexBill</a:t>
            </a:r>
            <a:r>
              <a:rPr lang="en-US" sz="1000" b="1">
                <a:solidFill>
                  <a:srgbClr val="126C36"/>
                </a:solidFill>
                <a:latin typeface="+mj-lt"/>
                <a:ea typeface="Arial" pitchFamily="34" charset="-122"/>
                <a:cs typeface="Arial" pitchFamily="34" charset="-120"/>
              </a:rPr>
              <a:t> creates and sends</a:t>
            </a:r>
            <a:endParaRPr lang="en-US" sz="1000">
              <a:solidFill>
                <a:srgbClr val="126C36"/>
              </a:solidFill>
              <a:latin typeface="+mj-lt"/>
            </a:endParaRPr>
          </a:p>
          <a:p>
            <a:pPr marL="0" indent="0" algn="ctr">
              <a:buNone/>
            </a:pPr>
            <a:r>
              <a:rPr lang="en-US" sz="1000" b="1">
                <a:solidFill>
                  <a:srgbClr val="126C36"/>
                </a:solidFill>
                <a:latin typeface="+mj-lt"/>
                <a:ea typeface="Arial" pitchFamily="34" charset="-122"/>
                <a:cs typeface="Arial" pitchFamily="34" charset="-120"/>
              </a:rPr>
              <a:t>Product Master</a:t>
            </a:r>
            <a:endParaRPr lang="en-US" sz="1000">
              <a:solidFill>
                <a:srgbClr val="126C36"/>
              </a:solidFill>
              <a:latin typeface="+mj-lt"/>
            </a:endParaRPr>
          </a:p>
        </p:txBody>
      </p:sp>
      <p:sp>
        <p:nvSpPr>
          <p:cNvPr id="64" name="Shape 46">
            <a:extLst>
              <a:ext uri="{FF2B5EF4-FFF2-40B4-BE49-F238E27FC236}">
                <a16:creationId xmlns:a16="http://schemas.microsoft.com/office/drawing/2014/main" id="{A8B5A121-1242-58DE-894A-15E4A52783BA}"/>
              </a:ext>
            </a:extLst>
          </p:cNvPr>
          <p:cNvSpPr/>
          <p:nvPr/>
        </p:nvSpPr>
        <p:spPr>
          <a:xfrm>
            <a:off x="4465785" y="5008091"/>
            <a:ext cx="218536" cy="310896"/>
          </a:xfrm>
          <a:prstGeom prst="chevron">
            <a:avLst/>
          </a:prstGeom>
          <a:solidFill>
            <a:srgbClr val="126C36"/>
          </a:solidFill>
          <a:ln w="12700">
            <a:solidFill>
              <a:srgbClr val="1467B8"/>
            </a:solidFill>
            <a:prstDash val="solid"/>
          </a:ln>
        </p:spPr>
        <p:txBody>
          <a:bodyPr/>
          <a:lstStyle/>
          <a:p>
            <a:endParaRPr lang="zh-CN" altLang="en-US">
              <a:latin typeface="+mj-lt"/>
            </a:endParaRPr>
          </a:p>
        </p:txBody>
      </p:sp>
      <p:sp>
        <p:nvSpPr>
          <p:cNvPr id="65" name="Shape 47">
            <a:extLst>
              <a:ext uri="{FF2B5EF4-FFF2-40B4-BE49-F238E27FC236}">
                <a16:creationId xmlns:a16="http://schemas.microsoft.com/office/drawing/2014/main" id="{A182A138-9C15-8A6B-7995-B34AE7615AC8}"/>
              </a:ext>
            </a:extLst>
          </p:cNvPr>
          <p:cNvSpPr/>
          <p:nvPr/>
        </p:nvSpPr>
        <p:spPr>
          <a:xfrm>
            <a:off x="6432215" y="4940232"/>
            <a:ext cx="1174772" cy="459775"/>
          </a:xfrm>
          <a:prstGeom prst="roundRect">
            <a:avLst>
              <a:gd name="adj" fmla="val 15385"/>
            </a:avLst>
          </a:prstGeom>
          <a:solidFill>
            <a:srgbClr val="FFF0DF"/>
          </a:solidFill>
          <a:ln w="12700">
            <a:solidFill>
              <a:srgbClr val="E6A55B"/>
            </a:solidFill>
            <a:prstDash val="solid"/>
          </a:ln>
        </p:spPr>
        <p:txBody>
          <a:bodyPr/>
          <a:lstStyle/>
          <a:p>
            <a:endParaRPr lang="zh-CN" altLang="en-US">
              <a:latin typeface="+mj-lt"/>
            </a:endParaRPr>
          </a:p>
        </p:txBody>
      </p:sp>
      <p:sp>
        <p:nvSpPr>
          <p:cNvPr id="66" name="Text 48">
            <a:extLst>
              <a:ext uri="{FF2B5EF4-FFF2-40B4-BE49-F238E27FC236}">
                <a16:creationId xmlns:a16="http://schemas.microsoft.com/office/drawing/2014/main" id="{8D64D422-F41A-3151-FADC-C8667ED09B02}"/>
              </a:ext>
            </a:extLst>
          </p:cNvPr>
          <p:cNvSpPr/>
          <p:nvPr/>
        </p:nvSpPr>
        <p:spPr>
          <a:xfrm>
            <a:off x="6449255" y="4981663"/>
            <a:ext cx="1095574" cy="411480"/>
          </a:xfrm>
          <a:prstGeom prst="rect">
            <a:avLst/>
          </a:prstGeom>
          <a:noFill/>
          <a:ln/>
        </p:spPr>
        <p:txBody>
          <a:bodyPr wrap="square" lIns="0" tIns="0" rIns="0" bIns="0" rtlCol="0" anchor="ctr">
            <a:normAutofit/>
          </a:bodyPr>
          <a:lstStyle/>
          <a:p>
            <a:pPr marL="0" indent="0" algn="ctr">
              <a:buNone/>
            </a:pPr>
            <a:r>
              <a:rPr lang="en-US" sz="1000" b="1">
                <a:solidFill>
                  <a:srgbClr val="E66A13"/>
                </a:solidFill>
                <a:latin typeface="+mj-lt"/>
                <a:ea typeface="Arial" pitchFamily="34" charset="-122"/>
                <a:cs typeface="Arial" pitchFamily="34" charset="-120"/>
              </a:rPr>
              <a:t>DT / IT configures</a:t>
            </a:r>
            <a:endParaRPr lang="en-US" sz="1000">
              <a:latin typeface="+mj-lt"/>
            </a:endParaRPr>
          </a:p>
          <a:p>
            <a:pPr marL="0" indent="0" algn="ctr">
              <a:buNone/>
            </a:pPr>
            <a:r>
              <a:rPr lang="en-US" sz="1000" b="1">
                <a:solidFill>
                  <a:srgbClr val="E66A13"/>
                </a:solidFill>
                <a:latin typeface="+mj-lt"/>
                <a:ea typeface="Arial" pitchFamily="34" charset="-122"/>
                <a:cs typeface="Arial" pitchFamily="34" charset="-120"/>
              </a:rPr>
              <a:t>Charge Plan</a:t>
            </a:r>
            <a:endParaRPr lang="en-US" sz="800">
              <a:latin typeface="+mj-lt"/>
            </a:endParaRPr>
          </a:p>
        </p:txBody>
      </p:sp>
      <p:sp>
        <p:nvSpPr>
          <p:cNvPr id="67" name="Shape 49">
            <a:extLst>
              <a:ext uri="{FF2B5EF4-FFF2-40B4-BE49-F238E27FC236}">
                <a16:creationId xmlns:a16="http://schemas.microsoft.com/office/drawing/2014/main" id="{6F609507-B6B0-3A84-DD5C-01DACE205152}"/>
              </a:ext>
            </a:extLst>
          </p:cNvPr>
          <p:cNvSpPr/>
          <p:nvPr/>
        </p:nvSpPr>
        <p:spPr>
          <a:xfrm>
            <a:off x="7674347" y="5025103"/>
            <a:ext cx="217454" cy="310896"/>
          </a:xfrm>
          <a:prstGeom prst="chevron">
            <a:avLst/>
          </a:prstGeom>
          <a:solidFill>
            <a:srgbClr val="E66A13"/>
          </a:solidFill>
          <a:ln w="12700">
            <a:solidFill>
              <a:srgbClr val="E66A13"/>
            </a:solidFill>
            <a:prstDash val="solid"/>
          </a:ln>
        </p:spPr>
        <p:txBody>
          <a:bodyPr/>
          <a:lstStyle/>
          <a:p>
            <a:endParaRPr lang="zh-CN" altLang="en-US">
              <a:latin typeface="+mj-lt"/>
            </a:endParaRPr>
          </a:p>
        </p:txBody>
      </p:sp>
      <p:sp>
        <p:nvSpPr>
          <p:cNvPr id="68" name="Shape 50">
            <a:extLst>
              <a:ext uri="{FF2B5EF4-FFF2-40B4-BE49-F238E27FC236}">
                <a16:creationId xmlns:a16="http://schemas.microsoft.com/office/drawing/2014/main" id="{02C68D20-DE35-D665-2DE9-802F692EAF64}"/>
              </a:ext>
            </a:extLst>
          </p:cNvPr>
          <p:cNvSpPr/>
          <p:nvPr/>
        </p:nvSpPr>
        <p:spPr>
          <a:xfrm>
            <a:off x="7959161" y="4932401"/>
            <a:ext cx="1259694" cy="475488"/>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69" name="Text 51">
            <a:extLst>
              <a:ext uri="{FF2B5EF4-FFF2-40B4-BE49-F238E27FC236}">
                <a16:creationId xmlns:a16="http://schemas.microsoft.com/office/drawing/2014/main" id="{3DFF838A-47B0-9AC2-621A-394FA2A00DAF}"/>
              </a:ext>
            </a:extLst>
          </p:cNvPr>
          <p:cNvSpPr/>
          <p:nvPr/>
        </p:nvSpPr>
        <p:spPr>
          <a:xfrm>
            <a:off x="7977796" y="4996409"/>
            <a:ext cx="1174771"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EPR Inbound</a:t>
            </a:r>
            <a:endParaRPr lang="en-US" sz="1000">
              <a:solidFill>
                <a:srgbClr val="126C36"/>
              </a:solidFill>
              <a:latin typeface="+mj-lt"/>
            </a:endParaRPr>
          </a:p>
          <a:p>
            <a:pPr marL="0" indent="0" algn="ctr">
              <a:buNone/>
            </a:pPr>
            <a:r>
              <a:rPr lang="en-US" sz="1000" b="1">
                <a:solidFill>
                  <a:srgbClr val="126C36"/>
                </a:solidFill>
                <a:latin typeface="+mj-lt"/>
                <a:ea typeface="Arial" pitchFamily="34" charset="-122"/>
                <a:cs typeface="Arial" pitchFamily="34" charset="-120"/>
              </a:rPr>
              <a:t>uses product</a:t>
            </a:r>
            <a:endParaRPr lang="en-US" sz="1000">
              <a:solidFill>
                <a:srgbClr val="126C36"/>
              </a:solidFill>
              <a:latin typeface="+mj-lt"/>
            </a:endParaRPr>
          </a:p>
        </p:txBody>
      </p:sp>
      <p:sp>
        <p:nvSpPr>
          <p:cNvPr id="70" name="Shape 52">
            <a:extLst>
              <a:ext uri="{FF2B5EF4-FFF2-40B4-BE49-F238E27FC236}">
                <a16:creationId xmlns:a16="http://schemas.microsoft.com/office/drawing/2014/main" id="{E050ED16-6BAF-36F2-A886-2BDBA5E7549B}"/>
              </a:ext>
            </a:extLst>
          </p:cNvPr>
          <p:cNvSpPr/>
          <p:nvPr/>
        </p:nvSpPr>
        <p:spPr>
          <a:xfrm>
            <a:off x="9267998" y="5003759"/>
            <a:ext cx="217454" cy="310896"/>
          </a:xfrm>
          <a:prstGeom prst="chevron">
            <a:avLst/>
          </a:prstGeom>
          <a:solidFill>
            <a:srgbClr val="126C36"/>
          </a:solidFill>
          <a:ln w="12700">
            <a:solidFill>
              <a:srgbClr val="1467B8"/>
            </a:solidFill>
            <a:prstDash val="solid"/>
          </a:ln>
        </p:spPr>
        <p:txBody>
          <a:bodyPr/>
          <a:lstStyle/>
          <a:p>
            <a:endParaRPr lang="zh-CN" altLang="en-US">
              <a:latin typeface="+mj-lt"/>
            </a:endParaRPr>
          </a:p>
        </p:txBody>
      </p:sp>
      <p:sp>
        <p:nvSpPr>
          <p:cNvPr id="71" name="Shape 53">
            <a:extLst>
              <a:ext uri="{FF2B5EF4-FFF2-40B4-BE49-F238E27FC236}">
                <a16:creationId xmlns:a16="http://schemas.microsoft.com/office/drawing/2014/main" id="{7B471988-7E59-F88A-1186-C7C22E64E47C}"/>
              </a:ext>
            </a:extLst>
          </p:cNvPr>
          <p:cNvSpPr/>
          <p:nvPr/>
        </p:nvSpPr>
        <p:spPr>
          <a:xfrm>
            <a:off x="9538778" y="4927252"/>
            <a:ext cx="1259694" cy="475488"/>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72" name="Text 54">
            <a:extLst>
              <a:ext uri="{FF2B5EF4-FFF2-40B4-BE49-F238E27FC236}">
                <a16:creationId xmlns:a16="http://schemas.microsoft.com/office/drawing/2014/main" id="{6FB22D03-C000-FDFF-4C7C-F02C49799769}"/>
              </a:ext>
            </a:extLst>
          </p:cNvPr>
          <p:cNvSpPr/>
          <p:nvPr/>
        </p:nvSpPr>
        <p:spPr>
          <a:xfrm>
            <a:off x="9557413" y="4991260"/>
            <a:ext cx="1174771"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IaaS billing</a:t>
            </a:r>
            <a:endParaRPr lang="en-US" sz="1000">
              <a:solidFill>
                <a:srgbClr val="126C36"/>
              </a:solidFill>
              <a:latin typeface="+mj-lt"/>
            </a:endParaRPr>
          </a:p>
          <a:p>
            <a:pPr marL="0" indent="0" algn="ctr">
              <a:buNone/>
            </a:pPr>
            <a:r>
              <a:rPr lang="en-US" sz="1000" b="1">
                <a:solidFill>
                  <a:srgbClr val="126C36"/>
                </a:solidFill>
                <a:latin typeface="+mj-lt"/>
                <a:ea typeface="Arial" pitchFamily="34" charset="-122"/>
                <a:cs typeface="Arial" pitchFamily="34" charset="-120"/>
              </a:rPr>
              <a:t>ready</a:t>
            </a:r>
            <a:endParaRPr lang="en-US" sz="1000">
              <a:solidFill>
                <a:srgbClr val="126C36"/>
              </a:solidFill>
              <a:latin typeface="+mj-lt"/>
            </a:endParaRPr>
          </a:p>
        </p:txBody>
      </p:sp>
      <p:sp>
        <p:nvSpPr>
          <p:cNvPr id="73" name="Shape 32">
            <a:extLst>
              <a:ext uri="{FF2B5EF4-FFF2-40B4-BE49-F238E27FC236}">
                <a16:creationId xmlns:a16="http://schemas.microsoft.com/office/drawing/2014/main" id="{A6944665-B309-A008-6611-70D9E76505E1}"/>
              </a:ext>
            </a:extLst>
          </p:cNvPr>
          <p:cNvSpPr/>
          <p:nvPr/>
        </p:nvSpPr>
        <p:spPr>
          <a:xfrm>
            <a:off x="10320302" y="2327566"/>
            <a:ext cx="717487" cy="438912"/>
          </a:xfrm>
          <a:prstGeom prst="roundRect">
            <a:avLst>
              <a:gd name="adj" fmla="val 12903"/>
            </a:avLst>
          </a:prstGeom>
          <a:solidFill>
            <a:srgbClr val="EEF7E8"/>
          </a:solidFill>
          <a:ln w="12700">
            <a:solidFill>
              <a:srgbClr val="C5DFB4"/>
            </a:solidFill>
            <a:prstDash val="solid"/>
          </a:ln>
        </p:spPr>
        <p:txBody>
          <a:bodyPr/>
          <a:lstStyle/>
          <a:p>
            <a:endParaRPr lang="zh-CN" altLang="en-US">
              <a:latin typeface="+mj-lt"/>
            </a:endParaRPr>
          </a:p>
        </p:txBody>
      </p:sp>
      <p:sp>
        <p:nvSpPr>
          <p:cNvPr id="74" name="Text 33">
            <a:extLst>
              <a:ext uri="{FF2B5EF4-FFF2-40B4-BE49-F238E27FC236}">
                <a16:creationId xmlns:a16="http://schemas.microsoft.com/office/drawing/2014/main" id="{FFC35B17-7684-BFC5-E76F-4D97ACCF85A4}"/>
              </a:ext>
            </a:extLst>
          </p:cNvPr>
          <p:cNvSpPr/>
          <p:nvPr/>
        </p:nvSpPr>
        <p:spPr>
          <a:xfrm>
            <a:off x="10299445" y="2455582"/>
            <a:ext cx="717487" cy="177625"/>
          </a:xfrm>
          <a:prstGeom prst="rect">
            <a:avLst/>
          </a:prstGeom>
          <a:noFill/>
          <a:ln/>
        </p:spPr>
        <p:txBody>
          <a:bodyPr wrap="square" lIns="0" tIns="0" rIns="0" bIns="0" rtlCol="0" anchor="ctr">
            <a:normAutofit fontScale="92500" lnSpcReduction="10000"/>
          </a:bodyPr>
          <a:lstStyle/>
          <a:p>
            <a:pPr marL="0" indent="0" algn="ctr">
              <a:buNone/>
            </a:pPr>
            <a:r>
              <a:rPr lang="en-US" sz="1300" b="1">
                <a:solidFill>
                  <a:srgbClr val="4A9B22"/>
                </a:solidFill>
                <a:latin typeface="+mj-lt"/>
                <a:ea typeface="Arial" pitchFamily="34" charset="-122"/>
                <a:cs typeface="Arial" pitchFamily="34" charset="-120"/>
              </a:rPr>
              <a:t>LPC</a:t>
            </a:r>
            <a:endParaRPr lang="en-US" sz="1300">
              <a:latin typeface="+mj-lt"/>
            </a:endParaRPr>
          </a:p>
        </p:txBody>
      </p:sp>
      <p:sp>
        <p:nvSpPr>
          <p:cNvPr id="75" name="Shape 31">
            <a:extLst>
              <a:ext uri="{FF2B5EF4-FFF2-40B4-BE49-F238E27FC236}">
                <a16:creationId xmlns:a16="http://schemas.microsoft.com/office/drawing/2014/main" id="{B6E695A8-6F14-7552-F9B7-8D3D923E5B65}"/>
              </a:ext>
            </a:extLst>
          </p:cNvPr>
          <p:cNvSpPr/>
          <p:nvPr/>
        </p:nvSpPr>
        <p:spPr>
          <a:xfrm>
            <a:off x="9980016" y="2397675"/>
            <a:ext cx="256032" cy="310896"/>
          </a:xfrm>
          <a:prstGeom prst="chevron">
            <a:avLst/>
          </a:prstGeom>
          <a:solidFill>
            <a:srgbClr val="4A9B22"/>
          </a:solidFill>
          <a:ln w="12700">
            <a:solidFill>
              <a:srgbClr val="4A9B22"/>
            </a:solidFill>
            <a:prstDash val="solid"/>
          </a:ln>
        </p:spPr>
        <p:txBody>
          <a:bodyPr/>
          <a:lstStyle/>
          <a:p>
            <a:endParaRPr lang="zh-CN" altLang="en-US">
              <a:latin typeface="+mj-lt"/>
            </a:endParaRPr>
          </a:p>
        </p:txBody>
      </p:sp>
      <p:sp>
        <p:nvSpPr>
          <p:cNvPr id="77" name="Shape 52">
            <a:extLst>
              <a:ext uri="{FF2B5EF4-FFF2-40B4-BE49-F238E27FC236}">
                <a16:creationId xmlns:a16="http://schemas.microsoft.com/office/drawing/2014/main" id="{F10D24FF-5191-0CF0-D87E-B7059488F47E}"/>
              </a:ext>
            </a:extLst>
          </p:cNvPr>
          <p:cNvSpPr/>
          <p:nvPr/>
        </p:nvSpPr>
        <p:spPr>
          <a:xfrm>
            <a:off x="4615588" y="5924689"/>
            <a:ext cx="228600" cy="310896"/>
          </a:xfrm>
          <a:prstGeom prst="chevron">
            <a:avLst/>
          </a:prstGeom>
          <a:solidFill>
            <a:srgbClr val="1467B8"/>
          </a:solidFill>
          <a:ln w="12700">
            <a:solidFill>
              <a:srgbClr val="1467B8"/>
            </a:solidFill>
            <a:prstDash val="solid"/>
          </a:ln>
        </p:spPr>
        <p:txBody>
          <a:bodyPr/>
          <a:lstStyle/>
          <a:p>
            <a:endParaRPr lang="zh-CN" altLang="en-US">
              <a:latin typeface="+mj-lt"/>
            </a:endParaRPr>
          </a:p>
        </p:txBody>
      </p:sp>
      <p:sp>
        <p:nvSpPr>
          <p:cNvPr id="78" name="Shape 53">
            <a:extLst>
              <a:ext uri="{FF2B5EF4-FFF2-40B4-BE49-F238E27FC236}">
                <a16:creationId xmlns:a16="http://schemas.microsoft.com/office/drawing/2014/main" id="{F4DAF0B7-CEE5-2EFE-B147-196B0D18B2DB}"/>
              </a:ext>
            </a:extLst>
          </p:cNvPr>
          <p:cNvSpPr/>
          <p:nvPr/>
        </p:nvSpPr>
        <p:spPr>
          <a:xfrm>
            <a:off x="4954170" y="5890270"/>
            <a:ext cx="1627632" cy="374904"/>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79" name="Text 54">
            <a:extLst>
              <a:ext uri="{FF2B5EF4-FFF2-40B4-BE49-F238E27FC236}">
                <a16:creationId xmlns:a16="http://schemas.microsoft.com/office/drawing/2014/main" id="{98F6B67A-5E33-4C04-6D48-7A0BF5DF99DF}"/>
              </a:ext>
            </a:extLst>
          </p:cNvPr>
          <p:cNvSpPr/>
          <p:nvPr/>
        </p:nvSpPr>
        <p:spPr>
          <a:xfrm>
            <a:off x="5316239" y="5931461"/>
            <a:ext cx="926866" cy="284570"/>
          </a:xfrm>
          <a:prstGeom prst="rect">
            <a:avLst/>
          </a:prstGeom>
          <a:noFill/>
          <a:ln/>
        </p:spPr>
        <p:txBody>
          <a:bodyPr wrap="square" lIns="0" tIns="0" rIns="0" bIns="0" rtlCol="0" anchor="ctr">
            <a:normAutofit lnSpcReduction="10000"/>
          </a:bodyPr>
          <a:lstStyle/>
          <a:p>
            <a:pPr marL="0" indent="0" algn="ctr">
              <a:buNone/>
            </a:pPr>
            <a:r>
              <a:rPr lang="en-US" sz="1000" b="1">
                <a:solidFill>
                  <a:srgbClr val="0B2D6B"/>
                </a:solidFill>
                <a:latin typeface="+mj-lt"/>
                <a:ea typeface="Arial" pitchFamily="34" charset="-122"/>
                <a:cs typeface="Arial" pitchFamily="34" charset="-120"/>
              </a:rPr>
              <a:t>LPC creates SUB* product</a:t>
            </a:r>
            <a:endParaRPr lang="en-US" sz="1000">
              <a:latin typeface="+mj-lt"/>
            </a:endParaRPr>
          </a:p>
        </p:txBody>
      </p:sp>
      <p:sp>
        <p:nvSpPr>
          <p:cNvPr id="80" name="Shape 53">
            <a:extLst>
              <a:ext uri="{FF2B5EF4-FFF2-40B4-BE49-F238E27FC236}">
                <a16:creationId xmlns:a16="http://schemas.microsoft.com/office/drawing/2014/main" id="{AC927EF8-2E0E-7BA1-8253-61CEE81C661A}"/>
              </a:ext>
            </a:extLst>
          </p:cNvPr>
          <p:cNvSpPr/>
          <p:nvPr/>
        </p:nvSpPr>
        <p:spPr>
          <a:xfrm>
            <a:off x="4745076" y="4938511"/>
            <a:ext cx="1320831" cy="473356"/>
          </a:xfrm>
          <a:prstGeom prst="roundRect">
            <a:avLst>
              <a:gd name="adj" fmla="val 15385"/>
            </a:avLst>
          </a:prstGeom>
          <a:solidFill>
            <a:srgbClr val="FFFFFF"/>
          </a:solidFill>
          <a:ln w="12700">
            <a:solidFill>
              <a:srgbClr val="D6DDE8"/>
            </a:solidFill>
            <a:prstDash val="solid"/>
          </a:ln>
        </p:spPr>
        <p:txBody>
          <a:bodyPr/>
          <a:lstStyle/>
          <a:p>
            <a:endParaRPr lang="zh-CN" altLang="en-US">
              <a:latin typeface="+mj-lt"/>
            </a:endParaRPr>
          </a:p>
        </p:txBody>
      </p:sp>
      <p:sp>
        <p:nvSpPr>
          <p:cNvPr id="81" name="Text 54">
            <a:extLst>
              <a:ext uri="{FF2B5EF4-FFF2-40B4-BE49-F238E27FC236}">
                <a16:creationId xmlns:a16="http://schemas.microsoft.com/office/drawing/2014/main" id="{76C813C6-D08A-785E-5E2A-49543FF3CA5C}"/>
              </a:ext>
            </a:extLst>
          </p:cNvPr>
          <p:cNvSpPr/>
          <p:nvPr/>
        </p:nvSpPr>
        <p:spPr>
          <a:xfrm>
            <a:off x="5014769" y="4979702"/>
            <a:ext cx="844532" cy="359300"/>
          </a:xfrm>
          <a:prstGeom prst="rect">
            <a:avLst/>
          </a:prstGeom>
          <a:noFill/>
          <a:ln/>
        </p:spPr>
        <p:txBody>
          <a:bodyPr wrap="square" lIns="0" tIns="0" rIns="0" bIns="0" rtlCol="0" anchor="ctr">
            <a:normAutofit/>
          </a:bodyPr>
          <a:lstStyle/>
          <a:p>
            <a:pPr marL="0" indent="0" algn="ctr">
              <a:buNone/>
            </a:pPr>
            <a:r>
              <a:rPr lang="en-US" sz="1000" b="1">
                <a:solidFill>
                  <a:srgbClr val="0B2D6B"/>
                </a:solidFill>
                <a:latin typeface="+mj-lt"/>
                <a:ea typeface="Arial" pitchFamily="34" charset="-122"/>
                <a:cs typeface="Arial" pitchFamily="34" charset="-120"/>
              </a:rPr>
              <a:t>LPC creates SUB* product</a:t>
            </a:r>
            <a:endParaRPr lang="en-US" sz="1000">
              <a:latin typeface="+mj-lt"/>
            </a:endParaRPr>
          </a:p>
        </p:txBody>
      </p:sp>
      <p:sp>
        <p:nvSpPr>
          <p:cNvPr id="82" name="Shape 52">
            <a:extLst>
              <a:ext uri="{FF2B5EF4-FFF2-40B4-BE49-F238E27FC236}">
                <a16:creationId xmlns:a16="http://schemas.microsoft.com/office/drawing/2014/main" id="{AADAE60A-FBF3-E2CA-C946-C1045F81C5FF}"/>
              </a:ext>
            </a:extLst>
          </p:cNvPr>
          <p:cNvSpPr/>
          <p:nvPr/>
        </p:nvSpPr>
        <p:spPr>
          <a:xfrm>
            <a:off x="6139999" y="4994993"/>
            <a:ext cx="217454" cy="310896"/>
          </a:xfrm>
          <a:prstGeom prst="chevron">
            <a:avLst/>
          </a:prstGeom>
          <a:solidFill>
            <a:srgbClr val="126C36"/>
          </a:solidFill>
          <a:ln w="12700">
            <a:solidFill>
              <a:srgbClr val="1467B8"/>
            </a:solidFill>
            <a:prstDash val="solid"/>
          </a:ln>
        </p:spPr>
        <p:txBody>
          <a:bodyPr/>
          <a:lstStyle/>
          <a:p>
            <a:endParaRPr lang="zh-CN" altLang="en-US">
              <a:latin typeface="+mj-lt"/>
            </a:endParaRPr>
          </a:p>
        </p:txBody>
      </p:sp>
    </p:spTree>
    <p:extLst>
      <p:ext uri="{BB962C8B-B14F-4D97-AF65-F5344CB8AC3E}">
        <p14:creationId xmlns:p14="http://schemas.microsoft.com/office/powerpoint/2010/main" val="324870126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D0A08-F844-4131-67EF-57621664B62F}"/>
            </a:ext>
          </a:extLst>
        </p:cNvPr>
        <p:cNvGrpSpPr/>
        <p:nvPr/>
      </p:nvGrpSpPr>
      <p:grpSpPr>
        <a:xfrm>
          <a:off x="0" y="0"/>
          <a:ext cx="0" cy="0"/>
          <a:chOff x="0" y="0"/>
          <a:chExt cx="0" cy="0"/>
        </a:xfrm>
      </p:grpSpPr>
      <p:pic>
        <p:nvPicPr>
          <p:cNvPr id="15" name="图片 14">
            <a:extLst>
              <a:ext uri="{FF2B5EF4-FFF2-40B4-BE49-F238E27FC236}">
                <a16:creationId xmlns:a16="http://schemas.microsoft.com/office/drawing/2014/main" id="{17642C9A-C2FC-2292-96F9-C81380583DF5}"/>
              </a:ext>
            </a:extLst>
          </p:cNvPr>
          <p:cNvPicPr>
            <a:picLocks noChangeAspect="1"/>
          </p:cNvPicPr>
          <p:nvPr/>
        </p:nvPicPr>
        <p:blipFill>
          <a:blip r:embed="rId2"/>
          <a:stretch>
            <a:fillRect/>
          </a:stretch>
        </p:blipFill>
        <p:spPr>
          <a:xfrm>
            <a:off x="320182" y="1508489"/>
            <a:ext cx="6904592" cy="4035718"/>
          </a:xfrm>
          <a:prstGeom prst="rect">
            <a:avLst/>
          </a:prstGeom>
        </p:spPr>
      </p:pic>
      <p:sp>
        <p:nvSpPr>
          <p:cNvPr id="3" name="标题 2">
            <a:extLst>
              <a:ext uri="{FF2B5EF4-FFF2-40B4-BE49-F238E27FC236}">
                <a16:creationId xmlns:a16="http://schemas.microsoft.com/office/drawing/2014/main" id="{C8D43409-6835-8025-D171-439F99295BFF}"/>
              </a:ext>
            </a:extLst>
          </p:cNvPr>
          <p:cNvSpPr>
            <a:spLocks noGrp="1"/>
          </p:cNvSpPr>
          <p:nvPr>
            <p:ph type="title"/>
          </p:nvPr>
        </p:nvSpPr>
        <p:spPr/>
        <p:txBody>
          <a:bodyPr/>
          <a:lstStyle/>
          <a:p>
            <a:r>
              <a:rPr lang="en-US" altLang="zh-CN"/>
              <a:t>Product Master - Search &amp; Result   </a:t>
            </a:r>
            <a:endParaRPr lang="zh-CN" altLang="en-US"/>
          </a:p>
        </p:txBody>
      </p:sp>
      <p:sp>
        <p:nvSpPr>
          <p:cNvPr id="5" name="TextBox 72">
            <a:extLst>
              <a:ext uri="{FF2B5EF4-FFF2-40B4-BE49-F238E27FC236}">
                <a16:creationId xmlns:a16="http://schemas.microsoft.com/office/drawing/2014/main" id="{E5DD5D33-6D48-4356-84AD-C1D060F027C1}"/>
              </a:ext>
            </a:extLst>
          </p:cNvPr>
          <p:cNvSpPr txBox="1"/>
          <p:nvPr/>
        </p:nvSpPr>
        <p:spPr>
          <a:xfrm>
            <a:off x="7573864" y="1395927"/>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Product Master Data</a:t>
            </a:r>
          </a:p>
        </p:txBody>
      </p:sp>
      <p:sp>
        <p:nvSpPr>
          <p:cNvPr id="6" name="TextBox 73">
            <a:extLst>
              <a:ext uri="{FF2B5EF4-FFF2-40B4-BE49-F238E27FC236}">
                <a16:creationId xmlns:a16="http://schemas.microsoft.com/office/drawing/2014/main" id="{A1FF7DDD-18A5-E599-A3B7-4E406C72D380}"/>
              </a:ext>
            </a:extLst>
          </p:cNvPr>
          <p:cNvSpPr txBox="1"/>
          <p:nvPr/>
        </p:nvSpPr>
        <p:spPr>
          <a:xfrm>
            <a:off x="7573864" y="1621814"/>
            <a:ext cx="4299574" cy="1323439"/>
          </a:xfrm>
          <a:prstGeom prst="rect">
            <a:avLst/>
          </a:prstGeom>
          <a:noFill/>
        </p:spPr>
        <p:txBody>
          <a:bodyPr wrap="square" rtlCol="0">
            <a:spAutoFit/>
          </a:bodyPr>
          <a:lstStyle/>
          <a:p>
            <a:r>
              <a:rPr lang="en-US" altLang="zh-CN" sz="1000">
                <a:cs typeface="Lato Light"/>
              </a:rPr>
              <a:t>Users can search product master records using one or more search criteria.</a:t>
            </a:r>
          </a:p>
          <a:p>
            <a:endParaRPr lang="en-US" altLang="zh-CN" sz="1000">
              <a:cs typeface="Lato Light"/>
            </a:endParaRPr>
          </a:p>
          <a:p>
            <a:r>
              <a:rPr lang="en-US" altLang="zh-CN" sz="1000" b="1">
                <a:cs typeface="Lato Light"/>
              </a:rPr>
              <a:t>“+”</a:t>
            </a:r>
            <a:r>
              <a:rPr lang="en-US" altLang="zh-CN" sz="1000">
                <a:cs typeface="Lato Light"/>
              </a:rPr>
              <a:t> </a:t>
            </a:r>
            <a:r>
              <a:rPr lang="en-US" altLang="zh-CN" sz="1000" b="1">
                <a:cs typeface="Lato Light"/>
              </a:rPr>
              <a:t>icon</a:t>
            </a:r>
            <a:r>
              <a:rPr lang="en-US" altLang="zh-CN" sz="1000">
                <a:cs typeface="Lato Light"/>
              </a:rPr>
              <a:t>: add additional search conditions.</a:t>
            </a:r>
          </a:p>
          <a:p>
            <a:r>
              <a:rPr lang="en-US" altLang="zh-CN" sz="1000">
                <a:cs typeface="Lato Light"/>
              </a:rPr>
              <a:t> </a:t>
            </a:r>
            <a:r>
              <a:rPr lang="en-US" altLang="zh-CN" sz="1000" b="1">
                <a:cs typeface="Lato Light"/>
              </a:rPr>
              <a:t>“×” icon</a:t>
            </a:r>
            <a:r>
              <a:rPr lang="en-US" altLang="zh-CN" sz="1000">
                <a:cs typeface="Lato Light"/>
              </a:rPr>
              <a:t>:</a:t>
            </a:r>
            <a:r>
              <a:rPr lang="en-US" altLang="zh-CN" sz="1000" b="1">
                <a:cs typeface="Lato Light"/>
              </a:rPr>
              <a:t> </a:t>
            </a:r>
            <a:r>
              <a:rPr lang="en-US" altLang="zh-CN" sz="1000">
                <a:cs typeface="Lato Light"/>
              </a:rPr>
              <a:t>remove conditions.</a:t>
            </a:r>
          </a:p>
          <a:p>
            <a:r>
              <a:rPr lang="en-US" altLang="zh-CN" sz="1000" b="1">
                <a:cs typeface="Lato Light"/>
              </a:rPr>
              <a:t>Search</a:t>
            </a:r>
            <a:r>
              <a:rPr lang="en-US" altLang="zh-CN" sz="1000">
                <a:cs typeface="Lato Light"/>
              </a:rPr>
              <a:t>: retrieve matching product records.</a:t>
            </a:r>
          </a:p>
          <a:p>
            <a:r>
              <a:rPr lang="en-US" altLang="zh-CN" sz="1000" b="1">
                <a:cs typeface="Lato Light"/>
              </a:rPr>
              <a:t>Clear</a:t>
            </a:r>
            <a:r>
              <a:rPr lang="en-US" altLang="zh-CN" sz="1000">
                <a:cs typeface="Lato Light"/>
              </a:rPr>
              <a:t>: remove all search criteria and clear the current search results. </a:t>
            </a:r>
          </a:p>
          <a:p>
            <a:r>
              <a:rPr lang="en-US" altLang="zh-CN" sz="1000" b="1">
                <a:cs typeface="Lato Light"/>
              </a:rPr>
              <a:t>Save Search</a:t>
            </a:r>
            <a:r>
              <a:rPr lang="en-US" altLang="zh-CN" sz="1000">
                <a:cs typeface="Lato Light"/>
              </a:rPr>
              <a:t>: save frequently used search criteria for future use.</a:t>
            </a:r>
          </a:p>
          <a:p>
            <a:r>
              <a:rPr lang="en-US" altLang="zh-CN" sz="1000" b="1">
                <a:cs typeface="Lato Light"/>
              </a:rPr>
              <a:t>My Searches</a:t>
            </a:r>
            <a:r>
              <a:rPr lang="en-US" altLang="zh-CN" sz="1000">
                <a:cs typeface="Lato Light"/>
              </a:rPr>
              <a:t>: quickly reuse previously saved search templates.</a:t>
            </a:r>
          </a:p>
        </p:txBody>
      </p:sp>
      <p:sp>
        <p:nvSpPr>
          <p:cNvPr id="29" name="Oval 111">
            <a:extLst>
              <a:ext uri="{FF2B5EF4-FFF2-40B4-BE49-F238E27FC236}">
                <a16:creationId xmlns:a16="http://schemas.microsoft.com/office/drawing/2014/main" id="{0064B00B-6AC0-57B2-CEC1-30A43C5C54FA}"/>
              </a:ext>
            </a:extLst>
          </p:cNvPr>
          <p:cNvSpPr/>
          <p:nvPr/>
        </p:nvSpPr>
        <p:spPr>
          <a:xfrm>
            <a:off x="7328072" y="146421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9" name="Text 2">
            <a:extLst>
              <a:ext uri="{FF2B5EF4-FFF2-40B4-BE49-F238E27FC236}">
                <a16:creationId xmlns:a16="http://schemas.microsoft.com/office/drawing/2014/main" id="{DC98E44B-E3BB-428B-4B7C-8E88673A6767}"/>
              </a:ext>
            </a:extLst>
          </p:cNvPr>
          <p:cNvSpPr/>
          <p:nvPr/>
        </p:nvSpPr>
        <p:spPr>
          <a:xfrm>
            <a:off x="320182" y="810211"/>
            <a:ext cx="11639523" cy="509377"/>
          </a:xfrm>
          <a:prstGeom prst="rect">
            <a:avLst/>
          </a:prstGeom>
          <a:noFill/>
          <a:ln/>
        </p:spPr>
        <p:txBody>
          <a:bodyPr wrap="square" lIns="0" tIns="0" rIns="0" bIns="0" rtlCol="0" anchor="ctr">
            <a:normAutofit/>
          </a:bodyPr>
          <a:lstStyle/>
          <a:p>
            <a:r>
              <a:rPr lang="en-US" altLang="zh-CN" sz="1200"/>
              <a:t>The Product Master Search page allows users to search, review, and maintain product master data within </a:t>
            </a:r>
            <a:r>
              <a:rPr lang="en-US" altLang="zh-CN" sz="1200" err="1"/>
              <a:t>NexBill</a:t>
            </a:r>
            <a:r>
              <a:rPr lang="en-US" altLang="zh-CN" sz="1200"/>
              <a:t>. Users can locate products using flexible search criteria, access product information required for subscription orders and invoicing processes. </a:t>
            </a:r>
            <a:r>
              <a:rPr lang="en-US" altLang="zh-CN" sz="1200" b="1"/>
              <a:t>Navigation: MASTER DATA → Product Master Data </a:t>
            </a:r>
          </a:p>
        </p:txBody>
      </p:sp>
      <p:sp>
        <p:nvSpPr>
          <p:cNvPr id="8" name="TextBox 82">
            <a:extLst>
              <a:ext uri="{FF2B5EF4-FFF2-40B4-BE49-F238E27FC236}">
                <a16:creationId xmlns:a16="http://schemas.microsoft.com/office/drawing/2014/main" id="{5AD42007-FB7A-2DF2-7CE9-FD98255BC638}"/>
              </a:ext>
            </a:extLst>
          </p:cNvPr>
          <p:cNvSpPr txBox="1"/>
          <p:nvPr/>
        </p:nvSpPr>
        <p:spPr>
          <a:xfrm>
            <a:off x="7556672" y="294525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2" name="Oval 112">
            <a:extLst>
              <a:ext uri="{FF2B5EF4-FFF2-40B4-BE49-F238E27FC236}">
                <a16:creationId xmlns:a16="http://schemas.microsoft.com/office/drawing/2014/main" id="{BC761D4C-6ED2-5F4D-D129-6F4CE8F763BD}"/>
              </a:ext>
            </a:extLst>
          </p:cNvPr>
          <p:cNvSpPr/>
          <p:nvPr/>
        </p:nvSpPr>
        <p:spPr>
          <a:xfrm>
            <a:off x="7328072" y="296324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4" name="TextBox 83">
            <a:extLst>
              <a:ext uri="{FF2B5EF4-FFF2-40B4-BE49-F238E27FC236}">
                <a16:creationId xmlns:a16="http://schemas.microsoft.com/office/drawing/2014/main" id="{CE09C8DF-481E-DEC5-6C04-A01FCBF9328E}"/>
              </a:ext>
            </a:extLst>
          </p:cNvPr>
          <p:cNvSpPr txBox="1"/>
          <p:nvPr/>
        </p:nvSpPr>
        <p:spPr>
          <a:xfrm>
            <a:off x="7556670" y="3230844"/>
            <a:ext cx="4292870" cy="3016210"/>
          </a:xfrm>
          <a:prstGeom prst="rect">
            <a:avLst/>
          </a:prstGeom>
          <a:noFill/>
        </p:spPr>
        <p:txBody>
          <a:bodyPr wrap="square" rtlCol="0">
            <a:spAutoFit/>
          </a:bodyPr>
          <a:lstStyle/>
          <a:p>
            <a:r>
              <a:rPr lang="en-US" altLang="zh-CN" sz="1000" b="1">
                <a:cs typeface="Lato Light"/>
              </a:rPr>
              <a:t>Sorting</a:t>
            </a:r>
            <a:r>
              <a:rPr lang="en-US" altLang="zh-CN" sz="1000">
                <a:cs typeface="Lato Light"/>
              </a:rPr>
              <a:t>: sort results by clicking a column header.</a:t>
            </a:r>
          </a:p>
          <a:p>
            <a:r>
              <a:rPr lang="en-US" altLang="zh-CN" sz="1000" b="1">
                <a:cs typeface="Lato Light"/>
              </a:rPr>
              <a:t>Column Resize</a:t>
            </a:r>
            <a:r>
              <a:rPr lang="en-US" altLang="zh-CN" sz="1000">
                <a:cs typeface="Lato Light"/>
              </a:rPr>
              <a:t>: resize columns by dragging the column boundary.</a:t>
            </a:r>
          </a:p>
          <a:p>
            <a:r>
              <a:rPr lang="en-US" altLang="zh-CN" sz="1000" b="1">
                <a:cs typeface="Lato Light"/>
              </a:rPr>
              <a:t>Column Reorder</a:t>
            </a:r>
            <a:r>
              <a:rPr lang="en-US" altLang="zh-CN" sz="1000">
                <a:cs typeface="Lato Light"/>
              </a:rPr>
              <a:t>: rearrange columns by dragging the column header to a different position.</a:t>
            </a:r>
          </a:p>
          <a:p>
            <a:r>
              <a:rPr lang="en-US" altLang="zh-CN" sz="1000" b="1">
                <a:cs typeface="Lato Light"/>
              </a:rPr>
              <a:t>Data Dictionary</a:t>
            </a:r>
            <a:r>
              <a:rPr lang="en-US" altLang="zh-CN" sz="1000">
                <a:cs typeface="Lato Light"/>
              </a:rPr>
              <a:t>: click the </a:t>
            </a:r>
            <a:r>
              <a:rPr lang="en-US" altLang="zh-CN" sz="1000" b="1">
                <a:cs typeface="Lato Light"/>
              </a:rPr>
              <a:t>(?) icon </a:t>
            </a:r>
            <a:r>
              <a:rPr lang="en-US" altLang="zh-CN" sz="1000">
                <a:cs typeface="Lato Light"/>
              </a:rPr>
              <a:t>next to Product Type to view available values and their descriptions.</a:t>
            </a:r>
          </a:p>
          <a:p>
            <a:r>
              <a:rPr lang="en-US" altLang="zh-CN" sz="1000" b="1">
                <a:cs typeface="Lato Light"/>
              </a:rPr>
              <a:t>Record Selection</a:t>
            </a:r>
            <a:r>
              <a:rPr lang="en-US" altLang="zh-CN" sz="1000">
                <a:cs typeface="Lato Light"/>
              </a:rPr>
              <a:t>:</a:t>
            </a:r>
            <a:r>
              <a:rPr lang="en-US" altLang="zh-CN" sz="1000" b="1">
                <a:cs typeface="Lato Light"/>
              </a:rPr>
              <a:t> </a:t>
            </a:r>
            <a:r>
              <a:rPr lang="en-US" altLang="zh-CN" sz="1000">
                <a:cs typeface="Lato Light"/>
              </a:rPr>
              <a:t>select records using the row checkbox or use the header checkbox to select all records on the current page.</a:t>
            </a:r>
          </a:p>
          <a:p>
            <a:r>
              <a:rPr lang="en-US" altLang="zh-CN" sz="1000" b="1">
                <a:cs typeface="Lato Light"/>
              </a:rPr>
              <a:t>Record Details Navigation</a:t>
            </a:r>
            <a:r>
              <a:rPr lang="en-US" altLang="zh-CN" sz="1000">
                <a:cs typeface="Lato Light"/>
              </a:rPr>
              <a:t>:</a:t>
            </a:r>
            <a:r>
              <a:rPr lang="en-US" altLang="zh-CN" sz="1000" b="1">
                <a:cs typeface="Lato Light"/>
              </a:rPr>
              <a:t> </a:t>
            </a:r>
            <a:r>
              <a:rPr lang="en-US" altLang="zh-CN" sz="1000">
                <a:cs typeface="Lato Light"/>
              </a:rPr>
              <a:t>click the </a:t>
            </a:r>
            <a:r>
              <a:rPr lang="en-US" altLang="zh-CN" sz="1000" b="1">
                <a:cs typeface="Lato Light"/>
              </a:rPr>
              <a:t>Product Number hyperlink </a:t>
            </a:r>
            <a:r>
              <a:rPr lang="en-US" altLang="zh-CN" sz="1000">
                <a:cs typeface="Lato Light"/>
              </a:rPr>
              <a:t>to open the Product Master Detail page.</a:t>
            </a:r>
          </a:p>
          <a:p>
            <a:r>
              <a:rPr lang="en-US" altLang="zh-CN" sz="1000" b="1">
                <a:cs typeface="Lato Light"/>
              </a:rPr>
              <a:t>Pagination</a:t>
            </a:r>
            <a:r>
              <a:rPr lang="en-US" altLang="zh-CN" sz="1000">
                <a:cs typeface="Lato Light"/>
              </a:rPr>
              <a:t>: By default, 20 records are displayed per page. Users can navigate between pages using the page controls. Users can change the number of displayed records using the Rows per page selector.</a:t>
            </a:r>
          </a:p>
          <a:p>
            <a:r>
              <a:rPr lang="en-US" altLang="zh-CN" sz="1000" b="1">
                <a:cs typeface="Lato Light"/>
              </a:rPr>
              <a:t>Settings</a:t>
            </a:r>
            <a:r>
              <a:rPr lang="en-US" altLang="zh-CN" sz="1000">
                <a:cs typeface="Lato Light"/>
              </a:rPr>
              <a:t>: customize the result list by selecting which fields are displayed. Users can save the layout as a </a:t>
            </a:r>
            <a:r>
              <a:rPr lang="en-US" altLang="zh-CN" sz="1000" b="1">
                <a:cs typeface="Lato Light"/>
              </a:rPr>
              <a:t>configuration</a:t>
            </a:r>
            <a:r>
              <a:rPr lang="en-US" altLang="zh-CN" sz="1000">
                <a:cs typeface="Lato Light"/>
              </a:rPr>
              <a:t> and reuse it in future sessions.</a:t>
            </a:r>
          </a:p>
          <a:p>
            <a:r>
              <a:rPr lang="en-US" altLang="zh-CN" sz="1000" b="1">
                <a:cs typeface="Lato Light"/>
              </a:rPr>
              <a:t>Full Screen</a:t>
            </a:r>
            <a:r>
              <a:rPr lang="en-US" altLang="zh-CN" sz="1000">
                <a:cs typeface="Lato Light"/>
              </a:rPr>
              <a:t>: expand the result list for easier review.</a:t>
            </a:r>
          </a:p>
          <a:p>
            <a:r>
              <a:rPr lang="en-US" altLang="zh-CN" sz="1000" b="1">
                <a:cs typeface="Lato Light"/>
              </a:rPr>
              <a:t>Download: </a:t>
            </a:r>
            <a:r>
              <a:rPr lang="en-US" altLang="zh-CN" sz="1000">
                <a:cs typeface="Lato Light"/>
              </a:rPr>
              <a:t>exports product master data for offline analysis.</a:t>
            </a:r>
          </a:p>
          <a:p>
            <a:r>
              <a:rPr lang="en-US" altLang="zh-CN" sz="1000">
                <a:cs typeface="Lato Light"/>
              </a:rPr>
              <a:t>Download All Data: export all records returned by the current search.</a:t>
            </a:r>
          </a:p>
          <a:p>
            <a:r>
              <a:rPr lang="en-US" altLang="zh-CN" sz="1000">
                <a:cs typeface="Lato Light"/>
              </a:rPr>
              <a:t>Download Selected Data: export only the selected records.</a:t>
            </a:r>
          </a:p>
        </p:txBody>
      </p:sp>
      <p:sp>
        <p:nvSpPr>
          <p:cNvPr id="19" name="Oval 111">
            <a:extLst>
              <a:ext uri="{FF2B5EF4-FFF2-40B4-BE49-F238E27FC236}">
                <a16:creationId xmlns:a16="http://schemas.microsoft.com/office/drawing/2014/main" id="{CD7915E0-F8FF-7445-E441-2E4517727A5F}"/>
              </a:ext>
            </a:extLst>
          </p:cNvPr>
          <p:cNvSpPr/>
          <p:nvPr/>
        </p:nvSpPr>
        <p:spPr>
          <a:xfrm>
            <a:off x="1128942" y="196010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0" name="Oval 112">
            <a:extLst>
              <a:ext uri="{FF2B5EF4-FFF2-40B4-BE49-F238E27FC236}">
                <a16:creationId xmlns:a16="http://schemas.microsoft.com/office/drawing/2014/main" id="{3D81E072-3782-AC0C-6973-C364F8D02DAA}"/>
              </a:ext>
            </a:extLst>
          </p:cNvPr>
          <p:cNvSpPr/>
          <p:nvPr/>
        </p:nvSpPr>
        <p:spPr>
          <a:xfrm>
            <a:off x="3459751" y="2858956"/>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22" name="图片 21">
            <a:extLst>
              <a:ext uri="{FF2B5EF4-FFF2-40B4-BE49-F238E27FC236}">
                <a16:creationId xmlns:a16="http://schemas.microsoft.com/office/drawing/2014/main" id="{2B900460-7096-DD82-10E0-F0D7A4F2D6E0}"/>
              </a:ext>
            </a:extLst>
          </p:cNvPr>
          <p:cNvPicPr>
            <a:picLocks noChangeAspect="1"/>
          </p:cNvPicPr>
          <p:nvPr/>
        </p:nvPicPr>
        <p:blipFill>
          <a:blip r:embed="rId3"/>
          <a:stretch>
            <a:fillRect/>
          </a:stretch>
        </p:blipFill>
        <p:spPr>
          <a:xfrm>
            <a:off x="1310706" y="4598434"/>
            <a:ext cx="2587029" cy="2028677"/>
          </a:xfrm>
          <a:prstGeom prst="rect">
            <a:avLst/>
          </a:prstGeom>
        </p:spPr>
      </p:pic>
    </p:spTree>
    <p:extLst>
      <p:ext uri="{BB962C8B-B14F-4D97-AF65-F5344CB8AC3E}">
        <p14:creationId xmlns:p14="http://schemas.microsoft.com/office/powerpoint/2010/main" val="8817639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9" grpId="0" animBg="1"/>
      <p:bldP spid="8" grpId="0"/>
      <p:bldP spid="12" grpId="0" animBg="1"/>
      <p:bldP spid="14" grpId="0"/>
      <p:bldP spid="19" grpId="0" animBg="1"/>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9E1D2-679E-0544-2D60-A062F20E7D2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2F0EB9B-F209-100B-788F-AC4F82CE9B8A}"/>
              </a:ext>
            </a:extLst>
          </p:cNvPr>
          <p:cNvSpPr>
            <a:spLocks noGrp="1"/>
          </p:cNvSpPr>
          <p:nvPr>
            <p:ph type="title"/>
          </p:nvPr>
        </p:nvSpPr>
        <p:spPr/>
        <p:txBody>
          <a:bodyPr/>
          <a:lstStyle/>
          <a:p>
            <a:r>
              <a:rPr lang="en-US" altLang="zh-CN"/>
              <a:t>Product Master - Detail</a:t>
            </a:r>
            <a:endParaRPr lang="zh-CN" altLang="en-US"/>
          </a:p>
        </p:txBody>
      </p:sp>
      <p:sp>
        <p:nvSpPr>
          <p:cNvPr id="5" name="TextBox 72">
            <a:extLst>
              <a:ext uri="{FF2B5EF4-FFF2-40B4-BE49-F238E27FC236}">
                <a16:creationId xmlns:a16="http://schemas.microsoft.com/office/drawing/2014/main" id="{6723A0FB-E4D4-E5B4-DF0C-2B1CC69AD0BA}"/>
              </a:ext>
            </a:extLst>
          </p:cNvPr>
          <p:cNvSpPr txBox="1"/>
          <p:nvPr/>
        </p:nvSpPr>
        <p:spPr>
          <a:xfrm>
            <a:off x="8143661" y="1395927"/>
            <a:ext cx="193163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General Information</a:t>
            </a:r>
          </a:p>
        </p:txBody>
      </p:sp>
      <p:sp>
        <p:nvSpPr>
          <p:cNvPr id="6" name="TextBox 73">
            <a:extLst>
              <a:ext uri="{FF2B5EF4-FFF2-40B4-BE49-F238E27FC236}">
                <a16:creationId xmlns:a16="http://schemas.microsoft.com/office/drawing/2014/main" id="{D0CF7F41-6270-9432-5792-3819532AAC44}"/>
              </a:ext>
            </a:extLst>
          </p:cNvPr>
          <p:cNvSpPr txBox="1"/>
          <p:nvPr/>
        </p:nvSpPr>
        <p:spPr>
          <a:xfrm>
            <a:off x="8141591" y="1656328"/>
            <a:ext cx="2970759" cy="400110"/>
          </a:xfrm>
          <a:prstGeom prst="rect">
            <a:avLst/>
          </a:prstGeom>
          <a:noFill/>
        </p:spPr>
        <p:txBody>
          <a:bodyPr wrap="square" rtlCol="0">
            <a:spAutoFit/>
          </a:bodyPr>
          <a:lstStyle/>
          <a:p>
            <a:r>
              <a:rPr lang="en-US" altLang="zh-CN" sz="1000">
                <a:cs typeface="Lato Light"/>
              </a:rPr>
              <a:t>The General Information tab displays the core attributes of the product.</a:t>
            </a:r>
            <a:endParaRPr lang="en-US" sz="1000">
              <a:cs typeface="Lato Light"/>
            </a:endParaRPr>
          </a:p>
        </p:txBody>
      </p:sp>
      <p:sp>
        <p:nvSpPr>
          <p:cNvPr id="7" name="TextBox 82">
            <a:extLst>
              <a:ext uri="{FF2B5EF4-FFF2-40B4-BE49-F238E27FC236}">
                <a16:creationId xmlns:a16="http://schemas.microsoft.com/office/drawing/2014/main" id="{CA542023-BA87-0361-4A03-E872703818E9}"/>
              </a:ext>
            </a:extLst>
          </p:cNvPr>
          <p:cNvSpPr txBox="1"/>
          <p:nvPr/>
        </p:nvSpPr>
        <p:spPr>
          <a:xfrm>
            <a:off x="8126469" y="2175576"/>
            <a:ext cx="1939214" cy="292388"/>
          </a:xfrm>
          <a:prstGeom prst="rect">
            <a:avLst/>
          </a:prstGeom>
          <a:noFill/>
        </p:spPr>
        <p:txBody>
          <a:bodyPr wrap="square" rtlCol="0">
            <a:spAutoFit/>
          </a:bodyPr>
          <a:lstStyle/>
          <a:p>
            <a:r>
              <a:rPr lang="en-US" sz="1300" b="1">
                <a:solidFill>
                  <a:srgbClr val="126C36"/>
                </a:solidFill>
                <a:cs typeface="Lato Regular"/>
              </a:rPr>
              <a:t>Classification</a:t>
            </a:r>
          </a:p>
        </p:txBody>
      </p:sp>
      <p:sp>
        <p:nvSpPr>
          <p:cNvPr id="8" name="TextBox 83">
            <a:extLst>
              <a:ext uri="{FF2B5EF4-FFF2-40B4-BE49-F238E27FC236}">
                <a16:creationId xmlns:a16="http://schemas.microsoft.com/office/drawing/2014/main" id="{5FD92E77-756C-437F-7D7C-2C8FA273C312}"/>
              </a:ext>
            </a:extLst>
          </p:cNvPr>
          <p:cNvSpPr txBox="1"/>
          <p:nvPr/>
        </p:nvSpPr>
        <p:spPr>
          <a:xfrm>
            <a:off x="8138975" y="2422171"/>
            <a:ext cx="2973376" cy="1323439"/>
          </a:xfrm>
          <a:prstGeom prst="rect">
            <a:avLst/>
          </a:prstGeom>
          <a:noFill/>
        </p:spPr>
        <p:txBody>
          <a:bodyPr wrap="square" rtlCol="0">
            <a:spAutoFit/>
          </a:bodyPr>
          <a:lstStyle/>
          <a:p>
            <a:r>
              <a:rPr lang="en-US" sz="1000">
                <a:cs typeface="Lato Light"/>
              </a:rPr>
              <a:t>The Classification tab displays product classification characteristics and values used for billing and business processing.</a:t>
            </a:r>
          </a:p>
          <a:p>
            <a:endParaRPr lang="en-US" sz="1000">
              <a:cs typeface="Lato Light"/>
            </a:endParaRPr>
          </a:p>
          <a:p>
            <a:r>
              <a:rPr lang="en-US" sz="1000">
                <a:cs typeface="Lato Light"/>
              </a:rPr>
              <a:t>For example, SCREENSIZE may be maintained for specific business scenarios such as </a:t>
            </a:r>
            <a:r>
              <a:rPr lang="en-US" sz="1000" err="1">
                <a:cs typeface="Lato Light"/>
              </a:rPr>
              <a:t>CA.Rc.Fee</a:t>
            </a:r>
            <a:r>
              <a:rPr lang="en-US" sz="1000">
                <a:cs typeface="Lato Light"/>
              </a:rPr>
              <a:t> calculation and processing.</a:t>
            </a:r>
          </a:p>
          <a:p>
            <a:endParaRPr lang="en-US" sz="1000">
              <a:cs typeface="Lato Light"/>
            </a:endParaRPr>
          </a:p>
        </p:txBody>
      </p:sp>
      <p:sp>
        <p:nvSpPr>
          <p:cNvPr id="29" name="Oval 111">
            <a:extLst>
              <a:ext uri="{FF2B5EF4-FFF2-40B4-BE49-F238E27FC236}">
                <a16:creationId xmlns:a16="http://schemas.microsoft.com/office/drawing/2014/main" id="{33EDB424-161B-7966-0CFD-D3CCA1048EFB}"/>
              </a:ext>
            </a:extLst>
          </p:cNvPr>
          <p:cNvSpPr/>
          <p:nvPr/>
        </p:nvSpPr>
        <p:spPr>
          <a:xfrm>
            <a:off x="7897869" y="146421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30" name="Oval 112">
            <a:extLst>
              <a:ext uri="{FF2B5EF4-FFF2-40B4-BE49-F238E27FC236}">
                <a16:creationId xmlns:a16="http://schemas.microsoft.com/office/drawing/2014/main" id="{634C530E-D72C-C101-E755-65E6C7B799D1}"/>
              </a:ext>
            </a:extLst>
          </p:cNvPr>
          <p:cNvSpPr/>
          <p:nvPr/>
        </p:nvSpPr>
        <p:spPr>
          <a:xfrm>
            <a:off x="7897869" y="2193571"/>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 name="Text 2">
            <a:extLst>
              <a:ext uri="{FF2B5EF4-FFF2-40B4-BE49-F238E27FC236}">
                <a16:creationId xmlns:a16="http://schemas.microsoft.com/office/drawing/2014/main" id="{BF3CFBD7-43AB-4BB0-D1E7-204B3713B0B0}"/>
              </a:ext>
            </a:extLst>
          </p:cNvPr>
          <p:cNvSpPr/>
          <p:nvPr/>
        </p:nvSpPr>
        <p:spPr>
          <a:xfrm>
            <a:off x="320183" y="810211"/>
            <a:ext cx="11204412" cy="509377"/>
          </a:xfrm>
          <a:prstGeom prst="rect">
            <a:avLst/>
          </a:prstGeom>
          <a:noFill/>
          <a:ln/>
        </p:spPr>
        <p:txBody>
          <a:bodyPr wrap="square" lIns="0" tIns="0" rIns="0" bIns="0" rtlCol="0" anchor="ctr">
            <a:normAutofit/>
          </a:bodyPr>
          <a:lstStyle/>
          <a:p>
            <a:r>
              <a:rPr lang="en-US" altLang="zh-CN" sz="1200"/>
              <a:t>The Product Master Detail page provides comprehensive information about a product master record in </a:t>
            </a:r>
            <a:r>
              <a:rPr lang="en-US" altLang="zh-CN" sz="1200" err="1"/>
              <a:t>NexBill</a:t>
            </a:r>
            <a:r>
              <a:rPr lang="en-US" altLang="zh-CN" sz="1200"/>
              <a:t>. Users can review product attributes, classifications, sales organization data, plant information, tax settings, bundle structures, change requests, and historical changes associated with the product.</a:t>
            </a:r>
          </a:p>
        </p:txBody>
      </p:sp>
      <p:pic>
        <p:nvPicPr>
          <p:cNvPr id="15" name="图片 14">
            <a:extLst>
              <a:ext uri="{FF2B5EF4-FFF2-40B4-BE49-F238E27FC236}">
                <a16:creationId xmlns:a16="http://schemas.microsoft.com/office/drawing/2014/main" id="{28CFBB34-0488-F893-808D-C8507D346AB1}"/>
              </a:ext>
            </a:extLst>
          </p:cNvPr>
          <p:cNvPicPr>
            <a:picLocks noChangeAspect="1"/>
          </p:cNvPicPr>
          <p:nvPr/>
        </p:nvPicPr>
        <p:blipFill>
          <a:blip r:embed="rId2"/>
          <a:stretch>
            <a:fillRect/>
          </a:stretch>
        </p:blipFill>
        <p:spPr>
          <a:xfrm>
            <a:off x="330101" y="1471316"/>
            <a:ext cx="7353521" cy="2347250"/>
          </a:xfrm>
          <a:prstGeom prst="rect">
            <a:avLst/>
          </a:prstGeom>
        </p:spPr>
      </p:pic>
      <p:pic>
        <p:nvPicPr>
          <p:cNvPr id="17" name="图片 16">
            <a:extLst>
              <a:ext uri="{FF2B5EF4-FFF2-40B4-BE49-F238E27FC236}">
                <a16:creationId xmlns:a16="http://schemas.microsoft.com/office/drawing/2014/main" id="{8AA8A79A-0723-8A5B-7F46-DBF18967890F}"/>
              </a:ext>
            </a:extLst>
          </p:cNvPr>
          <p:cNvPicPr>
            <a:picLocks noChangeAspect="1"/>
          </p:cNvPicPr>
          <p:nvPr/>
        </p:nvPicPr>
        <p:blipFill>
          <a:blip r:embed="rId3"/>
          <a:stretch>
            <a:fillRect/>
          </a:stretch>
        </p:blipFill>
        <p:spPr>
          <a:xfrm>
            <a:off x="356952" y="3642604"/>
            <a:ext cx="7299818" cy="1325353"/>
          </a:xfrm>
          <a:prstGeom prst="rect">
            <a:avLst/>
          </a:prstGeom>
        </p:spPr>
      </p:pic>
      <p:sp>
        <p:nvSpPr>
          <p:cNvPr id="18" name="Oval 111">
            <a:extLst>
              <a:ext uri="{FF2B5EF4-FFF2-40B4-BE49-F238E27FC236}">
                <a16:creationId xmlns:a16="http://schemas.microsoft.com/office/drawing/2014/main" id="{AAF4C88D-092C-9D4F-0BE7-B2EDD7E3A21A}"/>
              </a:ext>
            </a:extLst>
          </p:cNvPr>
          <p:cNvSpPr/>
          <p:nvPr/>
        </p:nvSpPr>
        <p:spPr>
          <a:xfrm>
            <a:off x="544348" y="2139347"/>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9" name="Oval 112">
            <a:extLst>
              <a:ext uri="{FF2B5EF4-FFF2-40B4-BE49-F238E27FC236}">
                <a16:creationId xmlns:a16="http://schemas.microsoft.com/office/drawing/2014/main" id="{A86992E0-3C4E-7D91-57CF-BE045552385A}"/>
              </a:ext>
            </a:extLst>
          </p:cNvPr>
          <p:cNvSpPr/>
          <p:nvPr/>
        </p:nvSpPr>
        <p:spPr>
          <a:xfrm>
            <a:off x="1209908" y="432135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9" name="图片 8">
            <a:extLst>
              <a:ext uri="{FF2B5EF4-FFF2-40B4-BE49-F238E27FC236}">
                <a16:creationId xmlns:a16="http://schemas.microsoft.com/office/drawing/2014/main" id="{2ADBAA1E-25C5-F854-5BA2-F5BD76091822}"/>
              </a:ext>
            </a:extLst>
          </p:cNvPr>
          <p:cNvPicPr>
            <a:picLocks noChangeAspect="1"/>
          </p:cNvPicPr>
          <p:nvPr/>
        </p:nvPicPr>
        <p:blipFill>
          <a:blip r:embed="rId4"/>
          <a:stretch>
            <a:fillRect/>
          </a:stretch>
        </p:blipFill>
        <p:spPr>
          <a:xfrm>
            <a:off x="356952" y="5004845"/>
            <a:ext cx="6929449" cy="1655258"/>
          </a:xfrm>
          <a:prstGeom prst="rect">
            <a:avLst/>
          </a:prstGeom>
        </p:spPr>
      </p:pic>
      <p:sp>
        <p:nvSpPr>
          <p:cNvPr id="10" name="TextBox 97">
            <a:extLst>
              <a:ext uri="{FF2B5EF4-FFF2-40B4-BE49-F238E27FC236}">
                <a16:creationId xmlns:a16="http://schemas.microsoft.com/office/drawing/2014/main" id="{9B3417F8-6C48-6E91-DDDE-B700F7B192F9}"/>
              </a:ext>
            </a:extLst>
          </p:cNvPr>
          <p:cNvSpPr txBox="1"/>
          <p:nvPr/>
        </p:nvSpPr>
        <p:spPr>
          <a:xfrm>
            <a:off x="8124257" y="3753305"/>
            <a:ext cx="1897289" cy="292388"/>
          </a:xfrm>
          <a:prstGeom prst="rect">
            <a:avLst/>
          </a:prstGeom>
          <a:noFill/>
        </p:spPr>
        <p:txBody>
          <a:bodyPr wrap="square" rtlCol="0">
            <a:spAutoFit/>
          </a:bodyPr>
          <a:lstStyle/>
          <a:p>
            <a:r>
              <a:rPr lang="en-US" sz="1300" b="1">
                <a:solidFill>
                  <a:srgbClr val="F26A52"/>
                </a:solidFill>
                <a:cs typeface="Lato Regular"/>
              </a:rPr>
              <a:t>Distribution Chains</a:t>
            </a:r>
          </a:p>
        </p:txBody>
      </p:sp>
      <p:sp>
        <p:nvSpPr>
          <p:cNvPr id="11" name="TextBox 98">
            <a:extLst>
              <a:ext uri="{FF2B5EF4-FFF2-40B4-BE49-F238E27FC236}">
                <a16:creationId xmlns:a16="http://schemas.microsoft.com/office/drawing/2014/main" id="{2A32611C-F457-42DF-8D6C-5456FBEE5CFA}"/>
              </a:ext>
            </a:extLst>
          </p:cNvPr>
          <p:cNvSpPr txBox="1"/>
          <p:nvPr/>
        </p:nvSpPr>
        <p:spPr>
          <a:xfrm>
            <a:off x="8136762" y="4041079"/>
            <a:ext cx="2973377" cy="861774"/>
          </a:xfrm>
          <a:prstGeom prst="rect">
            <a:avLst/>
          </a:prstGeom>
          <a:noFill/>
        </p:spPr>
        <p:txBody>
          <a:bodyPr wrap="square" rtlCol="0">
            <a:spAutoFit/>
          </a:bodyPr>
          <a:lstStyle/>
          <a:p>
            <a:r>
              <a:rPr lang="en-US" sz="1000">
                <a:cs typeface="Lato Light"/>
              </a:rPr>
              <a:t>The Distribution Chains tab displays sales organization related information for the product.</a:t>
            </a:r>
          </a:p>
          <a:p>
            <a:endParaRPr lang="en-US" sz="1000">
              <a:cs typeface="Lato Light"/>
            </a:endParaRPr>
          </a:p>
          <a:p>
            <a:r>
              <a:rPr lang="en-US" sz="1000">
                <a:cs typeface="Lato Light"/>
              </a:rPr>
              <a:t>A product may have multiple distribution chain records.</a:t>
            </a:r>
          </a:p>
        </p:txBody>
      </p:sp>
      <p:sp>
        <p:nvSpPr>
          <p:cNvPr id="12" name="Oval 114">
            <a:extLst>
              <a:ext uri="{FF2B5EF4-FFF2-40B4-BE49-F238E27FC236}">
                <a16:creationId xmlns:a16="http://schemas.microsoft.com/office/drawing/2014/main" id="{D3A78D0B-0395-DF95-C0ED-1EE9DF741D68}"/>
              </a:ext>
            </a:extLst>
          </p:cNvPr>
          <p:cNvSpPr/>
          <p:nvPr/>
        </p:nvSpPr>
        <p:spPr>
          <a:xfrm>
            <a:off x="7897869" y="379965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3" name="Oval 114">
            <a:extLst>
              <a:ext uri="{FF2B5EF4-FFF2-40B4-BE49-F238E27FC236}">
                <a16:creationId xmlns:a16="http://schemas.microsoft.com/office/drawing/2014/main" id="{5147AF1A-C65A-DF3B-16DF-B9F513296677}"/>
              </a:ext>
            </a:extLst>
          </p:cNvPr>
          <p:cNvSpPr/>
          <p:nvPr/>
        </p:nvSpPr>
        <p:spPr>
          <a:xfrm>
            <a:off x="1604046" y="5603874"/>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6564310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29" grpId="0" animBg="1"/>
      <p:bldP spid="30" grpId="0" animBg="1"/>
      <p:bldP spid="18" grpId="0" animBg="1"/>
      <p:bldP spid="19" grpId="0" animBg="1"/>
      <p:bldP spid="10" grpId="0"/>
      <p:bldP spid="11" grpId="0"/>
      <p:bldP spid="12" grpId="0" animBg="1"/>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902F1-1923-D337-43A4-8D2F40917E4F}"/>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E7AE118D-D86F-7E79-4B3D-ADDF8F68B845}"/>
              </a:ext>
            </a:extLst>
          </p:cNvPr>
          <p:cNvPicPr>
            <a:picLocks noChangeAspect="1"/>
          </p:cNvPicPr>
          <p:nvPr/>
        </p:nvPicPr>
        <p:blipFill>
          <a:blip r:embed="rId2"/>
          <a:stretch>
            <a:fillRect/>
          </a:stretch>
        </p:blipFill>
        <p:spPr>
          <a:xfrm>
            <a:off x="320182" y="2662907"/>
            <a:ext cx="7076525" cy="1983969"/>
          </a:xfrm>
          <a:prstGeom prst="rect">
            <a:avLst/>
          </a:prstGeom>
        </p:spPr>
      </p:pic>
      <p:pic>
        <p:nvPicPr>
          <p:cNvPr id="16" name="图片 15">
            <a:extLst>
              <a:ext uri="{FF2B5EF4-FFF2-40B4-BE49-F238E27FC236}">
                <a16:creationId xmlns:a16="http://schemas.microsoft.com/office/drawing/2014/main" id="{8BEA1C39-4C24-C7D6-CC95-A8C60F1ECB26}"/>
              </a:ext>
            </a:extLst>
          </p:cNvPr>
          <p:cNvPicPr>
            <a:picLocks noChangeAspect="1"/>
          </p:cNvPicPr>
          <p:nvPr/>
        </p:nvPicPr>
        <p:blipFill>
          <a:blip r:embed="rId3"/>
          <a:stretch>
            <a:fillRect/>
          </a:stretch>
        </p:blipFill>
        <p:spPr>
          <a:xfrm>
            <a:off x="315037" y="4453971"/>
            <a:ext cx="5418082" cy="2173140"/>
          </a:xfrm>
          <a:prstGeom prst="rect">
            <a:avLst/>
          </a:prstGeom>
        </p:spPr>
      </p:pic>
      <p:pic>
        <p:nvPicPr>
          <p:cNvPr id="11" name="图片 10">
            <a:extLst>
              <a:ext uri="{FF2B5EF4-FFF2-40B4-BE49-F238E27FC236}">
                <a16:creationId xmlns:a16="http://schemas.microsoft.com/office/drawing/2014/main" id="{4BC11587-4CAD-6716-4C78-76C09FC0EFA5}"/>
              </a:ext>
            </a:extLst>
          </p:cNvPr>
          <p:cNvPicPr>
            <a:picLocks noChangeAspect="1"/>
          </p:cNvPicPr>
          <p:nvPr/>
        </p:nvPicPr>
        <p:blipFill>
          <a:blip r:embed="rId4"/>
          <a:stretch>
            <a:fillRect/>
          </a:stretch>
        </p:blipFill>
        <p:spPr>
          <a:xfrm>
            <a:off x="321694" y="1057019"/>
            <a:ext cx="7076525" cy="1629862"/>
          </a:xfrm>
          <a:prstGeom prst="rect">
            <a:avLst/>
          </a:prstGeom>
        </p:spPr>
      </p:pic>
      <p:sp>
        <p:nvSpPr>
          <p:cNvPr id="3" name="标题 2">
            <a:extLst>
              <a:ext uri="{FF2B5EF4-FFF2-40B4-BE49-F238E27FC236}">
                <a16:creationId xmlns:a16="http://schemas.microsoft.com/office/drawing/2014/main" id="{FDBA8CB1-4D19-3E38-B8C4-E59ADDB5013D}"/>
              </a:ext>
            </a:extLst>
          </p:cNvPr>
          <p:cNvSpPr>
            <a:spLocks noGrp="1"/>
          </p:cNvSpPr>
          <p:nvPr>
            <p:ph type="title"/>
          </p:nvPr>
        </p:nvSpPr>
        <p:spPr/>
        <p:txBody>
          <a:bodyPr/>
          <a:lstStyle/>
          <a:p>
            <a:r>
              <a:rPr lang="en-US" altLang="zh-CN"/>
              <a:t>Product Master - Detail</a:t>
            </a:r>
            <a:endParaRPr lang="zh-CN" altLang="en-US"/>
          </a:p>
        </p:txBody>
      </p:sp>
      <p:sp>
        <p:nvSpPr>
          <p:cNvPr id="9" name="TextBox 92">
            <a:extLst>
              <a:ext uri="{FF2B5EF4-FFF2-40B4-BE49-F238E27FC236}">
                <a16:creationId xmlns:a16="http://schemas.microsoft.com/office/drawing/2014/main" id="{A5667466-5DC0-502A-30D4-C056709F2AAA}"/>
              </a:ext>
            </a:extLst>
          </p:cNvPr>
          <p:cNvSpPr txBox="1"/>
          <p:nvPr/>
        </p:nvSpPr>
        <p:spPr>
          <a:xfrm>
            <a:off x="7832983" y="1010262"/>
            <a:ext cx="1839512" cy="292388"/>
          </a:xfrm>
          <a:prstGeom prst="rect">
            <a:avLst/>
          </a:prstGeom>
          <a:noFill/>
        </p:spPr>
        <p:txBody>
          <a:bodyPr wrap="square" rtlCol="0">
            <a:spAutoFit/>
          </a:bodyPr>
          <a:lstStyle/>
          <a:p>
            <a:r>
              <a:rPr lang="en-US" sz="1300" b="1">
                <a:solidFill>
                  <a:schemeClr val="accent4">
                    <a:lumMod val="75000"/>
                    <a:lumOff val="25000"/>
                  </a:schemeClr>
                </a:solidFill>
                <a:cs typeface="Lato Regular"/>
              </a:rPr>
              <a:t>Plants</a:t>
            </a:r>
            <a:endParaRPr lang="id-ID" sz="1300" b="1">
              <a:solidFill>
                <a:schemeClr val="accent4">
                  <a:lumMod val="75000"/>
                  <a:lumOff val="25000"/>
                </a:schemeClr>
              </a:solidFill>
              <a:cs typeface="Lato Regular"/>
            </a:endParaRPr>
          </a:p>
        </p:txBody>
      </p:sp>
      <p:sp>
        <p:nvSpPr>
          <p:cNvPr id="10" name="TextBox 93">
            <a:extLst>
              <a:ext uri="{FF2B5EF4-FFF2-40B4-BE49-F238E27FC236}">
                <a16:creationId xmlns:a16="http://schemas.microsoft.com/office/drawing/2014/main" id="{D9C72B97-EB9C-E295-0314-4036A5DB7674}"/>
              </a:ext>
            </a:extLst>
          </p:cNvPr>
          <p:cNvSpPr txBox="1"/>
          <p:nvPr/>
        </p:nvSpPr>
        <p:spPr>
          <a:xfrm>
            <a:off x="7832982" y="1280454"/>
            <a:ext cx="3314553" cy="861774"/>
          </a:xfrm>
          <a:prstGeom prst="rect">
            <a:avLst/>
          </a:prstGeom>
          <a:noFill/>
        </p:spPr>
        <p:txBody>
          <a:bodyPr wrap="square" rtlCol="0">
            <a:spAutoFit/>
          </a:bodyPr>
          <a:lstStyle/>
          <a:p>
            <a:r>
              <a:rPr lang="en-US" sz="1000">
                <a:cs typeface="Lato Light"/>
              </a:rPr>
              <a:t>The Plants tab displays plant-specific information associated with the product, includes:</a:t>
            </a:r>
          </a:p>
          <a:p>
            <a:r>
              <a:rPr lang="en-US" sz="1000">
                <a:cs typeface="Lato Light"/>
              </a:rPr>
              <a:t>Plant</a:t>
            </a:r>
          </a:p>
          <a:p>
            <a:r>
              <a:rPr lang="en-US" sz="1000">
                <a:cs typeface="Lato Light"/>
              </a:rPr>
              <a:t>Profit Center</a:t>
            </a:r>
          </a:p>
          <a:p>
            <a:r>
              <a:rPr lang="en-US" sz="1000">
                <a:cs typeface="Lato Light"/>
              </a:rPr>
              <a:t>Control Code</a:t>
            </a:r>
          </a:p>
        </p:txBody>
      </p:sp>
      <p:sp>
        <p:nvSpPr>
          <p:cNvPr id="13" name="Oval 113">
            <a:extLst>
              <a:ext uri="{FF2B5EF4-FFF2-40B4-BE49-F238E27FC236}">
                <a16:creationId xmlns:a16="http://schemas.microsoft.com/office/drawing/2014/main" id="{FF796A1B-DBCB-2744-32A7-B1717467E4DE}"/>
              </a:ext>
            </a:extLst>
          </p:cNvPr>
          <p:cNvSpPr/>
          <p:nvPr/>
        </p:nvSpPr>
        <p:spPr>
          <a:xfrm>
            <a:off x="7591877" y="1041129"/>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26" name="Oval 113">
            <a:extLst>
              <a:ext uri="{FF2B5EF4-FFF2-40B4-BE49-F238E27FC236}">
                <a16:creationId xmlns:a16="http://schemas.microsoft.com/office/drawing/2014/main" id="{2B3BEC8F-DBC9-C9B0-F732-269739A7E528}"/>
              </a:ext>
            </a:extLst>
          </p:cNvPr>
          <p:cNvSpPr/>
          <p:nvPr/>
        </p:nvSpPr>
        <p:spPr>
          <a:xfrm>
            <a:off x="2196902" y="1504186"/>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27" name="TextBox 93">
            <a:extLst>
              <a:ext uri="{FF2B5EF4-FFF2-40B4-BE49-F238E27FC236}">
                <a16:creationId xmlns:a16="http://schemas.microsoft.com/office/drawing/2014/main" id="{90CE7DCF-C70B-64D7-3920-5271891BA9FD}"/>
              </a:ext>
            </a:extLst>
          </p:cNvPr>
          <p:cNvSpPr txBox="1"/>
          <p:nvPr/>
        </p:nvSpPr>
        <p:spPr>
          <a:xfrm>
            <a:off x="7830770" y="2455616"/>
            <a:ext cx="3316766" cy="1015663"/>
          </a:xfrm>
          <a:prstGeom prst="rect">
            <a:avLst/>
          </a:prstGeom>
          <a:noFill/>
        </p:spPr>
        <p:txBody>
          <a:bodyPr wrap="square" rtlCol="0">
            <a:spAutoFit/>
          </a:bodyPr>
          <a:lstStyle/>
          <a:p>
            <a:r>
              <a:rPr lang="en-US" sz="1000">
                <a:cs typeface="Lato Light"/>
              </a:rPr>
              <a:t>The Sales Tax tab displays tax-related settings maintained for the product, includes:</a:t>
            </a:r>
          </a:p>
          <a:p>
            <a:r>
              <a:rPr lang="en-US" sz="1000">
                <a:cs typeface="Lato Light"/>
              </a:rPr>
              <a:t>Tax Classification</a:t>
            </a:r>
          </a:p>
          <a:p>
            <a:r>
              <a:rPr lang="en-US" sz="1000">
                <a:cs typeface="Lato Light"/>
              </a:rPr>
              <a:t>Tax Determination Attributes</a:t>
            </a:r>
          </a:p>
          <a:p>
            <a:r>
              <a:rPr lang="en-US" sz="1000">
                <a:cs typeface="Lato Light"/>
              </a:rPr>
              <a:t>Applicable Tax Settings</a:t>
            </a:r>
          </a:p>
          <a:p>
            <a:endParaRPr lang="en-US" sz="1000">
              <a:cs typeface="Lato Light"/>
            </a:endParaRPr>
          </a:p>
        </p:txBody>
      </p:sp>
      <p:sp>
        <p:nvSpPr>
          <p:cNvPr id="28" name="TextBox 92">
            <a:extLst>
              <a:ext uri="{FF2B5EF4-FFF2-40B4-BE49-F238E27FC236}">
                <a16:creationId xmlns:a16="http://schemas.microsoft.com/office/drawing/2014/main" id="{08FA5AB5-572C-CBA5-7CAC-D76CC2467D1C}"/>
              </a:ext>
            </a:extLst>
          </p:cNvPr>
          <p:cNvSpPr txBox="1"/>
          <p:nvPr/>
        </p:nvSpPr>
        <p:spPr>
          <a:xfrm>
            <a:off x="7832983" y="2168300"/>
            <a:ext cx="1839512" cy="292388"/>
          </a:xfrm>
          <a:prstGeom prst="rect">
            <a:avLst/>
          </a:prstGeom>
          <a:noFill/>
        </p:spPr>
        <p:txBody>
          <a:bodyPr wrap="square" rtlCol="0">
            <a:spAutoFit/>
          </a:bodyPr>
          <a:lstStyle/>
          <a:p>
            <a:r>
              <a:rPr lang="en-US" sz="1300" b="1">
                <a:solidFill>
                  <a:srgbClr val="57D3FF"/>
                </a:solidFill>
                <a:cs typeface="Lato Regular"/>
              </a:rPr>
              <a:t>Sales Tax</a:t>
            </a:r>
          </a:p>
        </p:txBody>
      </p:sp>
      <p:sp>
        <p:nvSpPr>
          <p:cNvPr id="31" name="Oval 113">
            <a:extLst>
              <a:ext uri="{FF2B5EF4-FFF2-40B4-BE49-F238E27FC236}">
                <a16:creationId xmlns:a16="http://schemas.microsoft.com/office/drawing/2014/main" id="{A26A8CF2-9B90-78AC-7F9D-62014DEC71BF}"/>
              </a:ext>
            </a:extLst>
          </p:cNvPr>
          <p:cNvSpPr/>
          <p:nvPr/>
        </p:nvSpPr>
        <p:spPr>
          <a:xfrm>
            <a:off x="7591877" y="2199167"/>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32" name="Oval 113">
            <a:extLst>
              <a:ext uri="{FF2B5EF4-FFF2-40B4-BE49-F238E27FC236}">
                <a16:creationId xmlns:a16="http://schemas.microsoft.com/office/drawing/2014/main" id="{9B0C0BDD-C26C-9CDC-DE53-E269F723A2C8}"/>
              </a:ext>
            </a:extLst>
          </p:cNvPr>
          <p:cNvSpPr/>
          <p:nvPr/>
        </p:nvSpPr>
        <p:spPr>
          <a:xfrm>
            <a:off x="2519505" y="3113690"/>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6" name="TextBox 93">
            <a:extLst>
              <a:ext uri="{FF2B5EF4-FFF2-40B4-BE49-F238E27FC236}">
                <a16:creationId xmlns:a16="http://schemas.microsoft.com/office/drawing/2014/main" id="{788AE51C-8AC3-3351-31A3-8587CCD8EAA9}"/>
              </a:ext>
            </a:extLst>
          </p:cNvPr>
          <p:cNvSpPr txBox="1"/>
          <p:nvPr/>
        </p:nvSpPr>
        <p:spPr>
          <a:xfrm>
            <a:off x="7830770" y="3690045"/>
            <a:ext cx="3379828" cy="1323439"/>
          </a:xfrm>
          <a:prstGeom prst="rect">
            <a:avLst/>
          </a:prstGeom>
          <a:noFill/>
        </p:spPr>
        <p:txBody>
          <a:bodyPr wrap="square" rtlCol="0">
            <a:spAutoFit/>
          </a:bodyPr>
          <a:lstStyle/>
          <a:p>
            <a:r>
              <a:rPr lang="en-US" altLang="zh-CN" sz="1000">
                <a:cs typeface="Lato Light"/>
              </a:rPr>
              <a:t>The Product Bundles tab is available for bundle products.</a:t>
            </a:r>
          </a:p>
          <a:p>
            <a:endParaRPr lang="en-US" altLang="zh-CN" sz="1000">
              <a:cs typeface="Lato Light"/>
            </a:endParaRPr>
          </a:p>
          <a:p>
            <a:r>
              <a:rPr lang="en-US" altLang="zh-CN" sz="1000">
                <a:cs typeface="Lato Light"/>
              </a:rPr>
              <a:t>It displays the bundle structure and associated component products maintained for the selected bundle product.</a:t>
            </a:r>
          </a:p>
          <a:p>
            <a:endParaRPr lang="en-US" altLang="zh-CN" sz="1000">
              <a:cs typeface="Lato Light"/>
            </a:endParaRPr>
          </a:p>
          <a:p>
            <a:r>
              <a:rPr lang="en-US" altLang="zh-CN" sz="1000">
                <a:cs typeface="Lato Light"/>
              </a:rPr>
              <a:t>This information is generated based on the bundle structure received from EPR.</a:t>
            </a:r>
            <a:endParaRPr lang="en-US" altLang="zh-CN" sz="1000" b="1">
              <a:cs typeface="Lato Light"/>
            </a:endParaRPr>
          </a:p>
        </p:txBody>
      </p:sp>
      <p:sp>
        <p:nvSpPr>
          <p:cNvPr id="8" name="Oval 113">
            <a:extLst>
              <a:ext uri="{FF2B5EF4-FFF2-40B4-BE49-F238E27FC236}">
                <a16:creationId xmlns:a16="http://schemas.microsoft.com/office/drawing/2014/main" id="{8E534265-1456-2987-B558-0A922332D88F}"/>
              </a:ext>
            </a:extLst>
          </p:cNvPr>
          <p:cNvSpPr/>
          <p:nvPr/>
        </p:nvSpPr>
        <p:spPr>
          <a:xfrm>
            <a:off x="2311202" y="4845085"/>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
        <p:nvSpPr>
          <p:cNvPr id="19" name="TextBox 92">
            <a:extLst>
              <a:ext uri="{FF2B5EF4-FFF2-40B4-BE49-F238E27FC236}">
                <a16:creationId xmlns:a16="http://schemas.microsoft.com/office/drawing/2014/main" id="{9DC7823F-F9AF-D27A-93AF-B05625C56C54}"/>
              </a:ext>
            </a:extLst>
          </p:cNvPr>
          <p:cNvSpPr txBox="1"/>
          <p:nvPr/>
        </p:nvSpPr>
        <p:spPr>
          <a:xfrm>
            <a:off x="7832983" y="3401157"/>
            <a:ext cx="1839512" cy="292388"/>
          </a:xfrm>
          <a:prstGeom prst="rect">
            <a:avLst/>
          </a:prstGeom>
          <a:noFill/>
        </p:spPr>
        <p:txBody>
          <a:bodyPr wrap="square" rtlCol="0">
            <a:spAutoFit/>
          </a:bodyPr>
          <a:lstStyle/>
          <a:p>
            <a:r>
              <a:rPr lang="en-US" sz="1300" b="1">
                <a:solidFill>
                  <a:srgbClr val="7030A0"/>
                </a:solidFill>
                <a:cs typeface="Lato Regular"/>
              </a:rPr>
              <a:t>Product Bundles</a:t>
            </a:r>
          </a:p>
        </p:txBody>
      </p:sp>
      <p:sp>
        <p:nvSpPr>
          <p:cNvPr id="21" name="Oval 113">
            <a:extLst>
              <a:ext uri="{FF2B5EF4-FFF2-40B4-BE49-F238E27FC236}">
                <a16:creationId xmlns:a16="http://schemas.microsoft.com/office/drawing/2014/main" id="{8592F42E-760C-9CA8-D9B9-E9B69F0FB1D6}"/>
              </a:ext>
            </a:extLst>
          </p:cNvPr>
          <p:cNvSpPr/>
          <p:nvPr/>
        </p:nvSpPr>
        <p:spPr>
          <a:xfrm>
            <a:off x="7591877" y="3432024"/>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Tree>
    <p:extLst>
      <p:ext uri="{BB962C8B-B14F-4D97-AF65-F5344CB8AC3E}">
        <p14:creationId xmlns:p14="http://schemas.microsoft.com/office/powerpoint/2010/main" val="3273568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animBg="1"/>
      <p:bldP spid="26" grpId="0" animBg="1"/>
      <p:bldP spid="27" grpId="0"/>
      <p:bldP spid="28" grpId="0"/>
      <p:bldP spid="31" grpId="0" animBg="1"/>
      <p:bldP spid="32" grpId="0" animBg="1"/>
      <p:bldP spid="6" grpId="0"/>
      <p:bldP spid="8" grpId="0" animBg="1"/>
      <p:bldP spid="19" grpId="0"/>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59F4-1A34-7601-9A1E-FB13B15232F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751F491-C2B7-5495-43BA-6036845F8D75}"/>
              </a:ext>
            </a:extLst>
          </p:cNvPr>
          <p:cNvSpPr>
            <a:spLocks noGrp="1"/>
          </p:cNvSpPr>
          <p:nvPr>
            <p:ph type="title"/>
          </p:nvPr>
        </p:nvSpPr>
        <p:spPr/>
        <p:txBody>
          <a:bodyPr/>
          <a:lstStyle/>
          <a:p>
            <a:r>
              <a:rPr lang="en-US" altLang="zh-CN"/>
              <a:t>Product Master – Detail - IaaS Specific Information</a:t>
            </a:r>
            <a:endParaRPr lang="zh-CN" altLang="en-US"/>
          </a:p>
        </p:txBody>
      </p:sp>
      <p:sp>
        <p:nvSpPr>
          <p:cNvPr id="2" name="Text 2">
            <a:extLst>
              <a:ext uri="{FF2B5EF4-FFF2-40B4-BE49-F238E27FC236}">
                <a16:creationId xmlns:a16="http://schemas.microsoft.com/office/drawing/2014/main" id="{552BE31B-A0EC-0B4F-B4C1-5098D09C1952}"/>
              </a:ext>
            </a:extLst>
          </p:cNvPr>
          <p:cNvSpPr/>
          <p:nvPr/>
        </p:nvSpPr>
        <p:spPr>
          <a:xfrm>
            <a:off x="320181" y="756408"/>
            <a:ext cx="11542177" cy="509377"/>
          </a:xfrm>
          <a:prstGeom prst="rect">
            <a:avLst/>
          </a:prstGeom>
          <a:noFill/>
          <a:ln/>
        </p:spPr>
        <p:txBody>
          <a:bodyPr wrap="square" lIns="0" tIns="0" rIns="0" bIns="0" rtlCol="0" anchor="ctr">
            <a:normAutofit/>
          </a:bodyPr>
          <a:lstStyle/>
          <a:p>
            <a:r>
              <a:rPr lang="en-US" altLang="zh-CN" sz="1200">
                <a:latin typeface="Aptos" pitchFamily="34" charset="0"/>
                <a:ea typeface="Aptos" pitchFamily="34" charset="-122"/>
                <a:cs typeface="Aptos" pitchFamily="34" charset="-120"/>
              </a:rPr>
              <a:t>IaaS usage product can be identified by Metering Type in Product Master.</a:t>
            </a:r>
          </a:p>
          <a:p>
            <a:r>
              <a:rPr lang="en-US" altLang="zh-CN" sz="1200"/>
              <a:t>The Charge Plan tab is available only for IaaS products that have a configured Metering Type.</a:t>
            </a:r>
            <a:r>
              <a:rPr lang="en-US" altLang="zh-CN" sz="1200">
                <a:latin typeface="Aptos" pitchFamily="34" charset="0"/>
                <a:ea typeface="Aptos" pitchFamily="34" charset="-122"/>
                <a:cs typeface="Aptos" pitchFamily="34" charset="-120"/>
              </a:rPr>
              <a:t> Charge Plan connects an IaaS product to usage-charge calculation. </a:t>
            </a:r>
            <a:endParaRPr lang="en-US" altLang="zh-CN" sz="1200"/>
          </a:p>
        </p:txBody>
      </p:sp>
      <p:sp>
        <p:nvSpPr>
          <p:cNvPr id="12" name="TextBox 93">
            <a:extLst>
              <a:ext uri="{FF2B5EF4-FFF2-40B4-BE49-F238E27FC236}">
                <a16:creationId xmlns:a16="http://schemas.microsoft.com/office/drawing/2014/main" id="{D520D492-058D-C159-1BB3-AF8A48A8C90C}"/>
              </a:ext>
            </a:extLst>
          </p:cNvPr>
          <p:cNvSpPr txBox="1"/>
          <p:nvPr/>
        </p:nvSpPr>
        <p:spPr>
          <a:xfrm>
            <a:off x="7967966" y="1478987"/>
            <a:ext cx="3894392" cy="4555093"/>
          </a:xfrm>
          <a:prstGeom prst="rect">
            <a:avLst/>
          </a:prstGeom>
          <a:noFill/>
        </p:spPr>
        <p:txBody>
          <a:bodyPr wrap="square" rtlCol="0">
            <a:spAutoFit/>
          </a:bodyPr>
          <a:lstStyle/>
          <a:p>
            <a:r>
              <a:rPr lang="en-US" altLang="zh-CN" sz="1000">
                <a:cs typeface="Lato Light"/>
              </a:rPr>
              <a:t>Metering Type identifies the usage-billing model:</a:t>
            </a:r>
          </a:p>
          <a:p>
            <a:pPr marL="171450" indent="-171450">
              <a:buFont typeface="Arial" panose="020B0604020202020204" pitchFamily="34" charset="0"/>
              <a:buChar char="•"/>
            </a:pPr>
            <a:r>
              <a:rPr lang="en-US" altLang="zh-CN" sz="1000"/>
              <a:t>POWER </a:t>
            </a:r>
          </a:p>
          <a:p>
            <a:pPr marL="171450" indent="-171450">
              <a:buFont typeface="Arial" panose="020B0604020202020204" pitchFamily="34" charset="0"/>
              <a:buChar char="•"/>
            </a:pPr>
            <a:r>
              <a:rPr lang="en-US" altLang="zh-CN" sz="1000"/>
              <a:t>HYBCLOUD </a:t>
            </a:r>
          </a:p>
          <a:p>
            <a:pPr marL="171450" indent="-171450">
              <a:buFont typeface="Arial" panose="020B0604020202020204" pitchFamily="34" charset="0"/>
              <a:buChar char="•"/>
            </a:pPr>
            <a:r>
              <a:rPr lang="en-US" altLang="zh-CN" sz="1000"/>
              <a:t>BAAS </a:t>
            </a:r>
          </a:p>
          <a:p>
            <a:pPr marL="171450" indent="-171450">
              <a:buFont typeface="Arial" panose="020B0604020202020204" pitchFamily="34" charset="0"/>
              <a:buChar char="•"/>
            </a:pPr>
            <a:r>
              <a:rPr lang="en-US" altLang="zh-CN" sz="1000"/>
              <a:t>STAAS </a:t>
            </a:r>
          </a:p>
          <a:p>
            <a:pPr marL="171450" indent="-171450">
              <a:buFont typeface="Arial" panose="020B0604020202020204" pitchFamily="34" charset="0"/>
              <a:buChar char="•"/>
            </a:pPr>
            <a:r>
              <a:rPr lang="en-US" altLang="zh-CN" sz="1000"/>
              <a:t>STORAGE </a:t>
            </a:r>
          </a:p>
          <a:p>
            <a:pPr marL="171450" indent="-171450">
              <a:buFont typeface="Arial" panose="020B0604020202020204" pitchFamily="34" charset="0"/>
              <a:buChar char="•"/>
            </a:pPr>
            <a:r>
              <a:rPr lang="en-US" altLang="zh-CN" sz="1000"/>
              <a:t>AZURE</a:t>
            </a:r>
          </a:p>
          <a:p>
            <a:pPr marL="171450" indent="-171450">
              <a:buFont typeface="Arial" panose="020B0604020202020204" pitchFamily="34" charset="0"/>
              <a:buChar char="•"/>
            </a:pPr>
            <a:r>
              <a:rPr lang="en-US" altLang="zh-CN" sz="1000">
                <a:cs typeface="Lato Light"/>
              </a:rPr>
              <a:t>POWERFIX</a:t>
            </a:r>
          </a:p>
          <a:p>
            <a:pPr marL="171450" indent="-171450">
              <a:buFont typeface="Arial" panose="020B0604020202020204" pitchFamily="34" charset="0"/>
              <a:buChar char="•"/>
            </a:pPr>
            <a:r>
              <a:rPr lang="en-US" altLang="zh-CN" sz="1000">
                <a:cs typeface="Lato Light"/>
              </a:rPr>
              <a:t>FIX</a:t>
            </a:r>
          </a:p>
          <a:p>
            <a:endParaRPr lang="en-US" altLang="zh-CN" sz="1000">
              <a:cs typeface="Lato Light"/>
            </a:endParaRPr>
          </a:p>
          <a:p>
            <a:r>
              <a:rPr lang="en-US" altLang="zh-CN" sz="1000" b="1">
                <a:cs typeface="Lato Light"/>
              </a:rPr>
              <a:t>Change Plan</a:t>
            </a:r>
            <a:r>
              <a:rPr lang="en-US" altLang="zh-CN" sz="1000">
                <a:cs typeface="Lato Light"/>
              </a:rPr>
              <a:t>: verify a plan exists for the product + metering type. The Charge Plan tab displays:</a:t>
            </a:r>
          </a:p>
          <a:p>
            <a:pPr marL="171450" indent="-171450">
              <a:buFont typeface="Arial" panose="020B0604020202020204" pitchFamily="34" charset="0"/>
              <a:buChar char="•"/>
            </a:pPr>
            <a:r>
              <a:rPr lang="en-US" altLang="zh-CN" sz="1000">
                <a:cs typeface="Lato Light"/>
              </a:rPr>
              <a:t>Version – Charge Plan version number.</a:t>
            </a:r>
          </a:p>
          <a:p>
            <a:pPr marL="171450" indent="-171450">
              <a:buFont typeface="Arial" panose="020B0604020202020204" pitchFamily="34" charset="0"/>
              <a:buChar char="•"/>
            </a:pPr>
            <a:r>
              <a:rPr lang="en-US" altLang="zh-CN" sz="1000">
                <a:cs typeface="Lato Light"/>
              </a:rPr>
              <a:t>Status – Current status of the charge plan (for example, Released).</a:t>
            </a:r>
          </a:p>
          <a:p>
            <a:pPr marL="171450" indent="-171450">
              <a:buFont typeface="Arial" panose="020B0604020202020204" pitchFamily="34" charset="0"/>
              <a:buChar char="•"/>
            </a:pPr>
            <a:r>
              <a:rPr lang="en-US" altLang="zh-CN" sz="1000">
                <a:cs typeface="Lato Light"/>
              </a:rPr>
              <a:t>Charge Plan ID – Unique identifier of the charge plan.</a:t>
            </a:r>
          </a:p>
          <a:p>
            <a:pPr marL="171450" indent="-171450">
              <a:buFont typeface="Arial" panose="020B0604020202020204" pitchFamily="34" charset="0"/>
              <a:buChar char="•"/>
            </a:pPr>
            <a:r>
              <a:rPr lang="en-US" altLang="zh-CN" sz="1000">
                <a:cs typeface="Lato Light"/>
              </a:rPr>
              <a:t>Charge Plan Description – Description of the pricing model.</a:t>
            </a:r>
          </a:p>
          <a:p>
            <a:pPr marL="171450" indent="-171450">
              <a:buFont typeface="Arial" panose="020B0604020202020204" pitchFamily="34" charset="0"/>
              <a:buChar char="•"/>
            </a:pPr>
            <a:r>
              <a:rPr lang="en-US" altLang="zh-CN" sz="1000">
                <a:cs typeface="Lato Light"/>
              </a:rPr>
              <a:t>Valid From – Effective date of the charge plan.</a:t>
            </a:r>
          </a:p>
          <a:p>
            <a:endParaRPr lang="en-US" altLang="zh-CN" sz="1000">
              <a:cs typeface="Lato Light"/>
            </a:endParaRPr>
          </a:p>
          <a:p>
            <a:r>
              <a:rPr lang="en-US" altLang="zh-CN" sz="1000">
                <a:cs typeface="Lato Light"/>
              </a:rPr>
              <a:t>Users can click the </a:t>
            </a:r>
            <a:r>
              <a:rPr lang="en-US" altLang="zh-CN" sz="1000" b="1">
                <a:cs typeface="Lato Light"/>
              </a:rPr>
              <a:t>Charge Plan ID </a:t>
            </a:r>
            <a:r>
              <a:rPr lang="en-US" altLang="zh-CN" sz="1000">
                <a:cs typeface="Lato Light"/>
              </a:rPr>
              <a:t>to open the corresponding Charge Plan Detail page and review the detailed pricing configuration used for usage charge calculation.</a:t>
            </a:r>
          </a:p>
          <a:p>
            <a:endParaRPr lang="en-US" altLang="zh-CN" sz="1000">
              <a:cs typeface="Lato Light"/>
            </a:endParaRPr>
          </a:p>
          <a:p>
            <a:r>
              <a:rPr lang="en-US" altLang="zh-CN" sz="1000" b="1">
                <a:cs typeface="Lato Light"/>
              </a:rPr>
              <a:t>Note</a:t>
            </a:r>
            <a:r>
              <a:rPr lang="en-US" altLang="zh-CN" sz="1000">
                <a:cs typeface="Lato Light"/>
              </a:rPr>
              <a:t>: The Charge Plan tab is only displayed for products with a Metering Type (</a:t>
            </a:r>
            <a:r>
              <a:rPr lang="en-US" altLang="zh-CN" sz="1000" b="1">
                <a:cs typeface="Lato Light"/>
              </a:rPr>
              <a:t>exclude POWERFIX and FIX</a:t>
            </a:r>
            <a:r>
              <a:rPr lang="en-US" altLang="zh-CN" sz="1000">
                <a:cs typeface="Lato Light"/>
              </a:rPr>
              <a:t>). Products that do not support usage-based billing do not have a Charge Plan tab.</a:t>
            </a:r>
          </a:p>
          <a:p>
            <a:endParaRPr lang="en-US" altLang="zh-CN" sz="1000">
              <a:cs typeface="Lato Light"/>
            </a:endParaRPr>
          </a:p>
          <a:p>
            <a:r>
              <a:rPr lang="en-US" altLang="zh-CN" sz="1000" b="1"/>
              <a:t>IaaS SUB products must have a valid Released Charge Plan before they can be used successfully in EPR / billing processing.</a:t>
            </a:r>
            <a:endParaRPr lang="en-US" altLang="zh-CN" sz="1000" b="1">
              <a:cs typeface="Lato Light"/>
            </a:endParaRPr>
          </a:p>
        </p:txBody>
      </p:sp>
      <p:pic>
        <p:nvPicPr>
          <p:cNvPr id="6" name="图片 5">
            <a:extLst>
              <a:ext uri="{FF2B5EF4-FFF2-40B4-BE49-F238E27FC236}">
                <a16:creationId xmlns:a16="http://schemas.microsoft.com/office/drawing/2014/main" id="{B973FB72-17AC-9040-36DB-69B38AFDD812}"/>
              </a:ext>
            </a:extLst>
          </p:cNvPr>
          <p:cNvPicPr>
            <a:picLocks noChangeAspect="1"/>
          </p:cNvPicPr>
          <p:nvPr/>
        </p:nvPicPr>
        <p:blipFill>
          <a:blip r:embed="rId2"/>
          <a:stretch>
            <a:fillRect/>
          </a:stretch>
        </p:blipFill>
        <p:spPr>
          <a:xfrm>
            <a:off x="306691" y="3245966"/>
            <a:ext cx="7235971" cy="1514698"/>
          </a:xfrm>
          <a:prstGeom prst="rect">
            <a:avLst/>
          </a:prstGeom>
        </p:spPr>
      </p:pic>
      <p:sp>
        <p:nvSpPr>
          <p:cNvPr id="5" name="TextBox 92">
            <a:extLst>
              <a:ext uri="{FF2B5EF4-FFF2-40B4-BE49-F238E27FC236}">
                <a16:creationId xmlns:a16="http://schemas.microsoft.com/office/drawing/2014/main" id="{967BC23D-44A4-EC7B-7497-045C646C4CD2}"/>
              </a:ext>
            </a:extLst>
          </p:cNvPr>
          <p:cNvSpPr txBox="1"/>
          <p:nvPr/>
        </p:nvSpPr>
        <p:spPr>
          <a:xfrm>
            <a:off x="7967966" y="1228999"/>
            <a:ext cx="2631007" cy="292388"/>
          </a:xfrm>
          <a:prstGeom prst="rect">
            <a:avLst/>
          </a:prstGeom>
          <a:noFill/>
        </p:spPr>
        <p:txBody>
          <a:bodyPr wrap="square" rtlCol="0">
            <a:spAutoFit/>
          </a:bodyPr>
          <a:lstStyle/>
          <a:p>
            <a:r>
              <a:rPr lang="en-US" altLang="zh-CN" sz="1300" b="1">
                <a:solidFill>
                  <a:srgbClr val="0070C0"/>
                </a:solidFill>
                <a:cs typeface="Lato Regular"/>
              </a:rPr>
              <a:t>Metering Type &amp; </a:t>
            </a:r>
            <a:r>
              <a:rPr lang="en-US" sz="1300" b="1">
                <a:solidFill>
                  <a:srgbClr val="0070C0"/>
                </a:solidFill>
                <a:cs typeface="Lato Regular"/>
              </a:rPr>
              <a:t>Charge Plan</a:t>
            </a:r>
          </a:p>
        </p:txBody>
      </p:sp>
      <p:sp>
        <p:nvSpPr>
          <p:cNvPr id="7" name="Oval 113">
            <a:extLst>
              <a:ext uri="{FF2B5EF4-FFF2-40B4-BE49-F238E27FC236}">
                <a16:creationId xmlns:a16="http://schemas.microsoft.com/office/drawing/2014/main" id="{EFD30277-A81C-C78D-305A-01416749D3B9}"/>
              </a:ext>
            </a:extLst>
          </p:cNvPr>
          <p:cNvSpPr/>
          <p:nvPr/>
        </p:nvSpPr>
        <p:spPr>
          <a:xfrm>
            <a:off x="7726861" y="1259866"/>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7</a:t>
            </a:r>
          </a:p>
        </p:txBody>
      </p:sp>
      <p:sp>
        <p:nvSpPr>
          <p:cNvPr id="13" name="Oval 113">
            <a:extLst>
              <a:ext uri="{FF2B5EF4-FFF2-40B4-BE49-F238E27FC236}">
                <a16:creationId xmlns:a16="http://schemas.microsoft.com/office/drawing/2014/main" id="{1388975B-12A8-EB15-B70C-A38284B5B10C}"/>
              </a:ext>
            </a:extLst>
          </p:cNvPr>
          <p:cNvSpPr/>
          <p:nvPr/>
        </p:nvSpPr>
        <p:spPr>
          <a:xfrm>
            <a:off x="2644503" y="3850165"/>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7</a:t>
            </a:r>
          </a:p>
        </p:txBody>
      </p:sp>
      <p:pic>
        <p:nvPicPr>
          <p:cNvPr id="15" name="图片 14">
            <a:extLst>
              <a:ext uri="{FF2B5EF4-FFF2-40B4-BE49-F238E27FC236}">
                <a16:creationId xmlns:a16="http://schemas.microsoft.com/office/drawing/2014/main" id="{D53AAC20-930A-CF49-ADC5-D5C18EFC477E}"/>
              </a:ext>
            </a:extLst>
          </p:cNvPr>
          <p:cNvPicPr>
            <a:picLocks noChangeAspect="1"/>
          </p:cNvPicPr>
          <p:nvPr/>
        </p:nvPicPr>
        <p:blipFill>
          <a:blip r:embed="rId3"/>
          <a:stretch>
            <a:fillRect/>
          </a:stretch>
        </p:blipFill>
        <p:spPr>
          <a:xfrm>
            <a:off x="293461" y="1306177"/>
            <a:ext cx="7289409" cy="1939789"/>
          </a:xfrm>
          <a:prstGeom prst="rect">
            <a:avLst/>
          </a:prstGeom>
        </p:spPr>
      </p:pic>
      <p:pic>
        <p:nvPicPr>
          <p:cNvPr id="17" name="图片 16">
            <a:extLst>
              <a:ext uri="{FF2B5EF4-FFF2-40B4-BE49-F238E27FC236}">
                <a16:creationId xmlns:a16="http://schemas.microsoft.com/office/drawing/2014/main" id="{9AE27091-757B-4135-599B-6A2DB38BDEE9}"/>
              </a:ext>
            </a:extLst>
          </p:cNvPr>
          <p:cNvPicPr>
            <a:picLocks noChangeAspect="1"/>
          </p:cNvPicPr>
          <p:nvPr/>
        </p:nvPicPr>
        <p:blipFill>
          <a:blip r:embed="rId4"/>
          <a:stretch>
            <a:fillRect/>
          </a:stretch>
        </p:blipFill>
        <p:spPr>
          <a:xfrm>
            <a:off x="320181" y="4682964"/>
            <a:ext cx="5223641" cy="1890910"/>
          </a:xfrm>
          <a:prstGeom prst="rect">
            <a:avLst/>
          </a:prstGeom>
        </p:spPr>
      </p:pic>
    </p:spTree>
    <p:extLst>
      <p:ext uri="{BB962C8B-B14F-4D97-AF65-F5344CB8AC3E}">
        <p14:creationId xmlns:p14="http://schemas.microsoft.com/office/powerpoint/2010/main" val="4431627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7" grpId="0" animBg="1"/>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B60B3-89FB-36DE-A6F7-9473C6FA7136}"/>
            </a:ext>
          </a:extLst>
        </p:cNvPr>
        <p:cNvGrpSpPr/>
        <p:nvPr/>
      </p:nvGrpSpPr>
      <p:grpSpPr>
        <a:xfrm>
          <a:off x="0" y="0"/>
          <a:ext cx="0" cy="0"/>
          <a:chOff x="0" y="0"/>
          <a:chExt cx="0" cy="0"/>
        </a:xfrm>
      </p:grpSpPr>
      <p:pic>
        <p:nvPicPr>
          <p:cNvPr id="20" name="图片 19">
            <a:extLst>
              <a:ext uri="{FF2B5EF4-FFF2-40B4-BE49-F238E27FC236}">
                <a16:creationId xmlns:a16="http://schemas.microsoft.com/office/drawing/2014/main" id="{B3441791-2761-7028-C28E-02DFCB1D1869}"/>
              </a:ext>
            </a:extLst>
          </p:cNvPr>
          <p:cNvPicPr>
            <a:picLocks noChangeAspect="1"/>
          </p:cNvPicPr>
          <p:nvPr/>
        </p:nvPicPr>
        <p:blipFill>
          <a:blip r:embed="rId2"/>
          <a:stretch>
            <a:fillRect/>
          </a:stretch>
        </p:blipFill>
        <p:spPr>
          <a:xfrm>
            <a:off x="341203" y="1664192"/>
            <a:ext cx="6577348" cy="3198407"/>
          </a:xfrm>
          <a:prstGeom prst="rect">
            <a:avLst/>
          </a:prstGeom>
        </p:spPr>
      </p:pic>
      <p:sp>
        <p:nvSpPr>
          <p:cNvPr id="3" name="标题 2">
            <a:extLst>
              <a:ext uri="{FF2B5EF4-FFF2-40B4-BE49-F238E27FC236}">
                <a16:creationId xmlns:a16="http://schemas.microsoft.com/office/drawing/2014/main" id="{AF0E5BC3-1EA6-739D-4599-371C7A6E27E0}"/>
              </a:ext>
            </a:extLst>
          </p:cNvPr>
          <p:cNvSpPr>
            <a:spLocks noGrp="1"/>
          </p:cNvSpPr>
          <p:nvPr>
            <p:ph type="title"/>
          </p:nvPr>
        </p:nvSpPr>
        <p:spPr/>
        <p:txBody>
          <a:bodyPr/>
          <a:lstStyle/>
          <a:p>
            <a:r>
              <a:rPr lang="en-US" altLang="zh-CN"/>
              <a:t>Product Master - Product Actions</a:t>
            </a:r>
            <a:endParaRPr lang="zh-CN" altLang="en-US"/>
          </a:p>
        </p:txBody>
      </p:sp>
      <p:sp>
        <p:nvSpPr>
          <p:cNvPr id="8" name="TextBox 83">
            <a:extLst>
              <a:ext uri="{FF2B5EF4-FFF2-40B4-BE49-F238E27FC236}">
                <a16:creationId xmlns:a16="http://schemas.microsoft.com/office/drawing/2014/main" id="{A97FA4D3-60F1-C5B7-9AA9-5CD06867E76C}"/>
              </a:ext>
            </a:extLst>
          </p:cNvPr>
          <p:cNvSpPr txBox="1"/>
          <p:nvPr/>
        </p:nvSpPr>
        <p:spPr>
          <a:xfrm>
            <a:off x="7247783" y="1847030"/>
            <a:ext cx="4732943" cy="4093428"/>
          </a:xfrm>
          <a:prstGeom prst="rect">
            <a:avLst/>
          </a:prstGeom>
          <a:noFill/>
        </p:spPr>
        <p:txBody>
          <a:bodyPr wrap="square" rtlCol="0">
            <a:spAutoFit/>
          </a:bodyPr>
          <a:lstStyle/>
          <a:p>
            <a:r>
              <a:rPr lang="en-US" sz="1000" b="1">
                <a:cs typeface="Lato Light"/>
              </a:rPr>
              <a:t>New</a:t>
            </a:r>
          </a:p>
          <a:p>
            <a:r>
              <a:rPr lang="en-US" sz="1000">
                <a:cs typeface="Lato Light"/>
              </a:rPr>
              <a:t>Creates a new product master record manually.</a:t>
            </a:r>
          </a:p>
          <a:p>
            <a:endParaRPr lang="en-US" sz="1000">
              <a:cs typeface="Lato Light"/>
            </a:endParaRPr>
          </a:p>
          <a:p>
            <a:r>
              <a:rPr lang="en-US" sz="1000" b="1">
                <a:cs typeface="Lato Light"/>
              </a:rPr>
              <a:t>Copy</a:t>
            </a:r>
          </a:p>
          <a:p>
            <a:r>
              <a:rPr lang="en-US" sz="1000">
                <a:cs typeface="Lato Light"/>
              </a:rPr>
              <a:t>Creates a new product master record by copying an existing product master.</a:t>
            </a:r>
          </a:p>
          <a:p>
            <a:r>
              <a:rPr lang="en-US" sz="1000">
                <a:cs typeface="Lato Light"/>
              </a:rPr>
              <a:t>This function helps reduce manual data entry when creating similar products.</a:t>
            </a:r>
          </a:p>
          <a:p>
            <a:endParaRPr lang="en-US" sz="1000">
              <a:cs typeface="Lato Light"/>
            </a:endParaRPr>
          </a:p>
          <a:p>
            <a:r>
              <a:rPr lang="en-US" sz="1000" b="1">
                <a:cs typeface="Lato Light"/>
              </a:rPr>
              <a:t>Delete</a:t>
            </a:r>
          </a:p>
          <a:p>
            <a:r>
              <a:rPr lang="en-US" sz="1000">
                <a:cs typeface="Lato Light"/>
              </a:rPr>
              <a:t>Remove product master records.</a:t>
            </a:r>
          </a:p>
          <a:p>
            <a:endParaRPr lang="en-US" sz="1000">
              <a:cs typeface="Lato Light"/>
            </a:endParaRPr>
          </a:p>
          <a:p>
            <a:r>
              <a:rPr lang="en-US" sz="1000" b="1">
                <a:cs typeface="Lato Light"/>
              </a:rPr>
              <a:t>Pull From LPC</a:t>
            </a:r>
          </a:p>
          <a:p>
            <a:r>
              <a:rPr lang="en-US" sz="1000">
                <a:cs typeface="Lato Light"/>
              </a:rPr>
              <a:t>Retrieve </a:t>
            </a:r>
            <a:r>
              <a:rPr lang="en-US" altLang="zh-CN" sz="1000">
                <a:cs typeface="Lato Light"/>
              </a:rPr>
              <a:t>ECC/S4 </a:t>
            </a:r>
            <a:r>
              <a:rPr lang="en-US" sz="1000">
                <a:cs typeface="Lato Light"/>
              </a:rPr>
              <a:t>product information from LPC and create the Product Master in </a:t>
            </a:r>
            <a:r>
              <a:rPr lang="en-US" sz="1000" err="1">
                <a:cs typeface="Lato Light"/>
              </a:rPr>
              <a:t>NexBill</a:t>
            </a:r>
            <a:r>
              <a:rPr lang="en-US" sz="1000">
                <a:cs typeface="Lato Light"/>
              </a:rPr>
              <a:t>.</a:t>
            </a:r>
            <a:r>
              <a:rPr lang="en-US" altLang="zh-CN" sz="1000" b="1">
                <a:cs typeface="Lato Light"/>
              </a:rPr>
              <a:t> Batch</a:t>
            </a:r>
            <a:r>
              <a:rPr lang="en-US" altLang="zh-CN" sz="1000">
                <a:cs typeface="Lato Light"/>
              </a:rPr>
              <a:t> </a:t>
            </a:r>
            <a:r>
              <a:rPr lang="en-US" altLang="zh-CN" sz="1000" b="1">
                <a:cs typeface="Lato Light"/>
              </a:rPr>
              <a:t>processing </a:t>
            </a:r>
            <a:r>
              <a:rPr lang="en-US" altLang="zh-CN" sz="1000">
                <a:cs typeface="Lato Light"/>
              </a:rPr>
              <a:t>is supported by entering multiple material numbers separated by commas or line breaks.</a:t>
            </a:r>
            <a:endParaRPr lang="en-US" sz="1000">
              <a:cs typeface="Lato Light"/>
            </a:endParaRPr>
          </a:p>
          <a:p>
            <a:endParaRPr lang="en-US" sz="1000">
              <a:cs typeface="Lato Light"/>
            </a:endParaRPr>
          </a:p>
          <a:p>
            <a:r>
              <a:rPr lang="en-US" sz="1000">
                <a:cs typeface="Lato Light"/>
              </a:rPr>
              <a:t>1. Enter one or more material numbers.</a:t>
            </a:r>
          </a:p>
          <a:p>
            <a:r>
              <a:rPr lang="en-US" sz="1000">
                <a:cs typeface="Lato Light"/>
              </a:rPr>
              <a:t>2. Select the relevant Sales Organization and Plant.</a:t>
            </a:r>
          </a:p>
          <a:p>
            <a:r>
              <a:rPr lang="en-US" sz="1000">
                <a:cs typeface="Lato Light"/>
              </a:rPr>
              <a:t>3. </a:t>
            </a:r>
            <a:r>
              <a:rPr lang="en-US" sz="1000" b="1">
                <a:cs typeface="Lato Light"/>
              </a:rPr>
              <a:t>Execute</a:t>
            </a:r>
            <a:r>
              <a:rPr lang="en-US" sz="1000">
                <a:cs typeface="Lato Light"/>
              </a:rPr>
              <a:t> the request to retrieve product information from LPC.</a:t>
            </a:r>
          </a:p>
          <a:p>
            <a:endParaRPr lang="en-US" sz="1000">
              <a:cs typeface="Lato Light"/>
            </a:endParaRPr>
          </a:p>
          <a:p>
            <a:r>
              <a:rPr lang="en-US" altLang="zh-CN" sz="1000" b="1">
                <a:cs typeface="Lato Light"/>
              </a:rPr>
              <a:t>Pull From LPC is </a:t>
            </a:r>
            <a:r>
              <a:rPr lang="en-US" altLang="zh-CN" sz="1000" b="1">
                <a:solidFill>
                  <a:srgbClr val="FF0000"/>
                </a:solidFill>
                <a:cs typeface="Lato Light"/>
              </a:rPr>
              <a:t>NOT</a:t>
            </a:r>
            <a:r>
              <a:rPr lang="en-US" altLang="zh-CN" sz="1000" b="1">
                <a:cs typeface="Lato Light"/>
              </a:rPr>
              <a:t> supported for:</a:t>
            </a:r>
            <a:endParaRPr lang="en-US" altLang="zh-CN" sz="1000">
              <a:cs typeface="Lato Light"/>
            </a:endParaRPr>
          </a:p>
          <a:p>
            <a:r>
              <a:rPr lang="en-US" altLang="zh-CN" sz="1000">
                <a:cs typeface="Lato Light"/>
              </a:rPr>
              <a:t>SUB products: sourced from PLM, not LPC.</a:t>
            </a:r>
          </a:p>
          <a:p>
            <a:r>
              <a:rPr lang="en-US" sz="1000">
                <a:cs typeface="Lato Light"/>
              </a:rPr>
              <a:t>WBD (Bundle) products: automatically generated by </a:t>
            </a:r>
            <a:r>
              <a:rPr lang="en-US" sz="1000" err="1">
                <a:cs typeface="Lato Light"/>
              </a:rPr>
              <a:t>NexBill</a:t>
            </a:r>
            <a:r>
              <a:rPr lang="en-US" sz="1000">
                <a:cs typeface="Lato Light"/>
              </a:rPr>
              <a:t> from EPR bundle structures, not sourced from LPC.</a:t>
            </a:r>
          </a:p>
          <a:p>
            <a:endParaRPr lang="en-US" sz="1000">
              <a:cs typeface="Lato Light"/>
            </a:endParaRPr>
          </a:p>
          <a:p>
            <a:r>
              <a:rPr lang="en-US" sz="1000">
                <a:cs typeface="Lato Light"/>
              </a:rPr>
              <a:t>If these products are missing, please verify the corresponding PLM or EPR source data instead of using Pull From LPC.</a:t>
            </a:r>
          </a:p>
        </p:txBody>
      </p:sp>
      <p:sp>
        <p:nvSpPr>
          <p:cNvPr id="9" name="Text 2">
            <a:extLst>
              <a:ext uri="{FF2B5EF4-FFF2-40B4-BE49-F238E27FC236}">
                <a16:creationId xmlns:a16="http://schemas.microsoft.com/office/drawing/2014/main" id="{5A88E76E-23BD-13C0-560F-5DA2279CA3E2}"/>
              </a:ext>
            </a:extLst>
          </p:cNvPr>
          <p:cNvSpPr/>
          <p:nvPr/>
        </p:nvSpPr>
        <p:spPr>
          <a:xfrm>
            <a:off x="341203" y="713725"/>
            <a:ext cx="11639523" cy="700016"/>
          </a:xfrm>
          <a:prstGeom prst="rect">
            <a:avLst/>
          </a:prstGeom>
          <a:noFill/>
          <a:ln/>
        </p:spPr>
        <p:txBody>
          <a:bodyPr wrap="square" lIns="0" tIns="0" rIns="0" bIns="0" rtlCol="0" anchor="ctr">
            <a:normAutofit/>
          </a:bodyPr>
          <a:lstStyle/>
          <a:p>
            <a:r>
              <a:rPr lang="en-US" altLang="zh-CN" sz="1200"/>
              <a:t>The Product Master Search page also provides authorized users with maintenance functions for Product Master records.</a:t>
            </a:r>
          </a:p>
          <a:p>
            <a:r>
              <a:rPr lang="en-US" altLang="zh-CN" sz="1200"/>
              <a:t>Product master records are normally created automatically through system integrations, including EPR inbound processes and source systems such as LPC and PLM.</a:t>
            </a:r>
          </a:p>
          <a:p>
            <a:r>
              <a:rPr lang="en-US" altLang="zh-CN" sz="1200"/>
              <a:t>Manual creation functions, including New, Copy, Delete and Pull From LPC, are provided primarily for </a:t>
            </a:r>
            <a:r>
              <a:rPr lang="en-US" altLang="zh-CN" sz="1200" b="1"/>
              <a:t>exceptional business scenarios </a:t>
            </a:r>
            <a:r>
              <a:rPr lang="en-US" altLang="zh-CN" sz="1200"/>
              <a:t>and are </a:t>
            </a:r>
            <a:r>
              <a:rPr lang="en-US" altLang="zh-CN" sz="1200" b="1"/>
              <a:t>restricted to authorized users</a:t>
            </a:r>
            <a:r>
              <a:rPr lang="en-US" altLang="zh-CN" sz="1200"/>
              <a:t>.</a:t>
            </a:r>
          </a:p>
        </p:txBody>
      </p:sp>
      <p:sp>
        <p:nvSpPr>
          <p:cNvPr id="2" name="TextBox 97">
            <a:extLst>
              <a:ext uri="{FF2B5EF4-FFF2-40B4-BE49-F238E27FC236}">
                <a16:creationId xmlns:a16="http://schemas.microsoft.com/office/drawing/2014/main" id="{51CC13F9-4646-6C15-460B-ECEBA4608AE4}"/>
              </a:ext>
            </a:extLst>
          </p:cNvPr>
          <p:cNvSpPr txBox="1"/>
          <p:nvPr/>
        </p:nvSpPr>
        <p:spPr>
          <a:xfrm>
            <a:off x="7247782" y="1601130"/>
            <a:ext cx="3698741" cy="292388"/>
          </a:xfrm>
          <a:prstGeom prst="rect">
            <a:avLst/>
          </a:prstGeom>
          <a:noFill/>
        </p:spPr>
        <p:txBody>
          <a:bodyPr wrap="square" rtlCol="0">
            <a:spAutoFit/>
          </a:bodyPr>
          <a:lstStyle/>
          <a:p>
            <a:r>
              <a:rPr lang="en-US" sz="1300" b="1">
                <a:solidFill>
                  <a:srgbClr val="4646C3"/>
                </a:solidFill>
                <a:latin typeface="+mj-lt"/>
                <a:cs typeface="Lato Regular"/>
              </a:rPr>
              <a:t>Action Buttons - </a:t>
            </a:r>
            <a:r>
              <a:rPr lang="en-US" altLang="zh-CN" sz="1300" b="1">
                <a:solidFill>
                  <a:srgbClr val="4646C3"/>
                </a:solidFill>
                <a:cs typeface="Lato Regular"/>
              </a:rPr>
              <a:t>T</a:t>
            </a:r>
            <a:r>
              <a:rPr lang="zh-CN" altLang="en-US" sz="1300" b="1">
                <a:solidFill>
                  <a:srgbClr val="4646C3"/>
                </a:solidFill>
                <a:cs typeface="Lato Regular"/>
              </a:rPr>
              <a:t>ake </a:t>
            </a:r>
            <a:r>
              <a:rPr lang="en-US" altLang="zh-CN" sz="1300" b="1">
                <a:solidFill>
                  <a:srgbClr val="4646C3"/>
                </a:solidFill>
                <a:cs typeface="Lato Regular"/>
              </a:rPr>
              <a:t>E</a:t>
            </a:r>
            <a:r>
              <a:rPr lang="zh-CN" altLang="en-US" sz="1300" b="1">
                <a:solidFill>
                  <a:srgbClr val="4646C3"/>
                </a:solidFill>
                <a:cs typeface="Lato Regular"/>
              </a:rPr>
              <a:t>ffect </a:t>
            </a:r>
            <a:r>
              <a:rPr lang="en-US" altLang="zh-CN" sz="1300" b="1">
                <a:solidFill>
                  <a:srgbClr val="4646C3"/>
                </a:solidFill>
                <a:cs typeface="Lato Regular"/>
              </a:rPr>
              <a:t>I</a:t>
            </a:r>
            <a:r>
              <a:rPr lang="zh-CN" altLang="en-US" sz="1300" b="1">
                <a:solidFill>
                  <a:srgbClr val="4646C3"/>
                </a:solidFill>
                <a:cs typeface="Lato Regular"/>
              </a:rPr>
              <a:t>mmediately</a:t>
            </a:r>
            <a:endParaRPr lang="en-US" sz="1300" b="1">
              <a:solidFill>
                <a:srgbClr val="4646C3"/>
              </a:solidFill>
              <a:latin typeface="+mj-lt"/>
              <a:cs typeface="Lato Regular"/>
            </a:endParaRPr>
          </a:p>
        </p:txBody>
      </p:sp>
      <p:sp>
        <p:nvSpPr>
          <p:cNvPr id="5" name="Oval 114">
            <a:extLst>
              <a:ext uri="{FF2B5EF4-FFF2-40B4-BE49-F238E27FC236}">
                <a16:creationId xmlns:a16="http://schemas.microsoft.com/office/drawing/2014/main" id="{89EA8EA9-EA2A-CCC6-207C-DE9D6695FA47}"/>
              </a:ext>
            </a:extLst>
          </p:cNvPr>
          <p:cNvSpPr/>
          <p:nvPr/>
        </p:nvSpPr>
        <p:spPr>
          <a:xfrm>
            <a:off x="7019183" y="1633024"/>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14" name="图片 13">
            <a:extLst>
              <a:ext uri="{FF2B5EF4-FFF2-40B4-BE49-F238E27FC236}">
                <a16:creationId xmlns:a16="http://schemas.microsoft.com/office/drawing/2014/main" id="{25BC17EB-61BC-CE98-F008-DF1ADCC95C9D}"/>
              </a:ext>
            </a:extLst>
          </p:cNvPr>
          <p:cNvPicPr>
            <a:picLocks noChangeAspect="1"/>
          </p:cNvPicPr>
          <p:nvPr/>
        </p:nvPicPr>
        <p:blipFill>
          <a:blip r:embed="rId3"/>
          <a:stretch>
            <a:fillRect/>
          </a:stretch>
        </p:blipFill>
        <p:spPr>
          <a:xfrm>
            <a:off x="2255297" y="2988201"/>
            <a:ext cx="2749160" cy="2554014"/>
          </a:xfrm>
          <a:prstGeom prst="rect">
            <a:avLst/>
          </a:prstGeom>
        </p:spPr>
      </p:pic>
      <p:sp>
        <p:nvSpPr>
          <p:cNvPr id="17" name="Oval 114">
            <a:extLst>
              <a:ext uri="{FF2B5EF4-FFF2-40B4-BE49-F238E27FC236}">
                <a16:creationId xmlns:a16="http://schemas.microsoft.com/office/drawing/2014/main" id="{22F10B96-56EB-9BCB-EB0B-C1F595D68A44}"/>
              </a:ext>
            </a:extLst>
          </p:cNvPr>
          <p:cNvSpPr/>
          <p:nvPr/>
        </p:nvSpPr>
        <p:spPr>
          <a:xfrm>
            <a:off x="3851766" y="2627450"/>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Tree>
    <p:extLst>
      <p:ext uri="{BB962C8B-B14F-4D97-AF65-F5344CB8AC3E}">
        <p14:creationId xmlns:p14="http://schemas.microsoft.com/office/powerpoint/2010/main" val="15910043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5"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2D5A-EE3F-1983-8534-B76EB585612A}"/>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9469EAFE-B67D-CED4-E86D-D18E2DFA65EA}"/>
              </a:ext>
            </a:extLst>
          </p:cNvPr>
          <p:cNvPicPr>
            <a:picLocks noChangeAspect="1"/>
          </p:cNvPicPr>
          <p:nvPr/>
        </p:nvPicPr>
        <p:blipFill>
          <a:blip r:embed="rId2"/>
          <a:stretch>
            <a:fillRect/>
          </a:stretch>
        </p:blipFill>
        <p:spPr>
          <a:xfrm>
            <a:off x="282666" y="4853785"/>
            <a:ext cx="5778107" cy="1858708"/>
          </a:xfrm>
          <a:prstGeom prst="rect">
            <a:avLst/>
          </a:prstGeom>
        </p:spPr>
      </p:pic>
      <p:sp>
        <p:nvSpPr>
          <p:cNvPr id="3" name="标题 2">
            <a:extLst>
              <a:ext uri="{FF2B5EF4-FFF2-40B4-BE49-F238E27FC236}">
                <a16:creationId xmlns:a16="http://schemas.microsoft.com/office/drawing/2014/main" id="{D0F03AC8-9793-3E44-671D-D11DE951A971}"/>
              </a:ext>
            </a:extLst>
          </p:cNvPr>
          <p:cNvSpPr>
            <a:spLocks noGrp="1"/>
          </p:cNvSpPr>
          <p:nvPr>
            <p:ph type="title"/>
          </p:nvPr>
        </p:nvSpPr>
        <p:spPr/>
        <p:txBody>
          <a:bodyPr/>
          <a:lstStyle/>
          <a:p>
            <a:r>
              <a:rPr lang="en-US" altLang="zh-CN"/>
              <a:t>Product Master - Change</a:t>
            </a:r>
            <a:endParaRPr lang="zh-CN" altLang="en-US"/>
          </a:p>
        </p:txBody>
      </p:sp>
      <p:sp>
        <p:nvSpPr>
          <p:cNvPr id="2" name="Text 2">
            <a:extLst>
              <a:ext uri="{FF2B5EF4-FFF2-40B4-BE49-F238E27FC236}">
                <a16:creationId xmlns:a16="http://schemas.microsoft.com/office/drawing/2014/main" id="{7953C534-E3C0-40C3-89CE-653DDAD54C2C}"/>
              </a:ext>
            </a:extLst>
          </p:cNvPr>
          <p:cNvSpPr/>
          <p:nvPr/>
        </p:nvSpPr>
        <p:spPr>
          <a:xfrm>
            <a:off x="320182" y="770829"/>
            <a:ext cx="11639523" cy="509377"/>
          </a:xfrm>
          <a:prstGeom prst="rect">
            <a:avLst/>
          </a:prstGeom>
          <a:noFill/>
          <a:ln/>
        </p:spPr>
        <p:txBody>
          <a:bodyPr wrap="square" lIns="0" tIns="0" rIns="0" bIns="0" rtlCol="0" anchor="ctr">
            <a:normAutofit lnSpcReduction="10000"/>
          </a:bodyPr>
          <a:lstStyle/>
          <a:p>
            <a:r>
              <a:rPr lang="en-US" altLang="zh-CN" sz="1200"/>
              <a:t>Product master records are primarily created and maintained through system integrations. Manual maintenance functions are restricted to </a:t>
            </a:r>
            <a:r>
              <a:rPr lang="en-US" altLang="zh-CN" sz="1200" b="1"/>
              <a:t>authorized users</a:t>
            </a:r>
            <a:r>
              <a:rPr lang="en-US" altLang="zh-CN" sz="1200"/>
              <a:t>.</a:t>
            </a:r>
          </a:p>
          <a:p>
            <a:r>
              <a:rPr lang="en-US" altLang="zh-CN" sz="1200"/>
              <a:t>All changes must be submitted through a change request and reviewed by authorized approvers before becoming effective. </a:t>
            </a:r>
          </a:p>
          <a:p>
            <a:r>
              <a:rPr lang="en-US" altLang="zh-CN" sz="1200"/>
              <a:t>Only Edit actions require a Change Request and Approval. Operational actions such as New, Copy, Delete and Pull From Source Systems take effect immediately.</a:t>
            </a:r>
          </a:p>
        </p:txBody>
      </p:sp>
      <p:sp>
        <p:nvSpPr>
          <p:cNvPr id="12" name="TextBox 93">
            <a:extLst>
              <a:ext uri="{FF2B5EF4-FFF2-40B4-BE49-F238E27FC236}">
                <a16:creationId xmlns:a16="http://schemas.microsoft.com/office/drawing/2014/main" id="{0D3317DB-CF55-4E6F-2881-3DE13BA5FDF9}"/>
              </a:ext>
            </a:extLst>
          </p:cNvPr>
          <p:cNvSpPr txBox="1"/>
          <p:nvPr/>
        </p:nvSpPr>
        <p:spPr>
          <a:xfrm>
            <a:off x="7986433" y="1618698"/>
            <a:ext cx="3846711" cy="3323987"/>
          </a:xfrm>
          <a:prstGeom prst="rect">
            <a:avLst/>
          </a:prstGeom>
          <a:noFill/>
        </p:spPr>
        <p:txBody>
          <a:bodyPr wrap="square" rtlCol="0">
            <a:spAutoFit/>
          </a:bodyPr>
          <a:lstStyle/>
          <a:p>
            <a:r>
              <a:rPr lang="en-US" altLang="zh-CN" sz="1000" b="1">
                <a:cs typeface="Lato Light"/>
              </a:rPr>
              <a:t>Edit:</a:t>
            </a:r>
            <a:r>
              <a:rPr lang="en-US" altLang="zh-CN" sz="1000">
                <a:cs typeface="Lato Light"/>
              </a:rPr>
              <a:t> allows authorized users to submit modifications to product master data. </a:t>
            </a:r>
            <a:r>
              <a:rPr lang="en-US" altLang="zh-CN" sz="1000" b="1">
                <a:cs typeface="Lato Light"/>
              </a:rPr>
              <a:t>Changes are not applied immediately after editing</a:t>
            </a:r>
            <a:r>
              <a:rPr lang="en-US" altLang="zh-CN" sz="1000">
                <a:cs typeface="Lato Light"/>
              </a:rPr>
              <a:t>.</a:t>
            </a:r>
          </a:p>
          <a:p>
            <a:endParaRPr lang="en-US" altLang="zh-CN" sz="1000">
              <a:cs typeface="Lato Light"/>
            </a:endParaRPr>
          </a:p>
          <a:p>
            <a:r>
              <a:rPr lang="en-US" altLang="zh-CN" sz="1000">
                <a:cs typeface="Lato Light"/>
              </a:rPr>
              <a:t>When users submit their modifications:</a:t>
            </a:r>
          </a:p>
          <a:p>
            <a:r>
              <a:rPr lang="en-US" altLang="zh-CN" sz="1000">
                <a:cs typeface="Lato Light"/>
              </a:rPr>
              <a:t>1. A </a:t>
            </a:r>
            <a:r>
              <a:rPr lang="en-US" altLang="zh-CN" sz="1000" b="1">
                <a:cs typeface="Lato Light"/>
              </a:rPr>
              <a:t>Change Request </a:t>
            </a:r>
            <a:r>
              <a:rPr lang="en-US" altLang="zh-CN" sz="1000">
                <a:cs typeface="Lato Light"/>
              </a:rPr>
              <a:t>is automatically created.</a:t>
            </a:r>
          </a:p>
          <a:p>
            <a:r>
              <a:rPr lang="en-US" altLang="zh-CN" sz="1000">
                <a:cs typeface="Lato Light"/>
              </a:rPr>
              <a:t>2. The request is routed to the appropriate approver.</a:t>
            </a:r>
          </a:p>
          <a:p>
            <a:r>
              <a:rPr lang="en-US" altLang="zh-CN" sz="1000">
                <a:cs typeface="Lato Light"/>
              </a:rPr>
              <a:t>3. The approver reviews the request in the </a:t>
            </a:r>
            <a:r>
              <a:rPr lang="en-US" altLang="zh-CN" sz="1000" b="1">
                <a:cs typeface="Lato Light"/>
              </a:rPr>
              <a:t>Approval Center</a:t>
            </a:r>
            <a:r>
              <a:rPr lang="en-US" altLang="zh-CN" sz="1000">
                <a:cs typeface="Lato Light"/>
              </a:rPr>
              <a:t>.</a:t>
            </a:r>
          </a:p>
          <a:p>
            <a:r>
              <a:rPr lang="en-US" altLang="zh-CN" sz="1000">
                <a:cs typeface="Lato Light"/>
              </a:rPr>
              <a:t>4. The changes become effective only after approval is completed.</a:t>
            </a:r>
          </a:p>
          <a:p>
            <a:endParaRPr lang="en-US" altLang="zh-CN" sz="1000">
              <a:cs typeface="Lato Light"/>
            </a:endParaRPr>
          </a:p>
          <a:p>
            <a:r>
              <a:rPr lang="en-US" altLang="zh-CN" sz="1000">
                <a:cs typeface="Lato Light"/>
              </a:rPr>
              <a:t>This process ensures proper governance and control of master data changes.</a:t>
            </a:r>
          </a:p>
          <a:p>
            <a:endParaRPr lang="en-US" altLang="zh-CN" sz="1000">
              <a:cs typeface="Lato Light"/>
            </a:endParaRPr>
          </a:p>
          <a:p>
            <a:r>
              <a:rPr lang="en-US" altLang="zh-CN" sz="1000" b="1">
                <a:cs typeface="Lato Light"/>
              </a:rPr>
              <a:t>Change Request: </a:t>
            </a:r>
            <a:r>
              <a:rPr lang="en-US" altLang="zh-CN" sz="1000">
                <a:cs typeface="Lato Light"/>
              </a:rPr>
              <a:t> displays all change requests associated with the product. This provides visibility into pending, approved, and rejected product changes.</a:t>
            </a:r>
          </a:p>
          <a:p>
            <a:r>
              <a:rPr lang="en-US" altLang="zh-CN" sz="1000">
                <a:cs typeface="Lato Light"/>
              </a:rPr>
              <a:t> </a:t>
            </a:r>
          </a:p>
          <a:p>
            <a:r>
              <a:rPr lang="en-US" altLang="zh-CN" sz="1000">
                <a:cs typeface="Lato Light"/>
              </a:rPr>
              <a:t>Users can click the </a:t>
            </a:r>
            <a:r>
              <a:rPr lang="en-US" altLang="zh-CN" sz="1000" b="1">
                <a:cs typeface="Lato Light"/>
              </a:rPr>
              <a:t>Change Request ID </a:t>
            </a:r>
            <a:r>
              <a:rPr lang="en-US" altLang="zh-CN" sz="1000">
                <a:cs typeface="Lato Light"/>
              </a:rPr>
              <a:t>to open the Change Request Detail page and review the request information.</a:t>
            </a:r>
          </a:p>
          <a:p>
            <a:endParaRPr lang="en-US" altLang="zh-CN" sz="1000" b="1">
              <a:cs typeface="Lato Light"/>
            </a:endParaRPr>
          </a:p>
          <a:p>
            <a:r>
              <a:rPr lang="en-US" altLang="zh-CN" sz="1000" b="1">
                <a:cs typeface="Lato Light"/>
              </a:rPr>
              <a:t>The Approval Center will be introduced in the following document.</a:t>
            </a:r>
          </a:p>
        </p:txBody>
      </p:sp>
      <p:pic>
        <p:nvPicPr>
          <p:cNvPr id="13" name="图片 12">
            <a:extLst>
              <a:ext uri="{FF2B5EF4-FFF2-40B4-BE49-F238E27FC236}">
                <a16:creationId xmlns:a16="http://schemas.microsoft.com/office/drawing/2014/main" id="{1FF576B8-D6E9-0AEC-0149-13203D79B3BB}"/>
              </a:ext>
            </a:extLst>
          </p:cNvPr>
          <p:cNvPicPr>
            <a:picLocks noChangeAspect="1"/>
          </p:cNvPicPr>
          <p:nvPr/>
        </p:nvPicPr>
        <p:blipFill>
          <a:blip r:embed="rId3"/>
          <a:stretch>
            <a:fillRect/>
          </a:stretch>
        </p:blipFill>
        <p:spPr>
          <a:xfrm>
            <a:off x="367863" y="1319588"/>
            <a:ext cx="4245796" cy="2538723"/>
          </a:xfrm>
          <a:prstGeom prst="rect">
            <a:avLst/>
          </a:prstGeom>
        </p:spPr>
      </p:pic>
      <p:pic>
        <p:nvPicPr>
          <p:cNvPr id="15" name="图片 14">
            <a:extLst>
              <a:ext uri="{FF2B5EF4-FFF2-40B4-BE49-F238E27FC236}">
                <a16:creationId xmlns:a16="http://schemas.microsoft.com/office/drawing/2014/main" id="{A1326F41-4B47-8BA8-8B65-39A91883B5F8}"/>
              </a:ext>
            </a:extLst>
          </p:cNvPr>
          <p:cNvPicPr>
            <a:picLocks noChangeAspect="1"/>
          </p:cNvPicPr>
          <p:nvPr/>
        </p:nvPicPr>
        <p:blipFill>
          <a:blip r:embed="rId4"/>
          <a:stretch>
            <a:fillRect/>
          </a:stretch>
        </p:blipFill>
        <p:spPr>
          <a:xfrm>
            <a:off x="282666" y="3858311"/>
            <a:ext cx="5161305" cy="1154362"/>
          </a:xfrm>
          <a:prstGeom prst="rect">
            <a:avLst/>
          </a:prstGeom>
        </p:spPr>
      </p:pic>
      <p:pic>
        <p:nvPicPr>
          <p:cNvPr id="18" name="图片 17">
            <a:extLst>
              <a:ext uri="{FF2B5EF4-FFF2-40B4-BE49-F238E27FC236}">
                <a16:creationId xmlns:a16="http://schemas.microsoft.com/office/drawing/2014/main" id="{FA7BF9D5-E4B0-0EFE-3754-FA599069435F}"/>
              </a:ext>
            </a:extLst>
          </p:cNvPr>
          <p:cNvPicPr>
            <a:picLocks noChangeAspect="1"/>
          </p:cNvPicPr>
          <p:nvPr/>
        </p:nvPicPr>
        <p:blipFill>
          <a:blip r:embed="rId5"/>
          <a:stretch>
            <a:fillRect/>
          </a:stretch>
        </p:blipFill>
        <p:spPr>
          <a:xfrm>
            <a:off x="4442925" y="1319588"/>
            <a:ext cx="778250" cy="416920"/>
          </a:xfrm>
          <a:prstGeom prst="rect">
            <a:avLst/>
          </a:prstGeom>
        </p:spPr>
      </p:pic>
      <p:pic>
        <p:nvPicPr>
          <p:cNvPr id="21" name="图片 20">
            <a:extLst>
              <a:ext uri="{FF2B5EF4-FFF2-40B4-BE49-F238E27FC236}">
                <a16:creationId xmlns:a16="http://schemas.microsoft.com/office/drawing/2014/main" id="{7D55BB37-2CC4-AF99-5749-A1943E06D0E6}"/>
              </a:ext>
            </a:extLst>
          </p:cNvPr>
          <p:cNvPicPr>
            <a:picLocks noChangeAspect="1"/>
          </p:cNvPicPr>
          <p:nvPr/>
        </p:nvPicPr>
        <p:blipFill>
          <a:blip r:embed="rId6"/>
          <a:stretch>
            <a:fillRect/>
          </a:stretch>
        </p:blipFill>
        <p:spPr>
          <a:xfrm>
            <a:off x="3422838" y="3907282"/>
            <a:ext cx="4119823" cy="1487986"/>
          </a:xfrm>
          <a:prstGeom prst="rect">
            <a:avLst/>
          </a:prstGeom>
        </p:spPr>
      </p:pic>
      <p:sp>
        <p:nvSpPr>
          <p:cNvPr id="5" name="TextBox 72">
            <a:extLst>
              <a:ext uri="{FF2B5EF4-FFF2-40B4-BE49-F238E27FC236}">
                <a16:creationId xmlns:a16="http://schemas.microsoft.com/office/drawing/2014/main" id="{A73EFEEC-EBDA-A0E7-96D6-6475A9C31BF4}"/>
              </a:ext>
            </a:extLst>
          </p:cNvPr>
          <p:cNvSpPr txBox="1"/>
          <p:nvPr/>
        </p:nvSpPr>
        <p:spPr>
          <a:xfrm>
            <a:off x="7959228" y="1319588"/>
            <a:ext cx="3497048"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Edit &amp; Change Request - Approval Required</a:t>
            </a:r>
            <a:endParaRPr lang="en-US" sz="1300" b="1">
              <a:solidFill>
                <a:schemeClr val="accent6">
                  <a:lumMod val="75000"/>
                  <a:lumOff val="25000"/>
                </a:schemeClr>
              </a:solidFill>
              <a:cs typeface="Lato Regular"/>
            </a:endParaRPr>
          </a:p>
        </p:txBody>
      </p:sp>
      <p:sp>
        <p:nvSpPr>
          <p:cNvPr id="6" name="Oval 111">
            <a:extLst>
              <a:ext uri="{FF2B5EF4-FFF2-40B4-BE49-F238E27FC236}">
                <a16:creationId xmlns:a16="http://schemas.microsoft.com/office/drawing/2014/main" id="{2B7F55B0-7C0D-80E4-A759-87B3E69DAC9F}"/>
              </a:ext>
            </a:extLst>
          </p:cNvPr>
          <p:cNvSpPr/>
          <p:nvPr/>
        </p:nvSpPr>
        <p:spPr>
          <a:xfrm>
            <a:off x="7757833" y="138544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7" name="TextBox 82">
            <a:extLst>
              <a:ext uri="{FF2B5EF4-FFF2-40B4-BE49-F238E27FC236}">
                <a16:creationId xmlns:a16="http://schemas.microsoft.com/office/drawing/2014/main" id="{61353156-E6D2-164A-D318-B5B480FCCEEB}"/>
              </a:ext>
            </a:extLst>
          </p:cNvPr>
          <p:cNvSpPr txBox="1"/>
          <p:nvPr/>
        </p:nvSpPr>
        <p:spPr>
          <a:xfrm>
            <a:off x="8027757" y="4942685"/>
            <a:ext cx="1939214" cy="292388"/>
          </a:xfrm>
          <a:prstGeom prst="rect">
            <a:avLst/>
          </a:prstGeom>
          <a:noFill/>
        </p:spPr>
        <p:txBody>
          <a:bodyPr wrap="square" rtlCol="0">
            <a:spAutoFit/>
          </a:bodyPr>
          <a:lstStyle/>
          <a:p>
            <a:r>
              <a:rPr lang="en-US" sz="1300" b="1">
                <a:solidFill>
                  <a:srgbClr val="126C36"/>
                </a:solidFill>
                <a:cs typeface="Lato Regular"/>
              </a:rPr>
              <a:t>Change History</a:t>
            </a:r>
          </a:p>
        </p:txBody>
      </p:sp>
      <p:sp>
        <p:nvSpPr>
          <p:cNvPr id="8" name="Oval 112">
            <a:extLst>
              <a:ext uri="{FF2B5EF4-FFF2-40B4-BE49-F238E27FC236}">
                <a16:creationId xmlns:a16="http://schemas.microsoft.com/office/drawing/2014/main" id="{37A436D1-AF3A-B11D-0701-78B34D5D4782}"/>
              </a:ext>
            </a:extLst>
          </p:cNvPr>
          <p:cNvSpPr/>
          <p:nvPr/>
        </p:nvSpPr>
        <p:spPr>
          <a:xfrm>
            <a:off x="7799157" y="4960680"/>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9" name="TextBox 93">
            <a:extLst>
              <a:ext uri="{FF2B5EF4-FFF2-40B4-BE49-F238E27FC236}">
                <a16:creationId xmlns:a16="http://schemas.microsoft.com/office/drawing/2014/main" id="{045542BF-3CD8-A4C0-B16C-480C5E8C3882}"/>
              </a:ext>
            </a:extLst>
          </p:cNvPr>
          <p:cNvSpPr txBox="1"/>
          <p:nvPr/>
        </p:nvSpPr>
        <p:spPr>
          <a:xfrm>
            <a:off x="8027757" y="5192248"/>
            <a:ext cx="3560105" cy="400110"/>
          </a:xfrm>
          <a:prstGeom prst="rect">
            <a:avLst/>
          </a:prstGeom>
          <a:noFill/>
        </p:spPr>
        <p:txBody>
          <a:bodyPr wrap="square" rtlCol="0">
            <a:spAutoFit/>
          </a:bodyPr>
          <a:lstStyle/>
          <a:p>
            <a:r>
              <a:rPr lang="en-US" altLang="zh-CN" sz="1000">
                <a:cs typeface="Lato Light"/>
              </a:rPr>
              <a:t>The Change History tab maintains a complete audit trail of approved product master updates.</a:t>
            </a:r>
            <a:endParaRPr lang="en-US" altLang="zh-CN" sz="1000" b="1">
              <a:cs typeface="Lato Light"/>
            </a:endParaRPr>
          </a:p>
        </p:txBody>
      </p:sp>
      <p:sp>
        <p:nvSpPr>
          <p:cNvPr id="17" name="Oval 111">
            <a:extLst>
              <a:ext uri="{FF2B5EF4-FFF2-40B4-BE49-F238E27FC236}">
                <a16:creationId xmlns:a16="http://schemas.microsoft.com/office/drawing/2014/main" id="{B8D32717-26D4-8097-041A-DF340874A329}"/>
              </a:ext>
            </a:extLst>
          </p:cNvPr>
          <p:cNvSpPr/>
          <p:nvPr/>
        </p:nvSpPr>
        <p:spPr>
          <a:xfrm>
            <a:off x="4493148" y="1440582"/>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9" name="Oval 112">
            <a:extLst>
              <a:ext uri="{FF2B5EF4-FFF2-40B4-BE49-F238E27FC236}">
                <a16:creationId xmlns:a16="http://schemas.microsoft.com/office/drawing/2014/main" id="{DB8C3DD7-7AD8-C769-719E-A31108EF6F40}"/>
              </a:ext>
            </a:extLst>
          </p:cNvPr>
          <p:cNvSpPr/>
          <p:nvPr/>
        </p:nvSpPr>
        <p:spPr>
          <a:xfrm>
            <a:off x="2749018" y="5441061"/>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Oval 111">
            <a:extLst>
              <a:ext uri="{FF2B5EF4-FFF2-40B4-BE49-F238E27FC236}">
                <a16:creationId xmlns:a16="http://schemas.microsoft.com/office/drawing/2014/main" id="{0777B25F-DDE8-A153-4521-157653B3B8BD}"/>
              </a:ext>
            </a:extLst>
          </p:cNvPr>
          <p:cNvSpPr/>
          <p:nvPr/>
        </p:nvSpPr>
        <p:spPr>
          <a:xfrm>
            <a:off x="2691736" y="435689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419494017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6" grpId="0" animBg="1"/>
      <p:bldP spid="7" grpId="0"/>
      <p:bldP spid="8" grpId="0" animBg="1"/>
      <p:bldP spid="9" grpId="0"/>
      <p:bldP spid="17" grpId="0" animBg="1"/>
      <p:bldP spid="19" grpId="0" animBg="1"/>
      <p:bldP spid="2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F4698-B449-F81F-AC89-EDF1A418D04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EF1DF8A-3B1D-4E38-3BC3-0F13445E6560}"/>
              </a:ext>
            </a:extLst>
          </p:cNvPr>
          <p:cNvSpPr>
            <a:spLocks noGrp="1"/>
          </p:cNvSpPr>
          <p:nvPr>
            <p:ph type="title"/>
          </p:nvPr>
        </p:nvSpPr>
        <p:spPr/>
        <p:txBody>
          <a:bodyPr/>
          <a:lstStyle/>
          <a:p>
            <a:r>
              <a:rPr lang="en-US" altLang="zh-CN"/>
              <a:t>Account Master - What Key Users Need to Know</a:t>
            </a:r>
            <a:endParaRPr lang="zh-CN" altLang="en-US"/>
          </a:p>
        </p:txBody>
      </p:sp>
      <p:sp>
        <p:nvSpPr>
          <p:cNvPr id="5" name="Text 1">
            <a:extLst>
              <a:ext uri="{FF2B5EF4-FFF2-40B4-BE49-F238E27FC236}">
                <a16:creationId xmlns:a16="http://schemas.microsoft.com/office/drawing/2014/main" id="{7E7A51E1-1139-5232-0EE8-9D268DA50CD9}"/>
              </a:ext>
            </a:extLst>
          </p:cNvPr>
          <p:cNvSpPr/>
          <p:nvPr/>
        </p:nvSpPr>
        <p:spPr>
          <a:xfrm>
            <a:off x="320182" y="761159"/>
            <a:ext cx="8961120" cy="274320"/>
          </a:xfrm>
          <a:prstGeom prst="rect">
            <a:avLst/>
          </a:prstGeom>
          <a:noFill/>
          <a:ln/>
        </p:spPr>
        <p:txBody>
          <a:bodyPr wrap="square" lIns="381" tIns="381" rIns="381" bIns="381" rtlCol="0" anchor="ctr">
            <a:normAutofit/>
          </a:bodyPr>
          <a:lstStyle/>
          <a:p>
            <a:pPr marL="0" indent="0" algn="l">
              <a:buNone/>
            </a:pPr>
            <a:r>
              <a:rPr lang="en-US" sz="1200" i="1">
                <a:solidFill>
                  <a:srgbClr val="667085"/>
                </a:solidFill>
                <a:latin typeface="+mj-lt"/>
                <a:ea typeface="Arial" pitchFamily="34" charset="-122"/>
                <a:cs typeface="Arial" pitchFamily="34" charset="-120"/>
              </a:rPr>
              <a:t>Know where account data comes from, when NexBill creates it, and who maintains it</a:t>
            </a:r>
            <a:endParaRPr lang="en-US" sz="1200">
              <a:latin typeface="+mj-lt"/>
            </a:endParaRPr>
          </a:p>
        </p:txBody>
      </p:sp>
      <p:sp>
        <p:nvSpPr>
          <p:cNvPr id="6" name="Shape 2">
            <a:extLst>
              <a:ext uri="{FF2B5EF4-FFF2-40B4-BE49-F238E27FC236}">
                <a16:creationId xmlns:a16="http://schemas.microsoft.com/office/drawing/2014/main" id="{F6D16DC2-64CD-DA30-927C-4D9678174D41}"/>
              </a:ext>
            </a:extLst>
          </p:cNvPr>
          <p:cNvSpPr/>
          <p:nvPr/>
        </p:nvSpPr>
        <p:spPr>
          <a:xfrm>
            <a:off x="320182" y="1163495"/>
            <a:ext cx="11338560" cy="512064"/>
          </a:xfrm>
          <a:prstGeom prst="roundRect">
            <a:avLst>
              <a:gd name="adj" fmla="val 21429"/>
            </a:avLst>
          </a:prstGeom>
          <a:solidFill>
            <a:srgbClr val="EEF5FF"/>
          </a:solidFill>
          <a:ln w="12700">
            <a:solidFill>
              <a:srgbClr val="B8CCE4"/>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8" name="Text 3">
            <a:extLst>
              <a:ext uri="{FF2B5EF4-FFF2-40B4-BE49-F238E27FC236}">
                <a16:creationId xmlns:a16="http://schemas.microsoft.com/office/drawing/2014/main" id="{84C41256-44BA-EDCF-6E85-977964EDA2F3}"/>
              </a:ext>
            </a:extLst>
          </p:cNvPr>
          <p:cNvSpPr/>
          <p:nvPr/>
        </p:nvSpPr>
        <p:spPr>
          <a:xfrm>
            <a:off x="503062" y="1273223"/>
            <a:ext cx="1078992" cy="219456"/>
          </a:xfrm>
          <a:prstGeom prst="rect">
            <a:avLst/>
          </a:prstGeom>
          <a:noFill/>
          <a:ln/>
        </p:spPr>
        <p:txBody>
          <a:bodyPr wrap="square" lIns="381" tIns="381" rIns="381" bIns="381" rtlCol="0" anchor="ctr">
            <a:normAutofit/>
          </a:bodyPr>
          <a:lstStyle/>
          <a:p>
            <a:pPr marL="0" indent="0" algn="l">
              <a:buNone/>
            </a:pPr>
            <a:r>
              <a:rPr lang="en-US" sz="1100" b="1">
                <a:solidFill>
                  <a:srgbClr val="0B3A82"/>
                </a:solidFill>
                <a:latin typeface="+mj-lt"/>
                <a:ea typeface="Arial" pitchFamily="34" charset="-122"/>
                <a:cs typeface="Arial" pitchFamily="34" charset="-120"/>
              </a:rPr>
              <a:t>KEY MESSAGE</a:t>
            </a:r>
            <a:endParaRPr lang="en-US" sz="1100">
              <a:latin typeface="+mj-lt"/>
            </a:endParaRPr>
          </a:p>
        </p:txBody>
      </p:sp>
      <p:sp>
        <p:nvSpPr>
          <p:cNvPr id="15" name="Text 4">
            <a:extLst>
              <a:ext uri="{FF2B5EF4-FFF2-40B4-BE49-F238E27FC236}">
                <a16:creationId xmlns:a16="http://schemas.microsoft.com/office/drawing/2014/main" id="{7870DE24-9A9D-BE07-5F7A-BDC11EA541B7}"/>
              </a:ext>
            </a:extLst>
          </p:cNvPr>
          <p:cNvSpPr/>
          <p:nvPr/>
        </p:nvSpPr>
        <p:spPr>
          <a:xfrm>
            <a:off x="1691782" y="1236647"/>
            <a:ext cx="9738360" cy="292608"/>
          </a:xfrm>
          <a:prstGeom prst="rect">
            <a:avLst/>
          </a:prstGeom>
          <a:noFill/>
          <a:ln/>
        </p:spPr>
        <p:txBody>
          <a:bodyPr wrap="square" lIns="381" tIns="381" rIns="381" bIns="381" rtlCol="0" anchor="ctr">
            <a:normAutofit fontScale="92500" lnSpcReduction="20000"/>
          </a:bodyPr>
          <a:lstStyle/>
          <a:p>
            <a:pPr marL="0" indent="0" algn="l">
              <a:buNone/>
            </a:pPr>
            <a:r>
              <a:rPr lang="en-US" sz="1220" b="1">
                <a:solidFill>
                  <a:srgbClr val="1F2937"/>
                </a:solidFill>
                <a:latin typeface="+mj-lt"/>
                <a:ea typeface="Arial" pitchFamily="34" charset="-122"/>
                <a:cs typeface="Arial" pitchFamily="34" charset="-120"/>
              </a:rPr>
              <a:t>Customer &amp; DMU accounts are normally sourced from Account Service and created during EPR inbound; internal customers and vendors are maintained manually by Finance / DT / IT.</a:t>
            </a:r>
            <a:endParaRPr lang="en-US" sz="1220">
              <a:latin typeface="+mj-lt"/>
            </a:endParaRPr>
          </a:p>
        </p:txBody>
      </p:sp>
      <p:sp>
        <p:nvSpPr>
          <p:cNvPr id="19" name="Shape 5">
            <a:extLst>
              <a:ext uri="{FF2B5EF4-FFF2-40B4-BE49-F238E27FC236}">
                <a16:creationId xmlns:a16="http://schemas.microsoft.com/office/drawing/2014/main" id="{7266EBED-D94A-8F6B-E87B-D50799DEF903}"/>
              </a:ext>
            </a:extLst>
          </p:cNvPr>
          <p:cNvSpPr/>
          <p:nvPr/>
        </p:nvSpPr>
        <p:spPr>
          <a:xfrm>
            <a:off x="320182" y="1913303"/>
            <a:ext cx="5440680" cy="3200400"/>
          </a:xfrm>
          <a:prstGeom prst="roundRect">
            <a:avLst>
              <a:gd name="adj" fmla="val 3429"/>
            </a:avLst>
          </a:prstGeom>
          <a:solidFill>
            <a:srgbClr val="FFFFFF"/>
          </a:solidFill>
          <a:ln w="12700">
            <a:solidFill>
              <a:srgbClr val="C6D9F1"/>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20" name="Shape 6">
            <a:extLst>
              <a:ext uri="{FF2B5EF4-FFF2-40B4-BE49-F238E27FC236}">
                <a16:creationId xmlns:a16="http://schemas.microsoft.com/office/drawing/2014/main" id="{EA32B509-68FA-6D0E-7C28-704008282B37}"/>
              </a:ext>
            </a:extLst>
          </p:cNvPr>
          <p:cNvSpPr/>
          <p:nvPr/>
        </p:nvSpPr>
        <p:spPr>
          <a:xfrm>
            <a:off x="320182" y="1913303"/>
            <a:ext cx="5440680" cy="457200"/>
          </a:xfrm>
          <a:prstGeom prst="roundRect">
            <a:avLst>
              <a:gd name="adj" fmla="val 24000"/>
            </a:avLst>
          </a:prstGeom>
          <a:solidFill>
            <a:srgbClr val="0B3A82"/>
          </a:solidFill>
          <a:ln w="12700">
            <a:solidFill>
              <a:srgbClr val="0B3A82"/>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21" name="Text 7">
            <a:extLst>
              <a:ext uri="{FF2B5EF4-FFF2-40B4-BE49-F238E27FC236}">
                <a16:creationId xmlns:a16="http://schemas.microsoft.com/office/drawing/2014/main" id="{E6FBFEB1-3F3F-5C67-34E2-5329E5DD14DE}"/>
              </a:ext>
            </a:extLst>
          </p:cNvPr>
          <p:cNvSpPr/>
          <p:nvPr/>
        </p:nvSpPr>
        <p:spPr>
          <a:xfrm>
            <a:off x="548782" y="2013887"/>
            <a:ext cx="4983480" cy="219456"/>
          </a:xfrm>
          <a:prstGeom prst="rect">
            <a:avLst/>
          </a:prstGeom>
          <a:noFill/>
          <a:ln/>
        </p:spPr>
        <p:txBody>
          <a:bodyPr wrap="square" lIns="381" tIns="381" rIns="381" bIns="381" rtlCol="0" anchor="ctr">
            <a:normAutofit/>
          </a:bodyPr>
          <a:lstStyle/>
          <a:p>
            <a:pPr marL="0" indent="0" algn="l">
              <a:buNone/>
            </a:pPr>
            <a:r>
              <a:rPr lang="en-US" sz="1400" b="1">
                <a:solidFill>
                  <a:srgbClr val="FFFFFF"/>
                </a:solidFill>
                <a:latin typeface="+mj-lt"/>
                <a:ea typeface="Arial" pitchFamily="34" charset="-122"/>
                <a:cs typeface="Arial" pitchFamily="34" charset="-120"/>
              </a:rPr>
              <a:t>1  NORMAL CUSTOMER ACCOUNT</a:t>
            </a:r>
            <a:endParaRPr lang="en-US" sz="1400">
              <a:latin typeface="+mj-lt"/>
            </a:endParaRPr>
          </a:p>
        </p:txBody>
      </p:sp>
      <p:sp>
        <p:nvSpPr>
          <p:cNvPr id="22" name="Shape 8">
            <a:extLst>
              <a:ext uri="{FF2B5EF4-FFF2-40B4-BE49-F238E27FC236}">
                <a16:creationId xmlns:a16="http://schemas.microsoft.com/office/drawing/2014/main" id="{D5570603-D845-F3AA-5B52-089B6528240C}"/>
              </a:ext>
            </a:extLst>
          </p:cNvPr>
          <p:cNvSpPr/>
          <p:nvPr/>
        </p:nvSpPr>
        <p:spPr>
          <a:xfrm>
            <a:off x="621934" y="2553383"/>
            <a:ext cx="1353312" cy="676656"/>
          </a:xfrm>
          <a:prstGeom prst="roundRect">
            <a:avLst>
              <a:gd name="adj" fmla="val 16216"/>
            </a:avLst>
          </a:prstGeom>
          <a:solidFill>
            <a:srgbClr val="F4F6F8"/>
          </a:solidFill>
          <a:ln w="12700">
            <a:solidFill>
              <a:srgbClr val="D5D9DE"/>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23" name="Text 9">
            <a:extLst>
              <a:ext uri="{FF2B5EF4-FFF2-40B4-BE49-F238E27FC236}">
                <a16:creationId xmlns:a16="http://schemas.microsoft.com/office/drawing/2014/main" id="{C7CFADCF-1326-E959-2E2D-7DF03103168F}"/>
              </a:ext>
            </a:extLst>
          </p:cNvPr>
          <p:cNvSpPr/>
          <p:nvPr/>
        </p:nvSpPr>
        <p:spPr>
          <a:xfrm>
            <a:off x="731662" y="2644823"/>
            <a:ext cx="1115568" cy="347472"/>
          </a:xfrm>
          <a:prstGeom prst="rect">
            <a:avLst/>
          </a:prstGeom>
          <a:noFill/>
          <a:ln/>
        </p:spPr>
        <p:txBody>
          <a:bodyPr wrap="square" lIns="381" tIns="381" rIns="381" bIns="381" rtlCol="0" anchor="ctr">
            <a:normAutofit fontScale="85000" lnSpcReduction="20000"/>
          </a:bodyPr>
          <a:lstStyle/>
          <a:p>
            <a:pPr marL="0" indent="0" algn="ctr">
              <a:buNone/>
            </a:pPr>
            <a:r>
              <a:rPr lang="en-US" sz="1500" b="1">
                <a:solidFill>
                  <a:srgbClr val="0B3A82"/>
                </a:solidFill>
                <a:latin typeface="+mj-lt"/>
                <a:ea typeface="Arial" pitchFamily="34" charset="-122"/>
                <a:cs typeface="Arial" pitchFamily="34" charset="-120"/>
              </a:rPr>
              <a:t>Account</a:t>
            </a:r>
            <a:endParaRPr lang="en-US" sz="1500">
              <a:latin typeface="+mj-lt"/>
            </a:endParaRPr>
          </a:p>
          <a:p>
            <a:pPr marL="0" indent="0" algn="ctr">
              <a:buNone/>
            </a:pPr>
            <a:r>
              <a:rPr lang="en-US" sz="1500" b="1">
                <a:solidFill>
                  <a:srgbClr val="0B3A82"/>
                </a:solidFill>
                <a:latin typeface="+mj-lt"/>
                <a:ea typeface="Arial" pitchFamily="34" charset="-122"/>
                <a:cs typeface="Arial" pitchFamily="34" charset="-120"/>
              </a:rPr>
              <a:t>Service</a:t>
            </a:r>
            <a:endParaRPr lang="en-US" sz="1500">
              <a:latin typeface="+mj-lt"/>
            </a:endParaRPr>
          </a:p>
        </p:txBody>
      </p:sp>
      <p:sp>
        <p:nvSpPr>
          <p:cNvPr id="24" name="Shape 10">
            <a:extLst>
              <a:ext uri="{FF2B5EF4-FFF2-40B4-BE49-F238E27FC236}">
                <a16:creationId xmlns:a16="http://schemas.microsoft.com/office/drawing/2014/main" id="{D036ABCE-75DB-71EC-0989-189CD92F7EBF}"/>
              </a:ext>
            </a:extLst>
          </p:cNvPr>
          <p:cNvSpPr/>
          <p:nvPr/>
        </p:nvSpPr>
        <p:spPr>
          <a:xfrm>
            <a:off x="1993534" y="2891711"/>
            <a:ext cx="530352" cy="0"/>
          </a:xfrm>
          <a:prstGeom prst="line">
            <a:avLst/>
          </a:prstGeom>
          <a:noFill/>
          <a:ln w="31750">
            <a:solidFill>
              <a:srgbClr val="0AA6A6"/>
            </a:solidFill>
            <a:prstDash val="solid"/>
            <a:headEnd type="none"/>
            <a:tailEnd type="triangle"/>
          </a:ln>
        </p:spPr>
        <p:txBody>
          <a:bodyPr/>
          <a:lstStyle/>
          <a:p>
            <a:endParaRPr lang="zh-CN" altLang="en-US">
              <a:latin typeface="+mj-lt"/>
            </a:endParaRPr>
          </a:p>
        </p:txBody>
      </p:sp>
      <p:sp>
        <p:nvSpPr>
          <p:cNvPr id="25" name="Shape 11">
            <a:extLst>
              <a:ext uri="{FF2B5EF4-FFF2-40B4-BE49-F238E27FC236}">
                <a16:creationId xmlns:a16="http://schemas.microsoft.com/office/drawing/2014/main" id="{F98B5065-F79B-DBF4-FF60-A6B35D567645}"/>
              </a:ext>
            </a:extLst>
          </p:cNvPr>
          <p:cNvSpPr/>
          <p:nvPr/>
        </p:nvSpPr>
        <p:spPr>
          <a:xfrm>
            <a:off x="2533030" y="2461943"/>
            <a:ext cx="1627632" cy="859536"/>
          </a:xfrm>
          <a:prstGeom prst="roundRect">
            <a:avLst>
              <a:gd name="adj" fmla="val 12766"/>
            </a:avLst>
          </a:prstGeom>
          <a:solidFill>
            <a:srgbClr val="EAF8F8"/>
          </a:solidFill>
          <a:ln w="12700">
            <a:solidFill>
              <a:srgbClr val="B8E3E3"/>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26" name="Text 12">
            <a:extLst>
              <a:ext uri="{FF2B5EF4-FFF2-40B4-BE49-F238E27FC236}">
                <a16:creationId xmlns:a16="http://schemas.microsoft.com/office/drawing/2014/main" id="{75811D71-8A35-8E6D-64B6-D7FC39718F3A}"/>
              </a:ext>
            </a:extLst>
          </p:cNvPr>
          <p:cNvSpPr/>
          <p:nvPr/>
        </p:nvSpPr>
        <p:spPr>
          <a:xfrm>
            <a:off x="2670190" y="2589959"/>
            <a:ext cx="1353312" cy="219456"/>
          </a:xfrm>
          <a:prstGeom prst="rect">
            <a:avLst/>
          </a:prstGeom>
          <a:noFill/>
          <a:ln/>
        </p:spPr>
        <p:txBody>
          <a:bodyPr wrap="square" lIns="381" tIns="381" rIns="381" bIns="381" rtlCol="0" anchor="ctr">
            <a:normAutofit lnSpcReduction="10000"/>
          </a:bodyPr>
          <a:lstStyle/>
          <a:p>
            <a:pPr marL="0" indent="0" algn="ctr">
              <a:buNone/>
            </a:pPr>
            <a:r>
              <a:rPr lang="en-US" sz="1500" b="1">
                <a:solidFill>
                  <a:srgbClr val="0AA6A6"/>
                </a:solidFill>
                <a:latin typeface="+mj-lt"/>
                <a:ea typeface="Arial" pitchFamily="34" charset="-122"/>
                <a:cs typeface="Arial" pitchFamily="34" charset="-120"/>
              </a:rPr>
              <a:t>EPR Inbound</a:t>
            </a:r>
            <a:endParaRPr lang="en-US" sz="1500">
              <a:latin typeface="+mj-lt"/>
            </a:endParaRPr>
          </a:p>
        </p:txBody>
      </p:sp>
      <p:sp>
        <p:nvSpPr>
          <p:cNvPr id="27" name="Text 13">
            <a:extLst>
              <a:ext uri="{FF2B5EF4-FFF2-40B4-BE49-F238E27FC236}">
                <a16:creationId xmlns:a16="http://schemas.microsoft.com/office/drawing/2014/main" id="{ABF483FA-4E75-6C9E-0A20-D10AC1E9C35D}"/>
              </a:ext>
            </a:extLst>
          </p:cNvPr>
          <p:cNvSpPr/>
          <p:nvPr/>
        </p:nvSpPr>
        <p:spPr>
          <a:xfrm>
            <a:off x="2670190" y="2900855"/>
            <a:ext cx="1353312" cy="274320"/>
          </a:xfrm>
          <a:prstGeom prst="rect">
            <a:avLst/>
          </a:prstGeom>
          <a:noFill/>
          <a:ln/>
        </p:spPr>
        <p:txBody>
          <a:bodyPr wrap="square" lIns="381" tIns="381" rIns="381" bIns="381" rtlCol="0" anchor="ctr">
            <a:normAutofit lnSpcReduction="10000"/>
          </a:bodyPr>
          <a:lstStyle/>
          <a:p>
            <a:pPr marL="0" indent="0" algn="ctr">
              <a:buNone/>
            </a:pPr>
            <a:r>
              <a:rPr lang="en-US" sz="950">
                <a:solidFill>
                  <a:srgbClr val="667085"/>
                </a:solidFill>
                <a:latin typeface="+mj-lt"/>
                <a:ea typeface="Arial" pitchFamily="34" charset="-122"/>
                <a:cs typeface="Arial" pitchFamily="34" charset="-120"/>
              </a:rPr>
              <a:t>Account data used for EPR processing</a:t>
            </a:r>
            <a:endParaRPr lang="en-US" sz="950">
              <a:latin typeface="+mj-lt"/>
            </a:endParaRPr>
          </a:p>
        </p:txBody>
      </p:sp>
      <p:sp>
        <p:nvSpPr>
          <p:cNvPr id="28" name="Shape 14">
            <a:extLst>
              <a:ext uri="{FF2B5EF4-FFF2-40B4-BE49-F238E27FC236}">
                <a16:creationId xmlns:a16="http://schemas.microsoft.com/office/drawing/2014/main" id="{90E7B941-DB5C-BC16-6BFB-97F3F65D0D6F}"/>
              </a:ext>
            </a:extLst>
          </p:cNvPr>
          <p:cNvSpPr/>
          <p:nvPr/>
        </p:nvSpPr>
        <p:spPr>
          <a:xfrm>
            <a:off x="4188094" y="2891711"/>
            <a:ext cx="475488" cy="0"/>
          </a:xfrm>
          <a:prstGeom prst="line">
            <a:avLst/>
          </a:prstGeom>
          <a:noFill/>
          <a:ln w="31750">
            <a:solidFill>
              <a:srgbClr val="0AA6A6"/>
            </a:solidFill>
            <a:prstDash val="solid"/>
            <a:headEnd type="none"/>
            <a:tailEnd type="triangle"/>
          </a:ln>
        </p:spPr>
        <p:txBody>
          <a:bodyPr/>
          <a:lstStyle/>
          <a:p>
            <a:endParaRPr lang="zh-CN" altLang="en-US">
              <a:latin typeface="+mj-lt"/>
            </a:endParaRPr>
          </a:p>
        </p:txBody>
      </p:sp>
      <p:sp>
        <p:nvSpPr>
          <p:cNvPr id="29" name="Shape 15">
            <a:extLst>
              <a:ext uri="{FF2B5EF4-FFF2-40B4-BE49-F238E27FC236}">
                <a16:creationId xmlns:a16="http://schemas.microsoft.com/office/drawing/2014/main" id="{3EE24A04-A36D-B219-1534-E8C902C0A05F}"/>
              </a:ext>
            </a:extLst>
          </p:cNvPr>
          <p:cNvSpPr/>
          <p:nvPr/>
        </p:nvSpPr>
        <p:spPr>
          <a:xfrm>
            <a:off x="4672726" y="2461943"/>
            <a:ext cx="786384" cy="859536"/>
          </a:xfrm>
          <a:prstGeom prst="roundRect">
            <a:avLst>
              <a:gd name="adj" fmla="val 13953"/>
            </a:avLst>
          </a:prstGeom>
          <a:solidFill>
            <a:srgbClr val="0B3A82"/>
          </a:solidFill>
          <a:ln w="12700">
            <a:solidFill>
              <a:srgbClr val="0B3A82"/>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30" name="Text 16">
            <a:extLst>
              <a:ext uri="{FF2B5EF4-FFF2-40B4-BE49-F238E27FC236}">
                <a16:creationId xmlns:a16="http://schemas.microsoft.com/office/drawing/2014/main" id="{9336B1D5-1FD1-385F-A545-90E79B0B63AE}"/>
              </a:ext>
            </a:extLst>
          </p:cNvPr>
          <p:cNvSpPr/>
          <p:nvPr/>
        </p:nvSpPr>
        <p:spPr>
          <a:xfrm>
            <a:off x="4709302" y="2717975"/>
            <a:ext cx="713232" cy="219456"/>
          </a:xfrm>
          <a:prstGeom prst="rect">
            <a:avLst/>
          </a:prstGeom>
          <a:noFill/>
          <a:ln/>
        </p:spPr>
        <p:txBody>
          <a:bodyPr wrap="square" lIns="381" tIns="381" rIns="381" bIns="381" rtlCol="0" anchor="ctr">
            <a:normAutofit/>
          </a:bodyPr>
          <a:lstStyle/>
          <a:p>
            <a:pPr marL="0" indent="0" algn="ctr">
              <a:buNone/>
            </a:pPr>
            <a:r>
              <a:rPr lang="en-US" sz="1200" b="1">
                <a:solidFill>
                  <a:srgbClr val="FFFFFF"/>
                </a:solidFill>
                <a:latin typeface="+mj-lt"/>
                <a:ea typeface="Arial" pitchFamily="34" charset="-122"/>
                <a:cs typeface="Arial" pitchFamily="34" charset="-120"/>
              </a:rPr>
              <a:t>NexBill</a:t>
            </a:r>
            <a:endParaRPr lang="en-US" sz="1200">
              <a:latin typeface="+mj-lt"/>
            </a:endParaRPr>
          </a:p>
        </p:txBody>
      </p:sp>
      <p:sp>
        <p:nvSpPr>
          <p:cNvPr id="31" name="Text 17">
            <a:extLst>
              <a:ext uri="{FF2B5EF4-FFF2-40B4-BE49-F238E27FC236}">
                <a16:creationId xmlns:a16="http://schemas.microsoft.com/office/drawing/2014/main" id="{2ADEB32E-6889-E8CB-64D5-3A0490AB2BA6}"/>
              </a:ext>
            </a:extLst>
          </p:cNvPr>
          <p:cNvSpPr/>
          <p:nvPr/>
        </p:nvSpPr>
        <p:spPr>
          <a:xfrm>
            <a:off x="640222" y="3412919"/>
            <a:ext cx="1143000" cy="228600"/>
          </a:xfrm>
          <a:prstGeom prst="rect">
            <a:avLst/>
          </a:prstGeom>
          <a:noFill/>
          <a:ln/>
        </p:spPr>
        <p:txBody>
          <a:bodyPr wrap="square" lIns="381" tIns="381" rIns="381" bIns="381" rtlCol="0" anchor="ctr">
            <a:normAutofit/>
          </a:bodyPr>
          <a:lstStyle/>
          <a:p>
            <a:pPr marL="0" indent="0" algn="l">
              <a:buNone/>
            </a:pPr>
            <a:r>
              <a:rPr lang="en-US" sz="1100" b="1">
                <a:solidFill>
                  <a:srgbClr val="0B3A82"/>
                </a:solidFill>
                <a:latin typeface="+mj-lt"/>
                <a:ea typeface="Arial" pitchFamily="34" charset="-122"/>
                <a:cs typeface="Arial" pitchFamily="34" charset="-120"/>
              </a:rPr>
              <a:t>How it works</a:t>
            </a:r>
            <a:endParaRPr lang="en-US" sz="1100">
              <a:latin typeface="+mj-lt"/>
            </a:endParaRPr>
          </a:p>
        </p:txBody>
      </p:sp>
      <p:sp>
        <p:nvSpPr>
          <p:cNvPr id="32" name="Shape 18">
            <a:extLst>
              <a:ext uri="{FF2B5EF4-FFF2-40B4-BE49-F238E27FC236}">
                <a16:creationId xmlns:a16="http://schemas.microsoft.com/office/drawing/2014/main" id="{9C83DA01-AD32-20C5-7818-31F0290424CD}"/>
              </a:ext>
            </a:extLst>
          </p:cNvPr>
          <p:cNvSpPr/>
          <p:nvPr/>
        </p:nvSpPr>
        <p:spPr>
          <a:xfrm>
            <a:off x="640222" y="3760391"/>
            <a:ext cx="128016" cy="128016"/>
          </a:xfrm>
          <a:prstGeom prst="ellipse">
            <a:avLst/>
          </a:prstGeom>
          <a:solidFill>
            <a:srgbClr val="0AA6A6"/>
          </a:solidFill>
          <a:ln w="12700">
            <a:solidFill>
              <a:srgbClr val="0AA6A6"/>
            </a:solidFill>
            <a:prstDash val="solid"/>
          </a:ln>
        </p:spPr>
        <p:txBody>
          <a:bodyPr/>
          <a:lstStyle/>
          <a:p>
            <a:endParaRPr lang="zh-CN" altLang="en-US">
              <a:latin typeface="+mj-lt"/>
            </a:endParaRPr>
          </a:p>
        </p:txBody>
      </p:sp>
      <p:sp>
        <p:nvSpPr>
          <p:cNvPr id="33" name="Text 19">
            <a:extLst>
              <a:ext uri="{FF2B5EF4-FFF2-40B4-BE49-F238E27FC236}">
                <a16:creationId xmlns:a16="http://schemas.microsoft.com/office/drawing/2014/main" id="{46B1C859-D0ED-4507-2256-52FC4EAE7A63}"/>
              </a:ext>
            </a:extLst>
          </p:cNvPr>
          <p:cNvSpPr/>
          <p:nvPr/>
        </p:nvSpPr>
        <p:spPr>
          <a:xfrm>
            <a:off x="868822" y="3687239"/>
            <a:ext cx="4526280" cy="256032"/>
          </a:xfrm>
          <a:prstGeom prst="rect">
            <a:avLst/>
          </a:prstGeom>
          <a:noFill/>
          <a:ln/>
        </p:spPr>
        <p:txBody>
          <a:bodyPr wrap="square" lIns="381" tIns="381" rIns="381" bIns="381" rtlCol="0" anchor="ctr">
            <a:normAutofit/>
          </a:bodyPr>
          <a:lstStyle/>
          <a:p>
            <a:pPr marL="0" indent="0" algn="l">
              <a:buNone/>
            </a:pPr>
            <a:r>
              <a:rPr lang="en-US" sz="1110">
                <a:solidFill>
                  <a:srgbClr val="1F2937"/>
                </a:solidFill>
                <a:latin typeface="+mj-lt"/>
                <a:ea typeface="Arial" pitchFamily="34" charset="-122"/>
                <a:cs typeface="Arial" pitchFamily="34" charset="-120"/>
              </a:rPr>
              <a:t>Account records are normally created through integration.</a:t>
            </a:r>
            <a:endParaRPr lang="en-US" sz="1110">
              <a:latin typeface="+mj-lt"/>
            </a:endParaRPr>
          </a:p>
        </p:txBody>
      </p:sp>
      <p:sp>
        <p:nvSpPr>
          <p:cNvPr id="34" name="Shape 20">
            <a:extLst>
              <a:ext uri="{FF2B5EF4-FFF2-40B4-BE49-F238E27FC236}">
                <a16:creationId xmlns:a16="http://schemas.microsoft.com/office/drawing/2014/main" id="{A4637058-A7C5-5267-77BD-3E87F3F09BE6}"/>
              </a:ext>
            </a:extLst>
          </p:cNvPr>
          <p:cNvSpPr/>
          <p:nvPr/>
        </p:nvSpPr>
        <p:spPr>
          <a:xfrm>
            <a:off x="640222" y="4144439"/>
            <a:ext cx="128016" cy="128016"/>
          </a:xfrm>
          <a:prstGeom prst="ellipse">
            <a:avLst/>
          </a:prstGeom>
          <a:solidFill>
            <a:srgbClr val="0AA6A6"/>
          </a:solidFill>
          <a:ln w="12700">
            <a:solidFill>
              <a:srgbClr val="0AA6A6"/>
            </a:solidFill>
            <a:prstDash val="solid"/>
          </a:ln>
        </p:spPr>
        <p:txBody>
          <a:bodyPr/>
          <a:lstStyle/>
          <a:p>
            <a:endParaRPr lang="zh-CN" altLang="en-US">
              <a:latin typeface="+mj-lt"/>
            </a:endParaRPr>
          </a:p>
        </p:txBody>
      </p:sp>
      <p:sp>
        <p:nvSpPr>
          <p:cNvPr id="35" name="Text 21">
            <a:extLst>
              <a:ext uri="{FF2B5EF4-FFF2-40B4-BE49-F238E27FC236}">
                <a16:creationId xmlns:a16="http://schemas.microsoft.com/office/drawing/2014/main" id="{BE117A24-AD3E-0A68-443A-85E1370B748A}"/>
              </a:ext>
            </a:extLst>
          </p:cNvPr>
          <p:cNvSpPr/>
          <p:nvPr/>
        </p:nvSpPr>
        <p:spPr>
          <a:xfrm>
            <a:off x="868822" y="4071287"/>
            <a:ext cx="4526280" cy="256032"/>
          </a:xfrm>
          <a:prstGeom prst="rect">
            <a:avLst/>
          </a:prstGeom>
          <a:noFill/>
          <a:ln/>
        </p:spPr>
        <p:txBody>
          <a:bodyPr wrap="square" lIns="381" tIns="381" rIns="381" bIns="381" rtlCol="0" anchor="ctr">
            <a:normAutofit/>
          </a:bodyPr>
          <a:lstStyle/>
          <a:p>
            <a:pPr marL="0" indent="0" algn="l">
              <a:buNone/>
            </a:pPr>
            <a:r>
              <a:rPr lang="en-US" sz="1110">
                <a:solidFill>
                  <a:srgbClr val="1F2937"/>
                </a:solidFill>
                <a:latin typeface="+mj-lt"/>
                <a:ea typeface="Arial" pitchFamily="34" charset="-122"/>
                <a:cs typeface="Arial" pitchFamily="34" charset="-120"/>
              </a:rPr>
              <a:t>EPR inbound can create / use the required customer account data.</a:t>
            </a:r>
            <a:endParaRPr lang="en-US" sz="1110">
              <a:latin typeface="+mj-lt"/>
            </a:endParaRPr>
          </a:p>
        </p:txBody>
      </p:sp>
      <p:sp>
        <p:nvSpPr>
          <p:cNvPr id="36" name="Shape 22">
            <a:extLst>
              <a:ext uri="{FF2B5EF4-FFF2-40B4-BE49-F238E27FC236}">
                <a16:creationId xmlns:a16="http://schemas.microsoft.com/office/drawing/2014/main" id="{D7915956-E399-9CEA-2689-B49C1CA437DF}"/>
              </a:ext>
            </a:extLst>
          </p:cNvPr>
          <p:cNvSpPr/>
          <p:nvPr/>
        </p:nvSpPr>
        <p:spPr>
          <a:xfrm>
            <a:off x="640222" y="4528487"/>
            <a:ext cx="128016" cy="128016"/>
          </a:xfrm>
          <a:prstGeom prst="ellipse">
            <a:avLst/>
          </a:prstGeom>
          <a:solidFill>
            <a:srgbClr val="0AA6A6"/>
          </a:solidFill>
          <a:ln w="12700">
            <a:solidFill>
              <a:srgbClr val="0AA6A6"/>
            </a:solidFill>
            <a:prstDash val="solid"/>
          </a:ln>
        </p:spPr>
        <p:txBody>
          <a:bodyPr/>
          <a:lstStyle/>
          <a:p>
            <a:endParaRPr lang="zh-CN" altLang="en-US">
              <a:latin typeface="+mj-lt"/>
            </a:endParaRPr>
          </a:p>
        </p:txBody>
      </p:sp>
      <p:sp>
        <p:nvSpPr>
          <p:cNvPr id="37" name="Text 23">
            <a:extLst>
              <a:ext uri="{FF2B5EF4-FFF2-40B4-BE49-F238E27FC236}">
                <a16:creationId xmlns:a16="http://schemas.microsoft.com/office/drawing/2014/main" id="{CC8FDA08-15F5-AD1E-9A0F-797051A4C6F2}"/>
              </a:ext>
            </a:extLst>
          </p:cNvPr>
          <p:cNvSpPr/>
          <p:nvPr/>
        </p:nvSpPr>
        <p:spPr>
          <a:xfrm>
            <a:off x="868822" y="4455335"/>
            <a:ext cx="4526280" cy="256032"/>
          </a:xfrm>
          <a:prstGeom prst="rect">
            <a:avLst/>
          </a:prstGeom>
          <a:noFill/>
          <a:ln/>
        </p:spPr>
        <p:txBody>
          <a:bodyPr wrap="square" lIns="381" tIns="381" rIns="381" bIns="381" rtlCol="0" anchor="ctr">
            <a:normAutofit/>
          </a:bodyPr>
          <a:lstStyle/>
          <a:p>
            <a:pPr marL="0" indent="0" algn="l">
              <a:buNone/>
            </a:pPr>
            <a:r>
              <a:rPr lang="en-US" sz="1110">
                <a:solidFill>
                  <a:srgbClr val="1F2937"/>
                </a:solidFill>
                <a:latin typeface="+mj-lt"/>
                <a:ea typeface="Arial" pitchFamily="34" charset="-122"/>
                <a:cs typeface="Arial" pitchFamily="34" charset="-120"/>
              </a:rPr>
              <a:t>Users can search, review and open Account Master details in NexBill.</a:t>
            </a:r>
            <a:endParaRPr lang="en-US" sz="1110">
              <a:latin typeface="+mj-lt"/>
            </a:endParaRPr>
          </a:p>
        </p:txBody>
      </p:sp>
      <p:sp>
        <p:nvSpPr>
          <p:cNvPr id="38" name="Shape 24">
            <a:extLst>
              <a:ext uri="{FF2B5EF4-FFF2-40B4-BE49-F238E27FC236}">
                <a16:creationId xmlns:a16="http://schemas.microsoft.com/office/drawing/2014/main" id="{5EB065A0-CF1A-91F9-82A6-74DD16202C4C}"/>
              </a:ext>
            </a:extLst>
          </p:cNvPr>
          <p:cNvSpPr/>
          <p:nvPr/>
        </p:nvSpPr>
        <p:spPr>
          <a:xfrm>
            <a:off x="640222" y="4784519"/>
            <a:ext cx="1234440" cy="256032"/>
          </a:xfrm>
          <a:prstGeom prst="roundRect">
            <a:avLst>
              <a:gd name="adj" fmla="val 42857"/>
            </a:avLst>
          </a:prstGeom>
          <a:solidFill>
            <a:srgbClr val="0AA6A6"/>
          </a:solidFill>
          <a:ln w="6350">
            <a:solidFill>
              <a:srgbClr val="0AA6A6"/>
            </a:solidFill>
            <a:prstDash val="solid"/>
          </a:ln>
        </p:spPr>
        <p:txBody>
          <a:bodyPr/>
          <a:lstStyle/>
          <a:p>
            <a:endParaRPr lang="zh-CN" altLang="en-US">
              <a:latin typeface="+mj-lt"/>
            </a:endParaRPr>
          </a:p>
        </p:txBody>
      </p:sp>
      <p:sp>
        <p:nvSpPr>
          <p:cNvPr id="39" name="Text 25">
            <a:extLst>
              <a:ext uri="{FF2B5EF4-FFF2-40B4-BE49-F238E27FC236}">
                <a16:creationId xmlns:a16="http://schemas.microsoft.com/office/drawing/2014/main" id="{C306DF63-F80B-F40D-F2BB-4A6C2775725E}"/>
              </a:ext>
            </a:extLst>
          </p:cNvPr>
          <p:cNvSpPr/>
          <p:nvPr/>
        </p:nvSpPr>
        <p:spPr>
          <a:xfrm>
            <a:off x="640222" y="4793663"/>
            <a:ext cx="1234440" cy="201168"/>
          </a:xfrm>
          <a:prstGeom prst="rect">
            <a:avLst/>
          </a:prstGeom>
          <a:noFill/>
          <a:ln/>
        </p:spPr>
        <p:txBody>
          <a:bodyPr wrap="square" lIns="381" tIns="381" rIns="381" bIns="381" rtlCol="0" anchor="ctr">
            <a:normAutofit/>
          </a:bodyPr>
          <a:lstStyle/>
          <a:p>
            <a:pPr marL="0" indent="0" algn="ctr">
              <a:buNone/>
            </a:pPr>
            <a:r>
              <a:rPr lang="en-US" sz="1000" b="1">
                <a:solidFill>
                  <a:srgbClr val="FFFFFF"/>
                </a:solidFill>
                <a:latin typeface="+mj-lt"/>
                <a:ea typeface="Arial" pitchFamily="34" charset="-122"/>
                <a:cs typeface="Arial" pitchFamily="34" charset="-120"/>
              </a:rPr>
              <a:t>STANDARD FLOW</a:t>
            </a:r>
            <a:endParaRPr lang="en-US" sz="1000">
              <a:latin typeface="+mj-lt"/>
            </a:endParaRPr>
          </a:p>
        </p:txBody>
      </p:sp>
      <p:sp>
        <p:nvSpPr>
          <p:cNvPr id="40" name="Text 26">
            <a:extLst>
              <a:ext uri="{FF2B5EF4-FFF2-40B4-BE49-F238E27FC236}">
                <a16:creationId xmlns:a16="http://schemas.microsoft.com/office/drawing/2014/main" id="{B6618DAE-A5F3-6912-1FFD-6CE98447A15B}"/>
              </a:ext>
            </a:extLst>
          </p:cNvPr>
          <p:cNvSpPr/>
          <p:nvPr/>
        </p:nvSpPr>
        <p:spPr>
          <a:xfrm>
            <a:off x="1993534" y="4784519"/>
            <a:ext cx="3255264" cy="256032"/>
          </a:xfrm>
          <a:prstGeom prst="rect">
            <a:avLst/>
          </a:prstGeom>
          <a:noFill/>
          <a:ln/>
        </p:spPr>
        <p:txBody>
          <a:bodyPr wrap="square" lIns="381" tIns="381" rIns="381" bIns="381" rtlCol="0" anchor="ctr">
            <a:normAutofit/>
          </a:bodyPr>
          <a:lstStyle/>
          <a:p>
            <a:pPr marL="0" indent="0" algn="l">
              <a:buNone/>
            </a:pPr>
            <a:r>
              <a:rPr lang="en-US" sz="1100" b="1">
                <a:solidFill>
                  <a:srgbClr val="0B3A82"/>
                </a:solidFill>
                <a:latin typeface="+mj-lt"/>
                <a:ea typeface="Arial" pitchFamily="34" charset="-122"/>
                <a:cs typeface="Arial" pitchFamily="34" charset="-120"/>
              </a:rPr>
              <a:t>Account Service → NexBill → EPR / Billing</a:t>
            </a:r>
            <a:endParaRPr lang="en-US" sz="1100">
              <a:latin typeface="+mj-lt"/>
            </a:endParaRPr>
          </a:p>
        </p:txBody>
      </p:sp>
      <p:sp>
        <p:nvSpPr>
          <p:cNvPr id="41" name="Shape 27">
            <a:extLst>
              <a:ext uri="{FF2B5EF4-FFF2-40B4-BE49-F238E27FC236}">
                <a16:creationId xmlns:a16="http://schemas.microsoft.com/office/drawing/2014/main" id="{92AC7A19-0239-5C22-658F-57DEF7B42799}"/>
              </a:ext>
            </a:extLst>
          </p:cNvPr>
          <p:cNvSpPr/>
          <p:nvPr/>
        </p:nvSpPr>
        <p:spPr>
          <a:xfrm>
            <a:off x="5989462" y="1913303"/>
            <a:ext cx="5669280" cy="3200400"/>
          </a:xfrm>
          <a:prstGeom prst="roundRect">
            <a:avLst>
              <a:gd name="adj" fmla="val 3429"/>
            </a:avLst>
          </a:prstGeom>
          <a:solidFill>
            <a:srgbClr val="FFFFFF"/>
          </a:solidFill>
          <a:ln w="12700">
            <a:solidFill>
              <a:srgbClr val="F0D69A"/>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42" name="Shape 28">
            <a:extLst>
              <a:ext uri="{FF2B5EF4-FFF2-40B4-BE49-F238E27FC236}">
                <a16:creationId xmlns:a16="http://schemas.microsoft.com/office/drawing/2014/main" id="{F21FE88C-B63A-26AC-9833-AB0BFAA6C881}"/>
              </a:ext>
            </a:extLst>
          </p:cNvPr>
          <p:cNvSpPr/>
          <p:nvPr/>
        </p:nvSpPr>
        <p:spPr>
          <a:xfrm>
            <a:off x="5989462" y="1913303"/>
            <a:ext cx="5669280" cy="457200"/>
          </a:xfrm>
          <a:prstGeom prst="roundRect">
            <a:avLst>
              <a:gd name="adj" fmla="val 24000"/>
            </a:avLst>
          </a:prstGeom>
          <a:solidFill>
            <a:srgbClr val="F59E0B"/>
          </a:solidFill>
          <a:ln w="12700">
            <a:solidFill>
              <a:srgbClr val="F59E0B"/>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43" name="Text 29">
            <a:extLst>
              <a:ext uri="{FF2B5EF4-FFF2-40B4-BE49-F238E27FC236}">
                <a16:creationId xmlns:a16="http://schemas.microsoft.com/office/drawing/2014/main" id="{ED8B2FD6-7186-0DE2-F7B5-EE0C4EC437A5}"/>
              </a:ext>
            </a:extLst>
          </p:cNvPr>
          <p:cNvSpPr/>
          <p:nvPr/>
        </p:nvSpPr>
        <p:spPr>
          <a:xfrm>
            <a:off x="6218062" y="2013887"/>
            <a:ext cx="5212080" cy="219456"/>
          </a:xfrm>
          <a:prstGeom prst="rect">
            <a:avLst/>
          </a:prstGeom>
          <a:noFill/>
          <a:ln/>
        </p:spPr>
        <p:txBody>
          <a:bodyPr wrap="square" lIns="381" tIns="381" rIns="381" bIns="381" rtlCol="0" anchor="ctr">
            <a:normAutofit/>
          </a:bodyPr>
          <a:lstStyle/>
          <a:p>
            <a:pPr marL="0" indent="0" algn="l">
              <a:buNone/>
            </a:pPr>
            <a:r>
              <a:rPr lang="en-US" sz="1400" b="1">
                <a:solidFill>
                  <a:srgbClr val="FFFFFF"/>
                </a:solidFill>
                <a:latin typeface="+mj-lt"/>
                <a:ea typeface="Arial" pitchFamily="34" charset="-122"/>
                <a:cs typeface="Arial" pitchFamily="34" charset="-120"/>
              </a:rPr>
              <a:t>2  INTERNAL CUSTOMER / VENDOR</a:t>
            </a:r>
            <a:endParaRPr lang="en-US" sz="1400">
              <a:latin typeface="+mj-lt"/>
            </a:endParaRPr>
          </a:p>
        </p:txBody>
      </p:sp>
      <p:sp>
        <p:nvSpPr>
          <p:cNvPr id="44" name="Shape 30">
            <a:extLst>
              <a:ext uri="{FF2B5EF4-FFF2-40B4-BE49-F238E27FC236}">
                <a16:creationId xmlns:a16="http://schemas.microsoft.com/office/drawing/2014/main" id="{47866312-DE7E-BEB2-A301-7981B9DA9E08}"/>
              </a:ext>
            </a:extLst>
          </p:cNvPr>
          <p:cNvSpPr/>
          <p:nvPr/>
        </p:nvSpPr>
        <p:spPr>
          <a:xfrm>
            <a:off x="6318646" y="2459000"/>
            <a:ext cx="1664208" cy="859536"/>
          </a:xfrm>
          <a:prstGeom prst="roundRect">
            <a:avLst>
              <a:gd name="adj" fmla="val 12766"/>
            </a:avLst>
          </a:prstGeom>
          <a:solidFill>
            <a:srgbClr val="FFF8E7"/>
          </a:solidFill>
          <a:ln w="12700">
            <a:solidFill>
              <a:srgbClr val="F5D48A"/>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45" name="Text 31">
            <a:extLst>
              <a:ext uri="{FF2B5EF4-FFF2-40B4-BE49-F238E27FC236}">
                <a16:creationId xmlns:a16="http://schemas.microsoft.com/office/drawing/2014/main" id="{9C4512A7-D1BB-325A-FD1E-927F76247C4F}"/>
              </a:ext>
            </a:extLst>
          </p:cNvPr>
          <p:cNvSpPr/>
          <p:nvPr/>
        </p:nvSpPr>
        <p:spPr>
          <a:xfrm>
            <a:off x="6446662" y="2587016"/>
            <a:ext cx="1408176" cy="384048"/>
          </a:xfrm>
          <a:prstGeom prst="rect">
            <a:avLst/>
          </a:prstGeom>
          <a:noFill/>
          <a:ln/>
        </p:spPr>
        <p:txBody>
          <a:bodyPr wrap="square" lIns="381" tIns="381" rIns="381" bIns="381" rtlCol="0" anchor="ctr">
            <a:normAutofit fontScale="92500" lnSpcReduction="20000"/>
          </a:bodyPr>
          <a:lstStyle/>
          <a:p>
            <a:pPr marL="0" indent="0" algn="ctr">
              <a:buNone/>
            </a:pPr>
            <a:r>
              <a:rPr lang="en-US" sz="1500" b="1">
                <a:solidFill>
                  <a:srgbClr val="8A5B00"/>
                </a:solidFill>
                <a:latin typeface="+mj-lt"/>
                <a:ea typeface="Arial" pitchFamily="34" charset="-122"/>
                <a:cs typeface="Arial" pitchFamily="34" charset="-120"/>
              </a:rPr>
              <a:t>Finance /</a:t>
            </a:r>
            <a:endParaRPr lang="en-US" sz="1500">
              <a:latin typeface="+mj-lt"/>
            </a:endParaRPr>
          </a:p>
          <a:p>
            <a:pPr marL="0" indent="0" algn="ctr">
              <a:buNone/>
            </a:pPr>
            <a:r>
              <a:rPr lang="en-US" sz="1500" b="1">
                <a:solidFill>
                  <a:srgbClr val="8A5B00"/>
                </a:solidFill>
                <a:latin typeface="+mj-lt"/>
                <a:ea typeface="Arial" pitchFamily="34" charset="-122"/>
                <a:cs typeface="Arial" pitchFamily="34" charset="-120"/>
              </a:rPr>
              <a:t>DT / IT</a:t>
            </a:r>
            <a:endParaRPr lang="en-US" sz="1500">
              <a:latin typeface="+mj-lt"/>
            </a:endParaRPr>
          </a:p>
        </p:txBody>
      </p:sp>
      <p:sp>
        <p:nvSpPr>
          <p:cNvPr id="46" name="Shape 32">
            <a:extLst>
              <a:ext uri="{FF2B5EF4-FFF2-40B4-BE49-F238E27FC236}">
                <a16:creationId xmlns:a16="http://schemas.microsoft.com/office/drawing/2014/main" id="{07256F37-BAC3-23C3-3D86-1413E5FC9193}"/>
              </a:ext>
            </a:extLst>
          </p:cNvPr>
          <p:cNvSpPr/>
          <p:nvPr/>
        </p:nvSpPr>
        <p:spPr>
          <a:xfrm>
            <a:off x="8001142" y="2888768"/>
            <a:ext cx="530352" cy="0"/>
          </a:xfrm>
          <a:prstGeom prst="line">
            <a:avLst/>
          </a:prstGeom>
          <a:noFill/>
          <a:ln w="31750">
            <a:solidFill>
              <a:srgbClr val="F59E0B"/>
            </a:solidFill>
            <a:prstDash val="solid"/>
            <a:headEnd type="none"/>
            <a:tailEnd type="triangle"/>
          </a:ln>
        </p:spPr>
        <p:txBody>
          <a:bodyPr/>
          <a:lstStyle/>
          <a:p>
            <a:endParaRPr lang="zh-CN" altLang="en-US">
              <a:latin typeface="+mj-lt"/>
            </a:endParaRPr>
          </a:p>
        </p:txBody>
      </p:sp>
      <p:sp>
        <p:nvSpPr>
          <p:cNvPr id="47" name="Shape 33">
            <a:extLst>
              <a:ext uri="{FF2B5EF4-FFF2-40B4-BE49-F238E27FC236}">
                <a16:creationId xmlns:a16="http://schemas.microsoft.com/office/drawing/2014/main" id="{9B566ADA-FDFB-1BF9-56C7-44CF2E8AB668}"/>
              </a:ext>
            </a:extLst>
          </p:cNvPr>
          <p:cNvSpPr/>
          <p:nvPr/>
        </p:nvSpPr>
        <p:spPr>
          <a:xfrm>
            <a:off x="8540638" y="2404136"/>
            <a:ext cx="1627632" cy="969264"/>
          </a:xfrm>
          <a:prstGeom prst="roundRect">
            <a:avLst>
              <a:gd name="adj" fmla="val 11321"/>
            </a:avLst>
          </a:prstGeom>
          <a:solidFill>
            <a:srgbClr val="FFF5D6"/>
          </a:solidFill>
          <a:ln w="12700">
            <a:solidFill>
              <a:srgbClr val="F5D48A"/>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48" name="Text 34">
            <a:extLst>
              <a:ext uri="{FF2B5EF4-FFF2-40B4-BE49-F238E27FC236}">
                <a16:creationId xmlns:a16="http://schemas.microsoft.com/office/drawing/2014/main" id="{19656C4D-43BC-39A7-131B-AD2047F71CC0}"/>
              </a:ext>
            </a:extLst>
          </p:cNvPr>
          <p:cNvSpPr/>
          <p:nvPr/>
        </p:nvSpPr>
        <p:spPr>
          <a:xfrm>
            <a:off x="8650366" y="2550440"/>
            <a:ext cx="1408176" cy="365760"/>
          </a:xfrm>
          <a:prstGeom prst="rect">
            <a:avLst/>
          </a:prstGeom>
          <a:noFill/>
          <a:ln/>
        </p:spPr>
        <p:txBody>
          <a:bodyPr wrap="square" lIns="381" tIns="381" rIns="381" bIns="381" rtlCol="0" anchor="ctr">
            <a:normAutofit fontScale="92500" lnSpcReduction="10000"/>
          </a:bodyPr>
          <a:lstStyle/>
          <a:p>
            <a:pPr marL="0" indent="0" algn="ctr">
              <a:buNone/>
            </a:pPr>
            <a:r>
              <a:rPr lang="en-US" sz="1400" b="1">
                <a:solidFill>
                  <a:srgbClr val="8A5B00"/>
                </a:solidFill>
                <a:latin typeface="+mj-lt"/>
                <a:ea typeface="Arial" pitchFamily="34" charset="-122"/>
                <a:cs typeface="Arial" pitchFamily="34" charset="-120"/>
              </a:rPr>
              <a:t>Manual</a:t>
            </a:r>
            <a:endParaRPr lang="en-US" sz="1400">
              <a:latin typeface="+mj-lt"/>
            </a:endParaRPr>
          </a:p>
          <a:p>
            <a:pPr marL="0" indent="0" algn="ctr">
              <a:buNone/>
            </a:pPr>
            <a:r>
              <a:rPr lang="en-US" sz="1400" b="1">
                <a:solidFill>
                  <a:srgbClr val="8A5B00"/>
                </a:solidFill>
                <a:latin typeface="+mj-lt"/>
                <a:ea typeface="Arial" pitchFamily="34" charset="-122"/>
                <a:cs typeface="Arial" pitchFamily="34" charset="-120"/>
              </a:rPr>
              <a:t>Maintenance</a:t>
            </a:r>
            <a:endParaRPr lang="en-US" sz="1400">
              <a:latin typeface="+mj-lt"/>
            </a:endParaRPr>
          </a:p>
        </p:txBody>
      </p:sp>
      <p:sp>
        <p:nvSpPr>
          <p:cNvPr id="49" name="Shape 35">
            <a:extLst>
              <a:ext uri="{FF2B5EF4-FFF2-40B4-BE49-F238E27FC236}">
                <a16:creationId xmlns:a16="http://schemas.microsoft.com/office/drawing/2014/main" id="{5A5D8320-B947-55C7-E04D-A216FC8A667B}"/>
              </a:ext>
            </a:extLst>
          </p:cNvPr>
          <p:cNvSpPr/>
          <p:nvPr/>
        </p:nvSpPr>
        <p:spPr>
          <a:xfrm>
            <a:off x="10186558" y="2888768"/>
            <a:ext cx="484632" cy="0"/>
          </a:xfrm>
          <a:prstGeom prst="line">
            <a:avLst/>
          </a:prstGeom>
          <a:noFill/>
          <a:ln w="31750">
            <a:solidFill>
              <a:srgbClr val="F59E0B"/>
            </a:solidFill>
            <a:prstDash val="solid"/>
            <a:headEnd type="none"/>
            <a:tailEnd type="triangle"/>
          </a:ln>
        </p:spPr>
        <p:txBody>
          <a:bodyPr/>
          <a:lstStyle/>
          <a:p>
            <a:endParaRPr lang="zh-CN" altLang="en-US">
              <a:latin typeface="+mj-lt"/>
            </a:endParaRPr>
          </a:p>
        </p:txBody>
      </p:sp>
      <p:sp>
        <p:nvSpPr>
          <p:cNvPr id="50" name="Shape 36">
            <a:extLst>
              <a:ext uri="{FF2B5EF4-FFF2-40B4-BE49-F238E27FC236}">
                <a16:creationId xmlns:a16="http://schemas.microsoft.com/office/drawing/2014/main" id="{96F79684-07ED-6FFA-213D-8B6ED8BAD148}"/>
              </a:ext>
            </a:extLst>
          </p:cNvPr>
          <p:cNvSpPr/>
          <p:nvPr/>
        </p:nvSpPr>
        <p:spPr>
          <a:xfrm>
            <a:off x="10680334" y="2404136"/>
            <a:ext cx="676656" cy="969264"/>
          </a:xfrm>
          <a:prstGeom prst="roundRect">
            <a:avLst>
              <a:gd name="adj" fmla="val 16216"/>
            </a:avLst>
          </a:prstGeom>
          <a:solidFill>
            <a:srgbClr val="F59E0B"/>
          </a:solidFill>
          <a:ln w="12700">
            <a:solidFill>
              <a:srgbClr val="F59E0B"/>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51" name="Text 37">
            <a:extLst>
              <a:ext uri="{FF2B5EF4-FFF2-40B4-BE49-F238E27FC236}">
                <a16:creationId xmlns:a16="http://schemas.microsoft.com/office/drawing/2014/main" id="{FE2A9009-94CD-6430-911C-C4EDECF2FE0D}"/>
              </a:ext>
            </a:extLst>
          </p:cNvPr>
          <p:cNvSpPr/>
          <p:nvPr/>
        </p:nvSpPr>
        <p:spPr>
          <a:xfrm>
            <a:off x="10707766" y="2733320"/>
            <a:ext cx="621792" cy="228600"/>
          </a:xfrm>
          <a:prstGeom prst="rect">
            <a:avLst/>
          </a:prstGeom>
          <a:noFill/>
          <a:ln/>
        </p:spPr>
        <p:txBody>
          <a:bodyPr wrap="square" lIns="381" tIns="381" rIns="381" bIns="381" rtlCol="0" anchor="ctr">
            <a:normAutofit/>
          </a:bodyPr>
          <a:lstStyle/>
          <a:p>
            <a:pPr marL="0" indent="0" algn="ctr">
              <a:buNone/>
            </a:pPr>
            <a:r>
              <a:rPr lang="en-US" sz="1100" b="1">
                <a:solidFill>
                  <a:srgbClr val="FFFFFF"/>
                </a:solidFill>
                <a:latin typeface="+mj-lt"/>
                <a:ea typeface="Arial" pitchFamily="34" charset="-122"/>
                <a:cs typeface="Arial" pitchFamily="34" charset="-120"/>
              </a:rPr>
              <a:t>NexBill</a:t>
            </a:r>
            <a:endParaRPr lang="en-US" sz="1100">
              <a:latin typeface="+mj-lt"/>
            </a:endParaRPr>
          </a:p>
        </p:txBody>
      </p:sp>
      <p:sp>
        <p:nvSpPr>
          <p:cNvPr id="52" name="Text 38">
            <a:extLst>
              <a:ext uri="{FF2B5EF4-FFF2-40B4-BE49-F238E27FC236}">
                <a16:creationId xmlns:a16="http://schemas.microsoft.com/office/drawing/2014/main" id="{F2A70DC7-E069-854C-BC47-7344833706F6}"/>
              </a:ext>
            </a:extLst>
          </p:cNvPr>
          <p:cNvSpPr/>
          <p:nvPr/>
        </p:nvSpPr>
        <p:spPr>
          <a:xfrm>
            <a:off x="6318646" y="3446552"/>
            <a:ext cx="1143000" cy="228600"/>
          </a:xfrm>
          <a:prstGeom prst="rect">
            <a:avLst/>
          </a:prstGeom>
          <a:noFill/>
          <a:ln/>
        </p:spPr>
        <p:txBody>
          <a:bodyPr wrap="square" lIns="381" tIns="381" rIns="381" bIns="381" rtlCol="0" anchor="ctr">
            <a:normAutofit/>
          </a:bodyPr>
          <a:lstStyle/>
          <a:p>
            <a:pPr marL="0" indent="0" algn="l">
              <a:buNone/>
            </a:pPr>
            <a:r>
              <a:rPr lang="en-US" sz="1100" b="1">
                <a:solidFill>
                  <a:srgbClr val="8A5B00"/>
                </a:solidFill>
                <a:latin typeface="+mj-lt"/>
                <a:ea typeface="Arial" pitchFamily="34" charset="-122"/>
                <a:cs typeface="Arial" pitchFamily="34" charset="-120"/>
              </a:rPr>
              <a:t>How it works</a:t>
            </a:r>
            <a:endParaRPr lang="en-US" sz="1100">
              <a:latin typeface="+mj-lt"/>
            </a:endParaRPr>
          </a:p>
        </p:txBody>
      </p:sp>
      <p:sp>
        <p:nvSpPr>
          <p:cNvPr id="53" name="Shape 39">
            <a:extLst>
              <a:ext uri="{FF2B5EF4-FFF2-40B4-BE49-F238E27FC236}">
                <a16:creationId xmlns:a16="http://schemas.microsoft.com/office/drawing/2014/main" id="{C597E06C-7B71-8947-2836-B787A851318F}"/>
              </a:ext>
            </a:extLst>
          </p:cNvPr>
          <p:cNvSpPr/>
          <p:nvPr/>
        </p:nvSpPr>
        <p:spPr>
          <a:xfrm>
            <a:off x="6318646" y="3775736"/>
            <a:ext cx="128016" cy="128016"/>
          </a:xfrm>
          <a:prstGeom prst="ellipse">
            <a:avLst/>
          </a:prstGeom>
          <a:solidFill>
            <a:srgbClr val="F59E0B"/>
          </a:solidFill>
          <a:ln w="12700">
            <a:solidFill>
              <a:srgbClr val="F59E0B"/>
            </a:solidFill>
            <a:prstDash val="solid"/>
          </a:ln>
        </p:spPr>
        <p:txBody>
          <a:bodyPr/>
          <a:lstStyle/>
          <a:p>
            <a:endParaRPr lang="zh-CN" altLang="en-US">
              <a:latin typeface="+mj-lt"/>
            </a:endParaRPr>
          </a:p>
        </p:txBody>
      </p:sp>
      <p:sp>
        <p:nvSpPr>
          <p:cNvPr id="54" name="Text 40">
            <a:extLst>
              <a:ext uri="{FF2B5EF4-FFF2-40B4-BE49-F238E27FC236}">
                <a16:creationId xmlns:a16="http://schemas.microsoft.com/office/drawing/2014/main" id="{D80A0271-AA5F-1FBA-E062-C6F5D5167C21}"/>
              </a:ext>
            </a:extLst>
          </p:cNvPr>
          <p:cNvSpPr/>
          <p:nvPr/>
        </p:nvSpPr>
        <p:spPr>
          <a:xfrm>
            <a:off x="6547246" y="3702584"/>
            <a:ext cx="4709160" cy="310896"/>
          </a:xfrm>
          <a:prstGeom prst="rect">
            <a:avLst/>
          </a:prstGeom>
          <a:noFill/>
          <a:ln/>
        </p:spPr>
        <p:txBody>
          <a:bodyPr wrap="square" lIns="381" tIns="381" rIns="381" bIns="381" rtlCol="0" anchor="ctr">
            <a:normAutofit lnSpcReduction="10000"/>
          </a:bodyPr>
          <a:lstStyle/>
          <a:p>
            <a:pPr marL="0" indent="0" algn="l">
              <a:buNone/>
            </a:pPr>
            <a:r>
              <a:rPr lang="en-US" sz="1080">
                <a:solidFill>
                  <a:srgbClr val="1F2937"/>
                </a:solidFill>
                <a:latin typeface="+mj-lt"/>
                <a:ea typeface="Arial" pitchFamily="34" charset="-122"/>
                <a:cs typeface="Arial" pitchFamily="34" charset="-120"/>
              </a:rPr>
              <a:t>Internal Customer (AFE Internal Funder) or Vendor is not sourced through Account Service.</a:t>
            </a:r>
            <a:endParaRPr lang="en-US" sz="1080">
              <a:latin typeface="+mj-lt"/>
            </a:endParaRPr>
          </a:p>
        </p:txBody>
      </p:sp>
      <p:sp>
        <p:nvSpPr>
          <p:cNvPr id="55" name="Shape 41">
            <a:extLst>
              <a:ext uri="{FF2B5EF4-FFF2-40B4-BE49-F238E27FC236}">
                <a16:creationId xmlns:a16="http://schemas.microsoft.com/office/drawing/2014/main" id="{0CE8B2CE-6B84-ECCC-7E48-A48A00BBC0B5}"/>
              </a:ext>
            </a:extLst>
          </p:cNvPr>
          <p:cNvSpPr/>
          <p:nvPr/>
        </p:nvSpPr>
        <p:spPr>
          <a:xfrm>
            <a:off x="6318646" y="4159784"/>
            <a:ext cx="128016" cy="128016"/>
          </a:xfrm>
          <a:prstGeom prst="ellipse">
            <a:avLst/>
          </a:prstGeom>
          <a:solidFill>
            <a:srgbClr val="F59E0B"/>
          </a:solidFill>
          <a:ln w="12700">
            <a:solidFill>
              <a:srgbClr val="F59E0B"/>
            </a:solidFill>
            <a:prstDash val="solid"/>
          </a:ln>
        </p:spPr>
        <p:txBody>
          <a:bodyPr/>
          <a:lstStyle/>
          <a:p>
            <a:endParaRPr lang="zh-CN" altLang="en-US">
              <a:latin typeface="+mj-lt"/>
            </a:endParaRPr>
          </a:p>
        </p:txBody>
      </p:sp>
      <p:sp>
        <p:nvSpPr>
          <p:cNvPr id="56" name="Text 42">
            <a:extLst>
              <a:ext uri="{FF2B5EF4-FFF2-40B4-BE49-F238E27FC236}">
                <a16:creationId xmlns:a16="http://schemas.microsoft.com/office/drawing/2014/main" id="{3921BCCD-3A58-D5C8-5B72-2B2082500618}"/>
              </a:ext>
            </a:extLst>
          </p:cNvPr>
          <p:cNvSpPr/>
          <p:nvPr/>
        </p:nvSpPr>
        <p:spPr>
          <a:xfrm>
            <a:off x="6547246" y="4086632"/>
            <a:ext cx="4709160" cy="310896"/>
          </a:xfrm>
          <a:prstGeom prst="rect">
            <a:avLst/>
          </a:prstGeom>
          <a:noFill/>
          <a:ln/>
        </p:spPr>
        <p:txBody>
          <a:bodyPr wrap="square" lIns="381" tIns="381" rIns="381" bIns="381" rtlCol="0" anchor="ctr">
            <a:normAutofit/>
          </a:bodyPr>
          <a:lstStyle/>
          <a:p>
            <a:pPr marL="0" indent="0" algn="l">
              <a:buNone/>
            </a:pPr>
            <a:r>
              <a:rPr lang="en-US" sz="1080">
                <a:solidFill>
                  <a:srgbClr val="1F2937"/>
                </a:solidFill>
                <a:latin typeface="+mj-lt"/>
                <a:ea typeface="Arial" pitchFamily="34" charset="-122"/>
                <a:cs typeface="Arial" pitchFamily="34" charset="-120"/>
              </a:rPr>
              <a:t>Finance / DT / IT creates and maintains these records manually in NexBill.</a:t>
            </a:r>
            <a:endParaRPr lang="en-US" sz="1080">
              <a:latin typeface="+mj-lt"/>
            </a:endParaRPr>
          </a:p>
        </p:txBody>
      </p:sp>
      <p:sp>
        <p:nvSpPr>
          <p:cNvPr id="57" name="Shape 43">
            <a:extLst>
              <a:ext uri="{FF2B5EF4-FFF2-40B4-BE49-F238E27FC236}">
                <a16:creationId xmlns:a16="http://schemas.microsoft.com/office/drawing/2014/main" id="{7DA4DEF5-6DF0-448F-153E-F1C1F1A8BE58}"/>
              </a:ext>
            </a:extLst>
          </p:cNvPr>
          <p:cNvSpPr/>
          <p:nvPr/>
        </p:nvSpPr>
        <p:spPr>
          <a:xfrm>
            <a:off x="6318646" y="4543832"/>
            <a:ext cx="128016" cy="128016"/>
          </a:xfrm>
          <a:prstGeom prst="ellipse">
            <a:avLst/>
          </a:prstGeom>
          <a:solidFill>
            <a:srgbClr val="F59E0B"/>
          </a:solidFill>
          <a:ln w="12700">
            <a:solidFill>
              <a:srgbClr val="F59E0B"/>
            </a:solidFill>
            <a:prstDash val="solid"/>
          </a:ln>
        </p:spPr>
        <p:txBody>
          <a:bodyPr/>
          <a:lstStyle/>
          <a:p>
            <a:endParaRPr lang="zh-CN" altLang="en-US">
              <a:latin typeface="+mj-lt"/>
            </a:endParaRPr>
          </a:p>
        </p:txBody>
      </p:sp>
      <p:sp>
        <p:nvSpPr>
          <p:cNvPr id="58" name="Text 44">
            <a:extLst>
              <a:ext uri="{FF2B5EF4-FFF2-40B4-BE49-F238E27FC236}">
                <a16:creationId xmlns:a16="http://schemas.microsoft.com/office/drawing/2014/main" id="{1F16FB03-2DEC-36ED-041E-5AAEC0CC6B4D}"/>
              </a:ext>
            </a:extLst>
          </p:cNvPr>
          <p:cNvSpPr/>
          <p:nvPr/>
        </p:nvSpPr>
        <p:spPr>
          <a:xfrm>
            <a:off x="6547246" y="4470680"/>
            <a:ext cx="4709160" cy="310896"/>
          </a:xfrm>
          <a:prstGeom prst="rect">
            <a:avLst/>
          </a:prstGeom>
          <a:noFill/>
          <a:ln/>
        </p:spPr>
        <p:txBody>
          <a:bodyPr wrap="square" lIns="381" tIns="381" rIns="381" bIns="381" rtlCol="0" anchor="ctr">
            <a:normAutofit/>
          </a:bodyPr>
          <a:lstStyle/>
          <a:p>
            <a:pPr marL="0" indent="0" algn="l">
              <a:buNone/>
            </a:pPr>
            <a:r>
              <a:rPr lang="en-US" sz="1080">
                <a:solidFill>
                  <a:srgbClr val="1F2937"/>
                </a:solidFill>
                <a:latin typeface="+mj-lt"/>
                <a:ea typeface="Arial" pitchFamily="34" charset="-122"/>
                <a:cs typeface="Arial" pitchFamily="34" charset="-120"/>
              </a:rPr>
              <a:t>Manual functions are restricted to authorized users.</a:t>
            </a:r>
            <a:endParaRPr lang="en-US" sz="1080">
              <a:latin typeface="+mj-lt"/>
            </a:endParaRPr>
          </a:p>
        </p:txBody>
      </p:sp>
      <p:sp>
        <p:nvSpPr>
          <p:cNvPr id="59" name="Shape 45">
            <a:extLst>
              <a:ext uri="{FF2B5EF4-FFF2-40B4-BE49-F238E27FC236}">
                <a16:creationId xmlns:a16="http://schemas.microsoft.com/office/drawing/2014/main" id="{4D276C05-62BF-0DB4-0F04-C15677B5515D}"/>
              </a:ext>
            </a:extLst>
          </p:cNvPr>
          <p:cNvSpPr/>
          <p:nvPr/>
        </p:nvSpPr>
        <p:spPr>
          <a:xfrm>
            <a:off x="6318646" y="4772432"/>
            <a:ext cx="1078992" cy="256032"/>
          </a:xfrm>
          <a:prstGeom prst="roundRect">
            <a:avLst>
              <a:gd name="adj" fmla="val 42857"/>
            </a:avLst>
          </a:prstGeom>
          <a:solidFill>
            <a:srgbClr val="F59E0B"/>
          </a:solidFill>
          <a:ln w="6350">
            <a:solidFill>
              <a:srgbClr val="F59E0B"/>
            </a:solidFill>
            <a:prstDash val="solid"/>
          </a:ln>
        </p:spPr>
        <p:txBody>
          <a:bodyPr/>
          <a:lstStyle/>
          <a:p>
            <a:endParaRPr lang="zh-CN" altLang="en-US">
              <a:latin typeface="+mj-lt"/>
            </a:endParaRPr>
          </a:p>
        </p:txBody>
      </p:sp>
      <p:sp>
        <p:nvSpPr>
          <p:cNvPr id="60" name="Text 46">
            <a:extLst>
              <a:ext uri="{FF2B5EF4-FFF2-40B4-BE49-F238E27FC236}">
                <a16:creationId xmlns:a16="http://schemas.microsoft.com/office/drawing/2014/main" id="{BB84D599-4A9B-50E9-351E-7AA93D6BFB5E}"/>
              </a:ext>
            </a:extLst>
          </p:cNvPr>
          <p:cNvSpPr/>
          <p:nvPr/>
        </p:nvSpPr>
        <p:spPr>
          <a:xfrm>
            <a:off x="6318646" y="4781576"/>
            <a:ext cx="1078992" cy="201168"/>
          </a:xfrm>
          <a:prstGeom prst="rect">
            <a:avLst/>
          </a:prstGeom>
          <a:noFill/>
          <a:ln/>
        </p:spPr>
        <p:txBody>
          <a:bodyPr wrap="square" lIns="381" tIns="381" rIns="381" bIns="381" rtlCol="0" anchor="ctr">
            <a:normAutofit/>
          </a:bodyPr>
          <a:lstStyle/>
          <a:p>
            <a:pPr marL="0" indent="0" algn="ctr">
              <a:buNone/>
            </a:pPr>
            <a:r>
              <a:rPr lang="en-US" sz="1000" b="1">
                <a:solidFill>
                  <a:srgbClr val="FFFFFF"/>
                </a:solidFill>
                <a:latin typeface="+mj-lt"/>
                <a:ea typeface="Arial" pitchFamily="34" charset="-122"/>
                <a:cs typeface="Arial" pitchFamily="34" charset="-120"/>
              </a:rPr>
              <a:t>EXCEPTION</a:t>
            </a:r>
            <a:endParaRPr lang="en-US" sz="1000">
              <a:latin typeface="+mj-lt"/>
            </a:endParaRPr>
          </a:p>
        </p:txBody>
      </p:sp>
      <p:sp>
        <p:nvSpPr>
          <p:cNvPr id="61" name="Text 47">
            <a:extLst>
              <a:ext uri="{FF2B5EF4-FFF2-40B4-BE49-F238E27FC236}">
                <a16:creationId xmlns:a16="http://schemas.microsoft.com/office/drawing/2014/main" id="{DE501E0A-54FC-BD19-7784-F94A623CF087}"/>
              </a:ext>
            </a:extLst>
          </p:cNvPr>
          <p:cNvSpPr/>
          <p:nvPr/>
        </p:nvSpPr>
        <p:spPr>
          <a:xfrm>
            <a:off x="7543942" y="4772432"/>
            <a:ext cx="3493008" cy="256032"/>
          </a:xfrm>
          <a:prstGeom prst="rect">
            <a:avLst/>
          </a:prstGeom>
          <a:noFill/>
          <a:ln/>
        </p:spPr>
        <p:txBody>
          <a:bodyPr wrap="square" lIns="381" tIns="381" rIns="381" bIns="381" rtlCol="0" anchor="ctr">
            <a:normAutofit/>
          </a:bodyPr>
          <a:lstStyle/>
          <a:p>
            <a:pPr marL="0" indent="0" algn="l">
              <a:buNone/>
            </a:pPr>
            <a:r>
              <a:rPr lang="en-US" sz="1100" b="1">
                <a:solidFill>
                  <a:srgbClr val="8A5B00"/>
                </a:solidFill>
                <a:latin typeface="+mj-lt"/>
                <a:ea typeface="Arial" pitchFamily="34" charset="-122"/>
                <a:cs typeface="Arial" pitchFamily="34" charset="-120"/>
              </a:rPr>
              <a:t>Finance-controlled maintenance in NexBill</a:t>
            </a:r>
            <a:endParaRPr lang="en-US" sz="1100">
              <a:latin typeface="+mj-lt"/>
            </a:endParaRPr>
          </a:p>
        </p:txBody>
      </p:sp>
      <p:sp>
        <p:nvSpPr>
          <p:cNvPr id="62" name="Shape 48">
            <a:extLst>
              <a:ext uri="{FF2B5EF4-FFF2-40B4-BE49-F238E27FC236}">
                <a16:creationId xmlns:a16="http://schemas.microsoft.com/office/drawing/2014/main" id="{5B554786-E41C-8074-09A3-D46308027061}"/>
              </a:ext>
            </a:extLst>
          </p:cNvPr>
          <p:cNvSpPr/>
          <p:nvPr/>
        </p:nvSpPr>
        <p:spPr>
          <a:xfrm>
            <a:off x="320182" y="5479463"/>
            <a:ext cx="11338560" cy="865737"/>
          </a:xfrm>
          <a:prstGeom prst="roundRect">
            <a:avLst>
              <a:gd name="adj" fmla="val 16667"/>
            </a:avLst>
          </a:prstGeom>
          <a:solidFill>
            <a:srgbClr val="EEF8EC"/>
          </a:solidFill>
          <a:ln w="12700">
            <a:solidFill>
              <a:srgbClr val="B9DDB3"/>
            </a:solidFill>
            <a:prstDash val="solid"/>
          </a:ln>
          <a:effectLst>
            <a:outerShdw blurRad="19050" dist="8890" dir="2700000" algn="bl" rotWithShape="0">
              <a:srgbClr val="000000">
                <a:alpha val="12000"/>
              </a:srgbClr>
            </a:outerShdw>
          </a:effectLst>
        </p:spPr>
        <p:txBody>
          <a:bodyPr/>
          <a:lstStyle/>
          <a:p>
            <a:endParaRPr lang="zh-CN" altLang="en-US">
              <a:latin typeface="+mj-lt"/>
            </a:endParaRPr>
          </a:p>
        </p:txBody>
      </p:sp>
      <p:sp>
        <p:nvSpPr>
          <p:cNvPr id="63" name="Text 49">
            <a:extLst>
              <a:ext uri="{FF2B5EF4-FFF2-40B4-BE49-F238E27FC236}">
                <a16:creationId xmlns:a16="http://schemas.microsoft.com/office/drawing/2014/main" id="{2B7B5FDF-BCDE-833F-8028-385124C7DCD2}"/>
              </a:ext>
            </a:extLst>
          </p:cNvPr>
          <p:cNvSpPr/>
          <p:nvPr/>
        </p:nvSpPr>
        <p:spPr>
          <a:xfrm>
            <a:off x="548782" y="5589191"/>
            <a:ext cx="1965960" cy="228600"/>
          </a:xfrm>
          <a:prstGeom prst="rect">
            <a:avLst/>
          </a:prstGeom>
          <a:noFill/>
          <a:ln/>
        </p:spPr>
        <p:txBody>
          <a:bodyPr wrap="square" lIns="381" tIns="381" rIns="381" bIns="381" rtlCol="0" anchor="ctr">
            <a:normAutofit/>
          </a:bodyPr>
          <a:lstStyle/>
          <a:p>
            <a:pPr marL="0" indent="0" algn="l">
              <a:buNone/>
            </a:pPr>
            <a:r>
              <a:rPr lang="en-US" sz="1100" b="1">
                <a:solidFill>
                  <a:srgbClr val="59A14F"/>
                </a:solidFill>
                <a:latin typeface="+mj-lt"/>
                <a:ea typeface="Arial" pitchFamily="34" charset="-122"/>
                <a:cs typeface="Arial" pitchFamily="34" charset="-120"/>
              </a:rPr>
              <a:t>KEY USER RULE TO REMEMBER</a:t>
            </a:r>
            <a:endParaRPr lang="en-US" sz="1100">
              <a:latin typeface="+mj-lt"/>
            </a:endParaRPr>
          </a:p>
        </p:txBody>
      </p:sp>
      <p:sp>
        <p:nvSpPr>
          <p:cNvPr id="64" name="Text 50">
            <a:extLst>
              <a:ext uri="{FF2B5EF4-FFF2-40B4-BE49-F238E27FC236}">
                <a16:creationId xmlns:a16="http://schemas.microsoft.com/office/drawing/2014/main" id="{8DA66844-EEEC-14D8-668F-C2D0BA0BAAA6}"/>
              </a:ext>
            </a:extLst>
          </p:cNvPr>
          <p:cNvSpPr/>
          <p:nvPr/>
        </p:nvSpPr>
        <p:spPr>
          <a:xfrm>
            <a:off x="2514742" y="5570903"/>
            <a:ext cx="4069080" cy="256032"/>
          </a:xfrm>
          <a:prstGeom prst="rect">
            <a:avLst/>
          </a:prstGeom>
          <a:noFill/>
          <a:ln/>
        </p:spPr>
        <p:txBody>
          <a:bodyPr wrap="square" lIns="381" tIns="381" rIns="381" bIns="381" rtlCol="0" anchor="ctr">
            <a:normAutofit fontScale="92500"/>
          </a:bodyPr>
          <a:lstStyle/>
          <a:p>
            <a:pPr marL="0" indent="0" algn="l">
              <a:buNone/>
            </a:pPr>
            <a:r>
              <a:rPr lang="en-US" sz="1200" b="1">
                <a:solidFill>
                  <a:srgbClr val="0B3A82"/>
                </a:solidFill>
                <a:latin typeface="+mj-lt"/>
                <a:ea typeface="Arial" pitchFamily="34" charset="-122"/>
                <a:cs typeface="Arial" pitchFamily="34" charset="-120"/>
              </a:rPr>
              <a:t>Normal customer  →  sourced via Account Service / EPR inbound</a:t>
            </a:r>
            <a:endParaRPr lang="en-US" sz="1200">
              <a:latin typeface="+mj-lt"/>
            </a:endParaRPr>
          </a:p>
        </p:txBody>
      </p:sp>
      <p:sp>
        <p:nvSpPr>
          <p:cNvPr id="65" name="Text 51">
            <a:extLst>
              <a:ext uri="{FF2B5EF4-FFF2-40B4-BE49-F238E27FC236}">
                <a16:creationId xmlns:a16="http://schemas.microsoft.com/office/drawing/2014/main" id="{79F7DAD7-6140-76A0-3738-1DEA28C9A4DD}"/>
              </a:ext>
            </a:extLst>
          </p:cNvPr>
          <p:cNvSpPr/>
          <p:nvPr/>
        </p:nvSpPr>
        <p:spPr>
          <a:xfrm>
            <a:off x="6638686" y="5570903"/>
            <a:ext cx="4617720" cy="256032"/>
          </a:xfrm>
          <a:prstGeom prst="rect">
            <a:avLst/>
          </a:prstGeom>
          <a:noFill/>
          <a:ln/>
        </p:spPr>
        <p:txBody>
          <a:bodyPr wrap="square" lIns="381" tIns="381" rIns="381" bIns="381" rtlCol="0" anchor="ctr">
            <a:normAutofit fontScale="92500"/>
          </a:bodyPr>
          <a:lstStyle/>
          <a:p>
            <a:pPr marL="0" indent="0" algn="l">
              <a:buNone/>
            </a:pPr>
            <a:r>
              <a:rPr lang="en-US" sz="1140" b="1">
                <a:solidFill>
                  <a:srgbClr val="8A5B00"/>
                </a:solidFill>
                <a:latin typeface="+mj-lt"/>
                <a:ea typeface="Arial" pitchFamily="34" charset="-122"/>
                <a:cs typeface="Arial" pitchFamily="34" charset="-120"/>
              </a:rPr>
              <a:t>Internal Customer / Vendor  →  maintained manually by Finance / DT / IT</a:t>
            </a:r>
            <a:endParaRPr lang="en-US" sz="1140">
              <a:latin typeface="+mj-lt"/>
            </a:endParaRPr>
          </a:p>
        </p:txBody>
      </p:sp>
      <p:sp>
        <p:nvSpPr>
          <p:cNvPr id="66" name="Text 52">
            <a:extLst>
              <a:ext uri="{FF2B5EF4-FFF2-40B4-BE49-F238E27FC236}">
                <a16:creationId xmlns:a16="http://schemas.microsoft.com/office/drawing/2014/main" id="{D5B7D795-D17E-A550-8221-2779EC70EFCC}"/>
              </a:ext>
            </a:extLst>
          </p:cNvPr>
          <p:cNvSpPr/>
          <p:nvPr/>
        </p:nvSpPr>
        <p:spPr>
          <a:xfrm>
            <a:off x="557926" y="6125744"/>
            <a:ext cx="10698480" cy="219456"/>
          </a:xfrm>
          <a:prstGeom prst="rect">
            <a:avLst/>
          </a:prstGeom>
          <a:noFill/>
          <a:ln/>
        </p:spPr>
        <p:txBody>
          <a:bodyPr wrap="square" lIns="381" tIns="381" rIns="381" bIns="381" rtlCol="0" anchor="ctr">
            <a:normAutofit/>
          </a:bodyPr>
          <a:lstStyle/>
          <a:p>
            <a:pPr marL="0" indent="0" algn="ctr">
              <a:buNone/>
            </a:pPr>
            <a:r>
              <a:rPr lang="en-US" sz="1080" i="1">
                <a:solidFill>
                  <a:srgbClr val="667085"/>
                </a:solidFill>
                <a:latin typeface="+mj-lt"/>
                <a:ea typeface="Arial" pitchFamily="34" charset="-122"/>
                <a:cs typeface="Arial" pitchFamily="34" charset="-120"/>
              </a:rPr>
              <a:t>Account Master is the place to review the account record — but the source / ownership depends on the account type.</a:t>
            </a:r>
            <a:endParaRPr lang="en-US" sz="1080">
              <a:latin typeface="+mj-lt"/>
            </a:endParaRPr>
          </a:p>
        </p:txBody>
      </p:sp>
      <p:sp>
        <p:nvSpPr>
          <p:cNvPr id="2" name="Text 50">
            <a:extLst>
              <a:ext uri="{FF2B5EF4-FFF2-40B4-BE49-F238E27FC236}">
                <a16:creationId xmlns:a16="http://schemas.microsoft.com/office/drawing/2014/main" id="{125442AC-4A10-08E6-CB0C-8ABA7DB04E1C}"/>
              </a:ext>
            </a:extLst>
          </p:cNvPr>
          <p:cNvSpPr/>
          <p:nvPr/>
        </p:nvSpPr>
        <p:spPr>
          <a:xfrm>
            <a:off x="4348114" y="5854367"/>
            <a:ext cx="4069080" cy="256032"/>
          </a:xfrm>
          <a:prstGeom prst="rect">
            <a:avLst/>
          </a:prstGeom>
          <a:noFill/>
          <a:ln/>
        </p:spPr>
        <p:txBody>
          <a:bodyPr wrap="square" lIns="381" tIns="381" rIns="381" bIns="381" rtlCol="0" anchor="ctr">
            <a:normAutofit/>
          </a:bodyPr>
          <a:lstStyle/>
          <a:p>
            <a:r>
              <a:rPr lang="en-US" altLang="zh-CN" sz="1200" b="1">
                <a:solidFill>
                  <a:srgbClr val="7030A0"/>
                </a:solidFill>
                <a:latin typeface="+mj-lt"/>
              </a:rPr>
              <a:t>Do not use Pull From AS for Internal Customer / Vendor.</a:t>
            </a:r>
            <a:endParaRPr lang="en-US" sz="1200" b="1">
              <a:solidFill>
                <a:srgbClr val="7030A0"/>
              </a:solidFill>
              <a:latin typeface="+mj-lt"/>
            </a:endParaRPr>
          </a:p>
        </p:txBody>
      </p:sp>
    </p:spTree>
    <p:extLst>
      <p:ext uri="{BB962C8B-B14F-4D97-AF65-F5344CB8AC3E}">
        <p14:creationId xmlns:p14="http://schemas.microsoft.com/office/powerpoint/2010/main" val="133505613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1DC9E-F308-FA06-9ACC-49664E089E5B}"/>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482B52FB-6969-8F1A-6348-55EB7A1654FA}"/>
              </a:ext>
            </a:extLst>
          </p:cNvPr>
          <p:cNvPicPr>
            <a:picLocks noChangeAspect="1"/>
          </p:cNvPicPr>
          <p:nvPr/>
        </p:nvPicPr>
        <p:blipFill>
          <a:blip r:embed="rId2"/>
          <a:stretch>
            <a:fillRect/>
          </a:stretch>
        </p:blipFill>
        <p:spPr>
          <a:xfrm>
            <a:off x="327127" y="1357856"/>
            <a:ext cx="6863035" cy="3608282"/>
          </a:xfrm>
          <a:prstGeom prst="rect">
            <a:avLst/>
          </a:prstGeom>
        </p:spPr>
      </p:pic>
      <p:sp>
        <p:nvSpPr>
          <p:cNvPr id="3" name="标题 2">
            <a:extLst>
              <a:ext uri="{FF2B5EF4-FFF2-40B4-BE49-F238E27FC236}">
                <a16:creationId xmlns:a16="http://schemas.microsoft.com/office/drawing/2014/main" id="{20FA233A-DA69-0625-A9BC-1F82E11AB66D}"/>
              </a:ext>
            </a:extLst>
          </p:cNvPr>
          <p:cNvSpPr>
            <a:spLocks noGrp="1"/>
          </p:cNvSpPr>
          <p:nvPr>
            <p:ph type="title"/>
          </p:nvPr>
        </p:nvSpPr>
        <p:spPr/>
        <p:txBody>
          <a:bodyPr/>
          <a:lstStyle/>
          <a:p>
            <a:r>
              <a:rPr lang="en-US" altLang="zh-CN"/>
              <a:t>Account Master - Search &amp; Result </a:t>
            </a:r>
            <a:endParaRPr lang="zh-CN" altLang="en-US"/>
          </a:p>
        </p:txBody>
      </p:sp>
      <p:sp>
        <p:nvSpPr>
          <p:cNvPr id="9" name="Text 2">
            <a:extLst>
              <a:ext uri="{FF2B5EF4-FFF2-40B4-BE49-F238E27FC236}">
                <a16:creationId xmlns:a16="http://schemas.microsoft.com/office/drawing/2014/main" id="{BF90303F-569F-5045-0EE2-04A4E41EDFEA}"/>
              </a:ext>
            </a:extLst>
          </p:cNvPr>
          <p:cNvSpPr/>
          <p:nvPr/>
        </p:nvSpPr>
        <p:spPr>
          <a:xfrm>
            <a:off x="320182" y="810211"/>
            <a:ext cx="11639523" cy="509377"/>
          </a:xfrm>
          <a:prstGeom prst="rect">
            <a:avLst/>
          </a:prstGeom>
          <a:noFill/>
          <a:ln/>
        </p:spPr>
        <p:txBody>
          <a:bodyPr wrap="square" lIns="0" tIns="0" rIns="0" bIns="0" rtlCol="0" anchor="ctr">
            <a:normAutofit/>
          </a:bodyPr>
          <a:lstStyle/>
          <a:p>
            <a:r>
              <a:rPr lang="en-US" altLang="zh-CN" sz="1200"/>
              <a:t>The Account Master Search page allows users to search and review customer and business partner master data within </a:t>
            </a:r>
            <a:r>
              <a:rPr lang="en-US" altLang="zh-CN" sz="1200" err="1"/>
              <a:t>NexBill</a:t>
            </a:r>
            <a:r>
              <a:rPr lang="en-US" altLang="zh-CN" sz="1200"/>
              <a:t>. Users can locate account records using flexible search criteria, review account attributes and address information, and access detailed account information required for subscription and invoicing processes.</a:t>
            </a:r>
          </a:p>
          <a:p>
            <a:endParaRPr lang="en-US" altLang="zh-CN" sz="1200"/>
          </a:p>
        </p:txBody>
      </p:sp>
      <p:sp>
        <p:nvSpPr>
          <p:cNvPr id="14" name="Oval 111">
            <a:extLst>
              <a:ext uri="{FF2B5EF4-FFF2-40B4-BE49-F238E27FC236}">
                <a16:creationId xmlns:a16="http://schemas.microsoft.com/office/drawing/2014/main" id="{E3897A89-A437-11F1-3085-563E81942423}"/>
              </a:ext>
            </a:extLst>
          </p:cNvPr>
          <p:cNvSpPr/>
          <p:nvPr/>
        </p:nvSpPr>
        <p:spPr>
          <a:xfrm>
            <a:off x="1099288" y="183612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 name="TextBox 72">
            <a:extLst>
              <a:ext uri="{FF2B5EF4-FFF2-40B4-BE49-F238E27FC236}">
                <a16:creationId xmlns:a16="http://schemas.microsoft.com/office/drawing/2014/main" id="{AA8A80EC-6FBA-DA3C-ACBE-FA2D7441039F}"/>
              </a:ext>
            </a:extLst>
          </p:cNvPr>
          <p:cNvSpPr txBox="1"/>
          <p:nvPr/>
        </p:nvSpPr>
        <p:spPr>
          <a:xfrm>
            <a:off x="7572244" y="1249733"/>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Account Master Data</a:t>
            </a:r>
          </a:p>
        </p:txBody>
      </p:sp>
      <p:sp>
        <p:nvSpPr>
          <p:cNvPr id="7" name="TextBox 73">
            <a:extLst>
              <a:ext uri="{FF2B5EF4-FFF2-40B4-BE49-F238E27FC236}">
                <a16:creationId xmlns:a16="http://schemas.microsoft.com/office/drawing/2014/main" id="{40FF18D5-F35E-925C-2E81-012D3CBEBFAD}"/>
              </a:ext>
            </a:extLst>
          </p:cNvPr>
          <p:cNvSpPr txBox="1"/>
          <p:nvPr/>
        </p:nvSpPr>
        <p:spPr>
          <a:xfrm>
            <a:off x="7572244" y="1518337"/>
            <a:ext cx="4299574" cy="1323439"/>
          </a:xfrm>
          <a:prstGeom prst="rect">
            <a:avLst/>
          </a:prstGeom>
          <a:noFill/>
        </p:spPr>
        <p:txBody>
          <a:bodyPr wrap="square" rtlCol="0">
            <a:spAutoFit/>
          </a:bodyPr>
          <a:lstStyle/>
          <a:p>
            <a:r>
              <a:rPr lang="en-US" altLang="zh-CN" sz="1000">
                <a:cs typeface="Lato Light"/>
              </a:rPr>
              <a:t>Users can search account master records using one or more search criteria.</a:t>
            </a:r>
          </a:p>
          <a:p>
            <a:endParaRPr lang="en-US" altLang="zh-CN" sz="1000">
              <a:cs typeface="Lato Light"/>
            </a:endParaRPr>
          </a:p>
          <a:p>
            <a:r>
              <a:rPr lang="en-US" altLang="zh-CN" sz="1000" b="1">
                <a:cs typeface="Lato Light"/>
              </a:rPr>
              <a:t>“+”</a:t>
            </a:r>
            <a:r>
              <a:rPr lang="en-US" altLang="zh-CN" sz="1000">
                <a:cs typeface="Lato Light"/>
              </a:rPr>
              <a:t> </a:t>
            </a:r>
            <a:r>
              <a:rPr lang="en-US" altLang="zh-CN" sz="1000" b="1">
                <a:cs typeface="Lato Light"/>
              </a:rPr>
              <a:t>icon</a:t>
            </a:r>
            <a:r>
              <a:rPr lang="en-US" altLang="zh-CN" sz="1000">
                <a:cs typeface="Lato Light"/>
              </a:rPr>
              <a:t>: add additional search conditions.</a:t>
            </a:r>
          </a:p>
          <a:p>
            <a:r>
              <a:rPr lang="en-US" altLang="zh-CN" sz="1000">
                <a:cs typeface="Lato Light"/>
              </a:rPr>
              <a:t> </a:t>
            </a:r>
            <a:r>
              <a:rPr lang="en-US" altLang="zh-CN" sz="1000" b="1">
                <a:cs typeface="Lato Light"/>
              </a:rPr>
              <a:t>“×” icon</a:t>
            </a:r>
            <a:r>
              <a:rPr lang="en-US" altLang="zh-CN" sz="1000">
                <a:cs typeface="Lato Light"/>
              </a:rPr>
              <a:t>:</a:t>
            </a:r>
            <a:r>
              <a:rPr lang="en-US" altLang="zh-CN" sz="1000" b="1">
                <a:cs typeface="Lato Light"/>
              </a:rPr>
              <a:t> </a:t>
            </a:r>
            <a:r>
              <a:rPr lang="en-US" altLang="zh-CN" sz="1000">
                <a:cs typeface="Lato Light"/>
              </a:rPr>
              <a:t>remove conditions.</a:t>
            </a:r>
          </a:p>
          <a:p>
            <a:r>
              <a:rPr lang="en-US" altLang="zh-CN" sz="1000" b="1">
                <a:cs typeface="Lato Light"/>
              </a:rPr>
              <a:t>Search</a:t>
            </a:r>
            <a:r>
              <a:rPr lang="en-US" altLang="zh-CN" sz="1000">
                <a:cs typeface="Lato Light"/>
              </a:rPr>
              <a:t>: retrieve matching account records.</a:t>
            </a:r>
          </a:p>
          <a:p>
            <a:r>
              <a:rPr lang="en-US" altLang="zh-CN" sz="1000" b="1">
                <a:cs typeface="Lato Light"/>
              </a:rPr>
              <a:t>Clear</a:t>
            </a:r>
            <a:r>
              <a:rPr lang="en-US" altLang="zh-CN" sz="1000">
                <a:cs typeface="Lato Light"/>
              </a:rPr>
              <a:t>: remove all search criteria and clear the current search results. </a:t>
            </a:r>
          </a:p>
          <a:p>
            <a:r>
              <a:rPr lang="en-US" altLang="zh-CN" sz="1000" b="1">
                <a:cs typeface="Lato Light"/>
              </a:rPr>
              <a:t>Save Search</a:t>
            </a:r>
            <a:r>
              <a:rPr lang="en-US" altLang="zh-CN" sz="1000">
                <a:cs typeface="Lato Light"/>
              </a:rPr>
              <a:t>: save frequently used search criteria for future use.</a:t>
            </a:r>
          </a:p>
          <a:p>
            <a:r>
              <a:rPr lang="en-US" altLang="zh-CN" sz="1000" b="1">
                <a:cs typeface="Lato Light"/>
              </a:rPr>
              <a:t>My Searches</a:t>
            </a:r>
            <a:r>
              <a:rPr lang="en-US" altLang="zh-CN" sz="1000">
                <a:cs typeface="Lato Light"/>
              </a:rPr>
              <a:t>: quickly reuse previously saved search templates.</a:t>
            </a:r>
          </a:p>
        </p:txBody>
      </p:sp>
      <p:sp>
        <p:nvSpPr>
          <p:cNvPr id="10" name="Oval 111">
            <a:extLst>
              <a:ext uri="{FF2B5EF4-FFF2-40B4-BE49-F238E27FC236}">
                <a16:creationId xmlns:a16="http://schemas.microsoft.com/office/drawing/2014/main" id="{A7175297-C853-8E56-8FDF-0EE86CC17EC3}"/>
              </a:ext>
            </a:extLst>
          </p:cNvPr>
          <p:cNvSpPr/>
          <p:nvPr/>
        </p:nvSpPr>
        <p:spPr>
          <a:xfrm>
            <a:off x="7326452" y="131802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1" name="TextBox 82">
            <a:extLst>
              <a:ext uri="{FF2B5EF4-FFF2-40B4-BE49-F238E27FC236}">
                <a16:creationId xmlns:a16="http://schemas.microsoft.com/office/drawing/2014/main" id="{E1E531B1-7800-84A7-DFF0-B1D7BF439806}"/>
              </a:ext>
            </a:extLst>
          </p:cNvPr>
          <p:cNvSpPr txBox="1"/>
          <p:nvPr/>
        </p:nvSpPr>
        <p:spPr>
          <a:xfrm>
            <a:off x="7572244" y="2817992"/>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2" name="Oval 112">
            <a:extLst>
              <a:ext uri="{FF2B5EF4-FFF2-40B4-BE49-F238E27FC236}">
                <a16:creationId xmlns:a16="http://schemas.microsoft.com/office/drawing/2014/main" id="{1189C356-6C47-F307-4DA2-3995861D853E}"/>
              </a:ext>
            </a:extLst>
          </p:cNvPr>
          <p:cNvSpPr/>
          <p:nvPr/>
        </p:nvSpPr>
        <p:spPr>
          <a:xfrm>
            <a:off x="7326452" y="283598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3" name="TextBox 83">
            <a:extLst>
              <a:ext uri="{FF2B5EF4-FFF2-40B4-BE49-F238E27FC236}">
                <a16:creationId xmlns:a16="http://schemas.microsoft.com/office/drawing/2014/main" id="{525435D8-A7BC-82AF-8EF9-22D4770059EF}"/>
              </a:ext>
            </a:extLst>
          </p:cNvPr>
          <p:cNvSpPr txBox="1"/>
          <p:nvPr/>
        </p:nvSpPr>
        <p:spPr>
          <a:xfrm>
            <a:off x="7575596" y="3110380"/>
            <a:ext cx="4292870" cy="3016210"/>
          </a:xfrm>
          <a:prstGeom prst="rect">
            <a:avLst/>
          </a:prstGeom>
          <a:noFill/>
        </p:spPr>
        <p:txBody>
          <a:bodyPr wrap="square" rtlCol="0">
            <a:spAutoFit/>
          </a:bodyPr>
          <a:lstStyle/>
          <a:p>
            <a:r>
              <a:rPr lang="en-US" altLang="zh-CN" sz="1000" b="1">
                <a:cs typeface="Lato Light"/>
              </a:rPr>
              <a:t>Sorting</a:t>
            </a:r>
            <a:r>
              <a:rPr lang="en-US" altLang="zh-CN" sz="1000">
                <a:cs typeface="Lato Light"/>
              </a:rPr>
              <a:t>: sort results by clicking a column header.</a:t>
            </a:r>
          </a:p>
          <a:p>
            <a:r>
              <a:rPr lang="en-US" altLang="zh-CN" sz="1000" b="1">
                <a:cs typeface="Lato Light"/>
              </a:rPr>
              <a:t>Column Resize</a:t>
            </a:r>
            <a:r>
              <a:rPr lang="en-US" altLang="zh-CN" sz="1000">
                <a:cs typeface="Lato Light"/>
              </a:rPr>
              <a:t>: resize columns by dragging the column boundary.</a:t>
            </a:r>
          </a:p>
          <a:p>
            <a:r>
              <a:rPr lang="en-US" altLang="zh-CN" sz="1000" b="1">
                <a:cs typeface="Lato Light"/>
              </a:rPr>
              <a:t>Column Reorder</a:t>
            </a:r>
            <a:r>
              <a:rPr lang="en-US" altLang="zh-CN" sz="1000">
                <a:cs typeface="Lato Light"/>
              </a:rPr>
              <a:t>: rearrange columns by dragging the column header to a different position.</a:t>
            </a:r>
          </a:p>
          <a:p>
            <a:r>
              <a:rPr lang="en-US" altLang="zh-CN" sz="1000" b="1">
                <a:cs typeface="Lato Light"/>
              </a:rPr>
              <a:t>Data Dictionary</a:t>
            </a:r>
            <a:r>
              <a:rPr lang="en-US" altLang="zh-CN" sz="1000">
                <a:cs typeface="Lato Light"/>
              </a:rPr>
              <a:t>: click the </a:t>
            </a:r>
            <a:r>
              <a:rPr lang="en-US" altLang="zh-CN" sz="1000" b="1">
                <a:cs typeface="Lato Light"/>
              </a:rPr>
              <a:t>(?) icon </a:t>
            </a:r>
            <a:r>
              <a:rPr lang="en-US" altLang="zh-CN" sz="1000">
                <a:cs typeface="Lato Light"/>
              </a:rPr>
              <a:t>next to Role to view available values and their descriptions.</a:t>
            </a:r>
          </a:p>
          <a:p>
            <a:r>
              <a:rPr lang="en-US" altLang="zh-CN" sz="1000" b="1">
                <a:cs typeface="Lato Light"/>
              </a:rPr>
              <a:t>Record Selection</a:t>
            </a:r>
            <a:r>
              <a:rPr lang="en-US" altLang="zh-CN" sz="1000">
                <a:cs typeface="Lato Light"/>
              </a:rPr>
              <a:t>:</a:t>
            </a:r>
            <a:r>
              <a:rPr lang="en-US" altLang="zh-CN" sz="1000" b="1">
                <a:cs typeface="Lato Light"/>
              </a:rPr>
              <a:t> </a:t>
            </a:r>
            <a:r>
              <a:rPr lang="en-US" altLang="zh-CN" sz="1000">
                <a:cs typeface="Lato Light"/>
              </a:rPr>
              <a:t>select records using the row checkbox or use the header checkbox to select all records on the current page.</a:t>
            </a:r>
          </a:p>
          <a:p>
            <a:r>
              <a:rPr lang="en-US" altLang="zh-CN" sz="1000" b="1">
                <a:cs typeface="Lato Light"/>
              </a:rPr>
              <a:t>Record Details Navigation</a:t>
            </a:r>
            <a:r>
              <a:rPr lang="en-US" altLang="zh-CN" sz="1000">
                <a:cs typeface="Lato Light"/>
              </a:rPr>
              <a:t>:</a:t>
            </a:r>
            <a:r>
              <a:rPr lang="en-US" altLang="zh-CN" sz="1000" b="1">
                <a:cs typeface="Lato Light"/>
              </a:rPr>
              <a:t> </a:t>
            </a:r>
            <a:r>
              <a:rPr lang="en-US" altLang="zh-CN" sz="1000">
                <a:cs typeface="Lato Light"/>
              </a:rPr>
              <a:t>click the </a:t>
            </a:r>
            <a:r>
              <a:rPr lang="en-US" altLang="zh-CN" sz="1000" b="1">
                <a:cs typeface="Lato Light"/>
              </a:rPr>
              <a:t>Business Partner hyperlink </a:t>
            </a:r>
            <a:r>
              <a:rPr lang="en-US" altLang="zh-CN" sz="1000">
                <a:cs typeface="Lato Light"/>
              </a:rPr>
              <a:t>to open the Account Master Detail page.</a:t>
            </a:r>
          </a:p>
          <a:p>
            <a:r>
              <a:rPr lang="en-US" altLang="zh-CN" sz="1000" b="1">
                <a:cs typeface="Lato Light"/>
              </a:rPr>
              <a:t>Pagination</a:t>
            </a:r>
            <a:r>
              <a:rPr lang="en-US" altLang="zh-CN" sz="1000">
                <a:cs typeface="Lato Light"/>
              </a:rPr>
              <a:t>: By default, 20 records are displayed per page. Users can navigate between pages using the page controls. Users can change the number of displayed records using the Rows per page selector.</a:t>
            </a:r>
          </a:p>
          <a:p>
            <a:r>
              <a:rPr lang="en-US" altLang="zh-CN" sz="1000" b="1">
                <a:cs typeface="Lato Light"/>
              </a:rPr>
              <a:t>Settings</a:t>
            </a:r>
            <a:r>
              <a:rPr lang="en-US" altLang="zh-CN" sz="1000">
                <a:cs typeface="Lato Light"/>
              </a:rPr>
              <a:t>: customize the result list by selecting which fields are displayed. Users can save the layout as a </a:t>
            </a:r>
            <a:r>
              <a:rPr lang="en-US" altLang="zh-CN" sz="1000" b="1">
                <a:cs typeface="Lato Light"/>
              </a:rPr>
              <a:t>configuration</a:t>
            </a:r>
            <a:r>
              <a:rPr lang="en-US" altLang="zh-CN" sz="1000">
                <a:cs typeface="Lato Light"/>
              </a:rPr>
              <a:t> and reuse it in future sessions.</a:t>
            </a:r>
          </a:p>
          <a:p>
            <a:r>
              <a:rPr lang="en-US" altLang="zh-CN" sz="1000" b="1">
                <a:cs typeface="Lato Light"/>
              </a:rPr>
              <a:t>Full Screen</a:t>
            </a:r>
            <a:r>
              <a:rPr lang="en-US" altLang="zh-CN" sz="1000">
                <a:cs typeface="Lato Light"/>
              </a:rPr>
              <a:t>: expand the result list for easier review.</a:t>
            </a:r>
          </a:p>
          <a:p>
            <a:r>
              <a:rPr lang="en-US" altLang="zh-CN" sz="1000" b="1">
                <a:cs typeface="Lato Light"/>
              </a:rPr>
              <a:t>Download: </a:t>
            </a:r>
            <a:r>
              <a:rPr lang="en-US" altLang="zh-CN" sz="1000">
                <a:cs typeface="Lato Light"/>
              </a:rPr>
              <a:t>exports account data for offline analysis.</a:t>
            </a:r>
          </a:p>
          <a:p>
            <a:r>
              <a:rPr lang="en-US" altLang="zh-CN" sz="1000">
                <a:cs typeface="Lato Light"/>
              </a:rPr>
              <a:t>Download All Data: export all records returned by the current search.</a:t>
            </a:r>
          </a:p>
          <a:p>
            <a:r>
              <a:rPr lang="en-US" altLang="zh-CN" sz="1000">
                <a:cs typeface="Lato Light"/>
              </a:rPr>
              <a:t>Download Selected Data: export only the selected records.</a:t>
            </a:r>
          </a:p>
        </p:txBody>
      </p:sp>
      <p:sp>
        <p:nvSpPr>
          <p:cNvPr id="17" name="Oval 112">
            <a:extLst>
              <a:ext uri="{FF2B5EF4-FFF2-40B4-BE49-F238E27FC236}">
                <a16:creationId xmlns:a16="http://schemas.microsoft.com/office/drawing/2014/main" id="{19A1A649-DC01-2E82-B818-E1CD4A7B4C37}"/>
              </a:ext>
            </a:extLst>
          </p:cNvPr>
          <p:cNvSpPr/>
          <p:nvPr/>
        </p:nvSpPr>
        <p:spPr>
          <a:xfrm>
            <a:off x="2288167" y="261335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18" name="图片 17">
            <a:extLst>
              <a:ext uri="{FF2B5EF4-FFF2-40B4-BE49-F238E27FC236}">
                <a16:creationId xmlns:a16="http://schemas.microsoft.com/office/drawing/2014/main" id="{1EAD82AC-90FC-D2BC-903E-664F1539692F}"/>
              </a:ext>
            </a:extLst>
          </p:cNvPr>
          <p:cNvPicPr>
            <a:picLocks noChangeAspect="1"/>
          </p:cNvPicPr>
          <p:nvPr/>
        </p:nvPicPr>
        <p:blipFill>
          <a:blip r:embed="rId3"/>
          <a:stretch>
            <a:fillRect/>
          </a:stretch>
        </p:blipFill>
        <p:spPr>
          <a:xfrm>
            <a:off x="1137667" y="4523449"/>
            <a:ext cx="2529599" cy="1953390"/>
          </a:xfrm>
          <a:prstGeom prst="rect">
            <a:avLst/>
          </a:prstGeom>
        </p:spPr>
      </p:pic>
    </p:spTree>
    <p:extLst>
      <p:ext uri="{BB962C8B-B14F-4D97-AF65-F5344CB8AC3E}">
        <p14:creationId xmlns:p14="http://schemas.microsoft.com/office/powerpoint/2010/main" val="1946170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P spid="7" grpId="0"/>
      <p:bldP spid="10" grpId="0" animBg="1"/>
      <p:bldP spid="11" grpId="0"/>
      <p:bldP spid="12" grpId="0" animBg="1"/>
      <p:bldP spid="13" grpId="0"/>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8099D-7A6F-EE52-504B-E04C52A88AD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A4FA642-DB54-E2D2-2710-12DCFA17CAF4}"/>
              </a:ext>
            </a:extLst>
          </p:cNvPr>
          <p:cNvSpPr>
            <a:spLocks noGrp="1"/>
          </p:cNvSpPr>
          <p:nvPr>
            <p:ph type="title"/>
          </p:nvPr>
        </p:nvSpPr>
        <p:spPr/>
        <p:txBody>
          <a:bodyPr/>
          <a:lstStyle/>
          <a:p>
            <a:r>
              <a:rPr lang="en-US" altLang="zh-CN"/>
              <a:t>Account Master - Detail</a:t>
            </a:r>
            <a:endParaRPr lang="zh-CN" altLang="en-US"/>
          </a:p>
        </p:txBody>
      </p:sp>
      <p:sp>
        <p:nvSpPr>
          <p:cNvPr id="5" name="TextBox 72">
            <a:extLst>
              <a:ext uri="{FF2B5EF4-FFF2-40B4-BE49-F238E27FC236}">
                <a16:creationId xmlns:a16="http://schemas.microsoft.com/office/drawing/2014/main" id="{9AB1BA97-70F0-3D69-9DC8-C033D95FDAAF}"/>
              </a:ext>
            </a:extLst>
          </p:cNvPr>
          <p:cNvSpPr txBox="1"/>
          <p:nvPr/>
        </p:nvSpPr>
        <p:spPr>
          <a:xfrm>
            <a:off x="8198086" y="1395927"/>
            <a:ext cx="193163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Basic Data</a:t>
            </a:r>
          </a:p>
        </p:txBody>
      </p:sp>
      <p:sp>
        <p:nvSpPr>
          <p:cNvPr id="6" name="TextBox 73">
            <a:extLst>
              <a:ext uri="{FF2B5EF4-FFF2-40B4-BE49-F238E27FC236}">
                <a16:creationId xmlns:a16="http://schemas.microsoft.com/office/drawing/2014/main" id="{2D6B5842-351F-9674-199D-FA8A01804B44}"/>
              </a:ext>
            </a:extLst>
          </p:cNvPr>
          <p:cNvSpPr txBox="1"/>
          <p:nvPr/>
        </p:nvSpPr>
        <p:spPr>
          <a:xfrm>
            <a:off x="8196017" y="1656328"/>
            <a:ext cx="2570080" cy="400110"/>
          </a:xfrm>
          <a:prstGeom prst="rect">
            <a:avLst/>
          </a:prstGeom>
          <a:noFill/>
        </p:spPr>
        <p:txBody>
          <a:bodyPr wrap="square" rtlCol="0">
            <a:spAutoFit/>
          </a:bodyPr>
          <a:lstStyle/>
          <a:p>
            <a:r>
              <a:rPr lang="en-US" altLang="zh-CN" sz="1000">
                <a:cs typeface="Lato Light"/>
              </a:rPr>
              <a:t>The Basic Data tab displays the core information of the account.</a:t>
            </a:r>
          </a:p>
        </p:txBody>
      </p:sp>
      <p:sp>
        <p:nvSpPr>
          <p:cNvPr id="7" name="TextBox 82">
            <a:extLst>
              <a:ext uri="{FF2B5EF4-FFF2-40B4-BE49-F238E27FC236}">
                <a16:creationId xmlns:a16="http://schemas.microsoft.com/office/drawing/2014/main" id="{538260C9-1DA3-C6CA-6B45-82525BED8A6D}"/>
              </a:ext>
            </a:extLst>
          </p:cNvPr>
          <p:cNvSpPr txBox="1"/>
          <p:nvPr/>
        </p:nvSpPr>
        <p:spPr>
          <a:xfrm>
            <a:off x="8180894" y="2170645"/>
            <a:ext cx="1939214" cy="292388"/>
          </a:xfrm>
          <a:prstGeom prst="rect">
            <a:avLst/>
          </a:prstGeom>
          <a:noFill/>
        </p:spPr>
        <p:txBody>
          <a:bodyPr wrap="square" rtlCol="0">
            <a:spAutoFit/>
          </a:bodyPr>
          <a:lstStyle/>
          <a:p>
            <a:r>
              <a:rPr lang="en-US" sz="1300" b="1">
                <a:solidFill>
                  <a:srgbClr val="126C36"/>
                </a:solidFill>
                <a:cs typeface="Lato Regular"/>
              </a:rPr>
              <a:t>Address</a:t>
            </a:r>
          </a:p>
        </p:txBody>
      </p:sp>
      <p:sp>
        <p:nvSpPr>
          <p:cNvPr id="8" name="TextBox 83">
            <a:extLst>
              <a:ext uri="{FF2B5EF4-FFF2-40B4-BE49-F238E27FC236}">
                <a16:creationId xmlns:a16="http://schemas.microsoft.com/office/drawing/2014/main" id="{49522E24-967B-0B78-54B7-A75283E4C448}"/>
              </a:ext>
            </a:extLst>
          </p:cNvPr>
          <p:cNvSpPr txBox="1"/>
          <p:nvPr/>
        </p:nvSpPr>
        <p:spPr>
          <a:xfrm>
            <a:off x="8193400" y="2417240"/>
            <a:ext cx="2570080" cy="553998"/>
          </a:xfrm>
          <a:prstGeom prst="rect">
            <a:avLst/>
          </a:prstGeom>
          <a:noFill/>
        </p:spPr>
        <p:txBody>
          <a:bodyPr wrap="square" rtlCol="0">
            <a:spAutoFit/>
          </a:bodyPr>
          <a:lstStyle/>
          <a:p>
            <a:r>
              <a:rPr lang="en-US" sz="1000">
                <a:cs typeface="Lato Light"/>
              </a:rPr>
              <a:t>The Address tab displays the account's address and communication information.</a:t>
            </a:r>
          </a:p>
          <a:p>
            <a:endParaRPr lang="en-US" sz="1000">
              <a:cs typeface="Lato Light"/>
            </a:endParaRPr>
          </a:p>
        </p:txBody>
      </p:sp>
      <p:sp>
        <p:nvSpPr>
          <p:cNvPr id="29" name="Oval 111">
            <a:extLst>
              <a:ext uri="{FF2B5EF4-FFF2-40B4-BE49-F238E27FC236}">
                <a16:creationId xmlns:a16="http://schemas.microsoft.com/office/drawing/2014/main" id="{01D0769C-6407-0907-1ED6-7A40E087F002}"/>
              </a:ext>
            </a:extLst>
          </p:cNvPr>
          <p:cNvSpPr/>
          <p:nvPr/>
        </p:nvSpPr>
        <p:spPr>
          <a:xfrm>
            <a:off x="7952294" y="146421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30" name="Oval 112">
            <a:extLst>
              <a:ext uri="{FF2B5EF4-FFF2-40B4-BE49-F238E27FC236}">
                <a16:creationId xmlns:a16="http://schemas.microsoft.com/office/drawing/2014/main" id="{A83877EB-EA42-49D3-D654-9DD2D28AADA0}"/>
              </a:ext>
            </a:extLst>
          </p:cNvPr>
          <p:cNvSpPr/>
          <p:nvPr/>
        </p:nvSpPr>
        <p:spPr>
          <a:xfrm>
            <a:off x="7952294" y="2188640"/>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 name="Text 2">
            <a:extLst>
              <a:ext uri="{FF2B5EF4-FFF2-40B4-BE49-F238E27FC236}">
                <a16:creationId xmlns:a16="http://schemas.microsoft.com/office/drawing/2014/main" id="{27BA335A-085D-DCB3-5007-5A3D3CC5898C}"/>
              </a:ext>
            </a:extLst>
          </p:cNvPr>
          <p:cNvSpPr/>
          <p:nvPr/>
        </p:nvSpPr>
        <p:spPr>
          <a:xfrm>
            <a:off x="320182" y="810211"/>
            <a:ext cx="11639523" cy="509377"/>
          </a:xfrm>
          <a:prstGeom prst="rect">
            <a:avLst/>
          </a:prstGeom>
          <a:noFill/>
          <a:ln/>
        </p:spPr>
        <p:txBody>
          <a:bodyPr wrap="square" lIns="0" tIns="0" rIns="0" bIns="0" rtlCol="0" anchor="ctr">
            <a:normAutofit lnSpcReduction="10000"/>
          </a:bodyPr>
          <a:lstStyle/>
          <a:p>
            <a:r>
              <a:rPr lang="en-US" altLang="zh-CN" sz="1200"/>
              <a:t>The Account Master Detail page provides comprehensive information about a business partner account maintained in </a:t>
            </a:r>
            <a:r>
              <a:rPr lang="en-US" altLang="zh-CN" sz="1200" err="1"/>
              <a:t>NexBill</a:t>
            </a:r>
            <a:r>
              <a:rPr lang="en-US" altLang="zh-CN" sz="1200"/>
              <a:t>. Users can review account attributes, address information, identification data, sales area assignments, tax settings, customer invoice profiles, relationships, change requests, and historical changes associated with the account.</a:t>
            </a:r>
          </a:p>
        </p:txBody>
      </p:sp>
      <p:pic>
        <p:nvPicPr>
          <p:cNvPr id="10" name="图片 9">
            <a:extLst>
              <a:ext uri="{FF2B5EF4-FFF2-40B4-BE49-F238E27FC236}">
                <a16:creationId xmlns:a16="http://schemas.microsoft.com/office/drawing/2014/main" id="{AFA82EB5-A177-4B8C-5A8E-7258549AB2F1}"/>
              </a:ext>
            </a:extLst>
          </p:cNvPr>
          <p:cNvPicPr>
            <a:picLocks noChangeAspect="1"/>
          </p:cNvPicPr>
          <p:nvPr/>
        </p:nvPicPr>
        <p:blipFill>
          <a:blip r:embed="rId2"/>
          <a:stretch>
            <a:fillRect/>
          </a:stretch>
        </p:blipFill>
        <p:spPr>
          <a:xfrm>
            <a:off x="367342" y="1470905"/>
            <a:ext cx="6705984" cy="1854501"/>
          </a:xfrm>
          <a:prstGeom prst="rect">
            <a:avLst/>
          </a:prstGeom>
        </p:spPr>
      </p:pic>
      <p:pic>
        <p:nvPicPr>
          <p:cNvPr id="14" name="图片 13">
            <a:extLst>
              <a:ext uri="{FF2B5EF4-FFF2-40B4-BE49-F238E27FC236}">
                <a16:creationId xmlns:a16="http://schemas.microsoft.com/office/drawing/2014/main" id="{6042574D-158C-2E2E-96AC-FFD56D816F8B}"/>
              </a:ext>
            </a:extLst>
          </p:cNvPr>
          <p:cNvPicPr>
            <a:picLocks noChangeAspect="1"/>
          </p:cNvPicPr>
          <p:nvPr/>
        </p:nvPicPr>
        <p:blipFill>
          <a:blip r:embed="rId3"/>
          <a:stretch>
            <a:fillRect/>
          </a:stretch>
        </p:blipFill>
        <p:spPr>
          <a:xfrm>
            <a:off x="367342" y="3325406"/>
            <a:ext cx="6705984" cy="1963993"/>
          </a:xfrm>
          <a:prstGeom prst="rect">
            <a:avLst/>
          </a:prstGeom>
        </p:spPr>
      </p:pic>
      <p:pic>
        <p:nvPicPr>
          <p:cNvPr id="20" name="图片 19">
            <a:extLst>
              <a:ext uri="{FF2B5EF4-FFF2-40B4-BE49-F238E27FC236}">
                <a16:creationId xmlns:a16="http://schemas.microsoft.com/office/drawing/2014/main" id="{7CB65E03-F4DC-CA7E-B9D7-1066758A4D49}"/>
              </a:ext>
            </a:extLst>
          </p:cNvPr>
          <p:cNvPicPr>
            <a:picLocks noChangeAspect="1"/>
          </p:cNvPicPr>
          <p:nvPr/>
        </p:nvPicPr>
        <p:blipFill>
          <a:blip r:embed="rId4"/>
          <a:stretch>
            <a:fillRect/>
          </a:stretch>
        </p:blipFill>
        <p:spPr>
          <a:xfrm>
            <a:off x="367342" y="5289398"/>
            <a:ext cx="5916069" cy="1258885"/>
          </a:xfrm>
          <a:prstGeom prst="rect">
            <a:avLst/>
          </a:prstGeom>
        </p:spPr>
      </p:pic>
      <p:sp>
        <p:nvSpPr>
          <p:cNvPr id="21" name="TextBox 97">
            <a:extLst>
              <a:ext uri="{FF2B5EF4-FFF2-40B4-BE49-F238E27FC236}">
                <a16:creationId xmlns:a16="http://schemas.microsoft.com/office/drawing/2014/main" id="{FFB6AA5C-FAB9-7D89-AC1E-3B9168CF5F09}"/>
              </a:ext>
            </a:extLst>
          </p:cNvPr>
          <p:cNvSpPr txBox="1"/>
          <p:nvPr/>
        </p:nvSpPr>
        <p:spPr>
          <a:xfrm>
            <a:off x="8178682" y="2903017"/>
            <a:ext cx="1897289" cy="292388"/>
          </a:xfrm>
          <a:prstGeom prst="rect">
            <a:avLst/>
          </a:prstGeom>
          <a:noFill/>
        </p:spPr>
        <p:txBody>
          <a:bodyPr wrap="square" rtlCol="0">
            <a:spAutoFit/>
          </a:bodyPr>
          <a:lstStyle/>
          <a:p>
            <a:r>
              <a:rPr lang="en-US" sz="1300" b="1">
                <a:solidFill>
                  <a:srgbClr val="F26A52"/>
                </a:solidFill>
                <a:cs typeface="Lato Regular"/>
              </a:rPr>
              <a:t>Identification</a:t>
            </a:r>
          </a:p>
        </p:txBody>
      </p:sp>
      <p:sp>
        <p:nvSpPr>
          <p:cNvPr id="22" name="TextBox 98">
            <a:extLst>
              <a:ext uri="{FF2B5EF4-FFF2-40B4-BE49-F238E27FC236}">
                <a16:creationId xmlns:a16="http://schemas.microsoft.com/office/drawing/2014/main" id="{14101397-C90F-5DC3-5329-7C88A0ABC3CD}"/>
              </a:ext>
            </a:extLst>
          </p:cNvPr>
          <p:cNvSpPr txBox="1"/>
          <p:nvPr/>
        </p:nvSpPr>
        <p:spPr>
          <a:xfrm>
            <a:off x="8191187" y="3190791"/>
            <a:ext cx="2959207" cy="707886"/>
          </a:xfrm>
          <a:prstGeom prst="rect">
            <a:avLst/>
          </a:prstGeom>
          <a:noFill/>
        </p:spPr>
        <p:txBody>
          <a:bodyPr wrap="square" rtlCol="0">
            <a:spAutoFit/>
          </a:bodyPr>
          <a:lstStyle/>
          <a:p>
            <a:r>
              <a:rPr lang="en-US" sz="1000">
                <a:cs typeface="Lato Light"/>
              </a:rPr>
              <a:t>The Identification tab displays account identification numbers maintained for the business partner. </a:t>
            </a:r>
          </a:p>
          <a:p>
            <a:r>
              <a:rPr lang="en-US" sz="1000">
                <a:cs typeface="Lato Light"/>
              </a:rPr>
              <a:t>Examples: MDM ID</a:t>
            </a:r>
          </a:p>
        </p:txBody>
      </p:sp>
      <p:sp>
        <p:nvSpPr>
          <p:cNvPr id="23" name="Oval 114">
            <a:extLst>
              <a:ext uri="{FF2B5EF4-FFF2-40B4-BE49-F238E27FC236}">
                <a16:creationId xmlns:a16="http://schemas.microsoft.com/office/drawing/2014/main" id="{1ED14876-C4C0-ACA5-5896-F4EEF58FA006}"/>
              </a:ext>
            </a:extLst>
          </p:cNvPr>
          <p:cNvSpPr/>
          <p:nvPr/>
        </p:nvSpPr>
        <p:spPr>
          <a:xfrm>
            <a:off x="7952294" y="2949369"/>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24" name="Oval 111">
            <a:extLst>
              <a:ext uri="{FF2B5EF4-FFF2-40B4-BE49-F238E27FC236}">
                <a16:creationId xmlns:a16="http://schemas.microsoft.com/office/drawing/2014/main" id="{A0BD5B55-336E-AFB7-6AC8-9C2903972926}"/>
              </a:ext>
            </a:extLst>
          </p:cNvPr>
          <p:cNvSpPr/>
          <p:nvPr/>
        </p:nvSpPr>
        <p:spPr>
          <a:xfrm>
            <a:off x="516089" y="202853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5" name="Oval 112">
            <a:extLst>
              <a:ext uri="{FF2B5EF4-FFF2-40B4-BE49-F238E27FC236}">
                <a16:creationId xmlns:a16="http://schemas.microsoft.com/office/drawing/2014/main" id="{E6BABD9B-4862-8CDE-9B94-486149B59E64}"/>
              </a:ext>
            </a:extLst>
          </p:cNvPr>
          <p:cNvSpPr/>
          <p:nvPr/>
        </p:nvSpPr>
        <p:spPr>
          <a:xfrm>
            <a:off x="805123" y="372624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6" name="Oval 114">
            <a:extLst>
              <a:ext uri="{FF2B5EF4-FFF2-40B4-BE49-F238E27FC236}">
                <a16:creationId xmlns:a16="http://schemas.microsoft.com/office/drawing/2014/main" id="{3A2551FE-8A4C-C374-3DB2-95D2CA0201F6}"/>
              </a:ext>
            </a:extLst>
          </p:cNvPr>
          <p:cNvSpPr/>
          <p:nvPr/>
        </p:nvSpPr>
        <p:spPr>
          <a:xfrm>
            <a:off x="1425233" y="578535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40254863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29" grpId="0" animBg="1"/>
      <p:bldP spid="30" grpId="0" animBg="1"/>
      <p:bldP spid="21" grpId="0"/>
      <p:bldP spid="22" grpId="0"/>
      <p:bldP spid="23" grpId="0" animBg="1"/>
      <p:bldP spid="24" grpId="0" animBg="1"/>
      <p:bldP spid="25" grpId="0" animBg="1"/>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EC5A-3422-62C7-2CEF-74B4E2A1BBE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C21982-A56B-5AB6-C4BD-1EAF8C14A905}"/>
              </a:ext>
            </a:extLst>
          </p:cNvPr>
          <p:cNvSpPr>
            <a:spLocks noGrp="1"/>
          </p:cNvSpPr>
          <p:nvPr>
            <p:ph type="title"/>
          </p:nvPr>
        </p:nvSpPr>
        <p:spPr/>
        <p:txBody>
          <a:bodyPr/>
          <a:lstStyle/>
          <a:p>
            <a:r>
              <a:rPr lang="en-US" altLang="zh-CN"/>
              <a:t>Account Master - Detail</a:t>
            </a:r>
            <a:endParaRPr lang="zh-CN" altLang="en-US"/>
          </a:p>
        </p:txBody>
      </p:sp>
      <p:sp>
        <p:nvSpPr>
          <p:cNvPr id="9" name="TextBox 92">
            <a:extLst>
              <a:ext uri="{FF2B5EF4-FFF2-40B4-BE49-F238E27FC236}">
                <a16:creationId xmlns:a16="http://schemas.microsoft.com/office/drawing/2014/main" id="{DC7F5C69-D979-E8C0-9035-8BCC948441B0}"/>
              </a:ext>
            </a:extLst>
          </p:cNvPr>
          <p:cNvSpPr txBox="1"/>
          <p:nvPr/>
        </p:nvSpPr>
        <p:spPr>
          <a:xfrm>
            <a:off x="8666640" y="934135"/>
            <a:ext cx="1839512" cy="292388"/>
          </a:xfrm>
          <a:prstGeom prst="rect">
            <a:avLst/>
          </a:prstGeom>
          <a:noFill/>
        </p:spPr>
        <p:txBody>
          <a:bodyPr wrap="square" rtlCol="0">
            <a:spAutoFit/>
          </a:bodyPr>
          <a:lstStyle/>
          <a:p>
            <a:r>
              <a:rPr lang="en-US" sz="1300" b="1">
                <a:solidFill>
                  <a:schemeClr val="accent4">
                    <a:lumMod val="75000"/>
                    <a:lumOff val="25000"/>
                  </a:schemeClr>
                </a:solidFill>
                <a:cs typeface="Lato Regular"/>
              </a:rPr>
              <a:t>Tax Numbers</a:t>
            </a:r>
          </a:p>
        </p:txBody>
      </p:sp>
      <p:sp>
        <p:nvSpPr>
          <p:cNvPr id="10" name="TextBox 93">
            <a:extLst>
              <a:ext uri="{FF2B5EF4-FFF2-40B4-BE49-F238E27FC236}">
                <a16:creationId xmlns:a16="http://schemas.microsoft.com/office/drawing/2014/main" id="{BD63B228-7AD3-0A9C-6170-ABD3E4725EA0}"/>
              </a:ext>
            </a:extLst>
          </p:cNvPr>
          <p:cNvSpPr txBox="1"/>
          <p:nvPr/>
        </p:nvSpPr>
        <p:spPr>
          <a:xfrm>
            <a:off x="8664427" y="1200791"/>
            <a:ext cx="3003377" cy="1631216"/>
          </a:xfrm>
          <a:prstGeom prst="rect">
            <a:avLst/>
          </a:prstGeom>
          <a:noFill/>
        </p:spPr>
        <p:txBody>
          <a:bodyPr wrap="square" rtlCol="0">
            <a:spAutoFit/>
          </a:bodyPr>
          <a:lstStyle/>
          <a:p>
            <a:r>
              <a:rPr lang="en-US" sz="1000">
                <a:cs typeface="Lato Light"/>
              </a:rPr>
              <a:t>The Tax Numbers tab displays tax registration information associated with the account.</a:t>
            </a:r>
          </a:p>
          <a:p>
            <a:endParaRPr lang="en-US" sz="1000">
              <a:cs typeface="Lato Light"/>
            </a:endParaRPr>
          </a:p>
          <a:p>
            <a:r>
              <a:rPr lang="en-US" sz="1000">
                <a:cs typeface="Lato Light"/>
              </a:rPr>
              <a:t>Examples include:</a:t>
            </a:r>
          </a:p>
          <a:p>
            <a:r>
              <a:rPr lang="en-US" sz="1000">
                <a:cs typeface="Lato Light"/>
              </a:rPr>
              <a:t>VAT Registration Number</a:t>
            </a:r>
          </a:p>
          <a:p>
            <a:r>
              <a:rPr lang="en-US" sz="1000">
                <a:cs typeface="Lato Light"/>
              </a:rPr>
              <a:t>GST Registration Number</a:t>
            </a:r>
          </a:p>
          <a:p>
            <a:r>
              <a:rPr lang="en-US" sz="1000">
                <a:cs typeface="Lato Light"/>
              </a:rPr>
              <a:t>Tax Identification Number</a:t>
            </a:r>
          </a:p>
          <a:p>
            <a:endParaRPr lang="en-US" sz="1000">
              <a:cs typeface="Lato Light"/>
            </a:endParaRPr>
          </a:p>
          <a:p>
            <a:r>
              <a:rPr lang="en-US" sz="1000">
                <a:cs typeface="Lato Light"/>
              </a:rPr>
              <a:t>This information is used for tax determination and invoice generation.</a:t>
            </a:r>
          </a:p>
        </p:txBody>
      </p:sp>
      <p:sp>
        <p:nvSpPr>
          <p:cNvPr id="13" name="Oval 113">
            <a:extLst>
              <a:ext uri="{FF2B5EF4-FFF2-40B4-BE49-F238E27FC236}">
                <a16:creationId xmlns:a16="http://schemas.microsoft.com/office/drawing/2014/main" id="{19E08A27-8CC7-181D-6FBE-2CB2A385B8EE}"/>
              </a:ext>
            </a:extLst>
          </p:cNvPr>
          <p:cNvSpPr/>
          <p:nvPr/>
        </p:nvSpPr>
        <p:spPr>
          <a:xfrm>
            <a:off x="8425534" y="965002"/>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27" name="TextBox 93">
            <a:extLst>
              <a:ext uri="{FF2B5EF4-FFF2-40B4-BE49-F238E27FC236}">
                <a16:creationId xmlns:a16="http://schemas.microsoft.com/office/drawing/2014/main" id="{954F5703-C6E5-7F8D-0E46-36669482CE26}"/>
              </a:ext>
            </a:extLst>
          </p:cNvPr>
          <p:cNvSpPr txBox="1"/>
          <p:nvPr/>
        </p:nvSpPr>
        <p:spPr>
          <a:xfrm>
            <a:off x="8664427" y="3140600"/>
            <a:ext cx="3005590" cy="553998"/>
          </a:xfrm>
          <a:prstGeom prst="rect">
            <a:avLst/>
          </a:prstGeom>
          <a:noFill/>
        </p:spPr>
        <p:txBody>
          <a:bodyPr wrap="square" rtlCol="0">
            <a:spAutoFit/>
          </a:bodyPr>
          <a:lstStyle/>
          <a:p>
            <a:r>
              <a:rPr lang="en-US" sz="1000">
                <a:cs typeface="Lato Light"/>
              </a:rPr>
              <a:t>The Tax Classification tab displays tax-related classifications used during billing and tax calculation processes.</a:t>
            </a:r>
          </a:p>
        </p:txBody>
      </p:sp>
      <p:sp>
        <p:nvSpPr>
          <p:cNvPr id="28" name="TextBox 92">
            <a:extLst>
              <a:ext uri="{FF2B5EF4-FFF2-40B4-BE49-F238E27FC236}">
                <a16:creationId xmlns:a16="http://schemas.microsoft.com/office/drawing/2014/main" id="{E8213640-25A4-2FCC-76F2-1C95C8030489}"/>
              </a:ext>
            </a:extLst>
          </p:cNvPr>
          <p:cNvSpPr txBox="1"/>
          <p:nvPr/>
        </p:nvSpPr>
        <p:spPr>
          <a:xfrm>
            <a:off x="8666640" y="2848212"/>
            <a:ext cx="1839512" cy="292388"/>
          </a:xfrm>
          <a:prstGeom prst="rect">
            <a:avLst/>
          </a:prstGeom>
          <a:noFill/>
        </p:spPr>
        <p:txBody>
          <a:bodyPr wrap="square" rtlCol="0">
            <a:spAutoFit/>
          </a:bodyPr>
          <a:lstStyle/>
          <a:p>
            <a:r>
              <a:rPr lang="en-US" sz="1300" b="1">
                <a:solidFill>
                  <a:srgbClr val="57D3FF"/>
                </a:solidFill>
                <a:cs typeface="Lato Regular"/>
              </a:rPr>
              <a:t>Tax Classification</a:t>
            </a:r>
          </a:p>
        </p:txBody>
      </p:sp>
      <p:sp>
        <p:nvSpPr>
          <p:cNvPr id="31" name="Oval 113">
            <a:extLst>
              <a:ext uri="{FF2B5EF4-FFF2-40B4-BE49-F238E27FC236}">
                <a16:creationId xmlns:a16="http://schemas.microsoft.com/office/drawing/2014/main" id="{AA2C5B9C-9634-20AD-B3C3-05240E5B465C}"/>
              </a:ext>
            </a:extLst>
          </p:cNvPr>
          <p:cNvSpPr/>
          <p:nvPr/>
        </p:nvSpPr>
        <p:spPr>
          <a:xfrm>
            <a:off x="8425534" y="2884151"/>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pic>
        <p:nvPicPr>
          <p:cNvPr id="8" name="图片 7">
            <a:extLst>
              <a:ext uri="{FF2B5EF4-FFF2-40B4-BE49-F238E27FC236}">
                <a16:creationId xmlns:a16="http://schemas.microsoft.com/office/drawing/2014/main" id="{C8457CCD-DF62-B451-48AB-CE895BC6F524}"/>
              </a:ext>
            </a:extLst>
          </p:cNvPr>
          <p:cNvPicPr>
            <a:picLocks noChangeAspect="1"/>
          </p:cNvPicPr>
          <p:nvPr/>
        </p:nvPicPr>
        <p:blipFill>
          <a:blip r:embed="rId2"/>
          <a:stretch>
            <a:fillRect/>
          </a:stretch>
        </p:blipFill>
        <p:spPr>
          <a:xfrm>
            <a:off x="320182" y="1029470"/>
            <a:ext cx="7947303" cy="1172446"/>
          </a:xfrm>
          <a:prstGeom prst="rect">
            <a:avLst/>
          </a:prstGeom>
        </p:spPr>
      </p:pic>
      <p:sp>
        <p:nvSpPr>
          <p:cNvPr id="19" name="TextBox 92">
            <a:extLst>
              <a:ext uri="{FF2B5EF4-FFF2-40B4-BE49-F238E27FC236}">
                <a16:creationId xmlns:a16="http://schemas.microsoft.com/office/drawing/2014/main" id="{21119388-EFD0-85C4-42EC-7D8B726E52F0}"/>
              </a:ext>
            </a:extLst>
          </p:cNvPr>
          <p:cNvSpPr txBox="1"/>
          <p:nvPr/>
        </p:nvSpPr>
        <p:spPr>
          <a:xfrm>
            <a:off x="8666640" y="3783594"/>
            <a:ext cx="1839512" cy="292388"/>
          </a:xfrm>
          <a:prstGeom prst="rect">
            <a:avLst/>
          </a:prstGeom>
          <a:noFill/>
        </p:spPr>
        <p:txBody>
          <a:bodyPr wrap="square" rtlCol="0">
            <a:spAutoFit/>
          </a:bodyPr>
          <a:lstStyle/>
          <a:p>
            <a:r>
              <a:rPr lang="en-US" sz="1300" b="1">
                <a:solidFill>
                  <a:srgbClr val="7030A0"/>
                </a:solidFill>
                <a:cs typeface="Lato Regular"/>
              </a:rPr>
              <a:t>Relationships</a:t>
            </a:r>
          </a:p>
        </p:txBody>
      </p:sp>
      <p:sp>
        <p:nvSpPr>
          <p:cNvPr id="21" name="TextBox 93">
            <a:extLst>
              <a:ext uri="{FF2B5EF4-FFF2-40B4-BE49-F238E27FC236}">
                <a16:creationId xmlns:a16="http://schemas.microsoft.com/office/drawing/2014/main" id="{85FDC10C-69E9-F370-69D9-1964E9A0C867}"/>
              </a:ext>
            </a:extLst>
          </p:cNvPr>
          <p:cNvSpPr txBox="1"/>
          <p:nvPr/>
        </p:nvSpPr>
        <p:spPr>
          <a:xfrm>
            <a:off x="8666640" y="4080116"/>
            <a:ext cx="3102206" cy="400110"/>
          </a:xfrm>
          <a:prstGeom prst="rect">
            <a:avLst/>
          </a:prstGeom>
          <a:noFill/>
        </p:spPr>
        <p:txBody>
          <a:bodyPr wrap="square" rtlCol="0">
            <a:spAutoFit/>
          </a:bodyPr>
          <a:lstStyle/>
          <a:p>
            <a:r>
              <a:rPr lang="en-US" altLang="zh-CN" sz="1000">
                <a:cs typeface="Lato Light"/>
              </a:rPr>
              <a:t>The Relationships tab displays relationships between the current sold-to account and its DMU.</a:t>
            </a:r>
          </a:p>
        </p:txBody>
      </p:sp>
      <p:sp>
        <p:nvSpPr>
          <p:cNvPr id="23" name="Oval 113">
            <a:extLst>
              <a:ext uri="{FF2B5EF4-FFF2-40B4-BE49-F238E27FC236}">
                <a16:creationId xmlns:a16="http://schemas.microsoft.com/office/drawing/2014/main" id="{754EA889-80BF-9774-FFCA-C9634322A438}"/>
              </a:ext>
            </a:extLst>
          </p:cNvPr>
          <p:cNvSpPr/>
          <p:nvPr/>
        </p:nvSpPr>
        <p:spPr>
          <a:xfrm>
            <a:off x="8435827" y="3818785"/>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
        <p:nvSpPr>
          <p:cNvPr id="29" name="Oval 113">
            <a:extLst>
              <a:ext uri="{FF2B5EF4-FFF2-40B4-BE49-F238E27FC236}">
                <a16:creationId xmlns:a16="http://schemas.microsoft.com/office/drawing/2014/main" id="{73DE0D7A-8748-64B6-BF1D-468430D0DC94}"/>
              </a:ext>
            </a:extLst>
          </p:cNvPr>
          <p:cNvSpPr/>
          <p:nvPr/>
        </p:nvSpPr>
        <p:spPr>
          <a:xfrm>
            <a:off x="2250708" y="1495103"/>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34" name="图片 33">
            <a:extLst>
              <a:ext uri="{FF2B5EF4-FFF2-40B4-BE49-F238E27FC236}">
                <a16:creationId xmlns:a16="http://schemas.microsoft.com/office/drawing/2014/main" id="{2D10E2C7-9530-7541-3A74-F1A13C9F9850}"/>
              </a:ext>
            </a:extLst>
          </p:cNvPr>
          <p:cNvPicPr>
            <a:picLocks noChangeAspect="1"/>
          </p:cNvPicPr>
          <p:nvPr/>
        </p:nvPicPr>
        <p:blipFill>
          <a:blip r:embed="rId3"/>
          <a:stretch>
            <a:fillRect/>
          </a:stretch>
        </p:blipFill>
        <p:spPr>
          <a:xfrm>
            <a:off x="320182" y="2276036"/>
            <a:ext cx="7921908" cy="1428859"/>
          </a:xfrm>
          <a:prstGeom prst="rect">
            <a:avLst/>
          </a:prstGeom>
        </p:spPr>
      </p:pic>
      <p:sp>
        <p:nvSpPr>
          <p:cNvPr id="35" name="Oval 113">
            <a:extLst>
              <a:ext uri="{FF2B5EF4-FFF2-40B4-BE49-F238E27FC236}">
                <a16:creationId xmlns:a16="http://schemas.microsoft.com/office/drawing/2014/main" id="{CB754233-5321-8E39-AE71-BADB64F049A4}"/>
              </a:ext>
            </a:extLst>
          </p:cNvPr>
          <p:cNvSpPr/>
          <p:nvPr/>
        </p:nvSpPr>
        <p:spPr>
          <a:xfrm>
            <a:off x="2876073" y="2761865"/>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pic>
        <p:nvPicPr>
          <p:cNvPr id="37" name="图片 36">
            <a:extLst>
              <a:ext uri="{FF2B5EF4-FFF2-40B4-BE49-F238E27FC236}">
                <a16:creationId xmlns:a16="http://schemas.microsoft.com/office/drawing/2014/main" id="{AB64079D-3A68-61B1-8F32-8711030E2C70}"/>
              </a:ext>
            </a:extLst>
          </p:cNvPr>
          <p:cNvPicPr>
            <a:picLocks noChangeAspect="1"/>
          </p:cNvPicPr>
          <p:nvPr/>
        </p:nvPicPr>
        <p:blipFill>
          <a:blip r:embed="rId4"/>
          <a:stretch>
            <a:fillRect/>
          </a:stretch>
        </p:blipFill>
        <p:spPr>
          <a:xfrm>
            <a:off x="320181" y="3807808"/>
            <a:ext cx="7921909" cy="1448614"/>
          </a:xfrm>
          <a:prstGeom prst="rect">
            <a:avLst/>
          </a:prstGeom>
        </p:spPr>
      </p:pic>
      <p:sp>
        <p:nvSpPr>
          <p:cNvPr id="38" name="Oval 113">
            <a:extLst>
              <a:ext uri="{FF2B5EF4-FFF2-40B4-BE49-F238E27FC236}">
                <a16:creationId xmlns:a16="http://schemas.microsoft.com/office/drawing/2014/main" id="{769123CE-FB70-AD71-7F5C-22B464288BBF}"/>
              </a:ext>
            </a:extLst>
          </p:cNvPr>
          <p:cNvSpPr/>
          <p:nvPr/>
        </p:nvSpPr>
        <p:spPr>
          <a:xfrm>
            <a:off x="3359548" y="4251626"/>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Tree>
    <p:extLst>
      <p:ext uri="{BB962C8B-B14F-4D97-AF65-F5344CB8AC3E}">
        <p14:creationId xmlns:p14="http://schemas.microsoft.com/office/powerpoint/2010/main" val="346720185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500"/>
                                        <p:tgtEl>
                                          <p:spTgt spid="35"/>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animBg="1"/>
      <p:bldP spid="27" grpId="0"/>
      <p:bldP spid="28" grpId="0"/>
      <p:bldP spid="31" grpId="0" animBg="1"/>
      <p:bldP spid="19" grpId="0"/>
      <p:bldP spid="21" grpId="0"/>
      <p:bldP spid="23" grpId="0" animBg="1"/>
      <p:bldP spid="29" grpId="0" animBg="1"/>
      <p:bldP spid="35" grpId="0" animBg="1"/>
      <p:bldP spid="3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06F16-77CC-CBB0-5A28-9994B36D2AD6}"/>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5F283FC8-0E8D-FA1B-AD92-91CDA42E0B70}"/>
              </a:ext>
            </a:extLst>
          </p:cNvPr>
          <p:cNvPicPr>
            <a:picLocks noChangeAspect="1"/>
          </p:cNvPicPr>
          <p:nvPr/>
        </p:nvPicPr>
        <p:blipFill>
          <a:blip r:embed="rId2"/>
          <a:stretch>
            <a:fillRect/>
          </a:stretch>
        </p:blipFill>
        <p:spPr>
          <a:xfrm>
            <a:off x="278141" y="1079666"/>
            <a:ext cx="7402489" cy="2967625"/>
          </a:xfrm>
          <a:prstGeom prst="rect">
            <a:avLst/>
          </a:prstGeom>
        </p:spPr>
      </p:pic>
      <p:sp>
        <p:nvSpPr>
          <p:cNvPr id="3" name="标题 2">
            <a:extLst>
              <a:ext uri="{FF2B5EF4-FFF2-40B4-BE49-F238E27FC236}">
                <a16:creationId xmlns:a16="http://schemas.microsoft.com/office/drawing/2014/main" id="{57821629-C822-6BCB-2D57-D357D318EFD4}"/>
              </a:ext>
            </a:extLst>
          </p:cNvPr>
          <p:cNvSpPr>
            <a:spLocks noGrp="1"/>
          </p:cNvSpPr>
          <p:nvPr>
            <p:ph type="title"/>
          </p:nvPr>
        </p:nvSpPr>
        <p:spPr/>
        <p:txBody>
          <a:bodyPr/>
          <a:lstStyle/>
          <a:p>
            <a:r>
              <a:rPr lang="en-US" altLang="zh-CN"/>
              <a:t>Account Master - Detail</a:t>
            </a:r>
            <a:endParaRPr lang="zh-CN" altLang="en-US"/>
          </a:p>
        </p:txBody>
      </p:sp>
      <p:sp>
        <p:nvSpPr>
          <p:cNvPr id="8" name="TextBox 92">
            <a:extLst>
              <a:ext uri="{FF2B5EF4-FFF2-40B4-BE49-F238E27FC236}">
                <a16:creationId xmlns:a16="http://schemas.microsoft.com/office/drawing/2014/main" id="{B7BD63FA-0CB5-83AA-DB52-A61AF753B9D6}"/>
              </a:ext>
            </a:extLst>
          </p:cNvPr>
          <p:cNvSpPr txBox="1"/>
          <p:nvPr/>
        </p:nvSpPr>
        <p:spPr>
          <a:xfrm>
            <a:off x="8138291" y="1017554"/>
            <a:ext cx="2631007" cy="292388"/>
          </a:xfrm>
          <a:prstGeom prst="rect">
            <a:avLst/>
          </a:prstGeom>
          <a:noFill/>
        </p:spPr>
        <p:txBody>
          <a:bodyPr wrap="square" rtlCol="0">
            <a:spAutoFit/>
          </a:bodyPr>
          <a:lstStyle/>
          <a:p>
            <a:r>
              <a:rPr lang="en-US" sz="1300" b="1">
                <a:solidFill>
                  <a:srgbClr val="0070C0"/>
                </a:solidFill>
                <a:cs typeface="Lato Regular"/>
              </a:rPr>
              <a:t>Customer Invoice Profile</a:t>
            </a:r>
          </a:p>
        </p:txBody>
      </p:sp>
      <p:sp>
        <p:nvSpPr>
          <p:cNvPr id="15" name="Oval 113">
            <a:extLst>
              <a:ext uri="{FF2B5EF4-FFF2-40B4-BE49-F238E27FC236}">
                <a16:creationId xmlns:a16="http://schemas.microsoft.com/office/drawing/2014/main" id="{EF75C3D5-4569-8C3A-DB47-B66E2738894E}"/>
              </a:ext>
            </a:extLst>
          </p:cNvPr>
          <p:cNvSpPr/>
          <p:nvPr/>
        </p:nvSpPr>
        <p:spPr>
          <a:xfrm>
            <a:off x="7897186" y="1048421"/>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7</a:t>
            </a:r>
          </a:p>
        </p:txBody>
      </p:sp>
      <p:sp>
        <p:nvSpPr>
          <p:cNvPr id="17" name="TextBox 93">
            <a:extLst>
              <a:ext uri="{FF2B5EF4-FFF2-40B4-BE49-F238E27FC236}">
                <a16:creationId xmlns:a16="http://schemas.microsoft.com/office/drawing/2014/main" id="{0E08406D-6285-B6F5-363E-7A37D1BAED08}"/>
              </a:ext>
            </a:extLst>
          </p:cNvPr>
          <p:cNvSpPr txBox="1"/>
          <p:nvPr/>
        </p:nvSpPr>
        <p:spPr>
          <a:xfrm>
            <a:off x="8161404" y="1279769"/>
            <a:ext cx="3452528" cy="3477875"/>
          </a:xfrm>
          <a:prstGeom prst="rect">
            <a:avLst/>
          </a:prstGeom>
          <a:noFill/>
        </p:spPr>
        <p:txBody>
          <a:bodyPr wrap="square" rtlCol="0">
            <a:spAutoFit/>
          </a:bodyPr>
          <a:lstStyle/>
          <a:p>
            <a:r>
              <a:rPr lang="en-US" altLang="zh-CN" sz="1000">
                <a:cs typeface="Lato Light"/>
              </a:rPr>
              <a:t>The Customer Invoice Profile tab displays invoice-related preferences and billing configurations assigned to the account.</a:t>
            </a:r>
          </a:p>
          <a:p>
            <a:endParaRPr lang="en-US" altLang="zh-CN" sz="1000">
              <a:cs typeface="Lato Light"/>
            </a:endParaRPr>
          </a:p>
          <a:p>
            <a:r>
              <a:rPr lang="en-US" altLang="zh-CN" sz="1000">
                <a:cs typeface="Lato Light"/>
              </a:rPr>
              <a:t>Examples may include:</a:t>
            </a:r>
          </a:p>
          <a:p>
            <a:r>
              <a:rPr lang="en-US" altLang="zh-CN" sz="1000">
                <a:cs typeface="Lato Light"/>
              </a:rPr>
              <a:t>Invoice Processing Rules</a:t>
            </a:r>
          </a:p>
          <a:p>
            <a:r>
              <a:rPr lang="en-US" altLang="zh-CN" sz="1000">
                <a:cs typeface="Lato Light"/>
              </a:rPr>
              <a:t>Approver Email</a:t>
            </a:r>
          </a:p>
          <a:p>
            <a:r>
              <a:rPr lang="en-US" altLang="zh-CN" sz="1000">
                <a:cs typeface="Lato Light"/>
              </a:rPr>
              <a:t>Customer Email</a:t>
            </a:r>
          </a:p>
          <a:p>
            <a:endParaRPr lang="en-US" altLang="zh-CN" sz="1000">
              <a:cs typeface="Lato Light"/>
            </a:endParaRPr>
          </a:p>
          <a:p>
            <a:r>
              <a:rPr lang="en-US" altLang="zh-CN" sz="1000">
                <a:cs typeface="Lato Light"/>
              </a:rPr>
              <a:t>Customer Invoice Profile data is maintained </a:t>
            </a:r>
            <a:r>
              <a:rPr lang="en-US" altLang="zh-CN" sz="1000" b="1">
                <a:cs typeface="Lato Light"/>
              </a:rPr>
              <a:t>in ServiceNow </a:t>
            </a:r>
            <a:r>
              <a:rPr lang="en-US" altLang="zh-CN" sz="1000">
                <a:cs typeface="Lato Light"/>
              </a:rPr>
              <a:t>(SNOW) and is synchronized to </a:t>
            </a:r>
            <a:r>
              <a:rPr lang="en-US" altLang="zh-CN" sz="1000" err="1">
                <a:cs typeface="Lato Light"/>
              </a:rPr>
              <a:t>NexBill</a:t>
            </a:r>
            <a:r>
              <a:rPr lang="en-US" altLang="zh-CN" sz="1000">
                <a:cs typeface="Lato Light"/>
              </a:rPr>
              <a:t> through system integration.</a:t>
            </a:r>
          </a:p>
          <a:p>
            <a:endParaRPr lang="en-US" altLang="zh-CN" sz="1000">
              <a:cs typeface="Lato Light"/>
            </a:endParaRPr>
          </a:p>
          <a:p>
            <a:r>
              <a:rPr lang="en-US" altLang="zh-CN" sz="1000" b="1">
                <a:cs typeface="Lato Light"/>
              </a:rPr>
              <a:t>Note</a:t>
            </a:r>
            <a:r>
              <a:rPr lang="en-US" altLang="zh-CN" sz="1000">
                <a:cs typeface="Lato Light"/>
              </a:rPr>
              <a:t>: </a:t>
            </a:r>
            <a:r>
              <a:rPr lang="en-US" altLang="zh-CN" sz="1000" b="1">
                <a:cs typeface="Lato Light"/>
              </a:rPr>
              <a:t>Customer Invoice Profile data is read-only in </a:t>
            </a:r>
            <a:r>
              <a:rPr lang="en-US" altLang="zh-CN" sz="1000" b="1" err="1">
                <a:cs typeface="Lato Light"/>
              </a:rPr>
              <a:t>NexBill</a:t>
            </a:r>
            <a:r>
              <a:rPr lang="en-US" altLang="zh-CN" sz="1000" b="1">
                <a:cs typeface="Lato Light"/>
              </a:rPr>
              <a:t> </a:t>
            </a:r>
            <a:r>
              <a:rPr lang="en-US" altLang="zh-CN" sz="1000">
                <a:cs typeface="Lato Light"/>
              </a:rPr>
              <a:t>and cannot be created or modified in </a:t>
            </a:r>
            <a:r>
              <a:rPr lang="en-US" altLang="zh-CN" sz="1000" err="1">
                <a:cs typeface="Lato Light"/>
              </a:rPr>
              <a:t>NexBill</a:t>
            </a:r>
            <a:r>
              <a:rPr lang="en-US" altLang="zh-CN" sz="1000">
                <a:cs typeface="Lato Light"/>
              </a:rPr>
              <a:t>.</a:t>
            </a:r>
          </a:p>
          <a:p>
            <a:endParaRPr lang="en-US" altLang="zh-CN" sz="1000">
              <a:cs typeface="Lato Light"/>
            </a:endParaRPr>
          </a:p>
          <a:p>
            <a:r>
              <a:rPr lang="en-US" altLang="zh-CN" sz="1000">
                <a:cs typeface="Lato Light"/>
              </a:rPr>
              <a:t>Any changes to Customer Invoice Profile settings must be performed in SNOW and then transmitted to </a:t>
            </a:r>
            <a:r>
              <a:rPr lang="en-US" altLang="zh-CN" sz="1000" err="1">
                <a:cs typeface="Lato Light"/>
              </a:rPr>
              <a:t>NexBill</a:t>
            </a:r>
            <a:r>
              <a:rPr lang="en-US" altLang="zh-CN" sz="1000">
                <a:cs typeface="Lato Light"/>
              </a:rPr>
              <a:t> through the standard interface process. Once the synchronization is completed, the updated information will be available in </a:t>
            </a:r>
            <a:r>
              <a:rPr lang="en-US" altLang="zh-CN" sz="1000" err="1">
                <a:cs typeface="Lato Light"/>
              </a:rPr>
              <a:t>NexBill</a:t>
            </a:r>
            <a:r>
              <a:rPr lang="en-US" altLang="zh-CN" sz="1000">
                <a:cs typeface="Lato Light"/>
              </a:rPr>
              <a:t>.</a:t>
            </a:r>
          </a:p>
          <a:p>
            <a:endParaRPr lang="en-US" altLang="zh-CN" sz="1000" b="1">
              <a:cs typeface="Lato Light"/>
            </a:endParaRPr>
          </a:p>
        </p:txBody>
      </p:sp>
      <p:sp>
        <p:nvSpPr>
          <p:cNvPr id="12" name="Oval 113">
            <a:extLst>
              <a:ext uri="{FF2B5EF4-FFF2-40B4-BE49-F238E27FC236}">
                <a16:creationId xmlns:a16="http://schemas.microsoft.com/office/drawing/2014/main" id="{E7C5D69D-0132-4395-2E0D-2084078C633A}"/>
              </a:ext>
            </a:extLst>
          </p:cNvPr>
          <p:cNvSpPr/>
          <p:nvPr/>
        </p:nvSpPr>
        <p:spPr>
          <a:xfrm>
            <a:off x="3792256" y="1586598"/>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7</a:t>
            </a:r>
          </a:p>
        </p:txBody>
      </p:sp>
    </p:spTree>
    <p:extLst>
      <p:ext uri="{BB962C8B-B14F-4D97-AF65-F5344CB8AC3E}">
        <p14:creationId xmlns:p14="http://schemas.microsoft.com/office/powerpoint/2010/main" val="24444650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animBg="1"/>
      <p:bldP spid="17" grpId="0"/>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5DCD0-7C99-8EAB-BA37-41155EE01C6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DF81B57-449D-2F1D-8DCE-F90DE1827AB6}"/>
              </a:ext>
            </a:extLst>
          </p:cNvPr>
          <p:cNvSpPr>
            <a:spLocks noGrp="1"/>
          </p:cNvSpPr>
          <p:nvPr>
            <p:ph type="title"/>
          </p:nvPr>
        </p:nvSpPr>
        <p:spPr/>
        <p:txBody>
          <a:bodyPr/>
          <a:lstStyle/>
          <a:p>
            <a:r>
              <a:rPr lang="en-US" altLang="zh-CN"/>
              <a:t>Account Master - Account Actions</a:t>
            </a:r>
            <a:endParaRPr lang="zh-CN" altLang="en-US"/>
          </a:p>
        </p:txBody>
      </p:sp>
      <p:sp>
        <p:nvSpPr>
          <p:cNvPr id="8" name="TextBox 83">
            <a:extLst>
              <a:ext uri="{FF2B5EF4-FFF2-40B4-BE49-F238E27FC236}">
                <a16:creationId xmlns:a16="http://schemas.microsoft.com/office/drawing/2014/main" id="{349CD5F8-FF29-8F25-479B-CA6EF4008D24}"/>
              </a:ext>
            </a:extLst>
          </p:cNvPr>
          <p:cNvSpPr txBox="1"/>
          <p:nvPr/>
        </p:nvSpPr>
        <p:spPr>
          <a:xfrm>
            <a:off x="7296530" y="1738565"/>
            <a:ext cx="4364698" cy="3631763"/>
          </a:xfrm>
          <a:prstGeom prst="rect">
            <a:avLst/>
          </a:prstGeom>
          <a:noFill/>
        </p:spPr>
        <p:txBody>
          <a:bodyPr wrap="square" rtlCol="0">
            <a:spAutoFit/>
          </a:bodyPr>
          <a:lstStyle/>
          <a:p>
            <a:r>
              <a:rPr lang="en-US" sz="1000" b="1">
                <a:cs typeface="Lato Light"/>
              </a:rPr>
              <a:t>New</a:t>
            </a:r>
          </a:p>
          <a:p>
            <a:r>
              <a:rPr lang="en-US" sz="1000">
                <a:cs typeface="Lato Light"/>
              </a:rPr>
              <a:t>Creates a new account master record manually within </a:t>
            </a:r>
            <a:r>
              <a:rPr lang="en-US" sz="1000" err="1">
                <a:cs typeface="Lato Light"/>
              </a:rPr>
              <a:t>NexBill</a:t>
            </a:r>
            <a:r>
              <a:rPr lang="en-US" sz="1000">
                <a:cs typeface="Lato Light"/>
              </a:rPr>
              <a:t>.</a:t>
            </a:r>
          </a:p>
          <a:p>
            <a:endParaRPr lang="en-US" sz="1000">
              <a:cs typeface="Lato Light"/>
            </a:endParaRPr>
          </a:p>
          <a:p>
            <a:r>
              <a:rPr lang="en-US" sz="1000" b="1">
                <a:cs typeface="Lato Light"/>
              </a:rPr>
              <a:t>Copy</a:t>
            </a:r>
          </a:p>
          <a:p>
            <a:r>
              <a:rPr lang="en-US" sz="1000">
                <a:cs typeface="Lato Light"/>
              </a:rPr>
              <a:t>Creates a new account master record by copying an existing account master.</a:t>
            </a:r>
          </a:p>
          <a:p>
            <a:r>
              <a:rPr lang="en-US" sz="1000">
                <a:cs typeface="Lato Light"/>
              </a:rPr>
              <a:t>This function helps reduce manual data entry when creating similar accounts.</a:t>
            </a:r>
          </a:p>
          <a:p>
            <a:endParaRPr lang="en-US" sz="1000">
              <a:cs typeface="Lato Light"/>
            </a:endParaRPr>
          </a:p>
          <a:p>
            <a:r>
              <a:rPr lang="en-US" sz="1000" b="1">
                <a:cs typeface="Lato Light"/>
              </a:rPr>
              <a:t>Pull From AS</a:t>
            </a:r>
            <a:endParaRPr lang="en-US" sz="1000">
              <a:cs typeface="Lato Light"/>
            </a:endParaRPr>
          </a:p>
          <a:p>
            <a:r>
              <a:rPr lang="en-US" altLang="zh-CN" sz="1000">
                <a:cs typeface="Lato Light"/>
              </a:rPr>
              <a:t>Retrieve the account information from account service and create the Account Master in </a:t>
            </a:r>
            <a:r>
              <a:rPr lang="en-US" altLang="zh-CN" sz="1000" err="1">
                <a:cs typeface="Lato Light"/>
              </a:rPr>
              <a:t>NexBill</a:t>
            </a:r>
            <a:r>
              <a:rPr lang="en-US" altLang="zh-CN" sz="1000">
                <a:cs typeface="Lato Light"/>
              </a:rPr>
              <a:t>.</a:t>
            </a:r>
            <a:r>
              <a:rPr lang="en-US" altLang="zh-CN" sz="1000" b="1">
                <a:cs typeface="Lato Light"/>
              </a:rPr>
              <a:t> Batch</a:t>
            </a:r>
            <a:r>
              <a:rPr lang="en-US" altLang="zh-CN" sz="1000">
                <a:cs typeface="Lato Light"/>
              </a:rPr>
              <a:t> </a:t>
            </a:r>
            <a:r>
              <a:rPr lang="en-US" altLang="zh-CN" sz="1000" b="1">
                <a:cs typeface="Lato Light"/>
              </a:rPr>
              <a:t>processing </a:t>
            </a:r>
            <a:r>
              <a:rPr lang="en-US" altLang="zh-CN" sz="1000">
                <a:cs typeface="Lato Light"/>
              </a:rPr>
              <a:t>is supported by entering multiple account numbers separated by commas or line breaks.</a:t>
            </a:r>
          </a:p>
          <a:p>
            <a:endParaRPr lang="en-US" sz="1000">
              <a:cs typeface="Lato Light"/>
            </a:endParaRPr>
          </a:p>
          <a:p>
            <a:r>
              <a:rPr lang="en-US" sz="1000">
                <a:cs typeface="Lato Light"/>
              </a:rPr>
              <a:t>1. Enter one or more account numbers.</a:t>
            </a:r>
          </a:p>
          <a:p>
            <a:r>
              <a:rPr lang="en-US" sz="1000">
                <a:cs typeface="Lato Light"/>
              </a:rPr>
              <a:t>2. </a:t>
            </a:r>
            <a:r>
              <a:rPr lang="en-US" sz="1000" b="1">
                <a:cs typeface="Lato Light"/>
              </a:rPr>
              <a:t>Execute</a:t>
            </a:r>
            <a:r>
              <a:rPr lang="en-US" sz="1000">
                <a:cs typeface="Lato Light"/>
              </a:rPr>
              <a:t> the request to retrieve account information from account service.</a:t>
            </a:r>
          </a:p>
          <a:p>
            <a:endParaRPr lang="en-US" sz="1000">
              <a:cs typeface="Lato Light"/>
            </a:endParaRPr>
          </a:p>
          <a:p>
            <a:r>
              <a:rPr lang="en-US" altLang="zh-CN" sz="1000" b="1">
                <a:cs typeface="Lato Light"/>
              </a:rPr>
              <a:t>Pull From AS is </a:t>
            </a:r>
            <a:r>
              <a:rPr lang="en-US" altLang="zh-CN" sz="1000" b="1">
                <a:solidFill>
                  <a:srgbClr val="FF0000"/>
                </a:solidFill>
                <a:cs typeface="Lato Light"/>
              </a:rPr>
              <a:t>NOT</a:t>
            </a:r>
            <a:r>
              <a:rPr lang="en-US" altLang="zh-CN" sz="1000" b="1">
                <a:cs typeface="Lato Light"/>
              </a:rPr>
              <a:t> supported for:</a:t>
            </a:r>
            <a:endParaRPr lang="en-US" altLang="zh-CN" sz="1000">
              <a:cs typeface="Lato Light"/>
            </a:endParaRPr>
          </a:p>
          <a:p>
            <a:r>
              <a:rPr lang="en-US" altLang="zh-CN" sz="1000">
                <a:cs typeface="Lato Light"/>
              </a:rPr>
              <a:t>Internal Customer (AFE Internal Funders) or Vendor.</a:t>
            </a:r>
          </a:p>
          <a:p>
            <a:endParaRPr lang="en-US" altLang="zh-CN" sz="1000">
              <a:cs typeface="Lato Light"/>
            </a:endParaRPr>
          </a:p>
          <a:p>
            <a:r>
              <a:rPr lang="en-US" sz="1000">
                <a:cs typeface="Lato Light"/>
              </a:rPr>
              <a:t>These accounts are maintained manually by the Finance team in </a:t>
            </a:r>
            <a:r>
              <a:rPr lang="en-US" sz="1000" err="1">
                <a:cs typeface="Lato Light"/>
              </a:rPr>
              <a:t>Nexbill</a:t>
            </a:r>
            <a:r>
              <a:rPr lang="en-US" sz="1000">
                <a:cs typeface="Lato Light"/>
              </a:rPr>
              <a:t> according to the corresponding business process.</a:t>
            </a:r>
          </a:p>
        </p:txBody>
      </p:sp>
      <p:sp>
        <p:nvSpPr>
          <p:cNvPr id="9" name="Text 2">
            <a:extLst>
              <a:ext uri="{FF2B5EF4-FFF2-40B4-BE49-F238E27FC236}">
                <a16:creationId xmlns:a16="http://schemas.microsoft.com/office/drawing/2014/main" id="{220D4D9F-0E02-67D9-0134-7CDEB7A9E14A}"/>
              </a:ext>
            </a:extLst>
          </p:cNvPr>
          <p:cNvSpPr/>
          <p:nvPr/>
        </p:nvSpPr>
        <p:spPr>
          <a:xfrm>
            <a:off x="320181" y="718743"/>
            <a:ext cx="11639523" cy="700016"/>
          </a:xfrm>
          <a:prstGeom prst="rect">
            <a:avLst/>
          </a:prstGeom>
          <a:noFill/>
          <a:ln/>
        </p:spPr>
        <p:txBody>
          <a:bodyPr wrap="square" lIns="0" tIns="0" rIns="0" bIns="0" rtlCol="0" anchor="ctr">
            <a:normAutofit/>
          </a:bodyPr>
          <a:lstStyle/>
          <a:p>
            <a:r>
              <a:rPr lang="en-US" altLang="zh-CN" sz="1200"/>
              <a:t>The Account Master Search page also provides integration with the Account Service interface to create new account master records, manual creation capabilities.</a:t>
            </a:r>
          </a:p>
          <a:p>
            <a:r>
              <a:rPr lang="en-US" altLang="zh-CN" sz="1200"/>
              <a:t>Account master records are normally created automatically through system integrations, including EPR inbound processes and source systems such as Account Service.</a:t>
            </a:r>
          </a:p>
          <a:p>
            <a:r>
              <a:rPr lang="en-US" altLang="zh-CN" sz="1200"/>
              <a:t>Manual creation functions, including New, Copy and Pull From AS, are provided primarily for </a:t>
            </a:r>
            <a:r>
              <a:rPr lang="en-US" altLang="zh-CN" sz="1200" b="1"/>
              <a:t>exceptional business scenarios </a:t>
            </a:r>
            <a:r>
              <a:rPr lang="en-US" altLang="zh-CN" sz="1200"/>
              <a:t>and are </a:t>
            </a:r>
            <a:r>
              <a:rPr lang="en-US" altLang="zh-CN" sz="1200" b="1"/>
              <a:t>restricted to authorized users</a:t>
            </a:r>
            <a:r>
              <a:rPr lang="en-US" altLang="zh-CN" sz="1200"/>
              <a:t>.</a:t>
            </a:r>
          </a:p>
        </p:txBody>
      </p:sp>
      <p:sp>
        <p:nvSpPr>
          <p:cNvPr id="2" name="TextBox 97">
            <a:extLst>
              <a:ext uri="{FF2B5EF4-FFF2-40B4-BE49-F238E27FC236}">
                <a16:creationId xmlns:a16="http://schemas.microsoft.com/office/drawing/2014/main" id="{27E89B9A-F773-2240-36CB-95F9F0CF779C}"/>
              </a:ext>
            </a:extLst>
          </p:cNvPr>
          <p:cNvSpPr txBox="1"/>
          <p:nvPr/>
        </p:nvSpPr>
        <p:spPr>
          <a:xfrm>
            <a:off x="7296529" y="1492665"/>
            <a:ext cx="3607954" cy="292388"/>
          </a:xfrm>
          <a:prstGeom prst="rect">
            <a:avLst/>
          </a:prstGeom>
          <a:noFill/>
        </p:spPr>
        <p:txBody>
          <a:bodyPr wrap="square" rtlCol="0">
            <a:spAutoFit/>
          </a:bodyPr>
          <a:lstStyle/>
          <a:p>
            <a:r>
              <a:rPr lang="en-US" sz="1300" b="1">
                <a:solidFill>
                  <a:srgbClr val="4646C3"/>
                </a:solidFill>
                <a:latin typeface="+mj-lt"/>
                <a:cs typeface="Lato Regular"/>
              </a:rPr>
              <a:t>Action Buttons - </a:t>
            </a:r>
            <a:r>
              <a:rPr lang="en-US" altLang="zh-CN" sz="1300" b="1">
                <a:solidFill>
                  <a:srgbClr val="4646C3"/>
                </a:solidFill>
                <a:cs typeface="Lato Regular"/>
              </a:rPr>
              <a:t>T</a:t>
            </a:r>
            <a:r>
              <a:rPr lang="zh-CN" altLang="en-US" sz="1300" b="1">
                <a:solidFill>
                  <a:srgbClr val="4646C3"/>
                </a:solidFill>
                <a:cs typeface="Lato Regular"/>
              </a:rPr>
              <a:t>ake </a:t>
            </a:r>
            <a:r>
              <a:rPr lang="en-US" altLang="zh-CN" sz="1300" b="1">
                <a:solidFill>
                  <a:srgbClr val="4646C3"/>
                </a:solidFill>
                <a:cs typeface="Lato Regular"/>
              </a:rPr>
              <a:t>E</a:t>
            </a:r>
            <a:r>
              <a:rPr lang="zh-CN" altLang="en-US" sz="1300" b="1">
                <a:solidFill>
                  <a:srgbClr val="4646C3"/>
                </a:solidFill>
                <a:cs typeface="Lato Regular"/>
              </a:rPr>
              <a:t>ffect </a:t>
            </a:r>
            <a:r>
              <a:rPr lang="en-US" altLang="zh-CN" sz="1300" b="1">
                <a:solidFill>
                  <a:srgbClr val="4646C3"/>
                </a:solidFill>
                <a:cs typeface="Lato Regular"/>
              </a:rPr>
              <a:t>I</a:t>
            </a:r>
            <a:r>
              <a:rPr lang="zh-CN" altLang="en-US" sz="1300" b="1">
                <a:solidFill>
                  <a:srgbClr val="4646C3"/>
                </a:solidFill>
                <a:cs typeface="Lato Regular"/>
              </a:rPr>
              <a:t>mmediately</a:t>
            </a:r>
            <a:endParaRPr lang="en-US" sz="1300" b="1">
              <a:solidFill>
                <a:srgbClr val="4646C3"/>
              </a:solidFill>
              <a:latin typeface="+mj-lt"/>
              <a:cs typeface="Lato Regular"/>
            </a:endParaRPr>
          </a:p>
        </p:txBody>
      </p:sp>
      <p:sp>
        <p:nvSpPr>
          <p:cNvPr id="5" name="Oval 114">
            <a:extLst>
              <a:ext uri="{FF2B5EF4-FFF2-40B4-BE49-F238E27FC236}">
                <a16:creationId xmlns:a16="http://schemas.microsoft.com/office/drawing/2014/main" id="{AE4DF672-9EC9-BD89-577A-35D37A52B731}"/>
              </a:ext>
            </a:extLst>
          </p:cNvPr>
          <p:cNvSpPr/>
          <p:nvPr/>
        </p:nvSpPr>
        <p:spPr>
          <a:xfrm>
            <a:off x="7067929" y="1524559"/>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7" name="图片 6">
            <a:extLst>
              <a:ext uri="{FF2B5EF4-FFF2-40B4-BE49-F238E27FC236}">
                <a16:creationId xmlns:a16="http://schemas.microsoft.com/office/drawing/2014/main" id="{536E9A9B-B408-1A71-2E37-5C42EEF16275}"/>
              </a:ext>
            </a:extLst>
          </p:cNvPr>
          <p:cNvPicPr>
            <a:picLocks noChangeAspect="1"/>
          </p:cNvPicPr>
          <p:nvPr/>
        </p:nvPicPr>
        <p:blipFill>
          <a:blip r:embed="rId2"/>
          <a:stretch>
            <a:fillRect/>
          </a:stretch>
        </p:blipFill>
        <p:spPr>
          <a:xfrm>
            <a:off x="320181" y="1569550"/>
            <a:ext cx="6569349" cy="3562763"/>
          </a:xfrm>
          <a:prstGeom prst="rect">
            <a:avLst/>
          </a:prstGeom>
        </p:spPr>
      </p:pic>
      <p:pic>
        <p:nvPicPr>
          <p:cNvPr id="11" name="图片 10">
            <a:extLst>
              <a:ext uri="{FF2B5EF4-FFF2-40B4-BE49-F238E27FC236}">
                <a16:creationId xmlns:a16="http://schemas.microsoft.com/office/drawing/2014/main" id="{423FA387-2C6A-5BAD-8699-EE68C80D8E18}"/>
              </a:ext>
            </a:extLst>
          </p:cNvPr>
          <p:cNvPicPr>
            <a:picLocks noChangeAspect="1"/>
          </p:cNvPicPr>
          <p:nvPr/>
        </p:nvPicPr>
        <p:blipFill>
          <a:blip r:embed="rId3"/>
          <a:stretch>
            <a:fillRect/>
          </a:stretch>
        </p:blipFill>
        <p:spPr>
          <a:xfrm>
            <a:off x="2604686" y="2953405"/>
            <a:ext cx="2514462" cy="1770995"/>
          </a:xfrm>
          <a:prstGeom prst="rect">
            <a:avLst/>
          </a:prstGeom>
        </p:spPr>
      </p:pic>
      <p:sp>
        <p:nvSpPr>
          <p:cNvPr id="13" name="Oval 114">
            <a:extLst>
              <a:ext uri="{FF2B5EF4-FFF2-40B4-BE49-F238E27FC236}">
                <a16:creationId xmlns:a16="http://schemas.microsoft.com/office/drawing/2014/main" id="{056F434A-2A94-73E3-1B13-BD4379B7D28E}"/>
              </a:ext>
            </a:extLst>
          </p:cNvPr>
          <p:cNvSpPr/>
          <p:nvPr/>
        </p:nvSpPr>
        <p:spPr>
          <a:xfrm>
            <a:off x="4104012" y="2665482"/>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Tree>
    <p:extLst>
      <p:ext uri="{BB962C8B-B14F-4D97-AF65-F5344CB8AC3E}">
        <p14:creationId xmlns:p14="http://schemas.microsoft.com/office/powerpoint/2010/main" val="159758377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5"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13557-5A86-0620-9301-D79CAA217A3C}"/>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4E67A407-05D1-91F1-1CEA-49D47FEC069F}"/>
              </a:ext>
            </a:extLst>
          </p:cNvPr>
          <p:cNvPicPr>
            <a:picLocks noChangeAspect="1"/>
          </p:cNvPicPr>
          <p:nvPr/>
        </p:nvPicPr>
        <p:blipFill>
          <a:blip r:embed="rId2"/>
          <a:stretch>
            <a:fillRect/>
          </a:stretch>
        </p:blipFill>
        <p:spPr>
          <a:xfrm>
            <a:off x="402784" y="3869935"/>
            <a:ext cx="5793304" cy="1171350"/>
          </a:xfrm>
          <a:prstGeom prst="rect">
            <a:avLst/>
          </a:prstGeom>
        </p:spPr>
      </p:pic>
      <p:pic>
        <p:nvPicPr>
          <p:cNvPr id="19" name="图片 18">
            <a:extLst>
              <a:ext uri="{FF2B5EF4-FFF2-40B4-BE49-F238E27FC236}">
                <a16:creationId xmlns:a16="http://schemas.microsoft.com/office/drawing/2014/main" id="{789E45BE-B635-3C54-8BFD-36CE35B76CA2}"/>
              </a:ext>
            </a:extLst>
          </p:cNvPr>
          <p:cNvPicPr>
            <a:picLocks noChangeAspect="1"/>
          </p:cNvPicPr>
          <p:nvPr/>
        </p:nvPicPr>
        <p:blipFill>
          <a:blip r:embed="rId3"/>
          <a:stretch>
            <a:fillRect/>
          </a:stretch>
        </p:blipFill>
        <p:spPr>
          <a:xfrm>
            <a:off x="784402" y="4891449"/>
            <a:ext cx="4826467" cy="993554"/>
          </a:xfrm>
          <a:prstGeom prst="rect">
            <a:avLst/>
          </a:prstGeom>
        </p:spPr>
      </p:pic>
      <p:pic>
        <p:nvPicPr>
          <p:cNvPr id="8" name="图片 7">
            <a:extLst>
              <a:ext uri="{FF2B5EF4-FFF2-40B4-BE49-F238E27FC236}">
                <a16:creationId xmlns:a16="http://schemas.microsoft.com/office/drawing/2014/main" id="{E9777749-3194-FE1C-9202-F0E9DB9FBF64}"/>
              </a:ext>
            </a:extLst>
          </p:cNvPr>
          <p:cNvPicPr>
            <a:picLocks noChangeAspect="1"/>
          </p:cNvPicPr>
          <p:nvPr/>
        </p:nvPicPr>
        <p:blipFill>
          <a:blip r:embed="rId4"/>
          <a:stretch>
            <a:fillRect/>
          </a:stretch>
        </p:blipFill>
        <p:spPr>
          <a:xfrm>
            <a:off x="399394" y="1352266"/>
            <a:ext cx="4535598" cy="2549742"/>
          </a:xfrm>
          <a:prstGeom prst="rect">
            <a:avLst/>
          </a:prstGeom>
        </p:spPr>
      </p:pic>
      <p:sp>
        <p:nvSpPr>
          <p:cNvPr id="3" name="标题 2">
            <a:extLst>
              <a:ext uri="{FF2B5EF4-FFF2-40B4-BE49-F238E27FC236}">
                <a16:creationId xmlns:a16="http://schemas.microsoft.com/office/drawing/2014/main" id="{C22C0D01-A31C-F7FE-A84C-96C9E18EA382}"/>
              </a:ext>
            </a:extLst>
          </p:cNvPr>
          <p:cNvSpPr>
            <a:spLocks noGrp="1"/>
          </p:cNvSpPr>
          <p:nvPr>
            <p:ph type="title"/>
          </p:nvPr>
        </p:nvSpPr>
        <p:spPr/>
        <p:txBody>
          <a:bodyPr/>
          <a:lstStyle/>
          <a:p>
            <a:r>
              <a:rPr lang="en-US" altLang="zh-CN"/>
              <a:t>Account Master - Change</a:t>
            </a:r>
            <a:endParaRPr lang="zh-CN" altLang="en-US"/>
          </a:p>
        </p:txBody>
      </p:sp>
      <p:sp>
        <p:nvSpPr>
          <p:cNvPr id="2" name="Text 2">
            <a:extLst>
              <a:ext uri="{FF2B5EF4-FFF2-40B4-BE49-F238E27FC236}">
                <a16:creationId xmlns:a16="http://schemas.microsoft.com/office/drawing/2014/main" id="{9F7B71B5-F75A-DDD1-3777-42E7AC55E16D}"/>
              </a:ext>
            </a:extLst>
          </p:cNvPr>
          <p:cNvSpPr/>
          <p:nvPr/>
        </p:nvSpPr>
        <p:spPr>
          <a:xfrm>
            <a:off x="320181" y="769389"/>
            <a:ext cx="11639523" cy="509377"/>
          </a:xfrm>
          <a:prstGeom prst="rect">
            <a:avLst/>
          </a:prstGeom>
          <a:noFill/>
          <a:ln/>
        </p:spPr>
        <p:txBody>
          <a:bodyPr wrap="square" lIns="0" tIns="0" rIns="0" bIns="0" rtlCol="0" anchor="ctr">
            <a:normAutofit lnSpcReduction="10000"/>
          </a:bodyPr>
          <a:lstStyle/>
          <a:p>
            <a:r>
              <a:rPr lang="en-US" altLang="zh-CN" sz="1200"/>
              <a:t>Customer records are normally created and maintained through account service integrations. Manual maintenance functions are restricted to </a:t>
            </a:r>
            <a:r>
              <a:rPr lang="en-US" altLang="zh-CN" sz="1200" b="1"/>
              <a:t>authorized users</a:t>
            </a:r>
            <a:r>
              <a:rPr lang="en-US" altLang="zh-CN" sz="1200"/>
              <a:t>. </a:t>
            </a:r>
          </a:p>
          <a:p>
            <a:r>
              <a:rPr lang="en-US" altLang="zh-CN" sz="1200"/>
              <a:t>All changes must be submitted through a change request and reviewed by authorized approvers before becoming effective.</a:t>
            </a:r>
          </a:p>
          <a:p>
            <a:r>
              <a:rPr lang="en-US" altLang="zh-CN" sz="1200"/>
              <a:t>Only Edit actions require a Change Request and Approval. Operational actions such as New, Copy, and Pull From Source Systems take effect immediately.</a:t>
            </a:r>
          </a:p>
        </p:txBody>
      </p:sp>
      <p:sp>
        <p:nvSpPr>
          <p:cNvPr id="12" name="TextBox 93">
            <a:extLst>
              <a:ext uri="{FF2B5EF4-FFF2-40B4-BE49-F238E27FC236}">
                <a16:creationId xmlns:a16="http://schemas.microsoft.com/office/drawing/2014/main" id="{06405421-CE36-8FB3-3DA0-88221BBB2725}"/>
              </a:ext>
            </a:extLst>
          </p:cNvPr>
          <p:cNvSpPr txBox="1"/>
          <p:nvPr/>
        </p:nvSpPr>
        <p:spPr>
          <a:xfrm>
            <a:off x="7914829" y="1557999"/>
            <a:ext cx="3863877" cy="3170099"/>
          </a:xfrm>
          <a:prstGeom prst="rect">
            <a:avLst/>
          </a:prstGeom>
          <a:noFill/>
        </p:spPr>
        <p:txBody>
          <a:bodyPr wrap="square" rtlCol="0">
            <a:spAutoFit/>
          </a:bodyPr>
          <a:lstStyle/>
          <a:p>
            <a:r>
              <a:rPr lang="en-US" altLang="zh-CN" sz="1000" b="1">
                <a:cs typeface="Lato Light"/>
              </a:rPr>
              <a:t>Edit:</a:t>
            </a:r>
            <a:r>
              <a:rPr lang="en-US" altLang="zh-CN" sz="1000">
                <a:cs typeface="Lato Light"/>
              </a:rPr>
              <a:t> allows authorized users to submit modifications to account master data. Changes are not applied immediately after editing.</a:t>
            </a:r>
          </a:p>
          <a:p>
            <a:endParaRPr lang="en-US" altLang="zh-CN" sz="1000">
              <a:cs typeface="Lato Light"/>
            </a:endParaRPr>
          </a:p>
          <a:p>
            <a:r>
              <a:rPr lang="en-US" altLang="zh-CN" sz="1000">
                <a:cs typeface="Lato Light"/>
              </a:rPr>
              <a:t>When users submit their modifications:</a:t>
            </a:r>
          </a:p>
          <a:p>
            <a:r>
              <a:rPr lang="en-US" altLang="zh-CN" sz="1000">
                <a:cs typeface="Lato Light"/>
              </a:rPr>
              <a:t>1. A </a:t>
            </a:r>
            <a:r>
              <a:rPr lang="en-US" altLang="zh-CN" sz="1000" b="1">
                <a:cs typeface="Lato Light"/>
              </a:rPr>
              <a:t>Change Request </a:t>
            </a:r>
            <a:r>
              <a:rPr lang="en-US" altLang="zh-CN" sz="1000">
                <a:cs typeface="Lato Light"/>
              </a:rPr>
              <a:t>is automatically created.</a:t>
            </a:r>
          </a:p>
          <a:p>
            <a:r>
              <a:rPr lang="en-US" altLang="zh-CN" sz="1000">
                <a:cs typeface="Lato Light"/>
              </a:rPr>
              <a:t>2. The request is routed to the appropriate approver.</a:t>
            </a:r>
          </a:p>
          <a:p>
            <a:r>
              <a:rPr lang="en-US" altLang="zh-CN" sz="1000">
                <a:cs typeface="Lato Light"/>
              </a:rPr>
              <a:t>3. The approver reviews the request in the </a:t>
            </a:r>
            <a:r>
              <a:rPr lang="en-US" altLang="zh-CN" sz="1000" b="1">
                <a:cs typeface="Lato Light"/>
              </a:rPr>
              <a:t>Approval Center</a:t>
            </a:r>
            <a:r>
              <a:rPr lang="en-US" altLang="zh-CN" sz="1000">
                <a:cs typeface="Lato Light"/>
              </a:rPr>
              <a:t>.</a:t>
            </a:r>
          </a:p>
          <a:p>
            <a:r>
              <a:rPr lang="en-US" altLang="zh-CN" sz="1000">
                <a:cs typeface="Lato Light"/>
              </a:rPr>
              <a:t>4. The changes become effective only after approval is completed.</a:t>
            </a:r>
          </a:p>
          <a:p>
            <a:endParaRPr lang="en-US" altLang="zh-CN" sz="1000">
              <a:cs typeface="Lato Light"/>
            </a:endParaRPr>
          </a:p>
          <a:p>
            <a:r>
              <a:rPr lang="en-US" altLang="zh-CN" sz="1000" b="1">
                <a:cs typeface="Lato Light"/>
              </a:rPr>
              <a:t>Customer Invoice Profile cannot be modified in </a:t>
            </a:r>
            <a:r>
              <a:rPr lang="en-US" altLang="zh-CN" sz="1000" b="1" err="1">
                <a:cs typeface="Lato Light"/>
              </a:rPr>
              <a:t>NexBill</a:t>
            </a:r>
            <a:r>
              <a:rPr lang="en-US" altLang="zh-CN" sz="1000">
                <a:cs typeface="Lato Light"/>
              </a:rPr>
              <a:t>.</a:t>
            </a:r>
          </a:p>
          <a:p>
            <a:endParaRPr lang="en-US" altLang="zh-CN" sz="1000">
              <a:cs typeface="Lato Light"/>
            </a:endParaRPr>
          </a:p>
          <a:p>
            <a:r>
              <a:rPr lang="en-US" altLang="zh-CN" sz="1000" b="1">
                <a:cs typeface="Lato Light"/>
              </a:rPr>
              <a:t>Change Request</a:t>
            </a:r>
            <a:r>
              <a:rPr lang="en-US" altLang="zh-CN" sz="1000">
                <a:cs typeface="Lato Light"/>
              </a:rPr>
              <a:t>: displays all change requests associated with the account. This provides visibility into pending, approved, and rejected account changes.</a:t>
            </a:r>
          </a:p>
          <a:p>
            <a:endParaRPr lang="en-US" altLang="zh-CN" sz="1000">
              <a:cs typeface="Lato Light"/>
            </a:endParaRPr>
          </a:p>
          <a:p>
            <a:r>
              <a:rPr lang="en-US" altLang="zh-CN" sz="1000">
                <a:cs typeface="Lato Light"/>
              </a:rPr>
              <a:t>Users can click the </a:t>
            </a:r>
            <a:r>
              <a:rPr lang="en-US" altLang="zh-CN" sz="1000" b="1">
                <a:cs typeface="Lato Light"/>
              </a:rPr>
              <a:t>Change Request ID </a:t>
            </a:r>
            <a:r>
              <a:rPr lang="en-US" altLang="zh-CN" sz="1000">
                <a:cs typeface="Lato Light"/>
              </a:rPr>
              <a:t>to open the Change Request Detail page and review the request information.</a:t>
            </a:r>
          </a:p>
          <a:p>
            <a:endParaRPr lang="en-US" altLang="zh-CN" sz="1000" b="1">
              <a:cs typeface="Lato Light"/>
            </a:endParaRPr>
          </a:p>
          <a:p>
            <a:r>
              <a:rPr lang="en-US" altLang="zh-CN" sz="1000" b="1">
                <a:cs typeface="Lato Light"/>
              </a:rPr>
              <a:t>The Approval Center will be introduced in the following document.</a:t>
            </a:r>
          </a:p>
        </p:txBody>
      </p:sp>
      <p:pic>
        <p:nvPicPr>
          <p:cNvPr id="18" name="图片 17">
            <a:extLst>
              <a:ext uri="{FF2B5EF4-FFF2-40B4-BE49-F238E27FC236}">
                <a16:creationId xmlns:a16="http://schemas.microsoft.com/office/drawing/2014/main" id="{D6E7549B-541C-99EF-1D10-3E72FE19334F}"/>
              </a:ext>
            </a:extLst>
          </p:cNvPr>
          <p:cNvPicPr>
            <a:picLocks noChangeAspect="1"/>
          </p:cNvPicPr>
          <p:nvPr/>
        </p:nvPicPr>
        <p:blipFill>
          <a:blip r:embed="rId5"/>
          <a:stretch>
            <a:fillRect/>
          </a:stretch>
        </p:blipFill>
        <p:spPr>
          <a:xfrm>
            <a:off x="4649139" y="1348007"/>
            <a:ext cx="677871" cy="363146"/>
          </a:xfrm>
          <a:prstGeom prst="rect">
            <a:avLst/>
          </a:prstGeom>
        </p:spPr>
      </p:pic>
      <p:sp>
        <p:nvSpPr>
          <p:cNvPr id="5" name="TextBox 72">
            <a:extLst>
              <a:ext uri="{FF2B5EF4-FFF2-40B4-BE49-F238E27FC236}">
                <a16:creationId xmlns:a16="http://schemas.microsoft.com/office/drawing/2014/main" id="{25474ED4-EA57-76C4-AB21-8F27E79C768D}"/>
              </a:ext>
            </a:extLst>
          </p:cNvPr>
          <p:cNvSpPr txBox="1"/>
          <p:nvPr/>
        </p:nvSpPr>
        <p:spPr>
          <a:xfrm>
            <a:off x="7914829" y="1282794"/>
            <a:ext cx="3646549"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Edit &amp; Change Request - Approval Required</a:t>
            </a:r>
          </a:p>
        </p:txBody>
      </p:sp>
      <p:sp>
        <p:nvSpPr>
          <p:cNvPr id="6" name="Oval 111">
            <a:extLst>
              <a:ext uri="{FF2B5EF4-FFF2-40B4-BE49-F238E27FC236}">
                <a16:creationId xmlns:a16="http://schemas.microsoft.com/office/drawing/2014/main" id="{AA263B46-2C61-CDC6-A9FE-345225E8656D}"/>
              </a:ext>
            </a:extLst>
          </p:cNvPr>
          <p:cNvSpPr/>
          <p:nvPr/>
        </p:nvSpPr>
        <p:spPr>
          <a:xfrm>
            <a:off x="7686230" y="131468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7" name="Oval 111">
            <a:extLst>
              <a:ext uri="{FF2B5EF4-FFF2-40B4-BE49-F238E27FC236}">
                <a16:creationId xmlns:a16="http://schemas.microsoft.com/office/drawing/2014/main" id="{638D130E-2E80-914C-41E2-ECDF2DECC4A1}"/>
              </a:ext>
            </a:extLst>
          </p:cNvPr>
          <p:cNvSpPr/>
          <p:nvPr/>
        </p:nvSpPr>
        <p:spPr>
          <a:xfrm>
            <a:off x="4658261" y="1393474"/>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9" name="Oval 111">
            <a:extLst>
              <a:ext uri="{FF2B5EF4-FFF2-40B4-BE49-F238E27FC236}">
                <a16:creationId xmlns:a16="http://schemas.microsoft.com/office/drawing/2014/main" id="{B9A89FE9-2D72-5126-B503-D2A3D0232D89}"/>
              </a:ext>
            </a:extLst>
          </p:cNvPr>
          <p:cNvSpPr/>
          <p:nvPr/>
        </p:nvSpPr>
        <p:spPr>
          <a:xfrm>
            <a:off x="4543576" y="429778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3" name="TextBox 82">
            <a:extLst>
              <a:ext uri="{FF2B5EF4-FFF2-40B4-BE49-F238E27FC236}">
                <a16:creationId xmlns:a16="http://schemas.microsoft.com/office/drawing/2014/main" id="{BB866B87-DF6A-7A57-0EFB-ED003E461B0A}"/>
              </a:ext>
            </a:extLst>
          </p:cNvPr>
          <p:cNvSpPr txBox="1"/>
          <p:nvPr/>
        </p:nvSpPr>
        <p:spPr>
          <a:xfrm>
            <a:off x="7914829" y="4710915"/>
            <a:ext cx="1939214" cy="292388"/>
          </a:xfrm>
          <a:prstGeom prst="rect">
            <a:avLst/>
          </a:prstGeom>
          <a:noFill/>
        </p:spPr>
        <p:txBody>
          <a:bodyPr wrap="square" rtlCol="0">
            <a:spAutoFit/>
          </a:bodyPr>
          <a:lstStyle/>
          <a:p>
            <a:r>
              <a:rPr lang="en-US" sz="1300" b="1">
                <a:solidFill>
                  <a:srgbClr val="126C36"/>
                </a:solidFill>
                <a:cs typeface="Lato Regular"/>
              </a:rPr>
              <a:t>Change History</a:t>
            </a:r>
          </a:p>
        </p:txBody>
      </p:sp>
      <p:sp>
        <p:nvSpPr>
          <p:cNvPr id="14" name="Oval 112">
            <a:extLst>
              <a:ext uri="{FF2B5EF4-FFF2-40B4-BE49-F238E27FC236}">
                <a16:creationId xmlns:a16="http://schemas.microsoft.com/office/drawing/2014/main" id="{2EC81B9B-D2F8-9291-9BCD-6FDA0658ECF4}"/>
              </a:ext>
            </a:extLst>
          </p:cNvPr>
          <p:cNvSpPr/>
          <p:nvPr/>
        </p:nvSpPr>
        <p:spPr>
          <a:xfrm>
            <a:off x="7686231" y="4739666"/>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5" name="TextBox 93">
            <a:extLst>
              <a:ext uri="{FF2B5EF4-FFF2-40B4-BE49-F238E27FC236}">
                <a16:creationId xmlns:a16="http://schemas.microsoft.com/office/drawing/2014/main" id="{7A01EACE-7FA4-8E13-E1B0-D67DF1D6B07B}"/>
              </a:ext>
            </a:extLst>
          </p:cNvPr>
          <p:cNvSpPr txBox="1"/>
          <p:nvPr/>
        </p:nvSpPr>
        <p:spPr>
          <a:xfrm>
            <a:off x="7914829" y="4959755"/>
            <a:ext cx="3819971" cy="400110"/>
          </a:xfrm>
          <a:prstGeom prst="rect">
            <a:avLst/>
          </a:prstGeom>
          <a:noFill/>
        </p:spPr>
        <p:txBody>
          <a:bodyPr wrap="square" rtlCol="0">
            <a:spAutoFit/>
          </a:bodyPr>
          <a:lstStyle/>
          <a:p>
            <a:r>
              <a:rPr lang="en-US" altLang="zh-CN" sz="1000">
                <a:cs typeface="Lato Light"/>
              </a:rPr>
              <a:t>The Change History tab maintains a complete audit trail of approved account master updates.</a:t>
            </a:r>
            <a:endParaRPr lang="en-US" altLang="zh-CN" sz="1000" b="1">
              <a:cs typeface="Lato Light"/>
            </a:endParaRPr>
          </a:p>
        </p:txBody>
      </p:sp>
      <p:pic>
        <p:nvPicPr>
          <p:cNvPr id="16" name="图片 15">
            <a:extLst>
              <a:ext uri="{FF2B5EF4-FFF2-40B4-BE49-F238E27FC236}">
                <a16:creationId xmlns:a16="http://schemas.microsoft.com/office/drawing/2014/main" id="{19F7B17C-AAEF-AD78-F96F-5A47602A5290}"/>
              </a:ext>
            </a:extLst>
          </p:cNvPr>
          <p:cNvPicPr>
            <a:picLocks noChangeAspect="1"/>
          </p:cNvPicPr>
          <p:nvPr/>
        </p:nvPicPr>
        <p:blipFill>
          <a:blip r:embed="rId6"/>
          <a:stretch>
            <a:fillRect/>
          </a:stretch>
        </p:blipFill>
        <p:spPr>
          <a:xfrm>
            <a:off x="2703509" y="5316595"/>
            <a:ext cx="4826467" cy="1428261"/>
          </a:xfrm>
          <a:prstGeom prst="rect">
            <a:avLst/>
          </a:prstGeom>
        </p:spPr>
      </p:pic>
      <p:sp>
        <p:nvSpPr>
          <p:cNvPr id="17" name="Oval 112">
            <a:extLst>
              <a:ext uri="{FF2B5EF4-FFF2-40B4-BE49-F238E27FC236}">
                <a16:creationId xmlns:a16="http://schemas.microsoft.com/office/drawing/2014/main" id="{2BE54677-061C-52EB-CD02-FC3FCC2862DE}"/>
              </a:ext>
            </a:extLst>
          </p:cNvPr>
          <p:cNvSpPr/>
          <p:nvPr/>
        </p:nvSpPr>
        <p:spPr>
          <a:xfrm>
            <a:off x="5901314" y="560658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35576325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6" grpId="0" animBg="1"/>
      <p:bldP spid="7" grpId="0" animBg="1"/>
      <p:bldP spid="9" grpId="0" animBg="1"/>
      <p:bldP spid="13" grpId="0"/>
      <p:bldP spid="14" grpId="0" animBg="1"/>
      <p:bldP spid="15" grpId="0"/>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51271-DD95-5B46-D2E4-F5A3433B5FAA}"/>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6774D40F-C94B-56E9-D679-D11D078D1F46}"/>
              </a:ext>
            </a:extLst>
          </p:cNvPr>
          <p:cNvSpPr>
            <a:spLocks noGrp="1"/>
          </p:cNvSpPr>
          <p:nvPr>
            <p:ph type="body" idx="11"/>
          </p:nvPr>
        </p:nvSpPr>
        <p:spPr>
          <a:xfrm>
            <a:off x="750528" y="5517488"/>
            <a:ext cx="6265272" cy="133626"/>
          </a:xfrm>
        </p:spPr>
        <p:txBody>
          <a:bodyPr/>
          <a:lstStyle/>
          <a:p>
            <a:r>
              <a:rPr lang="en-US" altLang="zh-CN" sz="1000"/>
              <a:t>Duration:		10 Minutes</a:t>
            </a:r>
            <a:endParaRPr lang="zh-CN" altLang="en-US" sz="1000"/>
          </a:p>
        </p:txBody>
      </p:sp>
      <p:sp>
        <p:nvSpPr>
          <p:cNvPr id="5" name="文本占位符 4">
            <a:extLst>
              <a:ext uri="{FF2B5EF4-FFF2-40B4-BE49-F238E27FC236}">
                <a16:creationId xmlns:a16="http://schemas.microsoft.com/office/drawing/2014/main" id="{75BDEA08-64CF-BA2B-7C43-A9DC0CBFDCDD}"/>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Entitled Price Record		- Joy Jiang</a:t>
            </a:r>
          </a:p>
        </p:txBody>
      </p:sp>
      <p:sp>
        <p:nvSpPr>
          <p:cNvPr id="7" name="标题 1">
            <a:extLst>
              <a:ext uri="{FF2B5EF4-FFF2-40B4-BE49-F238E27FC236}">
                <a16:creationId xmlns:a16="http://schemas.microsoft.com/office/drawing/2014/main" id="{99262181-F34E-2081-BB7F-8661C8B5C993}"/>
              </a:ext>
            </a:extLst>
          </p:cNvPr>
          <p:cNvSpPr>
            <a:spLocks noGrp="1"/>
          </p:cNvSpPr>
          <p:nvPr>
            <p:ph type="title"/>
          </p:nvPr>
        </p:nvSpPr>
        <p:spPr>
          <a:xfrm>
            <a:off x="267691" y="1412760"/>
            <a:ext cx="7179970" cy="965108"/>
          </a:xfrm>
        </p:spPr>
        <p:txBody>
          <a:bodyPr/>
          <a:lstStyle/>
          <a:p>
            <a:r>
              <a:rPr lang="en-US" altLang="zh-CN" sz="4800"/>
              <a:t>4. Entitled Price Record</a:t>
            </a:r>
            <a:endParaRPr lang="zh-CN" altLang="en-US" sz="4800"/>
          </a:p>
        </p:txBody>
      </p:sp>
    </p:spTree>
    <p:extLst>
      <p:ext uri="{BB962C8B-B14F-4D97-AF65-F5344CB8AC3E}">
        <p14:creationId xmlns:p14="http://schemas.microsoft.com/office/powerpoint/2010/main" val="311805978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3E7ACA-69FD-5BC8-0ABC-3BA5AAE2BD84}"/>
              </a:ext>
            </a:extLst>
          </p:cNvPr>
          <p:cNvSpPr>
            <a:spLocks noGrp="1"/>
          </p:cNvSpPr>
          <p:nvPr>
            <p:ph type="title"/>
          </p:nvPr>
        </p:nvSpPr>
        <p:spPr/>
        <p:txBody>
          <a:bodyPr wrap="square"/>
          <a:lstStyle/>
          <a:p>
            <a:r>
              <a:rPr lang="en-US" altLang="zh-CN">
                <a:latin typeface="+mj-lt"/>
              </a:rPr>
              <a:t>EPR — Use the Right Commercial Record</a:t>
            </a:r>
            <a:endParaRPr lang="zh-CN" altLang="en-US">
              <a:latin typeface="+mj-lt"/>
            </a:endParaRPr>
          </a:p>
        </p:txBody>
      </p:sp>
      <p:sp>
        <p:nvSpPr>
          <p:cNvPr id="2" name="Text 2">
            <a:extLst>
              <a:ext uri="{FF2B5EF4-FFF2-40B4-BE49-F238E27FC236}">
                <a16:creationId xmlns:a16="http://schemas.microsoft.com/office/drawing/2014/main" id="{8D3EC9C9-18EE-EEEA-9AFA-4446F2A3E29E}"/>
              </a:ext>
            </a:extLst>
          </p:cNvPr>
          <p:cNvSpPr/>
          <p:nvPr/>
        </p:nvSpPr>
        <p:spPr>
          <a:xfrm>
            <a:off x="356968" y="748486"/>
            <a:ext cx="10881360" cy="310896"/>
          </a:xfrm>
          <a:prstGeom prst="rect">
            <a:avLst/>
          </a:prstGeom>
          <a:noFill/>
          <a:ln/>
        </p:spPr>
        <p:txBody>
          <a:bodyPr wrap="square" lIns="0" tIns="0" rIns="0" bIns="0" rtlCol="0" anchor="ctr">
            <a:normAutofit/>
          </a:bodyPr>
          <a:lstStyle/>
          <a:p>
            <a:pPr marL="0" indent="0" algn="l">
              <a:buNone/>
            </a:pPr>
            <a:r>
              <a:rPr lang="en-US" sz="1200">
                <a:solidFill>
                  <a:srgbClr val="5C6675"/>
                </a:solidFill>
                <a:latin typeface="+mj-lt"/>
                <a:ea typeface="Arial" pitchFamily="34" charset="-122"/>
                <a:cs typeface="Arial" pitchFamily="34" charset="-120"/>
              </a:rPr>
              <a:t>Use Entitled Price Record when you need to confirm the approved commercial setup behind subscription orders and billing.</a:t>
            </a:r>
            <a:endParaRPr lang="en-US" sz="1200">
              <a:latin typeface="+mj-lt"/>
            </a:endParaRPr>
          </a:p>
        </p:txBody>
      </p:sp>
      <p:sp>
        <p:nvSpPr>
          <p:cNvPr id="7" name="Shape 3">
            <a:extLst>
              <a:ext uri="{FF2B5EF4-FFF2-40B4-BE49-F238E27FC236}">
                <a16:creationId xmlns:a16="http://schemas.microsoft.com/office/drawing/2014/main" id="{12E8040B-2E1E-4B37-64A7-6E7D9410D5BF}"/>
              </a:ext>
            </a:extLst>
          </p:cNvPr>
          <p:cNvSpPr/>
          <p:nvPr/>
        </p:nvSpPr>
        <p:spPr>
          <a:xfrm>
            <a:off x="356968" y="1203960"/>
            <a:ext cx="10916992" cy="381781"/>
          </a:xfrm>
          <a:prstGeom prst="roundRect">
            <a:avLst>
              <a:gd name="adj" fmla="val 12903"/>
            </a:avLst>
          </a:prstGeom>
          <a:solidFill>
            <a:srgbClr val="EEF4FB"/>
          </a:solidFill>
          <a:ln w="12700">
            <a:solidFill>
              <a:srgbClr val="B8CCE5"/>
            </a:solidFill>
            <a:prstDash val="solid"/>
          </a:ln>
        </p:spPr>
        <p:txBody>
          <a:bodyPr wrap="square"/>
          <a:lstStyle/>
          <a:p>
            <a:endParaRPr lang="zh-CN" altLang="en-US">
              <a:latin typeface="+mj-lt"/>
            </a:endParaRPr>
          </a:p>
        </p:txBody>
      </p:sp>
      <p:sp>
        <p:nvSpPr>
          <p:cNvPr id="8" name="Text 4">
            <a:extLst>
              <a:ext uri="{FF2B5EF4-FFF2-40B4-BE49-F238E27FC236}">
                <a16:creationId xmlns:a16="http://schemas.microsoft.com/office/drawing/2014/main" id="{148382F2-D08C-E63C-4C2B-103B075BBE6F}"/>
              </a:ext>
            </a:extLst>
          </p:cNvPr>
          <p:cNvSpPr/>
          <p:nvPr/>
        </p:nvSpPr>
        <p:spPr>
          <a:xfrm>
            <a:off x="573442" y="1280467"/>
            <a:ext cx="1143000" cy="22860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MESSAGE</a:t>
            </a:r>
            <a:endParaRPr lang="en-US" sz="1100">
              <a:latin typeface="+mj-lt"/>
            </a:endParaRPr>
          </a:p>
        </p:txBody>
      </p:sp>
      <p:sp>
        <p:nvSpPr>
          <p:cNvPr id="10" name="Text 5">
            <a:extLst>
              <a:ext uri="{FF2B5EF4-FFF2-40B4-BE49-F238E27FC236}">
                <a16:creationId xmlns:a16="http://schemas.microsoft.com/office/drawing/2014/main" id="{70FC27AA-6910-EE87-72AA-7CD182AD4CDE}"/>
              </a:ext>
            </a:extLst>
          </p:cNvPr>
          <p:cNvSpPr/>
          <p:nvPr/>
        </p:nvSpPr>
        <p:spPr>
          <a:xfrm>
            <a:off x="1728568" y="1259245"/>
            <a:ext cx="9601200" cy="274320"/>
          </a:xfrm>
          <a:prstGeom prst="rect">
            <a:avLst/>
          </a:prstGeom>
          <a:noFill/>
          <a:ln/>
        </p:spPr>
        <p:txBody>
          <a:bodyPr wrap="square" lIns="0" tIns="0" rIns="0" bIns="0" rtlCol="0" anchor="ctr">
            <a:normAutofit fontScale="85000" lnSpcReduction="10000"/>
          </a:bodyPr>
          <a:lstStyle/>
          <a:p>
            <a:pPr marL="0" indent="0" algn="l">
              <a:buNone/>
            </a:pPr>
            <a:r>
              <a:rPr lang="en-US" sz="1400" b="1">
                <a:solidFill>
                  <a:srgbClr val="0B2D6B"/>
                </a:solidFill>
                <a:latin typeface="+mj-lt"/>
                <a:ea typeface="Arial" pitchFamily="34" charset="-122"/>
                <a:cs typeface="Arial" pitchFamily="34" charset="-120"/>
              </a:rPr>
              <a:t>Use NexBill to find, review, and trace EPRs; for standard changes, start in Contract Center and let the approved version flow back.</a:t>
            </a:r>
            <a:endParaRPr lang="en-US" sz="1400">
              <a:latin typeface="+mj-lt"/>
            </a:endParaRPr>
          </a:p>
        </p:txBody>
      </p:sp>
      <p:sp>
        <p:nvSpPr>
          <p:cNvPr id="12" name="Shape 6">
            <a:extLst>
              <a:ext uri="{FF2B5EF4-FFF2-40B4-BE49-F238E27FC236}">
                <a16:creationId xmlns:a16="http://schemas.microsoft.com/office/drawing/2014/main" id="{C5B88BCD-721A-725D-7A6C-D872CDEAF96F}"/>
              </a:ext>
            </a:extLst>
          </p:cNvPr>
          <p:cNvSpPr/>
          <p:nvPr/>
        </p:nvSpPr>
        <p:spPr>
          <a:xfrm>
            <a:off x="356968" y="1698420"/>
            <a:ext cx="3337560" cy="2743200"/>
          </a:xfrm>
          <a:prstGeom prst="roundRect">
            <a:avLst>
              <a:gd name="adj" fmla="val 2388"/>
            </a:avLst>
          </a:prstGeom>
          <a:solidFill>
            <a:srgbClr val="F7FAFE"/>
          </a:solidFill>
          <a:ln w="12700">
            <a:solidFill>
              <a:srgbClr val="B8CCE5"/>
            </a:solidFill>
            <a:prstDash val="solid"/>
          </a:ln>
        </p:spPr>
        <p:txBody>
          <a:bodyPr wrap="square"/>
          <a:lstStyle/>
          <a:p>
            <a:endParaRPr lang="zh-CN" altLang="en-US">
              <a:latin typeface="+mj-lt"/>
            </a:endParaRPr>
          </a:p>
        </p:txBody>
      </p:sp>
      <p:sp>
        <p:nvSpPr>
          <p:cNvPr id="14" name="Text 7">
            <a:extLst>
              <a:ext uri="{FF2B5EF4-FFF2-40B4-BE49-F238E27FC236}">
                <a16:creationId xmlns:a16="http://schemas.microsoft.com/office/drawing/2014/main" id="{C60D4875-8FE7-AFE9-E13F-2824FF01B532}"/>
              </a:ext>
            </a:extLst>
          </p:cNvPr>
          <p:cNvSpPr/>
          <p:nvPr/>
        </p:nvSpPr>
        <p:spPr>
          <a:xfrm>
            <a:off x="558136"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1467B8"/>
                </a:solidFill>
                <a:latin typeface="+mj-lt"/>
                <a:ea typeface="Arial" pitchFamily="34" charset="-122"/>
                <a:cs typeface="Arial" pitchFamily="34" charset="-120"/>
              </a:rPr>
              <a:t>1  WHEN TO USE EPR</a:t>
            </a:r>
            <a:endParaRPr lang="en-US" sz="1400">
              <a:latin typeface="+mj-lt"/>
            </a:endParaRPr>
          </a:p>
        </p:txBody>
      </p:sp>
      <p:sp>
        <p:nvSpPr>
          <p:cNvPr id="24" name="Text 17">
            <a:extLst>
              <a:ext uri="{FF2B5EF4-FFF2-40B4-BE49-F238E27FC236}">
                <a16:creationId xmlns:a16="http://schemas.microsoft.com/office/drawing/2014/main" id="{8BDBB20C-A7E6-8E08-F6F0-EB45010C2C7E}"/>
              </a:ext>
            </a:extLst>
          </p:cNvPr>
          <p:cNvSpPr/>
          <p:nvPr/>
        </p:nvSpPr>
        <p:spPr>
          <a:xfrm>
            <a:off x="612648" y="2286000"/>
            <a:ext cx="2834640" cy="1874519"/>
          </a:xfrm>
          <a:prstGeom prst="rect">
            <a:avLst/>
          </a:prstGeom>
          <a:noFill/>
          <a:ln/>
        </p:spPr>
        <p:txBody>
          <a:bodyPr wrap="square" lIns="27432" tIns="27432" rIns="27432" bIns="18288" rtlCol="0" anchor="t">
            <a:normAutofit lnSpcReduction="10000"/>
          </a:bodyPr>
          <a:lstStyle/>
          <a:p>
            <a:pPr marL="0" indent="0" algn="l">
              <a:lnSpc>
                <a:spcPct val="105000"/>
              </a:lnSpc>
              <a:spcAft>
                <a:spcPts val="700"/>
              </a:spcAft>
              <a:buNone/>
            </a:pPr>
            <a:r>
              <a:rPr sz="1250">
                <a:solidFill>
                  <a:srgbClr val="202833"/>
                </a:solidFill>
                <a:latin typeface="+mj-lt"/>
              </a:rPr>
              <a:t>• Before creating or reviewing a subscription order
• When validating products, parties, pricing, terms or billing model
• When investigating missing, error, inactive or outdated EPR data
• When checking IaaS usage pricing or linked downstream records</a:t>
            </a:r>
            <a:endParaRPr lang="en-US" sz="1100">
              <a:latin typeface="+mj-lt"/>
            </a:endParaRPr>
          </a:p>
        </p:txBody>
      </p:sp>
      <p:sp>
        <p:nvSpPr>
          <p:cNvPr id="25" name="Shape 18">
            <a:extLst>
              <a:ext uri="{FF2B5EF4-FFF2-40B4-BE49-F238E27FC236}">
                <a16:creationId xmlns:a16="http://schemas.microsoft.com/office/drawing/2014/main" id="{6775DEFE-CDE3-21E5-CC43-53580B272089}"/>
              </a:ext>
            </a:extLst>
          </p:cNvPr>
          <p:cNvSpPr/>
          <p:nvPr/>
        </p:nvSpPr>
        <p:spPr>
          <a:xfrm>
            <a:off x="4146684" y="1698420"/>
            <a:ext cx="3337560" cy="2743200"/>
          </a:xfrm>
          <a:prstGeom prst="roundRect">
            <a:avLst>
              <a:gd name="adj" fmla="val 2388"/>
            </a:avLst>
          </a:prstGeom>
          <a:solidFill>
            <a:srgbClr val="FBFAFE"/>
          </a:solidFill>
          <a:ln w="12700">
            <a:solidFill>
              <a:srgbClr val="D2C5E8"/>
            </a:solidFill>
            <a:prstDash val="solid"/>
          </a:ln>
        </p:spPr>
        <p:txBody>
          <a:bodyPr wrap="square"/>
          <a:lstStyle/>
          <a:p>
            <a:endParaRPr lang="zh-CN" altLang="en-US">
              <a:latin typeface="+mj-lt"/>
            </a:endParaRPr>
          </a:p>
        </p:txBody>
      </p:sp>
      <p:sp>
        <p:nvSpPr>
          <p:cNvPr id="26" name="Text 19">
            <a:extLst>
              <a:ext uri="{FF2B5EF4-FFF2-40B4-BE49-F238E27FC236}">
                <a16:creationId xmlns:a16="http://schemas.microsoft.com/office/drawing/2014/main" id="{F16B4304-9D07-92BF-1CED-5E7122ECA145}"/>
              </a:ext>
            </a:extLst>
          </p:cNvPr>
          <p:cNvSpPr/>
          <p:nvPr/>
        </p:nvSpPr>
        <p:spPr>
          <a:xfrm>
            <a:off x="4347852"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6B3FA0"/>
                </a:solidFill>
                <a:latin typeface="+mj-lt"/>
                <a:ea typeface="Arial" pitchFamily="34" charset="-122"/>
                <a:cs typeface="Arial" pitchFamily="34" charset="-120"/>
              </a:rPr>
              <a:t>2  WHY IT MATTERS</a:t>
            </a:r>
            <a:endParaRPr lang="en-US" sz="1400">
              <a:latin typeface="+mj-lt"/>
            </a:endParaRPr>
          </a:p>
        </p:txBody>
      </p:sp>
      <p:sp>
        <p:nvSpPr>
          <p:cNvPr id="34" name="Text 26">
            <a:extLst>
              <a:ext uri="{FF2B5EF4-FFF2-40B4-BE49-F238E27FC236}">
                <a16:creationId xmlns:a16="http://schemas.microsoft.com/office/drawing/2014/main" id="{EF052F77-33BC-BF77-092B-F1888A924F28}"/>
              </a:ext>
            </a:extLst>
          </p:cNvPr>
          <p:cNvSpPr/>
          <p:nvPr/>
        </p:nvSpPr>
        <p:spPr>
          <a:xfrm>
            <a:off x="4398264" y="2286000"/>
            <a:ext cx="2834640" cy="1874519"/>
          </a:xfrm>
          <a:prstGeom prst="rect">
            <a:avLst/>
          </a:prstGeom>
          <a:noFill/>
          <a:ln/>
        </p:spPr>
        <p:txBody>
          <a:bodyPr wrap="square" lIns="27432" tIns="27432" rIns="27432" bIns="18288" rtlCol="0" anchor="t">
            <a:normAutofit fontScale="92500" lnSpcReduction="20000"/>
          </a:bodyPr>
          <a:lstStyle/>
          <a:p>
            <a:pPr marL="0" indent="0" algn="l">
              <a:lnSpc>
                <a:spcPct val="105000"/>
              </a:lnSpc>
              <a:spcAft>
                <a:spcPts val="700"/>
              </a:spcAft>
              <a:buNone/>
            </a:pPr>
            <a:r>
              <a:rPr sz="1250">
                <a:solidFill>
                  <a:srgbClr val="202833"/>
                </a:solidFill>
                <a:latin typeface="+mj-lt"/>
              </a:rPr>
              <a:t>• EPR is the approved commercial foundation for order and invoice processing
• Recurring vs. one-time prices are visible at item level
• Links connect users to Account, Product and related Subscription Orders
• Change Request and History provide control and traceability</a:t>
            </a:r>
            <a:endParaRPr lang="en-US" sz="1100">
              <a:latin typeface="+mj-lt"/>
            </a:endParaRPr>
          </a:p>
        </p:txBody>
      </p:sp>
      <p:sp>
        <p:nvSpPr>
          <p:cNvPr id="35" name="Shape 27">
            <a:extLst>
              <a:ext uri="{FF2B5EF4-FFF2-40B4-BE49-F238E27FC236}">
                <a16:creationId xmlns:a16="http://schemas.microsoft.com/office/drawing/2014/main" id="{D578B627-8840-937B-B526-B15F79AE3D3C}"/>
              </a:ext>
            </a:extLst>
          </p:cNvPr>
          <p:cNvSpPr/>
          <p:nvPr/>
        </p:nvSpPr>
        <p:spPr>
          <a:xfrm>
            <a:off x="7936400" y="1706197"/>
            <a:ext cx="3337560" cy="2743200"/>
          </a:xfrm>
          <a:prstGeom prst="roundRect">
            <a:avLst>
              <a:gd name="adj" fmla="val 2388"/>
            </a:avLst>
          </a:prstGeom>
          <a:solidFill>
            <a:srgbClr val="F8FCF5"/>
          </a:solidFill>
          <a:ln w="12700">
            <a:solidFill>
              <a:srgbClr val="C5DFB4"/>
            </a:solidFill>
            <a:prstDash val="solid"/>
          </a:ln>
        </p:spPr>
        <p:txBody>
          <a:bodyPr wrap="square"/>
          <a:lstStyle/>
          <a:p>
            <a:endParaRPr lang="zh-CN" altLang="en-US">
              <a:latin typeface="+mj-lt"/>
            </a:endParaRPr>
          </a:p>
        </p:txBody>
      </p:sp>
      <p:sp>
        <p:nvSpPr>
          <p:cNvPr id="36" name="Text 28">
            <a:extLst>
              <a:ext uri="{FF2B5EF4-FFF2-40B4-BE49-F238E27FC236}">
                <a16:creationId xmlns:a16="http://schemas.microsoft.com/office/drawing/2014/main" id="{1992E5A8-A434-0966-EDCF-60CC7F87A2A9}"/>
              </a:ext>
            </a:extLst>
          </p:cNvPr>
          <p:cNvSpPr/>
          <p:nvPr/>
        </p:nvSpPr>
        <p:spPr>
          <a:xfrm>
            <a:off x="8137568" y="1870789"/>
            <a:ext cx="2880360" cy="256032"/>
          </a:xfrm>
          <a:prstGeom prst="rect">
            <a:avLst/>
          </a:prstGeom>
          <a:noFill/>
          <a:ln/>
        </p:spPr>
        <p:txBody>
          <a:bodyPr wrap="square" lIns="0" tIns="0" rIns="0" bIns="0" rtlCol="0" anchor="ctr">
            <a:normAutofit/>
          </a:bodyPr>
          <a:lstStyle/>
          <a:p>
            <a:pPr marL="0" indent="0" algn="l">
              <a:buNone/>
            </a:pPr>
            <a:r>
              <a:rPr lang="en-US" sz="1400" b="1">
                <a:solidFill>
                  <a:srgbClr val="4A9B22"/>
                </a:solidFill>
                <a:latin typeface="+mj-lt"/>
                <a:ea typeface="Arial" pitchFamily="34" charset="-122"/>
                <a:cs typeface="Arial" pitchFamily="34" charset="-120"/>
              </a:rPr>
              <a:t>3  HOW TO USE IT</a:t>
            </a:r>
            <a:endParaRPr lang="en-US" sz="1400">
              <a:latin typeface="+mj-lt"/>
            </a:endParaRPr>
          </a:p>
        </p:txBody>
      </p:sp>
      <p:sp>
        <p:nvSpPr>
          <p:cNvPr id="43" name="Text 35">
            <a:extLst>
              <a:ext uri="{FF2B5EF4-FFF2-40B4-BE49-F238E27FC236}">
                <a16:creationId xmlns:a16="http://schemas.microsoft.com/office/drawing/2014/main" id="{24E73783-A617-9EB7-B379-D51FF8B0C8C4}"/>
              </a:ext>
            </a:extLst>
          </p:cNvPr>
          <p:cNvSpPr/>
          <p:nvPr/>
        </p:nvSpPr>
        <p:spPr>
          <a:xfrm>
            <a:off x="8183879" y="2286000"/>
            <a:ext cx="2834640" cy="1874519"/>
          </a:xfrm>
          <a:prstGeom prst="rect">
            <a:avLst/>
          </a:prstGeom>
          <a:noFill/>
          <a:ln/>
        </p:spPr>
        <p:txBody>
          <a:bodyPr wrap="square" lIns="27432" tIns="27432" rIns="27432" bIns="18288" rtlCol="0" anchor="t">
            <a:normAutofit fontScale="92500"/>
          </a:bodyPr>
          <a:lstStyle/>
          <a:p>
            <a:pPr marL="0" indent="0" algn="l">
              <a:lnSpc>
                <a:spcPct val="105000"/>
              </a:lnSpc>
              <a:spcAft>
                <a:spcPts val="700"/>
              </a:spcAft>
              <a:buNone/>
            </a:pPr>
            <a:r>
              <a:rPr sz="1250">
                <a:solidFill>
                  <a:srgbClr val="202833"/>
                </a:solidFill>
                <a:latin typeface="+mj-lt"/>
              </a:rPr>
              <a:t>• Search with flexible filters or saved searches, then open the EPR detail
• Review General, Parties, Items, pricing and related orders
• For normal changes: update in Contract Center, complete approval, then resync
• Use NexBill Edit only when authorized; approval is required</a:t>
            </a:r>
            <a:endParaRPr lang="en-US" sz="1100">
              <a:latin typeface="+mj-lt"/>
            </a:endParaRPr>
          </a:p>
        </p:txBody>
      </p:sp>
      <p:sp>
        <p:nvSpPr>
          <p:cNvPr id="46" name="Shape 38">
            <a:extLst>
              <a:ext uri="{FF2B5EF4-FFF2-40B4-BE49-F238E27FC236}">
                <a16:creationId xmlns:a16="http://schemas.microsoft.com/office/drawing/2014/main" id="{796CD512-209F-AF0C-385A-E54DF81FCDD2}"/>
              </a:ext>
            </a:extLst>
          </p:cNvPr>
          <p:cNvSpPr/>
          <p:nvPr/>
        </p:nvSpPr>
        <p:spPr>
          <a:xfrm>
            <a:off x="356968" y="4546515"/>
            <a:ext cx="10916992" cy="1887814"/>
          </a:xfrm>
          <a:prstGeom prst="roundRect">
            <a:avLst>
              <a:gd name="adj" fmla="val 6250"/>
            </a:avLst>
          </a:prstGeom>
          <a:solidFill>
            <a:srgbClr val="FFF8EF"/>
          </a:solidFill>
          <a:ln w="12700">
            <a:solidFill>
              <a:srgbClr val="F2C38D"/>
            </a:solidFill>
            <a:prstDash val="solid"/>
          </a:ln>
        </p:spPr>
        <p:txBody>
          <a:bodyPr wrap="square"/>
          <a:lstStyle/>
          <a:p>
            <a:endParaRPr lang="zh-CN" altLang="en-US">
              <a:latin typeface="+mj-lt"/>
            </a:endParaRPr>
          </a:p>
        </p:txBody>
      </p:sp>
      <p:sp>
        <p:nvSpPr>
          <p:cNvPr id="47" name="Text 39">
            <a:extLst>
              <a:ext uri="{FF2B5EF4-FFF2-40B4-BE49-F238E27FC236}">
                <a16:creationId xmlns:a16="http://schemas.microsoft.com/office/drawing/2014/main" id="{43212CD5-F510-5716-D611-FD0E9B42A64D}"/>
              </a:ext>
            </a:extLst>
          </p:cNvPr>
          <p:cNvSpPr/>
          <p:nvPr/>
        </p:nvSpPr>
        <p:spPr>
          <a:xfrm>
            <a:off x="667512" y="5806440"/>
            <a:ext cx="1508760" cy="256032"/>
          </a:xfrm>
          <a:prstGeom prst="rect">
            <a:avLst/>
          </a:prstGeom>
          <a:noFill/>
          <a:ln/>
        </p:spPr>
        <p:txBody>
          <a:bodyPr wrap="square" lIns="0" tIns="0" rIns="0" bIns="0" rtlCol="0" anchor="ctr">
            <a:noAutofit/>
          </a:bodyPr>
          <a:lstStyle/>
          <a:p>
            <a:pPr marL="0" indent="0" algn="l">
              <a:buNone/>
            </a:pPr>
            <a:r>
              <a:rPr lang="en-US" sz="1000" b="1">
                <a:solidFill>
                  <a:srgbClr val="0070C0"/>
                </a:solidFill>
                <a:latin typeface="+mj-lt"/>
                <a:cs typeface="Arial" pitchFamily="34" charset="-120"/>
              </a:rPr>
              <a:t>COMMON SCENARIOS</a:t>
            </a:r>
          </a:p>
        </p:txBody>
      </p:sp>
      <p:sp>
        <p:nvSpPr>
          <p:cNvPr id="48" name="Text 40">
            <a:extLst>
              <a:ext uri="{FF2B5EF4-FFF2-40B4-BE49-F238E27FC236}">
                <a16:creationId xmlns:a16="http://schemas.microsoft.com/office/drawing/2014/main" id="{9ED07268-E6B6-5D0A-2835-243DCC71CEBC}"/>
              </a:ext>
            </a:extLst>
          </p:cNvPr>
          <p:cNvSpPr/>
          <p:nvPr/>
        </p:nvSpPr>
        <p:spPr>
          <a:xfrm>
            <a:off x="2148840" y="5806440"/>
            <a:ext cx="8641080" cy="256032"/>
          </a:xfrm>
          <a:prstGeom prst="rect">
            <a:avLst/>
          </a:prstGeom>
          <a:noFill/>
          <a:ln/>
        </p:spPr>
        <p:txBody>
          <a:bodyPr wrap="square" lIns="0" tIns="0" rIns="0" bIns="0" rtlCol="0" anchor="ctr">
            <a:normAutofit/>
          </a:bodyPr>
          <a:lstStyle/>
          <a:p>
            <a:pPr algn="ctr"/>
            <a:r>
              <a:rPr lang="en-US" altLang="zh-CN" sz="1200" b="1">
                <a:solidFill>
                  <a:srgbClr val="0070C0"/>
                </a:solidFill>
                <a:ea typeface="Arial" pitchFamily="34" charset="-122"/>
                <a:cs typeface="Arial" pitchFamily="34" charset="-120"/>
              </a:rPr>
              <a:t>Order readiness  •  Pricing review  •  Billing investigation  •  IaaS usage pricing  •  Status / error check  •  Audit</a:t>
            </a:r>
            <a:endParaRPr lang="en-US" sz="1200">
              <a:solidFill>
                <a:srgbClr val="0070C0"/>
              </a:solidFill>
              <a:latin typeface="+mj-lt"/>
            </a:endParaRPr>
          </a:p>
        </p:txBody>
      </p:sp>
      <p:sp>
        <p:nvSpPr>
          <p:cNvPr id="63" name="Text 55">
            <a:extLst>
              <a:ext uri="{FF2B5EF4-FFF2-40B4-BE49-F238E27FC236}">
                <a16:creationId xmlns:a16="http://schemas.microsoft.com/office/drawing/2014/main" id="{BB40B536-00AE-2469-7DDA-A3C1BD093C1B}"/>
              </a:ext>
            </a:extLst>
          </p:cNvPr>
          <p:cNvSpPr/>
          <p:nvPr/>
        </p:nvSpPr>
        <p:spPr>
          <a:xfrm>
            <a:off x="556124" y="6443472"/>
            <a:ext cx="10717836" cy="27432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USER RULE  |  Need to change EPR? Start with Contract Center—not NexBill—then confirm the approved update has synchronized successfully.</a:t>
            </a:r>
            <a:endParaRPr lang="en-US" sz="1100">
              <a:latin typeface="+mj-lt"/>
            </a:endParaRPr>
          </a:p>
        </p:txBody>
      </p:sp>
      <p:sp>
        <p:nvSpPr>
          <p:cNvPr id="4" name="Text 39">
            <a:extLst>
              <a:ext uri="{FF2B5EF4-FFF2-40B4-BE49-F238E27FC236}">
                <a16:creationId xmlns:a16="http://schemas.microsoft.com/office/drawing/2014/main" id="{9212B622-A758-1181-6820-AB465595D928}"/>
              </a:ext>
            </a:extLst>
          </p:cNvPr>
          <p:cNvSpPr/>
          <p:nvPr/>
        </p:nvSpPr>
        <p:spPr>
          <a:xfrm>
            <a:off x="663066" y="4643029"/>
            <a:ext cx="3383280" cy="237744"/>
          </a:xfrm>
          <a:prstGeom prst="rect">
            <a:avLst/>
          </a:prstGeom>
          <a:noFill/>
          <a:ln/>
        </p:spPr>
        <p:txBody>
          <a:bodyPr wrap="square" lIns="0" tIns="0" rIns="0" bIns="0" rtlCol="0" anchor="ctr">
            <a:normAutofit/>
          </a:bodyPr>
          <a:lstStyle/>
          <a:p>
            <a:pPr marL="0" indent="0" algn="l">
              <a:buNone/>
            </a:pPr>
            <a:r>
              <a:rPr lang="en-US" sz="1300" b="1">
                <a:solidFill>
                  <a:srgbClr val="E66A13"/>
                </a:solidFill>
                <a:latin typeface="+mj-lt"/>
                <a:ea typeface="Arial" pitchFamily="34" charset="-122"/>
                <a:cs typeface="Arial" pitchFamily="34" charset="-120"/>
              </a:rPr>
              <a:t>A USER’S EPR WORKFLOW</a:t>
            </a:r>
            <a:endParaRPr lang="en-US" sz="1300">
              <a:latin typeface="+mj-lt"/>
            </a:endParaRPr>
          </a:p>
        </p:txBody>
      </p:sp>
      <p:sp>
        <p:nvSpPr>
          <p:cNvPr id="6" name="Shape 41">
            <a:extLst>
              <a:ext uri="{FF2B5EF4-FFF2-40B4-BE49-F238E27FC236}">
                <a16:creationId xmlns:a16="http://schemas.microsoft.com/office/drawing/2014/main" id="{6673A0E2-E452-0924-CAE8-8E9F8CD35483}"/>
              </a:ext>
            </a:extLst>
          </p:cNvPr>
          <p:cNvSpPr/>
          <p:nvPr/>
        </p:nvSpPr>
        <p:spPr>
          <a:xfrm>
            <a:off x="786384"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9" name="Text 42">
            <a:extLst>
              <a:ext uri="{FF2B5EF4-FFF2-40B4-BE49-F238E27FC236}">
                <a16:creationId xmlns:a16="http://schemas.microsoft.com/office/drawing/2014/main" id="{EC0A2DD2-BF4C-C15F-A4F1-1187608D6BF9}"/>
              </a:ext>
            </a:extLst>
          </p:cNvPr>
          <p:cNvSpPr/>
          <p:nvPr/>
        </p:nvSpPr>
        <p:spPr>
          <a:xfrm>
            <a:off x="841248"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TRIGGER
Business need</a:t>
            </a:r>
            <a:endParaRPr lang="en-US" sz="1000">
              <a:solidFill>
                <a:srgbClr val="126C36"/>
              </a:solidFill>
              <a:latin typeface="+mj-lt"/>
            </a:endParaRPr>
          </a:p>
        </p:txBody>
      </p:sp>
      <p:sp>
        <p:nvSpPr>
          <p:cNvPr id="11" name="Shape 43">
            <a:extLst>
              <a:ext uri="{FF2B5EF4-FFF2-40B4-BE49-F238E27FC236}">
                <a16:creationId xmlns:a16="http://schemas.microsoft.com/office/drawing/2014/main" id="{66E7F336-553F-5078-7A79-C10164B68673}"/>
              </a:ext>
            </a:extLst>
          </p:cNvPr>
          <p:cNvSpPr/>
          <p:nvPr/>
        </p:nvSpPr>
        <p:spPr>
          <a:xfrm>
            <a:off x="2487168"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13" name="Shape 44">
            <a:extLst>
              <a:ext uri="{FF2B5EF4-FFF2-40B4-BE49-F238E27FC236}">
                <a16:creationId xmlns:a16="http://schemas.microsoft.com/office/drawing/2014/main" id="{81E31F32-2913-0D63-2E76-554EFB0570C8}"/>
              </a:ext>
            </a:extLst>
          </p:cNvPr>
          <p:cNvSpPr/>
          <p:nvPr/>
        </p:nvSpPr>
        <p:spPr>
          <a:xfrm>
            <a:off x="2779776"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29" name="Text 45">
            <a:extLst>
              <a:ext uri="{FF2B5EF4-FFF2-40B4-BE49-F238E27FC236}">
                <a16:creationId xmlns:a16="http://schemas.microsoft.com/office/drawing/2014/main" id="{6FAA8040-F8A6-379E-36CE-D54066A47F14}"/>
              </a:ext>
            </a:extLst>
          </p:cNvPr>
          <p:cNvSpPr/>
          <p:nvPr/>
        </p:nvSpPr>
        <p:spPr>
          <a:xfrm>
            <a:off x="2834640" y="4983480"/>
            <a:ext cx="1517904" cy="329184"/>
          </a:xfrm>
          <a:prstGeom prst="rect">
            <a:avLst/>
          </a:prstGeom>
          <a:noFill/>
          <a:ln/>
        </p:spPr>
        <p:txBody>
          <a:bodyPr wrap="square" lIns="0" tIns="0" rIns="0" bIns="0" rtlCol="0" anchor="ctr">
            <a:normAutofit/>
          </a:bodyPr>
          <a:lstStyle/>
          <a:p>
            <a:pPr marL="0" indent="0" algn="ctr">
              <a:buNone/>
            </a:pPr>
            <a:r>
              <a:rPr lang="en-US" sz="1000" b="1" err="1">
                <a:solidFill>
                  <a:srgbClr val="126C36"/>
                </a:solidFill>
                <a:latin typeface="+mj-lt"/>
                <a:ea typeface="Arial" pitchFamily="34" charset="-122"/>
                <a:cs typeface="Arial" pitchFamily="34" charset="-120"/>
              </a:rPr>
              <a:t>SEARCH
Find EPR</a:t>
            </a:r>
            <a:endParaRPr lang="en-US" sz="1000">
              <a:solidFill>
                <a:srgbClr val="126C36"/>
              </a:solidFill>
              <a:latin typeface="+mj-lt"/>
            </a:endParaRPr>
          </a:p>
        </p:txBody>
      </p:sp>
      <p:sp>
        <p:nvSpPr>
          <p:cNvPr id="64" name="Shape 46">
            <a:extLst>
              <a:ext uri="{FF2B5EF4-FFF2-40B4-BE49-F238E27FC236}">
                <a16:creationId xmlns:a16="http://schemas.microsoft.com/office/drawing/2014/main" id="{A8B5A121-1242-58DE-894A-15E4A52783BA}"/>
              </a:ext>
            </a:extLst>
          </p:cNvPr>
          <p:cNvSpPr/>
          <p:nvPr/>
        </p:nvSpPr>
        <p:spPr>
          <a:xfrm>
            <a:off x="4480560"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65" name="Shape 47">
            <a:extLst>
              <a:ext uri="{FF2B5EF4-FFF2-40B4-BE49-F238E27FC236}">
                <a16:creationId xmlns:a16="http://schemas.microsoft.com/office/drawing/2014/main" id="{A182A138-9C15-8A6B-7995-B34AE7615AC8}"/>
              </a:ext>
            </a:extLst>
          </p:cNvPr>
          <p:cNvSpPr/>
          <p:nvPr/>
        </p:nvSpPr>
        <p:spPr>
          <a:xfrm>
            <a:off x="4773168" y="4928616"/>
            <a:ext cx="1627632" cy="475488"/>
          </a:xfrm>
          <a:prstGeom prst="roundRect">
            <a:avLst>
              <a:gd name="adj" fmla="val 15385"/>
            </a:avLst>
          </a:prstGeom>
          <a:solidFill>
            <a:srgbClr val="FFF0DF"/>
          </a:solidFill>
          <a:ln w="12700">
            <a:solidFill>
              <a:srgbClr val="E6A55B"/>
            </a:solidFill>
            <a:prstDash val="solid"/>
          </a:ln>
        </p:spPr>
        <p:txBody>
          <a:bodyPr wrap="square"/>
          <a:lstStyle/>
          <a:p>
            <a:endParaRPr lang="zh-CN" altLang="en-US">
              <a:latin typeface="+mj-lt"/>
            </a:endParaRPr>
          </a:p>
        </p:txBody>
      </p:sp>
      <p:sp>
        <p:nvSpPr>
          <p:cNvPr id="66" name="Text 48">
            <a:extLst>
              <a:ext uri="{FF2B5EF4-FFF2-40B4-BE49-F238E27FC236}">
                <a16:creationId xmlns:a16="http://schemas.microsoft.com/office/drawing/2014/main" id="{8D64D422-F41A-3151-FADC-C8667ED09B02}"/>
              </a:ext>
            </a:extLst>
          </p:cNvPr>
          <p:cNvSpPr/>
          <p:nvPr/>
        </p:nvSpPr>
        <p:spPr>
          <a:xfrm>
            <a:off x="4828032"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E66A13"/>
                </a:solidFill>
                <a:latin typeface="+mj-lt"/>
                <a:ea typeface="Arial" pitchFamily="34" charset="-122"/>
                <a:cs typeface="Arial" pitchFamily="34" charset="-120"/>
              </a:rPr>
              <a:t>REVIEW
Check setup</a:t>
            </a:r>
            <a:endParaRPr lang="en-US" sz="1000">
              <a:latin typeface="+mj-lt"/>
            </a:endParaRPr>
          </a:p>
        </p:txBody>
      </p:sp>
      <p:sp>
        <p:nvSpPr>
          <p:cNvPr id="67" name="Shape 49">
            <a:extLst>
              <a:ext uri="{FF2B5EF4-FFF2-40B4-BE49-F238E27FC236}">
                <a16:creationId xmlns:a16="http://schemas.microsoft.com/office/drawing/2014/main" id="{6F609507-B6B0-3A84-DD5C-01DACE205152}"/>
              </a:ext>
            </a:extLst>
          </p:cNvPr>
          <p:cNvSpPr/>
          <p:nvPr/>
        </p:nvSpPr>
        <p:spPr>
          <a:xfrm>
            <a:off x="6473952" y="5010912"/>
            <a:ext cx="219456" cy="310896"/>
          </a:xfrm>
          <a:prstGeom prst="chevron">
            <a:avLst/>
          </a:prstGeom>
          <a:solidFill>
            <a:srgbClr val="E66A13"/>
          </a:solidFill>
          <a:ln w="12700">
            <a:solidFill>
              <a:srgbClr val="E66A13"/>
            </a:solidFill>
            <a:prstDash val="solid"/>
          </a:ln>
        </p:spPr>
        <p:txBody>
          <a:bodyPr wrap="square"/>
          <a:lstStyle/>
          <a:p>
            <a:endParaRPr lang="zh-CN" altLang="en-US">
              <a:latin typeface="+mj-lt"/>
            </a:endParaRPr>
          </a:p>
        </p:txBody>
      </p:sp>
      <p:sp>
        <p:nvSpPr>
          <p:cNvPr id="68" name="Shape 50">
            <a:extLst>
              <a:ext uri="{FF2B5EF4-FFF2-40B4-BE49-F238E27FC236}">
                <a16:creationId xmlns:a16="http://schemas.microsoft.com/office/drawing/2014/main" id="{02C68D20-DE35-D665-2DE9-802F692EAF64}"/>
              </a:ext>
            </a:extLst>
          </p:cNvPr>
          <p:cNvSpPr/>
          <p:nvPr/>
        </p:nvSpPr>
        <p:spPr>
          <a:xfrm>
            <a:off x="6766560"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69" name="Text 51">
            <a:extLst>
              <a:ext uri="{FF2B5EF4-FFF2-40B4-BE49-F238E27FC236}">
                <a16:creationId xmlns:a16="http://schemas.microsoft.com/office/drawing/2014/main" id="{3DFF838A-47B0-9AC2-621A-394FA2A00DAF}"/>
              </a:ext>
            </a:extLst>
          </p:cNvPr>
          <p:cNvSpPr/>
          <p:nvPr/>
        </p:nvSpPr>
        <p:spPr>
          <a:xfrm>
            <a:off x="6821424"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DECIDE
Change source</a:t>
            </a:r>
            <a:endParaRPr lang="en-US" sz="1000">
              <a:solidFill>
                <a:srgbClr val="126C36"/>
              </a:solidFill>
              <a:latin typeface="+mj-lt"/>
            </a:endParaRPr>
          </a:p>
        </p:txBody>
      </p:sp>
      <p:sp>
        <p:nvSpPr>
          <p:cNvPr id="70" name="Shape 52">
            <a:extLst>
              <a:ext uri="{FF2B5EF4-FFF2-40B4-BE49-F238E27FC236}">
                <a16:creationId xmlns:a16="http://schemas.microsoft.com/office/drawing/2014/main" id="{E050ED16-6BAF-36F2-A886-2BDBA5E7549B}"/>
              </a:ext>
            </a:extLst>
          </p:cNvPr>
          <p:cNvSpPr/>
          <p:nvPr/>
        </p:nvSpPr>
        <p:spPr>
          <a:xfrm>
            <a:off x="8467344"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71" name="Shape 53">
            <a:extLst>
              <a:ext uri="{FF2B5EF4-FFF2-40B4-BE49-F238E27FC236}">
                <a16:creationId xmlns:a16="http://schemas.microsoft.com/office/drawing/2014/main" id="{7B471988-7E59-F88A-1186-C7C22E64E47C}"/>
              </a:ext>
            </a:extLst>
          </p:cNvPr>
          <p:cNvSpPr/>
          <p:nvPr/>
        </p:nvSpPr>
        <p:spPr>
          <a:xfrm>
            <a:off x="8759952"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72" name="Text 54">
            <a:extLst>
              <a:ext uri="{FF2B5EF4-FFF2-40B4-BE49-F238E27FC236}">
                <a16:creationId xmlns:a16="http://schemas.microsoft.com/office/drawing/2014/main" id="{6FB22D03-C000-FDFF-4C7C-F02C49799769}"/>
              </a:ext>
            </a:extLst>
          </p:cNvPr>
          <p:cNvSpPr/>
          <p:nvPr/>
        </p:nvSpPr>
        <p:spPr>
          <a:xfrm>
            <a:off x="8814816"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TRACK
Verify result</a:t>
            </a:r>
            <a:endParaRPr lang="en-US" sz="1000">
              <a:solidFill>
                <a:srgbClr val="126C36"/>
              </a:solidFill>
              <a:latin typeface="+mj-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D8515-BCF8-CC7B-ACDD-2990DAF1F52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078FDBE-44E8-5A72-3856-C84515475EAC}"/>
              </a:ext>
            </a:extLst>
          </p:cNvPr>
          <p:cNvSpPr>
            <a:spLocks noGrp="1"/>
          </p:cNvSpPr>
          <p:nvPr>
            <p:ph type="title"/>
          </p:nvPr>
        </p:nvSpPr>
        <p:spPr/>
        <p:txBody>
          <a:bodyPr/>
          <a:lstStyle/>
          <a:p>
            <a:r>
              <a:rPr lang="en-US" altLang="zh-CN"/>
              <a:t>Entitled Price Record - Key Business Boundary</a:t>
            </a:r>
            <a:endParaRPr lang="zh-CN" altLang="en-US"/>
          </a:p>
        </p:txBody>
      </p:sp>
      <p:sp>
        <p:nvSpPr>
          <p:cNvPr id="2" name="Text 1">
            <a:extLst>
              <a:ext uri="{FF2B5EF4-FFF2-40B4-BE49-F238E27FC236}">
                <a16:creationId xmlns:a16="http://schemas.microsoft.com/office/drawing/2014/main" id="{012C4114-7114-B270-703C-B1623FE33928}"/>
              </a:ext>
            </a:extLst>
          </p:cNvPr>
          <p:cNvSpPr/>
          <p:nvPr/>
        </p:nvSpPr>
        <p:spPr>
          <a:xfrm>
            <a:off x="429768" y="713232"/>
            <a:ext cx="10789920" cy="292608"/>
          </a:xfrm>
          <a:prstGeom prst="rect">
            <a:avLst/>
          </a:prstGeom>
          <a:noFill/>
          <a:ln/>
        </p:spPr>
        <p:txBody>
          <a:bodyPr wrap="square" lIns="0" tIns="0" rIns="0" bIns="0" rtlCol="0" anchor="ctr"/>
          <a:lstStyle/>
          <a:p>
            <a:pPr marL="0" indent="0">
              <a:buNone/>
            </a:pPr>
            <a:r>
              <a:rPr lang="en-US" sz="1200" i="1">
                <a:solidFill>
                  <a:srgbClr val="5F6B77"/>
                </a:solidFill>
              </a:rPr>
              <a:t>Know where EPR comes from, what </a:t>
            </a:r>
            <a:r>
              <a:rPr lang="en-US" sz="1200" i="1" err="1">
                <a:solidFill>
                  <a:srgbClr val="5F6B77"/>
                </a:solidFill>
              </a:rPr>
              <a:t>NexBill</a:t>
            </a:r>
            <a:r>
              <a:rPr lang="en-US" sz="1200" i="1">
                <a:solidFill>
                  <a:srgbClr val="5F6B77"/>
                </a:solidFill>
              </a:rPr>
              <a:t> does, and where EPR changes should be made</a:t>
            </a:r>
            <a:endParaRPr lang="en-US" sz="1200"/>
          </a:p>
        </p:txBody>
      </p:sp>
      <p:sp>
        <p:nvSpPr>
          <p:cNvPr id="7" name="Shape 2">
            <a:extLst>
              <a:ext uri="{FF2B5EF4-FFF2-40B4-BE49-F238E27FC236}">
                <a16:creationId xmlns:a16="http://schemas.microsoft.com/office/drawing/2014/main" id="{E921954B-6B76-EAB0-0782-49FE68FEEDB4}"/>
              </a:ext>
            </a:extLst>
          </p:cNvPr>
          <p:cNvSpPr/>
          <p:nvPr/>
        </p:nvSpPr>
        <p:spPr>
          <a:xfrm>
            <a:off x="429768" y="1078992"/>
            <a:ext cx="11320272" cy="640080"/>
          </a:xfrm>
          <a:prstGeom prst="roundRect">
            <a:avLst>
              <a:gd name="adj" fmla="val 11429"/>
            </a:avLst>
          </a:prstGeom>
          <a:solidFill>
            <a:srgbClr val="163A70"/>
          </a:solidFill>
          <a:ln w="12700">
            <a:solidFill>
              <a:srgbClr val="163A70"/>
            </a:solidFill>
            <a:prstDash val="solid"/>
          </a:ln>
        </p:spPr>
        <p:txBody>
          <a:bodyPr/>
          <a:lstStyle/>
          <a:p>
            <a:endParaRPr lang="zh-CN" altLang="en-US"/>
          </a:p>
        </p:txBody>
      </p:sp>
      <p:sp>
        <p:nvSpPr>
          <p:cNvPr id="8" name="Text 3">
            <a:extLst>
              <a:ext uri="{FF2B5EF4-FFF2-40B4-BE49-F238E27FC236}">
                <a16:creationId xmlns:a16="http://schemas.microsoft.com/office/drawing/2014/main" id="{1E0EE036-F4EE-0DF2-5D20-A0B6F1CFFFBE}"/>
              </a:ext>
            </a:extLst>
          </p:cNvPr>
          <p:cNvSpPr/>
          <p:nvPr/>
        </p:nvSpPr>
        <p:spPr>
          <a:xfrm>
            <a:off x="685800" y="1225296"/>
            <a:ext cx="10789920" cy="274320"/>
          </a:xfrm>
          <a:prstGeom prst="rect">
            <a:avLst/>
          </a:prstGeom>
          <a:noFill/>
          <a:ln/>
        </p:spPr>
        <p:txBody>
          <a:bodyPr wrap="square" lIns="0" tIns="0" rIns="0" bIns="0" rtlCol="0" anchor="ctr"/>
          <a:lstStyle/>
          <a:p>
            <a:pPr marL="0" indent="0" algn="ctr">
              <a:buNone/>
            </a:pPr>
            <a:r>
              <a:rPr lang="en-US" sz="2000" b="1">
                <a:solidFill>
                  <a:srgbClr val="FFFFFF"/>
                </a:solidFill>
              </a:rPr>
              <a:t>KEY MESSAGE  |  Contract Center is the System of Record for EPR</a:t>
            </a:r>
            <a:endParaRPr lang="en-US" sz="2000"/>
          </a:p>
        </p:txBody>
      </p:sp>
      <p:sp>
        <p:nvSpPr>
          <p:cNvPr id="11" name="Shape 4">
            <a:extLst>
              <a:ext uri="{FF2B5EF4-FFF2-40B4-BE49-F238E27FC236}">
                <a16:creationId xmlns:a16="http://schemas.microsoft.com/office/drawing/2014/main" id="{0EE7B8E9-C4D3-285C-919B-FF85615B0A5D}"/>
              </a:ext>
            </a:extLst>
          </p:cNvPr>
          <p:cNvSpPr/>
          <p:nvPr/>
        </p:nvSpPr>
        <p:spPr>
          <a:xfrm>
            <a:off x="429768" y="1938528"/>
            <a:ext cx="3456432" cy="3310128"/>
          </a:xfrm>
          <a:prstGeom prst="roundRect">
            <a:avLst>
              <a:gd name="adj" fmla="val 1934"/>
            </a:avLst>
          </a:prstGeom>
          <a:solidFill>
            <a:srgbClr val="EDF4FB"/>
          </a:solidFill>
          <a:ln w="20320">
            <a:solidFill>
              <a:srgbClr val="0B5CAB"/>
            </a:solidFill>
            <a:prstDash val="solid"/>
          </a:ln>
        </p:spPr>
        <p:txBody>
          <a:bodyPr/>
          <a:lstStyle/>
          <a:p>
            <a:endParaRPr lang="zh-CN" altLang="en-US"/>
          </a:p>
        </p:txBody>
      </p:sp>
      <p:sp>
        <p:nvSpPr>
          <p:cNvPr id="13" name="Shape 5">
            <a:extLst>
              <a:ext uri="{FF2B5EF4-FFF2-40B4-BE49-F238E27FC236}">
                <a16:creationId xmlns:a16="http://schemas.microsoft.com/office/drawing/2014/main" id="{5DBBC247-B9A6-9715-9D27-A88F1A30B7E9}"/>
              </a:ext>
            </a:extLst>
          </p:cNvPr>
          <p:cNvSpPr/>
          <p:nvPr/>
        </p:nvSpPr>
        <p:spPr>
          <a:xfrm>
            <a:off x="612648" y="2212848"/>
            <a:ext cx="502920" cy="502920"/>
          </a:xfrm>
          <a:prstGeom prst="ellipse">
            <a:avLst/>
          </a:prstGeom>
          <a:solidFill>
            <a:srgbClr val="0B5CAB"/>
          </a:solidFill>
          <a:ln w="12700">
            <a:solidFill>
              <a:srgbClr val="0B5CAB"/>
            </a:solidFill>
            <a:prstDash val="solid"/>
          </a:ln>
        </p:spPr>
        <p:txBody>
          <a:bodyPr/>
          <a:lstStyle/>
          <a:p>
            <a:endParaRPr lang="zh-CN" altLang="en-US"/>
          </a:p>
        </p:txBody>
      </p:sp>
      <p:sp>
        <p:nvSpPr>
          <p:cNvPr id="14" name="Text 6">
            <a:extLst>
              <a:ext uri="{FF2B5EF4-FFF2-40B4-BE49-F238E27FC236}">
                <a16:creationId xmlns:a16="http://schemas.microsoft.com/office/drawing/2014/main" id="{A81B9BDC-BC98-5F8A-7D14-E3FDA3AC2ABA}"/>
              </a:ext>
            </a:extLst>
          </p:cNvPr>
          <p:cNvSpPr/>
          <p:nvPr/>
        </p:nvSpPr>
        <p:spPr>
          <a:xfrm>
            <a:off x="612648" y="2322576"/>
            <a:ext cx="502920" cy="164592"/>
          </a:xfrm>
          <a:prstGeom prst="rect">
            <a:avLst/>
          </a:prstGeom>
          <a:noFill/>
          <a:ln/>
        </p:spPr>
        <p:txBody>
          <a:bodyPr wrap="square" lIns="0" tIns="0" rIns="0" bIns="0" rtlCol="0" anchor="ctr"/>
          <a:lstStyle/>
          <a:p>
            <a:pPr marL="0" indent="0" algn="ctr">
              <a:buNone/>
            </a:pPr>
            <a:r>
              <a:rPr lang="en-US" sz="1050" b="1">
                <a:solidFill>
                  <a:srgbClr val="FFFFFF"/>
                </a:solidFill>
              </a:rPr>
              <a:t>CC</a:t>
            </a:r>
            <a:endParaRPr lang="en-US" sz="1050"/>
          </a:p>
        </p:txBody>
      </p:sp>
      <p:sp>
        <p:nvSpPr>
          <p:cNvPr id="15" name="Text 7">
            <a:extLst>
              <a:ext uri="{FF2B5EF4-FFF2-40B4-BE49-F238E27FC236}">
                <a16:creationId xmlns:a16="http://schemas.microsoft.com/office/drawing/2014/main" id="{A7628395-CCF5-4E02-15E4-78944663847E}"/>
              </a:ext>
            </a:extLst>
          </p:cNvPr>
          <p:cNvSpPr/>
          <p:nvPr/>
        </p:nvSpPr>
        <p:spPr>
          <a:xfrm>
            <a:off x="1234440" y="2194560"/>
            <a:ext cx="2468880" cy="292608"/>
          </a:xfrm>
          <a:prstGeom prst="rect">
            <a:avLst/>
          </a:prstGeom>
          <a:noFill/>
          <a:ln/>
        </p:spPr>
        <p:txBody>
          <a:bodyPr wrap="square" lIns="0" tIns="0" rIns="0" bIns="0" rtlCol="0" anchor="ctr"/>
          <a:lstStyle/>
          <a:p>
            <a:pPr marL="0" indent="0">
              <a:buNone/>
            </a:pPr>
            <a:r>
              <a:rPr lang="en-US" sz="1400" b="1">
                <a:solidFill>
                  <a:srgbClr val="0B5CAB"/>
                </a:solidFill>
              </a:rPr>
              <a:t>1  SOURCE OF TRUTH</a:t>
            </a:r>
            <a:endParaRPr lang="en-US" sz="1400"/>
          </a:p>
        </p:txBody>
      </p:sp>
      <p:sp>
        <p:nvSpPr>
          <p:cNvPr id="16" name="Shape 8">
            <a:extLst>
              <a:ext uri="{FF2B5EF4-FFF2-40B4-BE49-F238E27FC236}">
                <a16:creationId xmlns:a16="http://schemas.microsoft.com/office/drawing/2014/main" id="{3D3A2322-4CE2-FE93-CED9-6D6D80B1AE37}"/>
              </a:ext>
            </a:extLst>
          </p:cNvPr>
          <p:cNvSpPr/>
          <p:nvPr/>
        </p:nvSpPr>
        <p:spPr>
          <a:xfrm>
            <a:off x="4078224" y="1938528"/>
            <a:ext cx="3675888" cy="3310128"/>
          </a:xfrm>
          <a:prstGeom prst="roundRect">
            <a:avLst>
              <a:gd name="adj" fmla="val 1934"/>
            </a:avLst>
          </a:prstGeom>
          <a:solidFill>
            <a:srgbClr val="ECF8F9"/>
          </a:solidFill>
          <a:ln w="20320">
            <a:solidFill>
              <a:srgbClr val="0E8794"/>
            </a:solidFill>
            <a:prstDash val="solid"/>
          </a:ln>
        </p:spPr>
        <p:txBody>
          <a:bodyPr/>
          <a:lstStyle/>
          <a:p>
            <a:endParaRPr lang="zh-CN" altLang="en-US"/>
          </a:p>
        </p:txBody>
      </p:sp>
      <p:sp>
        <p:nvSpPr>
          <p:cNvPr id="17" name="Shape 9">
            <a:extLst>
              <a:ext uri="{FF2B5EF4-FFF2-40B4-BE49-F238E27FC236}">
                <a16:creationId xmlns:a16="http://schemas.microsoft.com/office/drawing/2014/main" id="{3180C112-22E9-82DE-C8DA-C5037EB04D9A}"/>
              </a:ext>
            </a:extLst>
          </p:cNvPr>
          <p:cNvSpPr/>
          <p:nvPr/>
        </p:nvSpPr>
        <p:spPr>
          <a:xfrm>
            <a:off x="4261104" y="2212848"/>
            <a:ext cx="502920" cy="502920"/>
          </a:xfrm>
          <a:prstGeom prst="ellipse">
            <a:avLst/>
          </a:prstGeom>
          <a:solidFill>
            <a:srgbClr val="0E8794"/>
          </a:solidFill>
          <a:ln w="12700">
            <a:solidFill>
              <a:srgbClr val="0E8794"/>
            </a:solidFill>
            <a:prstDash val="solid"/>
          </a:ln>
        </p:spPr>
        <p:txBody>
          <a:bodyPr/>
          <a:lstStyle/>
          <a:p>
            <a:endParaRPr lang="zh-CN" altLang="en-US"/>
          </a:p>
        </p:txBody>
      </p:sp>
      <p:sp>
        <p:nvSpPr>
          <p:cNvPr id="18" name="Text 10">
            <a:extLst>
              <a:ext uri="{FF2B5EF4-FFF2-40B4-BE49-F238E27FC236}">
                <a16:creationId xmlns:a16="http://schemas.microsoft.com/office/drawing/2014/main" id="{DA635A49-E75D-E989-91D2-CB70816FE197}"/>
              </a:ext>
            </a:extLst>
          </p:cNvPr>
          <p:cNvSpPr/>
          <p:nvPr/>
        </p:nvSpPr>
        <p:spPr>
          <a:xfrm>
            <a:off x="4261104" y="2322576"/>
            <a:ext cx="502920" cy="164592"/>
          </a:xfrm>
          <a:prstGeom prst="rect">
            <a:avLst/>
          </a:prstGeom>
          <a:noFill/>
          <a:ln/>
        </p:spPr>
        <p:txBody>
          <a:bodyPr wrap="square" lIns="0" tIns="0" rIns="0" bIns="0" rtlCol="0" anchor="ctr"/>
          <a:lstStyle/>
          <a:p>
            <a:pPr marL="0" indent="0" algn="ctr">
              <a:buNone/>
            </a:pPr>
            <a:r>
              <a:rPr lang="en-US" sz="1050" b="1">
                <a:solidFill>
                  <a:srgbClr val="FFFFFF"/>
                </a:solidFill>
              </a:rPr>
              <a:t>NB</a:t>
            </a:r>
            <a:endParaRPr lang="en-US" sz="1050"/>
          </a:p>
        </p:txBody>
      </p:sp>
      <p:sp>
        <p:nvSpPr>
          <p:cNvPr id="19" name="Text 11">
            <a:extLst>
              <a:ext uri="{FF2B5EF4-FFF2-40B4-BE49-F238E27FC236}">
                <a16:creationId xmlns:a16="http://schemas.microsoft.com/office/drawing/2014/main" id="{BF26A57C-0E89-D5CD-CF05-F9150522A70B}"/>
              </a:ext>
            </a:extLst>
          </p:cNvPr>
          <p:cNvSpPr/>
          <p:nvPr/>
        </p:nvSpPr>
        <p:spPr>
          <a:xfrm>
            <a:off x="4882896" y="2194560"/>
            <a:ext cx="2688336" cy="292608"/>
          </a:xfrm>
          <a:prstGeom prst="rect">
            <a:avLst/>
          </a:prstGeom>
          <a:noFill/>
          <a:ln/>
        </p:spPr>
        <p:txBody>
          <a:bodyPr wrap="square" lIns="0" tIns="0" rIns="0" bIns="0" rtlCol="0" anchor="ctr"/>
          <a:lstStyle/>
          <a:p>
            <a:pPr marL="0" indent="0">
              <a:buNone/>
            </a:pPr>
            <a:r>
              <a:rPr lang="en-US" sz="1400" b="1">
                <a:solidFill>
                  <a:srgbClr val="0E8794"/>
                </a:solidFill>
              </a:rPr>
              <a:t>2  NEXBILL ROLE</a:t>
            </a:r>
            <a:endParaRPr lang="en-US" sz="1400"/>
          </a:p>
        </p:txBody>
      </p:sp>
      <p:sp>
        <p:nvSpPr>
          <p:cNvPr id="20" name="Shape 12">
            <a:extLst>
              <a:ext uri="{FF2B5EF4-FFF2-40B4-BE49-F238E27FC236}">
                <a16:creationId xmlns:a16="http://schemas.microsoft.com/office/drawing/2014/main" id="{FC5F0D73-A8CF-9886-375F-05C61AE09EAD}"/>
              </a:ext>
            </a:extLst>
          </p:cNvPr>
          <p:cNvSpPr/>
          <p:nvPr/>
        </p:nvSpPr>
        <p:spPr>
          <a:xfrm>
            <a:off x="7955280" y="1938528"/>
            <a:ext cx="3794760" cy="3310128"/>
          </a:xfrm>
          <a:prstGeom prst="roundRect">
            <a:avLst>
              <a:gd name="adj" fmla="val 1934"/>
            </a:avLst>
          </a:prstGeom>
          <a:solidFill>
            <a:srgbClr val="F3EEF9"/>
          </a:solidFill>
          <a:ln w="20320">
            <a:solidFill>
              <a:srgbClr val="5B2C83"/>
            </a:solidFill>
            <a:prstDash val="solid"/>
          </a:ln>
        </p:spPr>
        <p:txBody>
          <a:bodyPr/>
          <a:lstStyle/>
          <a:p>
            <a:endParaRPr lang="zh-CN" altLang="en-US"/>
          </a:p>
        </p:txBody>
      </p:sp>
      <p:sp>
        <p:nvSpPr>
          <p:cNvPr id="21" name="Shape 13">
            <a:extLst>
              <a:ext uri="{FF2B5EF4-FFF2-40B4-BE49-F238E27FC236}">
                <a16:creationId xmlns:a16="http://schemas.microsoft.com/office/drawing/2014/main" id="{4BDF3BE4-2A27-BA48-CB0F-3D01345319D6}"/>
              </a:ext>
            </a:extLst>
          </p:cNvPr>
          <p:cNvSpPr/>
          <p:nvPr/>
        </p:nvSpPr>
        <p:spPr>
          <a:xfrm>
            <a:off x="8138160" y="2212848"/>
            <a:ext cx="502920" cy="502920"/>
          </a:xfrm>
          <a:prstGeom prst="ellipse">
            <a:avLst/>
          </a:prstGeom>
          <a:solidFill>
            <a:srgbClr val="5B2C83"/>
          </a:solidFill>
          <a:ln w="12700">
            <a:solidFill>
              <a:srgbClr val="5B2C83"/>
            </a:solidFill>
            <a:prstDash val="solid"/>
          </a:ln>
        </p:spPr>
        <p:txBody>
          <a:bodyPr/>
          <a:lstStyle/>
          <a:p>
            <a:endParaRPr lang="zh-CN" altLang="en-US"/>
          </a:p>
        </p:txBody>
      </p:sp>
      <p:sp>
        <p:nvSpPr>
          <p:cNvPr id="22" name="Text 14">
            <a:extLst>
              <a:ext uri="{FF2B5EF4-FFF2-40B4-BE49-F238E27FC236}">
                <a16:creationId xmlns:a16="http://schemas.microsoft.com/office/drawing/2014/main" id="{26AE39AD-1D46-C1FD-9648-EB24034B458C}"/>
              </a:ext>
            </a:extLst>
          </p:cNvPr>
          <p:cNvSpPr/>
          <p:nvPr/>
        </p:nvSpPr>
        <p:spPr>
          <a:xfrm>
            <a:off x="8138160" y="2322576"/>
            <a:ext cx="502920" cy="164592"/>
          </a:xfrm>
          <a:prstGeom prst="rect">
            <a:avLst/>
          </a:prstGeom>
          <a:noFill/>
          <a:ln/>
        </p:spPr>
        <p:txBody>
          <a:bodyPr wrap="square" lIns="0" tIns="0" rIns="0" bIns="0" rtlCol="0" anchor="ctr"/>
          <a:lstStyle/>
          <a:p>
            <a:pPr marL="0" indent="0" algn="ctr">
              <a:buNone/>
            </a:pPr>
            <a:r>
              <a:rPr lang="en-US" sz="1050" b="1">
                <a:solidFill>
                  <a:srgbClr val="FFFFFF"/>
                </a:solidFill>
              </a:rPr>
              <a:t>↺</a:t>
            </a:r>
            <a:endParaRPr lang="en-US" sz="1050"/>
          </a:p>
        </p:txBody>
      </p:sp>
      <p:sp>
        <p:nvSpPr>
          <p:cNvPr id="23" name="Text 15">
            <a:extLst>
              <a:ext uri="{FF2B5EF4-FFF2-40B4-BE49-F238E27FC236}">
                <a16:creationId xmlns:a16="http://schemas.microsoft.com/office/drawing/2014/main" id="{6B04BC1D-5448-6968-322A-8AE9C3BE0828}"/>
              </a:ext>
            </a:extLst>
          </p:cNvPr>
          <p:cNvSpPr/>
          <p:nvPr/>
        </p:nvSpPr>
        <p:spPr>
          <a:xfrm>
            <a:off x="8759952" y="2194560"/>
            <a:ext cx="2807208" cy="292608"/>
          </a:xfrm>
          <a:prstGeom prst="rect">
            <a:avLst/>
          </a:prstGeom>
          <a:noFill/>
          <a:ln/>
        </p:spPr>
        <p:txBody>
          <a:bodyPr wrap="square" lIns="0" tIns="0" rIns="0" bIns="0" rtlCol="0" anchor="ctr"/>
          <a:lstStyle/>
          <a:p>
            <a:pPr marL="0" indent="0">
              <a:buNone/>
            </a:pPr>
            <a:r>
              <a:rPr lang="en-US" sz="1400" b="1">
                <a:solidFill>
                  <a:srgbClr val="5B2C83"/>
                </a:solidFill>
              </a:rPr>
              <a:t>3  WHEN EPR NEEDS TO CHANGE</a:t>
            </a:r>
            <a:endParaRPr lang="en-US" sz="1400"/>
          </a:p>
        </p:txBody>
      </p:sp>
      <p:sp>
        <p:nvSpPr>
          <p:cNvPr id="24" name="Text 16">
            <a:extLst>
              <a:ext uri="{FF2B5EF4-FFF2-40B4-BE49-F238E27FC236}">
                <a16:creationId xmlns:a16="http://schemas.microsoft.com/office/drawing/2014/main" id="{016077E8-763E-4356-82B6-0FFF2A95B9BC}"/>
              </a:ext>
            </a:extLst>
          </p:cNvPr>
          <p:cNvSpPr/>
          <p:nvPr/>
        </p:nvSpPr>
        <p:spPr>
          <a:xfrm>
            <a:off x="713232" y="2880360"/>
            <a:ext cx="2834640" cy="292608"/>
          </a:xfrm>
          <a:prstGeom prst="rect">
            <a:avLst/>
          </a:prstGeom>
          <a:noFill/>
          <a:ln/>
        </p:spPr>
        <p:txBody>
          <a:bodyPr wrap="square" lIns="0" tIns="0" rIns="0" bIns="0" rtlCol="0" anchor="ctr"/>
          <a:lstStyle/>
          <a:p>
            <a:pPr marL="0" indent="0">
              <a:buNone/>
            </a:pPr>
            <a:r>
              <a:rPr lang="en-US" b="1">
                <a:solidFill>
                  <a:srgbClr val="1E2B38"/>
                </a:solidFill>
              </a:rPr>
              <a:t>Contract Center (LCMP)</a:t>
            </a:r>
            <a:endParaRPr lang="en-US"/>
          </a:p>
        </p:txBody>
      </p:sp>
      <p:sp>
        <p:nvSpPr>
          <p:cNvPr id="25" name="Text 17">
            <a:extLst>
              <a:ext uri="{FF2B5EF4-FFF2-40B4-BE49-F238E27FC236}">
                <a16:creationId xmlns:a16="http://schemas.microsoft.com/office/drawing/2014/main" id="{3921A658-8345-97B3-CADA-B9D8AB7B8BA1}"/>
              </a:ext>
            </a:extLst>
          </p:cNvPr>
          <p:cNvSpPr/>
          <p:nvPr/>
        </p:nvSpPr>
        <p:spPr>
          <a:xfrm>
            <a:off x="731520" y="3310128"/>
            <a:ext cx="2907792" cy="1417320"/>
          </a:xfrm>
          <a:prstGeom prst="rect">
            <a:avLst/>
          </a:prstGeom>
          <a:noFill/>
          <a:ln/>
        </p:spPr>
        <p:txBody>
          <a:bodyPr wrap="square" lIns="254" tIns="254" rIns="254" bIns="254" rtlCol="0" anchor="ctr"/>
          <a:lstStyle/>
          <a:p>
            <a:pPr marL="0" indent="0">
              <a:buNone/>
            </a:pPr>
            <a:r>
              <a:rPr lang="en-US" sz="1300">
                <a:solidFill>
                  <a:srgbClr val="1E2B38"/>
                </a:solidFill>
              </a:rPr>
              <a:t>• Creates and maintains EPR</a:t>
            </a:r>
            <a:endParaRPr lang="en-US" sz="1300"/>
          </a:p>
          <a:p>
            <a:pPr marL="0" indent="0">
              <a:buNone/>
            </a:pPr>
            <a:r>
              <a:rPr lang="en-US" sz="1300">
                <a:solidFill>
                  <a:srgbClr val="1E2B38"/>
                </a:solidFill>
              </a:rPr>
              <a:t>• Owns pricing, terms, products and parties</a:t>
            </a:r>
            <a:endParaRPr lang="en-US" sz="1300"/>
          </a:p>
          <a:p>
            <a:pPr marL="0" indent="0">
              <a:buNone/>
            </a:pPr>
            <a:r>
              <a:rPr lang="en-US" sz="1300">
                <a:solidFill>
                  <a:srgbClr val="1E2B38"/>
                </a:solidFill>
              </a:rPr>
              <a:t>• Approved EPR is synchronized to </a:t>
            </a:r>
            <a:r>
              <a:rPr lang="en-US" sz="1300" err="1">
                <a:solidFill>
                  <a:srgbClr val="1E2B38"/>
                </a:solidFill>
              </a:rPr>
              <a:t>NexBill</a:t>
            </a:r>
            <a:endParaRPr lang="en-US" sz="1300"/>
          </a:p>
        </p:txBody>
      </p:sp>
      <p:sp>
        <p:nvSpPr>
          <p:cNvPr id="26" name="Text 18">
            <a:extLst>
              <a:ext uri="{FF2B5EF4-FFF2-40B4-BE49-F238E27FC236}">
                <a16:creationId xmlns:a16="http://schemas.microsoft.com/office/drawing/2014/main" id="{FB21B51D-2232-CE84-3D6D-C455BD7BF6C5}"/>
              </a:ext>
            </a:extLst>
          </p:cNvPr>
          <p:cNvSpPr/>
          <p:nvPr/>
        </p:nvSpPr>
        <p:spPr>
          <a:xfrm>
            <a:off x="4370832" y="2880360"/>
            <a:ext cx="1280160" cy="292608"/>
          </a:xfrm>
          <a:prstGeom prst="rect">
            <a:avLst/>
          </a:prstGeom>
          <a:noFill/>
          <a:ln/>
        </p:spPr>
        <p:txBody>
          <a:bodyPr wrap="square" lIns="0" tIns="0" rIns="0" bIns="0" rtlCol="0" anchor="ctr"/>
          <a:lstStyle/>
          <a:p>
            <a:pPr marL="0" indent="0">
              <a:buNone/>
            </a:pPr>
            <a:r>
              <a:rPr lang="en-US" sz="1800" b="1" err="1">
                <a:solidFill>
                  <a:srgbClr val="1E2B38"/>
                </a:solidFill>
              </a:rPr>
              <a:t>NexBill</a:t>
            </a:r>
            <a:endParaRPr lang="en-US" sz="1800"/>
          </a:p>
        </p:txBody>
      </p:sp>
      <p:sp>
        <p:nvSpPr>
          <p:cNvPr id="27" name="Text 19">
            <a:extLst>
              <a:ext uri="{FF2B5EF4-FFF2-40B4-BE49-F238E27FC236}">
                <a16:creationId xmlns:a16="http://schemas.microsoft.com/office/drawing/2014/main" id="{97A8154F-6346-D970-CBF5-8738F8333AA3}"/>
              </a:ext>
            </a:extLst>
          </p:cNvPr>
          <p:cNvSpPr/>
          <p:nvPr/>
        </p:nvSpPr>
        <p:spPr>
          <a:xfrm>
            <a:off x="4389120" y="3291840"/>
            <a:ext cx="3063240" cy="1481328"/>
          </a:xfrm>
          <a:prstGeom prst="rect">
            <a:avLst/>
          </a:prstGeom>
          <a:noFill/>
          <a:ln/>
        </p:spPr>
        <p:txBody>
          <a:bodyPr wrap="square" lIns="254" tIns="254" rIns="254" bIns="254" rtlCol="0" anchor="ctr"/>
          <a:lstStyle/>
          <a:p>
            <a:pPr marL="0" indent="0">
              <a:buNone/>
            </a:pPr>
            <a:r>
              <a:rPr lang="en-US" sz="1300">
                <a:solidFill>
                  <a:srgbClr val="1E2B38"/>
                </a:solidFill>
              </a:rPr>
              <a:t>• Receives and validates inbound EPR</a:t>
            </a:r>
            <a:endParaRPr lang="en-US" sz="1300"/>
          </a:p>
          <a:p>
            <a:pPr marL="0" indent="0">
              <a:buNone/>
            </a:pPr>
            <a:r>
              <a:rPr lang="en-US" sz="1300">
                <a:solidFill>
                  <a:srgbClr val="1E2B38"/>
                </a:solidFill>
              </a:rPr>
              <a:t>• Displays and uses EPR for downstream processing</a:t>
            </a:r>
            <a:endParaRPr lang="en-US" sz="1300"/>
          </a:p>
          <a:p>
            <a:pPr marL="0" indent="0">
              <a:buNone/>
            </a:pPr>
            <a:r>
              <a:rPr lang="en-US" sz="1300">
                <a:solidFill>
                  <a:srgbClr val="1E2B38"/>
                </a:solidFill>
              </a:rPr>
              <a:t>• Provides search, detail, related subscription orders and history</a:t>
            </a:r>
            <a:endParaRPr lang="en-US" sz="1300"/>
          </a:p>
        </p:txBody>
      </p:sp>
      <p:sp>
        <p:nvSpPr>
          <p:cNvPr id="28" name="Text 20">
            <a:extLst>
              <a:ext uri="{FF2B5EF4-FFF2-40B4-BE49-F238E27FC236}">
                <a16:creationId xmlns:a16="http://schemas.microsoft.com/office/drawing/2014/main" id="{ACD9F482-1949-A6CC-B5CB-4ED494BF7FC6}"/>
              </a:ext>
            </a:extLst>
          </p:cNvPr>
          <p:cNvSpPr/>
          <p:nvPr/>
        </p:nvSpPr>
        <p:spPr>
          <a:xfrm>
            <a:off x="8247888" y="2880360"/>
            <a:ext cx="2926080" cy="292608"/>
          </a:xfrm>
          <a:prstGeom prst="rect">
            <a:avLst/>
          </a:prstGeom>
          <a:noFill/>
          <a:ln/>
        </p:spPr>
        <p:txBody>
          <a:bodyPr wrap="square" lIns="0" tIns="0" rIns="0" bIns="0" rtlCol="0" anchor="ctr"/>
          <a:lstStyle/>
          <a:p>
            <a:pPr marL="0" indent="0">
              <a:buNone/>
            </a:pPr>
            <a:r>
              <a:rPr lang="en-US" sz="1800" b="1">
                <a:solidFill>
                  <a:srgbClr val="1E2B38"/>
                </a:solidFill>
              </a:rPr>
              <a:t>Default business path</a:t>
            </a:r>
            <a:endParaRPr lang="en-US" sz="1800"/>
          </a:p>
        </p:txBody>
      </p:sp>
      <p:sp>
        <p:nvSpPr>
          <p:cNvPr id="30" name="Text 21">
            <a:extLst>
              <a:ext uri="{FF2B5EF4-FFF2-40B4-BE49-F238E27FC236}">
                <a16:creationId xmlns:a16="http://schemas.microsoft.com/office/drawing/2014/main" id="{B899AF78-E6AE-D415-8534-49293075F076}"/>
              </a:ext>
            </a:extLst>
          </p:cNvPr>
          <p:cNvSpPr/>
          <p:nvPr/>
        </p:nvSpPr>
        <p:spPr>
          <a:xfrm>
            <a:off x="8275320" y="3291840"/>
            <a:ext cx="3127248" cy="1508760"/>
          </a:xfrm>
          <a:prstGeom prst="rect">
            <a:avLst/>
          </a:prstGeom>
          <a:noFill/>
          <a:ln/>
        </p:spPr>
        <p:txBody>
          <a:bodyPr wrap="square" lIns="254" tIns="254" rIns="254" bIns="254" rtlCol="0" anchor="ctr"/>
          <a:lstStyle/>
          <a:p>
            <a:pPr marL="0" indent="0">
              <a:buNone/>
            </a:pPr>
            <a:r>
              <a:rPr lang="en-US" sz="1300">
                <a:solidFill>
                  <a:srgbClr val="1E2B38"/>
                </a:solidFill>
              </a:rPr>
              <a:t>1. Change EPR in </a:t>
            </a:r>
            <a:r>
              <a:rPr lang="en-US" sz="1300" b="1">
                <a:solidFill>
                  <a:srgbClr val="1E2B38"/>
                </a:solidFill>
              </a:rPr>
              <a:t>Contract Center</a:t>
            </a:r>
            <a:endParaRPr lang="en-US" sz="1300" b="1"/>
          </a:p>
          <a:p>
            <a:pPr marL="0" indent="0">
              <a:buNone/>
            </a:pPr>
            <a:r>
              <a:rPr lang="en-US" sz="1300">
                <a:solidFill>
                  <a:srgbClr val="1E2B38"/>
                </a:solidFill>
              </a:rPr>
              <a:t>2. Complete approval / processing there</a:t>
            </a:r>
            <a:endParaRPr lang="en-US" sz="1300"/>
          </a:p>
          <a:p>
            <a:pPr marL="0" indent="0">
              <a:buNone/>
            </a:pPr>
            <a:r>
              <a:rPr lang="en-US" sz="1300">
                <a:solidFill>
                  <a:srgbClr val="1E2B38"/>
                </a:solidFill>
              </a:rPr>
              <a:t>3. Contract Center resends updated EPR</a:t>
            </a:r>
            <a:endParaRPr lang="en-US" sz="1300"/>
          </a:p>
          <a:p>
            <a:pPr marL="0" indent="0">
              <a:buNone/>
            </a:pPr>
            <a:r>
              <a:rPr lang="en-US" sz="1300">
                <a:solidFill>
                  <a:srgbClr val="1E2B38"/>
                </a:solidFill>
              </a:rPr>
              <a:t>4. </a:t>
            </a:r>
            <a:r>
              <a:rPr lang="en-US" sz="1300" err="1">
                <a:solidFill>
                  <a:srgbClr val="1E2B38"/>
                </a:solidFill>
              </a:rPr>
              <a:t>NexBill</a:t>
            </a:r>
            <a:r>
              <a:rPr lang="en-US" sz="1300">
                <a:solidFill>
                  <a:srgbClr val="1E2B38"/>
                </a:solidFill>
              </a:rPr>
              <a:t> receives the new version</a:t>
            </a:r>
            <a:endParaRPr lang="en-US" sz="1300"/>
          </a:p>
        </p:txBody>
      </p:sp>
      <p:sp>
        <p:nvSpPr>
          <p:cNvPr id="31" name="Shape 22">
            <a:extLst>
              <a:ext uri="{FF2B5EF4-FFF2-40B4-BE49-F238E27FC236}">
                <a16:creationId xmlns:a16="http://schemas.microsoft.com/office/drawing/2014/main" id="{646B1EEF-2280-67F4-BD36-1142AC671712}"/>
              </a:ext>
            </a:extLst>
          </p:cNvPr>
          <p:cNvSpPr/>
          <p:nvPr/>
        </p:nvSpPr>
        <p:spPr>
          <a:xfrm>
            <a:off x="429768" y="5468112"/>
            <a:ext cx="11320272" cy="731520"/>
          </a:xfrm>
          <a:prstGeom prst="roundRect">
            <a:avLst>
              <a:gd name="adj" fmla="val 7500"/>
            </a:avLst>
          </a:prstGeom>
          <a:solidFill>
            <a:srgbClr val="EEF7EF"/>
          </a:solidFill>
          <a:ln w="15240">
            <a:solidFill>
              <a:srgbClr val="A7C9AB"/>
            </a:solidFill>
            <a:prstDash val="solid"/>
          </a:ln>
        </p:spPr>
        <p:txBody>
          <a:bodyPr/>
          <a:lstStyle/>
          <a:p>
            <a:endParaRPr lang="zh-CN" altLang="en-US"/>
          </a:p>
        </p:txBody>
      </p:sp>
      <p:sp>
        <p:nvSpPr>
          <p:cNvPr id="32" name="Shape 23">
            <a:extLst>
              <a:ext uri="{FF2B5EF4-FFF2-40B4-BE49-F238E27FC236}">
                <a16:creationId xmlns:a16="http://schemas.microsoft.com/office/drawing/2014/main" id="{3950FF42-9849-8B36-FA9A-AE2AC896083B}"/>
              </a:ext>
            </a:extLst>
          </p:cNvPr>
          <p:cNvSpPr/>
          <p:nvPr/>
        </p:nvSpPr>
        <p:spPr>
          <a:xfrm>
            <a:off x="665410" y="5605272"/>
            <a:ext cx="365760" cy="365760"/>
          </a:xfrm>
          <a:prstGeom prst="ellipse">
            <a:avLst/>
          </a:prstGeom>
          <a:solidFill>
            <a:srgbClr val="2E7D32"/>
          </a:solidFill>
          <a:ln w="12700">
            <a:solidFill>
              <a:srgbClr val="2E7D32"/>
            </a:solidFill>
            <a:prstDash val="solid"/>
          </a:ln>
        </p:spPr>
        <p:txBody>
          <a:bodyPr/>
          <a:lstStyle/>
          <a:p>
            <a:endParaRPr lang="zh-CN" altLang="en-US"/>
          </a:p>
        </p:txBody>
      </p:sp>
      <p:sp>
        <p:nvSpPr>
          <p:cNvPr id="33" name="Text 24">
            <a:extLst>
              <a:ext uri="{FF2B5EF4-FFF2-40B4-BE49-F238E27FC236}">
                <a16:creationId xmlns:a16="http://schemas.microsoft.com/office/drawing/2014/main" id="{D42F1C7F-4B56-782E-B7AF-F42DCDEC9A17}"/>
              </a:ext>
            </a:extLst>
          </p:cNvPr>
          <p:cNvSpPr/>
          <p:nvPr/>
        </p:nvSpPr>
        <p:spPr>
          <a:xfrm>
            <a:off x="658368" y="5696712"/>
            <a:ext cx="365760" cy="182880"/>
          </a:xfrm>
          <a:prstGeom prst="rect">
            <a:avLst/>
          </a:prstGeom>
          <a:noFill/>
          <a:ln/>
        </p:spPr>
        <p:txBody>
          <a:bodyPr wrap="square" lIns="0" tIns="0" rIns="0" bIns="0" rtlCol="0" anchor="ctr"/>
          <a:lstStyle/>
          <a:p>
            <a:pPr marL="0" indent="0" algn="ctr">
              <a:buNone/>
            </a:pPr>
            <a:r>
              <a:rPr lang="en-US" sz="1600" b="1">
                <a:solidFill>
                  <a:srgbClr val="FFFFFF"/>
                </a:solidFill>
              </a:rPr>
              <a:t>✓</a:t>
            </a:r>
            <a:endParaRPr lang="en-US" sz="1600"/>
          </a:p>
        </p:txBody>
      </p:sp>
      <p:sp>
        <p:nvSpPr>
          <p:cNvPr id="34" name="Text 25">
            <a:extLst>
              <a:ext uri="{FF2B5EF4-FFF2-40B4-BE49-F238E27FC236}">
                <a16:creationId xmlns:a16="http://schemas.microsoft.com/office/drawing/2014/main" id="{4ED451D1-F5A8-6481-B19C-6794E2FFBB73}"/>
              </a:ext>
            </a:extLst>
          </p:cNvPr>
          <p:cNvSpPr/>
          <p:nvPr/>
        </p:nvSpPr>
        <p:spPr>
          <a:xfrm>
            <a:off x="1124712" y="5550408"/>
            <a:ext cx="2011680" cy="402336"/>
          </a:xfrm>
          <a:prstGeom prst="rect">
            <a:avLst/>
          </a:prstGeom>
          <a:noFill/>
          <a:ln/>
        </p:spPr>
        <p:txBody>
          <a:bodyPr wrap="square" lIns="0" tIns="0" rIns="0" bIns="0" rtlCol="0" anchor="ctr"/>
          <a:lstStyle/>
          <a:p>
            <a:pPr marL="0" indent="0">
              <a:buNone/>
            </a:pPr>
            <a:r>
              <a:rPr lang="en-US" sz="1200" b="1">
                <a:solidFill>
                  <a:srgbClr val="2E7D32"/>
                </a:solidFill>
              </a:rPr>
              <a:t>KEY USER RULE TO REMEMBER</a:t>
            </a:r>
            <a:endParaRPr lang="en-US" sz="1200"/>
          </a:p>
        </p:txBody>
      </p:sp>
      <p:sp>
        <p:nvSpPr>
          <p:cNvPr id="35" name="Text 26">
            <a:extLst>
              <a:ext uri="{FF2B5EF4-FFF2-40B4-BE49-F238E27FC236}">
                <a16:creationId xmlns:a16="http://schemas.microsoft.com/office/drawing/2014/main" id="{B45A97E4-35B3-17BA-FEC5-639FB4BB2E8B}"/>
              </a:ext>
            </a:extLst>
          </p:cNvPr>
          <p:cNvSpPr/>
          <p:nvPr/>
        </p:nvSpPr>
        <p:spPr>
          <a:xfrm>
            <a:off x="3246120" y="5550408"/>
            <a:ext cx="8229600" cy="347472"/>
          </a:xfrm>
          <a:prstGeom prst="rect">
            <a:avLst/>
          </a:prstGeom>
          <a:noFill/>
          <a:ln/>
        </p:spPr>
        <p:txBody>
          <a:bodyPr wrap="square" lIns="0" tIns="0" rIns="0" bIns="0" rtlCol="0" anchor="ctr">
            <a:normAutofit fontScale="85000" lnSpcReduction="20000"/>
          </a:bodyPr>
          <a:lstStyle/>
          <a:p>
            <a:pPr marL="0" indent="0">
              <a:buNone/>
            </a:pPr>
            <a:r>
              <a:rPr lang="en-US" sz="1550" b="1">
                <a:solidFill>
                  <a:srgbClr val="1E2B38"/>
                </a:solidFill>
              </a:rPr>
              <a:t>“Need to change EPR?”  →  Start with Contract Center, not </a:t>
            </a:r>
            <a:r>
              <a:rPr lang="en-US" sz="1550" b="1" err="1">
                <a:solidFill>
                  <a:srgbClr val="1E2B38"/>
                </a:solidFill>
              </a:rPr>
              <a:t>NexBill</a:t>
            </a:r>
            <a:r>
              <a:rPr lang="en-US" sz="1550" b="1">
                <a:solidFill>
                  <a:srgbClr val="1E2B38"/>
                </a:solidFill>
              </a:rPr>
              <a:t>.  Then let the updated EPR flow back to </a:t>
            </a:r>
            <a:r>
              <a:rPr lang="en-US" sz="1550" b="1" err="1">
                <a:solidFill>
                  <a:srgbClr val="1E2B38"/>
                </a:solidFill>
              </a:rPr>
              <a:t>NexBill</a:t>
            </a:r>
            <a:r>
              <a:rPr lang="en-US" sz="1550" b="1">
                <a:solidFill>
                  <a:srgbClr val="1E2B38"/>
                </a:solidFill>
              </a:rPr>
              <a:t>.</a:t>
            </a:r>
            <a:endParaRPr lang="en-US" sz="1550"/>
          </a:p>
        </p:txBody>
      </p:sp>
    </p:spTree>
    <p:extLst>
      <p:ext uri="{BB962C8B-B14F-4D97-AF65-F5344CB8AC3E}">
        <p14:creationId xmlns:p14="http://schemas.microsoft.com/office/powerpoint/2010/main" val="3981194841"/>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45E9-61D8-1303-A73F-E661F141FCED}"/>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44DA9980-7BF8-2EE5-04F1-970D50A33DF6}"/>
              </a:ext>
            </a:extLst>
          </p:cNvPr>
          <p:cNvPicPr>
            <a:picLocks noChangeAspect="1"/>
          </p:cNvPicPr>
          <p:nvPr/>
        </p:nvPicPr>
        <p:blipFill>
          <a:blip r:embed="rId2"/>
          <a:stretch>
            <a:fillRect/>
          </a:stretch>
        </p:blipFill>
        <p:spPr>
          <a:xfrm>
            <a:off x="320181" y="1372253"/>
            <a:ext cx="6970607" cy="2889692"/>
          </a:xfrm>
          <a:prstGeom prst="rect">
            <a:avLst/>
          </a:prstGeom>
        </p:spPr>
      </p:pic>
      <p:sp>
        <p:nvSpPr>
          <p:cNvPr id="3" name="标题 2">
            <a:extLst>
              <a:ext uri="{FF2B5EF4-FFF2-40B4-BE49-F238E27FC236}">
                <a16:creationId xmlns:a16="http://schemas.microsoft.com/office/drawing/2014/main" id="{A6654505-1A47-A9D9-84CA-0763719125EB}"/>
              </a:ext>
            </a:extLst>
          </p:cNvPr>
          <p:cNvSpPr>
            <a:spLocks noGrp="1"/>
          </p:cNvSpPr>
          <p:nvPr>
            <p:ph type="title"/>
          </p:nvPr>
        </p:nvSpPr>
        <p:spPr/>
        <p:txBody>
          <a:bodyPr/>
          <a:lstStyle/>
          <a:p>
            <a:r>
              <a:rPr lang="en-US" altLang="zh-CN"/>
              <a:t>Entitled Price Record - Search &amp; Result   </a:t>
            </a:r>
            <a:endParaRPr lang="zh-CN" altLang="en-US"/>
          </a:p>
        </p:txBody>
      </p:sp>
      <p:sp>
        <p:nvSpPr>
          <p:cNvPr id="5" name="TextBox 72">
            <a:extLst>
              <a:ext uri="{FF2B5EF4-FFF2-40B4-BE49-F238E27FC236}">
                <a16:creationId xmlns:a16="http://schemas.microsoft.com/office/drawing/2014/main" id="{5FD45F23-83AC-0BB3-F1BB-EAAB287CB03D}"/>
              </a:ext>
            </a:extLst>
          </p:cNvPr>
          <p:cNvSpPr txBox="1"/>
          <p:nvPr/>
        </p:nvSpPr>
        <p:spPr>
          <a:xfrm>
            <a:off x="7663667" y="1319588"/>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EPR Data</a:t>
            </a:r>
          </a:p>
        </p:txBody>
      </p:sp>
      <p:sp>
        <p:nvSpPr>
          <p:cNvPr id="29" name="Oval 111">
            <a:extLst>
              <a:ext uri="{FF2B5EF4-FFF2-40B4-BE49-F238E27FC236}">
                <a16:creationId xmlns:a16="http://schemas.microsoft.com/office/drawing/2014/main" id="{C7286FEC-EE23-B625-247F-A928BE980678}"/>
              </a:ext>
            </a:extLst>
          </p:cNvPr>
          <p:cNvSpPr/>
          <p:nvPr/>
        </p:nvSpPr>
        <p:spPr>
          <a:xfrm>
            <a:off x="7417875" y="138787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9" name="Text 2">
            <a:extLst>
              <a:ext uri="{FF2B5EF4-FFF2-40B4-BE49-F238E27FC236}">
                <a16:creationId xmlns:a16="http://schemas.microsoft.com/office/drawing/2014/main" id="{DF84963E-9D15-3C05-DFD6-4582018B499A}"/>
              </a:ext>
            </a:extLst>
          </p:cNvPr>
          <p:cNvSpPr/>
          <p:nvPr/>
        </p:nvSpPr>
        <p:spPr>
          <a:xfrm>
            <a:off x="320182" y="810211"/>
            <a:ext cx="11639523" cy="509377"/>
          </a:xfrm>
          <a:prstGeom prst="rect">
            <a:avLst/>
          </a:prstGeom>
          <a:noFill/>
          <a:ln/>
        </p:spPr>
        <p:txBody>
          <a:bodyPr wrap="square" lIns="0" tIns="0" rIns="0" bIns="0" rtlCol="0" anchor="ctr">
            <a:normAutofit/>
          </a:bodyPr>
          <a:lstStyle/>
          <a:p>
            <a:r>
              <a:rPr lang="en-US" altLang="zh-CN" sz="1200"/>
              <a:t>The Entitled Price Record Search page allows users to search, review, and maintain EPR data within </a:t>
            </a:r>
            <a:r>
              <a:rPr lang="en-US" altLang="zh-CN" sz="1200" err="1"/>
              <a:t>NexBill</a:t>
            </a:r>
            <a:r>
              <a:rPr lang="en-US" altLang="zh-CN" sz="1200"/>
              <a:t>. Users can locate EPR using flexible search criteria, manage EPR records, and access EPR information required for subscription orders and invoicing processes.</a:t>
            </a:r>
          </a:p>
          <a:p>
            <a:endParaRPr lang="en-US" altLang="zh-CN" sz="1200"/>
          </a:p>
        </p:txBody>
      </p:sp>
      <p:sp>
        <p:nvSpPr>
          <p:cNvPr id="12" name="Oval 111">
            <a:extLst>
              <a:ext uri="{FF2B5EF4-FFF2-40B4-BE49-F238E27FC236}">
                <a16:creationId xmlns:a16="http://schemas.microsoft.com/office/drawing/2014/main" id="{0C354942-CA6D-A7A9-2720-1EE1DBF15584}"/>
              </a:ext>
            </a:extLst>
          </p:cNvPr>
          <p:cNvSpPr/>
          <p:nvPr/>
        </p:nvSpPr>
        <p:spPr>
          <a:xfrm>
            <a:off x="6322123" y="2263357"/>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5" name="TextBox 73">
            <a:extLst>
              <a:ext uri="{FF2B5EF4-FFF2-40B4-BE49-F238E27FC236}">
                <a16:creationId xmlns:a16="http://schemas.microsoft.com/office/drawing/2014/main" id="{A358A6E3-758B-2DFF-38F0-E381455C5355}"/>
              </a:ext>
            </a:extLst>
          </p:cNvPr>
          <p:cNvSpPr txBox="1"/>
          <p:nvPr/>
        </p:nvSpPr>
        <p:spPr>
          <a:xfrm>
            <a:off x="7663667" y="1611976"/>
            <a:ext cx="4236719" cy="1323439"/>
          </a:xfrm>
          <a:prstGeom prst="rect">
            <a:avLst/>
          </a:prstGeom>
          <a:noFill/>
        </p:spPr>
        <p:txBody>
          <a:bodyPr wrap="square" rtlCol="0">
            <a:spAutoFit/>
          </a:bodyPr>
          <a:lstStyle/>
          <a:p>
            <a:r>
              <a:rPr lang="en-US" altLang="zh-CN" sz="1000">
                <a:cs typeface="Lato Light"/>
              </a:rPr>
              <a:t>Users can search EPR records using one or more search criteria.</a:t>
            </a:r>
          </a:p>
          <a:p>
            <a:endParaRPr lang="en-US" altLang="zh-CN" sz="1000">
              <a:cs typeface="Lato Light"/>
            </a:endParaRPr>
          </a:p>
          <a:p>
            <a:r>
              <a:rPr lang="en-US" altLang="zh-CN" sz="1000" b="1">
                <a:cs typeface="Lato Light"/>
              </a:rPr>
              <a:t>“+”</a:t>
            </a:r>
            <a:r>
              <a:rPr lang="en-US" altLang="zh-CN" sz="1000">
                <a:cs typeface="Lato Light"/>
              </a:rPr>
              <a:t> </a:t>
            </a:r>
            <a:r>
              <a:rPr lang="en-US" altLang="zh-CN" sz="1000" b="1">
                <a:cs typeface="Lato Light"/>
              </a:rPr>
              <a:t>icon</a:t>
            </a:r>
            <a:r>
              <a:rPr lang="en-US" altLang="zh-CN" sz="1000">
                <a:cs typeface="Lato Light"/>
              </a:rPr>
              <a:t>: add additional search conditions.</a:t>
            </a:r>
          </a:p>
          <a:p>
            <a:r>
              <a:rPr lang="en-US" altLang="zh-CN" sz="1000">
                <a:cs typeface="Lato Light"/>
              </a:rPr>
              <a:t> </a:t>
            </a:r>
            <a:r>
              <a:rPr lang="en-US" altLang="zh-CN" sz="1000" b="1">
                <a:cs typeface="Lato Light"/>
              </a:rPr>
              <a:t>“×” icon</a:t>
            </a:r>
            <a:r>
              <a:rPr lang="en-US" altLang="zh-CN" sz="1000">
                <a:cs typeface="Lato Light"/>
              </a:rPr>
              <a:t>:</a:t>
            </a:r>
            <a:r>
              <a:rPr lang="en-US" altLang="zh-CN" sz="1000" b="1">
                <a:cs typeface="Lato Light"/>
              </a:rPr>
              <a:t> </a:t>
            </a:r>
            <a:r>
              <a:rPr lang="en-US" altLang="zh-CN" sz="1000">
                <a:cs typeface="Lato Light"/>
              </a:rPr>
              <a:t>remove conditions.</a:t>
            </a:r>
          </a:p>
          <a:p>
            <a:r>
              <a:rPr lang="en-US" altLang="zh-CN" sz="1000" b="1">
                <a:cs typeface="Lato Light"/>
              </a:rPr>
              <a:t>Search</a:t>
            </a:r>
            <a:r>
              <a:rPr lang="en-US" altLang="zh-CN" sz="1000">
                <a:cs typeface="Lato Light"/>
              </a:rPr>
              <a:t>: retrieve matching EPR records.</a:t>
            </a:r>
          </a:p>
          <a:p>
            <a:r>
              <a:rPr lang="en-US" altLang="zh-CN" sz="1000" b="1">
                <a:cs typeface="Lato Light"/>
              </a:rPr>
              <a:t>Clear</a:t>
            </a:r>
            <a:r>
              <a:rPr lang="en-US" altLang="zh-CN" sz="1000">
                <a:cs typeface="Lato Light"/>
              </a:rPr>
              <a:t>: remove all search criteria and clear the current search results. </a:t>
            </a:r>
          </a:p>
          <a:p>
            <a:r>
              <a:rPr lang="en-US" altLang="zh-CN" sz="1000" b="1">
                <a:cs typeface="Lato Light"/>
              </a:rPr>
              <a:t>Save Search</a:t>
            </a:r>
            <a:r>
              <a:rPr lang="en-US" altLang="zh-CN" sz="1000">
                <a:cs typeface="Lato Light"/>
              </a:rPr>
              <a:t>: save frequently used search criteria for future use.</a:t>
            </a:r>
          </a:p>
          <a:p>
            <a:r>
              <a:rPr lang="en-US" altLang="zh-CN" sz="1000" b="1">
                <a:cs typeface="Lato Light"/>
              </a:rPr>
              <a:t>My Searches</a:t>
            </a:r>
            <a:r>
              <a:rPr lang="en-US" altLang="zh-CN" sz="1000">
                <a:cs typeface="Lato Light"/>
              </a:rPr>
              <a:t>: quickly reuse previously saved search templates.</a:t>
            </a:r>
          </a:p>
        </p:txBody>
      </p:sp>
      <p:sp>
        <p:nvSpPr>
          <p:cNvPr id="16" name="TextBox 82">
            <a:extLst>
              <a:ext uri="{FF2B5EF4-FFF2-40B4-BE49-F238E27FC236}">
                <a16:creationId xmlns:a16="http://schemas.microsoft.com/office/drawing/2014/main" id="{B60B5834-2F1E-301A-7B89-CC9935617B14}"/>
              </a:ext>
            </a:extLst>
          </p:cNvPr>
          <p:cNvSpPr txBox="1"/>
          <p:nvPr/>
        </p:nvSpPr>
        <p:spPr>
          <a:xfrm>
            <a:off x="7646475" y="2935415"/>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7" name="Oval 112">
            <a:extLst>
              <a:ext uri="{FF2B5EF4-FFF2-40B4-BE49-F238E27FC236}">
                <a16:creationId xmlns:a16="http://schemas.microsoft.com/office/drawing/2014/main" id="{3D40F04A-62BE-B2A6-677A-750DD116C590}"/>
              </a:ext>
            </a:extLst>
          </p:cNvPr>
          <p:cNvSpPr/>
          <p:nvPr/>
        </p:nvSpPr>
        <p:spPr>
          <a:xfrm>
            <a:off x="7417875" y="2953410"/>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8" name="TextBox 83">
            <a:extLst>
              <a:ext uri="{FF2B5EF4-FFF2-40B4-BE49-F238E27FC236}">
                <a16:creationId xmlns:a16="http://schemas.microsoft.com/office/drawing/2014/main" id="{64F38FF1-F5B3-FB90-B6B7-19E99CB37FB6}"/>
              </a:ext>
            </a:extLst>
          </p:cNvPr>
          <p:cNvSpPr txBox="1"/>
          <p:nvPr/>
        </p:nvSpPr>
        <p:spPr>
          <a:xfrm>
            <a:off x="7646473" y="3221006"/>
            <a:ext cx="4292870" cy="3016210"/>
          </a:xfrm>
          <a:prstGeom prst="rect">
            <a:avLst/>
          </a:prstGeom>
          <a:noFill/>
        </p:spPr>
        <p:txBody>
          <a:bodyPr wrap="square" rtlCol="0">
            <a:spAutoFit/>
          </a:bodyPr>
          <a:lstStyle/>
          <a:p>
            <a:r>
              <a:rPr lang="en-US" altLang="zh-CN" sz="1000" b="1">
                <a:cs typeface="Lato Light"/>
              </a:rPr>
              <a:t>Sorting</a:t>
            </a:r>
            <a:r>
              <a:rPr lang="en-US" altLang="zh-CN" sz="1000">
                <a:cs typeface="Lato Light"/>
              </a:rPr>
              <a:t>: sort results by clicking a column header.</a:t>
            </a:r>
          </a:p>
          <a:p>
            <a:r>
              <a:rPr lang="en-US" altLang="zh-CN" sz="1000" b="1">
                <a:cs typeface="Lato Light"/>
              </a:rPr>
              <a:t>Column Resize</a:t>
            </a:r>
            <a:r>
              <a:rPr lang="en-US" altLang="zh-CN" sz="1000">
                <a:cs typeface="Lato Light"/>
              </a:rPr>
              <a:t>: resize columns by dragging the column boundary.</a:t>
            </a:r>
          </a:p>
          <a:p>
            <a:r>
              <a:rPr lang="en-US" altLang="zh-CN" sz="1000" b="1">
                <a:cs typeface="Lato Light"/>
              </a:rPr>
              <a:t>Column Reorder</a:t>
            </a:r>
            <a:r>
              <a:rPr lang="en-US" altLang="zh-CN" sz="1000">
                <a:cs typeface="Lato Light"/>
              </a:rPr>
              <a:t>: rearrange columns by dragging the column header to a different position.</a:t>
            </a:r>
          </a:p>
          <a:p>
            <a:r>
              <a:rPr lang="en-US" altLang="zh-CN" sz="1000" b="1">
                <a:cs typeface="Lato Light"/>
              </a:rPr>
              <a:t>Data Dictionary</a:t>
            </a:r>
            <a:r>
              <a:rPr lang="en-US" altLang="zh-CN" sz="1000">
                <a:cs typeface="Lato Light"/>
              </a:rPr>
              <a:t>: click the </a:t>
            </a:r>
            <a:r>
              <a:rPr lang="en-US" altLang="zh-CN" sz="1000" b="1">
                <a:cs typeface="Lato Light"/>
              </a:rPr>
              <a:t>(?) icon </a:t>
            </a:r>
            <a:r>
              <a:rPr lang="en-US" altLang="zh-CN" sz="1000">
                <a:cs typeface="Lato Light"/>
              </a:rPr>
              <a:t>next to Header Status to view available values and their descriptions.</a:t>
            </a:r>
          </a:p>
          <a:p>
            <a:r>
              <a:rPr lang="en-US" altLang="zh-CN" sz="1000" b="1">
                <a:cs typeface="Lato Light"/>
              </a:rPr>
              <a:t>Record Selection</a:t>
            </a:r>
            <a:r>
              <a:rPr lang="en-US" altLang="zh-CN" sz="1000">
                <a:cs typeface="Lato Light"/>
              </a:rPr>
              <a:t>:</a:t>
            </a:r>
            <a:r>
              <a:rPr lang="en-US" altLang="zh-CN" sz="1000" b="1">
                <a:cs typeface="Lato Light"/>
              </a:rPr>
              <a:t> </a:t>
            </a:r>
            <a:r>
              <a:rPr lang="en-US" altLang="zh-CN" sz="1000">
                <a:cs typeface="Lato Light"/>
              </a:rPr>
              <a:t>select records using the row checkbox or use the header checkbox to select all records on the current page.</a:t>
            </a:r>
          </a:p>
          <a:p>
            <a:r>
              <a:rPr lang="en-US" altLang="zh-CN" sz="1000" b="1">
                <a:cs typeface="Lato Light"/>
              </a:rPr>
              <a:t>Record Details Navigation</a:t>
            </a:r>
            <a:r>
              <a:rPr lang="en-US" altLang="zh-CN" sz="1000">
                <a:cs typeface="Lato Light"/>
              </a:rPr>
              <a:t>:</a:t>
            </a:r>
            <a:r>
              <a:rPr lang="en-US" altLang="zh-CN" sz="1000" b="1">
                <a:cs typeface="Lato Light"/>
              </a:rPr>
              <a:t> </a:t>
            </a:r>
            <a:r>
              <a:rPr lang="en-US" altLang="zh-CN" sz="1000">
                <a:cs typeface="Lato Light"/>
              </a:rPr>
              <a:t>click the </a:t>
            </a:r>
            <a:r>
              <a:rPr lang="en-US" altLang="zh-CN" sz="1000" b="1">
                <a:cs typeface="Lato Light"/>
              </a:rPr>
              <a:t>EPR ID hyperlink </a:t>
            </a:r>
            <a:r>
              <a:rPr lang="en-US" altLang="zh-CN" sz="1000">
                <a:cs typeface="Lato Light"/>
              </a:rPr>
              <a:t>to open the EPR Detail page.</a:t>
            </a:r>
          </a:p>
          <a:p>
            <a:r>
              <a:rPr lang="en-US" altLang="zh-CN" sz="1000" b="1">
                <a:cs typeface="Lato Light"/>
              </a:rPr>
              <a:t>Pagination</a:t>
            </a:r>
            <a:r>
              <a:rPr lang="en-US" altLang="zh-CN" sz="1000">
                <a:cs typeface="Lato Light"/>
              </a:rPr>
              <a:t>: By default, 20 records are displayed per page. Users can navigate between pages using the page controls. Users can change the number of displayed records using the Rows per page selector.</a:t>
            </a:r>
          </a:p>
          <a:p>
            <a:r>
              <a:rPr lang="en-US" altLang="zh-CN" sz="1000" b="1">
                <a:cs typeface="Lato Light"/>
              </a:rPr>
              <a:t>Settings</a:t>
            </a:r>
            <a:r>
              <a:rPr lang="en-US" altLang="zh-CN" sz="1000">
                <a:cs typeface="Lato Light"/>
              </a:rPr>
              <a:t>: customize the result list by selecting which fields are displayed. Users can save the layout as a </a:t>
            </a:r>
            <a:r>
              <a:rPr lang="en-US" altLang="zh-CN" sz="1000" b="1">
                <a:cs typeface="Lato Light"/>
              </a:rPr>
              <a:t>configuration</a:t>
            </a:r>
            <a:r>
              <a:rPr lang="en-US" altLang="zh-CN" sz="1000">
                <a:cs typeface="Lato Light"/>
              </a:rPr>
              <a:t> and reuse it in future sessions.</a:t>
            </a:r>
          </a:p>
          <a:p>
            <a:r>
              <a:rPr lang="en-US" altLang="zh-CN" sz="1000" b="1">
                <a:cs typeface="Lato Light"/>
              </a:rPr>
              <a:t>Full Screen</a:t>
            </a:r>
            <a:r>
              <a:rPr lang="en-US" altLang="zh-CN" sz="1000">
                <a:cs typeface="Lato Light"/>
              </a:rPr>
              <a:t>: expand the result list for easier review.</a:t>
            </a:r>
          </a:p>
          <a:p>
            <a:r>
              <a:rPr lang="en-US" altLang="zh-CN" sz="1000" b="1">
                <a:cs typeface="Lato Light"/>
              </a:rPr>
              <a:t>Download: </a:t>
            </a:r>
            <a:r>
              <a:rPr lang="en-US" altLang="zh-CN" sz="1000">
                <a:cs typeface="Lato Light"/>
              </a:rPr>
              <a:t>exports EPR data for offline analysis.</a:t>
            </a:r>
          </a:p>
          <a:p>
            <a:r>
              <a:rPr lang="en-US" altLang="zh-CN" sz="1000">
                <a:cs typeface="Lato Light"/>
              </a:rPr>
              <a:t>Download All Data: export all records returned by the current search.</a:t>
            </a:r>
          </a:p>
          <a:p>
            <a:r>
              <a:rPr lang="en-US" altLang="zh-CN" sz="1000">
                <a:cs typeface="Lato Light"/>
              </a:rPr>
              <a:t>Download Selected Data: export only the selected records.</a:t>
            </a:r>
          </a:p>
        </p:txBody>
      </p:sp>
      <p:pic>
        <p:nvPicPr>
          <p:cNvPr id="19" name="图片 18">
            <a:extLst>
              <a:ext uri="{FF2B5EF4-FFF2-40B4-BE49-F238E27FC236}">
                <a16:creationId xmlns:a16="http://schemas.microsoft.com/office/drawing/2014/main" id="{B76E2DDD-AA76-9FD4-F83B-8AEC8B4D3989}"/>
              </a:ext>
            </a:extLst>
          </p:cNvPr>
          <p:cNvPicPr>
            <a:picLocks noChangeAspect="1"/>
          </p:cNvPicPr>
          <p:nvPr/>
        </p:nvPicPr>
        <p:blipFill>
          <a:blip r:embed="rId3"/>
          <a:stretch>
            <a:fillRect/>
          </a:stretch>
        </p:blipFill>
        <p:spPr>
          <a:xfrm>
            <a:off x="1156138" y="3960725"/>
            <a:ext cx="3484814" cy="2732586"/>
          </a:xfrm>
          <a:prstGeom prst="rect">
            <a:avLst/>
          </a:prstGeom>
        </p:spPr>
      </p:pic>
      <p:sp>
        <p:nvSpPr>
          <p:cNvPr id="24" name="Oval 112">
            <a:extLst>
              <a:ext uri="{FF2B5EF4-FFF2-40B4-BE49-F238E27FC236}">
                <a16:creationId xmlns:a16="http://schemas.microsoft.com/office/drawing/2014/main" id="{BE488F6D-B442-3814-A776-41EE20CB0E8D}"/>
              </a:ext>
            </a:extLst>
          </p:cNvPr>
          <p:cNvSpPr/>
          <p:nvPr/>
        </p:nvSpPr>
        <p:spPr>
          <a:xfrm>
            <a:off x="3877624" y="2668676"/>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35092325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animBg="1"/>
      <p:bldP spid="12" grpId="0" animBg="1"/>
      <p:bldP spid="15" grpId="0"/>
      <p:bldP spid="16" grpId="0"/>
      <p:bldP spid="17" grpId="0" animBg="1"/>
      <p:bldP spid="18" grpId="0"/>
      <p:bldP spid="2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B3BF1-108F-337A-8335-0486845B7D2B}"/>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24F53C0B-DAA9-F0E1-3866-C9109D3B79C4}"/>
              </a:ext>
            </a:extLst>
          </p:cNvPr>
          <p:cNvPicPr>
            <a:picLocks noChangeAspect="1"/>
          </p:cNvPicPr>
          <p:nvPr/>
        </p:nvPicPr>
        <p:blipFill>
          <a:blip r:embed="rId2"/>
          <a:stretch>
            <a:fillRect/>
          </a:stretch>
        </p:blipFill>
        <p:spPr>
          <a:xfrm>
            <a:off x="320182" y="3943422"/>
            <a:ext cx="6858000" cy="1150356"/>
          </a:xfrm>
          <a:prstGeom prst="rect">
            <a:avLst/>
          </a:prstGeom>
        </p:spPr>
      </p:pic>
      <p:pic>
        <p:nvPicPr>
          <p:cNvPr id="9" name="图片 8">
            <a:extLst>
              <a:ext uri="{FF2B5EF4-FFF2-40B4-BE49-F238E27FC236}">
                <a16:creationId xmlns:a16="http://schemas.microsoft.com/office/drawing/2014/main" id="{EB9DB343-E6DF-8F4B-32BA-D4EF7C047B09}"/>
              </a:ext>
            </a:extLst>
          </p:cNvPr>
          <p:cNvPicPr>
            <a:picLocks noChangeAspect="1"/>
          </p:cNvPicPr>
          <p:nvPr/>
        </p:nvPicPr>
        <p:blipFill>
          <a:blip r:embed="rId3"/>
          <a:stretch>
            <a:fillRect/>
          </a:stretch>
        </p:blipFill>
        <p:spPr>
          <a:xfrm>
            <a:off x="307459" y="5067951"/>
            <a:ext cx="7724223" cy="1559160"/>
          </a:xfrm>
          <a:prstGeom prst="rect">
            <a:avLst/>
          </a:prstGeom>
        </p:spPr>
      </p:pic>
      <p:pic>
        <p:nvPicPr>
          <p:cNvPr id="30" name="图片 29">
            <a:extLst>
              <a:ext uri="{FF2B5EF4-FFF2-40B4-BE49-F238E27FC236}">
                <a16:creationId xmlns:a16="http://schemas.microsoft.com/office/drawing/2014/main" id="{A78E28E1-269D-4CEB-D35C-CB7CC13CC398}"/>
              </a:ext>
            </a:extLst>
          </p:cNvPr>
          <p:cNvPicPr>
            <a:picLocks noChangeAspect="1"/>
          </p:cNvPicPr>
          <p:nvPr/>
        </p:nvPicPr>
        <p:blipFill>
          <a:blip r:embed="rId4"/>
          <a:stretch>
            <a:fillRect/>
          </a:stretch>
        </p:blipFill>
        <p:spPr>
          <a:xfrm>
            <a:off x="320182" y="1364522"/>
            <a:ext cx="4517922" cy="2629312"/>
          </a:xfrm>
          <a:prstGeom prst="rect">
            <a:avLst/>
          </a:prstGeom>
        </p:spPr>
      </p:pic>
      <p:sp>
        <p:nvSpPr>
          <p:cNvPr id="3" name="标题 2">
            <a:extLst>
              <a:ext uri="{FF2B5EF4-FFF2-40B4-BE49-F238E27FC236}">
                <a16:creationId xmlns:a16="http://schemas.microsoft.com/office/drawing/2014/main" id="{0C2AB849-FA71-20E0-D563-33F851095F9F}"/>
              </a:ext>
            </a:extLst>
          </p:cNvPr>
          <p:cNvSpPr>
            <a:spLocks noGrp="1"/>
          </p:cNvSpPr>
          <p:nvPr>
            <p:ph type="title"/>
          </p:nvPr>
        </p:nvSpPr>
        <p:spPr/>
        <p:txBody>
          <a:bodyPr/>
          <a:lstStyle/>
          <a:p>
            <a:r>
              <a:rPr lang="en-US" altLang="zh-CN"/>
              <a:t>Entitled Price Record - Detail</a:t>
            </a:r>
            <a:endParaRPr lang="zh-CN" altLang="en-US"/>
          </a:p>
        </p:txBody>
      </p:sp>
      <p:sp>
        <p:nvSpPr>
          <p:cNvPr id="2" name="Text 2">
            <a:extLst>
              <a:ext uri="{FF2B5EF4-FFF2-40B4-BE49-F238E27FC236}">
                <a16:creationId xmlns:a16="http://schemas.microsoft.com/office/drawing/2014/main" id="{3780B9ED-A284-0E2D-7FEA-39F43F1E1D3D}"/>
              </a:ext>
            </a:extLst>
          </p:cNvPr>
          <p:cNvSpPr/>
          <p:nvPr/>
        </p:nvSpPr>
        <p:spPr>
          <a:xfrm>
            <a:off x="307459" y="770771"/>
            <a:ext cx="11639523" cy="509377"/>
          </a:xfrm>
          <a:prstGeom prst="rect">
            <a:avLst/>
          </a:prstGeom>
          <a:noFill/>
          <a:ln/>
        </p:spPr>
        <p:txBody>
          <a:bodyPr wrap="square" lIns="0" tIns="0" rIns="0" bIns="0" rtlCol="0" anchor="ctr">
            <a:normAutofit/>
          </a:bodyPr>
          <a:lstStyle/>
          <a:p>
            <a:r>
              <a:rPr lang="en-US" altLang="zh-CN" sz="1200"/>
              <a:t>The EPR Detail page provides comprehensive information about an Enterprise Pricing Request (EPR). Users can review contract information, customer and organizational data, EPR items, linked subscription orders, change requests, and historical changes associated with the EPR.</a:t>
            </a:r>
          </a:p>
        </p:txBody>
      </p:sp>
      <p:sp>
        <p:nvSpPr>
          <p:cNvPr id="10" name="TextBox 93">
            <a:extLst>
              <a:ext uri="{FF2B5EF4-FFF2-40B4-BE49-F238E27FC236}">
                <a16:creationId xmlns:a16="http://schemas.microsoft.com/office/drawing/2014/main" id="{61424BE1-2FDD-3436-CB31-EEB3F3AE183E}"/>
              </a:ext>
            </a:extLst>
          </p:cNvPr>
          <p:cNvSpPr txBox="1"/>
          <p:nvPr/>
        </p:nvSpPr>
        <p:spPr>
          <a:xfrm>
            <a:off x="8510045" y="2154676"/>
            <a:ext cx="3038994" cy="1631216"/>
          </a:xfrm>
          <a:prstGeom prst="rect">
            <a:avLst/>
          </a:prstGeom>
          <a:noFill/>
        </p:spPr>
        <p:txBody>
          <a:bodyPr wrap="square" rtlCol="0">
            <a:spAutoFit/>
          </a:bodyPr>
          <a:lstStyle/>
          <a:p>
            <a:r>
              <a:rPr lang="en-US" sz="1000">
                <a:cs typeface="Lato Light"/>
              </a:rPr>
              <a:t>The Parties Involved tab displays business partners associated with the EPR:</a:t>
            </a:r>
          </a:p>
          <a:p>
            <a:r>
              <a:rPr lang="en-US" sz="1000">
                <a:cs typeface="Lato Light"/>
              </a:rPr>
              <a:t>Sold-To Party</a:t>
            </a:r>
          </a:p>
          <a:p>
            <a:r>
              <a:rPr lang="en-US" sz="1000">
                <a:cs typeface="Lato Light"/>
              </a:rPr>
              <a:t>Authorization Sold-To Party</a:t>
            </a:r>
          </a:p>
          <a:p>
            <a:r>
              <a:rPr lang="en-US" sz="1000">
                <a:cs typeface="Lato Light"/>
              </a:rPr>
              <a:t>End Customer DMU</a:t>
            </a:r>
          </a:p>
          <a:p>
            <a:r>
              <a:rPr lang="en-US" sz="1000">
                <a:cs typeface="Lato Light"/>
              </a:rPr>
              <a:t>Internal Funder</a:t>
            </a:r>
          </a:p>
          <a:p>
            <a:endParaRPr lang="en-US" sz="1000">
              <a:cs typeface="Lato Light"/>
            </a:endParaRPr>
          </a:p>
          <a:p>
            <a:r>
              <a:rPr lang="en-US" altLang="zh-CN" sz="1000" b="1">
                <a:cs typeface="Lato Light"/>
              </a:rPr>
              <a:t>The Partner Number </a:t>
            </a:r>
            <a:r>
              <a:rPr lang="en-US" altLang="zh-CN" sz="1000">
                <a:cs typeface="Lato Light"/>
              </a:rPr>
              <a:t>is displayed as a clickable hyperlink. Users can click it to open the corresponding account master detail page.</a:t>
            </a:r>
            <a:endParaRPr lang="en-US" sz="1000">
              <a:cs typeface="Lato Light"/>
            </a:endParaRPr>
          </a:p>
        </p:txBody>
      </p:sp>
      <p:sp>
        <p:nvSpPr>
          <p:cNvPr id="12" name="TextBox 98">
            <a:extLst>
              <a:ext uri="{FF2B5EF4-FFF2-40B4-BE49-F238E27FC236}">
                <a16:creationId xmlns:a16="http://schemas.microsoft.com/office/drawing/2014/main" id="{E9CF2237-CB85-CD90-E3D7-EF96F3768850}"/>
              </a:ext>
            </a:extLst>
          </p:cNvPr>
          <p:cNvSpPr txBox="1"/>
          <p:nvPr/>
        </p:nvSpPr>
        <p:spPr>
          <a:xfrm>
            <a:off x="8515642" y="1514140"/>
            <a:ext cx="2990096" cy="400110"/>
          </a:xfrm>
          <a:prstGeom prst="rect">
            <a:avLst/>
          </a:prstGeom>
          <a:noFill/>
        </p:spPr>
        <p:txBody>
          <a:bodyPr wrap="square" rtlCol="0">
            <a:spAutoFit/>
          </a:bodyPr>
          <a:lstStyle/>
          <a:p>
            <a:r>
              <a:rPr lang="en-US" sz="1000">
                <a:cs typeface="Lato Light"/>
              </a:rPr>
              <a:t>The General tab displays the primary EPR information.</a:t>
            </a:r>
          </a:p>
        </p:txBody>
      </p:sp>
      <p:sp>
        <p:nvSpPr>
          <p:cNvPr id="5" name="TextBox 72">
            <a:extLst>
              <a:ext uri="{FF2B5EF4-FFF2-40B4-BE49-F238E27FC236}">
                <a16:creationId xmlns:a16="http://schemas.microsoft.com/office/drawing/2014/main" id="{7317AE81-BBFE-B8C6-CF27-2382AA391478}"/>
              </a:ext>
            </a:extLst>
          </p:cNvPr>
          <p:cNvSpPr txBox="1"/>
          <p:nvPr/>
        </p:nvSpPr>
        <p:spPr>
          <a:xfrm>
            <a:off x="8486658" y="1249733"/>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General</a:t>
            </a:r>
          </a:p>
        </p:txBody>
      </p:sp>
      <p:sp>
        <p:nvSpPr>
          <p:cNvPr id="6" name="Oval 111">
            <a:extLst>
              <a:ext uri="{FF2B5EF4-FFF2-40B4-BE49-F238E27FC236}">
                <a16:creationId xmlns:a16="http://schemas.microsoft.com/office/drawing/2014/main" id="{0674380E-E988-2E55-05B2-54B386F448A0}"/>
              </a:ext>
            </a:extLst>
          </p:cNvPr>
          <p:cNvSpPr/>
          <p:nvPr/>
        </p:nvSpPr>
        <p:spPr>
          <a:xfrm>
            <a:off x="8258058" y="130184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7" name="TextBox 82">
            <a:extLst>
              <a:ext uri="{FF2B5EF4-FFF2-40B4-BE49-F238E27FC236}">
                <a16:creationId xmlns:a16="http://schemas.microsoft.com/office/drawing/2014/main" id="{E167F3D5-3E7D-0B1C-D84A-8BFA1E2849CC}"/>
              </a:ext>
            </a:extLst>
          </p:cNvPr>
          <p:cNvSpPr txBox="1"/>
          <p:nvPr/>
        </p:nvSpPr>
        <p:spPr>
          <a:xfrm>
            <a:off x="8510045" y="1903091"/>
            <a:ext cx="1939214" cy="292388"/>
          </a:xfrm>
          <a:prstGeom prst="rect">
            <a:avLst/>
          </a:prstGeom>
          <a:noFill/>
        </p:spPr>
        <p:txBody>
          <a:bodyPr wrap="square" rtlCol="0">
            <a:spAutoFit/>
          </a:bodyPr>
          <a:lstStyle/>
          <a:p>
            <a:r>
              <a:rPr lang="en-US" sz="1300" b="1">
                <a:solidFill>
                  <a:srgbClr val="126C36"/>
                </a:solidFill>
                <a:cs typeface="Lato Regular"/>
              </a:rPr>
              <a:t>Pa</a:t>
            </a:r>
            <a:r>
              <a:rPr lang="en-US" sz="1300" b="1">
                <a:solidFill>
                  <a:srgbClr val="437055"/>
                </a:solidFill>
                <a:cs typeface="Lato Regular"/>
              </a:rPr>
              <a:t>rties</a:t>
            </a:r>
            <a:r>
              <a:rPr lang="en-US" sz="1300" b="1">
                <a:solidFill>
                  <a:srgbClr val="126C36"/>
                </a:solidFill>
                <a:cs typeface="Lato Regular"/>
              </a:rPr>
              <a:t> Involved</a:t>
            </a:r>
          </a:p>
        </p:txBody>
      </p:sp>
      <p:sp>
        <p:nvSpPr>
          <p:cNvPr id="8" name="Oval 112">
            <a:extLst>
              <a:ext uri="{FF2B5EF4-FFF2-40B4-BE49-F238E27FC236}">
                <a16:creationId xmlns:a16="http://schemas.microsoft.com/office/drawing/2014/main" id="{E7CF8A29-B2AA-72CF-5421-C84FD65D47BC}"/>
              </a:ext>
            </a:extLst>
          </p:cNvPr>
          <p:cNvSpPr/>
          <p:nvPr/>
        </p:nvSpPr>
        <p:spPr>
          <a:xfrm>
            <a:off x="8281445" y="193220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3" name="Oval 111">
            <a:extLst>
              <a:ext uri="{FF2B5EF4-FFF2-40B4-BE49-F238E27FC236}">
                <a16:creationId xmlns:a16="http://schemas.microsoft.com/office/drawing/2014/main" id="{DE584933-D7BC-C821-E259-559FA77A624E}"/>
              </a:ext>
            </a:extLst>
          </p:cNvPr>
          <p:cNvSpPr/>
          <p:nvPr/>
        </p:nvSpPr>
        <p:spPr>
          <a:xfrm>
            <a:off x="157768" y="151374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33" name="Oval 112">
            <a:extLst>
              <a:ext uri="{FF2B5EF4-FFF2-40B4-BE49-F238E27FC236}">
                <a16:creationId xmlns:a16="http://schemas.microsoft.com/office/drawing/2014/main" id="{47705CB9-E212-CADF-8586-066DD1C9AE81}"/>
              </a:ext>
            </a:extLst>
          </p:cNvPr>
          <p:cNvSpPr/>
          <p:nvPr/>
        </p:nvSpPr>
        <p:spPr>
          <a:xfrm>
            <a:off x="1041648" y="439138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1" name="Oval 114">
            <a:extLst>
              <a:ext uri="{FF2B5EF4-FFF2-40B4-BE49-F238E27FC236}">
                <a16:creationId xmlns:a16="http://schemas.microsoft.com/office/drawing/2014/main" id="{D0D5E9F2-207A-5F78-1B02-B13C98020762}"/>
              </a:ext>
            </a:extLst>
          </p:cNvPr>
          <p:cNvSpPr/>
          <p:nvPr/>
        </p:nvSpPr>
        <p:spPr>
          <a:xfrm>
            <a:off x="1751464" y="5541742"/>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3" name="TextBox 97">
            <a:extLst>
              <a:ext uri="{FF2B5EF4-FFF2-40B4-BE49-F238E27FC236}">
                <a16:creationId xmlns:a16="http://schemas.microsoft.com/office/drawing/2014/main" id="{667B1E46-00DD-2164-375E-BA7D3B5365AE}"/>
              </a:ext>
            </a:extLst>
          </p:cNvPr>
          <p:cNvSpPr txBox="1"/>
          <p:nvPr/>
        </p:nvSpPr>
        <p:spPr>
          <a:xfrm>
            <a:off x="8510045" y="3785892"/>
            <a:ext cx="2972520" cy="292388"/>
          </a:xfrm>
          <a:prstGeom prst="rect">
            <a:avLst/>
          </a:prstGeom>
          <a:noFill/>
        </p:spPr>
        <p:txBody>
          <a:bodyPr wrap="square" rtlCol="0">
            <a:spAutoFit/>
          </a:bodyPr>
          <a:lstStyle/>
          <a:p>
            <a:r>
              <a:rPr lang="en-US" altLang="zh-CN" sz="1300" b="1">
                <a:solidFill>
                  <a:srgbClr val="F26A52"/>
                </a:solidFill>
                <a:cs typeface="Lato Regular"/>
              </a:rPr>
              <a:t>Related Subscription Orders</a:t>
            </a:r>
          </a:p>
        </p:txBody>
      </p:sp>
      <p:sp>
        <p:nvSpPr>
          <p:cNvPr id="14" name="TextBox 98">
            <a:extLst>
              <a:ext uri="{FF2B5EF4-FFF2-40B4-BE49-F238E27FC236}">
                <a16:creationId xmlns:a16="http://schemas.microsoft.com/office/drawing/2014/main" id="{E5169AC6-6040-915E-1DF7-B87A6BD93034}"/>
              </a:ext>
            </a:extLst>
          </p:cNvPr>
          <p:cNvSpPr txBox="1"/>
          <p:nvPr/>
        </p:nvSpPr>
        <p:spPr>
          <a:xfrm>
            <a:off x="8510045" y="4069637"/>
            <a:ext cx="2972520" cy="861774"/>
          </a:xfrm>
          <a:prstGeom prst="rect">
            <a:avLst/>
          </a:prstGeom>
          <a:noFill/>
        </p:spPr>
        <p:txBody>
          <a:bodyPr wrap="square" rtlCol="0">
            <a:spAutoFit/>
          </a:bodyPr>
          <a:lstStyle/>
          <a:p>
            <a:r>
              <a:rPr lang="en-US" altLang="zh-CN" sz="1000">
                <a:cs typeface="Lato Light"/>
              </a:rPr>
              <a:t>The Related Subscription Orders tab displays subscription orders created from the current EPR.</a:t>
            </a:r>
          </a:p>
          <a:p>
            <a:r>
              <a:rPr lang="en-US" altLang="zh-CN" sz="1000" b="1">
                <a:cs typeface="Lato Light"/>
              </a:rPr>
              <a:t>The Subscription Order ID </a:t>
            </a:r>
            <a:r>
              <a:rPr lang="en-US" altLang="zh-CN" sz="1000">
                <a:cs typeface="Lato Light"/>
              </a:rPr>
              <a:t>is displayed as a clickable hyperlink. Users can click it to open the corresponding subscription order detail page.</a:t>
            </a:r>
          </a:p>
        </p:txBody>
      </p:sp>
      <p:sp>
        <p:nvSpPr>
          <p:cNvPr id="15" name="Oval 114">
            <a:extLst>
              <a:ext uri="{FF2B5EF4-FFF2-40B4-BE49-F238E27FC236}">
                <a16:creationId xmlns:a16="http://schemas.microsoft.com/office/drawing/2014/main" id="{49E2C900-5488-1190-B32B-B8436D3E9D98}"/>
              </a:ext>
            </a:extLst>
          </p:cNvPr>
          <p:cNvSpPr/>
          <p:nvPr/>
        </p:nvSpPr>
        <p:spPr>
          <a:xfrm>
            <a:off x="8283657" y="3832244"/>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18600162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5" grpId="0"/>
      <p:bldP spid="6" grpId="0" animBg="1"/>
      <p:bldP spid="7" grpId="0"/>
      <p:bldP spid="8" grpId="0" animBg="1"/>
      <p:bldP spid="23" grpId="0" animBg="1"/>
      <p:bldP spid="33" grpId="0" animBg="1"/>
      <p:bldP spid="11" grpId="0" animBg="1"/>
      <p:bldP spid="13" grpId="0"/>
      <p:bldP spid="14" grpId="0"/>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0467D-E3D1-76D4-656F-CC6C9D39E5A1}"/>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AA07C868-B439-4ACA-504D-EBBFCC4EDF02}"/>
              </a:ext>
            </a:extLst>
          </p:cNvPr>
          <p:cNvPicPr>
            <a:picLocks noChangeAspect="1"/>
          </p:cNvPicPr>
          <p:nvPr/>
        </p:nvPicPr>
        <p:blipFill>
          <a:blip r:embed="rId2"/>
          <a:stretch>
            <a:fillRect/>
          </a:stretch>
        </p:blipFill>
        <p:spPr>
          <a:xfrm>
            <a:off x="2791121" y="3346885"/>
            <a:ext cx="4986172" cy="2907974"/>
          </a:xfrm>
          <a:prstGeom prst="rect">
            <a:avLst/>
          </a:prstGeom>
        </p:spPr>
      </p:pic>
      <p:sp>
        <p:nvSpPr>
          <p:cNvPr id="3" name="标题 2">
            <a:extLst>
              <a:ext uri="{FF2B5EF4-FFF2-40B4-BE49-F238E27FC236}">
                <a16:creationId xmlns:a16="http://schemas.microsoft.com/office/drawing/2014/main" id="{7ACB9256-EAC1-9995-EFE1-0D218C726386}"/>
              </a:ext>
            </a:extLst>
          </p:cNvPr>
          <p:cNvSpPr>
            <a:spLocks noGrp="1"/>
          </p:cNvSpPr>
          <p:nvPr>
            <p:ph type="title"/>
          </p:nvPr>
        </p:nvSpPr>
        <p:spPr/>
        <p:txBody>
          <a:bodyPr/>
          <a:lstStyle/>
          <a:p>
            <a:r>
              <a:rPr lang="en-US" altLang="zh-CN"/>
              <a:t>Entitled Price Record - Detail</a:t>
            </a:r>
            <a:endParaRPr lang="zh-CN" altLang="en-US"/>
          </a:p>
        </p:txBody>
      </p:sp>
      <p:sp>
        <p:nvSpPr>
          <p:cNvPr id="6" name="TextBox 93">
            <a:extLst>
              <a:ext uri="{FF2B5EF4-FFF2-40B4-BE49-F238E27FC236}">
                <a16:creationId xmlns:a16="http://schemas.microsoft.com/office/drawing/2014/main" id="{8D15A8F0-F5E3-16C3-2D44-B765DBD337F4}"/>
              </a:ext>
            </a:extLst>
          </p:cNvPr>
          <p:cNvSpPr txBox="1"/>
          <p:nvPr/>
        </p:nvSpPr>
        <p:spPr>
          <a:xfrm>
            <a:off x="8134598" y="1227526"/>
            <a:ext cx="3513877" cy="2862322"/>
          </a:xfrm>
          <a:prstGeom prst="rect">
            <a:avLst/>
          </a:prstGeom>
          <a:noFill/>
        </p:spPr>
        <p:txBody>
          <a:bodyPr wrap="square" rtlCol="0">
            <a:spAutoFit/>
          </a:bodyPr>
          <a:lstStyle/>
          <a:p>
            <a:r>
              <a:rPr lang="en-US" altLang="zh-CN" sz="1000">
                <a:cs typeface="Lato Light"/>
              </a:rPr>
              <a:t>The Item Overview table displays key item attributes.</a:t>
            </a:r>
          </a:p>
          <a:p>
            <a:endParaRPr lang="en-US" altLang="zh-CN" sz="1000">
              <a:cs typeface="Lato Light"/>
            </a:endParaRPr>
          </a:p>
          <a:p>
            <a:r>
              <a:rPr lang="en-US" altLang="zh-CN" sz="1000">
                <a:cs typeface="Lato Light"/>
              </a:rPr>
              <a:t>The price column displayed in the overview depends on the billing model of the item:</a:t>
            </a:r>
          </a:p>
          <a:p>
            <a:r>
              <a:rPr lang="en-US" altLang="zh-CN" sz="1000">
                <a:cs typeface="Lato Light"/>
              </a:rPr>
              <a:t>Subscription Price is displayed for recurring subscription items with a Billing Cycle.</a:t>
            </a:r>
          </a:p>
          <a:p>
            <a:r>
              <a:rPr lang="en-US" altLang="zh-CN" sz="1000">
                <a:cs typeface="Lato Light"/>
              </a:rPr>
              <a:t>One-time Price is displayed for one-time billing items without a Billing Cycle.</a:t>
            </a:r>
          </a:p>
          <a:p>
            <a:r>
              <a:rPr lang="en-US" altLang="zh-CN" sz="1000">
                <a:cs typeface="Lato Light"/>
              </a:rPr>
              <a:t>This allows users to easily distinguish recurring and one-time billing scenarios.</a:t>
            </a:r>
          </a:p>
          <a:p>
            <a:endParaRPr lang="en-US" altLang="zh-CN" sz="1000">
              <a:cs typeface="Lato Light"/>
            </a:endParaRPr>
          </a:p>
          <a:p>
            <a:r>
              <a:rPr lang="en-US" altLang="zh-CN" sz="1000" b="1">
                <a:cs typeface="Lato Light"/>
              </a:rPr>
              <a:t>Settings</a:t>
            </a:r>
          </a:p>
          <a:p>
            <a:r>
              <a:rPr lang="en-US" altLang="zh-CN" sz="1000">
                <a:cs typeface="Lato Light"/>
              </a:rPr>
              <a:t>The Settings function allows users to personalize the columns displayed in the Item Overview table.</a:t>
            </a:r>
          </a:p>
          <a:p>
            <a:endParaRPr lang="en-US" altLang="zh-CN" sz="1000" b="1">
              <a:cs typeface="Lato Light"/>
            </a:endParaRPr>
          </a:p>
          <a:p>
            <a:r>
              <a:rPr lang="en-US" altLang="zh-CN" sz="1000" b="1">
                <a:cs typeface="Lato Light"/>
              </a:rPr>
              <a:t>Download</a:t>
            </a:r>
          </a:p>
          <a:p>
            <a:r>
              <a:rPr lang="en-US" altLang="zh-CN" sz="1000">
                <a:cs typeface="Lato Light"/>
              </a:rPr>
              <a:t>The Download function exports item information for offline analysis and reporting.</a:t>
            </a:r>
          </a:p>
        </p:txBody>
      </p:sp>
      <p:sp>
        <p:nvSpPr>
          <p:cNvPr id="17" name="TextBox 93">
            <a:extLst>
              <a:ext uri="{FF2B5EF4-FFF2-40B4-BE49-F238E27FC236}">
                <a16:creationId xmlns:a16="http://schemas.microsoft.com/office/drawing/2014/main" id="{0A721879-98DE-3888-25E6-3BE214979E7D}"/>
              </a:ext>
            </a:extLst>
          </p:cNvPr>
          <p:cNvSpPr txBox="1"/>
          <p:nvPr/>
        </p:nvSpPr>
        <p:spPr>
          <a:xfrm>
            <a:off x="8165056" y="4415084"/>
            <a:ext cx="3560105" cy="1015663"/>
          </a:xfrm>
          <a:prstGeom prst="rect">
            <a:avLst/>
          </a:prstGeom>
          <a:noFill/>
        </p:spPr>
        <p:txBody>
          <a:bodyPr wrap="square" rtlCol="0">
            <a:spAutoFit/>
          </a:bodyPr>
          <a:lstStyle/>
          <a:p>
            <a:r>
              <a:rPr lang="en-US" altLang="zh-CN" sz="1000">
                <a:cs typeface="Lato Light"/>
              </a:rPr>
              <a:t>Users can click an </a:t>
            </a:r>
            <a:r>
              <a:rPr lang="en-US" altLang="zh-CN" sz="1000" b="1">
                <a:cs typeface="Lato Light"/>
              </a:rPr>
              <a:t>Item Number </a:t>
            </a:r>
            <a:r>
              <a:rPr lang="en-US" altLang="zh-CN" sz="1000">
                <a:cs typeface="Lato Light"/>
              </a:rPr>
              <a:t>to open the corresponding EPR Item Detail page, where additional item attributes and detailed configuration information can be reviewed.</a:t>
            </a:r>
          </a:p>
          <a:p>
            <a:endParaRPr lang="en-US" altLang="zh-CN" sz="1000">
              <a:cs typeface="Lato Light"/>
            </a:endParaRPr>
          </a:p>
          <a:p>
            <a:r>
              <a:rPr lang="en-US" altLang="zh-CN" sz="1000">
                <a:cs typeface="Lato Light"/>
              </a:rPr>
              <a:t>Users can click a </a:t>
            </a:r>
            <a:r>
              <a:rPr lang="en-US" altLang="zh-CN" sz="1000" b="1">
                <a:cs typeface="Lato Light"/>
              </a:rPr>
              <a:t>Product</a:t>
            </a:r>
            <a:r>
              <a:rPr lang="en-US" altLang="zh-CN" sz="1000">
                <a:cs typeface="Lato Light"/>
              </a:rPr>
              <a:t> to open the corresponding product detail page.</a:t>
            </a:r>
            <a:endParaRPr lang="en-US" altLang="zh-CN" sz="1000" b="1">
              <a:cs typeface="Lato Light"/>
            </a:endParaRPr>
          </a:p>
        </p:txBody>
      </p:sp>
      <p:pic>
        <p:nvPicPr>
          <p:cNvPr id="11" name="图片 10">
            <a:extLst>
              <a:ext uri="{FF2B5EF4-FFF2-40B4-BE49-F238E27FC236}">
                <a16:creationId xmlns:a16="http://schemas.microsoft.com/office/drawing/2014/main" id="{242F5331-F6E9-6B12-4AC8-E54992E7FC5F}"/>
              </a:ext>
            </a:extLst>
          </p:cNvPr>
          <p:cNvPicPr>
            <a:picLocks noChangeAspect="1"/>
          </p:cNvPicPr>
          <p:nvPr/>
        </p:nvPicPr>
        <p:blipFill>
          <a:blip r:embed="rId3"/>
          <a:stretch>
            <a:fillRect/>
          </a:stretch>
        </p:blipFill>
        <p:spPr>
          <a:xfrm>
            <a:off x="266125" y="1027114"/>
            <a:ext cx="6591752" cy="2281659"/>
          </a:xfrm>
          <a:prstGeom prst="rect">
            <a:avLst/>
          </a:prstGeom>
        </p:spPr>
      </p:pic>
      <p:sp>
        <p:nvSpPr>
          <p:cNvPr id="2" name="TextBox 92">
            <a:extLst>
              <a:ext uri="{FF2B5EF4-FFF2-40B4-BE49-F238E27FC236}">
                <a16:creationId xmlns:a16="http://schemas.microsoft.com/office/drawing/2014/main" id="{04DF619F-28B9-1B44-D87B-2C9EE629A212}"/>
              </a:ext>
            </a:extLst>
          </p:cNvPr>
          <p:cNvSpPr txBox="1"/>
          <p:nvPr/>
        </p:nvSpPr>
        <p:spPr>
          <a:xfrm>
            <a:off x="8134598" y="927008"/>
            <a:ext cx="1839512"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Items Overview</a:t>
            </a:r>
            <a:endParaRPr lang="en-US" sz="1300" b="1">
              <a:solidFill>
                <a:schemeClr val="accent4">
                  <a:lumMod val="75000"/>
                  <a:lumOff val="25000"/>
                </a:schemeClr>
              </a:solidFill>
              <a:cs typeface="Lato Regular"/>
            </a:endParaRPr>
          </a:p>
        </p:txBody>
      </p:sp>
      <p:sp>
        <p:nvSpPr>
          <p:cNvPr id="10" name="Oval 113">
            <a:extLst>
              <a:ext uri="{FF2B5EF4-FFF2-40B4-BE49-F238E27FC236}">
                <a16:creationId xmlns:a16="http://schemas.microsoft.com/office/drawing/2014/main" id="{2B240D2B-31AA-FE10-74DD-E8E3104880ED}"/>
              </a:ext>
            </a:extLst>
          </p:cNvPr>
          <p:cNvSpPr/>
          <p:nvPr/>
        </p:nvSpPr>
        <p:spPr>
          <a:xfrm>
            <a:off x="7922790" y="959636"/>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12" name="TextBox 92">
            <a:extLst>
              <a:ext uri="{FF2B5EF4-FFF2-40B4-BE49-F238E27FC236}">
                <a16:creationId xmlns:a16="http://schemas.microsoft.com/office/drawing/2014/main" id="{DE572E7B-00B3-5E1C-5A24-D6C47266A76C}"/>
              </a:ext>
            </a:extLst>
          </p:cNvPr>
          <p:cNvSpPr txBox="1"/>
          <p:nvPr/>
        </p:nvSpPr>
        <p:spPr>
          <a:xfrm>
            <a:off x="8165056" y="4101102"/>
            <a:ext cx="1839512" cy="292388"/>
          </a:xfrm>
          <a:prstGeom prst="rect">
            <a:avLst/>
          </a:prstGeom>
          <a:noFill/>
        </p:spPr>
        <p:txBody>
          <a:bodyPr wrap="square" rtlCol="0">
            <a:spAutoFit/>
          </a:bodyPr>
          <a:lstStyle/>
          <a:p>
            <a:r>
              <a:rPr lang="en-US" altLang="zh-CN" sz="1300" b="1">
                <a:solidFill>
                  <a:srgbClr val="57D3FF"/>
                </a:solidFill>
                <a:cs typeface="Lato Regular"/>
              </a:rPr>
              <a:t>Items Detail</a:t>
            </a:r>
            <a:endParaRPr lang="en-US" sz="1300" b="1">
              <a:solidFill>
                <a:srgbClr val="57D3FF"/>
              </a:solidFill>
              <a:cs typeface="Lato Regular"/>
            </a:endParaRPr>
          </a:p>
        </p:txBody>
      </p:sp>
      <p:sp>
        <p:nvSpPr>
          <p:cNvPr id="14" name="Oval 113">
            <a:extLst>
              <a:ext uri="{FF2B5EF4-FFF2-40B4-BE49-F238E27FC236}">
                <a16:creationId xmlns:a16="http://schemas.microsoft.com/office/drawing/2014/main" id="{403D02E7-69CF-8894-E359-C090BF09DB0C}"/>
              </a:ext>
            </a:extLst>
          </p:cNvPr>
          <p:cNvSpPr/>
          <p:nvPr/>
        </p:nvSpPr>
        <p:spPr>
          <a:xfrm>
            <a:off x="7954745" y="4144477"/>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16" name="Oval 113">
            <a:extLst>
              <a:ext uri="{FF2B5EF4-FFF2-40B4-BE49-F238E27FC236}">
                <a16:creationId xmlns:a16="http://schemas.microsoft.com/office/drawing/2014/main" id="{3EB0D231-4E27-209A-9E4D-3CB425BE411B}"/>
              </a:ext>
            </a:extLst>
          </p:cNvPr>
          <p:cNvSpPr/>
          <p:nvPr/>
        </p:nvSpPr>
        <p:spPr>
          <a:xfrm>
            <a:off x="697080" y="1594671"/>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18" name="Oval 113">
            <a:extLst>
              <a:ext uri="{FF2B5EF4-FFF2-40B4-BE49-F238E27FC236}">
                <a16:creationId xmlns:a16="http://schemas.microsoft.com/office/drawing/2014/main" id="{18A8C804-8BB9-C1A7-90E4-C019FC7664AE}"/>
              </a:ext>
            </a:extLst>
          </p:cNvPr>
          <p:cNvSpPr/>
          <p:nvPr/>
        </p:nvSpPr>
        <p:spPr>
          <a:xfrm>
            <a:off x="4328828" y="3638374"/>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Tree>
    <p:extLst>
      <p:ext uri="{BB962C8B-B14F-4D97-AF65-F5344CB8AC3E}">
        <p14:creationId xmlns:p14="http://schemas.microsoft.com/office/powerpoint/2010/main" val="41475203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2" grpId="0"/>
      <p:bldP spid="10" grpId="0" animBg="1"/>
      <p:bldP spid="12" grpId="0"/>
      <p:bldP spid="14" grpId="0" animBg="1"/>
      <p:bldP spid="16" grpId="0" animBg="1"/>
      <p:bldP spid="1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ADBC0-E857-72BA-8D6E-76AAB05B5A2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7847362-F930-F908-DFFD-C4152ABEEFBF}"/>
              </a:ext>
            </a:extLst>
          </p:cNvPr>
          <p:cNvSpPr>
            <a:spLocks noGrp="1"/>
          </p:cNvSpPr>
          <p:nvPr>
            <p:ph type="title"/>
          </p:nvPr>
        </p:nvSpPr>
        <p:spPr/>
        <p:txBody>
          <a:bodyPr/>
          <a:lstStyle/>
          <a:p>
            <a:r>
              <a:rPr lang="en-US" altLang="zh-CN"/>
              <a:t>Entitled Price Record – Detail - IaaS Specific Information</a:t>
            </a:r>
            <a:endParaRPr lang="zh-CN" altLang="en-US"/>
          </a:p>
        </p:txBody>
      </p:sp>
      <p:sp>
        <p:nvSpPr>
          <p:cNvPr id="2" name="Text 2">
            <a:extLst>
              <a:ext uri="{FF2B5EF4-FFF2-40B4-BE49-F238E27FC236}">
                <a16:creationId xmlns:a16="http://schemas.microsoft.com/office/drawing/2014/main" id="{FF7ECF60-A1D4-9175-9A78-49908F55CE9A}"/>
              </a:ext>
            </a:extLst>
          </p:cNvPr>
          <p:cNvSpPr/>
          <p:nvPr/>
        </p:nvSpPr>
        <p:spPr>
          <a:xfrm>
            <a:off x="329642" y="701978"/>
            <a:ext cx="11542177" cy="509377"/>
          </a:xfrm>
          <a:prstGeom prst="rect">
            <a:avLst/>
          </a:prstGeom>
          <a:noFill/>
          <a:ln/>
        </p:spPr>
        <p:txBody>
          <a:bodyPr wrap="square" lIns="0" tIns="0" rIns="0" bIns="0" rtlCol="0" anchor="ctr">
            <a:normAutofit/>
          </a:bodyPr>
          <a:lstStyle/>
          <a:p>
            <a:r>
              <a:rPr lang="en-US" altLang="zh-CN" sz="1200"/>
              <a:t>For IaaS EPRs, certain usage-based products contain additional pricing configurations that are used for usage billing calculations.</a:t>
            </a:r>
          </a:p>
        </p:txBody>
      </p:sp>
      <p:sp>
        <p:nvSpPr>
          <p:cNvPr id="12" name="TextBox 93">
            <a:extLst>
              <a:ext uri="{FF2B5EF4-FFF2-40B4-BE49-F238E27FC236}">
                <a16:creationId xmlns:a16="http://schemas.microsoft.com/office/drawing/2014/main" id="{4E011E33-E8A2-45A0-C327-101757F4DC5E}"/>
              </a:ext>
            </a:extLst>
          </p:cNvPr>
          <p:cNvSpPr txBox="1"/>
          <p:nvPr/>
        </p:nvSpPr>
        <p:spPr>
          <a:xfrm>
            <a:off x="7977427" y="1449497"/>
            <a:ext cx="3894392" cy="2400657"/>
          </a:xfrm>
          <a:prstGeom prst="rect">
            <a:avLst/>
          </a:prstGeom>
          <a:noFill/>
        </p:spPr>
        <p:txBody>
          <a:bodyPr wrap="square" rtlCol="0">
            <a:spAutoFit/>
          </a:bodyPr>
          <a:lstStyle/>
          <a:p>
            <a:r>
              <a:rPr lang="en-US" altLang="zh-CN" sz="1000" err="1">
                <a:cs typeface="Lato Light"/>
              </a:rPr>
              <a:t>NexBill</a:t>
            </a:r>
            <a:r>
              <a:rPr lang="en-US" altLang="zh-CN" sz="1000">
                <a:cs typeface="Lato Light"/>
              </a:rPr>
              <a:t> displays the Usage Pricing Table tab in the item detail page for below metering types: </a:t>
            </a:r>
          </a:p>
          <a:p>
            <a:pPr marL="171450" indent="-171450">
              <a:buFont typeface="Arial" panose="020B0604020202020204" pitchFamily="34" charset="0"/>
              <a:buChar char="•"/>
            </a:pPr>
            <a:r>
              <a:rPr lang="en-US" altLang="zh-CN" sz="1000"/>
              <a:t>POWER </a:t>
            </a:r>
          </a:p>
          <a:p>
            <a:pPr marL="171450" indent="-171450">
              <a:buFont typeface="Arial" panose="020B0604020202020204" pitchFamily="34" charset="0"/>
              <a:buChar char="•"/>
            </a:pPr>
            <a:r>
              <a:rPr lang="en-US" altLang="zh-CN" sz="1000"/>
              <a:t>HYBCLOUD </a:t>
            </a:r>
          </a:p>
          <a:p>
            <a:pPr marL="171450" indent="-171450">
              <a:buFont typeface="Arial" panose="020B0604020202020204" pitchFamily="34" charset="0"/>
              <a:buChar char="•"/>
            </a:pPr>
            <a:r>
              <a:rPr lang="en-US" altLang="zh-CN" sz="1000"/>
              <a:t>BAAS </a:t>
            </a:r>
          </a:p>
          <a:p>
            <a:pPr marL="171450" indent="-171450">
              <a:buFont typeface="Arial" panose="020B0604020202020204" pitchFamily="34" charset="0"/>
              <a:buChar char="•"/>
            </a:pPr>
            <a:r>
              <a:rPr lang="en-US" altLang="zh-CN" sz="1000"/>
              <a:t>STAAS </a:t>
            </a:r>
          </a:p>
          <a:p>
            <a:pPr marL="171450" indent="-171450">
              <a:buFont typeface="Arial" panose="020B0604020202020204" pitchFamily="34" charset="0"/>
              <a:buChar char="•"/>
            </a:pPr>
            <a:r>
              <a:rPr lang="en-US" altLang="zh-CN" sz="1000"/>
              <a:t>STORAGE </a:t>
            </a:r>
          </a:p>
          <a:p>
            <a:pPr marL="171450" indent="-171450">
              <a:buFont typeface="Arial" panose="020B0604020202020204" pitchFamily="34" charset="0"/>
              <a:buChar char="•"/>
            </a:pPr>
            <a:r>
              <a:rPr lang="en-US" altLang="zh-CN" sz="1000"/>
              <a:t>AZURE</a:t>
            </a:r>
            <a:endParaRPr lang="en-US" altLang="zh-CN" sz="1000">
              <a:cs typeface="Lato Light"/>
            </a:endParaRPr>
          </a:p>
          <a:p>
            <a:endParaRPr lang="en-US" altLang="zh-CN" sz="1000">
              <a:cs typeface="Lato Light"/>
            </a:endParaRPr>
          </a:p>
          <a:p>
            <a:r>
              <a:rPr lang="en-US" altLang="zh-CN" sz="1000" b="1">
                <a:cs typeface="Lato Light"/>
              </a:rPr>
              <a:t>The pricing table structure displayed varies depending on the product's Metering Type.</a:t>
            </a:r>
          </a:p>
          <a:p>
            <a:endParaRPr lang="en-US" altLang="zh-CN" sz="1000">
              <a:cs typeface="Lato Light"/>
            </a:endParaRPr>
          </a:p>
          <a:p>
            <a:r>
              <a:rPr lang="en-US" altLang="zh-CN" sz="1000" b="1">
                <a:cs typeface="Lato Light"/>
              </a:rPr>
              <a:t>Note</a:t>
            </a:r>
            <a:r>
              <a:rPr lang="en-US" altLang="zh-CN" sz="1000">
                <a:cs typeface="Lato Light"/>
              </a:rPr>
              <a:t>: The Usage Pricing Table is displayed for reference and review purposes. Only IaaS usage products with a Metering Type have this tab.</a:t>
            </a:r>
            <a:endParaRPr lang="en-US" altLang="zh-CN" sz="1000" b="1">
              <a:cs typeface="Lato Light"/>
            </a:endParaRPr>
          </a:p>
        </p:txBody>
      </p:sp>
      <p:sp>
        <p:nvSpPr>
          <p:cNvPr id="14" name="TextBox 92">
            <a:extLst>
              <a:ext uri="{FF2B5EF4-FFF2-40B4-BE49-F238E27FC236}">
                <a16:creationId xmlns:a16="http://schemas.microsoft.com/office/drawing/2014/main" id="{F58D476A-D892-E238-FBB0-90D558829B26}"/>
              </a:ext>
            </a:extLst>
          </p:cNvPr>
          <p:cNvSpPr txBox="1"/>
          <p:nvPr/>
        </p:nvSpPr>
        <p:spPr>
          <a:xfrm>
            <a:off x="7977427" y="1179461"/>
            <a:ext cx="1839512" cy="292388"/>
          </a:xfrm>
          <a:prstGeom prst="rect">
            <a:avLst/>
          </a:prstGeom>
          <a:noFill/>
        </p:spPr>
        <p:txBody>
          <a:bodyPr wrap="square" rtlCol="0">
            <a:spAutoFit/>
          </a:bodyPr>
          <a:lstStyle/>
          <a:p>
            <a:r>
              <a:rPr lang="en-US" sz="1300" b="1">
                <a:solidFill>
                  <a:srgbClr val="57D3FF"/>
                </a:solidFill>
                <a:cs typeface="Lato Regular"/>
              </a:rPr>
              <a:t>Usage Pricing Table</a:t>
            </a:r>
          </a:p>
        </p:txBody>
      </p:sp>
      <p:sp>
        <p:nvSpPr>
          <p:cNvPr id="16" name="Oval 113">
            <a:extLst>
              <a:ext uri="{FF2B5EF4-FFF2-40B4-BE49-F238E27FC236}">
                <a16:creationId xmlns:a16="http://schemas.microsoft.com/office/drawing/2014/main" id="{F5065B6B-F46B-B31E-F898-571D9063F27E}"/>
              </a:ext>
            </a:extLst>
          </p:cNvPr>
          <p:cNvSpPr/>
          <p:nvPr/>
        </p:nvSpPr>
        <p:spPr>
          <a:xfrm>
            <a:off x="7748827" y="1220897"/>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pic>
        <p:nvPicPr>
          <p:cNvPr id="27" name="图片 26">
            <a:extLst>
              <a:ext uri="{FF2B5EF4-FFF2-40B4-BE49-F238E27FC236}">
                <a16:creationId xmlns:a16="http://schemas.microsoft.com/office/drawing/2014/main" id="{841195C7-2F55-F103-BEB4-8476052DA787}"/>
              </a:ext>
            </a:extLst>
          </p:cNvPr>
          <p:cNvPicPr>
            <a:picLocks noChangeAspect="1"/>
          </p:cNvPicPr>
          <p:nvPr/>
        </p:nvPicPr>
        <p:blipFill>
          <a:blip r:embed="rId2"/>
          <a:stretch>
            <a:fillRect/>
          </a:stretch>
        </p:blipFill>
        <p:spPr>
          <a:xfrm>
            <a:off x="320181" y="1211355"/>
            <a:ext cx="7175725" cy="2962456"/>
          </a:xfrm>
          <a:prstGeom prst="rect">
            <a:avLst/>
          </a:prstGeom>
        </p:spPr>
      </p:pic>
      <p:pic>
        <p:nvPicPr>
          <p:cNvPr id="29" name="图片 28">
            <a:extLst>
              <a:ext uri="{FF2B5EF4-FFF2-40B4-BE49-F238E27FC236}">
                <a16:creationId xmlns:a16="http://schemas.microsoft.com/office/drawing/2014/main" id="{574DEFBB-FDEC-22A2-0627-1B033A4387C8}"/>
              </a:ext>
            </a:extLst>
          </p:cNvPr>
          <p:cNvPicPr>
            <a:picLocks noChangeAspect="1"/>
          </p:cNvPicPr>
          <p:nvPr/>
        </p:nvPicPr>
        <p:blipFill>
          <a:blip r:embed="rId3"/>
          <a:stretch>
            <a:fillRect/>
          </a:stretch>
        </p:blipFill>
        <p:spPr>
          <a:xfrm>
            <a:off x="2117835" y="3313873"/>
            <a:ext cx="4351283" cy="3355762"/>
          </a:xfrm>
          <a:prstGeom prst="rect">
            <a:avLst/>
          </a:prstGeom>
        </p:spPr>
      </p:pic>
    </p:spTree>
    <p:extLst>
      <p:ext uri="{BB962C8B-B14F-4D97-AF65-F5344CB8AC3E}">
        <p14:creationId xmlns:p14="http://schemas.microsoft.com/office/powerpoint/2010/main" val="13581855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F3ADF-AD4F-C257-2EEC-521E18C7253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EB3D947-3767-31BA-C532-983A37700C44}"/>
              </a:ext>
            </a:extLst>
          </p:cNvPr>
          <p:cNvSpPr>
            <a:spLocks noGrp="1"/>
          </p:cNvSpPr>
          <p:nvPr>
            <p:ph type="title"/>
          </p:nvPr>
        </p:nvSpPr>
        <p:spPr/>
        <p:txBody>
          <a:bodyPr/>
          <a:lstStyle/>
          <a:p>
            <a:r>
              <a:rPr lang="en-US" altLang="zh-CN"/>
              <a:t>Entitled Price Record – EPR Actions</a:t>
            </a:r>
            <a:endParaRPr lang="zh-CN" altLang="en-US"/>
          </a:p>
        </p:txBody>
      </p:sp>
      <p:sp>
        <p:nvSpPr>
          <p:cNvPr id="8" name="TextBox 83">
            <a:extLst>
              <a:ext uri="{FF2B5EF4-FFF2-40B4-BE49-F238E27FC236}">
                <a16:creationId xmlns:a16="http://schemas.microsoft.com/office/drawing/2014/main" id="{3CC2444B-E8E8-2B89-F51F-F68F6857148A}"/>
              </a:ext>
            </a:extLst>
          </p:cNvPr>
          <p:cNvSpPr txBox="1"/>
          <p:nvPr/>
        </p:nvSpPr>
        <p:spPr>
          <a:xfrm>
            <a:off x="7745008" y="1703770"/>
            <a:ext cx="4053195" cy="4555093"/>
          </a:xfrm>
          <a:prstGeom prst="rect">
            <a:avLst/>
          </a:prstGeom>
          <a:noFill/>
        </p:spPr>
        <p:txBody>
          <a:bodyPr wrap="square" rtlCol="0">
            <a:spAutoFit/>
          </a:bodyPr>
          <a:lstStyle/>
          <a:p>
            <a:r>
              <a:rPr lang="en-US" sz="1000" b="1">
                <a:cs typeface="Lato Light"/>
              </a:rPr>
              <a:t>New</a:t>
            </a:r>
          </a:p>
          <a:p>
            <a:r>
              <a:rPr lang="en-US" sz="1000">
                <a:cs typeface="Lato Light"/>
              </a:rPr>
              <a:t>Creates a new EPR record manually within </a:t>
            </a:r>
            <a:r>
              <a:rPr lang="en-US" sz="1000" err="1">
                <a:cs typeface="Lato Light"/>
              </a:rPr>
              <a:t>NexBill</a:t>
            </a:r>
            <a:r>
              <a:rPr lang="en-US" sz="1000">
                <a:cs typeface="Lato Light"/>
              </a:rPr>
              <a:t>.</a:t>
            </a:r>
          </a:p>
          <a:p>
            <a:endParaRPr lang="en-US" sz="1000">
              <a:cs typeface="Lato Light"/>
            </a:endParaRPr>
          </a:p>
          <a:p>
            <a:r>
              <a:rPr lang="en-US" sz="1000" b="1">
                <a:cs typeface="Lato Light"/>
              </a:rPr>
              <a:t>Copy</a:t>
            </a:r>
          </a:p>
          <a:p>
            <a:r>
              <a:rPr lang="en-US" sz="1000">
                <a:cs typeface="Lato Light"/>
              </a:rPr>
              <a:t>Creates a new EPR record by copying an existing EPR record.</a:t>
            </a:r>
          </a:p>
          <a:p>
            <a:r>
              <a:rPr lang="en-US" sz="1000">
                <a:cs typeface="Lato Light"/>
              </a:rPr>
              <a:t>This function helps reduce manual data entry when creating similar EPRs.</a:t>
            </a:r>
            <a:r>
              <a:rPr lang="en-US" sz="1000" b="1">
                <a:cs typeface="Lato Light"/>
              </a:rPr>
              <a:t> </a:t>
            </a:r>
            <a:endParaRPr lang="en-US" sz="1000">
              <a:cs typeface="Lato Light"/>
            </a:endParaRPr>
          </a:p>
          <a:p>
            <a:endParaRPr lang="en-US" sz="1000">
              <a:cs typeface="Lato Light"/>
            </a:endParaRPr>
          </a:p>
          <a:p>
            <a:r>
              <a:rPr lang="en-US" sz="1000" b="1">
                <a:cs typeface="Lato Light"/>
              </a:rPr>
              <a:t>Pull From LCMP</a:t>
            </a:r>
            <a:endParaRPr lang="en-US" sz="1000">
              <a:cs typeface="Lato Light"/>
            </a:endParaRPr>
          </a:p>
          <a:p>
            <a:r>
              <a:rPr lang="en-US" sz="1000">
                <a:cs typeface="Lato Light"/>
              </a:rPr>
              <a:t>Retrieve the EPR information and create the EPR record manually. </a:t>
            </a:r>
            <a:r>
              <a:rPr lang="en-US" altLang="zh-CN" sz="1000" b="1">
                <a:cs typeface="Lato Light"/>
              </a:rPr>
              <a:t>Batch</a:t>
            </a:r>
            <a:r>
              <a:rPr lang="en-US" altLang="zh-CN" sz="1000">
                <a:cs typeface="Lato Light"/>
              </a:rPr>
              <a:t> </a:t>
            </a:r>
            <a:r>
              <a:rPr lang="en-US" altLang="zh-CN" sz="1000" b="1">
                <a:cs typeface="Lato Light"/>
              </a:rPr>
              <a:t>processing </a:t>
            </a:r>
            <a:r>
              <a:rPr lang="en-US" altLang="zh-CN" sz="1000">
                <a:cs typeface="Lato Light"/>
              </a:rPr>
              <a:t>is supported by entering multiple material numbers separated by commas or line breaks, or upload Excel file.</a:t>
            </a:r>
            <a:endParaRPr lang="en-US" sz="1000">
              <a:cs typeface="Lato Light"/>
            </a:endParaRPr>
          </a:p>
          <a:p>
            <a:endParaRPr lang="en-US" sz="1000">
              <a:cs typeface="Lato Light"/>
            </a:endParaRPr>
          </a:p>
          <a:p>
            <a:r>
              <a:rPr lang="en-US" sz="1000">
                <a:cs typeface="Lato Light"/>
              </a:rPr>
              <a:t>1. Enter one or more EPRs or upload Excel file.</a:t>
            </a:r>
          </a:p>
          <a:p>
            <a:r>
              <a:rPr lang="en-US" sz="1000">
                <a:cs typeface="Lato Light"/>
              </a:rPr>
              <a:t>2. </a:t>
            </a:r>
            <a:r>
              <a:rPr lang="en-US" sz="1000" b="1">
                <a:cs typeface="Lato Light"/>
              </a:rPr>
              <a:t>Execute</a:t>
            </a:r>
            <a:r>
              <a:rPr lang="en-US" sz="1000">
                <a:cs typeface="Lato Light"/>
              </a:rPr>
              <a:t> the request to retrieve EPR from LCMP.</a:t>
            </a:r>
          </a:p>
          <a:p>
            <a:endParaRPr lang="en-US" sz="1000">
              <a:cs typeface="Lato Light"/>
            </a:endParaRPr>
          </a:p>
          <a:p>
            <a:r>
              <a:rPr lang="en-US" altLang="zh-CN" sz="1000" b="1">
                <a:cs typeface="Lato Light"/>
              </a:rPr>
              <a:t>Delete</a:t>
            </a:r>
          </a:p>
          <a:p>
            <a:r>
              <a:rPr lang="en-US" altLang="zh-CN" sz="1000">
                <a:cs typeface="Lato Light"/>
              </a:rPr>
              <a:t>Remove EPR records when permitted by business rules.</a:t>
            </a:r>
          </a:p>
          <a:p>
            <a:r>
              <a:rPr lang="en-US" altLang="zh-CN" sz="1000">
                <a:cs typeface="Lato Light"/>
              </a:rPr>
              <a:t>An EPR can only be deleted when its status is </a:t>
            </a:r>
            <a:r>
              <a:rPr lang="en-US" altLang="zh-CN" sz="1000" b="1">
                <a:cs typeface="Lato Light"/>
              </a:rPr>
              <a:t>Error.</a:t>
            </a:r>
          </a:p>
          <a:p>
            <a:endParaRPr lang="en-US" altLang="zh-CN" sz="1000" b="1">
              <a:cs typeface="Lato Light"/>
            </a:endParaRPr>
          </a:p>
          <a:p>
            <a:r>
              <a:rPr lang="en-US" altLang="zh-CN" sz="1000" b="1">
                <a:cs typeface="Lato Light"/>
              </a:rPr>
              <a:t>Deactivate EPR</a:t>
            </a:r>
          </a:p>
          <a:p>
            <a:r>
              <a:rPr lang="en-US" altLang="zh-CN" sz="1000">
                <a:cs typeface="Lato Light"/>
              </a:rPr>
              <a:t>Deactivate an active EPR.</a:t>
            </a:r>
          </a:p>
          <a:p>
            <a:r>
              <a:rPr lang="en-US" altLang="zh-CN" sz="1000">
                <a:cs typeface="Lato Light"/>
              </a:rPr>
              <a:t>The EPR status changes to inactive after deactivation.</a:t>
            </a:r>
          </a:p>
          <a:p>
            <a:r>
              <a:rPr lang="en-US" altLang="zh-CN" sz="1000">
                <a:cs typeface="Lato Light"/>
              </a:rPr>
              <a:t>The EPR can no longer be used for new business processing.</a:t>
            </a:r>
          </a:p>
          <a:p>
            <a:endParaRPr lang="en-US" altLang="zh-CN" sz="1000">
              <a:cs typeface="Lato Light"/>
            </a:endParaRPr>
          </a:p>
          <a:p>
            <a:r>
              <a:rPr lang="en-US" altLang="zh-CN" sz="1000" b="1">
                <a:cs typeface="Lato Light"/>
              </a:rPr>
              <a:t>Reactivate EPR</a:t>
            </a:r>
          </a:p>
          <a:p>
            <a:r>
              <a:rPr lang="en-US" altLang="zh-CN" sz="1000">
                <a:cs typeface="Lato Light"/>
              </a:rPr>
              <a:t>Reactivate a previously deactivated EPR.</a:t>
            </a:r>
          </a:p>
          <a:p>
            <a:r>
              <a:rPr lang="en-US" altLang="zh-CN" sz="1000">
                <a:cs typeface="Lato Light"/>
              </a:rPr>
              <a:t>The EPR returns to active status after reactivation.</a:t>
            </a:r>
            <a:endParaRPr lang="en-US" sz="1000">
              <a:cs typeface="Lato Light"/>
            </a:endParaRPr>
          </a:p>
        </p:txBody>
      </p:sp>
      <p:sp>
        <p:nvSpPr>
          <p:cNvPr id="9" name="Text 2">
            <a:extLst>
              <a:ext uri="{FF2B5EF4-FFF2-40B4-BE49-F238E27FC236}">
                <a16:creationId xmlns:a16="http://schemas.microsoft.com/office/drawing/2014/main" id="{BE739C22-D7BF-BE31-7BFF-7219D8E41B7C}"/>
              </a:ext>
            </a:extLst>
          </p:cNvPr>
          <p:cNvSpPr/>
          <p:nvPr/>
        </p:nvSpPr>
        <p:spPr>
          <a:xfrm>
            <a:off x="320182" y="745863"/>
            <a:ext cx="11193901" cy="700016"/>
          </a:xfrm>
          <a:prstGeom prst="rect">
            <a:avLst/>
          </a:prstGeom>
          <a:noFill/>
          <a:ln/>
        </p:spPr>
        <p:txBody>
          <a:bodyPr wrap="square" lIns="0" tIns="0" rIns="0" bIns="0" rtlCol="0" anchor="ctr">
            <a:normAutofit/>
          </a:bodyPr>
          <a:lstStyle/>
          <a:p>
            <a:r>
              <a:rPr lang="en-US" altLang="zh-CN" sz="1200"/>
              <a:t>EPR records in </a:t>
            </a:r>
            <a:r>
              <a:rPr lang="en-US" altLang="zh-CN" sz="1200" err="1"/>
              <a:t>NexBill</a:t>
            </a:r>
            <a:r>
              <a:rPr lang="en-US" altLang="zh-CN" sz="1200"/>
              <a:t> originate from Contract Center (LCMP). The standard integration flow is:  LCMP → </a:t>
            </a:r>
            <a:r>
              <a:rPr lang="en-US" altLang="zh-CN" sz="1200" err="1"/>
              <a:t>NexBill</a:t>
            </a:r>
            <a:r>
              <a:rPr lang="en-US" altLang="zh-CN" sz="1200"/>
              <a:t>. </a:t>
            </a:r>
          </a:p>
          <a:p>
            <a:r>
              <a:rPr lang="en-US" altLang="zh-CN" sz="1200"/>
              <a:t>The EPR Search and EPR Detail pages provide EPR functions, including New, Copy, Pull From LCMP, Delete, Deactivate, and Reactivate. </a:t>
            </a:r>
          </a:p>
          <a:p>
            <a:r>
              <a:rPr lang="en-US" altLang="zh-CN" sz="1200"/>
              <a:t>These functions are provided primarily for </a:t>
            </a:r>
            <a:r>
              <a:rPr lang="en-US" altLang="zh-CN" sz="1200" b="1"/>
              <a:t>exceptional business scenarios </a:t>
            </a:r>
            <a:r>
              <a:rPr lang="en-US" altLang="zh-CN" sz="1200"/>
              <a:t>and are </a:t>
            </a:r>
            <a:r>
              <a:rPr lang="en-US" altLang="zh-CN" sz="1200" b="1"/>
              <a:t>restricted to authorized users.</a:t>
            </a:r>
            <a:endParaRPr lang="en-US" altLang="zh-CN" sz="1200"/>
          </a:p>
        </p:txBody>
      </p:sp>
      <p:sp>
        <p:nvSpPr>
          <p:cNvPr id="2" name="TextBox 97">
            <a:extLst>
              <a:ext uri="{FF2B5EF4-FFF2-40B4-BE49-F238E27FC236}">
                <a16:creationId xmlns:a16="http://schemas.microsoft.com/office/drawing/2014/main" id="{FD59F8CA-C01E-C35F-879D-25A3B24D1AB8}"/>
              </a:ext>
            </a:extLst>
          </p:cNvPr>
          <p:cNvSpPr txBox="1"/>
          <p:nvPr/>
        </p:nvSpPr>
        <p:spPr>
          <a:xfrm>
            <a:off x="7745008" y="1428631"/>
            <a:ext cx="3374937" cy="292388"/>
          </a:xfrm>
          <a:prstGeom prst="rect">
            <a:avLst/>
          </a:prstGeom>
          <a:noFill/>
        </p:spPr>
        <p:txBody>
          <a:bodyPr wrap="square" rtlCol="0">
            <a:spAutoFit/>
          </a:bodyPr>
          <a:lstStyle/>
          <a:p>
            <a:r>
              <a:rPr lang="en-US" sz="1300" b="1">
                <a:solidFill>
                  <a:srgbClr val="4646C3"/>
                </a:solidFill>
                <a:latin typeface="+mj-lt"/>
                <a:cs typeface="Lato Regular"/>
              </a:rPr>
              <a:t>Action Buttons -</a:t>
            </a:r>
            <a:r>
              <a:rPr lang="en-US" altLang="zh-CN" sz="1300" b="1">
                <a:solidFill>
                  <a:srgbClr val="4646C3"/>
                </a:solidFill>
                <a:cs typeface="Lato Regular"/>
              </a:rPr>
              <a:t> T</a:t>
            </a:r>
            <a:r>
              <a:rPr lang="zh-CN" altLang="en-US" sz="1300" b="1">
                <a:solidFill>
                  <a:srgbClr val="4646C3"/>
                </a:solidFill>
                <a:cs typeface="Lato Regular"/>
              </a:rPr>
              <a:t>ake </a:t>
            </a:r>
            <a:r>
              <a:rPr lang="en-US" altLang="zh-CN" sz="1300" b="1">
                <a:solidFill>
                  <a:srgbClr val="4646C3"/>
                </a:solidFill>
                <a:cs typeface="Lato Regular"/>
              </a:rPr>
              <a:t>E</a:t>
            </a:r>
            <a:r>
              <a:rPr lang="zh-CN" altLang="en-US" sz="1300" b="1">
                <a:solidFill>
                  <a:srgbClr val="4646C3"/>
                </a:solidFill>
                <a:cs typeface="Lato Regular"/>
              </a:rPr>
              <a:t>ffect </a:t>
            </a:r>
            <a:r>
              <a:rPr lang="en-US" altLang="zh-CN" sz="1300" b="1">
                <a:solidFill>
                  <a:srgbClr val="4646C3"/>
                </a:solidFill>
                <a:cs typeface="Lato Regular"/>
              </a:rPr>
              <a:t>I</a:t>
            </a:r>
            <a:r>
              <a:rPr lang="zh-CN" altLang="en-US" sz="1300" b="1">
                <a:solidFill>
                  <a:srgbClr val="4646C3"/>
                </a:solidFill>
                <a:cs typeface="Lato Regular"/>
              </a:rPr>
              <a:t>mmediately</a:t>
            </a:r>
            <a:endParaRPr lang="en-US" sz="1300" b="1">
              <a:solidFill>
                <a:srgbClr val="4646C3"/>
              </a:solidFill>
              <a:latin typeface="+mj-lt"/>
              <a:cs typeface="Lato Regular"/>
            </a:endParaRPr>
          </a:p>
        </p:txBody>
      </p:sp>
      <p:sp>
        <p:nvSpPr>
          <p:cNvPr id="5" name="Oval 114">
            <a:extLst>
              <a:ext uri="{FF2B5EF4-FFF2-40B4-BE49-F238E27FC236}">
                <a16:creationId xmlns:a16="http://schemas.microsoft.com/office/drawing/2014/main" id="{C3AD69CD-A2DF-8FC7-5437-C1E5786749B2}"/>
              </a:ext>
            </a:extLst>
          </p:cNvPr>
          <p:cNvSpPr/>
          <p:nvPr/>
        </p:nvSpPr>
        <p:spPr>
          <a:xfrm>
            <a:off x="7516409" y="1460525"/>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13" name="图片 12">
            <a:extLst>
              <a:ext uri="{FF2B5EF4-FFF2-40B4-BE49-F238E27FC236}">
                <a16:creationId xmlns:a16="http://schemas.microsoft.com/office/drawing/2014/main" id="{8B3D54BD-05B8-EEF0-6E5B-4A52EC965ED1}"/>
              </a:ext>
            </a:extLst>
          </p:cNvPr>
          <p:cNvPicPr>
            <a:picLocks noChangeAspect="1"/>
          </p:cNvPicPr>
          <p:nvPr/>
        </p:nvPicPr>
        <p:blipFill>
          <a:blip r:embed="rId2"/>
          <a:stretch>
            <a:fillRect/>
          </a:stretch>
        </p:blipFill>
        <p:spPr>
          <a:xfrm>
            <a:off x="320182" y="1492255"/>
            <a:ext cx="7047570" cy="4023036"/>
          </a:xfrm>
          <a:prstGeom prst="rect">
            <a:avLst/>
          </a:prstGeom>
        </p:spPr>
      </p:pic>
      <p:pic>
        <p:nvPicPr>
          <p:cNvPr id="16" name="图片 15">
            <a:extLst>
              <a:ext uri="{FF2B5EF4-FFF2-40B4-BE49-F238E27FC236}">
                <a16:creationId xmlns:a16="http://schemas.microsoft.com/office/drawing/2014/main" id="{74DD9D21-EC34-A7F2-4ACE-17C02AA4F547}"/>
              </a:ext>
            </a:extLst>
          </p:cNvPr>
          <p:cNvPicPr>
            <a:picLocks noChangeAspect="1"/>
          </p:cNvPicPr>
          <p:nvPr/>
        </p:nvPicPr>
        <p:blipFill>
          <a:blip r:embed="rId3"/>
          <a:stretch>
            <a:fillRect/>
          </a:stretch>
        </p:blipFill>
        <p:spPr>
          <a:xfrm>
            <a:off x="1119339" y="2802385"/>
            <a:ext cx="3295571" cy="2349277"/>
          </a:xfrm>
          <a:prstGeom prst="rect">
            <a:avLst/>
          </a:prstGeom>
        </p:spPr>
      </p:pic>
      <p:sp>
        <p:nvSpPr>
          <p:cNvPr id="18" name="Oval 114">
            <a:extLst>
              <a:ext uri="{FF2B5EF4-FFF2-40B4-BE49-F238E27FC236}">
                <a16:creationId xmlns:a16="http://schemas.microsoft.com/office/drawing/2014/main" id="{670E47BA-B586-CCA0-9F05-1B9BC3B77CC4}"/>
              </a:ext>
            </a:extLst>
          </p:cNvPr>
          <p:cNvSpPr/>
          <p:nvPr/>
        </p:nvSpPr>
        <p:spPr>
          <a:xfrm>
            <a:off x="4511559" y="2722871"/>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6" name="图片 5">
            <a:extLst>
              <a:ext uri="{FF2B5EF4-FFF2-40B4-BE49-F238E27FC236}">
                <a16:creationId xmlns:a16="http://schemas.microsoft.com/office/drawing/2014/main" id="{059F5330-5DE6-EB67-9AF5-583E75DA5BED}"/>
              </a:ext>
            </a:extLst>
          </p:cNvPr>
          <p:cNvPicPr>
            <a:picLocks noChangeAspect="1"/>
          </p:cNvPicPr>
          <p:nvPr/>
        </p:nvPicPr>
        <p:blipFill>
          <a:blip r:embed="rId4"/>
          <a:stretch>
            <a:fillRect/>
          </a:stretch>
        </p:blipFill>
        <p:spPr>
          <a:xfrm>
            <a:off x="320182" y="5151662"/>
            <a:ext cx="6950921" cy="1523751"/>
          </a:xfrm>
          <a:prstGeom prst="rect">
            <a:avLst/>
          </a:prstGeom>
        </p:spPr>
      </p:pic>
      <p:sp>
        <p:nvSpPr>
          <p:cNvPr id="7" name="Oval 114">
            <a:extLst>
              <a:ext uri="{FF2B5EF4-FFF2-40B4-BE49-F238E27FC236}">
                <a16:creationId xmlns:a16="http://schemas.microsoft.com/office/drawing/2014/main" id="{0A3624F6-4233-C70B-CD8A-FC3332E402CF}"/>
              </a:ext>
            </a:extLst>
          </p:cNvPr>
          <p:cNvSpPr/>
          <p:nvPr/>
        </p:nvSpPr>
        <p:spPr>
          <a:xfrm>
            <a:off x="5867400" y="5515291"/>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spTree>
    <p:extLst>
      <p:ext uri="{BB962C8B-B14F-4D97-AF65-F5344CB8AC3E}">
        <p14:creationId xmlns:p14="http://schemas.microsoft.com/office/powerpoint/2010/main" val="3787819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5" grpId="0" animBg="1"/>
      <p:bldP spid="18"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D4411-C0A2-0DA2-CC14-E8F7DD3A0FD7}"/>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CC3B85BF-9ACD-BA22-BF88-E24B2BCFE856}"/>
              </a:ext>
            </a:extLst>
          </p:cNvPr>
          <p:cNvPicPr>
            <a:picLocks noChangeAspect="1"/>
          </p:cNvPicPr>
          <p:nvPr/>
        </p:nvPicPr>
        <p:blipFill>
          <a:blip r:embed="rId2"/>
          <a:stretch>
            <a:fillRect/>
          </a:stretch>
        </p:blipFill>
        <p:spPr>
          <a:xfrm>
            <a:off x="430120" y="1406070"/>
            <a:ext cx="7095287" cy="1623783"/>
          </a:xfrm>
          <a:prstGeom prst="rect">
            <a:avLst/>
          </a:prstGeom>
        </p:spPr>
      </p:pic>
      <p:pic>
        <p:nvPicPr>
          <p:cNvPr id="21" name="图片 20">
            <a:extLst>
              <a:ext uri="{FF2B5EF4-FFF2-40B4-BE49-F238E27FC236}">
                <a16:creationId xmlns:a16="http://schemas.microsoft.com/office/drawing/2014/main" id="{C9BE53FE-DC15-7DFE-86C3-71011EC149A6}"/>
              </a:ext>
            </a:extLst>
          </p:cNvPr>
          <p:cNvPicPr>
            <a:picLocks noChangeAspect="1"/>
          </p:cNvPicPr>
          <p:nvPr/>
        </p:nvPicPr>
        <p:blipFill>
          <a:blip r:embed="rId3"/>
          <a:stretch>
            <a:fillRect/>
          </a:stretch>
        </p:blipFill>
        <p:spPr>
          <a:xfrm>
            <a:off x="430120" y="2730145"/>
            <a:ext cx="7095286" cy="2886504"/>
          </a:xfrm>
          <a:prstGeom prst="rect">
            <a:avLst/>
          </a:prstGeom>
        </p:spPr>
      </p:pic>
      <p:sp>
        <p:nvSpPr>
          <p:cNvPr id="3" name="标题 2">
            <a:extLst>
              <a:ext uri="{FF2B5EF4-FFF2-40B4-BE49-F238E27FC236}">
                <a16:creationId xmlns:a16="http://schemas.microsoft.com/office/drawing/2014/main" id="{5507A022-9C8B-5D22-18AC-2F8336338076}"/>
              </a:ext>
            </a:extLst>
          </p:cNvPr>
          <p:cNvSpPr>
            <a:spLocks noGrp="1"/>
          </p:cNvSpPr>
          <p:nvPr>
            <p:ph type="title"/>
          </p:nvPr>
        </p:nvSpPr>
        <p:spPr/>
        <p:txBody>
          <a:bodyPr/>
          <a:lstStyle/>
          <a:p>
            <a:r>
              <a:rPr lang="en-US" altLang="zh-CN"/>
              <a:t>Entitled Price Record - Change</a:t>
            </a:r>
            <a:endParaRPr lang="zh-CN" altLang="en-US"/>
          </a:p>
        </p:txBody>
      </p:sp>
      <p:sp>
        <p:nvSpPr>
          <p:cNvPr id="2" name="Text 2">
            <a:extLst>
              <a:ext uri="{FF2B5EF4-FFF2-40B4-BE49-F238E27FC236}">
                <a16:creationId xmlns:a16="http://schemas.microsoft.com/office/drawing/2014/main" id="{66EF5D7E-D091-F532-A8E0-50AF411D55A0}"/>
              </a:ext>
            </a:extLst>
          </p:cNvPr>
          <p:cNvSpPr/>
          <p:nvPr/>
        </p:nvSpPr>
        <p:spPr>
          <a:xfrm>
            <a:off x="362223" y="771313"/>
            <a:ext cx="11509595" cy="556863"/>
          </a:xfrm>
          <a:prstGeom prst="rect">
            <a:avLst/>
          </a:prstGeom>
          <a:noFill/>
          <a:ln/>
        </p:spPr>
        <p:txBody>
          <a:bodyPr wrap="square" lIns="0" tIns="0" rIns="0" bIns="0" rtlCol="0" anchor="ctr">
            <a:noAutofit/>
          </a:bodyPr>
          <a:lstStyle/>
          <a:p>
            <a:r>
              <a:rPr lang="en-US" altLang="zh-CN" sz="1200"/>
              <a:t>EPR records are normally created and maintained in Contract Center and then synchronized to </a:t>
            </a:r>
            <a:r>
              <a:rPr lang="en-US" altLang="zh-CN" sz="1200" err="1"/>
              <a:t>NexBill</a:t>
            </a:r>
            <a:r>
              <a:rPr lang="en-US" altLang="zh-CN" sz="1200"/>
              <a:t> through the integration interface. </a:t>
            </a:r>
          </a:p>
          <a:p>
            <a:r>
              <a:rPr lang="en-US" altLang="zh-CN" sz="1200"/>
              <a:t>Certain EPR change functions may be performed by </a:t>
            </a:r>
            <a:r>
              <a:rPr lang="en-US" altLang="zh-CN" sz="1200" b="1"/>
              <a:t>authorized users </a:t>
            </a:r>
            <a:r>
              <a:rPr lang="en-US" altLang="zh-CN" sz="1200"/>
              <a:t>in </a:t>
            </a:r>
            <a:r>
              <a:rPr lang="en-US" altLang="zh-CN" sz="1200" err="1"/>
              <a:t>NexBill</a:t>
            </a:r>
            <a:r>
              <a:rPr lang="en-US" altLang="zh-CN" sz="1200"/>
              <a:t> according to business requirements and assigned permissions.</a:t>
            </a:r>
          </a:p>
          <a:p>
            <a:r>
              <a:rPr lang="en-US" altLang="zh-CN" sz="1200"/>
              <a:t>Submit changes will trigger a Change Request and approval workflow before becoming effective.</a:t>
            </a:r>
          </a:p>
        </p:txBody>
      </p:sp>
      <p:sp>
        <p:nvSpPr>
          <p:cNvPr id="12" name="TextBox 93">
            <a:extLst>
              <a:ext uri="{FF2B5EF4-FFF2-40B4-BE49-F238E27FC236}">
                <a16:creationId xmlns:a16="http://schemas.microsoft.com/office/drawing/2014/main" id="{27F20784-B6EA-DE69-32F1-36345CAD6C93}"/>
              </a:ext>
            </a:extLst>
          </p:cNvPr>
          <p:cNvSpPr txBox="1"/>
          <p:nvPr/>
        </p:nvSpPr>
        <p:spPr>
          <a:xfrm>
            <a:off x="7972586" y="1632108"/>
            <a:ext cx="3752118" cy="707886"/>
          </a:xfrm>
          <a:prstGeom prst="rect">
            <a:avLst/>
          </a:prstGeom>
          <a:noFill/>
        </p:spPr>
        <p:txBody>
          <a:bodyPr wrap="square" rtlCol="0">
            <a:spAutoFit/>
          </a:bodyPr>
          <a:lstStyle/>
          <a:p>
            <a:r>
              <a:rPr lang="en-US" altLang="zh-CN" sz="1000" b="1">
                <a:cs typeface="Lato Light"/>
              </a:rPr>
              <a:t>Edit </a:t>
            </a:r>
          </a:p>
          <a:p>
            <a:r>
              <a:rPr lang="en-US" altLang="zh-CN" sz="1000">
                <a:cs typeface="Lato Light"/>
              </a:rPr>
              <a:t>The Edit function allows authorized users to modify EPR information. Submitted changes will trigger a Change Request and approval workflow before becoming effective.</a:t>
            </a:r>
          </a:p>
        </p:txBody>
      </p:sp>
      <p:sp>
        <p:nvSpPr>
          <p:cNvPr id="19" name="TextBox 72">
            <a:extLst>
              <a:ext uri="{FF2B5EF4-FFF2-40B4-BE49-F238E27FC236}">
                <a16:creationId xmlns:a16="http://schemas.microsoft.com/office/drawing/2014/main" id="{7D8221A9-FD6C-258F-7225-182FFD4FB6CD}"/>
              </a:ext>
            </a:extLst>
          </p:cNvPr>
          <p:cNvSpPr txBox="1"/>
          <p:nvPr/>
        </p:nvSpPr>
        <p:spPr>
          <a:xfrm>
            <a:off x="7972586" y="1365592"/>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EPR Change - Approval Required</a:t>
            </a:r>
          </a:p>
        </p:txBody>
      </p:sp>
      <p:sp>
        <p:nvSpPr>
          <p:cNvPr id="20" name="Oval 111">
            <a:extLst>
              <a:ext uri="{FF2B5EF4-FFF2-40B4-BE49-F238E27FC236}">
                <a16:creationId xmlns:a16="http://schemas.microsoft.com/office/drawing/2014/main" id="{191D3FE8-90CF-2B81-96E3-8D5F243F677A}"/>
              </a:ext>
            </a:extLst>
          </p:cNvPr>
          <p:cNvSpPr/>
          <p:nvPr/>
        </p:nvSpPr>
        <p:spPr>
          <a:xfrm>
            <a:off x="7726794" y="143388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2" name="Oval 111">
            <a:extLst>
              <a:ext uri="{FF2B5EF4-FFF2-40B4-BE49-F238E27FC236}">
                <a16:creationId xmlns:a16="http://schemas.microsoft.com/office/drawing/2014/main" id="{CE8A9C4E-E546-0E5F-7880-7B7CA98281C6}"/>
              </a:ext>
            </a:extLst>
          </p:cNvPr>
          <p:cNvSpPr/>
          <p:nvPr/>
        </p:nvSpPr>
        <p:spPr>
          <a:xfrm>
            <a:off x="5266960" y="178456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9" name="图片 8">
            <a:extLst>
              <a:ext uri="{FF2B5EF4-FFF2-40B4-BE49-F238E27FC236}">
                <a16:creationId xmlns:a16="http://schemas.microsoft.com/office/drawing/2014/main" id="{9767870A-81B0-7341-C25C-8DD20427C681}"/>
              </a:ext>
            </a:extLst>
          </p:cNvPr>
          <p:cNvPicPr>
            <a:picLocks noChangeAspect="1"/>
          </p:cNvPicPr>
          <p:nvPr/>
        </p:nvPicPr>
        <p:blipFill>
          <a:blip r:embed="rId4"/>
          <a:stretch>
            <a:fillRect/>
          </a:stretch>
        </p:blipFill>
        <p:spPr>
          <a:xfrm>
            <a:off x="2479709" y="2951674"/>
            <a:ext cx="3111794" cy="2569693"/>
          </a:xfrm>
          <a:prstGeom prst="rect">
            <a:avLst/>
          </a:prstGeom>
        </p:spPr>
      </p:pic>
      <p:pic>
        <p:nvPicPr>
          <p:cNvPr id="13" name="图片 12">
            <a:extLst>
              <a:ext uri="{FF2B5EF4-FFF2-40B4-BE49-F238E27FC236}">
                <a16:creationId xmlns:a16="http://schemas.microsoft.com/office/drawing/2014/main" id="{CD032793-8194-0B4D-EDA3-D0586A44E79A}"/>
              </a:ext>
            </a:extLst>
          </p:cNvPr>
          <p:cNvPicPr>
            <a:picLocks noChangeAspect="1"/>
          </p:cNvPicPr>
          <p:nvPr/>
        </p:nvPicPr>
        <p:blipFill>
          <a:blip r:embed="rId5"/>
          <a:stretch>
            <a:fillRect/>
          </a:stretch>
        </p:blipFill>
        <p:spPr>
          <a:xfrm>
            <a:off x="550360" y="5521367"/>
            <a:ext cx="6274676" cy="1157341"/>
          </a:xfrm>
          <a:prstGeom prst="rect">
            <a:avLst/>
          </a:prstGeom>
        </p:spPr>
      </p:pic>
      <p:sp>
        <p:nvSpPr>
          <p:cNvPr id="23" name="TextBox 93">
            <a:extLst>
              <a:ext uri="{FF2B5EF4-FFF2-40B4-BE49-F238E27FC236}">
                <a16:creationId xmlns:a16="http://schemas.microsoft.com/office/drawing/2014/main" id="{A8AE1877-D852-4F7E-A77C-770884E09B10}"/>
              </a:ext>
            </a:extLst>
          </p:cNvPr>
          <p:cNvSpPr txBox="1"/>
          <p:nvPr/>
        </p:nvSpPr>
        <p:spPr>
          <a:xfrm>
            <a:off x="7972586" y="2566548"/>
            <a:ext cx="3899232" cy="2708434"/>
          </a:xfrm>
          <a:prstGeom prst="rect">
            <a:avLst/>
          </a:prstGeom>
          <a:noFill/>
        </p:spPr>
        <p:txBody>
          <a:bodyPr wrap="square" rtlCol="0">
            <a:spAutoFit/>
          </a:bodyPr>
          <a:lstStyle/>
          <a:p>
            <a:r>
              <a:rPr lang="en-US" altLang="zh-CN" sz="1000">
                <a:cs typeface="Lato Light"/>
              </a:rPr>
              <a:t>Users click the </a:t>
            </a:r>
            <a:r>
              <a:rPr lang="en-US" altLang="zh-CN" sz="1000" b="1">
                <a:cs typeface="Lato Light"/>
              </a:rPr>
              <a:t>Edit</a:t>
            </a:r>
            <a:r>
              <a:rPr lang="en-US" altLang="zh-CN" sz="1000">
                <a:cs typeface="Lato Light"/>
              </a:rPr>
              <a:t> button in the page </a:t>
            </a:r>
            <a:r>
              <a:rPr lang="en-US" altLang="zh-CN" sz="1000" b="1">
                <a:cs typeface="Lato Light"/>
              </a:rPr>
              <a:t>header</a:t>
            </a:r>
            <a:r>
              <a:rPr lang="en-US" altLang="zh-CN" sz="1000">
                <a:cs typeface="Lato Light"/>
              </a:rPr>
              <a:t> to enter Edit Mode.</a:t>
            </a:r>
          </a:p>
          <a:p>
            <a:r>
              <a:rPr lang="en-US" altLang="zh-CN" sz="1000">
                <a:cs typeface="Lato Light"/>
              </a:rPr>
              <a:t>When the EPR is in Edit Mode, users can maintain EPR items in the Items tab.</a:t>
            </a:r>
          </a:p>
          <a:p>
            <a:endParaRPr lang="en-US" altLang="zh-CN" sz="1000">
              <a:cs typeface="Lato Light"/>
            </a:endParaRPr>
          </a:p>
          <a:p>
            <a:r>
              <a:rPr lang="en-US" altLang="zh-CN" sz="1000" b="1">
                <a:cs typeface="Lato Light"/>
              </a:rPr>
              <a:t>Add Item</a:t>
            </a:r>
          </a:p>
          <a:p>
            <a:r>
              <a:rPr lang="en-US" altLang="zh-CN" sz="1000">
                <a:cs typeface="Lato Light"/>
              </a:rPr>
              <a:t>Users can click </a:t>
            </a:r>
            <a:r>
              <a:rPr lang="en-US" altLang="zh-CN" sz="1000" b="1">
                <a:cs typeface="Lato Light"/>
              </a:rPr>
              <a:t>New</a:t>
            </a:r>
            <a:r>
              <a:rPr lang="en-US" altLang="zh-CN" sz="1000">
                <a:cs typeface="Lato Light"/>
              </a:rPr>
              <a:t> to add a new product item to the EPR.</a:t>
            </a:r>
          </a:p>
          <a:p>
            <a:r>
              <a:rPr lang="en-US" altLang="zh-CN" sz="1000">
                <a:cs typeface="Lato Light"/>
              </a:rPr>
              <a:t>When adding a new item or updating the Product field, users can click the Search Help (</a:t>
            </a:r>
            <a:r>
              <a:rPr lang="zh-CN" altLang="en-US" sz="1000">
                <a:cs typeface="Lato Light"/>
              </a:rPr>
              <a:t>🔍</a:t>
            </a:r>
            <a:r>
              <a:rPr lang="en-US" altLang="zh-CN" sz="1000">
                <a:cs typeface="Lato Light"/>
              </a:rPr>
              <a:t>) icon next to the Product field to open the Product Master Search window.</a:t>
            </a:r>
          </a:p>
          <a:p>
            <a:endParaRPr lang="en-US" altLang="zh-CN" sz="1000">
              <a:cs typeface="Lato Light"/>
            </a:endParaRPr>
          </a:p>
          <a:p>
            <a:r>
              <a:rPr lang="en-US" altLang="zh-CN" sz="1000" b="1">
                <a:cs typeface="Lato Light"/>
              </a:rPr>
              <a:t>Update Item</a:t>
            </a:r>
          </a:p>
          <a:p>
            <a:r>
              <a:rPr lang="en-US" altLang="zh-CN" sz="1000">
                <a:cs typeface="Lato Light"/>
              </a:rPr>
              <a:t>Users can modify supported item attributes directly in the Item Overview table or through the Item Detail page.</a:t>
            </a:r>
          </a:p>
          <a:p>
            <a:endParaRPr lang="en-US" altLang="zh-CN" sz="1000">
              <a:cs typeface="Lato Light"/>
            </a:endParaRPr>
          </a:p>
          <a:p>
            <a:r>
              <a:rPr lang="en-US" altLang="zh-CN" sz="1000" b="1">
                <a:cs typeface="Lato Light"/>
              </a:rPr>
              <a:t>Delete Item</a:t>
            </a:r>
          </a:p>
          <a:p>
            <a:r>
              <a:rPr lang="en-US" altLang="zh-CN" sz="1000">
                <a:cs typeface="Lato Light"/>
              </a:rPr>
              <a:t>Users can remove an existing item from the EPR by selecting the Delete icon for the corresponding item.</a:t>
            </a:r>
            <a:r>
              <a:rPr lang="en-US" altLang="zh-CN" sz="1000" b="1">
                <a:cs typeface="Lato Light"/>
              </a:rPr>
              <a:t> </a:t>
            </a:r>
            <a:endParaRPr lang="en-US" altLang="zh-CN" sz="1000">
              <a:cs typeface="Lato Light"/>
            </a:endParaRPr>
          </a:p>
        </p:txBody>
      </p:sp>
      <p:sp>
        <p:nvSpPr>
          <p:cNvPr id="25" name="TextBox 82">
            <a:extLst>
              <a:ext uri="{FF2B5EF4-FFF2-40B4-BE49-F238E27FC236}">
                <a16:creationId xmlns:a16="http://schemas.microsoft.com/office/drawing/2014/main" id="{8AD40283-F51F-9D7E-7039-80E7B9049E55}"/>
              </a:ext>
            </a:extLst>
          </p:cNvPr>
          <p:cNvSpPr txBox="1"/>
          <p:nvPr/>
        </p:nvSpPr>
        <p:spPr>
          <a:xfrm>
            <a:off x="7972586" y="2314122"/>
            <a:ext cx="1939214" cy="292388"/>
          </a:xfrm>
          <a:prstGeom prst="rect">
            <a:avLst/>
          </a:prstGeom>
          <a:noFill/>
        </p:spPr>
        <p:txBody>
          <a:bodyPr wrap="square" rtlCol="0">
            <a:spAutoFit/>
          </a:bodyPr>
          <a:lstStyle/>
          <a:p>
            <a:r>
              <a:rPr lang="en-US" sz="1300" b="1">
                <a:solidFill>
                  <a:srgbClr val="126C36"/>
                </a:solidFill>
                <a:cs typeface="Lato Regular"/>
              </a:rPr>
              <a:t>EPR Item Change </a:t>
            </a:r>
          </a:p>
        </p:txBody>
      </p:sp>
      <p:sp>
        <p:nvSpPr>
          <p:cNvPr id="27" name="Oval 112">
            <a:extLst>
              <a:ext uri="{FF2B5EF4-FFF2-40B4-BE49-F238E27FC236}">
                <a16:creationId xmlns:a16="http://schemas.microsoft.com/office/drawing/2014/main" id="{A12C3B28-C492-0A23-D672-6A1A69125517}"/>
              </a:ext>
            </a:extLst>
          </p:cNvPr>
          <p:cNvSpPr/>
          <p:nvPr/>
        </p:nvSpPr>
        <p:spPr>
          <a:xfrm>
            <a:off x="7743986" y="2343236"/>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8" name="TextBox 97">
            <a:extLst>
              <a:ext uri="{FF2B5EF4-FFF2-40B4-BE49-F238E27FC236}">
                <a16:creationId xmlns:a16="http://schemas.microsoft.com/office/drawing/2014/main" id="{E45033E3-9524-C898-1C18-6FBD7BAD041D}"/>
              </a:ext>
            </a:extLst>
          </p:cNvPr>
          <p:cNvSpPr txBox="1"/>
          <p:nvPr/>
        </p:nvSpPr>
        <p:spPr>
          <a:xfrm>
            <a:off x="7980394" y="5222513"/>
            <a:ext cx="2972520" cy="292388"/>
          </a:xfrm>
          <a:prstGeom prst="rect">
            <a:avLst/>
          </a:prstGeom>
          <a:noFill/>
        </p:spPr>
        <p:txBody>
          <a:bodyPr wrap="square" rtlCol="0">
            <a:spAutoFit/>
          </a:bodyPr>
          <a:lstStyle/>
          <a:p>
            <a:r>
              <a:rPr lang="en-US" altLang="zh-CN" sz="1300" b="1">
                <a:solidFill>
                  <a:srgbClr val="F26A52"/>
                </a:solidFill>
                <a:cs typeface="Lato Regular"/>
              </a:rPr>
              <a:t>Partner Maintenance</a:t>
            </a:r>
          </a:p>
        </p:txBody>
      </p:sp>
      <p:sp>
        <p:nvSpPr>
          <p:cNvPr id="29" name="Oval 114">
            <a:extLst>
              <a:ext uri="{FF2B5EF4-FFF2-40B4-BE49-F238E27FC236}">
                <a16:creationId xmlns:a16="http://schemas.microsoft.com/office/drawing/2014/main" id="{6977ECE0-E594-CB92-89AC-506DED817F9D}"/>
              </a:ext>
            </a:extLst>
          </p:cNvPr>
          <p:cNvSpPr/>
          <p:nvPr/>
        </p:nvSpPr>
        <p:spPr>
          <a:xfrm>
            <a:off x="7754006" y="5242651"/>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30" name="TextBox 93">
            <a:extLst>
              <a:ext uri="{FF2B5EF4-FFF2-40B4-BE49-F238E27FC236}">
                <a16:creationId xmlns:a16="http://schemas.microsoft.com/office/drawing/2014/main" id="{AB139BF4-0A58-5B40-D0C9-053A8DF59710}"/>
              </a:ext>
            </a:extLst>
          </p:cNvPr>
          <p:cNvSpPr txBox="1"/>
          <p:nvPr/>
        </p:nvSpPr>
        <p:spPr>
          <a:xfrm>
            <a:off x="7980394" y="5451573"/>
            <a:ext cx="3987119" cy="1323439"/>
          </a:xfrm>
          <a:prstGeom prst="rect">
            <a:avLst/>
          </a:prstGeom>
          <a:noFill/>
        </p:spPr>
        <p:txBody>
          <a:bodyPr wrap="square" rtlCol="0">
            <a:spAutoFit/>
          </a:bodyPr>
          <a:lstStyle/>
          <a:p>
            <a:r>
              <a:rPr lang="en-US" altLang="zh-CN" sz="1000">
                <a:cs typeface="Lato Light"/>
              </a:rPr>
              <a:t>When the EPR is in Edit Mode, users can maintain partner assignments in the Parties Involved tab.</a:t>
            </a:r>
          </a:p>
          <a:p>
            <a:endParaRPr lang="en-US" altLang="zh-CN" sz="1000">
              <a:cs typeface="Lato Light"/>
            </a:endParaRPr>
          </a:p>
          <a:p>
            <a:r>
              <a:rPr lang="en-US" altLang="zh-CN" sz="1000" b="1">
                <a:cs typeface="Lato Light"/>
              </a:rPr>
              <a:t>Add Authorized Sold-To</a:t>
            </a:r>
          </a:p>
          <a:p>
            <a:r>
              <a:rPr lang="en-US" altLang="zh-CN" sz="1000">
                <a:cs typeface="Lato Light"/>
              </a:rPr>
              <a:t>Users can click </a:t>
            </a:r>
            <a:r>
              <a:rPr lang="en-US" altLang="zh-CN" sz="1000" b="1">
                <a:cs typeface="Lato Light"/>
              </a:rPr>
              <a:t>New</a:t>
            </a:r>
            <a:r>
              <a:rPr lang="en-US" altLang="zh-CN" sz="1000">
                <a:cs typeface="Lato Light"/>
              </a:rPr>
              <a:t> to add an </a:t>
            </a:r>
            <a:r>
              <a:rPr lang="en-US" altLang="zh-CN" sz="1000" b="1">
                <a:cs typeface="Lato Light"/>
              </a:rPr>
              <a:t>Authorized Sold-To </a:t>
            </a:r>
            <a:r>
              <a:rPr lang="en-US" altLang="zh-CN" sz="1000">
                <a:cs typeface="Lato Light"/>
              </a:rPr>
              <a:t>partner.</a:t>
            </a:r>
          </a:p>
          <a:p>
            <a:endParaRPr lang="en-US" altLang="zh-CN" sz="1000">
              <a:cs typeface="Lato Light"/>
            </a:endParaRPr>
          </a:p>
          <a:p>
            <a:r>
              <a:rPr lang="en-US" altLang="zh-CN" sz="1000" b="1">
                <a:cs typeface="Lato Light"/>
              </a:rPr>
              <a:t>Delete Authorized Sold-To</a:t>
            </a:r>
          </a:p>
          <a:p>
            <a:r>
              <a:rPr lang="en-US" altLang="zh-CN" sz="1000">
                <a:cs typeface="Lato Light"/>
              </a:rPr>
              <a:t>Existing Authorized Sold-To records can be removed.</a:t>
            </a:r>
          </a:p>
        </p:txBody>
      </p:sp>
      <p:pic>
        <p:nvPicPr>
          <p:cNvPr id="34" name="图片 33">
            <a:extLst>
              <a:ext uri="{FF2B5EF4-FFF2-40B4-BE49-F238E27FC236}">
                <a16:creationId xmlns:a16="http://schemas.microsoft.com/office/drawing/2014/main" id="{9559A3F3-0D64-A713-5B09-0BE671A67A51}"/>
              </a:ext>
            </a:extLst>
          </p:cNvPr>
          <p:cNvPicPr>
            <a:picLocks noChangeAspect="1"/>
          </p:cNvPicPr>
          <p:nvPr/>
        </p:nvPicPr>
        <p:blipFill>
          <a:blip r:embed="rId6"/>
          <a:stretch>
            <a:fillRect/>
          </a:stretch>
        </p:blipFill>
        <p:spPr>
          <a:xfrm>
            <a:off x="6051331" y="6365260"/>
            <a:ext cx="1404590" cy="333853"/>
          </a:xfrm>
          <a:prstGeom prst="rect">
            <a:avLst/>
          </a:prstGeom>
        </p:spPr>
      </p:pic>
      <p:sp>
        <p:nvSpPr>
          <p:cNvPr id="35" name="Oval 112">
            <a:extLst>
              <a:ext uri="{FF2B5EF4-FFF2-40B4-BE49-F238E27FC236}">
                <a16:creationId xmlns:a16="http://schemas.microsoft.com/office/drawing/2014/main" id="{459A6231-6A7E-0023-1697-0F37959867E2}"/>
              </a:ext>
            </a:extLst>
          </p:cNvPr>
          <p:cNvSpPr/>
          <p:nvPr/>
        </p:nvSpPr>
        <p:spPr>
          <a:xfrm>
            <a:off x="949048" y="3029853"/>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36" name="Oval 114">
            <a:extLst>
              <a:ext uri="{FF2B5EF4-FFF2-40B4-BE49-F238E27FC236}">
                <a16:creationId xmlns:a16="http://schemas.microsoft.com/office/drawing/2014/main" id="{34200B62-01A0-26CA-9DDE-41D416FABB4A}"/>
              </a:ext>
            </a:extLst>
          </p:cNvPr>
          <p:cNvSpPr/>
          <p:nvPr/>
        </p:nvSpPr>
        <p:spPr>
          <a:xfrm>
            <a:off x="1290144" y="5762354"/>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28259442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animBg="1"/>
      <p:bldP spid="22" grpId="0" animBg="1"/>
      <p:bldP spid="23" grpId="0"/>
      <p:bldP spid="25" grpId="0"/>
      <p:bldP spid="27" grpId="0" animBg="1"/>
      <p:bldP spid="28" grpId="0"/>
      <p:bldP spid="29" grpId="0" animBg="1"/>
      <p:bldP spid="30" grpId="0"/>
      <p:bldP spid="35" grpId="0" animBg="1"/>
      <p:bldP spid="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0852-FE9D-74F2-4D2E-D66EA57586B3}"/>
            </a:ext>
          </a:extLst>
        </p:cNvPr>
        <p:cNvGrpSpPr/>
        <p:nvPr/>
      </p:nvGrpSpPr>
      <p:grpSpPr>
        <a:xfrm>
          <a:off x="0" y="0"/>
          <a:ext cx="0" cy="0"/>
          <a:chOff x="0" y="0"/>
          <a:chExt cx="0" cy="0"/>
        </a:xfrm>
      </p:grpSpPr>
      <p:pic>
        <p:nvPicPr>
          <p:cNvPr id="23" name="图片 22">
            <a:extLst>
              <a:ext uri="{FF2B5EF4-FFF2-40B4-BE49-F238E27FC236}">
                <a16:creationId xmlns:a16="http://schemas.microsoft.com/office/drawing/2014/main" id="{0C2599E1-DC37-0609-D16E-732DD7F592A4}"/>
              </a:ext>
            </a:extLst>
          </p:cNvPr>
          <p:cNvPicPr>
            <a:picLocks noChangeAspect="1"/>
          </p:cNvPicPr>
          <p:nvPr/>
        </p:nvPicPr>
        <p:blipFill>
          <a:blip r:embed="rId2"/>
          <a:stretch>
            <a:fillRect/>
          </a:stretch>
        </p:blipFill>
        <p:spPr>
          <a:xfrm>
            <a:off x="333779" y="1326241"/>
            <a:ext cx="7724224" cy="1688658"/>
          </a:xfrm>
          <a:prstGeom prst="rect">
            <a:avLst/>
          </a:prstGeom>
        </p:spPr>
      </p:pic>
      <p:sp>
        <p:nvSpPr>
          <p:cNvPr id="3" name="标题 2">
            <a:extLst>
              <a:ext uri="{FF2B5EF4-FFF2-40B4-BE49-F238E27FC236}">
                <a16:creationId xmlns:a16="http://schemas.microsoft.com/office/drawing/2014/main" id="{AEBEBB7E-83EC-0446-D057-6697EE575D5B}"/>
              </a:ext>
            </a:extLst>
          </p:cNvPr>
          <p:cNvSpPr>
            <a:spLocks noGrp="1"/>
          </p:cNvSpPr>
          <p:nvPr>
            <p:ph type="title"/>
          </p:nvPr>
        </p:nvSpPr>
        <p:spPr/>
        <p:txBody>
          <a:bodyPr/>
          <a:lstStyle/>
          <a:p>
            <a:r>
              <a:rPr lang="en-US" altLang="zh-CN"/>
              <a:t>Entitled Price Record - Change</a:t>
            </a:r>
            <a:endParaRPr lang="zh-CN" altLang="en-US"/>
          </a:p>
        </p:txBody>
      </p:sp>
      <p:sp>
        <p:nvSpPr>
          <p:cNvPr id="10" name="TextBox 93">
            <a:extLst>
              <a:ext uri="{FF2B5EF4-FFF2-40B4-BE49-F238E27FC236}">
                <a16:creationId xmlns:a16="http://schemas.microsoft.com/office/drawing/2014/main" id="{BE03F0BD-8C4D-DC36-C61D-B08B98CB4E69}"/>
              </a:ext>
            </a:extLst>
          </p:cNvPr>
          <p:cNvSpPr txBox="1"/>
          <p:nvPr/>
        </p:nvSpPr>
        <p:spPr>
          <a:xfrm>
            <a:off x="8452044" y="4327261"/>
            <a:ext cx="3407906" cy="707886"/>
          </a:xfrm>
          <a:prstGeom prst="rect">
            <a:avLst/>
          </a:prstGeom>
          <a:noFill/>
        </p:spPr>
        <p:txBody>
          <a:bodyPr wrap="square" rtlCol="0">
            <a:spAutoFit/>
          </a:bodyPr>
          <a:lstStyle/>
          <a:p>
            <a:r>
              <a:rPr lang="en-US" sz="1000">
                <a:cs typeface="Lato Light"/>
              </a:rPr>
              <a:t>The Change History tab maintains a complete audit trail of EPR changes.</a:t>
            </a:r>
          </a:p>
          <a:p>
            <a:r>
              <a:rPr lang="en-US" sz="1000">
                <a:cs typeface="Lato Light"/>
              </a:rPr>
              <a:t>This allows users to track historical modifications and understand how the EPR has evolved over time.</a:t>
            </a:r>
          </a:p>
        </p:txBody>
      </p:sp>
      <p:sp>
        <p:nvSpPr>
          <p:cNvPr id="27" name="TextBox 93">
            <a:extLst>
              <a:ext uri="{FF2B5EF4-FFF2-40B4-BE49-F238E27FC236}">
                <a16:creationId xmlns:a16="http://schemas.microsoft.com/office/drawing/2014/main" id="{6DB12EB2-3BE9-AF3A-ECA8-2112C87A0B15}"/>
              </a:ext>
            </a:extLst>
          </p:cNvPr>
          <p:cNvSpPr txBox="1"/>
          <p:nvPr/>
        </p:nvSpPr>
        <p:spPr>
          <a:xfrm>
            <a:off x="8439067" y="1479813"/>
            <a:ext cx="3470716" cy="2554545"/>
          </a:xfrm>
          <a:prstGeom prst="rect">
            <a:avLst/>
          </a:prstGeom>
          <a:noFill/>
        </p:spPr>
        <p:txBody>
          <a:bodyPr wrap="square" rtlCol="0">
            <a:spAutoFit/>
          </a:bodyPr>
          <a:lstStyle/>
          <a:p>
            <a:r>
              <a:rPr lang="en-US" sz="1000">
                <a:cs typeface="Lato Light"/>
              </a:rPr>
              <a:t>The Change Request tab displays all change requests associated with the EPR.</a:t>
            </a:r>
          </a:p>
          <a:p>
            <a:endParaRPr lang="en-US" sz="1000">
              <a:cs typeface="Lato Light"/>
            </a:endParaRPr>
          </a:p>
          <a:p>
            <a:r>
              <a:rPr lang="en-US" sz="1000">
                <a:cs typeface="Lato Light"/>
              </a:rPr>
              <a:t>When users submit their EPR modifications:</a:t>
            </a:r>
          </a:p>
          <a:p>
            <a:r>
              <a:rPr lang="en-US" sz="1000">
                <a:cs typeface="Lato Light"/>
              </a:rPr>
              <a:t>1. A Change Request is automatically created.</a:t>
            </a:r>
          </a:p>
          <a:p>
            <a:r>
              <a:rPr lang="en-US" sz="1000">
                <a:cs typeface="Lato Light"/>
              </a:rPr>
              <a:t>2. The request is routed to the appropriate approver.</a:t>
            </a:r>
          </a:p>
          <a:p>
            <a:r>
              <a:rPr lang="en-US" sz="1000">
                <a:cs typeface="Lato Light"/>
              </a:rPr>
              <a:t>3. The approver reviews the request in the Approval Center.</a:t>
            </a:r>
          </a:p>
          <a:p>
            <a:r>
              <a:rPr lang="en-US" sz="1000">
                <a:cs typeface="Lato Light"/>
              </a:rPr>
              <a:t>4. The changes become effective only after approval is completed.</a:t>
            </a:r>
          </a:p>
          <a:p>
            <a:endParaRPr lang="en-US" sz="1000">
              <a:cs typeface="Lato Light"/>
            </a:endParaRPr>
          </a:p>
          <a:p>
            <a:r>
              <a:rPr lang="en-US" sz="1000">
                <a:cs typeface="Lato Light"/>
              </a:rPr>
              <a:t>The </a:t>
            </a:r>
            <a:r>
              <a:rPr lang="en-US" sz="1000" b="1">
                <a:cs typeface="Lato Light"/>
              </a:rPr>
              <a:t>Change Request ID </a:t>
            </a:r>
            <a:r>
              <a:rPr lang="en-US" sz="1000">
                <a:cs typeface="Lato Light"/>
              </a:rPr>
              <a:t>is displayed as a clickable hyperlink. Users can click the Change Request ID to view the corresponding change request Detail.</a:t>
            </a:r>
          </a:p>
          <a:p>
            <a:endParaRPr lang="en-US" altLang="zh-CN" sz="1000" b="1">
              <a:cs typeface="Lato Light"/>
            </a:endParaRPr>
          </a:p>
          <a:p>
            <a:r>
              <a:rPr lang="en-US" altLang="zh-CN" sz="1000" b="1">
                <a:cs typeface="Lato Light"/>
              </a:rPr>
              <a:t>The Approval Center will be introduced in the following document.</a:t>
            </a:r>
            <a:endParaRPr lang="en-US" sz="1000">
              <a:cs typeface="Lato Light"/>
            </a:endParaRPr>
          </a:p>
        </p:txBody>
      </p:sp>
      <p:pic>
        <p:nvPicPr>
          <p:cNvPr id="8" name="图片 7">
            <a:extLst>
              <a:ext uri="{FF2B5EF4-FFF2-40B4-BE49-F238E27FC236}">
                <a16:creationId xmlns:a16="http://schemas.microsoft.com/office/drawing/2014/main" id="{D2CDE6C3-8DD2-5BA5-963D-8EF9DBF3436D}"/>
              </a:ext>
            </a:extLst>
          </p:cNvPr>
          <p:cNvPicPr>
            <a:picLocks noChangeAspect="1"/>
          </p:cNvPicPr>
          <p:nvPr/>
        </p:nvPicPr>
        <p:blipFill>
          <a:blip r:embed="rId3"/>
          <a:stretch>
            <a:fillRect/>
          </a:stretch>
        </p:blipFill>
        <p:spPr>
          <a:xfrm>
            <a:off x="320182" y="4371282"/>
            <a:ext cx="7680462" cy="967398"/>
          </a:xfrm>
          <a:prstGeom prst="rect">
            <a:avLst/>
          </a:prstGeom>
        </p:spPr>
      </p:pic>
      <p:pic>
        <p:nvPicPr>
          <p:cNvPr id="30" name="图片 29">
            <a:extLst>
              <a:ext uri="{FF2B5EF4-FFF2-40B4-BE49-F238E27FC236}">
                <a16:creationId xmlns:a16="http://schemas.microsoft.com/office/drawing/2014/main" id="{3F445DFA-DD10-BF55-AC74-96951054B83A}"/>
              </a:ext>
            </a:extLst>
          </p:cNvPr>
          <p:cNvPicPr>
            <a:picLocks noChangeAspect="1"/>
          </p:cNvPicPr>
          <p:nvPr/>
        </p:nvPicPr>
        <p:blipFill>
          <a:blip r:embed="rId4"/>
          <a:stretch>
            <a:fillRect/>
          </a:stretch>
        </p:blipFill>
        <p:spPr>
          <a:xfrm>
            <a:off x="320182" y="2964808"/>
            <a:ext cx="3593198" cy="1277958"/>
          </a:xfrm>
          <a:prstGeom prst="rect">
            <a:avLst/>
          </a:prstGeom>
        </p:spPr>
      </p:pic>
      <p:sp>
        <p:nvSpPr>
          <p:cNvPr id="5" name="TextBox 92">
            <a:extLst>
              <a:ext uri="{FF2B5EF4-FFF2-40B4-BE49-F238E27FC236}">
                <a16:creationId xmlns:a16="http://schemas.microsoft.com/office/drawing/2014/main" id="{0108EECF-1B4C-A235-6DF7-54384A092B61}"/>
              </a:ext>
            </a:extLst>
          </p:cNvPr>
          <p:cNvSpPr txBox="1"/>
          <p:nvPr/>
        </p:nvSpPr>
        <p:spPr>
          <a:xfrm>
            <a:off x="8452044" y="1228397"/>
            <a:ext cx="1839512" cy="292388"/>
          </a:xfrm>
          <a:prstGeom prst="rect">
            <a:avLst/>
          </a:prstGeom>
          <a:noFill/>
        </p:spPr>
        <p:txBody>
          <a:bodyPr wrap="square" rtlCol="0">
            <a:spAutoFit/>
          </a:bodyPr>
          <a:lstStyle/>
          <a:p>
            <a:r>
              <a:rPr lang="en-US" altLang="zh-CN" sz="1300" b="1">
                <a:solidFill>
                  <a:srgbClr val="404040"/>
                </a:solidFill>
                <a:cs typeface="Lato Regular"/>
              </a:rPr>
              <a:t>Change Request</a:t>
            </a:r>
            <a:endParaRPr lang="en-US" sz="1300" b="1">
              <a:solidFill>
                <a:srgbClr val="404040"/>
              </a:solidFill>
              <a:cs typeface="Lato Regular"/>
            </a:endParaRPr>
          </a:p>
        </p:txBody>
      </p:sp>
      <p:sp>
        <p:nvSpPr>
          <p:cNvPr id="7" name="Oval 113">
            <a:extLst>
              <a:ext uri="{FF2B5EF4-FFF2-40B4-BE49-F238E27FC236}">
                <a16:creationId xmlns:a16="http://schemas.microsoft.com/office/drawing/2014/main" id="{F940FBB5-D0E7-2757-6BFC-48C959E3F3C1}"/>
              </a:ext>
            </a:extLst>
          </p:cNvPr>
          <p:cNvSpPr/>
          <p:nvPr/>
        </p:nvSpPr>
        <p:spPr>
          <a:xfrm>
            <a:off x="8210467" y="1261658"/>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15" name="TextBox 92">
            <a:extLst>
              <a:ext uri="{FF2B5EF4-FFF2-40B4-BE49-F238E27FC236}">
                <a16:creationId xmlns:a16="http://schemas.microsoft.com/office/drawing/2014/main" id="{92CBF307-1DB5-9505-5BEA-F0F95C3AD876}"/>
              </a:ext>
            </a:extLst>
          </p:cNvPr>
          <p:cNvSpPr txBox="1"/>
          <p:nvPr/>
        </p:nvSpPr>
        <p:spPr>
          <a:xfrm>
            <a:off x="8452044" y="4035521"/>
            <a:ext cx="2631007" cy="292388"/>
          </a:xfrm>
          <a:prstGeom prst="rect">
            <a:avLst/>
          </a:prstGeom>
          <a:noFill/>
        </p:spPr>
        <p:txBody>
          <a:bodyPr wrap="square" rtlCol="0">
            <a:spAutoFit/>
          </a:bodyPr>
          <a:lstStyle/>
          <a:p>
            <a:r>
              <a:rPr lang="en-US" altLang="zh-CN" sz="1300" b="1">
                <a:solidFill>
                  <a:srgbClr val="00B0F0"/>
                </a:solidFill>
                <a:cs typeface="Lato Regular"/>
              </a:rPr>
              <a:t>Change History</a:t>
            </a:r>
          </a:p>
        </p:txBody>
      </p:sp>
      <p:sp>
        <p:nvSpPr>
          <p:cNvPr id="16" name="Oval 113">
            <a:extLst>
              <a:ext uri="{FF2B5EF4-FFF2-40B4-BE49-F238E27FC236}">
                <a16:creationId xmlns:a16="http://schemas.microsoft.com/office/drawing/2014/main" id="{CD941358-CFF2-C471-F839-83AEDC36C4FB}"/>
              </a:ext>
            </a:extLst>
          </p:cNvPr>
          <p:cNvSpPr/>
          <p:nvPr/>
        </p:nvSpPr>
        <p:spPr>
          <a:xfrm>
            <a:off x="8246060" y="4045478"/>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5</a:t>
            </a:r>
          </a:p>
        </p:txBody>
      </p:sp>
      <p:sp>
        <p:nvSpPr>
          <p:cNvPr id="20" name="Oval 113">
            <a:extLst>
              <a:ext uri="{FF2B5EF4-FFF2-40B4-BE49-F238E27FC236}">
                <a16:creationId xmlns:a16="http://schemas.microsoft.com/office/drawing/2014/main" id="{DE655A88-96B7-7DF0-CF4B-BF4174D7B337}"/>
              </a:ext>
            </a:extLst>
          </p:cNvPr>
          <p:cNvSpPr/>
          <p:nvPr/>
        </p:nvSpPr>
        <p:spPr>
          <a:xfrm>
            <a:off x="3789364" y="1915129"/>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21" name="Oval 113">
            <a:extLst>
              <a:ext uri="{FF2B5EF4-FFF2-40B4-BE49-F238E27FC236}">
                <a16:creationId xmlns:a16="http://schemas.microsoft.com/office/drawing/2014/main" id="{8BB03978-BA25-80D5-FC3F-25514CC52F9A}"/>
              </a:ext>
            </a:extLst>
          </p:cNvPr>
          <p:cNvSpPr/>
          <p:nvPr/>
        </p:nvSpPr>
        <p:spPr>
          <a:xfrm>
            <a:off x="2500532" y="4854981"/>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5</a:t>
            </a:r>
          </a:p>
        </p:txBody>
      </p:sp>
      <p:sp>
        <p:nvSpPr>
          <p:cNvPr id="2" name="文本框 1">
            <a:extLst>
              <a:ext uri="{FF2B5EF4-FFF2-40B4-BE49-F238E27FC236}">
                <a16:creationId xmlns:a16="http://schemas.microsoft.com/office/drawing/2014/main" id="{A709966F-6F11-B2CC-CB6F-AAC2703E6766}"/>
              </a:ext>
            </a:extLst>
          </p:cNvPr>
          <p:cNvSpPr txBox="1"/>
          <p:nvPr/>
        </p:nvSpPr>
        <p:spPr>
          <a:xfrm>
            <a:off x="320182" y="769538"/>
            <a:ext cx="11351930" cy="461665"/>
          </a:xfrm>
          <a:prstGeom prst="rect">
            <a:avLst/>
          </a:prstGeom>
          <a:noFill/>
        </p:spPr>
        <p:txBody>
          <a:bodyPr wrap="square">
            <a:spAutoFit/>
          </a:bodyPr>
          <a:lstStyle/>
          <a:p>
            <a:r>
              <a:rPr lang="zh-CN" altLang="en-US" sz="1200" b="1">
                <a:latin typeface="+mj-lt"/>
              </a:rPr>
              <a:t>Only Edit actions require a Change Request and Approval. Operational actions such as </a:t>
            </a:r>
            <a:r>
              <a:rPr lang="en-US" altLang="zh-CN" sz="1200" b="1">
                <a:latin typeface="+mj-lt"/>
              </a:rPr>
              <a:t>New, </a:t>
            </a:r>
            <a:r>
              <a:rPr lang="zh-CN" altLang="en-US" sz="1200" b="1">
                <a:latin typeface="+mj-lt"/>
              </a:rPr>
              <a:t>Copy, </a:t>
            </a:r>
            <a:r>
              <a:rPr lang="en-US" altLang="zh-CN" sz="1200" b="1">
                <a:latin typeface="+mj-lt"/>
              </a:rPr>
              <a:t>Delete,</a:t>
            </a:r>
            <a:r>
              <a:rPr lang="zh-CN" altLang="en-US" sz="1200" b="1">
                <a:latin typeface="+mj-lt"/>
              </a:rPr>
              <a:t> </a:t>
            </a:r>
            <a:r>
              <a:rPr lang="en-US" altLang="zh-CN" sz="1200" b="1">
                <a:latin typeface="+mj-lt"/>
              </a:rPr>
              <a:t>Reactivate/Deactivate, and Pull From Source Systems </a:t>
            </a:r>
            <a:r>
              <a:rPr lang="zh-CN" altLang="en-US" sz="1200" b="1">
                <a:latin typeface="+mj-lt"/>
              </a:rPr>
              <a:t>take effect immediately.</a:t>
            </a:r>
          </a:p>
        </p:txBody>
      </p:sp>
    </p:spTree>
    <p:extLst>
      <p:ext uri="{BB962C8B-B14F-4D97-AF65-F5344CB8AC3E}">
        <p14:creationId xmlns:p14="http://schemas.microsoft.com/office/powerpoint/2010/main" val="12929806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5" grpId="0"/>
      <p:bldP spid="7" grpId="0" animBg="1"/>
      <p:bldP spid="15" grpId="0"/>
      <p:bldP spid="16" grpId="0" animBg="1"/>
      <p:bldP spid="20" grpId="0" animBg="1"/>
      <p:bldP spid="2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2BBE4-C8E1-293C-8914-B067C8A062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9D41C6-5F6D-8BF5-C78A-7404C944DA4B}"/>
              </a:ext>
            </a:extLst>
          </p:cNvPr>
          <p:cNvSpPr>
            <a:spLocks noGrp="1"/>
          </p:cNvSpPr>
          <p:nvPr>
            <p:ph type="title"/>
          </p:nvPr>
        </p:nvSpPr>
        <p:spPr>
          <a:xfrm>
            <a:off x="267690" y="1412760"/>
            <a:ext cx="7209879" cy="965108"/>
          </a:xfrm>
        </p:spPr>
        <p:txBody>
          <a:bodyPr/>
          <a:lstStyle/>
          <a:p>
            <a:r>
              <a:rPr lang="en-US" altLang="zh-CN" sz="4800"/>
              <a:t>5. Order Management</a:t>
            </a:r>
            <a:endParaRPr lang="zh-CN" altLang="en-US" sz="4800"/>
          </a:p>
        </p:txBody>
      </p:sp>
      <p:sp>
        <p:nvSpPr>
          <p:cNvPr id="4" name="文本占位符 3">
            <a:extLst>
              <a:ext uri="{FF2B5EF4-FFF2-40B4-BE49-F238E27FC236}">
                <a16:creationId xmlns:a16="http://schemas.microsoft.com/office/drawing/2014/main" id="{BF7C1E10-2691-B03F-2218-A86857263B73}"/>
              </a:ext>
            </a:extLst>
          </p:cNvPr>
          <p:cNvSpPr>
            <a:spLocks noGrp="1"/>
          </p:cNvSpPr>
          <p:nvPr>
            <p:ph type="body" idx="11"/>
          </p:nvPr>
        </p:nvSpPr>
        <p:spPr>
          <a:xfrm>
            <a:off x="750528" y="5517488"/>
            <a:ext cx="6265272" cy="133626"/>
          </a:xfrm>
        </p:spPr>
        <p:txBody>
          <a:bodyPr/>
          <a:lstStyle/>
          <a:p>
            <a:r>
              <a:rPr lang="en-US" altLang="zh-CN" sz="1000"/>
              <a:t>Duration:		</a:t>
            </a:r>
            <a:r>
              <a:rPr lang="en-US" altLang="zh-CN"/>
              <a:t>4</a:t>
            </a:r>
            <a:r>
              <a:rPr lang="en-US" altLang="zh-CN" sz="1000"/>
              <a:t>0 Minutes</a:t>
            </a:r>
            <a:endParaRPr lang="zh-CN" altLang="en-US" sz="1000"/>
          </a:p>
        </p:txBody>
      </p:sp>
      <p:sp>
        <p:nvSpPr>
          <p:cNvPr id="5" name="文本占位符 4">
            <a:extLst>
              <a:ext uri="{FF2B5EF4-FFF2-40B4-BE49-F238E27FC236}">
                <a16:creationId xmlns:a16="http://schemas.microsoft.com/office/drawing/2014/main" id="{4758356C-1101-4367-98F7-A92FCBEC5D08}"/>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Subscription Order		- Joy Jiang</a:t>
            </a:r>
          </a:p>
          <a:p>
            <a:pPr marL="628650" lvl="1" indent="-171450">
              <a:buFont typeface="Arial" panose="020B0604020202020204" pitchFamily="34" charset="0"/>
              <a:buChar char="•"/>
            </a:pPr>
            <a:r>
              <a:rPr lang="en-US" altLang="zh-CN" sz="1000">
                <a:solidFill>
                  <a:schemeClr val="bg1"/>
                </a:solidFill>
              </a:rPr>
              <a:t>Recurring Billing Order</a:t>
            </a:r>
          </a:p>
          <a:p>
            <a:pPr marL="628650" lvl="1" indent="-171450">
              <a:buFont typeface="Arial" panose="020B0604020202020204" pitchFamily="34" charset="0"/>
              <a:buChar char="•"/>
            </a:pPr>
            <a:r>
              <a:rPr lang="en-US" altLang="zh-CN" sz="1000">
                <a:solidFill>
                  <a:schemeClr val="bg1"/>
                </a:solidFill>
              </a:rPr>
              <a:t>One Time Billing Order</a:t>
            </a:r>
          </a:p>
          <a:p>
            <a:pPr marL="171450" indent="-171450">
              <a:lnSpc>
                <a:spcPct val="150000"/>
              </a:lnSpc>
              <a:buFont typeface="Arial" panose="020B0604020202020204" pitchFamily="34" charset="0"/>
              <a:buChar char="•"/>
            </a:pPr>
            <a:r>
              <a:rPr lang="en-US" altLang="zh-CN">
                <a:solidFill>
                  <a:schemeClr val="bg1"/>
                </a:solidFill>
              </a:rPr>
              <a:t>Mass Change		- Joy Jiang</a:t>
            </a:r>
          </a:p>
          <a:p>
            <a:pPr marL="628650" lvl="1" indent="-171450">
              <a:buFont typeface="Arial" panose="020B0604020202020204" pitchFamily="34" charset="0"/>
              <a:buChar char="•"/>
            </a:pPr>
            <a:r>
              <a:rPr lang="en-US" altLang="zh-CN" sz="1000">
                <a:solidFill>
                  <a:schemeClr val="bg1"/>
                </a:solidFill>
              </a:rPr>
              <a:t>Order Mass Change </a:t>
            </a:r>
          </a:p>
          <a:p>
            <a:pPr marL="628650" lvl="1" indent="-171450">
              <a:buFont typeface="Arial" panose="020B0604020202020204" pitchFamily="34" charset="0"/>
              <a:buChar char="•"/>
            </a:pPr>
            <a:r>
              <a:rPr lang="en-US" altLang="zh-CN" sz="1000">
                <a:solidFill>
                  <a:schemeClr val="bg1"/>
                </a:solidFill>
              </a:rPr>
              <a:t>Device Mass Change</a:t>
            </a:r>
          </a:p>
        </p:txBody>
      </p:sp>
    </p:spTree>
    <p:extLst>
      <p:ext uri="{BB962C8B-B14F-4D97-AF65-F5344CB8AC3E}">
        <p14:creationId xmlns:p14="http://schemas.microsoft.com/office/powerpoint/2010/main" val="610495549"/>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B1E71-60B1-CC0A-30E7-13FBA3F0784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104F712-C549-5E1E-C490-CFCD93C3533D}"/>
              </a:ext>
            </a:extLst>
          </p:cNvPr>
          <p:cNvSpPr>
            <a:spLocks noGrp="1"/>
          </p:cNvSpPr>
          <p:nvPr>
            <p:ph type="title"/>
          </p:nvPr>
        </p:nvSpPr>
        <p:spPr/>
        <p:txBody>
          <a:bodyPr/>
          <a:lstStyle/>
          <a:p>
            <a:r>
              <a:rPr lang="en-US" altLang="zh-CN"/>
              <a:t>Subscription Order - What Key Users Need to Know</a:t>
            </a:r>
            <a:endParaRPr lang="zh-CN" altLang="en-US"/>
          </a:p>
        </p:txBody>
      </p:sp>
      <p:sp>
        <p:nvSpPr>
          <p:cNvPr id="8" name="Text 1">
            <a:extLst>
              <a:ext uri="{FF2B5EF4-FFF2-40B4-BE49-F238E27FC236}">
                <a16:creationId xmlns:a16="http://schemas.microsoft.com/office/drawing/2014/main" id="{F6A0E779-81A5-9869-8D27-3A73FE90ADCD}"/>
              </a:ext>
            </a:extLst>
          </p:cNvPr>
          <p:cNvSpPr/>
          <p:nvPr/>
        </p:nvSpPr>
        <p:spPr>
          <a:xfrm>
            <a:off x="338470" y="801414"/>
            <a:ext cx="10698480" cy="256032"/>
          </a:xfrm>
          <a:prstGeom prst="rect">
            <a:avLst/>
          </a:prstGeom>
          <a:noFill/>
          <a:ln/>
        </p:spPr>
        <p:txBody>
          <a:bodyPr wrap="square" lIns="0" tIns="0" rIns="0" bIns="0" rtlCol="0" anchor="ctr"/>
          <a:lstStyle/>
          <a:p>
            <a:pPr marL="0" indent="0">
              <a:buNone/>
            </a:pPr>
            <a:r>
              <a:rPr lang="en-US" sz="1200" i="1">
                <a:solidFill>
                  <a:srgbClr val="5F6B7A"/>
                </a:solidFill>
                <a:latin typeface="+mj-lt"/>
                <a:ea typeface="Aptos" pitchFamily="34" charset="-122"/>
                <a:cs typeface="Aptos" pitchFamily="34" charset="-120"/>
              </a:rPr>
              <a:t>From Service Request to Payment Schedule — Understand the business flow and the functions you will use</a:t>
            </a:r>
            <a:endParaRPr lang="en-US" sz="1200">
              <a:latin typeface="+mj-lt"/>
            </a:endParaRPr>
          </a:p>
        </p:txBody>
      </p:sp>
      <p:sp>
        <p:nvSpPr>
          <p:cNvPr id="10" name="Shape 2">
            <a:extLst>
              <a:ext uri="{FF2B5EF4-FFF2-40B4-BE49-F238E27FC236}">
                <a16:creationId xmlns:a16="http://schemas.microsoft.com/office/drawing/2014/main" id="{50670477-362A-CCFD-E75E-7E3B78F3E95A}"/>
              </a:ext>
            </a:extLst>
          </p:cNvPr>
          <p:cNvSpPr/>
          <p:nvPr/>
        </p:nvSpPr>
        <p:spPr>
          <a:xfrm>
            <a:off x="320182" y="1103166"/>
            <a:ext cx="11064240" cy="576072"/>
          </a:xfrm>
          <a:prstGeom prst="roundRect">
            <a:avLst>
              <a:gd name="adj" fmla="val 12698"/>
            </a:avLst>
          </a:prstGeom>
          <a:solidFill>
            <a:srgbClr val="F5F8FC"/>
          </a:solidFill>
          <a:ln w="12700">
            <a:solidFill>
              <a:srgbClr val="D7E1EF"/>
            </a:solidFill>
            <a:prstDash val="solid"/>
          </a:ln>
        </p:spPr>
        <p:txBody>
          <a:bodyPr/>
          <a:lstStyle/>
          <a:p>
            <a:endParaRPr lang="zh-CN" altLang="en-US">
              <a:latin typeface="+mj-lt"/>
            </a:endParaRPr>
          </a:p>
        </p:txBody>
      </p:sp>
      <p:sp>
        <p:nvSpPr>
          <p:cNvPr id="12" name="Text 3">
            <a:extLst>
              <a:ext uri="{FF2B5EF4-FFF2-40B4-BE49-F238E27FC236}">
                <a16:creationId xmlns:a16="http://schemas.microsoft.com/office/drawing/2014/main" id="{4E502E4B-E87F-FBF2-C538-6528132DD20A}"/>
              </a:ext>
            </a:extLst>
          </p:cNvPr>
          <p:cNvSpPr/>
          <p:nvPr/>
        </p:nvSpPr>
        <p:spPr>
          <a:xfrm>
            <a:off x="567070" y="1167174"/>
            <a:ext cx="10561320" cy="438912"/>
          </a:xfrm>
          <a:prstGeom prst="rect">
            <a:avLst/>
          </a:prstGeom>
          <a:noFill/>
          <a:ln/>
        </p:spPr>
        <p:txBody>
          <a:bodyPr wrap="square" lIns="0" tIns="0" rIns="0" bIns="0" rtlCol="0" anchor="ctr">
            <a:noAutofit/>
          </a:bodyPr>
          <a:lstStyle/>
          <a:p>
            <a:pPr marL="0" indent="0">
              <a:buNone/>
            </a:pPr>
            <a:r>
              <a:rPr lang="en-US" sz="1200">
                <a:solidFill>
                  <a:srgbClr val="243447"/>
                </a:solidFill>
                <a:latin typeface="+mj-lt"/>
                <a:ea typeface="Aptos" pitchFamily="34" charset="-122"/>
                <a:cs typeface="Aptos" pitchFamily="34" charset="-120"/>
              </a:rPr>
              <a:t>Subscription Orders are normally created from the standard ServiceNow integration flow. Key Users mainly review, monitor and manage subscription orders; manual creation / copy is reserved for exceptional scenarios.</a:t>
            </a:r>
            <a:endParaRPr lang="en-US" sz="1200">
              <a:latin typeface="+mj-lt"/>
            </a:endParaRPr>
          </a:p>
        </p:txBody>
      </p:sp>
      <p:sp>
        <p:nvSpPr>
          <p:cNvPr id="13" name="Text 4">
            <a:extLst>
              <a:ext uri="{FF2B5EF4-FFF2-40B4-BE49-F238E27FC236}">
                <a16:creationId xmlns:a16="http://schemas.microsoft.com/office/drawing/2014/main" id="{831D085E-A2A4-4640-F5E3-FA1FDA2BB2DD}"/>
              </a:ext>
            </a:extLst>
          </p:cNvPr>
          <p:cNvSpPr/>
          <p:nvPr/>
        </p:nvSpPr>
        <p:spPr>
          <a:xfrm>
            <a:off x="347614" y="1862118"/>
            <a:ext cx="2743200" cy="228600"/>
          </a:xfrm>
          <a:prstGeom prst="rect">
            <a:avLst/>
          </a:prstGeom>
          <a:noFill/>
          <a:ln/>
        </p:spPr>
        <p:txBody>
          <a:bodyPr wrap="square" lIns="0" tIns="0" rIns="0" bIns="0" rtlCol="0" anchor="ctr"/>
          <a:lstStyle/>
          <a:p>
            <a:pPr marL="0" indent="0">
              <a:buNone/>
            </a:pPr>
            <a:r>
              <a:rPr lang="en-US" sz="1500" b="1">
                <a:solidFill>
                  <a:srgbClr val="0B5CAB"/>
                </a:solidFill>
                <a:latin typeface="+mj-lt"/>
                <a:ea typeface="Aptos" pitchFamily="34" charset="-122"/>
                <a:cs typeface="Aptos" pitchFamily="34" charset="-120"/>
              </a:rPr>
              <a:t>Future-State Business Flow</a:t>
            </a:r>
            <a:endParaRPr lang="en-US" sz="1500">
              <a:latin typeface="+mj-lt"/>
            </a:endParaRPr>
          </a:p>
        </p:txBody>
      </p:sp>
      <p:sp>
        <p:nvSpPr>
          <p:cNvPr id="14" name="Shape 5">
            <a:extLst>
              <a:ext uri="{FF2B5EF4-FFF2-40B4-BE49-F238E27FC236}">
                <a16:creationId xmlns:a16="http://schemas.microsoft.com/office/drawing/2014/main" id="{C365438A-C4AC-9DAF-9671-BB7360789B15}"/>
              </a:ext>
            </a:extLst>
          </p:cNvPr>
          <p:cNvSpPr/>
          <p:nvPr/>
        </p:nvSpPr>
        <p:spPr>
          <a:xfrm>
            <a:off x="329326" y="2264454"/>
            <a:ext cx="1700784" cy="1755648"/>
          </a:xfrm>
          <a:prstGeom prst="roundRect">
            <a:avLst>
              <a:gd name="adj" fmla="val 2688"/>
            </a:avLst>
          </a:prstGeom>
          <a:solidFill>
            <a:srgbClr val="FBFCFE"/>
          </a:solidFill>
          <a:ln w="20320">
            <a:solidFill>
              <a:srgbClr val="008C95"/>
            </a:solidFill>
            <a:prstDash val="solid"/>
          </a:ln>
        </p:spPr>
        <p:txBody>
          <a:bodyPr/>
          <a:lstStyle/>
          <a:p>
            <a:endParaRPr lang="zh-CN" altLang="en-US">
              <a:latin typeface="+mj-lt"/>
            </a:endParaRPr>
          </a:p>
        </p:txBody>
      </p:sp>
      <p:sp>
        <p:nvSpPr>
          <p:cNvPr id="15" name="Text 6">
            <a:extLst>
              <a:ext uri="{FF2B5EF4-FFF2-40B4-BE49-F238E27FC236}">
                <a16:creationId xmlns:a16="http://schemas.microsoft.com/office/drawing/2014/main" id="{2D853CB0-F7BE-D128-927F-ACCBE76BE8A0}"/>
              </a:ext>
            </a:extLst>
          </p:cNvPr>
          <p:cNvSpPr/>
          <p:nvPr/>
        </p:nvSpPr>
        <p:spPr>
          <a:xfrm>
            <a:off x="420766" y="2429046"/>
            <a:ext cx="1517904" cy="384048"/>
          </a:xfrm>
          <a:prstGeom prst="rect">
            <a:avLst/>
          </a:prstGeom>
          <a:noFill/>
          <a:ln/>
        </p:spPr>
        <p:txBody>
          <a:bodyPr wrap="square" lIns="0" tIns="0" rIns="0" bIns="0" rtlCol="0" anchor="ctr">
            <a:normAutofit/>
          </a:bodyPr>
          <a:lstStyle/>
          <a:p>
            <a:pPr marL="0" indent="0" algn="ctr">
              <a:buNone/>
            </a:pPr>
            <a:r>
              <a:rPr lang="en-US" sz="1200" b="1">
                <a:solidFill>
                  <a:srgbClr val="008C95"/>
                </a:solidFill>
                <a:latin typeface="+mj-lt"/>
                <a:ea typeface="Aptos" pitchFamily="34" charset="-122"/>
                <a:cs typeface="Aptos" pitchFamily="34" charset="-120"/>
              </a:rPr>
              <a:t>1  ServiceNow Request</a:t>
            </a:r>
            <a:endParaRPr lang="en-US" sz="1200">
              <a:latin typeface="+mj-lt"/>
            </a:endParaRPr>
          </a:p>
        </p:txBody>
      </p:sp>
      <p:sp>
        <p:nvSpPr>
          <p:cNvPr id="16" name="Text 7">
            <a:extLst>
              <a:ext uri="{FF2B5EF4-FFF2-40B4-BE49-F238E27FC236}">
                <a16:creationId xmlns:a16="http://schemas.microsoft.com/office/drawing/2014/main" id="{AF655AF0-040E-16EF-8FC4-754EF2810CDF}"/>
              </a:ext>
            </a:extLst>
          </p:cNvPr>
          <p:cNvSpPr/>
          <p:nvPr/>
        </p:nvSpPr>
        <p:spPr>
          <a:xfrm>
            <a:off x="457342" y="3014262"/>
            <a:ext cx="1444752" cy="530352"/>
          </a:xfrm>
          <a:prstGeom prst="rect">
            <a:avLst/>
          </a:prstGeom>
          <a:noFill/>
          <a:ln/>
        </p:spPr>
        <p:txBody>
          <a:bodyPr wrap="square" lIns="0" tIns="0" rIns="0" bIns="0" rtlCol="0" anchor="ctr">
            <a:normAutofit/>
          </a:bodyPr>
          <a:lstStyle/>
          <a:p>
            <a:pPr marL="0" indent="0" algn="ctr">
              <a:buNone/>
            </a:pPr>
            <a:r>
              <a:rPr lang="en-US" sz="1000">
                <a:solidFill>
                  <a:srgbClr val="243447"/>
                </a:solidFill>
                <a:latin typeface="+mj-lt"/>
                <a:ea typeface="Aptos" pitchFamily="34" charset="-122"/>
                <a:cs typeface="Aptos" pitchFamily="34" charset="-120"/>
              </a:rPr>
              <a:t>Service request</a:t>
            </a:r>
            <a:endParaRPr lang="en-US" sz="1000">
              <a:latin typeface="+mj-lt"/>
            </a:endParaRPr>
          </a:p>
          <a:p>
            <a:pPr marL="0" indent="0" algn="ctr">
              <a:buNone/>
            </a:pPr>
            <a:r>
              <a:rPr lang="en-US" sz="1000">
                <a:solidFill>
                  <a:srgbClr val="243447"/>
                </a:solidFill>
                <a:latin typeface="+mj-lt"/>
                <a:ea typeface="Aptos" pitchFamily="34" charset="-122"/>
                <a:cs typeface="Aptos" pitchFamily="34" charset="-120"/>
              </a:rPr>
              <a:t>created / submitted</a:t>
            </a:r>
            <a:endParaRPr lang="en-US" sz="1000">
              <a:latin typeface="+mj-lt"/>
            </a:endParaRPr>
          </a:p>
        </p:txBody>
      </p:sp>
      <p:sp>
        <p:nvSpPr>
          <p:cNvPr id="17" name="Text 8">
            <a:extLst>
              <a:ext uri="{FF2B5EF4-FFF2-40B4-BE49-F238E27FC236}">
                <a16:creationId xmlns:a16="http://schemas.microsoft.com/office/drawing/2014/main" id="{1710E8A8-34AD-733E-7ABD-7463DA6F0022}"/>
              </a:ext>
            </a:extLst>
          </p:cNvPr>
          <p:cNvSpPr/>
          <p:nvPr/>
        </p:nvSpPr>
        <p:spPr>
          <a:xfrm>
            <a:off x="2034682" y="2904534"/>
            <a:ext cx="155448" cy="256032"/>
          </a:xfrm>
          <a:prstGeom prst="rect">
            <a:avLst/>
          </a:prstGeom>
          <a:noFill/>
          <a:ln/>
        </p:spPr>
        <p:txBody>
          <a:bodyPr wrap="square" lIns="0" tIns="0" rIns="0" bIns="0" rtlCol="0" anchor="ctr"/>
          <a:lstStyle/>
          <a:p>
            <a:pPr marL="0" indent="0" algn="ctr">
              <a:buNone/>
            </a:pPr>
            <a:r>
              <a:rPr lang="en-US" sz="1000" b="1">
                <a:latin typeface="+mj-lt"/>
                <a:ea typeface="Aptos Display" pitchFamily="34" charset="-122"/>
                <a:cs typeface="Aptos Display" pitchFamily="34" charset="-120"/>
              </a:rPr>
              <a:t>›</a:t>
            </a:r>
            <a:endParaRPr lang="en-US" sz="1000">
              <a:latin typeface="+mj-lt"/>
            </a:endParaRPr>
          </a:p>
        </p:txBody>
      </p:sp>
      <p:sp>
        <p:nvSpPr>
          <p:cNvPr id="18" name="Shape 9">
            <a:extLst>
              <a:ext uri="{FF2B5EF4-FFF2-40B4-BE49-F238E27FC236}">
                <a16:creationId xmlns:a16="http://schemas.microsoft.com/office/drawing/2014/main" id="{CEB0852A-A5D2-E601-3B5D-BE400660727F}"/>
              </a:ext>
            </a:extLst>
          </p:cNvPr>
          <p:cNvSpPr/>
          <p:nvPr/>
        </p:nvSpPr>
        <p:spPr>
          <a:xfrm>
            <a:off x="2194702" y="2264454"/>
            <a:ext cx="1700784" cy="1755648"/>
          </a:xfrm>
          <a:prstGeom prst="roundRect">
            <a:avLst>
              <a:gd name="adj" fmla="val 2688"/>
            </a:avLst>
          </a:prstGeom>
          <a:solidFill>
            <a:srgbClr val="FBFCFE"/>
          </a:solidFill>
          <a:ln w="20320">
            <a:solidFill>
              <a:srgbClr val="0B5CAB"/>
            </a:solidFill>
            <a:prstDash val="solid"/>
          </a:ln>
        </p:spPr>
        <p:txBody>
          <a:bodyPr/>
          <a:lstStyle/>
          <a:p>
            <a:endParaRPr lang="zh-CN" altLang="en-US">
              <a:latin typeface="+mj-lt"/>
            </a:endParaRPr>
          </a:p>
        </p:txBody>
      </p:sp>
      <p:sp>
        <p:nvSpPr>
          <p:cNvPr id="19" name="Text 10">
            <a:extLst>
              <a:ext uri="{FF2B5EF4-FFF2-40B4-BE49-F238E27FC236}">
                <a16:creationId xmlns:a16="http://schemas.microsoft.com/office/drawing/2014/main" id="{3CD2210B-ADB8-B4EA-90D5-8218909B3794}"/>
              </a:ext>
            </a:extLst>
          </p:cNvPr>
          <p:cNvSpPr/>
          <p:nvPr/>
        </p:nvSpPr>
        <p:spPr>
          <a:xfrm>
            <a:off x="2286142" y="2429046"/>
            <a:ext cx="1517904" cy="384048"/>
          </a:xfrm>
          <a:prstGeom prst="rect">
            <a:avLst/>
          </a:prstGeom>
          <a:noFill/>
          <a:ln/>
        </p:spPr>
        <p:txBody>
          <a:bodyPr wrap="square" lIns="0" tIns="0" rIns="0" bIns="0" rtlCol="0" anchor="ctr">
            <a:normAutofit/>
          </a:bodyPr>
          <a:lstStyle/>
          <a:p>
            <a:pPr marL="228600" indent="-228600" algn="ctr">
              <a:buAutoNum type="arabicPlain" startAt="2"/>
            </a:pPr>
            <a:r>
              <a:rPr lang="en-US" sz="1200" b="1">
                <a:solidFill>
                  <a:srgbClr val="0B5CAB"/>
                </a:solidFill>
                <a:latin typeface="+mj-lt"/>
                <a:ea typeface="Aptos" pitchFamily="34" charset="-122"/>
                <a:cs typeface="Aptos" pitchFamily="34" charset="-120"/>
              </a:rPr>
              <a:t>Inbound / ESOT</a:t>
            </a:r>
          </a:p>
          <a:p>
            <a:pPr algn="ctr"/>
            <a:r>
              <a:rPr lang="en-US" sz="1200" b="1">
                <a:solidFill>
                  <a:srgbClr val="0B5CAB"/>
                </a:solidFill>
                <a:latin typeface="+mj-lt"/>
                <a:ea typeface="Aptos" pitchFamily="34" charset="-122"/>
                <a:cs typeface="Aptos" pitchFamily="34" charset="-120"/>
              </a:rPr>
              <a:t>(AUTO)</a:t>
            </a:r>
          </a:p>
        </p:txBody>
      </p:sp>
      <p:sp>
        <p:nvSpPr>
          <p:cNvPr id="20" name="Text 11">
            <a:extLst>
              <a:ext uri="{FF2B5EF4-FFF2-40B4-BE49-F238E27FC236}">
                <a16:creationId xmlns:a16="http://schemas.microsoft.com/office/drawing/2014/main" id="{960808F9-3955-7456-6F65-D2F73D2F7154}"/>
              </a:ext>
            </a:extLst>
          </p:cNvPr>
          <p:cNvSpPr/>
          <p:nvPr/>
        </p:nvSpPr>
        <p:spPr>
          <a:xfrm>
            <a:off x="2322718" y="3014262"/>
            <a:ext cx="1444752" cy="530352"/>
          </a:xfrm>
          <a:prstGeom prst="rect">
            <a:avLst/>
          </a:prstGeom>
          <a:noFill/>
          <a:ln/>
        </p:spPr>
        <p:txBody>
          <a:bodyPr wrap="square" lIns="0" tIns="0" rIns="0" bIns="0" rtlCol="0" anchor="ctr">
            <a:normAutofit/>
          </a:bodyPr>
          <a:lstStyle/>
          <a:p>
            <a:pPr marL="0" indent="0" algn="ctr">
              <a:buNone/>
            </a:pPr>
            <a:r>
              <a:rPr lang="en-US" sz="1000">
                <a:solidFill>
                  <a:srgbClr val="243447"/>
                </a:solidFill>
                <a:latin typeface="+mj-lt"/>
                <a:ea typeface="Aptos" pitchFamily="34" charset="-122"/>
                <a:cs typeface="Aptos" pitchFamily="34" charset="-120"/>
              </a:rPr>
              <a:t>Approved request</a:t>
            </a:r>
            <a:endParaRPr lang="en-US" sz="1000">
              <a:latin typeface="+mj-lt"/>
            </a:endParaRPr>
          </a:p>
          <a:p>
            <a:pPr marL="0" indent="0" algn="ctr">
              <a:buNone/>
            </a:pPr>
            <a:r>
              <a:rPr lang="en-US" sz="1000">
                <a:solidFill>
                  <a:srgbClr val="243447"/>
                </a:solidFill>
                <a:latin typeface="+mj-lt"/>
                <a:ea typeface="Aptos" pitchFamily="34" charset="-122"/>
                <a:cs typeface="Aptos" pitchFamily="34" charset="-120"/>
              </a:rPr>
              <a:t>transmitted to NexBill</a:t>
            </a:r>
            <a:endParaRPr lang="en-US" sz="1000">
              <a:latin typeface="+mj-lt"/>
            </a:endParaRPr>
          </a:p>
        </p:txBody>
      </p:sp>
      <p:sp>
        <p:nvSpPr>
          <p:cNvPr id="21" name="Text 12">
            <a:extLst>
              <a:ext uri="{FF2B5EF4-FFF2-40B4-BE49-F238E27FC236}">
                <a16:creationId xmlns:a16="http://schemas.microsoft.com/office/drawing/2014/main" id="{29DAE73E-C965-3E8D-BD19-7E867B7F7321}"/>
              </a:ext>
            </a:extLst>
          </p:cNvPr>
          <p:cNvSpPr/>
          <p:nvPr/>
        </p:nvSpPr>
        <p:spPr>
          <a:xfrm>
            <a:off x="3900058" y="2904534"/>
            <a:ext cx="155448" cy="256032"/>
          </a:xfrm>
          <a:prstGeom prst="rect">
            <a:avLst/>
          </a:prstGeom>
          <a:noFill/>
          <a:ln/>
        </p:spPr>
        <p:txBody>
          <a:bodyPr wrap="square" lIns="0" tIns="0" rIns="0" bIns="0" rtlCol="0" anchor="ctr"/>
          <a:lstStyle/>
          <a:p>
            <a:pPr marL="0" indent="0" algn="ctr">
              <a:buNone/>
            </a:pPr>
            <a:r>
              <a:rPr lang="en-US" sz="1000" b="1">
                <a:latin typeface="+mj-lt"/>
                <a:ea typeface="Aptos Display" pitchFamily="34" charset="-122"/>
                <a:cs typeface="Aptos Display" pitchFamily="34" charset="-120"/>
              </a:rPr>
              <a:t>›</a:t>
            </a:r>
            <a:endParaRPr lang="en-US" sz="1000">
              <a:latin typeface="+mj-lt"/>
            </a:endParaRPr>
          </a:p>
        </p:txBody>
      </p:sp>
      <p:sp>
        <p:nvSpPr>
          <p:cNvPr id="22" name="Shape 13">
            <a:extLst>
              <a:ext uri="{FF2B5EF4-FFF2-40B4-BE49-F238E27FC236}">
                <a16:creationId xmlns:a16="http://schemas.microsoft.com/office/drawing/2014/main" id="{A40AC2AE-CC63-C151-004F-C24A238CDA68}"/>
              </a:ext>
            </a:extLst>
          </p:cNvPr>
          <p:cNvSpPr/>
          <p:nvPr/>
        </p:nvSpPr>
        <p:spPr>
          <a:xfrm>
            <a:off x="4060078" y="2264454"/>
            <a:ext cx="1700784" cy="1755648"/>
          </a:xfrm>
          <a:prstGeom prst="roundRect">
            <a:avLst>
              <a:gd name="adj" fmla="val 2688"/>
            </a:avLst>
          </a:prstGeom>
          <a:solidFill>
            <a:srgbClr val="FBFCFE"/>
          </a:solidFill>
          <a:ln w="20320">
            <a:solidFill>
              <a:srgbClr val="5A9E1A"/>
            </a:solidFill>
            <a:prstDash val="solid"/>
          </a:ln>
        </p:spPr>
        <p:txBody>
          <a:bodyPr/>
          <a:lstStyle/>
          <a:p>
            <a:endParaRPr lang="zh-CN" altLang="en-US">
              <a:latin typeface="+mj-lt"/>
            </a:endParaRPr>
          </a:p>
        </p:txBody>
      </p:sp>
      <p:sp>
        <p:nvSpPr>
          <p:cNvPr id="23" name="Text 14">
            <a:extLst>
              <a:ext uri="{FF2B5EF4-FFF2-40B4-BE49-F238E27FC236}">
                <a16:creationId xmlns:a16="http://schemas.microsoft.com/office/drawing/2014/main" id="{E9B82E29-2A25-7270-E327-34588B51E056}"/>
              </a:ext>
            </a:extLst>
          </p:cNvPr>
          <p:cNvSpPr/>
          <p:nvPr/>
        </p:nvSpPr>
        <p:spPr>
          <a:xfrm>
            <a:off x="4151518" y="2429046"/>
            <a:ext cx="1517904" cy="384048"/>
          </a:xfrm>
          <a:prstGeom prst="rect">
            <a:avLst/>
          </a:prstGeom>
          <a:noFill/>
          <a:ln/>
        </p:spPr>
        <p:txBody>
          <a:bodyPr wrap="square" lIns="0" tIns="0" rIns="0" bIns="0" rtlCol="0" anchor="ctr">
            <a:normAutofit/>
          </a:bodyPr>
          <a:lstStyle/>
          <a:p>
            <a:pPr marL="0" indent="0" algn="ctr">
              <a:buNone/>
            </a:pPr>
            <a:r>
              <a:rPr lang="en-US" sz="1200" b="1">
                <a:solidFill>
                  <a:srgbClr val="5A9E1A"/>
                </a:solidFill>
                <a:latin typeface="+mj-lt"/>
                <a:ea typeface="Aptos" pitchFamily="34" charset="-122"/>
                <a:cs typeface="Aptos" pitchFamily="34" charset="-120"/>
              </a:rPr>
              <a:t>3  Subscription Order (AUTO)</a:t>
            </a:r>
            <a:endParaRPr lang="en-US" sz="1200">
              <a:latin typeface="+mj-lt"/>
            </a:endParaRPr>
          </a:p>
        </p:txBody>
      </p:sp>
      <p:sp>
        <p:nvSpPr>
          <p:cNvPr id="24" name="Text 15">
            <a:extLst>
              <a:ext uri="{FF2B5EF4-FFF2-40B4-BE49-F238E27FC236}">
                <a16:creationId xmlns:a16="http://schemas.microsoft.com/office/drawing/2014/main" id="{EAD8357D-11EA-AE63-D51A-64E25BCFB5EA}"/>
              </a:ext>
            </a:extLst>
          </p:cNvPr>
          <p:cNvSpPr/>
          <p:nvPr/>
        </p:nvSpPr>
        <p:spPr>
          <a:xfrm>
            <a:off x="4188094" y="3014262"/>
            <a:ext cx="1444752" cy="530352"/>
          </a:xfrm>
          <a:prstGeom prst="rect">
            <a:avLst/>
          </a:prstGeom>
          <a:noFill/>
          <a:ln/>
        </p:spPr>
        <p:txBody>
          <a:bodyPr wrap="square" lIns="0" tIns="0" rIns="0" bIns="0" rtlCol="0" anchor="ctr">
            <a:normAutofit/>
          </a:bodyPr>
          <a:lstStyle/>
          <a:p>
            <a:pPr marL="0" indent="0" algn="ctr">
              <a:buNone/>
            </a:pPr>
            <a:r>
              <a:rPr lang="en-US" sz="1000">
                <a:solidFill>
                  <a:srgbClr val="243447"/>
                </a:solidFill>
                <a:latin typeface="+mj-lt"/>
                <a:ea typeface="Aptos" pitchFamily="34" charset="-122"/>
                <a:cs typeface="Aptos" pitchFamily="34" charset="-120"/>
              </a:rPr>
              <a:t>Subscription order created with</a:t>
            </a:r>
            <a:endParaRPr lang="en-US" sz="1000">
              <a:latin typeface="+mj-lt"/>
            </a:endParaRPr>
          </a:p>
          <a:p>
            <a:pPr marL="0" indent="0" algn="ctr">
              <a:buNone/>
            </a:pPr>
            <a:r>
              <a:rPr lang="en-US" sz="1000">
                <a:solidFill>
                  <a:srgbClr val="243447"/>
                </a:solidFill>
                <a:latin typeface="+mj-lt"/>
                <a:ea typeface="Aptos" pitchFamily="34" charset="-122"/>
                <a:cs typeface="Aptos" pitchFamily="34" charset="-120"/>
              </a:rPr>
              <a:t>relevant details</a:t>
            </a:r>
            <a:endParaRPr lang="en-US" sz="1000">
              <a:latin typeface="+mj-lt"/>
            </a:endParaRPr>
          </a:p>
        </p:txBody>
      </p:sp>
      <p:sp>
        <p:nvSpPr>
          <p:cNvPr id="25" name="Text 16">
            <a:extLst>
              <a:ext uri="{FF2B5EF4-FFF2-40B4-BE49-F238E27FC236}">
                <a16:creationId xmlns:a16="http://schemas.microsoft.com/office/drawing/2014/main" id="{689B0D0A-4FFD-569B-A2CC-393E42778429}"/>
              </a:ext>
            </a:extLst>
          </p:cNvPr>
          <p:cNvSpPr/>
          <p:nvPr/>
        </p:nvSpPr>
        <p:spPr>
          <a:xfrm>
            <a:off x="5765434" y="2904534"/>
            <a:ext cx="155448" cy="256032"/>
          </a:xfrm>
          <a:prstGeom prst="rect">
            <a:avLst/>
          </a:prstGeom>
          <a:noFill/>
          <a:ln/>
        </p:spPr>
        <p:txBody>
          <a:bodyPr wrap="square" lIns="0" tIns="0" rIns="0" bIns="0" rtlCol="0" anchor="ctr"/>
          <a:lstStyle/>
          <a:p>
            <a:pPr marL="0" indent="0" algn="ctr">
              <a:buNone/>
            </a:pPr>
            <a:r>
              <a:rPr lang="en-US" sz="1000" b="1">
                <a:latin typeface="+mj-lt"/>
                <a:ea typeface="Aptos Display" pitchFamily="34" charset="-122"/>
                <a:cs typeface="Aptos Display" pitchFamily="34" charset="-120"/>
              </a:rPr>
              <a:t>›</a:t>
            </a:r>
            <a:endParaRPr lang="en-US" sz="1000">
              <a:latin typeface="+mj-lt"/>
            </a:endParaRPr>
          </a:p>
        </p:txBody>
      </p:sp>
      <p:sp>
        <p:nvSpPr>
          <p:cNvPr id="26" name="Shape 17">
            <a:extLst>
              <a:ext uri="{FF2B5EF4-FFF2-40B4-BE49-F238E27FC236}">
                <a16:creationId xmlns:a16="http://schemas.microsoft.com/office/drawing/2014/main" id="{5CEEF2AD-192A-794C-EF40-25767768FAB0}"/>
              </a:ext>
            </a:extLst>
          </p:cNvPr>
          <p:cNvSpPr/>
          <p:nvPr/>
        </p:nvSpPr>
        <p:spPr>
          <a:xfrm>
            <a:off x="5925454" y="2264454"/>
            <a:ext cx="1700784" cy="1755648"/>
          </a:xfrm>
          <a:prstGeom prst="roundRect">
            <a:avLst>
              <a:gd name="adj" fmla="val 2688"/>
            </a:avLst>
          </a:prstGeom>
          <a:solidFill>
            <a:srgbClr val="FBFCFE"/>
          </a:solidFill>
          <a:ln w="20320">
            <a:solidFill>
              <a:srgbClr val="5B2A86"/>
            </a:solidFill>
            <a:prstDash val="solid"/>
          </a:ln>
        </p:spPr>
        <p:txBody>
          <a:bodyPr/>
          <a:lstStyle/>
          <a:p>
            <a:endParaRPr lang="zh-CN" altLang="en-US">
              <a:latin typeface="+mj-lt"/>
            </a:endParaRPr>
          </a:p>
        </p:txBody>
      </p:sp>
      <p:sp>
        <p:nvSpPr>
          <p:cNvPr id="27" name="Text 18">
            <a:extLst>
              <a:ext uri="{FF2B5EF4-FFF2-40B4-BE49-F238E27FC236}">
                <a16:creationId xmlns:a16="http://schemas.microsoft.com/office/drawing/2014/main" id="{5F51C5A5-185A-0E90-AB25-2CEAC6C42979}"/>
              </a:ext>
            </a:extLst>
          </p:cNvPr>
          <p:cNvSpPr/>
          <p:nvPr/>
        </p:nvSpPr>
        <p:spPr>
          <a:xfrm>
            <a:off x="6016894" y="2429046"/>
            <a:ext cx="1517904" cy="384048"/>
          </a:xfrm>
          <a:prstGeom prst="rect">
            <a:avLst/>
          </a:prstGeom>
          <a:noFill/>
          <a:ln/>
        </p:spPr>
        <p:txBody>
          <a:bodyPr wrap="square" lIns="0" tIns="0" rIns="0" bIns="0" rtlCol="0" anchor="ctr">
            <a:normAutofit/>
          </a:bodyPr>
          <a:lstStyle/>
          <a:p>
            <a:pPr marL="0" indent="0" algn="ctr">
              <a:buNone/>
            </a:pPr>
            <a:r>
              <a:rPr lang="en-US" sz="1200" b="1">
                <a:solidFill>
                  <a:srgbClr val="5B2A86"/>
                </a:solidFill>
                <a:latin typeface="+mj-lt"/>
                <a:ea typeface="Aptos" pitchFamily="34" charset="-122"/>
                <a:cs typeface="Aptos" pitchFamily="34" charset="-120"/>
              </a:rPr>
              <a:t>4  Review</a:t>
            </a:r>
            <a:endParaRPr lang="en-US" sz="1200">
              <a:latin typeface="+mj-lt"/>
            </a:endParaRPr>
          </a:p>
        </p:txBody>
      </p:sp>
      <p:sp>
        <p:nvSpPr>
          <p:cNvPr id="28" name="Text 19">
            <a:extLst>
              <a:ext uri="{FF2B5EF4-FFF2-40B4-BE49-F238E27FC236}">
                <a16:creationId xmlns:a16="http://schemas.microsoft.com/office/drawing/2014/main" id="{828F8318-E0C9-71C4-74EB-E89435CB80D3}"/>
              </a:ext>
            </a:extLst>
          </p:cNvPr>
          <p:cNvSpPr/>
          <p:nvPr/>
        </p:nvSpPr>
        <p:spPr>
          <a:xfrm>
            <a:off x="6053470" y="3014262"/>
            <a:ext cx="1444752" cy="530352"/>
          </a:xfrm>
          <a:prstGeom prst="rect">
            <a:avLst/>
          </a:prstGeom>
          <a:noFill/>
          <a:ln/>
        </p:spPr>
        <p:txBody>
          <a:bodyPr wrap="square" lIns="0" tIns="0" rIns="0" bIns="0" rtlCol="0" anchor="ctr">
            <a:normAutofit/>
          </a:bodyPr>
          <a:lstStyle/>
          <a:p>
            <a:pPr algn="ctr"/>
            <a:r>
              <a:rPr lang="en-US" sz="1000">
                <a:solidFill>
                  <a:srgbClr val="243447"/>
                </a:solidFill>
                <a:latin typeface="+mj-lt"/>
                <a:ea typeface="Aptos" pitchFamily="34" charset="-122"/>
                <a:cs typeface="Aptos" pitchFamily="34" charset="-120"/>
              </a:rPr>
              <a:t>Review s</a:t>
            </a:r>
            <a:r>
              <a:rPr lang="en-US" altLang="zh-CN" sz="1000">
                <a:solidFill>
                  <a:srgbClr val="243447"/>
                </a:solidFill>
                <a:ea typeface="Aptos" pitchFamily="34" charset="-122"/>
                <a:cs typeface="Aptos" pitchFamily="34" charset="-120"/>
              </a:rPr>
              <a:t>ubscription order </a:t>
            </a:r>
            <a:r>
              <a:rPr lang="en-US" sz="1000">
                <a:solidFill>
                  <a:srgbClr val="243447"/>
                </a:solidFill>
                <a:latin typeface="+mj-lt"/>
                <a:ea typeface="Aptos" pitchFamily="34" charset="-122"/>
                <a:cs typeface="Aptos" pitchFamily="34" charset="-120"/>
              </a:rPr>
              <a:t>details</a:t>
            </a:r>
            <a:endParaRPr lang="en-US" sz="1000">
              <a:latin typeface="+mj-lt"/>
            </a:endParaRPr>
          </a:p>
        </p:txBody>
      </p:sp>
      <p:sp>
        <p:nvSpPr>
          <p:cNvPr id="30" name="Text 20">
            <a:extLst>
              <a:ext uri="{FF2B5EF4-FFF2-40B4-BE49-F238E27FC236}">
                <a16:creationId xmlns:a16="http://schemas.microsoft.com/office/drawing/2014/main" id="{C6C7B01B-5857-0100-D8A9-5F3642484D2C}"/>
              </a:ext>
            </a:extLst>
          </p:cNvPr>
          <p:cNvSpPr/>
          <p:nvPr/>
        </p:nvSpPr>
        <p:spPr>
          <a:xfrm>
            <a:off x="7630810" y="2904534"/>
            <a:ext cx="155448" cy="256032"/>
          </a:xfrm>
          <a:prstGeom prst="rect">
            <a:avLst/>
          </a:prstGeom>
          <a:noFill/>
          <a:ln/>
        </p:spPr>
        <p:txBody>
          <a:bodyPr wrap="square" lIns="0" tIns="0" rIns="0" bIns="0" rtlCol="0" anchor="ctr"/>
          <a:lstStyle/>
          <a:p>
            <a:pPr marL="0" indent="0" algn="ctr">
              <a:buNone/>
            </a:pPr>
            <a:r>
              <a:rPr lang="en-US" sz="1000" b="1">
                <a:latin typeface="+mj-lt"/>
                <a:ea typeface="Aptos Display" pitchFamily="34" charset="-122"/>
                <a:cs typeface="Aptos Display" pitchFamily="34" charset="-120"/>
              </a:rPr>
              <a:t>›</a:t>
            </a:r>
            <a:endParaRPr lang="en-US" sz="1000">
              <a:latin typeface="+mj-lt"/>
            </a:endParaRPr>
          </a:p>
        </p:txBody>
      </p:sp>
      <p:sp>
        <p:nvSpPr>
          <p:cNvPr id="31" name="Shape 21">
            <a:extLst>
              <a:ext uri="{FF2B5EF4-FFF2-40B4-BE49-F238E27FC236}">
                <a16:creationId xmlns:a16="http://schemas.microsoft.com/office/drawing/2014/main" id="{837A8CC0-1061-5E43-81C2-4E12B83FF4C6}"/>
              </a:ext>
            </a:extLst>
          </p:cNvPr>
          <p:cNvSpPr/>
          <p:nvPr/>
        </p:nvSpPr>
        <p:spPr>
          <a:xfrm>
            <a:off x="7790830" y="2264454"/>
            <a:ext cx="1700784" cy="1755648"/>
          </a:xfrm>
          <a:prstGeom prst="roundRect">
            <a:avLst>
              <a:gd name="adj" fmla="val 2688"/>
            </a:avLst>
          </a:prstGeom>
          <a:solidFill>
            <a:srgbClr val="FBFCFE"/>
          </a:solidFill>
          <a:ln w="20320">
            <a:solidFill>
              <a:srgbClr val="E86F0A"/>
            </a:solidFill>
            <a:prstDash val="solid"/>
          </a:ln>
        </p:spPr>
        <p:txBody>
          <a:bodyPr/>
          <a:lstStyle/>
          <a:p>
            <a:endParaRPr lang="zh-CN" altLang="en-US">
              <a:latin typeface="+mj-lt"/>
            </a:endParaRPr>
          </a:p>
        </p:txBody>
      </p:sp>
      <p:sp>
        <p:nvSpPr>
          <p:cNvPr id="32" name="Text 22">
            <a:extLst>
              <a:ext uri="{FF2B5EF4-FFF2-40B4-BE49-F238E27FC236}">
                <a16:creationId xmlns:a16="http://schemas.microsoft.com/office/drawing/2014/main" id="{1B2DB9F6-FA3C-8502-D422-0D261F866B11}"/>
              </a:ext>
            </a:extLst>
          </p:cNvPr>
          <p:cNvSpPr/>
          <p:nvPr/>
        </p:nvSpPr>
        <p:spPr>
          <a:xfrm>
            <a:off x="7882270" y="2429046"/>
            <a:ext cx="1517904" cy="384048"/>
          </a:xfrm>
          <a:prstGeom prst="rect">
            <a:avLst/>
          </a:prstGeom>
          <a:noFill/>
          <a:ln/>
        </p:spPr>
        <p:txBody>
          <a:bodyPr wrap="square" lIns="0" tIns="0" rIns="0" bIns="0" rtlCol="0" anchor="ctr">
            <a:normAutofit/>
          </a:bodyPr>
          <a:lstStyle/>
          <a:p>
            <a:pPr marL="228600" indent="-228600" algn="ctr">
              <a:buAutoNum type="arabicPlain" startAt="5"/>
            </a:pPr>
            <a:r>
              <a:rPr lang="en-US" sz="1200" b="1">
                <a:solidFill>
                  <a:srgbClr val="E86F0A"/>
                </a:solidFill>
                <a:latin typeface="+mj-lt"/>
                <a:ea typeface="Aptos" pitchFamily="34" charset="-122"/>
                <a:cs typeface="Aptos" pitchFamily="34" charset="-120"/>
              </a:rPr>
              <a:t>Accept</a:t>
            </a:r>
          </a:p>
          <a:p>
            <a:pPr algn="ctr"/>
            <a:r>
              <a:rPr lang="en-US" sz="1200" b="1">
                <a:solidFill>
                  <a:srgbClr val="E86F0A"/>
                </a:solidFill>
                <a:latin typeface="+mj-lt"/>
                <a:ea typeface="Aptos" pitchFamily="34" charset="-122"/>
                <a:cs typeface="Aptos" pitchFamily="34" charset="-120"/>
              </a:rPr>
              <a:t>(AUTO) </a:t>
            </a:r>
            <a:endParaRPr lang="en-US" sz="1200">
              <a:latin typeface="+mj-lt"/>
            </a:endParaRPr>
          </a:p>
        </p:txBody>
      </p:sp>
      <p:sp>
        <p:nvSpPr>
          <p:cNvPr id="33" name="Text 23">
            <a:extLst>
              <a:ext uri="{FF2B5EF4-FFF2-40B4-BE49-F238E27FC236}">
                <a16:creationId xmlns:a16="http://schemas.microsoft.com/office/drawing/2014/main" id="{E451E71C-7805-1027-517E-4CAEF671AC45}"/>
              </a:ext>
            </a:extLst>
          </p:cNvPr>
          <p:cNvSpPr/>
          <p:nvPr/>
        </p:nvSpPr>
        <p:spPr>
          <a:xfrm>
            <a:off x="7918846" y="3014262"/>
            <a:ext cx="1444752" cy="530352"/>
          </a:xfrm>
          <a:prstGeom prst="rect">
            <a:avLst/>
          </a:prstGeom>
          <a:noFill/>
          <a:ln/>
        </p:spPr>
        <p:txBody>
          <a:bodyPr wrap="square" lIns="0" tIns="0" rIns="0" bIns="0" rtlCol="0" anchor="ctr">
            <a:normAutofit/>
          </a:bodyPr>
          <a:lstStyle/>
          <a:p>
            <a:pPr marL="0" indent="0" algn="ctr">
              <a:buNone/>
            </a:pPr>
            <a:r>
              <a:rPr lang="en-US" sz="1000">
                <a:solidFill>
                  <a:srgbClr val="243447"/>
                </a:solidFill>
                <a:latin typeface="+mj-lt"/>
                <a:ea typeface="Aptos" pitchFamily="34" charset="-122"/>
                <a:cs typeface="Aptos" pitchFamily="34" charset="-120"/>
              </a:rPr>
              <a:t>Trigger payment schedule  generation</a:t>
            </a:r>
            <a:endParaRPr lang="en-US" sz="1000">
              <a:latin typeface="+mj-lt"/>
            </a:endParaRPr>
          </a:p>
        </p:txBody>
      </p:sp>
      <p:sp>
        <p:nvSpPr>
          <p:cNvPr id="34" name="Text 24">
            <a:extLst>
              <a:ext uri="{FF2B5EF4-FFF2-40B4-BE49-F238E27FC236}">
                <a16:creationId xmlns:a16="http://schemas.microsoft.com/office/drawing/2014/main" id="{A5EFD617-1230-5E91-7BA1-DF5D1F3BA4FF}"/>
              </a:ext>
            </a:extLst>
          </p:cNvPr>
          <p:cNvSpPr/>
          <p:nvPr/>
        </p:nvSpPr>
        <p:spPr>
          <a:xfrm>
            <a:off x="9496186" y="2904534"/>
            <a:ext cx="155448" cy="256032"/>
          </a:xfrm>
          <a:prstGeom prst="rect">
            <a:avLst/>
          </a:prstGeom>
          <a:noFill/>
          <a:ln/>
        </p:spPr>
        <p:txBody>
          <a:bodyPr wrap="square" lIns="0" tIns="0" rIns="0" bIns="0" rtlCol="0" anchor="ctr"/>
          <a:lstStyle/>
          <a:p>
            <a:pPr marL="0" indent="0" algn="ctr">
              <a:buNone/>
            </a:pPr>
            <a:r>
              <a:rPr lang="en-US" sz="1000" b="1">
                <a:latin typeface="+mj-lt"/>
                <a:ea typeface="Aptos Display" pitchFamily="34" charset="-122"/>
                <a:cs typeface="Aptos Display" pitchFamily="34" charset="-120"/>
              </a:rPr>
              <a:t>›</a:t>
            </a:r>
            <a:endParaRPr lang="en-US" sz="1000">
              <a:latin typeface="+mj-lt"/>
            </a:endParaRPr>
          </a:p>
        </p:txBody>
      </p:sp>
      <p:sp>
        <p:nvSpPr>
          <p:cNvPr id="35" name="Shape 25">
            <a:extLst>
              <a:ext uri="{FF2B5EF4-FFF2-40B4-BE49-F238E27FC236}">
                <a16:creationId xmlns:a16="http://schemas.microsoft.com/office/drawing/2014/main" id="{712379C1-00FB-362F-E4F0-04D155B36B56}"/>
              </a:ext>
            </a:extLst>
          </p:cNvPr>
          <p:cNvSpPr/>
          <p:nvPr/>
        </p:nvSpPr>
        <p:spPr>
          <a:xfrm>
            <a:off x="9656206" y="2264454"/>
            <a:ext cx="1700784" cy="1755648"/>
          </a:xfrm>
          <a:prstGeom prst="roundRect">
            <a:avLst>
              <a:gd name="adj" fmla="val 2688"/>
            </a:avLst>
          </a:prstGeom>
          <a:solidFill>
            <a:srgbClr val="FBFCFE"/>
          </a:solidFill>
          <a:ln w="20320">
            <a:solidFill>
              <a:srgbClr val="C58A00"/>
            </a:solidFill>
            <a:prstDash val="solid"/>
          </a:ln>
        </p:spPr>
        <p:txBody>
          <a:bodyPr/>
          <a:lstStyle/>
          <a:p>
            <a:endParaRPr lang="zh-CN" altLang="en-US">
              <a:latin typeface="+mj-lt"/>
            </a:endParaRPr>
          </a:p>
        </p:txBody>
      </p:sp>
      <p:sp>
        <p:nvSpPr>
          <p:cNvPr id="36" name="Text 26">
            <a:extLst>
              <a:ext uri="{FF2B5EF4-FFF2-40B4-BE49-F238E27FC236}">
                <a16:creationId xmlns:a16="http://schemas.microsoft.com/office/drawing/2014/main" id="{292280A0-FAB1-0C0A-B496-DF29B95F3A8A}"/>
              </a:ext>
            </a:extLst>
          </p:cNvPr>
          <p:cNvSpPr/>
          <p:nvPr/>
        </p:nvSpPr>
        <p:spPr>
          <a:xfrm>
            <a:off x="9747646" y="2429046"/>
            <a:ext cx="1517904" cy="384048"/>
          </a:xfrm>
          <a:prstGeom prst="rect">
            <a:avLst/>
          </a:prstGeom>
          <a:noFill/>
          <a:ln/>
        </p:spPr>
        <p:txBody>
          <a:bodyPr wrap="square" lIns="0" tIns="0" rIns="0" bIns="0" rtlCol="0" anchor="ctr">
            <a:normAutofit fontScale="92500"/>
          </a:bodyPr>
          <a:lstStyle/>
          <a:p>
            <a:pPr marL="228600" indent="-228600" algn="ctr">
              <a:buAutoNum type="arabicPlain" startAt="6"/>
            </a:pPr>
            <a:r>
              <a:rPr lang="en-US" sz="1200" b="1">
                <a:solidFill>
                  <a:srgbClr val="C58A00"/>
                </a:solidFill>
                <a:latin typeface="+mj-lt"/>
                <a:ea typeface="Aptos" pitchFamily="34" charset="-122"/>
                <a:cs typeface="Aptos" pitchFamily="34" charset="-120"/>
              </a:rPr>
              <a:t>Payment Schedule</a:t>
            </a:r>
          </a:p>
          <a:p>
            <a:pPr algn="ctr"/>
            <a:r>
              <a:rPr lang="en-US" sz="1200" b="1">
                <a:solidFill>
                  <a:srgbClr val="C58A00"/>
                </a:solidFill>
                <a:latin typeface="+mj-lt"/>
              </a:rPr>
              <a:t>(AUTO)</a:t>
            </a:r>
            <a:endParaRPr lang="en-US" sz="1200">
              <a:latin typeface="+mj-lt"/>
            </a:endParaRPr>
          </a:p>
        </p:txBody>
      </p:sp>
      <p:sp>
        <p:nvSpPr>
          <p:cNvPr id="37" name="Text 27">
            <a:extLst>
              <a:ext uri="{FF2B5EF4-FFF2-40B4-BE49-F238E27FC236}">
                <a16:creationId xmlns:a16="http://schemas.microsoft.com/office/drawing/2014/main" id="{96C6B2EF-45CD-7E8E-6FBA-DA6D3C4C5002}"/>
              </a:ext>
            </a:extLst>
          </p:cNvPr>
          <p:cNvSpPr/>
          <p:nvPr/>
        </p:nvSpPr>
        <p:spPr>
          <a:xfrm>
            <a:off x="9784222" y="3014262"/>
            <a:ext cx="1444752" cy="530352"/>
          </a:xfrm>
          <a:prstGeom prst="rect">
            <a:avLst/>
          </a:prstGeom>
          <a:noFill/>
          <a:ln/>
        </p:spPr>
        <p:txBody>
          <a:bodyPr wrap="square" lIns="0" tIns="0" rIns="0" bIns="0" rtlCol="0" anchor="ctr">
            <a:normAutofit/>
          </a:bodyPr>
          <a:lstStyle/>
          <a:p>
            <a:pPr marL="0" indent="0" algn="ctr">
              <a:buNone/>
            </a:pPr>
            <a:r>
              <a:rPr lang="en-US" sz="1000">
                <a:solidFill>
                  <a:srgbClr val="243447"/>
                </a:solidFill>
                <a:latin typeface="+mj-lt"/>
                <a:ea typeface="Aptos" pitchFamily="34" charset="-122"/>
                <a:cs typeface="Aptos" pitchFamily="34" charset="-120"/>
              </a:rPr>
              <a:t>Payment schedule</a:t>
            </a:r>
            <a:endParaRPr lang="en-US" sz="1000">
              <a:latin typeface="+mj-lt"/>
            </a:endParaRPr>
          </a:p>
          <a:p>
            <a:pPr marL="0" indent="0" algn="ctr">
              <a:buNone/>
            </a:pPr>
            <a:r>
              <a:rPr lang="en-US" sz="1000">
                <a:solidFill>
                  <a:srgbClr val="243447"/>
                </a:solidFill>
                <a:latin typeface="+mj-lt"/>
                <a:ea typeface="Aptos" pitchFamily="34" charset="-122"/>
                <a:cs typeface="Aptos" pitchFamily="34" charset="-120"/>
              </a:rPr>
              <a:t>generation</a:t>
            </a:r>
            <a:endParaRPr lang="en-US" sz="1000">
              <a:latin typeface="+mj-lt"/>
            </a:endParaRPr>
          </a:p>
        </p:txBody>
      </p:sp>
      <p:sp>
        <p:nvSpPr>
          <p:cNvPr id="38" name="Text 28">
            <a:extLst>
              <a:ext uri="{FF2B5EF4-FFF2-40B4-BE49-F238E27FC236}">
                <a16:creationId xmlns:a16="http://schemas.microsoft.com/office/drawing/2014/main" id="{9488796F-E8FC-ABE8-4FD6-E2462E5D1E59}"/>
              </a:ext>
            </a:extLst>
          </p:cNvPr>
          <p:cNvSpPr/>
          <p:nvPr/>
        </p:nvSpPr>
        <p:spPr>
          <a:xfrm>
            <a:off x="347614" y="4221270"/>
            <a:ext cx="1828800" cy="228600"/>
          </a:xfrm>
          <a:prstGeom prst="rect">
            <a:avLst/>
          </a:prstGeom>
          <a:noFill/>
          <a:ln/>
        </p:spPr>
        <p:txBody>
          <a:bodyPr wrap="square" lIns="0" tIns="0" rIns="0" bIns="0" rtlCol="0" anchor="ctr"/>
          <a:lstStyle/>
          <a:p>
            <a:pPr marL="0" indent="0">
              <a:buNone/>
            </a:pPr>
            <a:r>
              <a:rPr lang="en-US" sz="1500" b="1">
                <a:solidFill>
                  <a:srgbClr val="0B5CAB"/>
                </a:solidFill>
                <a:latin typeface="+mj-lt"/>
                <a:ea typeface="Aptos" pitchFamily="34" charset="-122"/>
                <a:cs typeface="Aptos" pitchFamily="34" charset="-120"/>
              </a:rPr>
              <a:t>Key Functions</a:t>
            </a:r>
            <a:endParaRPr lang="en-US" sz="1500">
              <a:latin typeface="+mj-lt"/>
            </a:endParaRPr>
          </a:p>
        </p:txBody>
      </p:sp>
      <p:sp>
        <p:nvSpPr>
          <p:cNvPr id="39" name="Shape 29">
            <a:extLst>
              <a:ext uri="{FF2B5EF4-FFF2-40B4-BE49-F238E27FC236}">
                <a16:creationId xmlns:a16="http://schemas.microsoft.com/office/drawing/2014/main" id="{D249B319-464D-26FA-F347-0C65354AF654}"/>
              </a:ext>
            </a:extLst>
          </p:cNvPr>
          <p:cNvSpPr/>
          <p:nvPr/>
        </p:nvSpPr>
        <p:spPr>
          <a:xfrm>
            <a:off x="320182" y="450473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40" name="Text 30">
            <a:extLst>
              <a:ext uri="{FF2B5EF4-FFF2-40B4-BE49-F238E27FC236}">
                <a16:creationId xmlns:a16="http://schemas.microsoft.com/office/drawing/2014/main" id="{100DE47D-77DE-4C65-D7BA-29CD7C81EA8B}"/>
              </a:ext>
            </a:extLst>
          </p:cNvPr>
          <p:cNvSpPr/>
          <p:nvPr/>
        </p:nvSpPr>
        <p:spPr>
          <a:xfrm>
            <a:off x="466486" y="4577886"/>
            <a:ext cx="3383280" cy="146304"/>
          </a:xfrm>
          <a:prstGeom prst="rect">
            <a:avLst/>
          </a:prstGeom>
          <a:noFill/>
          <a:ln/>
        </p:spPr>
        <p:txBody>
          <a:bodyPr wrap="square" lIns="0" tIns="0" rIns="0" bIns="0" rtlCol="0" anchor="ctr">
            <a:noAutofit/>
          </a:bodyPr>
          <a:lstStyle/>
          <a:p>
            <a:pPr marL="0" indent="0">
              <a:buNone/>
            </a:pPr>
            <a:r>
              <a:rPr lang="en-US" sz="1200" b="1">
                <a:solidFill>
                  <a:srgbClr val="0B5CAB"/>
                </a:solidFill>
                <a:latin typeface="+mj-lt"/>
                <a:ea typeface="Aptos" pitchFamily="34" charset="-122"/>
                <a:cs typeface="Aptos" pitchFamily="34" charset="-120"/>
              </a:rPr>
              <a:t>1  Search &amp; View</a:t>
            </a:r>
            <a:endParaRPr lang="en-US" sz="1200">
              <a:latin typeface="+mj-lt"/>
            </a:endParaRPr>
          </a:p>
        </p:txBody>
      </p:sp>
      <p:sp>
        <p:nvSpPr>
          <p:cNvPr id="41" name="Text 31">
            <a:extLst>
              <a:ext uri="{FF2B5EF4-FFF2-40B4-BE49-F238E27FC236}">
                <a16:creationId xmlns:a16="http://schemas.microsoft.com/office/drawing/2014/main" id="{5CF84604-C147-F2B5-4A85-BD07DDA5573E}"/>
              </a:ext>
            </a:extLst>
          </p:cNvPr>
          <p:cNvSpPr/>
          <p:nvPr/>
        </p:nvSpPr>
        <p:spPr>
          <a:xfrm>
            <a:off x="466486" y="4779054"/>
            <a:ext cx="3383280" cy="253088"/>
          </a:xfrm>
          <a:prstGeom prst="rect">
            <a:avLst/>
          </a:prstGeom>
          <a:noFill/>
          <a:ln/>
        </p:spPr>
        <p:txBody>
          <a:bodyPr wrap="square" lIns="0" tIns="0" rIns="0" bIns="0" rtlCol="0" anchor="ctr">
            <a:noAutofit/>
          </a:bodyPr>
          <a:lstStyle/>
          <a:p>
            <a:pPr marL="0" indent="0">
              <a:buNone/>
            </a:pPr>
            <a:r>
              <a:rPr lang="en-US" sz="1000">
                <a:solidFill>
                  <a:srgbClr val="243447"/>
                </a:solidFill>
                <a:latin typeface="+mj-lt"/>
                <a:ea typeface="Aptos" pitchFamily="34" charset="-122"/>
                <a:cs typeface="Aptos" pitchFamily="34" charset="-120"/>
              </a:rPr>
              <a:t>Find subscription orders using business search criteria and open subscription order details.</a:t>
            </a:r>
            <a:endParaRPr lang="en-US" sz="1000">
              <a:latin typeface="+mj-lt"/>
            </a:endParaRPr>
          </a:p>
        </p:txBody>
      </p:sp>
      <p:sp>
        <p:nvSpPr>
          <p:cNvPr id="42" name="Shape 32">
            <a:extLst>
              <a:ext uri="{FF2B5EF4-FFF2-40B4-BE49-F238E27FC236}">
                <a16:creationId xmlns:a16="http://schemas.microsoft.com/office/drawing/2014/main" id="{C529C764-39F9-3311-0B01-61A5D1EBC4BE}"/>
              </a:ext>
            </a:extLst>
          </p:cNvPr>
          <p:cNvSpPr/>
          <p:nvPr/>
        </p:nvSpPr>
        <p:spPr>
          <a:xfrm>
            <a:off x="4023502" y="450473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43" name="Text 33">
            <a:extLst>
              <a:ext uri="{FF2B5EF4-FFF2-40B4-BE49-F238E27FC236}">
                <a16:creationId xmlns:a16="http://schemas.microsoft.com/office/drawing/2014/main" id="{F9F1AD31-D4A4-DA5E-6BCA-B8D5CD044483}"/>
              </a:ext>
            </a:extLst>
          </p:cNvPr>
          <p:cNvSpPr/>
          <p:nvPr/>
        </p:nvSpPr>
        <p:spPr>
          <a:xfrm>
            <a:off x="4169806" y="4577886"/>
            <a:ext cx="3383280" cy="146304"/>
          </a:xfrm>
          <a:prstGeom prst="rect">
            <a:avLst/>
          </a:prstGeom>
          <a:noFill/>
          <a:ln/>
        </p:spPr>
        <p:txBody>
          <a:bodyPr wrap="square" lIns="0" tIns="0" rIns="0" bIns="0" rtlCol="0" anchor="ctr">
            <a:noAutofit/>
          </a:bodyPr>
          <a:lstStyle/>
          <a:p>
            <a:pPr marL="0" indent="0">
              <a:buNone/>
            </a:pPr>
            <a:r>
              <a:rPr lang="en-US" sz="1200" b="1">
                <a:solidFill>
                  <a:srgbClr val="008C95"/>
                </a:solidFill>
                <a:latin typeface="+mj-lt"/>
                <a:ea typeface="Aptos" pitchFamily="34" charset="-122"/>
                <a:cs typeface="Aptos" pitchFamily="34" charset="-120"/>
              </a:rPr>
              <a:t>2  New / Copy</a:t>
            </a:r>
            <a:endParaRPr lang="en-US" sz="1200">
              <a:latin typeface="+mj-lt"/>
            </a:endParaRPr>
          </a:p>
        </p:txBody>
      </p:sp>
      <p:sp>
        <p:nvSpPr>
          <p:cNvPr id="44" name="Text 34">
            <a:extLst>
              <a:ext uri="{FF2B5EF4-FFF2-40B4-BE49-F238E27FC236}">
                <a16:creationId xmlns:a16="http://schemas.microsoft.com/office/drawing/2014/main" id="{D1B89313-DAB6-0A8D-7D47-43BD89DE1397}"/>
              </a:ext>
            </a:extLst>
          </p:cNvPr>
          <p:cNvSpPr/>
          <p:nvPr/>
        </p:nvSpPr>
        <p:spPr>
          <a:xfrm>
            <a:off x="4169806" y="4779054"/>
            <a:ext cx="3383280" cy="253088"/>
          </a:xfrm>
          <a:prstGeom prst="rect">
            <a:avLst/>
          </a:prstGeom>
          <a:noFill/>
          <a:ln/>
        </p:spPr>
        <p:txBody>
          <a:bodyPr wrap="square" lIns="0" tIns="0" rIns="0" bIns="0" rtlCol="0" anchor="ctr">
            <a:noAutofit/>
          </a:bodyPr>
          <a:lstStyle/>
          <a:p>
            <a:pPr marL="0" indent="0">
              <a:buNone/>
            </a:pPr>
            <a:r>
              <a:rPr lang="en-US" sz="1000">
                <a:solidFill>
                  <a:srgbClr val="243447"/>
                </a:solidFill>
                <a:latin typeface="+mj-lt"/>
                <a:ea typeface="Aptos" pitchFamily="34" charset="-122"/>
                <a:cs typeface="Aptos" pitchFamily="34" charset="-120"/>
              </a:rPr>
              <a:t>Create a subscription order manually only for urgent / exceptional scenarios.</a:t>
            </a:r>
            <a:endParaRPr lang="en-US" sz="1000">
              <a:latin typeface="+mj-lt"/>
            </a:endParaRPr>
          </a:p>
        </p:txBody>
      </p:sp>
      <p:sp>
        <p:nvSpPr>
          <p:cNvPr id="45" name="Shape 35">
            <a:extLst>
              <a:ext uri="{FF2B5EF4-FFF2-40B4-BE49-F238E27FC236}">
                <a16:creationId xmlns:a16="http://schemas.microsoft.com/office/drawing/2014/main" id="{443F7FB7-32AD-5E96-5999-0E715E4D2741}"/>
              </a:ext>
            </a:extLst>
          </p:cNvPr>
          <p:cNvSpPr/>
          <p:nvPr/>
        </p:nvSpPr>
        <p:spPr>
          <a:xfrm>
            <a:off x="7726822" y="450473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46" name="Text 36">
            <a:extLst>
              <a:ext uri="{FF2B5EF4-FFF2-40B4-BE49-F238E27FC236}">
                <a16:creationId xmlns:a16="http://schemas.microsoft.com/office/drawing/2014/main" id="{69493CD5-AC10-4A5D-A8F9-F95D488D9F9E}"/>
              </a:ext>
            </a:extLst>
          </p:cNvPr>
          <p:cNvSpPr/>
          <p:nvPr/>
        </p:nvSpPr>
        <p:spPr>
          <a:xfrm>
            <a:off x="7873126" y="4577886"/>
            <a:ext cx="3383280" cy="146304"/>
          </a:xfrm>
          <a:prstGeom prst="rect">
            <a:avLst/>
          </a:prstGeom>
          <a:noFill/>
          <a:ln/>
        </p:spPr>
        <p:txBody>
          <a:bodyPr wrap="square" lIns="0" tIns="0" rIns="0" bIns="0" rtlCol="0" anchor="ctr">
            <a:noAutofit/>
          </a:bodyPr>
          <a:lstStyle/>
          <a:p>
            <a:pPr marL="0" indent="0">
              <a:buNone/>
            </a:pPr>
            <a:r>
              <a:rPr lang="en-US" sz="1200" b="1">
                <a:solidFill>
                  <a:srgbClr val="5B2A86"/>
                </a:solidFill>
                <a:latin typeface="+mj-lt"/>
                <a:ea typeface="Aptos" pitchFamily="34" charset="-122"/>
                <a:cs typeface="Aptos" pitchFamily="34" charset="-120"/>
              </a:rPr>
              <a:t>3  Edit / Change Request</a:t>
            </a:r>
            <a:endParaRPr lang="en-US" sz="1200">
              <a:latin typeface="+mj-lt"/>
            </a:endParaRPr>
          </a:p>
        </p:txBody>
      </p:sp>
      <p:sp>
        <p:nvSpPr>
          <p:cNvPr id="47" name="Text 37">
            <a:extLst>
              <a:ext uri="{FF2B5EF4-FFF2-40B4-BE49-F238E27FC236}">
                <a16:creationId xmlns:a16="http://schemas.microsoft.com/office/drawing/2014/main" id="{B3E9DD52-1F80-AC15-E5E5-84954EFE220B}"/>
              </a:ext>
            </a:extLst>
          </p:cNvPr>
          <p:cNvSpPr/>
          <p:nvPr/>
        </p:nvSpPr>
        <p:spPr>
          <a:xfrm>
            <a:off x="7873126" y="4779053"/>
            <a:ext cx="3383280" cy="253089"/>
          </a:xfrm>
          <a:prstGeom prst="rect">
            <a:avLst/>
          </a:prstGeom>
          <a:noFill/>
          <a:ln/>
        </p:spPr>
        <p:txBody>
          <a:bodyPr wrap="square" lIns="0" tIns="0" rIns="0" bIns="0" rtlCol="0" anchor="ctr">
            <a:noAutofit/>
          </a:bodyPr>
          <a:lstStyle/>
          <a:p>
            <a:r>
              <a:rPr lang="en-US" altLang="zh-CN" sz="1000"/>
              <a:t>Change a single subscription order</a:t>
            </a:r>
            <a:r>
              <a:rPr lang="en-US" sz="1000">
                <a:solidFill>
                  <a:srgbClr val="243447"/>
                </a:solidFill>
                <a:latin typeface="+mj-lt"/>
                <a:ea typeface="Aptos" pitchFamily="34" charset="-122"/>
                <a:cs typeface="Aptos" pitchFamily="34" charset="-120"/>
              </a:rPr>
              <a:t>; changes normally become effective after approval.</a:t>
            </a:r>
            <a:endParaRPr lang="en-US" sz="1000">
              <a:latin typeface="+mj-lt"/>
            </a:endParaRPr>
          </a:p>
        </p:txBody>
      </p:sp>
      <p:sp>
        <p:nvSpPr>
          <p:cNvPr id="48" name="Shape 38">
            <a:extLst>
              <a:ext uri="{FF2B5EF4-FFF2-40B4-BE49-F238E27FC236}">
                <a16:creationId xmlns:a16="http://schemas.microsoft.com/office/drawing/2014/main" id="{5D9DF5DA-A8CF-EF55-AA88-4886E7F1C705}"/>
              </a:ext>
            </a:extLst>
          </p:cNvPr>
          <p:cNvSpPr/>
          <p:nvPr/>
        </p:nvSpPr>
        <p:spPr>
          <a:xfrm>
            <a:off x="320182" y="523625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49" name="Text 39">
            <a:extLst>
              <a:ext uri="{FF2B5EF4-FFF2-40B4-BE49-F238E27FC236}">
                <a16:creationId xmlns:a16="http://schemas.microsoft.com/office/drawing/2014/main" id="{6B897CB9-3F37-633A-EDF5-C3709C757E96}"/>
              </a:ext>
            </a:extLst>
          </p:cNvPr>
          <p:cNvSpPr/>
          <p:nvPr/>
        </p:nvSpPr>
        <p:spPr>
          <a:xfrm>
            <a:off x="466486" y="5309406"/>
            <a:ext cx="3383280" cy="146304"/>
          </a:xfrm>
          <a:prstGeom prst="rect">
            <a:avLst/>
          </a:prstGeom>
          <a:noFill/>
          <a:ln/>
        </p:spPr>
        <p:txBody>
          <a:bodyPr wrap="square" lIns="0" tIns="0" rIns="0" bIns="0" rtlCol="0" anchor="ctr">
            <a:noAutofit/>
          </a:bodyPr>
          <a:lstStyle/>
          <a:p>
            <a:r>
              <a:rPr lang="en-US" sz="1200" b="1">
                <a:solidFill>
                  <a:srgbClr val="E86F0A"/>
                </a:solidFill>
                <a:latin typeface="+mj-lt"/>
                <a:ea typeface="Aptos" pitchFamily="34" charset="-122"/>
                <a:cs typeface="Aptos" pitchFamily="34" charset="-120"/>
              </a:rPr>
              <a:t>4  Accept / </a:t>
            </a:r>
            <a:r>
              <a:rPr lang="en-US" altLang="zh-CN" sz="1200" b="1">
                <a:solidFill>
                  <a:srgbClr val="E86F0A"/>
                </a:solidFill>
                <a:latin typeface="+mj-lt"/>
              </a:rPr>
              <a:t>Generate </a:t>
            </a:r>
            <a:r>
              <a:rPr lang="en-US" sz="1200" b="1">
                <a:solidFill>
                  <a:srgbClr val="E86F0A"/>
                </a:solidFill>
                <a:latin typeface="+mj-lt"/>
              </a:rPr>
              <a:t>Payment </a:t>
            </a:r>
            <a:r>
              <a:rPr lang="en-US" sz="1200" b="1">
                <a:solidFill>
                  <a:srgbClr val="E86F0A"/>
                </a:solidFill>
                <a:latin typeface="+mj-lt"/>
                <a:ea typeface="Aptos" pitchFamily="34" charset="-122"/>
                <a:cs typeface="Aptos" pitchFamily="34" charset="-120"/>
              </a:rPr>
              <a:t>Schedule</a:t>
            </a:r>
            <a:endParaRPr lang="en-US" sz="1200">
              <a:latin typeface="+mj-lt"/>
            </a:endParaRPr>
          </a:p>
        </p:txBody>
      </p:sp>
      <p:sp>
        <p:nvSpPr>
          <p:cNvPr id="50" name="Text 40">
            <a:extLst>
              <a:ext uri="{FF2B5EF4-FFF2-40B4-BE49-F238E27FC236}">
                <a16:creationId xmlns:a16="http://schemas.microsoft.com/office/drawing/2014/main" id="{203541BE-86E3-ABB6-D605-CC8F5D34CEF1}"/>
              </a:ext>
            </a:extLst>
          </p:cNvPr>
          <p:cNvSpPr/>
          <p:nvPr/>
        </p:nvSpPr>
        <p:spPr>
          <a:xfrm>
            <a:off x="466486" y="5510574"/>
            <a:ext cx="3383280" cy="299334"/>
          </a:xfrm>
          <a:prstGeom prst="rect">
            <a:avLst/>
          </a:prstGeom>
          <a:noFill/>
          <a:ln/>
        </p:spPr>
        <p:txBody>
          <a:bodyPr wrap="square" lIns="0" tIns="0" rIns="0" bIns="0" rtlCol="0" anchor="ctr">
            <a:noAutofit/>
          </a:bodyPr>
          <a:lstStyle/>
          <a:p>
            <a:pPr marL="0" indent="0">
              <a:buNone/>
            </a:pPr>
            <a:r>
              <a:rPr lang="en-US" sz="1000">
                <a:solidFill>
                  <a:srgbClr val="243447"/>
                </a:solidFill>
                <a:latin typeface="+mj-lt"/>
                <a:ea typeface="Aptos" pitchFamily="34" charset="-122"/>
                <a:cs typeface="Aptos" pitchFamily="34" charset="-120"/>
              </a:rPr>
              <a:t>Accept a released subscription order when payment schedule generation is required or needs to be regenerated.</a:t>
            </a:r>
            <a:endParaRPr lang="en-US" sz="1000">
              <a:latin typeface="+mj-lt"/>
            </a:endParaRPr>
          </a:p>
        </p:txBody>
      </p:sp>
      <p:sp>
        <p:nvSpPr>
          <p:cNvPr id="51" name="Shape 41">
            <a:extLst>
              <a:ext uri="{FF2B5EF4-FFF2-40B4-BE49-F238E27FC236}">
                <a16:creationId xmlns:a16="http://schemas.microsoft.com/office/drawing/2014/main" id="{7724049E-D56B-5808-A79B-1D0A8054111C}"/>
              </a:ext>
            </a:extLst>
          </p:cNvPr>
          <p:cNvSpPr/>
          <p:nvPr/>
        </p:nvSpPr>
        <p:spPr>
          <a:xfrm>
            <a:off x="4023502" y="523625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52" name="Text 42">
            <a:extLst>
              <a:ext uri="{FF2B5EF4-FFF2-40B4-BE49-F238E27FC236}">
                <a16:creationId xmlns:a16="http://schemas.microsoft.com/office/drawing/2014/main" id="{D501690F-0A7C-8F0F-F7C7-CA676643FE3B}"/>
              </a:ext>
            </a:extLst>
          </p:cNvPr>
          <p:cNvSpPr/>
          <p:nvPr/>
        </p:nvSpPr>
        <p:spPr>
          <a:xfrm>
            <a:off x="4169806" y="5309406"/>
            <a:ext cx="3383280" cy="146304"/>
          </a:xfrm>
          <a:prstGeom prst="rect">
            <a:avLst/>
          </a:prstGeom>
          <a:noFill/>
          <a:ln/>
        </p:spPr>
        <p:txBody>
          <a:bodyPr wrap="square" lIns="0" tIns="0" rIns="0" bIns="0" rtlCol="0" anchor="ctr">
            <a:noAutofit/>
          </a:bodyPr>
          <a:lstStyle/>
          <a:p>
            <a:pPr marL="0" indent="0">
              <a:buNone/>
            </a:pPr>
            <a:r>
              <a:rPr lang="en-US" sz="1200" b="1">
                <a:solidFill>
                  <a:srgbClr val="5A9E1A"/>
                </a:solidFill>
                <a:latin typeface="+mj-lt"/>
                <a:ea typeface="Aptos" pitchFamily="34" charset="-122"/>
                <a:cs typeface="Aptos" pitchFamily="34" charset="-120"/>
              </a:rPr>
              <a:t>5  Change Request / History</a:t>
            </a:r>
            <a:endParaRPr lang="en-US" sz="1200">
              <a:latin typeface="+mj-lt"/>
            </a:endParaRPr>
          </a:p>
        </p:txBody>
      </p:sp>
      <p:sp>
        <p:nvSpPr>
          <p:cNvPr id="53" name="Text 43">
            <a:extLst>
              <a:ext uri="{FF2B5EF4-FFF2-40B4-BE49-F238E27FC236}">
                <a16:creationId xmlns:a16="http://schemas.microsoft.com/office/drawing/2014/main" id="{F2A2802F-94D1-18AE-431E-0E58D439E7E9}"/>
              </a:ext>
            </a:extLst>
          </p:cNvPr>
          <p:cNvSpPr/>
          <p:nvPr/>
        </p:nvSpPr>
        <p:spPr>
          <a:xfrm>
            <a:off x="4169806" y="5510574"/>
            <a:ext cx="3383280" cy="299334"/>
          </a:xfrm>
          <a:prstGeom prst="rect">
            <a:avLst/>
          </a:prstGeom>
          <a:noFill/>
          <a:ln/>
        </p:spPr>
        <p:txBody>
          <a:bodyPr wrap="square" lIns="0" tIns="0" rIns="0" bIns="0" rtlCol="0" anchor="ctr">
            <a:noAutofit/>
          </a:bodyPr>
          <a:lstStyle/>
          <a:p>
            <a:pPr marL="0" indent="0">
              <a:buNone/>
            </a:pPr>
            <a:r>
              <a:rPr lang="en-US" sz="1000">
                <a:solidFill>
                  <a:srgbClr val="243447"/>
                </a:solidFill>
                <a:latin typeface="+mj-lt"/>
                <a:ea typeface="Aptos" pitchFamily="34" charset="-122"/>
                <a:cs typeface="Aptos" pitchFamily="34" charset="-120"/>
              </a:rPr>
              <a:t>Track what changed, who submitted it and the approval / application status.</a:t>
            </a:r>
            <a:endParaRPr lang="en-US" sz="1000">
              <a:latin typeface="+mj-lt"/>
            </a:endParaRPr>
          </a:p>
        </p:txBody>
      </p:sp>
      <p:sp>
        <p:nvSpPr>
          <p:cNvPr id="54" name="Shape 44">
            <a:extLst>
              <a:ext uri="{FF2B5EF4-FFF2-40B4-BE49-F238E27FC236}">
                <a16:creationId xmlns:a16="http://schemas.microsoft.com/office/drawing/2014/main" id="{544A9695-7A65-0665-777F-A5144D0C2E59}"/>
              </a:ext>
            </a:extLst>
          </p:cNvPr>
          <p:cNvSpPr/>
          <p:nvPr/>
        </p:nvSpPr>
        <p:spPr>
          <a:xfrm>
            <a:off x="7726822" y="523625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55" name="Text 45">
            <a:extLst>
              <a:ext uri="{FF2B5EF4-FFF2-40B4-BE49-F238E27FC236}">
                <a16:creationId xmlns:a16="http://schemas.microsoft.com/office/drawing/2014/main" id="{FE475E28-06F9-837F-7200-4D439A1D20AE}"/>
              </a:ext>
            </a:extLst>
          </p:cNvPr>
          <p:cNvSpPr/>
          <p:nvPr/>
        </p:nvSpPr>
        <p:spPr>
          <a:xfrm>
            <a:off x="7873126" y="5309406"/>
            <a:ext cx="3383280" cy="146304"/>
          </a:xfrm>
          <a:prstGeom prst="rect">
            <a:avLst/>
          </a:prstGeom>
          <a:noFill/>
          <a:ln/>
        </p:spPr>
        <p:txBody>
          <a:bodyPr wrap="square" lIns="0" tIns="0" rIns="0" bIns="0" rtlCol="0" anchor="ctr">
            <a:noAutofit/>
          </a:bodyPr>
          <a:lstStyle/>
          <a:p>
            <a:pPr marL="0" indent="0">
              <a:buNone/>
            </a:pPr>
            <a:r>
              <a:rPr lang="en-US" sz="1200" b="1">
                <a:solidFill>
                  <a:srgbClr val="C58A00"/>
                </a:solidFill>
                <a:latin typeface="+mj-lt"/>
                <a:ea typeface="Aptos" pitchFamily="34" charset="-122"/>
                <a:cs typeface="Aptos" pitchFamily="34" charset="-120"/>
              </a:rPr>
              <a:t>6  Related Invoice Data</a:t>
            </a:r>
            <a:endParaRPr lang="en-US" sz="1200">
              <a:latin typeface="+mj-lt"/>
            </a:endParaRPr>
          </a:p>
        </p:txBody>
      </p:sp>
      <p:sp>
        <p:nvSpPr>
          <p:cNvPr id="56" name="Text 46">
            <a:extLst>
              <a:ext uri="{FF2B5EF4-FFF2-40B4-BE49-F238E27FC236}">
                <a16:creationId xmlns:a16="http://schemas.microsoft.com/office/drawing/2014/main" id="{BA268E1E-AB1A-696B-2D79-858186E4BF83}"/>
              </a:ext>
            </a:extLst>
          </p:cNvPr>
          <p:cNvSpPr/>
          <p:nvPr/>
        </p:nvSpPr>
        <p:spPr>
          <a:xfrm>
            <a:off x="7873126" y="5510574"/>
            <a:ext cx="3383280" cy="299334"/>
          </a:xfrm>
          <a:prstGeom prst="rect">
            <a:avLst/>
          </a:prstGeom>
          <a:noFill/>
          <a:ln/>
        </p:spPr>
        <p:txBody>
          <a:bodyPr wrap="square" lIns="0" tIns="0" rIns="0" bIns="0" rtlCol="0" anchor="ctr">
            <a:noAutofit/>
          </a:bodyPr>
          <a:lstStyle/>
          <a:p>
            <a:pPr marL="0" indent="0">
              <a:buNone/>
            </a:pPr>
            <a:r>
              <a:rPr lang="en-US" sz="1000">
                <a:solidFill>
                  <a:srgbClr val="243447"/>
                </a:solidFill>
                <a:latin typeface="+mj-lt"/>
                <a:ea typeface="Aptos" pitchFamily="34" charset="-122"/>
                <a:cs typeface="Aptos" pitchFamily="34" charset="-120"/>
              </a:rPr>
              <a:t>Review payment schedule and related invoices from the subscription order.</a:t>
            </a:r>
            <a:endParaRPr lang="en-US" sz="1000">
              <a:latin typeface="+mj-lt"/>
            </a:endParaRPr>
          </a:p>
        </p:txBody>
      </p:sp>
      <p:sp>
        <p:nvSpPr>
          <p:cNvPr id="2" name="Shape 44">
            <a:extLst>
              <a:ext uri="{FF2B5EF4-FFF2-40B4-BE49-F238E27FC236}">
                <a16:creationId xmlns:a16="http://schemas.microsoft.com/office/drawing/2014/main" id="{98A48025-6560-9E5B-B7C0-77F736653F08}"/>
              </a:ext>
            </a:extLst>
          </p:cNvPr>
          <p:cNvSpPr/>
          <p:nvPr/>
        </p:nvSpPr>
        <p:spPr>
          <a:xfrm>
            <a:off x="320182" y="5967774"/>
            <a:ext cx="3675888" cy="621792"/>
          </a:xfrm>
          <a:prstGeom prst="roundRect">
            <a:avLst>
              <a:gd name="adj" fmla="val 7353"/>
            </a:avLst>
          </a:prstGeom>
          <a:solidFill>
            <a:srgbClr val="FFFFFF"/>
          </a:solidFill>
          <a:ln w="12700">
            <a:solidFill>
              <a:srgbClr val="D7E1EF"/>
            </a:solidFill>
            <a:prstDash val="solid"/>
          </a:ln>
        </p:spPr>
        <p:txBody>
          <a:bodyPr/>
          <a:lstStyle/>
          <a:p>
            <a:endParaRPr lang="zh-CN" altLang="en-US" sz="1000">
              <a:latin typeface="+mj-lt"/>
            </a:endParaRPr>
          </a:p>
        </p:txBody>
      </p:sp>
      <p:sp>
        <p:nvSpPr>
          <p:cNvPr id="4" name="Text 45">
            <a:extLst>
              <a:ext uri="{FF2B5EF4-FFF2-40B4-BE49-F238E27FC236}">
                <a16:creationId xmlns:a16="http://schemas.microsoft.com/office/drawing/2014/main" id="{8EF36134-FE2D-0176-7553-A6D336D2CB3A}"/>
              </a:ext>
            </a:extLst>
          </p:cNvPr>
          <p:cNvSpPr/>
          <p:nvPr/>
        </p:nvSpPr>
        <p:spPr>
          <a:xfrm>
            <a:off x="466486" y="6040926"/>
            <a:ext cx="3383280" cy="146304"/>
          </a:xfrm>
          <a:prstGeom prst="rect">
            <a:avLst/>
          </a:prstGeom>
          <a:noFill/>
          <a:ln/>
        </p:spPr>
        <p:txBody>
          <a:bodyPr wrap="square" lIns="0" tIns="0" rIns="0" bIns="0" rtlCol="0" anchor="ctr">
            <a:noAutofit/>
          </a:bodyPr>
          <a:lstStyle/>
          <a:p>
            <a:pPr marL="0" indent="0">
              <a:buNone/>
            </a:pPr>
            <a:r>
              <a:rPr lang="en-US" sz="1200" b="1">
                <a:solidFill>
                  <a:srgbClr val="E243F7"/>
                </a:solidFill>
                <a:latin typeface="+mj-lt"/>
                <a:ea typeface="Aptos" pitchFamily="34" charset="-122"/>
                <a:cs typeface="Aptos" pitchFamily="34" charset="-120"/>
              </a:rPr>
              <a:t>7  Mass Change</a:t>
            </a:r>
            <a:endParaRPr lang="en-US" sz="1200">
              <a:solidFill>
                <a:srgbClr val="E243F7"/>
              </a:solidFill>
              <a:latin typeface="+mj-lt"/>
            </a:endParaRPr>
          </a:p>
        </p:txBody>
      </p:sp>
      <p:sp>
        <p:nvSpPr>
          <p:cNvPr id="5" name="Text 46">
            <a:extLst>
              <a:ext uri="{FF2B5EF4-FFF2-40B4-BE49-F238E27FC236}">
                <a16:creationId xmlns:a16="http://schemas.microsoft.com/office/drawing/2014/main" id="{8B2AC3A8-E976-CD49-C738-5C709F117687}"/>
              </a:ext>
            </a:extLst>
          </p:cNvPr>
          <p:cNvSpPr/>
          <p:nvPr/>
        </p:nvSpPr>
        <p:spPr>
          <a:xfrm>
            <a:off x="466486" y="6190384"/>
            <a:ext cx="3383280" cy="299334"/>
          </a:xfrm>
          <a:prstGeom prst="rect">
            <a:avLst/>
          </a:prstGeom>
          <a:noFill/>
          <a:ln/>
        </p:spPr>
        <p:txBody>
          <a:bodyPr wrap="square" lIns="0" tIns="0" rIns="0" bIns="0" rtlCol="0" anchor="ctr">
            <a:noAutofit/>
          </a:bodyPr>
          <a:lstStyle/>
          <a:p>
            <a:r>
              <a:rPr lang="en-US" altLang="zh-CN" sz="1000"/>
              <a:t>Update multiple subscription orders or selected devices</a:t>
            </a:r>
            <a:endParaRPr lang="en-US" sz="1000">
              <a:latin typeface="+mj-lt"/>
            </a:endParaRPr>
          </a:p>
        </p:txBody>
      </p:sp>
    </p:spTree>
    <p:extLst>
      <p:ext uri="{BB962C8B-B14F-4D97-AF65-F5344CB8AC3E}">
        <p14:creationId xmlns:p14="http://schemas.microsoft.com/office/powerpoint/2010/main" val="2972010388"/>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CEA8E-0CEC-D7FF-4CB7-00151130456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266AF4-48F1-DFB0-213A-3CDF1464583B}"/>
              </a:ext>
            </a:extLst>
          </p:cNvPr>
          <p:cNvSpPr>
            <a:spLocks noGrp="1"/>
          </p:cNvSpPr>
          <p:nvPr>
            <p:ph type="title"/>
          </p:nvPr>
        </p:nvSpPr>
        <p:spPr/>
        <p:txBody>
          <a:bodyPr/>
          <a:lstStyle/>
          <a:p>
            <a:r>
              <a:rPr lang="en-US" altLang="zh-CN"/>
              <a:t>Subscription Order - Search &amp; Result   </a:t>
            </a:r>
            <a:endParaRPr lang="zh-CN" altLang="en-US"/>
          </a:p>
        </p:txBody>
      </p:sp>
      <p:sp>
        <p:nvSpPr>
          <p:cNvPr id="5" name="TextBox 72">
            <a:extLst>
              <a:ext uri="{FF2B5EF4-FFF2-40B4-BE49-F238E27FC236}">
                <a16:creationId xmlns:a16="http://schemas.microsoft.com/office/drawing/2014/main" id="{54109A30-AAB3-8C65-6825-F252F0F05A9A}"/>
              </a:ext>
            </a:extLst>
          </p:cNvPr>
          <p:cNvSpPr txBox="1"/>
          <p:nvPr/>
        </p:nvSpPr>
        <p:spPr>
          <a:xfrm>
            <a:off x="7514729" y="1313263"/>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Subscription Order Data</a:t>
            </a:r>
          </a:p>
        </p:txBody>
      </p:sp>
      <p:sp>
        <p:nvSpPr>
          <p:cNvPr id="6" name="TextBox 73">
            <a:extLst>
              <a:ext uri="{FF2B5EF4-FFF2-40B4-BE49-F238E27FC236}">
                <a16:creationId xmlns:a16="http://schemas.microsoft.com/office/drawing/2014/main" id="{21C9E55F-5C17-69F3-110C-7521A293752A}"/>
              </a:ext>
            </a:extLst>
          </p:cNvPr>
          <p:cNvSpPr txBox="1"/>
          <p:nvPr/>
        </p:nvSpPr>
        <p:spPr>
          <a:xfrm>
            <a:off x="7523851" y="1589289"/>
            <a:ext cx="4088524" cy="1323439"/>
          </a:xfrm>
          <a:prstGeom prst="rect">
            <a:avLst/>
          </a:prstGeom>
          <a:noFill/>
        </p:spPr>
        <p:txBody>
          <a:bodyPr wrap="square" rtlCol="0">
            <a:spAutoFit/>
          </a:bodyPr>
          <a:lstStyle/>
          <a:p>
            <a:r>
              <a:rPr lang="en-US" altLang="zh-CN" sz="1000">
                <a:cs typeface="Lato Light"/>
              </a:rPr>
              <a:t>Users can search subscription orders using one or more search criteria.</a:t>
            </a:r>
          </a:p>
          <a:p>
            <a:endParaRPr lang="en-US" altLang="zh-CN" sz="1000">
              <a:cs typeface="Lato Light"/>
            </a:endParaRPr>
          </a:p>
          <a:p>
            <a:r>
              <a:rPr lang="en-US" altLang="zh-CN" sz="1000" b="1">
                <a:cs typeface="Lato Light"/>
              </a:rPr>
              <a:t>“+”</a:t>
            </a:r>
            <a:r>
              <a:rPr lang="en-US" altLang="zh-CN" sz="1000">
                <a:cs typeface="Lato Light"/>
              </a:rPr>
              <a:t> </a:t>
            </a:r>
            <a:r>
              <a:rPr lang="en-US" altLang="zh-CN" sz="1000" b="1">
                <a:cs typeface="Lato Light"/>
              </a:rPr>
              <a:t>icon</a:t>
            </a:r>
            <a:r>
              <a:rPr lang="en-US" altLang="zh-CN" sz="1000">
                <a:cs typeface="Lato Light"/>
              </a:rPr>
              <a:t>: add additional search conditions.</a:t>
            </a:r>
          </a:p>
          <a:p>
            <a:r>
              <a:rPr lang="en-US" altLang="zh-CN" sz="1000">
                <a:cs typeface="Lato Light"/>
              </a:rPr>
              <a:t> </a:t>
            </a:r>
            <a:r>
              <a:rPr lang="en-US" altLang="zh-CN" sz="1000" b="1">
                <a:cs typeface="Lato Light"/>
              </a:rPr>
              <a:t>“×” icon</a:t>
            </a:r>
            <a:r>
              <a:rPr lang="en-US" altLang="zh-CN" sz="1000">
                <a:cs typeface="Lato Light"/>
              </a:rPr>
              <a:t>:</a:t>
            </a:r>
            <a:r>
              <a:rPr lang="en-US" altLang="zh-CN" sz="1000" b="1">
                <a:cs typeface="Lato Light"/>
              </a:rPr>
              <a:t> </a:t>
            </a:r>
            <a:r>
              <a:rPr lang="en-US" altLang="zh-CN" sz="1000">
                <a:cs typeface="Lato Light"/>
              </a:rPr>
              <a:t>remove conditions.</a:t>
            </a:r>
          </a:p>
          <a:p>
            <a:r>
              <a:rPr lang="en-US" altLang="zh-CN" sz="1000" b="1">
                <a:cs typeface="Lato Light"/>
              </a:rPr>
              <a:t>Search</a:t>
            </a:r>
            <a:r>
              <a:rPr lang="en-US" altLang="zh-CN" sz="1000">
                <a:cs typeface="Lato Light"/>
              </a:rPr>
              <a:t>: retrieve matching subscription orders.</a:t>
            </a:r>
          </a:p>
          <a:p>
            <a:r>
              <a:rPr lang="en-US" altLang="zh-CN" sz="1000" b="1">
                <a:cs typeface="Lato Light"/>
              </a:rPr>
              <a:t>Clear</a:t>
            </a:r>
            <a:r>
              <a:rPr lang="en-US" altLang="zh-CN" sz="1000">
                <a:cs typeface="Lato Light"/>
              </a:rPr>
              <a:t>: remove all search criteria and clear the current search results. </a:t>
            </a:r>
          </a:p>
          <a:p>
            <a:r>
              <a:rPr lang="en-US" altLang="zh-CN" sz="1000" b="1">
                <a:cs typeface="Lato Light"/>
              </a:rPr>
              <a:t>Save Search</a:t>
            </a:r>
            <a:r>
              <a:rPr lang="en-US" altLang="zh-CN" sz="1000">
                <a:cs typeface="Lato Light"/>
              </a:rPr>
              <a:t>: save frequently used search criteria for future use.</a:t>
            </a:r>
          </a:p>
          <a:p>
            <a:r>
              <a:rPr lang="en-US" altLang="zh-CN" sz="1000" b="1">
                <a:cs typeface="Lato Light"/>
              </a:rPr>
              <a:t>My Searches</a:t>
            </a:r>
            <a:r>
              <a:rPr lang="en-US" altLang="zh-CN" sz="1000">
                <a:cs typeface="Lato Light"/>
              </a:rPr>
              <a:t>: quickly reuse previously saved search templates.</a:t>
            </a:r>
          </a:p>
        </p:txBody>
      </p:sp>
      <p:sp>
        <p:nvSpPr>
          <p:cNvPr id="29" name="Oval 111">
            <a:extLst>
              <a:ext uri="{FF2B5EF4-FFF2-40B4-BE49-F238E27FC236}">
                <a16:creationId xmlns:a16="http://schemas.microsoft.com/office/drawing/2014/main" id="{5580ADDA-B017-D514-EE81-D07769CA054F}"/>
              </a:ext>
            </a:extLst>
          </p:cNvPr>
          <p:cNvSpPr/>
          <p:nvPr/>
        </p:nvSpPr>
        <p:spPr>
          <a:xfrm>
            <a:off x="7268937" y="138155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9" name="Text 2">
            <a:extLst>
              <a:ext uri="{FF2B5EF4-FFF2-40B4-BE49-F238E27FC236}">
                <a16:creationId xmlns:a16="http://schemas.microsoft.com/office/drawing/2014/main" id="{7D7E4138-ED9D-F43A-7E0B-0FDFF84F5E3C}"/>
              </a:ext>
            </a:extLst>
          </p:cNvPr>
          <p:cNvSpPr/>
          <p:nvPr/>
        </p:nvSpPr>
        <p:spPr>
          <a:xfrm>
            <a:off x="320182" y="768879"/>
            <a:ext cx="11639523" cy="509377"/>
          </a:xfrm>
          <a:prstGeom prst="rect">
            <a:avLst/>
          </a:prstGeom>
          <a:noFill/>
          <a:ln/>
        </p:spPr>
        <p:txBody>
          <a:bodyPr wrap="square" lIns="0" tIns="0" rIns="0" bIns="0" rtlCol="0" anchor="ctr">
            <a:normAutofit/>
          </a:bodyPr>
          <a:lstStyle/>
          <a:p>
            <a:r>
              <a:rPr lang="en-US" altLang="zh-CN" sz="1200"/>
              <a:t>The Subscription Order Search page allows users to search, review, and maintain subscription order data within </a:t>
            </a:r>
            <a:r>
              <a:rPr lang="en-US" altLang="zh-CN" sz="1200" err="1"/>
              <a:t>NexBill</a:t>
            </a:r>
            <a:r>
              <a:rPr lang="en-US" altLang="zh-CN" sz="1200"/>
              <a:t>. Users can locate subscription order using flexible search criteria, manage subscription order records, and access subscription order information required for invoicing processes.</a:t>
            </a:r>
          </a:p>
        </p:txBody>
      </p:sp>
      <p:sp>
        <p:nvSpPr>
          <p:cNvPr id="11" name="Oval 111">
            <a:extLst>
              <a:ext uri="{FF2B5EF4-FFF2-40B4-BE49-F238E27FC236}">
                <a16:creationId xmlns:a16="http://schemas.microsoft.com/office/drawing/2014/main" id="{012DEB7D-422C-2067-9F2C-32F6A07391E4}"/>
              </a:ext>
            </a:extLst>
          </p:cNvPr>
          <p:cNvSpPr/>
          <p:nvPr/>
        </p:nvSpPr>
        <p:spPr>
          <a:xfrm>
            <a:off x="1492619" y="180959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 name="TextBox 82">
            <a:extLst>
              <a:ext uri="{FF2B5EF4-FFF2-40B4-BE49-F238E27FC236}">
                <a16:creationId xmlns:a16="http://schemas.microsoft.com/office/drawing/2014/main" id="{D2A6DE60-0BA7-63F2-46CE-AC5D8887FB8D}"/>
              </a:ext>
            </a:extLst>
          </p:cNvPr>
          <p:cNvSpPr txBox="1"/>
          <p:nvPr/>
        </p:nvSpPr>
        <p:spPr>
          <a:xfrm>
            <a:off x="7523851" y="2912728"/>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8" name="Oval 112">
            <a:extLst>
              <a:ext uri="{FF2B5EF4-FFF2-40B4-BE49-F238E27FC236}">
                <a16:creationId xmlns:a16="http://schemas.microsoft.com/office/drawing/2014/main" id="{86897202-B47B-D07A-4793-ACE372654AA3}"/>
              </a:ext>
            </a:extLst>
          </p:cNvPr>
          <p:cNvSpPr/>
          <p:nvPr/>
        </p:nvSpPr>
        <p:spPr>
          <a:xfrm>
            <a:off x="7295251" y="2930723"/>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0" name="TextBox 83">
            <a:extLst>
              <a:ext uri="{FF2B5EF4-FFF2-40B4-BE49-F238E27FC236}">
                <a16:creationId xmlns:a16="http://schemas.microsoft.com/office/drawing/2014/main" id="{D8FF8891-FDEA-3092-8F64-3726676A855E}"/>
              </a:ext>
            </a:extLst>
          </p:cNvPr>
          <p:cNvSpPr txBox="1"/>
          <p:nvPr/>
        </p:nvSpPr>
        <p:spPr>
          <a:xfrm>
            <a:off x="7523851" y="3205116"/>
            <a:ext cx="4088525" cy="3170099"/>
          </a:xfrm>
          <a:prstGeom prst="rect">
            <a:avLst/>
          </a:prstGeom>
          <a:noFill/>
        </p:spPr>
        <p:txBody>
          <a:bodyPr wrap="square" rtlCol="0">
            <a:spAutoFit/>
          </a:bodyPr>
          <a:lstStyle/>
          <a:p>
            <a:r>
              <a:rPr lang="en-US" altLang="zh-CN" sz="1000" b="1">
                <a:cs typeface="Lato Light"/>
              </a:rPr>
              <a:t>Sorting</a:t>
            </a:r>
            <a:r>
              <a:rPr lang="en-US" altLang="zh-CN" sz="1000">
                <a:cs typeface="Lato Light"/>
              </a:rPr>
              <a:t>: sort results by clicking a column header.</a:t>
            </a:r>
          </a:p>
          <a:p>
            <a:r>
              <a:rPr lang="en-US" altLang="zh-CN" sz="1000" b="1">
                <a:cs typeface="Lato Light"/>
              </a:rPr>
              <a:t>Column Resize</a:t>
            </a:r>
            <a:r>
              <a:rPr lang="en-US" altLang="zh-CN" sz="1000">
                <a:cs typeface="Lato Light"/>
              </a:rPr>
              <a:t>: resize columns by dragging the column boundary.</a:t>
            </a:r>
          </a:p>
          <a:p>
            <a:r>
              <a:rPr lang="en-US" altLang="zh-CN" sz="1000" b="1">
                <a:cs typeface="Lato Light"/>
              </a:rPr>
              <a:t>Column Reorder</a:t>
            </a:r>
            <a:r>
              <a:rPr lang="en-US" altLang="zh-CN" sz="1000">
                <a:cs typeface="Lato Light"/>
              </a:rPr>
              <a:t>: rearrange columns by dragging the column header to a different position.</a:t>
            </a:r>
          </a:p>
          <a:p>
            <a:r>
              <a:rPr lang="en-US" altLang="zh-CN" sz="1000" b="1">
                <a:cs typeface="Lato Light"/>
              </a:rPr>
              <a:t>Data Dictionary</a:t>
            </a:r>
            <a:r>
              <a:rPr lang="en-US" altLang="zh-CN" sz="1000">
                <a:cs typeface="Lato Light"/>
              </a:rPr>
              <a:t>: click the </a:t>
            </a:r>
            <a:r>
              <a:rPr lang="en-US" altLang="zh-CN" sz="1000" b="1">
                <a:cs typeface="Lato Light"/>
              </a:rPr>
              <a:t>(?) icon </a:t>
            </a:r>
            <a:r>
              <a:rPr lang="en-US" altLang="zh-CN" sz="1000">
                <a:cs typeface="Lato Light"/>
              </a:rPr>
              <a:t>next to Subscription Order Type to view available values and their descriptions.</a:t>
            </a:r>
          </a:p>
          <a:p>
            <a:r>
              <a:rPr lang="en-US" altLang="zh-CN" sz="1000" b="1">
                <a:cs typeface="Lato Light"/>
              </a:rPr>
              <a:t>Record Selection</a:t>
            </a:r>
            <a:r>
              <a:rPr lang="en-US" altLang="zh-CN" sz="1000">
                <a:cs typeface="Lato Light"/>
              </a:rPr>
              <a:t>:</a:t>
            </a:r>
            <a:r>
              <a:rPr lang="en-US" altLang="zh-CN" sz="1000" b="1">
                <a:cs typeface="Lato Light"/>
              </a:rPr>
              <a:t> </a:t>
            </a:r>
            <a:r>
              <a:rPr lang="en-US" altLang="zh-CN" sz="1000">
                <a:cs typeface="Lato Light"/>
              </a:rPr>
              <a:t>select records using the row checkbox or use the header checkbox to select all records on the current page.</a:t>
            </a:r>
          </a:p>
          <a:p>
            <a:r>
              <a:rPr lang="en-US" altLang="zh-CN" sz="1000" b="1">
                <a:cs typeface="Lato Light"/>
              </a:rPr>
              <a:t>Record Details Navigation</a:t>
            </a:r>
            <a:r>
              <a:rPr lang="en-US" altLang="zh-CN" sz="1000">
                <a:cs typeface="Lato Light"/>
              </a:rPr>
              <a:t>:</a:t>
            </a:r>
            <a:r>
              <a:rPr lang="en-US" altLang="zh-CN" sz="1000" b="1">
                <a:cs typeface="Lato Light"/>
              </a:rPr>
              <a:t> </a:t>
            </a:r>
            <a:r>
              <a:rPr lang="en-US" altLang="zh-CN" sz="1000">
                <a:cs typeface="Lato Light"/>
              </a:rPr>
              <a:t>click the </a:t>
            </a:r>
            <a:r>
              <a:rPr lang="en-US" altLang="zh-CN" sz="1000" b="1">
                <a:cs typeface="Lato Light"/>
              </a:rPr>
              <a:t>Subscription Order ID hyperlink </a:t>
            </a:r>
            <a:r>
              <a:rPr lang="en-US" altLang="zh-CN" sz="1000">
                <a:cs typeface="Lato Light"/>
              </a:rPr>
              <a:t>to open the Subscription Order Detail page.</a:t>
            </a:r>
          </a:p>
          <a:p>
            <a:r>
              <a:rPr lang="en-US" altLang="zh-CN" sz="1000" b="1">
                <a:cs typeface="Lato Light"/>
              </a:rPr>
              <a:t>Pagination</a:t>
            </a:r>
            <a:r>
              <a:rPr lang="en-US" altLang="zh-CN" sz="1000">
                <a:cs typeface="Lato Light"/>
              </a:rPr>
              <a:t>: By default, 20 records are displayed per page. Users can navigate between pages using the page controls. Users can change the number of displayed records using the Rows per page selector.</a:t>
            </a:r>
          </a:p>
          <a:p>
            <a:r>
              <a:rPr lang="en-US" altLang="zh-CN" sz="1000" b="1">
                <a:cs typeface="Lato Light"/>
              </a:rPr>
              <a:t>Settings</a:t>
            </a:r>
            <a:r>
              <a:rPr lang="en-US" altLang="zh-CN" sz="1000">
                <a:cs typeface="Lato Light"/>
              </a:rPr>
              <a:t>: customize the result list by selecting which fields are displayed. Users can save the layout as a </a:t>
            </a:r>
            <a:r>
              <a:rPr lang="en-US" altLang="zh-CN" sz="1000" b="1">
                <a:cs typeface="Lato Light"/>
              </a:rPr>
              <a:t>configuration</a:t>
            </a:r>
            <a:r>
              <a:rPr lang="en-US" altLang="zh-CN" sz="1000">
                <a:cs typeface="Lato Light"/>
              </a:rPr>
              <a:t> and reuse it in future sessions.</a:t>
            </a:r>
          </a:p>
          <a:p>
            <a:r>
              <a:rPr lang="en-US" altLang="zh-CN" sz="1000" b="1">
                <a:cs typeface="Lato Light"/>
              </a:rPr>
              <a:t>Full Screen</a:t>
            </a:r>
            <a:r>
              <a:rPr lang="en-US" altLang="zh-CN" sz="1000">
                <a:cs typeface="Lato Light"/>
              </a:rPr>
              <a:t>: expand the result list for easier review.</a:t>
            </a:r>
          </a:p>
          <a:p>
            <a:r>
              <a:rPr lang="en-US" altLang="zh-CN" sz="1000" b="1">
                <a:cs typeface="Lato Light"/>
              </a:rPr>
              <a:t>Download: </a:t>
            </a:r>
            <a:r>
              <a:rPr lang="en-US" altLang="zh-CN" sz="1000">
                <a:cs typeface="Lato Light"/>
              </a:rPr>
              <a:t>exports subscription order data for offline analysis.</a:t>
            </a:r>
          </a:p>
          <a:p>
            <a:r>
              <a:rPr lang="en-US" altLang="zh-CN" sz="1000">
                <a:cs typeface="Lato Light"/>
              </a:rPr>
              <a:t>Download All Data: export all records returned by the current search.</a:t>
            </a:r>
          </a:p>
          <a:p>
            <a:r>
              <a:rPr lang="en-US" altLang="zh-CN" sz="1000">
                <a:cs typeface="Lato Light"/>
              </a:rPr>
              <a:t>Download Selected Data: export only the selected records.</a:t>
            </a:r>
          </a:p>
        </p:txBody>
      </p:sp>
      <p:pic>
        <p:nvPicPr>
          <p:cNvPr id="12" name="图片 11">
            <a:extLst>
              <a:ext uri="{FF2B5EF4-FFF2-40B4-BE49-F238E27FC236}">
                <a16:creationId xmlns:a16="http://schemas.microsoft.com/office/drawing/2014/main" id="{8F592B6C-93EE-B048-088A-C20F04F16D1D}"/>
              </a:ext>
            </a:extLst>
          </p:cNvPr>
          <p:cNvPicPr>
            <a:picLocks noChangeAspect="1"/>
          </p:cNvPicPr>
          <p:nvPr/>
        </p:nvPicPr>
        <p:blipFill>
          <a:blip r:embed="rId2"/>
          <a:stretch>
            <a:fillRect/>
          </a:stretch>
        </p:blipFill>
        <p:spPr>
          <a:xfrm>
            <a:off x="320182" y="1380091"/>
            <a:ext cx="6805090" cy="3507221"/>
          </a:xfrm>
          <a:prstGeom prst="rect">
            <a:avLst/>
          </a:prstGeom>
        </p:spPr>
      </p:pic>
      <p:sp>
        <p:nvSpPr>
          <p:cNvPr id="13" name="Oval 111">
            <a:extLst>
              <a:ext uri="{FF2B5EF4-FFF2-40B4-BE49-F238E27FC236}">
                <a16:creationId xmlns:a16="http://schemas.microsoft.com/office/drawing/2014/main" id="{F4198D16-60B8-1118-E042-04E379036F94}"/>
              </a:ext>
            </a:extLst>
          </p:cNvPr>
          <p:cNvSpPr/>
          <p:nvPr/>
        </p:nvSpPr>
        <p:spPr>
          <a:xfrm>
            <a:off x="6357348" y="284283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4" name="Oval 112">
            <a:extLst>
              <a:ext uri="{FF2B5EF4-FFF2-40B4-BE49-F238E27FC236}">
                <a16:creationId xmlns:a16="http://schemas.microsoft.com/office/drawing/2014/main" id="{ED7123B6-BD1B-4F3F-E3AB-E4F74388C79D}"/>
              </a:ext>
            </a:extLst>
          </p:cNvPr>
          <p:cNvSpPr/>
          <p:nvPr/>
        </p:nvSpPr>
        <p:spPr>
          <a:xfrm>
            <a:off x="2265902" y="3247953"/>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15" name="图片 14">
            <a:extLst>
              <a:ext uri="{FF2B5EF4-FFF2-40B4-BE49-F238E27FC236}">
                <a16:creationId xmlns:a16="http://schemas.microsoft.com/office/drawing/2014/main" id="{E0F0C65B-BC6F-64B7-E049-79D79C7ECD2D}"/>
              </a:ext>
            </a:extLst>
          </p:cNvPr>
          <p:cNvPicPr>
            <a:picLocks noChangeAspect="1"/>
          </p:cNvPicPr>
          <p:nvPr/>
        </p:nvPicPr>
        <p:blipFill>
          <a:blip r:embed="rId3"/>
          <a:stretch>
            <a:fillRect/>
          </a:stretch>
        </p:blipFill>
        <p:spPr>
          <a:xfrm>
            <a:off x="4458802" y="4619081"/>
            <a:ext cx="2666470" cy="2050771"/>
          </a:xfrm>
          <a:prstGeom prst="rect">
            <a:avLst/>
          </a:prstGeom>
        </p:spPr>
      </p:pic>
    </p:spTree>
    <p:extLst>
      <p:ext uri="{BB962C8B-B14F-4D97-AF65-F5344CB8AC3E}">
        <p14:creationId xmlns:p14="http://schemas.microsoft.com/office/powerpoint/2010/main" val="182936638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9" grpId="0" animBg="1"/>
      <p:bldP spid="11" grpId="0" animBg="1"/>
      <p:bldP spid="2" grpId="0"/>
      <p:bldP spid="8" grpId="0" animBg="1"/>
      <p:bldP spid="10" grpId="0"/>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D4F1-B9E1-3FE5-7996-7B3915D9609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52AF535-D51B-1812-A63C-91E8F6633614}"/>
              </a:ext>
            </a:extLst>
          </p:cNvPr>
          <p:cNvSpPr>
            <a:spLocks noGrp="1"/>
          </p:cNvSpPr>
          <p:nvPr>
            <p:ph type="title"/>
          </p:nvPr>
        </p:nvSpPr>
        <p:spPr/>
        <p:txBody>
          <a:bodyPr/>
          <a:lstStyle/>
          <a:p>
            <a:r>
              <a:rPr lang="en-US" altLang="zh-CN"/>
              <a:t>Subscription Order - Detail</a:t>
            </a:r>
            <a:endParaRPr lang="zh-CN" altLang="en-US"/>
          </a:p>
        </p:txBody>
      </p:sp>
      <p:sp>
        <p:nvSpPr>
          <p:cNvPr id="2" name="Text 2">
            <a:extLst>
              <a:ext uri="{FF2B5EF4-FFF2-40B4-BE49-F238E27FC236}">
                <a16:creationId xmlns:a16="http://schemas.microsoft.com/office/drawing/2014/main" id="{FF7EDF96-3C5A-7AA1-4DAD-652E3D439E28}"/>
              </a:ext>
            </a:extLst>
          </p:cNvPr>
          <p:cNvSpPr/>
          <p:nvPr/>
        </p:nvSpPr>
        <p:spPr>
          <a:xfrm>
            <a:off x="320181" y="762698"/>
            <a:ext cx="11639523" cy="509377"/>
          </a:xfrm>
          <a:prstGeom prst="rect">
            <a:avLst/>
          </a:prstGeom>
          <a:noFill/>
          <a:ln/>
        </p:spPr>
        <p:txBody>
          <a:bodyPr wrap="square" lIns="0" tIns="0" rIns="0" bIns="0" rtlCol="0" anchor="ctr">
            <a:normAutofit/>
          </a:bodyPr>
          <a:lstStyle/>
          <a:p>
            <a:r>
              <a:rPr lang="en-US" altLang="zh-CN" sz="1200"/>
              <a:t>The Subscription Order Detail page provides comprehensive information about  subscription order. Users can review subscription order information, customer and organizational data, subscription order items, payment schedule, linked final invoices, change events, change requests, and historical changes associated with the subscription order.</a:t>
            </a:r>
          </a:p>
        </p:txBody>
      </p:sp>
      <p:sp>
        <p:nvSpPr>
          <p:cNvPr id="10" name="TextBox 93">
            <a:extLst>
              <a:ext uri="{FF2B5EF4-FFF2-40B4-BE49-F238E27FC236}">
                <a16:creationId xmlns:a16="http://schemas.microsoft.com/office/drawing/2014/main" id="{9CBA475A-4268-6179-5059-725EF2362BE8}"/>
              </a:ext>
            </a:extLst>
          </p:cNvPr>
          <p:cNvSpPr txBox="1"/>
          <p:nvPr/>
        </p:nvSpPr>
        <p:spPr>
          <a:xfrm>
            <a:off x="8650874" y="2849658"/>
            <a:ext cx="3102206" cy="1785104"/>
          </a:xfrm>
          <a:prstGeom prst="rect">
            <a:avLst/>
          </a:prstGeom>
          <a:noFill/>
        </p:spPr>
        <p:txBody>
          <a:bodyPr wrap="square" rtlCol="0">
            <a:spAutoFit/>
          </a:bodyPr>
          <a:lstStyle/>
          <a:p>
            <a:r>
              <a:rPr lang="en-US" sz="1000">
                <a:cs typeface="Lato Light"/>
              </a:rPr>
              <a:t>The Parties Involved tab displays business partners associated with the subscription order:</a:t>
            </a:r>
          </a:p>
          <a:p>
            <a:r>
              <a:rPr lang="en-US" sz="1000">
                <a:cs typeface="Lato Light"/>
              </a:rPr>
              <a:t>Sold-To Party</a:t>
            </a:r>
          </a:p>
          <a:p>
            <a:r>
              <a:rPr lang="en-US" altLang="zh-CN" sz="1000">
                <a:cs typeface="Lato Light"/>
              </a:rPr>
              <a:t>Ship-To Party</a:t>
            </a:r>
          </a:p>
          <a:p>
            <a:r>
              <a:rPr lang="en-US" altLang="zh-CN" sz="1000">
                <a:cs typeface="Lato Light"/>
              </a:rPr>
              <a:t>Bill-To Party</a:t>
            </a:r>
          </a:p>
          <a:p>
            <a:r>
              <a:rPr lang="en-US" altLang="zh-CN" sz="1000">
                <a:cs typeface="Lato Light"/>
              </a:rPr>
              <a:t>Payer</a:t>
            </a:r>
          </a:p>
          <a:p>
            <a:r>
              <a:rPr lang="en-US" sz="1000">
                <a:cs typeface="Lato Light"/>
              </a:rPr>
              <a:t>Internal Funder</a:t>
            </a:r>
          </a:p>
          <a:p>
            <a:endParaRPr lang="en-US" sz="1000">
              <a:cs typeface="Lato Light"/>
            </a:endParaRPr>
          </a:p>
          <a:p>
            <a:r>
              <a:rPr lang="en-US" altLang="zh-CN" sz="1000" b="1">
                <a:cs typeface="Lato Light"/>
              </a:rPr>
              <a:t>The Partner Number </a:t>
            </a:r>
            <a:r>
              <a:rPr lang="en-US" altLang="zh-CN" sz="1000">
                <a:cs typeface="Lato Light"/>
              </a:rPr>
              <a:t>is displayed as a clickable hyperlink. Users can click it to open the corresponding account master detail page.</a:t>
            </a:r>
            <a:endParaRPr lang="en-US" sz="1000">
              <a:cs typeface="Lato Light"/>
            </a:endParaRPr>
          </a:p>
        </p:txBody>
      </p:sp>
      <p:sp>
        <p:nvSpPr>
          <p:cNvPr id="12" name="TextBox 98">
            <a:extLst>
              <a:ext uri="{FF2B5EF4-FFF2-40B4-BE49-F238E27FC236}">
                <a16:creationId xmlns:a16="http://schemas.microsoft.com/office/drawing/2014/main" id="{1352074F-D0B6-340C-3668-2133140EF1B6}"/>
              </a:ext>
            </a:extLst>
          </p:cNvPr>
          <p:cNvSpPr txBox="1"/>
          <p:nvPr/>
        </p:nvSpPr>
        <p:spPr>
          <a:xfrm>
            <a:off x="8638340" y="1659230"/>
            <a:ext cx="3104419" cy="1015663"/>
          </a:xfrm>
          <a:prstGeom prst="rect">
            <a:avLst/>
          </a:prstGeom>
          <a:noFill/>
        </p:spPr>
        <p:txBody>
          <a:bodyPr wrap="square" rtlCol="0">
            <a:spAutoFit/>
          </a:bodyPr>
          <a:lstStyle/>
          <a:p>
            <a:r>
              <a:rPr lang="en-US" sz="1000">
                <a:cs typeface="Lato Light"/>
              </a:rPr>
              <a:t>The General tab displays the primary subscription order information.</a:t>
            </a:r>
          </a:p>
          <a:p>
            <a:endParaRPr lang="en-US" sz="1000">
              <a:cs typeface="Lato Light"/>
            </a:endParaRPr>
          </a:p>
          <a:p>
            <a:r>
              <a:rPr lang="en-US" altLang="zh-CN" sz="1000">
                <a:cs typeface="Lato Light"/>
              </a:rPr>
              <a:t>The </a:t>
            </a:r>
            <a:r>
              <a:rPr lang="en-US" altLang="zh-CN" sz="1000" b="1">
                <a:cs typeface="Lato Light"/>
              </a:rPr>
              <a:t>Payload button </a:t>
            </a:r>
            <a:r>
              <a:rPr lang="en-US" altLang="zh-CN" sz="1000">
                <a:cs typeface="Lato Light"/>
              </a:rPr>
              <a:t>displays the Service Request Task payload received by </a:t>
            </a:r>
            <a:r>
              <a:rPr lang="en-US" altLang="zh-CN" sz="1000" err="1">
                <a:cs typeface="Lato Light"/>
              </a:rPr>
              <a:t>NexBill</a:t>
            </a:r>
            <a:r>
              <a:rPr lang="en-US" altLang="zh-CN" sz="1000">
                <a:cs typeface="Lato Light"/>
              </a:rPr>
              <a:t>.</a:t>
            </a:r>
          </a:p>
          <a:p>
            <a:endParaRPr lang="en-US" sz="1000">
              <a:cs typeface="Lato Light"/>
            </a:endParaRPr>
          </a:p>
        </p:txBody>
      </p:sp>
      <p:sp>
        <p:nvSpPr>
          <p:cNvPr id="5" name="TextBox 72">
            <a:extLst>
              <a:ext uri="{FF2B5EF4-FFF2-40B4-BE49-F238E27FC236}">
                <a16:creationId xmlns:a16="http://schemas.microsoft.com/office/drawing/2014/main" id="{3BDEEA1C-1048-A461-21FE-B0A9D50F3941}"/>
              </a:ext>
            </a:extLst>
          </p:cNvPr>
          <p:cNvSpPr txBox="1"/>
          <p:nvPr/>
        </p:nvSpPr>
        <p:spPr>
          <a:xfrm>
            <a:off x="8609357" y="1394823"/>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General</a:t>
            </a:r>
          </a:p>
        </p:txBody>
      </p:sp>
      <p:sp>
        <p:nvSpPr>
          <p:cNvPr id="6" name="Oval 111">
            <a:extLst>
              <a:ext uri="{FF2B5EF4-FFF2-40B4-BE49-F238E27FC236}">
                <a16:creationId xmlns:a16="http://schemas.microsoft.com/office/drawing/2014/main" id="{647267B8-BE0F-8A93-F506-282D7F366708}"/>
              </a:ext>
            </a:extLst>
          </p:cNvPr>
          <p:cNvSpPr/>
          <p:nvPr/>
        </p:nvSpPr>
        <p:spPr>
          <a:xfrm>
            <a:off x="8380757" y="144693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7" name="TextBox 82">
            <a:extLst>
              <a:ext uri="{FF2B5EF4-FFF2-40B4-BE49-F238E27FC236}">
                <a16:creationId xmlns:a16="http://schemas.microsoft.com/office/drawing/2014/main" id="{53AED45B-1B07-8BDE-E9D0-575E6325B86F}"/>
              </a:ext>
            </a:extLst>
          </p:cNvPr>
          <p:cNvSpPr txBox="1"/>
          <p:nvPr/>
        </p:nvSpPr>
        <p:spPr>
          <a:xfrm>
            <a:off x="8650874" y="2598073"/>
            <a:ext cx="1939214" cy="292388"/>
          </a:xfrm>
          <a:prstGeom prst="rect">
            <a:avLst/>
          </a:prstGeom>
          <a:noFill/>
        </p:spPr>
        <p:txBody>
          <a:bodyPr wrap="square" rtlCol="0">
            <a:spAutoFit/>
          </a:bodyPr>
          <a:lstStyle/>
          <a:p>
            <a:r>
              <a:rPr lang="en-US" sz="1300" b="1">
                <a:solidFill>
                  <a:srgbClr val="126C36"/>
                </a:solidFill>
                <a:cs typeface="Lato Regular"/>
              </a:rPr>
              <a:t>Parties Involved</a:t>
            </a:r>
          </a:p>
        </p:txBody>
      </p:sp>
      <p:sp>
        <p:nvSpPr>
          <p:cNvPr id="8" name="Oval 112">
            <a:extLst>
              <a:ext uri="{FF2B5EF4-FFF2-40B4-BE49-F238E27FC236}">
                <a16:creationId xmlns:a16="http://schemas.microsoft.com/office/drawing/2014/main" id="{4E28EF67-A79C-EC71-B5B6-919188F57C09}"/>
              </a:ext>
            </a:extLst>
          </p:cNvPr>
          <p:cNvSpPr/>
          <p:nvPr/>
        </p:nvSpPr>
        <p:spPr>
          <a:xfrm>
            <a:off x="8422274" y="262718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11" name="图片 10">
            <a:extLst>
              <a:ext uri="{FF2B5EF4-FFF2-40B4-BE49-F238E27FC236}">
                <a16:creationId xmlns:a16="http://schemas.microsoft.com/office/drawing/2014/main" id="{96298E66-BE5C-E953-78ED-CE0549C5301D}"/>
              </a:ext>
            </a:extLst>
          </p:cNvPr>
          <p:cNvPicPr>
            <a:picLocks noChangeAspect="1"/>
          </p:cNvPicPr>
          <p:nvPr/>
        </p:nvPicPr>
        <p:blipFill>
          <a:blip r:embed="rId2"/>
          <a:stretch>
            <a:fillRect/>
          </a:stretch>
        </p:blipFill>
        <p:spPr>
          <a:xfrm>
            <a:off x="320183" y="1442797"/>
            <a:ext cx="7889336" cy="4533538"/>
          </a:xfrm>
          <a:prstGeom prst="rect">
            <a:avLst/>
          </a:prstGeom>
        </p:spPr>
      </p:pic>
      <p:pic>
        <p:nvPicPr>
          <p:cNvPr id="14" name="图片 13">
            <a:extLst>
              <a:ext uri="{FF2B5EF4-FFF2-40B4-BE49-F238E27FC236}">
                <a16:creationId xmlns:a16="http://schemas.microsoft.com/office/drawing/2014/main" id="{0089F515-AD15-126B-F341-31F25C5CD60E}"/>
              </a:ext>
            </a:extLst>
          </p:cNvPr>
          <p:cNvPicPr>
            <a:picLocks noChangeAspect="1"/>
          </p:cNvPicPr>
          <p:nvPr/>
        </p:nvPicPr>
        <p:blipFill>
          <a:blip r:embed="rId3"/>
          <a:stretch>
            <a:fillRect/>
          </a:stretch>
        </p:blipFill>
        <p:spPr>
          <a:xfrm>
            <a:off x="334673" y="4912858"/>
            <a:ext cx="7860355" cy="1545747"/>
          </a:xfrm>
          <a:prstGeom prst="rect">
            <a:avLst/>
          </a:prstGeom>
        </p:spPr>
      </p:pic>
      <p:sp>
        <p:nvSpPr>
          <p:cNvPr id="15" name="Oval 111">
            <a:extLst>
              <a:ext uri="{FF2B5EF4-FFF2-40B4-BE49-F238E27FC236}">
                <a16:creationId xmlns:a16="http://schemas.microsoft.com/office/drawing/2014/main" id="{3170681B-D956-3845-F672-57E7ED4E56F4}"/>
              </a:ext>
            </a:extLst>
          </p:cNvPr>
          <p:cNvSpPr/>
          <p:nvPr/>
        </p:nvSpPr>
        <p:spPr>
          <a:xfrm>
            <a:off x="205882" y="189869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6" name="Oval 112">
            <a:extLst>
              <a:ext uri="{FF2B5EF4-FFF2-40B4-BE49-F238E27FC236}">
                <a16:creationId xmlns:a16="http://schemas.microsoft.com/office/drawing/2014/main" id="{6E200306-72C1-FB7C-ED2D-4D78CF46BF09}"/>
              </a:ext>
            </a:extLst>
          </p:cNvPr>
          <p:cNvSpPr/>
          <p:nvPr/>
        </p:nvSpPr>
        <p:spPr>
          <a:xfrm>
            <a:off x="926034" y="5300903"/>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4202868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5" grpId="0"/>
      <p:bldP spid="6" grpId="0" animBg="1"/>
      <p:bldP spid="7" grpId="0"/>
      <p:bldP spid="8" grpId="0" animBg="1"/>
      <p:bldP spid="15"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BB2E3-BA93-FD6C-B4E3-3E71F7031652}"/>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84D5366A-3432-ECC9-954B-D724C7D92E7B}"/>
              </a:ext>
            </a:extLst>
          </p:cNvPr>
          <p:cNvPicPr>
            <a:picLocks noChangeAspect="1"/>
          </p:cNvPicPr>
          <p:nvPr/>
        </p:nvPicPr>
        <p:blipFill>
          <a:blip r:embed="rId2"/>
          <a:stretch>
            <a:fillRect/>
          </a:stretch>
        </p:blipFill>
        <p:spPr>
          <a:xfrm>
            <a:off x="320182" y="1052134"/>
            <a:ext cx="7302815" cy="3467326"/>
          </a:xfrm>
          <a:prstGeom prst="rect">
            <a:avLst/>
          </a:prstGeom>
        </p:spPr>
      </p:pic>
      <p:sp>
        <p:nvSpPr>
          <p:cNvPr id="3" name="标题 2">
            <a:extLst>
              <a:ext uri="{FF2B5EF4-FFF2-40B4-BE49-F238E27FC236}">
                <a16:creationId xmlns:a16="http://schemas.microsoft.com/office/drawing/2014/main" id="{E03002FB-0189-76DC-9B73-43E455AF7C29}"/>
              </a:ext>
            </a:extLst>
          </p:cNvPr>
          <p:cNvSpPr>
            <a:spLocks noGrp="1"/>
          </p:cNvSpPr>
          <p:nvPr>
            <p:ph type="title"/>
          </p:nvPr>
        </p:nvSpPr>
        <p:spPr/>
        <p:txBody>
          <a:bodyPr/>
          <a:lstStyle/>
          <a:p>
            <a:r>
              <a:rPr lang="en-US" altLang="zh-CN"/>
              <a:t>Subscription Order - Detail</a:t>
            </a:r>
            <a:endParaRPr lang="zh-CN" altLang="en-US"/>
          </a:p>
        </p:txBody>
      </p:sp>
      <p:sp>
        <p:nvSpPr>
          <p:cNvPr id="17" name="TextBox 93">
            <a:extLst>
              <a:ext uri="{FF2B5EF4-FFF2-40B4-BE49-F238E27FC236}">
                <a16:creationId xmlns:a16="http://schemas.microsoft.com/office/drawing/2014/main" id="{FCC6EE52-7090-4B87-16EE-578865BD96C9}"/>
              </a:ext>
            </a:extLst>
          </p:cNvPr>
          <p:cNvSpPr txBox="1"/>
          <p:nvPr/>
        </p:nvSpPr>
        <p:spPr>
          <a:xfrm>
            <a:off x="8027557" y="1261602"/>
            <a:ext cx="3560105" cy="2400657"/>
          </a:xfrm>
          <a:prstGeom prst="rect">
            <a:avLst/>
          </a:prstGeom>
          <a:noFill/>
        </p:spPr>
        <p:txBody>
          <a:bodyPr wrap="square" rtlCol="0">
            <a:spAutoFit/>
          </a:bodyPr>
          <a:lstStyle/>
          <a:p>
            <a:r>
              <a:rPr lang="en-US" altLang="zh-CN" sz="1000">
                <a:cs typeface="Lato Light"/>
              </a:rPr>
              <a:t>The Item Overview table displays key item attributes.</a:t>
            </a:r>
          </a:p>
          <a:p>
            <a:endParaRPr lang="en-US" altLang="zh-CN" sz="1000">
              <a:cs typeface="Lato Light"/>
            </a:endParaRPr>
          </a:p>
          <a:p>
            <a:r>
              <a:rPr lang="en-US" altLang="zh-CN" sz="1000">
                <a:cs typeface="Lato Light"/>
              </a:rPr>
              <a:t>The price column displayed in the overview depends on the billing model of the item:</a:t>
            </a:r>
          </a:p>
          <a:p>
            <a:r>
              <a:rPr lang="en-US" altLang="zh-CN" sz="1000" b="1">
                <a:cs typeface="Lato Light"/>
              </a:rPr>
              <a:t>Subscription Price </a:t>
            </a:r>
            <a:r>
              <a:rPr lang="en-US" altLang="zh-CN" sz="1000">
                <a:cs typeface="Lato Light"/>
              </a:rPr>
              <a:t>is displayed for recurring subscription items with a Billing Cycle.</a:t>
            </a:r>
          </a:p>
          <a:p>
            <a:r>
              <a:rPr lang="en-US" altLang="zh-CN" sz="1000" b="1">
                <a:cs typeface="Lato Light"/>
              </a:rPr>
              <a:t>One-time Price </a:t>
            </a:r>
            <a:r>
              <a:rPr lang="en-US" altLang="zh-CN" sz="1000">
                <a:cs typeface="Lato Light"/>
              </a:rPr>
              <a:t>is displayed for one-time billing items without a Billing Cycle.</a:t>
            </a:r>
          </a:p>
          <a:p>
            <a:r>
              <a:rPr lang="en-US" altLang="zh-CN" sz="1000">
                <a:cs typeface="Lato Light"/>
              </a:rPr>
              <a:t>This allows users to easily distinguish recurring and one-time billing scenarios.</a:t>
            </a:r>
          </a:p>
          <a:p>
            <a:endParaRPr lang="en-US" altLang="zh-CN" sz="1000">
              <a:cs typeface="Lato Light"/>
            </a:endParaRPr>
          </a:p>
          <a:p>
            <a:r>
              <a:rPr lang="en-US" altLang="zh-CN" sz="1000" b="1">
                <a:cs typeface="Lato Light"/>
              </a:rPr>
              <a:t>Settings</a:t>
            </a:r>
            <a:r>
              <a:rPr lang="en-US" altLang="zh-CN" sz="1000">
                <a:cs typeface="Lato Light"/>
              </a:rPr>
              <a:t>: allows users to personalize the columns displayed in the Item Overview table.</a:t>
            </a:r>
            <a:endParaRPr lang="en-US" altLang="zh-CN" sz="1000" b="1">
              <a:cs typeface="Lato Light"/>
            </a:endParaRPr>
          </a:p>
          <a:p>
            <a:r>
              <a:rPr lang="en-US" altLang="zh-CN" sz="1000" b="1">
                <a:cs typeface="Lato Light"/>
              </a:rPr>
              <a:t>Download</a:t>
            </a:r>
            <a:r>
              <a:rPr lang="en-US" altLang="zh-CN" sz="1000">
                <a:cs typeface="Lato Light"/>
              </a:rPr>
              <a:t>:</a:t>
            </a:r>
            <a:r>
              <a:rPr lang="en-US" altLang="zh-CN" sz="1000" b="1">
                <a:cs typeface="Lato Light"/>
              </a:rPr>
              <a:t> </a:t>
            </a:r>
            <a:r>
              <a:rPr lang="en-US" altLang="zh-CN" sz="1000">
                <a:cs typeface="Lato Light"/>
              </a:rPr>
              <a:t>exports item information for offline analysis and reporting.</a:t>
            </a:r>
          </a:p>
        </p:txBody>
      </p:sp>
      <p:sp>
        <p:nvSpPr>
          <p:cNvPr id="5" name="TextBox 97">
            <a:extLst>
              <a:ext uri="{FF2B5EF4-FFF2-40B4-BE49-F238E27FC236}">
                <a16:creationId xmlns:a16="http://schemas.microsoft.com/office/drawing/2014/main" id="{5C63597E-C7BB-70CA-1A9C-6E0FECB98C59}"/>
              </a:ext>
            </a:extLst>
          </p:cNvPr>
          <p:cNvSpPr txBox="1"/>
          <p:nvPr/>
        </p:nvSpPr>
        <p:spPr>
          <a:xfrm>
            <a:off x="8027557" y="954022"/>
            <a:ext cx="2972520" cy="292388"/>
          </a:xfrm>
          <a:prstGeom prst="rect">
            <a:avLst/>
          </a:prstGeom>
          <a:noFill/>
        </p:spPr>
        <p:txBody>
          <a:bodyPr wrap="square" rtlCol="0">
            <a:spAutoFit/>
          </a:bodyPr>
          <a:lstStyle/>
          <a:p>
            <a:r>
              <a:rPr lang="en-US" altLang="zh-CN" sz="1300" b="1">
                <a:solidFill>
                  <a:srgbClr val="F26A52"/>
                </a:solidFill>
                <a:cs typeface="Lato Regular"/>
              </a:rPr>
              <a:t>Item Overview</a:t>
            </a:r>
          </a:p>
        </p:txBody>
      </p:sp>
      <p:sp>
        <p:nvSpPr>
          <p:cNvPr id="7" name="Oval 114">
            <a:extLst>
              <a:ext uri="{FF2B5EF4-FFF2-40B4-BE49-F238E27FC236}">
                <a16:creationId xmlns:a16="http://schemas.microsoft.com/office/drawing/2014/main" id="{CBA9776E-B317-088C-417C-E8E51A3DBF17}"/>
              </a:ext>
            </a:extLst>
          </p:cNvPr>
          <p:cNvSpPr/>
          <p:nvPr/>
        </p:nvSpPr>
        <p:spPr>
          <a:xfrm>
            <a:off x="7801169" y="1000374"/>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5" name="Oval 114">
            <a:extLst>
              <a:ext uri="{FF2B5EF4-FFF2-40B4-BE49-F238E27FC236}">
                <a16:creationId xmlns:a16="http://schemas.microsoft.com/office/drawing/2014/main" id="{79A9DDE2-9B24-8307-EA07-20251961D139}"/>
              </a:ext>
            </a:extLst>
          </p:cNvPr>
          <p:cNvSpPr/>
          <p:nvPr/>
        </p:nvSpPr>
        <p:spPr>
          <a:xfrm>
            <a:off x="658497" y="1561720"/>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21" name="TextBox 93">
            <a:extLst>
              <a:ext uri="{FF2B5EF4-FFF2-40B4-BE49-F238E27FC236}">
                <a16:creationId xmlns:a16="http://schemas.microsoft.com/office/drawing/2014/main" id="{621E6D11-CB48-A2F3-4A6E-25A6C9485CE0}"/>
              </a:ext>
            </a:extLst>
          </p:cNvPr>
          <p:cNvSpPr txBox="1"/>
          <p:nvPr/>
        </p:nvSpPr>
        <p:spPr>
          <a:xfrm>
            <a:off x="8027557" y="3943586"/>
            <a:ext cx="3560105" cy="1938992"/>
          </a:xfrm>
          <a:prstGeom prst="rect">
            <a:avLst/>
          </a:prstGeom>
          <a:noFill/>
        </p:spPr>
        <p:txBody>
          <a:bodyPr wrap="square" rtlCol="0">
            <a:spAutoFit/>
          </a:bodyPr>
          <a:lstStyle/>
          <a:p>
            <a:r>
              <a:rPr lang="en-US" altLang="zh-CN" sz="1000">
                <a:cs typeface="Lato Light"/>
              </a:rPr>
              <a:t>Users can click an </a:t>
            </a:r>
            <a:r>
              <a:rPr lang="en-US" altLang="zh-CN" sz="1000" b="1">
                <a:cs typeface="Lato Light"/>
              </a:rPr>
              <a:t>Item Number </a:t>
            </a:r>
            <a:r>
              <a:rPr lang="en-US" altLang="zh-CN" sz="1000">
                <a:cs typeface="Lato Light"/>
              </a:rPr>
              <a:t>to open the corresponding Subscription Order Item Detail page, where additional item attributes and detailed configuration information can be reviewed.</a:t>
            </a:r>
          </a:p>
          <a:p>
            <a:endParaRPr lang="en-US" altLang="zh-CN" sz="1000">
              <a:cs typeface="Lato Light"/>
            </a:endParaRPr>
          </a:p>
          <a:p>
            <a:r>
              <a:rPr lang="en-US" altLang="zh-CN" sz="1000">
                <a:cs typeface="Lato Light"/>
              </a:rPr>
              <a:t>Users can click a </a:t>
            </a:r>
            <a:r>
              <a:rPr lang="en-US" altLang="zh-CN" sz="1000" b="1">
                <a:cs typeface="Lato Light"/>
              </a:rPr>
              <a:t>Product ID </a:t>
            </a:r>
            <a:r>
              <a:rPr lang="en-US" altLang="zh-CN" sz="1000">
                <a:cs typeface="Lato Light"/>
              </a:rPr>
              <a:t>to open the corresponding product detail page.</a:t>
            </a:r>
          </a:p>
          <a:p>
            <a:endParaRPr lang="en-US" altLang="zh-CN" sz="1000" b="1">
              <a:cs typeface="Lato Light"/>
            </a:endParaRPr>
          </a:p>
          <a:p>
            <a:r>
              <a:rPr lang="en-US" altLang="zh-CN" sz="1000" b="1">
                <a:cs typeface="Lato Light"/>
              </a:rPr>
              <a:t>Device Data </a:t>
            </a:r>
          </a:p>
          <a:p>
            <a:r>
              <a:rPr lang="en-US" altLang="zh-CN" sz="1000">
                <a:cs typeface="Lato Light"/>
              </a:rPr>
              <a:t>For hardware subscription order items, the Device Data tab displays the devices associated with the selected item.</a:t>
            </a:r>
          </a:p>
          <a:p>
            <a:endParaRPr lang="en-US" altLang="zh-CN" sz="1000" b="1">
              <a:cs typeface="Lato Light"/>
            </a:endParaRPr>
          </a:p>
        </p:txBody>
      </p:sp>
      <p:sp>
        <p:nvSpPr>
          <p:cNvPr id="22" name="TextBox 92">
            <a:extLst>
              <a:ext uri="{FF2B5EF4-FFF2-40B4-BE49-F238E27FC236}">
                <a16:creationId xmlns:a16="http://schemas.microsoft.com/office/drawing/2014/main" id="{0E987C50-E68B-C369-5632-5E107AECE969}"/>
              </a:ext>
            </a:extLst>
          </p:cNvPr>
          <p:cNvSpPr txBox="1"/>
          <p:nvPr/>
        </p:nvSpPr>
        <p:spPr>
          <a:xfrm>
            <a:off x="8027557" y="3642575"/>
            <a:ext cx="1839512"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Items Detail</a:t>
            </a:r>
            <a:endParaRPr lang="en-US" sz="1300" b="1">
              <a:solidFill>
                <a:schemeClr val="accent4">
                  <a:lumMod val="75000"/>
                  <a:lumOff val="25000"/>
                </a:schemeClr>
              </a:solidFill>
              <a:cs typeface="Lato Regular"/>
            </a:endParaRPr>
          </a:p>
        </p:txBody>
      </p:sp>
      <p:sp>
        <p:nvSpPr>
          <p:cNvPr id="23" name="Oval 113">
            <a:extLst>
              <a:ext uri="{FF2B5EF4-FFF2-40B4-BE49-F238E27FC236}">
                <a16:creationId xmlns:a16="http://schemas.microsoft.com/office/drawing/2014/main" id="{EACDDC0F-239C-9530-CAC9-1E35CC9EF74C}"/>
              </a:ext>
            </a:extLst>
          </p:cNvPr>
          <p:cNvSpPr/>
          <p:nvPr/>
        </p:nvSpPr>
        <p:spPr>
          <a:xfrm>
            <a:off x="7830153" y="3677451"/>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27" name="图片 26">
            <a:extLst>
              <a:ext uri="{FF2B5EF4-FFF2-40B4-BE49-F238E27FC236}">
                <a16:creationId xmlns:a16="http://schemas.microsoft.com/office/drawing/2014/main" id="{D6861594-3D0B-5339-0654-E3480029A252}"/>
              </a:ext>
            </a:extLst>
          </p:cNvPr>
          <p:cNvPicPr>
            <a:picLocks noChangeAspect="1"/>
          </p:cNvPicPr>
          <p:nvPr/>
        </p:nvPicPr>
        <p:blipFill>
          <a:blip r:embed="rId3"/>
          <a:stretch>
            <a:fillRect/>
          </a:stretch>
        </p:blipFill>
        <p:spPr>
          <a:xfrm>
            <a:off x="1865587" y="2752669"/>
            <a:ext cx="4616565" cy="3533582"/>
          </a:xfrm>
          <a:prstGeom prst="rect">
            <a:avLst/>
          </a:prstGeom>
        </p:spPr>
      </p:pic>
      <p:pic>
        <p:nvPicPr>
          <p:cNvPr id="31" name="图片 30">
            <a:extLst>
              <a:ext uri="{FF2B5EF4-FFF2-40B4-BE49-F238E27FC236}">
                <a16:creationId xmlns:a16="http://schemas.microsoft.com/office/drawing/2014/main" id="{EDB75EA5-0388-3AEE-55FA-C7721512337E}"/>
              </a:ext>
            </a:extLst>
          </p:cNvPr>
          <p:cNvPicPr>
            <a:picLocks noChangeAspect="1"/>
          </p:cNvPicPr>
          <p:nvPr/>
        </p:nvPicPr>
        <p:blipFill>
          <a:blip r:embed="rId4"/>
          <a:stretch>
            <a:fillRect/>
          </a:stretch>
        </p:blipFill>
        <p:spPr>
          <a:xfrm>
            <a:off x="3267117" y="4017538"/>
            <a:ext cx="4355880" cy="2276886"/>
          </a:xfrm>
          <a:prstGeom prst="rect">
            <a:avLst/>
          </a:prstGeom>
        </p:spPr>
      </p:pic>
      <p:sp>
        <p:nvSpPr>
          <p:cNvPr id="32" name="Oval 113">
            <a:extLst>
              <a:ext uri="{FF2B5EF4-FFF2-40B4-BE49-F238E27FC236}">
                <a16:creationId xmlns:a16="http://schemas.microsoft.com/office/drawing/2014/main" id="{6A230B31-D1BC-D2DE-C9E4-CA5272E60EA5}"/>
              </a:ext>
            </a:extLst>
          </p:cNvPr>
          <p:cNvSpPr/>
          <p:nvPr/>
        </p:nvSpPr>
        <p:spPr>
          <a:xfrm>
            <a:off x="2779441" y="3080851"/>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Tree>
    <p:extLst>
      <p:ext uri="{BB962C8B-B14F-4D97-AF65-F5344CB8AC3E}">
        <p14:creationId xmlns:p14="http://schemas.microsoft.com/office/powerpoint/2010/main" val="33446069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 grpId="0"/>
      <p:bldP spid="7" grpId="0" animBg="1"/>
      <p:bldP spid="15" grpId="0" animBg="1"/>
      <p:bldP spid="21" grpId="0"/>
      <p:bldP spid="22" grpId="0"/>
      <p:bldP spid="23" grpId="0" animBg="1"/>
      <p:bldP spid="3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9F547-6C56-90E0-F564-FC8619619AB3}"/>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B7D568FC-8BBF-F25C-5375-F22C0882D202}"/>
              </a:ext>
            </a:extLst>
          </p:cNvPr>
          <p:cNvPicPr>
            <a:picLocks noChangeAspect="1"/>
          </p:cNvPicPr>
          <p:nvPr/>
        </p:nvPicPr>
        <p:blipFill>
          <a:blip r:embed="rId3"/>
          <a:stretch>
            <a:fillRect/>
          </a:stretch>
        </p:blipFill>
        <p:spPr>
          <a:xfrm>
            <a:off x="320182" y="1307114"/>
            <a:ext cx="7310329" cy="2417792"/>
          </a:xfrm>
          <a:prstGeom prst="rect">
            <a:avLst/>
          </a:prstGeom>
        </p:spPr>
      </p:pic>
      <p:sp>
        <p:nvSpPr>
          <p:cNvPr id="3" name="标题 2">
            <a:extLst>
              <a:ext uri="{FF2B5EF4-FFF2-40B4-BE49-F238E27FC236}">
                <a16:creationId xmlns:a16="http://schemas.microsoft.com/office/drawing/2014/main" id="{8F746901-C277-DF7E-854E-4E5E2FDB6B47}"/>
              </a:ext>
            </a:extLst>
          </p:cNvPr>
          <p:cNvSpPr>
            <a:spLocks noGrp="1"/>
          </p:cNvSpPr>
          <p:nvPr>
            <p:ph type="title"/>
          </p:nvPr>
        </p:nvSpPr>
        <p:spPr/>
        <p:txBody>
          <a:bodyPr/>
          <a:lstStyle/>
          <a:p>
            <a:r>
              <a:rPr lang="en-US" altLang="zh-CN"/>
              <a:t>Subscription Order – Detail - IaaS Specific Information</a:t>
            </a:r>
            <a:endParaRPr lang="zh-CN" altLang="en-US"/>
          </a:p>
        </p:txBody>
      </p:sp>
      <p:sp>
        <p:nvSpPr>
          <p:cNvPr id="2" name="Text 2">
            <a:extLst>
              <a:ext uri="{FF2B5EF4-FFF2-40B4-BE49-F238E27FC236}">
                <a16:creationId xmlns:a16="http://schemas.microsoft.com/office/drawing/2014/main" id="{57423499-58EA-1E9A-2217-FB9B4A382A33}"/>
              </a:ext>
            </a:extLst>
          </p:cNvPr>
          <p:cNvSpPr/>
          <p:nvPr/>
        </p:nvSpPr>
        <p:spPr>
          <a:xfrm>
            <a:off x="320182" y="759771"/>
            <a:ext cx="11639523" cy="509377"/>
          </a:xfrm>
          <a:prstGeom prst="rect">
            <a:avLst/>
          </a:prstGeom>
          <a:noFill/>
          <a:ln/>
        </p:spPr>
        <p:txBody>
          <a:bodyPr wrap="square" lIns="0" tIns="0" rIns="0" bIns="0" rtlCol="0" anchor="ctr">
            <a:normAutofit/>
          </a:bodyPr>
          <a:lstStyle/>
          <a:p>
            <a:r>
              <a:rPr lang="en-US" altLang="zh-CN" sz="1200"/>
              <a:t>For IaaS subscription orders, certain usage-based products contain additional pricing configurations that are used for usage billing calculations.</a:t>
            </a:r>
          </a:p>
          <a:p>
            <a:r>
              <a:rPr lang="en-US" altLang="zh-CN" sz="1200" err="1"/>
              <a:t>NexBill</a:t>
            </a:r>
            <a:r>
              <a:rPr lang="en-US" altLang="zh-CN" sz="1200"/>
              <a:t> only receives Usage Products and Non-Funded Service Items from ESOT, therefore </a:t>
            </a:r>
            <a:r>
              <a:rPr lang="en-US" altLang="zh-CN" sz="1200" b="1"/>
              <a:t>IaaS Subscription Orders do not contain bundle structures</a:t>
            </a:r>
            <a:r>
              <a:rPr lang="en-US" altLang="zh-CN" sz="1200"/>
              <a:t>.</a:t>
            </a:r>
          </a:p>
        </p:txBody>
      </p:sp>
      <p:sp>
        <p:nvSpPr>
          <p:cNvPr id="12" name="TextBox 93">
            <a:extLst>
              <a:ext uri="{FF2B5EF4-FFF2-40B4-BE49-F238E27FC236}">
                <a16:creationId xmlns:a16="http://schemas.microsoft.com/office/drawing/2014/main" id="{6ECF7BE7-D8AD-0AA2-0794-D82B2983C46A}"/>
              </a:ext>
            </a:extLst>
          </p:cNvPr>
          <p:cNvSpPr txBox="1"/>
          <p:nvPr/>
        </p:nvSpPr>
        <p:spPr>
          <a:xfrm>
            <a:off x="7945896" y="1565083"/>
            <a:ext cx="3894392" cy="4708981"/>
          </a:xfrm>
          <a:prstGeom prst="rect">
            <a:avLst/>
          </a:prstGeom>
          <a:noFill/>
        </p:spPr>
        <p:txBody>
          <a:bodyPr wrap="square" rtlCol="0">
            <a:spAutoFit/>
          </a:bodyPr>
          <a:lstStyle/>
          <a:p>
            <a:r>
              <a:rPr lang="en-US" altLang="zh-CN" sz="1000" b="1">
                <a:cs typeface="Lato Light"/>
              </a:rPr>
              <a:t>IaaS Item Structure</a:t>
            </a:r>
          </a:p>
          <a:p>
            <a:r>
              <a:rPr lang="en-US" altLang="zh-CN" sz="1000">
                <a:cs typeface="Lato Light"/>
              </a:rPr>
              <a:t>IaaS Subscription Orders contain:</a:t>
            </a:r>
          </a:p>
          <a:p>
            <a:pPr marL="171450" indent="-171450">
              <a:buFont typeface="Arial" panose="020B0604020202020204" pitchFamily="34" charset="0"/>
              <a:buChar char="•"/>
            </a:pPr>
            <a:r>
              <a:rPr lang="en-US" altLang="zh-CN" sz="1000">
                <a:cs typeface="Lato Light"/>
              </a:rPr>
              <a:t>Usage Products</a:t>
            </a:r>
          </a:p>
          <a:p>
            <a:pPr marL="171450" indent="-171450">
              <a:buFont typeface="Arial" panose="020B0604020202020204" pitchFamily="34" charset="0"/>
              <a:buChar char="•"/>
            </a:pPr>
            <a:r>
              <a:rPr lang="en-US" altLang="zh-CN" sz="1000">
                <a:cs typeface="Lato Light"/>
              </a:rPr>
              <a:t>Non-Funded Service Items</a:t>
            </a:r>
          </a:p>
          <a:p>
            <a:endParaRPr lang="en-US" altLang="zh-CN" sz="1000">
              <a:cs typeface="Lato Light"/>
            </a:endParaRPr>
          </a:p>
          <a:p>
            <a:r>
              <a:rPr lang="en-US" altLang="zh-CN" sz="1000" b="1">
                <a:cs typeface="Lato Light"/>
              </a:rPr>
              <a:t>Usage Pricing Table</a:t>
            </a:r>
            <a:endParaRPr lang="en-US" altLang="zh-CN" sz="1000">
              <a:cs typeface="Lato Light"/>
            </a:endParaRPr>
          </a:p>
          <a:p>
            <a:r>
              <a:rPr lang="en-US" altLang="zh-CN" sz="1000">
                <a:cs typeface="Lato Light"/>
              </a:rPr>
              <a:t>The Usage Pricing Table tab is available only for Usage Products with Metering Type below: </a:t>
            </a:r>
          </a:p>
          <a:p>
            <a:pPr marL="171450" indent="-171450">
              <a:buFont typeface="Arial" panose="020B0604020202020204" pitchFamily="34" charset="0"/>
              <a:buChar char="•"/>
            </a:pPr>
            <a:r>
              <a:rPr lang="en-US" altLang="zh-CN" sz="1000"/>
              <a:t>POWER </a:t>
            </a:r>
          </a:p>
          <a:p>
            <a:pPr marL="171450" indent="-171450">
              <a:buFont typeface="Arial" panose="020B0604020202020204" pitchFamily="34" charset="0"/>
              <a:buChar char="•"/>
            </a:pPr>
            <a:r>
              <a:rPr lang="en-US" altLang="zh-CN" sz="1000"/>
              <a:t>HYBCLOUD </a:t>
            </a:r>
          </a:p>
          <a:p>
            <a:pPr marL="171450" indent="-171450">
              <a:buFont typeface="Arial" panose="020B0604020202020204" pitchFamily="34" charset="0"/>
              <a:buChar char="•"/>
            </a:pPr>
            <a:r>
              <a:rPr lang="en-US" altLang="zh-CN" sz="1000"/>
              <a:t>BAAS </a:t>
            </a:r>
          </a:p>
          <a:p>
            <a:pPr marL="171450" indent="-171450">
              <a:buFont typeface="Arial" panose="020B0604020202020204" pitchFamily="34" charset="0"/>
              <a:buChar char="•"/>
            </a:pPr>
            <a:r>
              <a:rPr lang="en-US" altLang="zh-CN" sz="1000"/>
              <a:t>STAAS </a:t>
            </a:r>
          </a:p>
          <a:p>
            <a:pPr marL="171450" indent="-171450">
              <a:buFont typeface="Arial" panose="020B0604020202020204" pitchFamily="34" charset="0"/>
              <a:buChar char="•"/>
            </a:pPr>
            <a:r>
              <a:rPr lang="en-US" altLang="zh-CN" sz="1000"/>
              <a:t>STORAGE </a:t>
            </a:r>
          </a:p>
          <a:p>
            <a:pPr marL="171450" indent="-171450">
              <a:buFont typeface="Arial" panose="020B0604020202020204" pitchFamily="34" charset="0"/>
              <a:buChar char="•"/>
            </a:pPr>
            <a:r>
              <a:rPr lang="en-US" altLang="zh-CN" sz="1000"/>
              <a:t>AZURE</a:t>
            </a:r>
            <a:endParaRPr lang="en-US" altLang="zh-CN" sz="1000">
              <a:cs typeface="Lato Light"/>
            </a:endParaRPr>
          </a:p>
          <a:p>
            <a:endParaRPr lang="en-US" altLang="zh-CN" sz="1000">
              <a:cs typeface="Lato Light"/>
            </a:endParaRPr>
          </a:p>
          <a:p>
            <a:r>
              <a:rPr lang="en-US" altLang="zh-CN" sz="1000">
                <a:cs typeface="Lato Light"/>
              </a:rPr>
              <a:t>The pricing table is inherited from the related </a:t>
            </a:r>
            <a:r>
              <a:rPr lang="en-US" altLang="zh-CN" sz="1000" b="1">
                <a:cs typeface="Lato Light"/>
              </a:rPr>
              <a:t>EPR</a:t>
            </a:r>
            <a:r>
              <a:rPr lang="en-US" altLang="zh-CN" sz="1000">
                <a:cs typeface="Lato Light"/>
              </a:rPr>
              <a:t> item and </a:t>
            </a:r>
            <a:r>
              <a:rPr lang="en-US" altLang="zh-CN" sz="1000" b="1">
                <a:cs typeface="Lato Light"/>
              </a:rPr>
              <a:t>the pricing table structure displayed varies depending on the product's Metering Type.</a:t>
            </a:r>
          </a:p>
          <a:p>
            <a:endParaRPr lang="en-US" altLang="zh-CN" sz="1000" b="1">
              <a:cs typeface="Lato Light"/>
            </a:endParaRPr>
          </a:p>
          <a:p>
            <a:r>
              <a:rPr lang="en-US" altLang="zh-CN" sz="1000">
                <a:cs typeface="Lato Light"/>
              </a:rPr>
              <a:t>The Usage Pricing Table is used during usage billing processing.</a:t>
            </a:r>
            <a:endParaRPr lang="en-US" altLang="zh-CN" sz="1000" b="1">
              <a:cs typeface="Lato Light"/>
            </a:endParaRPr>
          </a:p>
          <a:p>
            <a:endParaRPr lang="en-US" altLang="zh-CN" sz="1000">
              <a:cs typeface="Lato Light"/>
            </a:endParaRPr>
          </a:p>
          <a:p>
            <a:r>
              <a:rPr lang="en-US" altLang="zh-CN" sz="1000" b="1">
                <a:cs typeface="Lato Light"/>
              </a:rPr>
              <a:t>Device Data </a:t>
            </a:r>
          </a:p>
          <a:p>
            <a:r>
              <a:rPr lang="en-US" altLang="zh-CN" sz="1000">
                <a:cs typeface="Lato Light"/>
              </a:rPr>
              <a:t>The Device Data tab is available only for IaaS products that are associated with physical or managed devices.</a:t>
            </a:r>
          </a:p>
          <a:p>
            <a:endParaRPr lang="en-US" altLang="zh-CN" sz="1000">
              <a:cs typeface="Lato Light"/>
            </a:endParaRPr>
          </a:p>
          <a:p>
            <a:r>
              <a:rPr lang="en-US" altLang="zh-CN" sz="1000">
                <a:cs typeface="Lato Light"/>
              </a:rPr>
              <a:t>The Device Data tab is </a:t>
            </a:r>
            <a:r>
              <a:rPr lang="en-US" altLang="zh-CN" sz="1000" b="1">
                <a:cs typeface="Lato Light"/>
              </a:rPr>
              <a:t>NOT</a:t>
            </a:r>
            <a:r>
              <a:rPr lang="en-US" altLang="zh-CN" sz="1000">
                <a:cs typeface="Lato Light"/>
              </a:rPr>
              <a:t> displayed for metering types that do not maintain device-level assets:</a:t>
            </a:r>
          </a:p>
          <a:p>
            <a:pPr marL="171450" indent="-171450">
              <a:buFont typeface="Arial" panose="020B0604020202020204" pitchFamily="34" charset="0"/>
              <a:buChar char="•"/>
            </a:pPr>
            <a:r>
              <a:rPr lang="en-US" altLang="zh-CN" sz="1000">
                <a:cs typeface="Lato Light"/>
              </a:rPr>
              <a:t>Azure</a:t>
            </a:r>
          </a:p>
          <a:p>
            <a:pPr marL="171450" indent="-171450">
              <a:buFont typeface="Arial" panose="020B0604020202020204" pitchFamily="34" charset="0"/>
              <a:buChar char="•"/>
            </a:pPr>
            <a:r>
              <a:rPr lang="en-US" altLang="zh-CN" sz="1000">
                <a:cs typeface="Lato Light"/>
              </a:rPr>
              <a:t>Backup as a Service (BaaS)</a:t>
            </a:r>
            <a:endParaRPr lang="en-US" altLang="zh-CN" sz="1000" b="1">
              <a:cs typeface="Lato Light"/>
            </a:endParaRPr>
          </a:p>
        </p:txBody>
      </p:sp>
      <p:sp>
        <p:nvSpPr>
          <p:cNvPr id="14" name="TextBox 92">
            <a:extLst>
              <a:ext uri="{FF2B5EF4-FFF2-40B4-BE49-F238E27FC236}">
                <a16:creationId xmlns:a16="http://schemas.microsoft.com/office/drawing/2014/main" id="{7C25D7A6-FD15-264B-55D0-F3D4C2369C18}"/>
              </a:ext>
            </a:extLst>
          </p:cNvPr>
          <p:cNvSpPr txBox="1"/>
          <p:nvPr/>
        </p:nvSpPr>
        <p:spPr>
          <a:xfrm>
            <a:off x="7945896" y="1295047"/>
            <a:ext cx="1839512" cy="292388"/>
          </a:xfrm>
          <a:prstGeom prst="rect">
            <a:avLst/>
          </a:prstGeom>
          <a:noFill/>
        </p:spPr>
        <p:txBody>
          <a:bodyPr wrap="square" rtlCol="0">
            <a:spAutoFit/>
          </a:bodyPr>
          <a:lstStyle/>
          <a:p>
            <a:r>
              <a:rPr lang="en-US" altLang="zh-CN" sz="1300" b="1">
                <a:solidFill>
                  <a:srgbClr val="57D3FF"/>
                </a:solidFill>
                <a:cs typeface="Lato Regular"/>
              </a:rPr>
              <a:t>IaaS Specific Data</a:t>
            </a:r>
            <a:endParaRPr lang="en-US" sz="1300" b="1">
              <a:solidFill>
                <a:srgbClr val="57D3FF"/>
              </a:solidFill>
              <a:cs typeface="Lato Regular"/>
            </a:endParaRPr>
          </a:p>
        </p:txBody>
      </p:sp>
      <p:sp>
        <p:nvSpPr>
          <p:cNvPr id="16" name="Oval 113">
            <a:extLst>
              <a:ext uri="{FF2B5EF4-FFF2-40B4-BE49-F238E27FC236}">
                <a16:creationId xmlns:a16="http://schemas.microsoft.com/office/drawing/2014/main" id="{3E309F73-A748-DC56-2B36-D000BF3C83F6}"/>
              </a:ext>
            </a:extLst>
          </p:cNvPr>
          <p:cNvSpPr/>
          <p:nvPr/>
        </p:nvSpPr>
        <p:spPr>
          <a:xfrm>
            <a:off x="7717296" y="1336483"/>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pic>
        <p:nvPicPr>
          <p:cNvPr id="9" name="图片 8">
            <a:extLst>
              <a:ext uri="{FF2B5EF4-FFF2-40B4-BE49-F238E27FC236}">
                <a16:creationId xmlns:a16="http://schemas.microsoft.com/office/drawing/2014/main" id="{EABCD227-EA01-DAC8-D724-68EC76D69D9F}"/>
              </a:ext>
            </a:extLst>
          </p:cNvPr>
          <p:cNvPicPr>
            <a:picLocks noChangeAspect="1"/>
          </p:cNvPicPr>
          <p:nvPr/>
        </p:nvPicPr>
        <p:blipFill>
          <a:blip r:embed="rId4"/>
          <a:stretch>
            <a:fillRect/>
          </a:stretch>
        </p:blipFill>
        <p:spPr>
          <a:xfrm>
            <a:off x="2140246" y="1632418"/>
            <a:ext cx="5691350" cy="1922555"/>
          </a:xfrm>
          <a:prstGeom prst="rect">
            <a:avLst/>
          </a:prstGeom>
        </p:spPr>
      </p:pic>
      <p:pic>
        <p:nvPicPr>
          <p:cNvPr id="11" name="图片 10">
            <a:extLst>
              <a:ext uri="{FF2B5EF4-FFF2-40B4-BE49-F238E27FC236}">
                <a16:creationId xmlns:a16="http://schemas.microsoft.com/office/drawing/2014/main" id="{35EB130B-34E4-5E39-3FB4-197DCC1BBC81}"/>
              </a:ext>
            </a:extLst>
          </p:cNvPr>
          <p:cNvPicPr>
            <a:picLocks noChangeAspect="1"/>
          </p:cNvPicPr>
          <p:nvPr/>
        </p:nvPicPr>
        <p:blipFill>
          <a:blip r:embed="rId5"/>
          <a:stretch>
            <a:fillRect/>
          </a:stretch>
        </p:blipFill>
        <p:spPr>
          <a:xfrm>
            <a:off x="451560" y="3673879"/>
            <a:ext cx="6237890" cy="1173019"/>
          </a:xfrm>
          <a:prstGeom prst="rect">
            <a:avLst/>
          </a:prstGeom>
        </p:spPr>
      </p:pic>
      <p:pic>
        <p:nvPicPr>
          <p:cNvPr id="17" name="图片 16">
            <a:extLst>
              <a:ext uri="{FF2B5EF4-FFF2-40B4-BE49-F238E27FC236}">
                <a16:creationId xmlns:a16="http://schemas.microsoft.com/office/drawing/2014/main" id="{1DCBDEC0-EC5C-E5D0-261B-9E937CF3B5BD}"/>
              </a:ext>
            </a:extLst>
          </p:cNvPr>
          <p:cNvPicPr>
            <a:picLocks noChangeAspect="1"/>
          </p:cNvPicPr>
          <p:nvPr/>
        </p:nvPicPr>
        <p:blipFill>
          <a:blip r:embed="rId6"/>
          <a:stretch>
            <a:fillRect/>
          </a:stretch>
        </p:blipFill>
        <p:spPr>
          <a:xfrm>
            <a:off x="318013" y="4922596"/>
            <a:ext cx="7399283" cy="1351468"/>
          </a:xfrm>
          <a:prstGeom prst="rect">
            <a:avLst/>
          </a:prstGeom>
        </p:spPr>
      </p:pic>
      <p:sp>
        <p:nvSpPr>
          <p:cNvPr id="18" name="Oval 113">
            <a:extLst>
              <a:ext uri="{FF2B5EF4-FFF2-40B4-BE49-F238E27FC236}">
                <a16:creationId xmlns:a16="http://schemas.microsoft.com/office/drawing/2014/main" id="{10951776-E839-0978-1C47-D15E9ED6C8AE}"/>
              </a:ext>
            </a:extLst>
          </p:cNvPr>
          <p:cNvSpPr/>
          <p:nvPr/>
        </p:nvSpPr>
        <p:spPr>
          <a:xfrm>
            <a:off x="3029682" y="2287410"/>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Tree>
    <p:extLst>
      <p:ext uri="{BB962C8B-B14F-4D97-AF65-F5344CB8AC3E}">
        <p14:creationId xmlns:p14="http://schemas.microsoft.com/office/powerpoint/2010/main" val="7343969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animBg="1"/>
      <p:bldP spid="1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71541-E128-3979-77E5-31C345B5E3C7}"/>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1EDEB746-BC38-3546-770C-B511E2057E4E}"/>
              </a:ext>
            </a:extLst>
          </p:cNvPr>
          <p:cNvPicPr>
            <a:picLocks noChangeAspect="1"/>
          </p:cNvPicPr>
          <p:nvPr/>
        </p:nvPicPr>
        <p:blipFill>
          <a:blip r:embed="rId2"/>
          <a:stretch>
            <a:fillRect/>
          </a:stretch>
        </p:blipFill>
        <p:spPr>
          <a:xfrm>
            <a:off x="346971" y="2950563"/>
            <a:ext cx="7688490" cy="1389993"/>
          </a:xfrm>
          <a:prstGeom prst="rect">
            <a:avLst/>
          </a:prstGeom>
        </p:spPr>
      </p:pic>
      <p:sp>
        <p:nvSpPr>
          <p:cNvPr id="3" name="标题 2">
            <a:extLst>
              <a:ext uri="{FF2B5EF4-FFF2-40B4-BE49-F238E27FC236}">
                <a16:creationId xmlns:a16="http://schemas.microsoft.com/office/drawing/2014/main" id="{AD18A1B4-5A0F-9339-7A30-E38AB65D5A4F}"/>
              </a:ext>
            </a:extLst>
          </p:cNvPr>
          <p:cNvSpPr>
            <a:spLocks noGrp="1"/>
          </p:cNvSpPr>
          <p:nvPr>
            <p:ph type="title"/>
          </p:nvPr>
        </p:nvSpPr>
        <p:spPr/>
        <p:txBody>
          <a:bodyPr/>
          <a:lstStyle/>
          <a:p>
            <a:r>
              <a:rPr lang="en-US" altLang="zh-CN"/>
              <a:t>Subscription Order - Detail</a:t>
            </a:r>
            <a:endParaRPr lang="zh-CN" altLang="en-US"/>
          </a:p>
        </p:txBody>
      </p:sp>
      <p:sp>
        <p:nvSpPr>
          <p:cNvPr id="9" name="TextBox 92">
            <a:extLst>
              <a:ext uri="{FF2B5EF4-FFF2-40B4-BE49-F238E27FC236}">
                <a16:creationId xmlns:a16="http://schemas.microsoft.com/office/drawing/2014/main" id="{FDDBDFDD-6CE8-0274-F0A6-C7E23AFFE0B3}"/>
              </a:ext>
            </a:extLst>
          </p:cNvPr>
          <p:cNvSpPr txBox="1"/>
          <p:nvPr/>
        </p:nvSpPr>
        <p:spPr>
          <a:xfrm>
            <a:off x="8422704" y="2009921"/>
            <a:ext cx="1839512" cy="292388"/>
          </a:xfrm>
          <a:prstGeom prst="rect">
            <a:avLst/>
          </a:prstGeom>
          <a:noFill/>
        </p:spPr>
        <p:txBody>
          <a:bodyPr wrap="square" rtlCol="0">
            <a:spAutoFit/>
          </a:bodyPr>
          <a:lstStyle/>
          <a:p>
            <a:r>
              <a:rPr lang="en-US" sz="1300" b="1">
                <a:solidFill>
                  <a:srgbClr val="0070C0"/>
                </a:solidFill>
                <a:cs typeface="Lato Regular"/>
              </a:rPr>
              <a:t>Change Event</a:t>
            </a:r>
          </a:p>
        </p:txBody>
      </p:sp>
      <p:sp>
        <p:nvSpPr>
          <p:cNvPr id="10" name="TextBox 93">
            <a:extLst>
              <a:ext uri="{FF2B5EF4-FFF2-40B4-BE49-F238E27FC236}">
                <a16:creationId xmlns:a16="http://schemas.microsoft.com/office/drawing/2014/main" id="{0586F452-19D6-660F-6377-34EE63DD02C0}"/>
              </a:ext>
            </a:extLst>
          </p:cNvPr>
          <p:cNvSpPr txBox="1"/>
          <p:nvPr/>
        </p:nvSpPr>
        <p:spPr>
          <a:xfrm>
            <a:off x="8421346" y="2265358"/>
            <a:ext cx="3407906" cy="2246769"/>
          </a:xfrm>
          <a:prstGeom prst="rect">
            <a:avLst/>
          </a:prstGeom>
          <a:noFill/>
        </p:spPr>
        <p:txBody>
          <a:bodyPr wrap="square" rtlCol="0">
            <a:spAutoFit/>
          </a:bodyPr>
          <a:lstStyle/>
          <a:p>
            <a:r>
              <a:rPr lang="en-US" sz="1000">
                <a:cs typeface="Lato Light"/>
              </a:rPr>
              <a:t>The Change Events tab displays Subscription Order change </a:t>
            </a:r>
            <a:r>
              <a:rPr lang="en-US" altLang="zh-CN" sz="1000">
                <a:cs typeface="Lato Light"/>
              </a:rPr>
              <a:t>event </a:t>
            </a:r>
            <a:r>
              <a:rPr lang="en-US" sz="1000">
                <a:cs typeface="Lato Light"/>
              </a:rPr>
              <a:t>requests received from ESOT. </a:t>
            </a:r>
          </a:p>
          <a:p>
            <a:r>
              <a:rPr lang="en-US" sz="1000">
                <a:cs typeface="Lato Light"/>
              </a:rPr>
              <a:t>Change Events integration flow: </a:t>
            </a:r>
            <a:r>
              <a:rPr lang="en-US" sz="1000" b="1">
                <a:cs typeface="Lato Light"/>
              </a:rPr>
              <a:t>SNOW → ESOT → </a:t>
            </a:r>
            <a:r>
              <a:rPr lang="en-US" sz="1000" b="1" err="1">
                <a:cs typeface="Lato Light"/>
              </a:rPr>
              <a:t>NexBill</a:t>
            </a:r>
            <a:endParaRPr lang="en-US" altLang="zh-CN"/>
          </a:p>
          <a:p>
            <a:endParaRPr lang="en-US" sz="1000">
              <a:cs typeface="Lato Light"/>
            </a:endParaRPr>
          </a:p>
          <a:p>
            <a:r>
              <a:rPr lang="en-US" sz="1000" b="1">
                <a:cs typeface="Lato Light"/>
              </a:rPr>
              <a:t>SNOW Change Events includes</a:t>
            </a:r>
            <a:r>
              <a:rPr lang="en-US" sz="1000">
                <a:cs typeface="Lato Light"/>
              </a:rPr>
              <a:t>:</a:t>
            </a:r>
          </a:p>
          <a:p>
            <a:pPr marL="171450" indent="-171450">
              <a:buFont typeface="Arial" panose="020B0604020202020204" pitchFamily="34" charset="0"/>
              <a:buChar char="•"/>
            </a:pPr>
            <a:r>
              <a:rPr lang="en-US" sz="1000">
                <a:cs typeface="Lato Light"/>
              </a:rPr>
              <a:t>Early Termination Buyout (ETB)</a:t>
            </a:r>
          </a:p>
          <a:p>
            <a:pPr marL="171450" indent="-171450">
              <a:buFont typeface="Arial" panose="020B0604020202020204" pitchFamily="34" charset="0"/>
              <a:buChar char="•"/>
            </a:pPr>
            <a:r>
              <a:rPr lang="en-US" sz="1000">
                <a:cs typeface="Lato Light"/>
              </a:rPr>
              <a:t>Early Termination Return (ETR)</a:t>
            </a:r>
          </a:p>
          <a:p>
            <a:pPr marL="171450" indent="-171450">
              <a:buFont typeface="Arial" panose="020B0604020202020204" pitchFamily="34" charset="0"/>
              <a:buChar char="•"/>
            </a:pPr>
            <a:r>
              <a:rPr lang="en-US" altLang="zh-CN" sz="1000"/>
              <a:t>Flex Pause (FPS)</a:t>
            </a:r>
          </a:p>
          <a:p>
            <a:pPr marL="171450" indent="-171450">
              <a:buFont typeface="Arial" panose="020B0604020202020204" pitchFamily="34" charset="0"/>
              <a:buChar char="•"/>
            </a:pPr>
            <a:r>
              <a:rPr lang="en-US" altLang="zh-CN" sz="1000"/>
              <a:t>Flex </a:t>
            </a:r>
            <a:r>
              <a:rPr lang="en-US" altLang="zh-CN" sz="1000" err="1"/>
              <a:t>Unpause</a:t>
            </a:r>
            <a:r>
              <a:rPr lang="en-US" altLang="zh-CN" sz="1000"/>
              <a:t> (FNPS)</a:t>
            </a:r>
          </a:p>
          <a:p>
            <a:pPr marL="171450" indent="-171450">
              <a:buFont typeface="Arial" panose="020B0604020202020204" pitchFamily="34" charset="0"/>
              <a:buChar char="•"/>
            </a:pPr>
            <a:r>
              <a:rPr lang="en-US" altLang="zh-CN" sz="1000"/>
              <a:t>Flex Down (FDWN) </a:t>
            </a:r>
          </a:p>
          <a:p>
            <a:endParaRPr lang="en-US" altLang="zh-CN" sz="1000"/>
          </a:p>
          <a:p>
            <a:r>
              <a:rPr lang="en-US" altLang="zh-CN" sz="1000" err="1"/>
              <a:t>NexBill</a:t>
            </a:r>
            <a:r>
              <a:rPr lang="en-US" altLang="zh-CN" sz="1000"/>
              <a:t> automatically generates an </a:t>
            </a:r>
            <a:r>
              <a:rPr lang="en-US" altLang="zh-CN" sz="1000" b="1"/>
              <a:t>EOT (End of Term) </a:t>
            </a:r>
            <a:r>
              <a:rPr lang="en-US" altLang="zh-CN" sz="1000"/>
              <a:t>Change Event when a Subscription Order reaches its subscription end date.</a:t>
            </a:r>
            <a:endParaRPr lang="en-US" sz="1000">
              <a:cs typeface="Lato Light"/>
            </a:endParaRPr>
          </a:p>
        </p:txBody>
      </p:sp>
      <p:sp>
        <p:nvSpPr>
          <p:cNvPr id="11" name="TextBox 97">
            <a:extLst>
              <a:ext uri="{FF2B5EF4-FFF2-40B4-BE49-F238E27FC236}">
                <a16:creationId xmlns:a16="http://schemas.microsoft.com/office/drawing/2014/main" id="{CCE0D077-678F-B558-70FC-C9518996CF1D}"/>
              </a:ext>
            </a:extLst>
          </p:cNvPr>
          <p:cNvSpPr txBox="1"/>
          <p:nvPr/>
        </p:nvSpPr>
        <p:spPr>
          <a:xfrm>
            <a:off x="8430692" y="919463"/>
            <a:ext cx="2972520" cy="292388"/>
          </a:xfrm>
          <a:prstGeom prst="rect">
            <a:avLst/>
          </a:prstGeom>
          <a:noFill/>
        </p:spPr>
        <p:txBody>
          <a:bodyPr wrap="square" rtlCol="0">
            <a:spAutoFit/>
          </a:bodyPr>
          <a:lstStyle/>
          <a:p>
            <a:r>
              <a:rPr lang="en-US" altLang="zh-CN" sz="1300" b="1">
                <a:solidFill>
                  <a:srgbClr val="7030A0"/>
                </a:solidFill>
                <a:cs typeface="Lato Regular"/>
              </a:rPr>
              <a:t>Scheduled Actions</a:t>
            </a:r>
          </a:p>
        </p:txBody>
      </p:sp>
      <p:sp>
        <p:nvSpPr>
          <p:cNvPr id="12" name="TextBox 98">
            <a:extLst>
              <a:ext uri="{FF2B5EF4-FFF2-40B4-BE49-F238E27FC236}">
                <a16:creationId xmlns:a16="http://schemas.microsoft.com/office/drawing/2014/main" id="{73AF1ACD-0460-E562-3EF3-048BB2F6627A}"/>
              </a:ext>
            </a:extLst>
          </p:cNvPr>
          <p:cNvSpPr txBox="1"/>
          <p:nvPr/>
        </p:nvSpPr>
        <p:spPr>
          <a:xfrm>
            <a:off x="8425975" y="1161344"/>
            <a:ext cx="3419054" cy="861774"/>
          </a:xfrm>
          <a:prstGeom prst="rect">
            <a:avLst/>
          </a:prstGeom>
          <a:noFill/>
        </p:spPr>
        <p:txBody>
          <a:bodyPr wrap="square" rtlCol="0">
            <a:spAutoFit/>
          </a:bodyPr>
          <a:lstStyle/>
          <a:p>
            <a:r>
              <a:rPr lang="en-US" altLang="zh-CN" sz="1000">
                <a:cs typeface="Lato Light"/>
              </a:rPr>
              <a:t>The Scheduled Actions tab provides visibility into system automatically activities related to the Subscription Order:</a:t>
            </a:r>
          </a:p>
          <a:p>
            <a:pPr marL="171450" indent="-171450">
              <a:buFont typeface="Arial" panose="020B0604020202020204" pitchFamily="34" charset="0"/>
              <a:buChar char="•"/>
            </a:pPr>
            <a:r>
              <a:rPr lang="en-US" altLang="zh-CN" sz="1000">
                <a:cs typeface="Lato Light"/>
              </a:rPr>
              <a:t>Payment Schedule generation</a:t>
            </a:r>
          </a:p>
          <a:p>
            <a:pPr marL="171450" indent="-171450">
              <a:buFont typeface="Arial" panose="020B0604020202020204" pitchFamily="34" charset="0"/>
              <a:buChar char="•"/>
            </a:pPr>
            <a:r>
              <a:rPr lang="en-US" altLang="zh-CN" sz="1000">
                <a:cs typeface="Lato Light"/>
              </a:rPr>
              <a:t>Responses sent from </a:t>
            </a:r>
            <a:r>
              <a:rPr lang="en-US" altLang="zh-CN" sz="1000" err="1">
                <a:cs typeface="Lato Light"/>
              </a:rPr>
              <a:t>NexBill</a:t>
            </a:r>
            <a:r>
              <a:rPr lang="en-US" altLang="zh-CN" sz="1000">
                <a:cs typeface="Lato Light"/>
              </a:rPr>
              <a:t> back to ESOT</a:t>
            </a:r>
          </a:p>
          <a:p>
            <a:pPr marL="171450" indent="-171450">
              <a:buFont typeface="Arial" panose="020B0604020202020204" pitchFamily="34" charset="0"/>
              <a:buChar char="•"/>
            </a:pPr>
            <a:r>
              <a:rPr lang="en-US" altLang="zh-CN" sz="1000">
                <a:cs typeface="Lato Light"/>
              </a:rPr>
              <a:t>Downstream actions sent from </a:t>
            </a:r>
            <a:r>
              <a:rPr lang="en-US" altLang="zh-CN" sz="1000" err="1">
                <a:cs typeface="Lato Light"/>
              </a:rPr>
              <a:t>NexBill</a:t>
            </a:r>
            <a:r>
              <a:rPr lang="en-US" altLang="zh-CN" sz="1000">
                <a:cs typeface="Lato Light"/>
              </a:rPr>
              <a:t> to Magellan.</a:t>
            </a:r>
          </a:p>
        </p:txBody>
      </p:sp>
      <p:sp>
        <p:nvSpPr>
          <p:cNvPr id="13" name="Oval 113">
            <a:extLst>
              <a:ext uri="{FF2B5EF4-FFF2-40B4-BE49-F238E27FC236}">
                <a16:creationId xmlns:a16="http://schemas.microsoft.com/office/drawing/2014/main" id="{F83FAD3E-7653-3993-F293-E61E0AA64F9C}"/>
              </a:ext>
            </a:extLst>
          </p:cNvPr>
          <p:cNvSpPr/>
          <p:nvPr/>
        </p:nvSpPr>
        <p:spPr>
          <a:xfrm>
            <a:off x="8210896" y="2042549"/>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7</a:t>
            </a:r>
          </a:p>
        </p:txBody>
      </p:sp>
      <p:sp>
        <p:nvSpPr>
          <p:cNvPr id="14" name="Oval 114">
            <a:extLst>
              <a:ext uri="{FF2B5EF4-FFF2-40B4-BE49-F238E27FC236}">
                <a16:creationId xmlns:a16="http://schemas.microsoft.com/office/drawing/2014/main" id="{DC2985F6-EB72-219E-F04E-FB076C2D8ABA}"/>
              </a:ext>
            </a:extLst>
          </p:cNvPr>
          <p:cNvSpPr/>
          <p:nvPr/>
        </p:nvSpPr>
        <p:spPr>
          <a:xfrm>
            <a:off x="8204304" y="965815"/>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pic>
        <p:nvPicPr>
          <p:cNvPr id="7" name="图片 6">
            <a:extLst>
              <a:ext uri="{FF2B5EF4-FFF2-40B4-BE49-F238E27FC236}">
                <a16:creationId xmlns:a16="http://schemas.microsoft.com/office/drawing/2014/main" id="{A19574B3-FB06-2FF6-A1A0-1E124F8886DD}"/>
              </a:ext>
            </a:extLst>
          </p:cNvPr>
          <p:cNvPicPr>
            <a:picLocks noChangeAspect="1"/>
          </p:cNvPicPr>
          <p:nvPr/>
        </p:nvPicPr>
        <p:blipFill>
          <a:blip r:embed="rId3"/>
          <a:stretch>
            <a:fillRect/>
          </a:stretch>
        </p:blipFill>
        <p:spPr>
          <a:xfrm>
            <a:off x="320182" y="1016618"/>
            <a:ext cx="7609873" cy="1677557"/>
          </a:xfrm>
          <a:prstGeom prst="rect">
            <a:avLst/>
          </a:prstGeom>
        </p:spPr>
      </p:pic>
      <p:sp>
        <p:nvSpPr>
          <p:cNvPr id="8" name="Oval 114">
            <a:extLst>
              <a:ext uri="{FF2B5EF4-FFF2-40B4-BE49-F238E27FC236}">
                <a16:creationId xmlns:a16="http://schemas.microsoft.com/office/drawing/2014/main" id="{DE095E8D-FC50-E116-C5AF-339D58E3A9D1}"/>
              </a:ext>
            </a:extLst>
          </p:cNvPr>
          <p:cNvSpPr/>
          <p:nvPr/>
        </p:nvSpPr>
        <p:spPr>
          <a:xfrm>
            <a:off x="1304775" y="1541679"/>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
        <p:nvSpPr>
          <p:cNvPr id="16" name="Oval 113">
            <a:extLst>
              <a:ext uri="{FF2B5EF4-FFF2-40B4-BE49-F238E27FC236}">
                <a16:creationId xmlns:a16="http://schemas.microsoft.com/office/drawing/2014/main" id="{FE34B096-258E-05A6-3B34-C4DFFDD4008C}"/>
              </a:ext>
            </a:extLst>
          </p:cNvPr>
          <p:cNvSpPr/>
          <p:nvPr/>
        </p:nvSpPr>
        <p:spPr>
          <a:xfrm>
            <a:off x="1852649" y="3471956"/>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7</a:t>
            </a:r>
          </a:p>
        </p:txBody>
      </p:sp>
    </p:spTree>
    <p:extLst>
      <p:ext uri="{BB962C8B-B14F-4D97-AF65-F5344CB8AC3E}">
        <p14:creationId xmlns:p14="http://schemas.microsoft.com/office/powerpoint/2010/main" val="344921306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animBg="1"/>
      <p:bldP spid="14" grpId="0" animBg="1"/>
      <p:bldP spid="8" grpId="0" animBg="1"/>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98CF-A1D3-8A43-CC52-358CC507BF7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1B2D766-3DF0-CA08-43FF-088DAB4D1820}"/>
              </a:ext>
            </a:extLst>
          </p:cNvPr>
          <p:cNvSpPr>
            <a:spLocks noGrp="1"/>
          </p:cNvSpPr>
          <p:nvPr>
            <p:ph type="title"/>
          </p:nvPr>
        </p:nvSpPr>
        <p:spPr/>
        <p:txBody>
          <a:bodyPr/>
          <a:lstStyle/>
          <a:p>
            <a:r>
              <a:rPr lang="en-US" altLang="zh-CN"/>
              <a:t>Subscription Order - Detail</a:t>
            </a:r>
            <a:endParaRPr lang="zh-CN" altLang="en-US"/>
          </a:p>
        </p:txBody>
      </p:sp>
      <p:sp>
        <p:nvSpPr>
          <p:cNvPr id="10" name="TextBox 93">
            <a:extLst>
              <a:ext uri="{FF2B5EF4-FFF2-40B4-BE49-F238E27FC236}">
                <a16:creationId xmlns:a16="http://schemas.microsoft.com/office/drawing/2014/main" id="{8D16CB64-DA21-F378-5767-2185853CAD03}"/>
              </a:ext>
            </a:extLst>
          </p:cNvPr>
          <p:cNvSpPr txBox="1"/>
          <p:nvPr/>
        </p:nvSpPr>
        <p:spPr>
          <a:xfrm>
            <a:off x="8394170" y="1152696"/>
            <a:ext cx="3407906" cy="3170099"/>
          </a:xfrm>
          <a:prstGeom prst="rect">
            <a:avLst/>
          </a:prstGeom>
          <a:noFill/>
        </p:spPr>
        <p:txBody>
          <a:bodyPr wrap="square" rtlCol="0">
            <a:spAutoFit/>
          </a:bodyPr>
          <a:lstStyle/>
          <a:p>
            <a:r>
              <a:rPr lang="en-US" sz="1000">
                <a:cs typeface="Lato Light"/>
              </a:rPr>
              <a:t>The Payment Schedule tab displays the billing schedule generated for the Subscription Order. </a:t>
            </a:r>
          </a:p>
          <a:p>
            <a:r>
              <a:rPr lang="en-US" sz="1000">
                <a:cs typeface="Lato Light"/>
              </a:rPr>
              <a:t>It provides a timeline view of planned billing periods and the corresponding invoice amounts and status throughout the subscription lifecycle.</a:t>
            </a:r>
          </a:p>
          <a:p>
            <a:endParaRPr lang="en-US" sz="1000">
              <a:cs typeface="Lato Light"/>
            </a:endParaRPr>
          </a:p>
          <a:p>
            <a:r>
              <a:rPr lang="en-US" sz="1000">
                <a:cs typeface="Lato Light"/>
              </a:rPr>
              <a:t>For </a:t>
            </a:r>
            <a:r>
              <a:rPr lang="en-US" sz="1000" b="1">
                <a:cs typeface="Lato Light"/>
              </a:rPr>
              <a:t>recurring</a:t>
            </a:r>
            <a:r>
              <a:rPr lang="en-US" sz="1000">
                <a:cs typeface="Lato Light"/>
              </a:rPr>
              <a:t> subscription orders, </a:t>
            </a:r>
            <a:r>
              <a:rPr lang="en-US" sz="1000" err="1">
                <a:cs typeface="Lato Light"/>
              </a:rPr>
              <a:t>NexBill</a:t>
            </a:r>
            <a:r>
              <a:rPr lang="en-US" sz="1000">
                <a:cs typeface="Lato Light"/>
              </a:rPr>
              <a:t> automatically generates payment schedules based on Subscription Start Date, Subscription End Date, Billing Cycle, Subscription Price, Term Duration.</a:t>
            </a:r>
          </a:p>
          <a:p>
            <a:endParaRPr lang="en-US" sz="1000">
              <a:cs typeface="Lato Light"/>
            </a:endParaRPr>
          </a:p>
          <a:p>
            <a:r>
              <a:rPr lang="en-US" sz="1000">
                <a:cs typeface="Lato Light"/>
              </a:rPr>
              <a:t>For </a:t>
            </a:r>
            <a:r>
              <a:rPr lang="en-US" sz="1000" b="1">
                <a:cs typeface="Lato Light"/>
              </a:rPr>
              <a:t>one-time </a:t>
            </a:r>
            <a:r>
              <a:rPr lang="en-US" sz="1000">
                <a:cs typeface="Lato Light"/>
              </a:rPr>
              <a:t>subscription orders, a single payment schedule is generated.</a:t>
            </a:r>
          </a:p>
          <a:p>
            <a:endParaRPr lang="en-US" sz="1000">
              <a:cs typeface="Lato Light"/>
            </a:endParaRPr>
          </a:p>
          <a:p>
            <a:r>
              <a:rPr lang="en-US" sz="1000">
                <a:cs typeface="Lato Light"/>
              </a:rPr>
              <a:t>For </a:t>
            </a:r>
            <a:r>
              <a:rPr lang="en-US" sz="1000" b="1">
                <a:cs typeface="Lato Light"/>
              </a:rPr>
              <a:t>usage-based</a:t>
            </a:r>
            <a:r>
              <a:rPr lang="en-US" sz="1000">
                <a:cs typeface="Lato Light"/>
              </a:rPr>
              <a:t> subscription orders, payment schedules are generated according to the contract term, while the actual invoice amount is determined by usage data.</a:t>
            </a:r>
          </a:p>
          <a:p>
            <a:endParaRPr lang="en-US" sz="1000">
              <a:cs typeface="Lato Light"/>
            </a:endParaRPr>
          </a:p>
          <a:p>
            <a:r>
              <a:rPr lang="en-US" sz="1000">
                <a:cs typeface="Lato Light"/>
              </a:rPr>
              <a:t>The payment schedule serves as the billing foundation for invoice generation.</a:t>
            </a:r>
          </a:p>
        </p:txBody>
      </p:sp>
      <p:sp>
        <p:nvSpPr>
          <p:cNvPr id="5" name="TextBox 92">
            <a:extLst>
              <a:ext uri="{FF2B5EF4-FFF2-40B4-BE49-F238E27FC236}">
                <a16:creationId xmlns:a16="http://schemas.microsoft.com/office/drawing/2014/main" id="{8235E60A-543C-0B67-2692-7B874E4F4AFE}"/>
              </a:ext>
            </a:extLst>
          </p:cNvPr>
          <p:cNvSpPr txBox="1"/>
          <p:nvPr/>
        </p:nvSpPr>
        <p:spPr>
          <a:xfrm>
            <a:off x="8394170" y="891430"/>
            <a:ext cx="2631007" cy="292388"/>
          </a:xfrm>
          <a:prstGeom prst="rect">
            <a:avLst/>
          </a:prstGeom>
          <a:noFill/>
        </p:spPr>
        <p:txBody>
          <a:bodyPr wrap="square" rtlCol="0">
            <a:spAutoFit/>
          </a:bodyPr>
          <a:lstStyle/>
          <a:p>
            <a:r>
              <a:rPr lang="en-US" altLang="zh-CN" sz="1300" b="1">
                <a:solidFill>
                  <a:srgbClr val="6B6BCF"/>
                </a:solidFill>
                <a:cs typeface="Lato Regular"/>
              </a:rPr>
              <a:t>Payment Schedule</a:t>
            </a:r>
          </a:p>
        </p:txBody>
      </p:sp>
      <p:sp>
        <p:nvSpPr>
          <p:cNvPr id="6" name="Oval 113">
            <a:extLst>
              <a:ext uri="{FF2B5EF4-FFF2-40B4-BE49-F238E27FC236}">
                <a16:creationId xmlns:a16="http://schemas.microsoft.com/office/drawing/2014/main" id="{52A6A24F-BB61-49AD-B0E0-1E849DFC0DFB}"/>
              </a:ext>
            </a:extLst>
          </p:cNvPr>
          <p:cNvSpPr/>
          <p:nvPr/>
        </p:nvSpPr>
        <p:spPr>
          <a:xfrm>
            <a:off x="8153065" y="922297"/>
            <a:ext cx="228600" cy="228600"/>
          </a:xfrm>
          <a:prstGeom prst="ellipse">
            <a:avLst/>
          </a:prstGeom>
          <a:solidFill>
            <a:srgbClr val="6B6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8</a:t>
            </a:r>
          </a:p>
        </p:txBody>
      </p:sp>
      <p:sp>
        <p:nvSpPr>
          <p:cNvPr id="9" name="TextBox 92">
            <a:extLst>
              <a:ext uri="{FF2B5EF4-FFF2-40B4-BE49-F238E27FC236}">
                <a16:creationId xmlns:a16="http://schemas.microsoft.com/office/drawing/2014/main" id="{2C90AF42-8116-E478-9EB6-D299937A9498}"/>
              </a:ext>
            </a:extLst>
          </p:cNvPr>
          <p:cNvSpPr txBox="1"/>
          <p:nvPr/>
        </p:nvSpPr>
        <p:spPr>
          <a:xfrm>
            <a:off x="8394170" y="4312512"/>
            <a:ext cx="2631007" cy="292388"/>
          </a:xfrm>
          <a:prstGeom prst="rect">
            <a:avLst/>
          </a:prstGeom>
          <a:noFill/>
        </p:spPr>
        <p:txBody>
          <a:bodyPr wrap="square" rtlCol="0">
            <a:spAutoFit/>
          </a:bodyPr>
          <a:lstStyle/>
          <a:p>
            <a:r>
              <a:rPr lang="en-US" altLang="zh-CN" sz="1300" b="1">
                <a:solidFill>
                  <a:srgbClr val="E243F7"/>
                </a:solidFill>
                <a:cs typeface="Lato Regular"/>
              </a:rPr>
              <a:t>Related Invoices</a:t>
            </a:r>
          </a:p>
        </p:txBody>
      </p:sp>
      <p:sp>
        <p:nvSpPr>
          <p:cNvPr id="11" name="Oval 113">
            <a:extLst>
              <a:ext uri="{FF2B5EF4-FFF2-40B4-BE49-F238E27FC236}">
                <a16:creationId xmlns:a16="http://schemas.microsoft.com/office/drawing/2014/main" id="{763F5F7E-B52E-701E-480D-C452817C814A}"/>
              </a:ext>
            </a:extLst>
          </p:cNvPr>
          <p:cNvSpPr/>
          <p:nvPr/>
        </p:nvSpPr>
        <p:spPr>
          <a:xfrm>
            <a:off x="8153065" y="4343379"/>
            <a:ext cx="228600" cy="228600"/>
          </a:xfrm>
          <a:prstGeom prst="ellipse">
            <a:avLst/>
          </a:prstGeom>
          <a:solidFill>
            <a:srgbClr val="E24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9</a:t>
            </a:r>
          </a:p>
        </p:txBody>
      </p:sp>
      <p:pic>
        <p:nvPicPr>
          <p:cNvPr id="15" name="图片 14">
            <a:extLst>
              <a:ext uri="{FF2B5EF4-FFF2-40B4-BE49-F238E27FC236}">
                <a16:creationId xmlns:a16="http://schemas.microsoft.com/office/drawing/2014/main" id="{B8314F95-4724-4AB6-08BA-8F40CC477ABF}"/>
              </a:ext>
            </a:extLst>
          </p:cNvPr>
          <p:cNvPicPr>
            <a:picLocks noChangeAspect="1"/>
          </p:cNvPicPr>
          <p:nvPr/>
        </p:nvPicPr>
        <p:blipFill>
          <a:blip r:embed="rId2"/>
          <a:stretch>
            <a:fillRect/>
          </a:stretch>
        </p:blipFill>
        <p:spPr>
          <a:xfrm>
            <a:off x="332688" y="953541"/>
            <a:ext cx="7564822" cy="2804405"/>
          </a:xfrm>
          <a:prstGeom prst="rect">
            <a:avLst/>
          </a:prstGeom>
        </p:spPr>
      </p:pic>
      <p:sp>
        <p:nvSpPr>
          <p:cNvPr id="17" name="TextBox 93">
            <a:extLst>
              <a:ext uri="{FF2B5EF4-FFF2-40B4-BE49-F238E27FC236}">
                <a16:creationId xmlns:a16="http://schemas.microsoft.com/office/drawing/2014/main" id="{9143F75F-2F5C-CCDD-1DA8-213B23112A61}"/>
              </a:ext>
            </a:extLst>
          </p:cNvPr>
          <p:cNvSpPr txBox="1"/>
          <p:nvPr/>
        </p:nvSpPr>
        <p:spPr>
          <a:xfrm>
            <a:off x="8381665" y="4575472"/>
            <a:ext cx="3407906" cy="1015663"/>
          </a:xfrm>
          <a:prstGeom prst="rect">
            <a:avLst/>
          </a:prstGeom>
          <a:noFill/>
        </p:spPr>
        <p:txBody>
          <a:bodyPr wrap="square" rtlCol="0">
            <a:spAutoFit/>
          </a:bodyPr>
          <a:lstStyle/>
          <a:p>
            <a:r>
              <a:rPr lang="en-US" sz="1000">
                <a:cs typeface="Lato Light"/>
              </a:rPr>
              <a:t>The Related Invoices tab displays all </a:t>
            </a:r>
            <a:r>
              <a:rPr lang="en-US" sz="1000" b="1">
                <a:cs typeface="Lato Light"/>
              </a:rPr>
              <a:t>final invoices </a:t>
            </a:r>
            <a:r>
              <a:rPr lang="en-US" sz="1000">
                <a:cs typeface="Lato Light"/>
              </a:rPr>
              <a:t>generated from the current Subscription Order.</a:t>
            </a:r>
          </a:p>
          <a:p>
            <a:r>
              <a:rPr lang="en-US" sz="1000">
                <a:cs typeface="Lato Light"/>
              </a:rPr>
              <a:t>The </a:t>
            </a:r>
            <a:r>
              <a:rPr lang="en-US" sz="1000" b="1">
                <a:cs typeface="Lato Light"/>
              </a:rPr>
              <a:t>Final Invoice Number </a:t>
            </a:r>
            <a:r>
              <a:rPr lang="en-US" sz="1000">
                <a:cs typeface="Lato Light"/>
              </a:rPr>
              <a:t>is displayed as a clickable hyperlink. Users can click the invoice number to open the corresponding Invoice Document Detail page and review.</a:t>
            </a:r>
          </a:p>
          <a:p>
            <a:endParaRPr lang="en-US" sz="1000">
              <a:cs typeface="Lato Light"/>
            </a:endParaRPr>
          </a:p>
        </p:txBody>
      </p:sp>
      <p:pic>
        <p:nvPicPr>
          <p:cNvPr id="23" name="图片 22">
            <a:extLst>
              <a:ext uri="{FF2B5EF4-FFF2-40B4-BE49-F238E27FC236}">
                <a16:creationId xmlns:a16="http://schemas.microsoft.com/office/drawing/2014/main" id="{F659C38F-3315-75A8-4714-A4F093359627}"/>
              </a:ext>
            </a:extLst>
          </p:cNvPr>
          <p:cNvPicPr>
            <a:picLocks noChangeAspect="1"/>
          </p:cNvPicPr>
          <p:nvPr/>
        </p:nvPicPr>
        <p:blipFill>
          <a:blip r:embed="rId3"/>
          <a:stretch>
            <a:fillRect/>
          </a:stretch>
        </p:blipFill>
        <p:spPr>
          <a:xfrm>
            <a:off x="320182" y="3686194"/>
            <a:ext cx="7564823" cy="2527541"/>
          </a:xfrm>
          <a:prstGeom prst="rect">
            <a:avLst/>
          </a:prstGeom>
        </p:spPr>
      </p:pic>
      <p:sp>
        <p:nvSpPr>
          <p:cNvPr id="24" name="Oval 113">
            <a:extLst>
              <a:ext uri="{FF2B5EF4-FFF2-40B4-BE49-F238E27FC236}">
                <a16:creationId xmlns:a16="http://schemas.microsoft.com/office/drawing/2014/main" id="{B1320C05-CF08-8A61-0D87-D825EDA4DAF2}"/>
              </a:ext>
            </a:extLst>
          </p:cNvPr>
          <p:cNvSpPr/>
          <p:nvPr/>
        </p:nvSpPr>
        <p:spPr>
          <a:xfrm>
            <a:off x="3027435" y="1495962"/>
            <a:ext cx="228600" cy="228600"/>
          </a:xfrm>
          <a:prstGeom prst="ellipse">
            <a:avLst/>
          </a:prstGeom>
          <a:solidFill>
            <a:srgbClr val="6B6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8</a:t>
            </a:r>
          </a:p>
        </p:txBody>
      </p:sp>
      <p:sp>
        <p:nvSpPr>
          <p:cNvPr id="25" name="Oval 113">
            <a:extLst>
              <a:ext uri="{FF2B5EF4-FFF2-40B4-BE49-F238E27FC236}">
                <a16:creationId xmlns:a16="http://schemas.microsoft.com/office/drawing/2014/main" id="{F883C6D1-437E-E677-F37D-944D85BA33BD}"/>
              </a:ext>
            </a:extLst>
          </p:cNvPr>
          <p:cNvSpPr/>
          <p:nvPr/>
        </p:nvSpPr>
        <p:spPr>
          <a:xfrm>
            <a:off x="3447849" y="4189504"/>
            <a:ext cx="228600" cy="228600"/>
          </a:xfrm>
          <a:prstGeom prst="ellipse">
            <a:avLst/>
          </a:prstGeom>
          <a:solidFill>
            <a:srgbClr val="E24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9</a:t>
            </a:r>
          </a:p>
        </p:txBody>
      </p:sp>
    </p:spTree>
    <p:extLst>
      <p:ext uri="{BB962C8B-B14F-4D97-AF65-F5344CB8AC3E}">
        <p14:creationId xmlns:p14="http://schemas.microsoft.com/office/powerpoint/2010/main" val="8342637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P spid="6" grpId="0" animBg="1"/>
      <p:bldP spid="9" grpId="0"/>
      <p:bldP spid="11" grpId="0" animBg="1"/>
      <p:bldP spid="17" grpId="0"/>
      <p:bldP spid="24" grpId="0" animBg="1"/>
      <p:bldP spid="2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E0EAC-F577-6200-6982-396F15FAD53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205C48E-627B-9958-3AED-9FF5E892C7AD}"/>
              </a:ext>
            </a:extLst>
          </p:cNvPr>
          <p:cNvSpPr>
            <a:spLocks noGrp="1"/>
          </p:cNvSpPr>
          <p:nvPr>
            <p:ph type="title"/>
          </p:nvPr>
        </p:nvSpPr>
        <p:spPr/>
        <p:txBody>
          <a:bodyPr/>
          <a:lstStyle/>
          <a:p>
            <a:r>
              <a:rPr lang="en-US" altLang="zh-CN"/>
              <a:t>Subscription Order – Subscription Order Action</a:t>
            </a:r>
            <a:endParaRPr lang="zh-CN" altLang="en-US"/>
          </a:p>
        </p:txBody>
      </p:sp>
      <p:sp>
        <p:nvSpPr>
          <p:cNvPr id="8" name="TextBox 83">
            <a:extLst>
              <a:ext uri="{FF2B5EF4-FFF2-40B4-BE49-F238E27FC236}">
                <a16:creationId xmlns:a16="http://schemas.microsoft.com/office/drawing/2014/main" id="{7BEA13BF-20E0-6A4E-407D-3C430296257C}"/>
              </a:ext>
            </a:extLst>
          </p:cNvPr>
          <p:cNvSpPr txBox="1"/>
          <p:nvPr/>
        </p:nvSpPr>
        <p:spPr>
          <a:xfrm>
            <a:off x="8391439" y="1781182"/>
            <a:ext cx="3480380" cy="4555093"/>
          </a:xfrm>
          <a:prstGeom prst="rect">
            <a:avLst/>
          </a:prstGeom>
          <a:noFill/>
        </p:spPr>
        <p:txBody>
          <a:bodyPr wrap="square" rtlCol="0">
            <a:spAutoFit/>
          </a:bodyPr>
          <a:lstStyle/>
          <a:p>
            <a:r>
              <a:rPr lang="en-US" sz="1000" b="1">
                <a:cs typeface="Lato Light"/>
              </a:rPr>
              <a:t>New</a:t>
            </a:r>
          </a:p>
          <a:p>
            <a:r>
              <a:rPr lang="en-US" sz="1000">
                <a:cs typeface="Lato Light"/>
              </a:rPr>
              <a:t>Creates a new subscription order manually within </a:t>
            </a:r>
            <a:r>
              <a:rPr lang="en-US" sz="1000" err="1">
                <a:cs typeface="Lato Light"/>
              </a:rPr>
              <a:t>NexBill</a:t>
            </a:r>
            <a:r>
              <a:rPr lang="en-US" sz="1000">
                <a:cs typeface="Lato Light"/>
              </a:rPr>
              <a:t>.</a:t>
            </a:r>
          </a:p>
          <a:p>
            <a:endParaRPr lang="en-US" sz="1000">
              <a:cs typeface="Lato Light"/>
            </a:endParaRPr>
          </a:p>
          <a:p>
            <a:r>
              <a:rPr lang="en-US" sz="1000">
                <a:cs typeface="Lato Light"/>
              </a:rPr>
              <a:t>Users can create:</a:t>
            </a:r>
          </a:p>
          <a:p>
            <a:r>
              <a:rPr lang="en-US" sz="1000" b="1">
                <a:cs typeface="Lato Light"/>
              </a:rPr>
              <a:t>One-Time </a:t>
            </a:r>
            <a:r>
              <a:rPr lang="en-US" sz="1000">
                <a:cs typeface="Lato Light"/>
              </a:rPr>
              <a:t>Subscription Orders</a:t>
            </a:r>
          </a:p>
          <a:p>
            <a:r>
              <a:rPr lang="en-US" sz="1000" b="1">
                <a:cs typeface="Lato Light"/>
              </a:rPr>
              <a:t>Recurring</a:t>
            </a:r>
            <a:r>
              <a:rPr lang="en-US" sz="1000">
                <a:cs typeface="Lato Light"/>
              </a:rPr>
              <a:t> Subscription Orders</a:t>
            </a:r>
          </a:p>
          <a:p>
            <a:r>
              <a:rPr lang="en-US" sz="1000" b="1">
                <a:cs typeface="Lato Light"/>
              </a:rPr>
              <a:t>Usage-Based </a:t>
            </a:r>
            <a:r>
              <a:rPr lang="en-US" sz="1000">
                <a:cs typeface="Lato Light"/>
              </a:rPr>
              <a:t>Subscription Orders</a:t>
            </a:r>
          </a:p>
          <a:p>
            <a:endParaRPr lang="en-US" sz="1000">
              <a:cs typeface="Lato Light"/>
            </a:endParaRPr>
          </a:p>
          <a:p>
            <a:r>
              <a:rPr lang="en-US" sz="1000" b="1">
                <a:cs typeface="Lato Light"/>
              </a:rPr>
              <a:t>Copy</a:t>
            </a:r>
          </a:p>
          <a:p>
            <a:r>
              <a:rPr lang="en-US" sz="1000">
                <a:cs typeface="Lato Light"/>
              </a:rPr>
              <a:t>Creates a new subscription order by copying an existing subscription order. </a:t>
            </a:r>
          </a:p>
          <a:p>
            <a:endParaRPr lang="en-US" sz="1000">
              <a:cs typeface="Lato Light"/>
            </a:endParaRPr>
          </a:p>
          <a:p>
            <a:r>
              <a:rPr lang="en-US" altLang="zh-CN" sz="1000" b="1">
                <a:cs typeface="Lato Light"/>
              </a:rPr>
              <a:t>Cancel</a:t>
            </a:r>
          </a:p>
          <a:p>
            <a:r>
              <a:rPr lang="en-US" altLang="zh-CN" sz="1000">
                <a:cs typeface="Lato Light"/>
              </a:rPr>
              <a:t>The Cancel button is used to cancel the current Subscription Order and its eligible payment schedules (status is 'Pending' or 'Reversed' or 'Lock’).</a:t>
            </a:r>
          </a:p>
          <a:p>
            <a:endParaRPr lang="en-US" altLang="zh-CN" sz="1000">
              <a:cs typeface="Lato Light"/>
            </a:endParaRPr>
          </a:p>
          <a:p>
            <a:r>
              <a:rPr lang="en-US" altLang="zh-CN" sz="1000">
                <a:cs typeface="Lato Light"/>
              </a:rPr>
              <a:t>Payment schedules that have already reached Final status cannot be cancelled.</a:t>
            </a:r>
          </a:p>
          <a:p>
            <a:endParaRPr lang="en-US" altLang="zh-CN" sz="1000" b="1">
              <a:cs typeface="Lato Light"/>
            </a:endParaRPr>
          </a:p>
          <a:p>
            <a:r>
              <a:rPr lang="en-US" altLang="zh-CN" sz="1000" b="1">
                <a:cs typeface="Lato Light"/>
              </a:rPr>
              <a:t>Accept </a:t>
            </a:r>
          </a:p>
          <a:p>
            <a:r>
              <a:rPr lang="en-US" altLang="zh-CN" sz="1000">
                <a:cs typeface="Lato Light"/>
              </a:rPr>
              <a:t>The Accept button allows users to regenerate payment schedules when subscription order contains error and payment schedule generation was not completed successfully.</a:t>
            </a:r>
          </a:p>
          <a:p>
            <a:endParaRPr lang="en-US" altLang="zh-CN" sz="1000">
              <a:cs typeface="Lato Light"/>
            </a:endParaRPr>
          </a:p>
          <a:p>
            <a:r>
              <a:rPr lang="en-US" altLang="zh-CN" sz="1000">
                <a:cs typeface="Lato Light"/>
              </a:rPr>
              <a:t>Users can use Accept when:</a:t>
            </a:r>
          </a:p>
          <a:p>
            <a:r>
              <a:rPr lang="en-US" altLang="zh-CN" sz="1000">
                <a:cs typeface="Lato Light"/>
              </a:rPr>
              <a:t>The Subscription Order has been released without any error.</a:t>
            </a:r>
          </a:p>
          <a:p>
            <a:r>
              <a:rPr lang="en-US" altLang="zh-CN" sz="1000">
                <a:cs typeface="Lato Light"/>
              </a:rPr>
              <a:t>Payment schedules have not been generated.</a:t>
            </a:r>
            <a:endParaRPr lang="en-US" sz="1000">
              <a:cs typeface="Lato Light"/>
            </a:endParaRPr>
          </a:p>
        </p:txBody>
      </p:sp>
      <p:sp>
        <p:nvSpPr>
          <p:cNvPr id="9" name="Text 2">
            <a:extLst>
              <a:ext uri="{FF2B5EF4-FFF2-40B4-BE49-F238E27FC236}">
                <a16:creationId xmlns:a16="http://schemas.microsoft.com/office/drawing/2014/main" id="{8D134BDC-F98E-CC06-877D-9466A3318C87}"/>
              </a:ext>
            </a:extLst>
          </p:cNvPr>
          <p:cNvSpPr/>
          <p:nvPr/>
        </p:nvSpPr>
        <p:spPr>
          <a:xfrm>
            <a:off x="320181" y="744210"/>
            <a:ext cx="11362067" cy="700016"/>
          </a:xfrm>
          <a:prstGeom prst="rect">
            <a:avLst/>
          </a:prstGeom>
          <a:noFill/>
          <a:ln/>
        </p:spPr>
        <p:txBody>
          <a:bodyPr wrap="square" lIns="0" tIns="0" rIns="0" bIns="0" rtlCol="0" anchor="ctr">
            <a:normAutofit/>
          </a:bodyPr>
          <a:lstStyle/>
          <a:p>
            <a:r>
              <a:rPr lang="en-US" altLang="zh-CN" sz="1200"/>
              <a:t>Subscription Orders in </a:t>
            </a:r>
            <a:r>
              <a:rPr lang="en-US" altLang="zh-CN" sz="1200" err="1"/>
              <a:t>NexBill</a:t>
            </a:r>
            <a:r>
              <a:rPr lang="en-US" altLang="zh-CN" sz="1200"/>
              <a:t> originate from ServiceNow (SNOW). The standard integration flow is:  SNOW → ESOT → </a:t>
            </a:r>
            <a:r>
              <a:rPr lang="en-US" altLang="zh-CN" sz="1200" err="1"/>
              <a:t>NexBill</a:t>
            </a:r>
            <a:r>
              <a:rPr lang="en-US" altLang="zh-CN" sz="1200"/>
              <a:t>. </a:t>
            </a:r>
          </a:p>
          <a:p>
            <a:r>
              <a:rPr lang="en-US" altLang="zh-CN" sz="1200"/>
              <a:t>The Subscription Order Search and Detail pages provide functions, including New, Copy, Cancel, Accept. </a:t>
            </a:r>
          </a:p>
          <a:p>
            <a:r>
              <a:rPr lang="en-US" altLang="zh-CN" sz="1200"/>
              <a:t>These functions are provided primarily for </a:t>
            </a:r>
            <a:r>
              <a:rPr lang="en-US" altLang="zh-CN" sz="1200" b="1"/>
              <a:t>exceptional business scenarios </a:t>
            </a:r>
            <a:r>
              <a:rPr lang="en-US" altLang="zh-CN" sz="1200"/>
              <a:t>and are </a:t>
            </a:r>
            <a:r>
              <a:rPr lang="en-US" altLang="zh-CN" sz="1200" b="1"/>
              <a:t>restricted to authorized users.</a:t>
            </a:r>
            <a:endParaRPr lang="en-US" altLang="zh-CN" sz="1200"/>
          </a:p>
        </p:txBody>
      </p:sp>
      <p:sp>
        <p:nvSpPr>
          <p:cNvPr id="2" name="TextBox 97">
            <a:extLst>
              <a:ext uri="{FF2B5EF4-FFF2-40B4-BE49-F238E27FC236}">
                <a16:creationId xmlns:a16="http://schemas.microsoft.com/office/drawing/2014/main" id="{7E5B6941-D115-1609-E1AE-F361202ACFDC}"/>
              </a:ext>
            </a:extLst>
          </p:cNvPr>
          <p:cNvSpPr txBox="1"/>
          <p:nvPr/>
        </p:nvSpPr>
        <p:spPr>
          <a:xfrm>
            <a:off x="8391439" y="1488794"/>
            <a:ext cx="3380148" cy="292388"/>
          </a:xfrm>
          <a:prstGeom prst="rect">
            <a:avLst/>
          </a:prstGeom>
          <a:noFill/>
        </p:spPr>
        <p:txBody>
          <a:bodyPr wrap="square" rtlCol="0">
            <a:spAutoFit/>
          </a:bodyPr>
          <a:lstStyle/>
          <a:p>
            <a:r>
              <a:rPr lang="en-US" sz="1300" b="1">
                <a:solidFill>
                  <a:srgbClr val="4646C3"/>
                </a:solidFill>
                <a:latin typeface="+mj-lt"/>
                <a:cs typeface="Lato Regular"/>
              </a:rPr>
              <a:t>Action Buttons - </a:t>
            </a:r>
            <a:r>
              <a:rPr lang="en-US" altLang="zh-CN" sz="1300" b="1">
                <a:solidFill>
                  <a:srgbClr val="4646C3"/>
                </a:solidFill>
                <a:latin typeface="+mj-lt"/>
                <a:cs typeface="Lato Regular"/>
              </a:rPr>
              <a:t>T</a:t>
            </a:r>
            <a:r>
              <a:rPr lang="zh-CN" altLang="en-US" sz="1300" b="1">
                <a:solidFill>
                  <a:srgbClr val="4646C3"/>
                </a:solidFill>
                <a:latin typeface="+mj-lt"/>
                <a:cs typeface="Lato Regular"/>
              </a:rPr>
              <a:t>ake </a:t>
            </a:r>
            <a:r>
              <a:rPr lang="en-US" altLang="zh-CN" sz="1300" b="1">
                <a:solidFill>
                  <a:srgbClr val="4646C3"/>
                </a:solidFill>
                <a:latin typeface="+mj-lt"/>
                <a:cs typeface="Lato Regular"/>
              </a:rPr>
              <a:t>E</a:t>
            </a:r>
            <a:r>
              <a:rPr lang="zh-CN" altLang="en-US" sz="1300" b="1">
                <a:solidFill>
                  <a:srgbClr val="4646C3"/>
                </a:solidFill>
                <a:latin typeface="+mj-lt"/>
                <a:cs typeface="Lato Regular"/>
              </a:rPr>
              <a:t>ffect </a:t>
            </a:r>
            <a:r>
              <a:rPr lang="en-US" altLang="zh-CN" sz="1300" b="1">
                <a:solidFill>
                  <a:srgbClr val="4646C3"/>
                </a:solidFill>
                <a:latin typeface="+mj-lt"/>
                <a:cs typeface="Lato Regular"/>
              </a:rPr>
              <a:t>I</a:t>
            </a:r>
            <a:r>
              <a:rPr lang="zh-CN" altLang="en-US" sz="1300" b="1">
                <a:solidFill>
                  <a:srgbClr val="4646C3"/>
                </a:solidFill>
                <a:latin typeface="+mj-lt"/>
                <a:cs typeface="Lato Regular"/>
              </a:rPr>
              <a:t>mmediately</a:t>
            </a:r>
            <a:endParaRPr lang="en-US" sz="1300" b="1">
              <a:solidFill>
                <a:srgbClr val="4646C3"/>
              </a:solidFill>
              <a:latin typeface="+mj-lt"/>
              <a:cs typeface="Lato Regular"/>
            </a:endParaRPr>
          </a:p>
        </p:txBody>
      </p:sp>
      <p:sp>
        <p:nvSpPr>
          <p:cNvPr id="5" name="Oval 114">
            <a:extLst>
              <a:ext uri="{FF2B5EF4-FFF2-40B4-BE49-F238E27FC236}">
                <a16:creationId xmlns:a16="http://schemas.microsoft.com/office/drawing/2014/main" id="{43023AD6-5D2A-D062-B856-71F4C0DB78E6}"/>
              </a:ext>
            </a:extLst>
          </p:cNvPr>
          <p:cNvSpPr/>
          <p:nvPr/>
        </p:nvSpPr>
        <p:spPr>
          <a:xfrm>
            <a:off x="8162839" y="1520688"/>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11" name="图片 10">
            <a:extLst>
              <a:ext uri="{FF2B5EF4-FFF2-40B4-BE49-F238E27FC236}">
                <a16:creationId xmlns:a16="http://schemas.microsoft.com/office/drawing/2014/main" id="{4E17CD33-8692-6552-E40F-88E45E54A7CB}"/>
              </a:ext>
            </a:extLst>
          </p:cNvPr>
          <p:cNvPicPr>
            <a:picLocks noChangeAspect="1"/>
          </p:cNvPicPr>
          <p:nvPr/>
        </p:nvPicPr>
        <p:blipFill>
          <a:blip r:embed="rId2"/>
          <a:stretch>
            <a:fillRect/>
          </a:stretch>
        </p:blipFill>
        <p:spPr>
          <a:xfrm>
            <a:off x="320181" y="1603259"/>
            <a:ext cx="7735701" cy="4298300"/>
          </a:xfrm>
          <a:prstGeom prst="rect">
            <a:avLst/>
          </a:prstGeom>
        </p:spPr>
      </p:pic>
      <p:sp>
        <p:nvSpPr>
          <p:cNvPr id="12" name="Oval 114">
            <a:extLst>
              <a:ext uri="{FF2B5EF4-FFF2-40B4-BE49-F238E27FC236}">
                <a16:creationId xmlns:a16="http://schemas.microsoft.com/office/drawing/2014/main" id="{4BD4BF29-4D1C-D4B9-4CF7-A87C0308AF9E}"/>
              </a:ext>
            </a:extLst>
          </p:cNvPr>
          <p:cNvSpPr/>
          <p:nvPr/>
        </p:nvSpPr>
        <p:spPr>
          <a:xfrm>
            <a:off x="5229000" y="3591657"/>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6" name="图片 5">
            <a:extLst>
              <a:ext uri="{FF2B5EF4-FFF2-40B4-BE49-F238E27FC236}">
                <a16:creationId xmlns:a16="http://schemas.microsoft.com/office/drawing/2014/main" id="{6281BB5D-7FC1-5664-81C1-6537C2FF2CB0}"/>
              </a:ext>
            </a:extLst>
          </p:cNvPr>
          <p:cNvPicPr>
            <a:picLocks noChangeAspect="1"/>
          </p:cNvPicPr>
          <p:nvPr/>
        </p:nvPicPr>
        <p:blipFill>
          <a:blip r:embed="rId3"/>
          <a:stretch>
            <a:fillRect/>
          </a:stretch>
        </p:blipFill>
        <p:spPr>
          <a:xfrm>
            <a:off x="320180" y="4546161"/>
            <a:ext cx="7690177" cy="1790113"/>
          </a:xfrm>
          <a:prstGeom prst="rect">
            <a:avLst/>
          </a:prstGeom>
        </p:spPr>
      </p:pic>
      <p:sp>
        <p:nvSpPr>
          <p:cNvPr id="7" name="Oval 114">
            <a:extLst>
              <a:ext uri="{FF2B5EF4-FFF2-40B4-BE49-F238E27FC236}">
                <a16:creationId xmlns:a16="http://schemas.microsoft.com/office/drawing/2014/main" id="{6BE2CBE2-6D56-4C49-BA6A-6A780FC13697}"/>
              </a:ext>
            </a:extLst>
          </p:cNvPr>
          <p:cNvSpPr/>
          <p:nvPr/>
        </p:nvSpPr>
        <p:spPr>
          <a:xfrm>
            <a:off x="7138079" y="4977783"/>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3</a:t>
            </a:r>
          </a:p>
        </p:txBody>
      </p:sp>
    </p:spTree>
    <p:extLst>
      <p:ext uri="{BB962C8B-B14F-4D97-AF65-F5344CB8AC3E}">
        <p14:creationId xmlns:p14="http://schemas.microsoft.com/office/powerpoint/2010/main" val="2849617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5" grpId="0" animBg="1"/>
      <p:bldP spid="12"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B810F-41DB-21ED-92ED-E19FD4955BCE}"/>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725A0583-FF0D-AE5C-C9C2-5D2CE8FC2796}"/>
              </a:ext>
            </a:extLst>
          </p:cNvPr>
          <p:cNvPicPr>
            <a:picLocks noChangeAspect="1"/>
          </p:cNvPicPr>
          <p:nvPr/>
        </p:nvPicPr>
        <p:blipFill>
          <a:blip r:embed="rId2"/>
          <a:stretch>
            <a:fillRect/>
          </a:stretch>
        </p:blipFill>
        <p:spPr>
          <a:xfrm>
            <a:off x="312256" y="1343966"/>
            <a:ext cx="7189225" cy="1604559"/>
          </a:xfrm>
          <a:prstGeom prst="rect">
            <a:avLst/>
          </a:prstGeom>
        </p:spPr>
      </p:pic>
      <p:sp>
        <p:nvSpPr>
          <p:cNvPr id="3" name="标题 2">
            <a:extLst>
              <a:ext uri="{FF2B5EF4-FFF2-40B4-BE49-F238E27FC236}">
                <a16:creationId xmlns:a16="http://schemas.microsoft.com/office/drawing/2014/main" id="{B5B569FF-F704-5D02-8B9D-1F3FAF3F6391}"/>
              </a:ext>
            </a:extLst>
          </p:cNvPr>
          <p:cNvSpPr>
            <a:spLocks noGrp="1"/>
          </p:cNvSpPr>
          <p:nvPr>
            <p:ph type="title"/>
          </p:nvPr>
        </p:nvSpPr>
        <p:spPr/>
        <p:txBody>
          <a:bodyPr/>
          <a:lstStyle/>
          <a:p>
            <a:r>
              <a:rPr lang="en-US" altLang="zh-CN"/>
              <a:t>Subscription Order - Change</a:t>
            </a:r>
            <a:endParaRPr lang="zh-CN" altLang="en-US"/>
          </a:p>
        </p:txBody>
      </p:sp>
      <p:sp>
        <p:nvSpPr>
          <p:cNvPr id="2" name="Text 2">
            <a:extLst>
              <a:ext uri="{FF2B5EF4-FFF2-40B4-BE49-F238E27FC236}">
                <a16:creationId xmlns:a16="http://schemas.microsoft.com/office/drawing/2014/main" id="{2BBF9C1C-4C3C-95F4-C9A4-740CDB5556FF}"/>
              </a:ext>
            </a:extLst>
          </p:cNvPr>
          <p:cNvSpPr/>
          <p:nvPr/>
        </p:nvSpPr>
        <p:spPr>
          <a:xfrm>
            <a:off x="362223" y="771313"/>
            <a:ext cx="11639523" cy="509377"/>
          </a:xfrm>
          <a:prstGeom prst="rect">
            <a:avLst/>
          </a:prstGeom>
          <a:noFill/>
          <a:ln/>
        </p:spPr>
        <p:txBody>
          <a:bodyPr wrap="square" lIns="0" tIns="0" rIns="0" bIns="0" rtlCol="0" anchor="ctr">
            <a:normAutofit lnSpcReduction="10000"/>
          </a:bodyPr>
          <a:lstStyle/>
          <a:p>
            <a:r>
              <a:rPr lang="en-US" altLang="zh-CN" sz="1200"/>
              <a:t>Subscription Order records are normally created and maintained in SNOW and then synchronized to </a:t>
            </a:r>
            <a:r>
              <a:rPr lang="en-US" altLang="zh-CN" sz="1200" err="1"/>
              <a:t>NexBill</a:t>
            </a:r>
            <a:r>
              <a:rPr lang="en-US" altLang="zh-CN" sz="1200"/>
              <a:t> through the integration interface. </a:t>
            </a:r>
          </a:p>
          <a:p>
            <a:r>
              <a:rPr lang="en-US" altLang="zh-CN" sz="1200"/>
              <a:t>Certain subscription order change functions may be performed by </a:t>
            </a:r>
            <a:r>
              <a:rPr lang="en-US" altLang="zh-CN" sz="1200" b="1"/>
              <a:t>authorized users </a:t>
            </a:r>
            <a:r>
              <a:rPr lang="en-US" altLang="zh-CN" sz="1200"/>
              <a:t>in </a:t>
            </a:r>
            <a:r>
              <a:rPr lang="en-US" altLang="zh-CN" sz="1200" err="1"/>
              <a:t>NexBill</a:t>
            </a:r>
            <a:r>
              <a:rPr lang="en-US" altLang="zh-CN" sz="1200"/>
              <a:t> according to business requirements and assigned permissions.</a:t>
            </a:r>
          </a:p>
          <a:p>
            <a:r>
              <a:rPr lang="en-US" altLang="zh-CN" sz="1200" b="1">
                <a:cs typeface="Lato Light"/>
              </a:rPr>
              <a:t>Submit changes will trigger a Change Request and approval workflow before becoming effective.</a:t>
            </a:r>
            <a:endParaRPr lang="en-US" altLang="zh-CN" sz="1200"/>
          </a:p>
        </p:txBody>
      </p:sp>
      <p:sp>
        <p:nvSpPr>
          <p:cNvPr id="12" name="TextBox 93">
            <a:extLst>
              <a:ext uri="{FF2B5EF4-FFF2-40B4-BE49-F238E27FC236}">
                <a16:creationId xmlns:a16="http://schemas.microsoft.com/office/drawing/2014/main" id="{6607235E-BDE8-7371-43DD-CE3456F237FE}"/>
              </a:ext>
            </a:extLst>
          </p:cNvPr>
          <p:cNvSpPr txBox="1"/>
          <p:nvPr/>
        </p:nvSpPr>
        <p:spPr>
          <a:xfrm>
            <a:off x="7977427" y="1640878"/>
            <a:ext cx="3683802" cy="1015663"/>
          </a:xfrm>
          <a:prstGeom prst="rect">
            <a:avLst/>
          </a:prstGeom>
          <a:noFill/>
        </p:spPr>
        <p:txBody>
          <a:bodyPr wrap="square" rtlCol="0">
            <a:spAutoFit/>
          </a:bodyPr>
          <a:lstStyle/>
          <a:p>
            <a:r>
              <a:rPr lang="en-US" altLang="zh-CN" sz="1000" b="1">
                <a:cs typeface="Lato Light"/>
              </a:rPr>
              <a:t>Edit </a:t>
            </a:r>
          </a:p>
          <a:p>
            <a:r>
              <a:rPr lang="en-US" altLang="zh-CN" sz="1000">
                <a:cs typeface="Lato Light"/>
              </a:rPr>
              <a:t>The Edit function allows authorized users to modify subscription order information.</a:t>
            </a:r>
          </a:p>
          <a:p>
            <a:endParaRPr lang="en-US" altLang="zh-CN" sz="1000" b="1"/>
          </a:p>
          <a:p>
            <a:r>
              <a:rPr lang="en-US" altLang="zh-CN" sz="1000" b="1"/>
              <a:t>Completed and Cancelled Subscription Orders cannot be edited.</a:t>
            </a:r>
            <a:endParaRPr lang="en-US" altLang="zh-CN" sz="1000"/>
          </a:p>
        </p:txBody>
      </p:sp>
      <p:sp>
        <p:nvSpPr>
          <p:cNvPr id="19" name="TextBox 72">
            <a:extLst>
              <a:ext uri="{FF2B5EF4-FFF2-40B4-BE49-F238E27FC236}">
                <a16:creationId xmlns:a16="http://schemas.microsoft.com/office/drawing/2014/main" id="{2AAA58B3-7EA7-2EE0-11C7-E3637CB1C6F8}"/>
              </a:ext>
            </a:extLst>
          </p:cNvPr>
          <p:cNvSpPr txBox="1"/>
          <p:nvPr/>
        </p:nvSpPr>
        <p:spPr>
          <a:xfrm>
            <a:off x="7977427" y="1348490"/>
            <a:ext cx="3862476"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Subscription Order Change - Approval Required</a:t>
            </a:r>
          </a:p>
        </p:txBody>
      </p:sp>
      <p:sp>
        <p:nvSpPr>
          <p:cNvPr id="20" name="Oval 111">
            <a:extLst>
              <a:ext uri="{FF2B5EF4-FFF2-40B4-BE49-F238E27FC236}">
                <a16:creationId xmlns:a16="http://schemas.microsoft.com/office/drawing/2014/main" id="{744FC414-8966-EFE4-3F77-FBCD7A329C3F}"/>
              </a:ext>
            </a:extLst>
          </p:cNvPr>
          <p:cNvSpPr/>
          <p:nvPr/>
        </p:nvSpPr>
        <p:spPr>
          <a:xfrm>
            <a:off x="7731635" y="1416778"/>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3" name="Oval 111">
            <a:extLst>
              <a:ext uri="{FF2B5EF4-FFF2-40B4-BE49-F238E27FC236}">
                <a16:creationId xmlns:a16="http://schemas.microsoft.com/office/drawing/2014/main" id="{F60EF48E-A6F0-006A-778D-E3BD60015C88}"/>
              </a:ext>
            </a:extLst>
          </p:cNvPr>
          <p:cNvSpPr/>
          <p:nvPr/>
        </p:nvSpPr>
        <p:spPr>
          <a:xfrm>
            <a:off x="6067684" y="217143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4" name="TextBox 93">
            <a:extLst>
              <a:ext uri="{FF2B5EF4-FFF2-40B4-BE49-F238E27FC236}">
                <a16:creationId xmlns:a16="http://schemas.microsoft.com/office/drawing/2014/main" id="{BD3139E3-AB0F-CB55-668A-22E3D8E5DF88}"/>
              </a:ext>
            </a:extLst>
          </p:cNvPr>
          <p:cNvSpPr txBox="1"/>
          <p:nvPr/>
        </p:nvSpPr>
        <p:spPr>
          <a:xfrm>
            <a:off x="7960235" y="2883095"/>
            <a:ext cx="3752118" cy="2708434"/>
          </a:xfrm>
          <a:prstGeom prst="rect">
            <a:avLst/>
          </a:prstGeom>
          <a:noFill/>
        </p:spPr>
        <p:txBody>
          <a:bodyPr wrap="square" rtlCol="0">
            <a:spAutoFit/>
          </a:bodyPr>
          <a:lstStyle/>
          <a:p>
            <a:r>
              <a:rPr lang="en-US" altLang="zh-CN" sz="1000">
                <a:cs typeface="Lato Light"/>
              </a:rPr>
              <a:t>Click the </a:t>
            </a:r>
            <a:r>
              <a:rPr lang="en-US" altLang="zh-CN" sz="1000" b="1">
                <a:cs typeface="Lato Light"/>
              </a:rPr>
              <a:t>Edit button in the page header </a:t>
            </a:r>
            <a:r>
              <a:rPr lang="en-US" altLang="zh-CN" sz="1000">
                <a:cs typeface="Lato Light"/>
              </a:rPr>
              <a:t>to enter Edit Mode.</a:t>
            </a:r>
          </a:p>
          <a:p>
            <a:r>
              <a:rPr lang="en-US" altLang="zh-CN" sz="1000">
                <a:cs typeface="Lato Light"/>
              </a:rPr>
              <a:t>When the subscription order  is in Edit Mode, users can maintain subscription order items in the Items tab.</a:t>
            </a:r>
          </a:p>
          <a:p>
            <a:r>
              <a:rPr lang="en-US" altLang="zh-CN" sz="1000" b="1">
                <a:cs typeface="Lato Light"/>
              </a:rPr>
              <a:t>Add Item</a:t>
            </a:r>
          </a:p>
          <a:p>
            <a:r>
              <a:rPr lang="en-US" altLang="zh-CN" sz="1000">
                <a:cs typeface="Lato Light"/>
              </a:rPr>
              <a:t>Users can click </a:t>
            </a:r>
            <a:r>
              <a:rPr lang="en-US" altLang="zh-CN" sz="1000" b="1">
                <a:cs typeface="Lato Light"/>
              </a:rPr>
              <a:t>New</a:t>
            </a:r>
            <a:r>
              <a:rPr lang="en-US" altLang="zh-CN" sz="1000">
                <a:cs typeface="Lato Light"/>
              </a:rPr>
              <a:t> to add a new product item to the subscription order.</a:t>
            </a:r>
          </a:p>
          <a:p>
            <a:r>
              <a:rPr lang="en-US" altLang="zh-CN" sz="1000">
                <a:cs typeface="Lato Light"/>
              </a:rPr>
              <a:t>When adding a new item or updating the Product field, users can click the Search Help (</a:t>
            </a:r>
            <a:r>
              <a:rPr lang="zh-CN" altLang="en-US" sz="1000">
                <a:cs typeface="Lato Light"/>
              </a:rPr>
              <a:t>🔍</a:t>
            </a:r>
            <a:r>
              <a:rPr lang="en-US" altLang="zh-CN" sz="1000">
                <a:cs typeface="Lato Light"/>
              </a:rPr>
              <a:t>) icon next to the Product field to open the Product Master Search window.</a:t>
            </a:r>
          </a:p>
          <a:p>
            <a:endParaRPr lang="en-US" altLang="zh-CN" sz="1000">
              <a:cs typeface="Lato Light"/>
            </a:endParaRPr>
          </a:p>
          <a:p>
            <a:r>
              <a:rPr lang="en-US" altLang="zh-CN" sz="1000" b="1">
                <a:cs typeface="Lato Light"/>
              </a:rPr>
              <a:t>Update Item</a:t>
            </a:r>
          </a:p>
          <a:p>
            <a:r>
              <a:rPr lang="en-US" altLang="zh-CN" sz="1000">
                <a:cs typeface="Lato Light"/>
              </a:rPr>
              <a:t>Users can modify supported item attributes directly in the Item Overview table or through the Item Detail page.</a:t>
            </a:r>
          </a:p>
          <a:p>
            <a:endParaRPr lang="en-US" altLang="zh-CN" sz="1000">
              <a:cs typeface="Lato Light"/>
            </a:endParaRPr>
          </a:p>
          <a:p>
            <a:r>
              <a:rPr lang="en-US" altLang="zh-CN" sz="1000" b="1">
                <a:cs typeface="Lato Light"/>
              </a:rPr>
              <a:t>Delete Item</a:t>
            </a:r>
          </a:p>
          <a:p>
            <a:r>
              <a:rPr lang="en-US" altLang="zh-CN" sz="1000">
                <a:cs typeface="Lato Light"/>
              </a:rPr>
              <a:t>Users can remove an existing item from the subscription order by selecting the Delete icon for the corresponding item.</a:t>
            </a:r>
            <a:r>
              <a:rPr lang="en-US" altLang="zh-CN" sz="1000" b="1">
                <a:cs typeface="Lato Light"/>
              </a:rPr>
              <a:t> </a:t>
            </a:r>
            <a:endParaRPr lang="en-US" altLang="zh-CN" sz="1000">
              <a:cs typeface="Lato Light"/>
            </a:endParaRPr>
          </a:p>
        </p:txBody>
      </p:sp>
      <p:sp>
        <p:nvSpPr>
          <p:cNvPr id="5" name="TextBox 82">
            <a:extLst>
              <a:ext uri="{FF2B5EF4-FFF2-40B4-BE49-F238E27FC236}">
                <a16:creationId xmlns:a16="http://schemas.microsoft.com/office/drawing/2014/main" id="{5D91BA85-4B7A-CD1A-874D-3DB615461A3F}"/>
              </a:ext>
            </a:extLst>
          </p:cNvPr>
          <p:cNvSpPr txBox="1"/>
          <p:nvPr/>
        </p:nvSpPr>
        <p:spPr>
          <a:xfrm>
            <a:off x="7960235" y="2630669"/>
            <a:ext cx="3100476" cy="292388"/>
          </a:xfrm>
          <a:prstGeom prst="rect">
            <a:avLst/>
          </a:prstGeom>
          <a:noFill/>
        </p:spPr>
        <p:txBody>
          <a:bodyPr wrap="square" rtlCol="0">
            <a:spAutoFit/>
          </a:bodyPr>
          <a:lstStyle/>
          <a:p>
            <a:r>
              <a:rPr lang="en-US" sz="1300" b="1">
                <a:solidFill>
                  <a:srgbClr val="126C36"/>
                </a:solidFill>
                <a:cs typeface="Lato Regular"/>
              </a:rPr>
              <a:t>Subscription Order Item Change </a:t>
            </a:r>
          </a:p>
        </p:txBody>
      </p:sp>
      <p:sp>
        <p:nvSpPr>
          <p:cNvPr id="8" name="Oval 112">
            <a:extLst>
              <a:ext uri="{FF2B5EF4-FFF2-40B4-BE49-F238E27FC236}">
                <a16:creationId xmlns:a16="http://schemas.microsoft.com/office/drawing/2014/main" id="{352C4043-571B-937F-D442-058A30053022}"/>
              </a:ext>
            </a:extLst>
          </p:cNvPr>
          <p:cNvSpPr/>
          <p:nvPr/>
        </p:nvSpPr>
        <p:spPr>
          <a:xfrm>
            <a:off x="7731635" y="2659783"/>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9" name="TextBox 97">
            <a:extLst>
              <a:ext uri="{FF2B5EF4-FFF2-40B4-BE49-F238E27FC236}">
                <a16:creationId xmlns:a16="http://schemas.microsoft.com/office/drawing/2014/main" id="{72104C71-A95F-298D-06F4-2DF68F7093B9}"/>
              </a:ext>
            </a:extLst>
          </p:cNvPr>
          <p:cNvSpPr txBox="1"/>
          <p:nvPr/>
        </p:nvSpPr>
        <p:spPr>
          <a:xfrm>
            <a:off x="7960235" y="5584627"/>
            <a:ext cx="2972520" cy="292388"/>
          </a:xfrm>
          <a:prstGeom prst="rect">
            <a:avLst/>
          </a:prstGeom>
          <a:noFill/>
        </p:spPr>
        <p:txBody>
          <a:bodyPr wrap="square" rtlCol="0">
            <a:spAutoFit/>
          </a:bodyPr>
          <a:lstStyle/>
          <a:p>
            <a:r>
              <a:rPr lang="en-US" altLang="zh-CN" sz="1300" b="1">
                <a:solidFill>
                  <a:srgbClr val="F26A52"/>
                </a:solidFill>
                <a:cs typeface="Lato Regular"/>
              </a:rPr>
              <a:t>Partner Maintenance</a:t>
            </a:r>
          </a:p>
        </p:txBody>
      </p:sp>
      <p:sp>
        <p:nvSpPr>
          <p:cNvPr id="10" name="Oval 114">
            <a:extLst>
              <a:ext uri="{FF2B5EF4-FFF2-40B4-BE49-F238E27FC236}">
                <a16:creationId xmlns:a16="http://schemas.microsoft.com/office/drawing/2014/main" id="{AF274F7A-97EE-9E19-FE99-38B753ABB287}"/>
              </a:ext>
            </a:extLst>
          </p:cNvPr>
          <p:cNvSpPr/>
          <p:nvPr/>
        </p:nvSpPr>
        <p:spPr>
          <a:xfrm>
            <a:off x="7733847" y="5630979"/>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4" name="TextBox 93">
            <a:extLst>
              <a:ext uri="{FF2B5EF4-FFF2-40B4-BE49-F238E27FC236}">
                <a16:creationId xmlns:a16="http://schemas.microsoft.com/office/drawing/2014/main" id="{975FC3F2-0A11-A423-0923-5702D8325BA7}"/>
              </a:ext>
            </a:extLst>
          </p:cNvPr>
          <p:cNvSpPr txBox="1"/>
          <p:nvPr/>
        </p:nvSpPr>
        <p:spPr>
          <a:xfrm>
            <a:off x="7960235" y="5859579"/>
            <a:ext cx="4026532" cy="707886"/>
          </a:xfrm>
          <a:prstGeom prst="rect">
            <a:avLst/>
          </a:prstGeom>
          <a:noFill/>
        </p:spPr>
        <p:txBody>
          <a:bodyPr wrap="square" rtlCol="0">
            <a:spAutoFit/>
          </a:bodyPr>
          <a:lstStyle/>
          <a:p>
            <a:r>
              <a:rPr lang="en-US" altLang="zh-CN" sz="1000">
                <a:cs typeface="Lato Light"/>
              </a:rPr>
              <a:t>When the subscription order is in Edit Mode, Ship-To Party, Bill-To Party, and Payer can be changed by deleting the existing partner assignment and adding a new partner record. </a:t>
            </a:r>
          </a:p>
          <a:p>
            <a:r>
              <a:rPr lang="en-US" altLang="zh-CN" sz="1000">
                <a:cs typeface="Lato Light"/>
              </a:rPr>
              <a:t>Direct replacement of an existing partner is not supported.</a:t>
            </a:r>
          </a:p>
        </p:txBody>
      </p:sp>
      <p:pic>
        <p:nvPicPr>
          <p:cNvPr id="27" name="图片 26">
            <a:extLst>
              <a:ext uri="{FF2B5EF4-FFF2-40B4-BE49-F238E27FC236}">
                <a16:creationId xmlns:a16="http://schemas.microsoft.com/office/drawing/2014/main" id="{3EAD505C-B05B-D0AC-F7D6-FADDE604367F}"/>
              </a:ext>
            </a:extLst>
          </p:cNvPr>
          <p:cNvPicPr>
            <a:picLocks noChangeAspect="1"/>
          </p:cNvPicPr>
          <p:nvPr/>
        </p:nvPicPr>
        <p:blipFill>
          <a:blip r:embed="rId3"/>
          <a:stretch>
            <a:fillRect/>
          </a:stretch>
        </p:blipFill>
        <p:spPr>
          <a:xfrm>
            <a:off x="305004" y="2513025"/>
            <a:ext cx="6894786" cy="3238832"/>
          </a:xfrm>
          <a:prstGeom prst="rect">
            <a:avLst/>
          </a:prstGeom>
        </p:spPr>
      </p:pic>
      <p:pic>
        <p:nvPicPr>
          <p:cNvPr id="17" name="图片 16">
            <a:extLst>
              <a:ext uri="{FF2B5EF4-FFF2-40B4-BE49-F238E27FC236}">
                <a16:creationId xmlns:a16="http://schemas.microsoft.com/office/drawing/2014/main" id="{7F4B5F13-8CDA-B61D-F156-C4F4A5ADD6B6}"/>
              </a:ext>
            </a:extLst>
          </p:cNvPr>
          <p:cNvPicPr>
            <a:picLocks noChangeAspect="1"/>
          </p:cNvPicPr>
          <p:nvPr/>
        </p:nvPicPr>
        <p:blipFill>
          <a:blip r:embed="rId4"/>
          <a:stretch>
            <a:fillRect/>
          </a:stretch>
        </p:blipFill>
        <p:spPr>
          <a:xfrm>
            <a:off x="2359664" y="3293731"/>
            <a:ext cx="2558614" cy="2365142"/>
          </a:xfrm>
          <a:prstGeom prst="rect">
            <a:avLst/>
          </a:prstGeom>
        </p:spPr>
      </p:pic>
      <p:pic>
        <p:nvPicPr>
          <p:cNvPr id="29" name="图片 28">
            <a:extLst>
              <a:ext uri="{FF2B5EF4-FFF2-40B4-BE49-F238E27FC236}">
                <a16:creationId xmlns:a16="http://schemas.microsoft.com/office/drawing/2014/main" id="{2D864481-90DC-6361-7685-A02446DC9D7A}"/>
              </a:ext>
            </a:extLst>
          </p:cNvPr>
          <p:cNvPicPr>
            <a:picLocks noChangeAspect="1"/>
          </p:cNvPicPr>
          <p:nvPr/>
        </p:nvPicPr>
        <p:blipFill>
          <a:blip r:embed="rId5"/>
          <a:stretch>
            <a:fillRect/>
          </a:stretch>
        </p:blipFill>
        <p:spPr>
          <a:xfrm>
            <a:off x="2381457" y="5233927"/>
            <a:ext cx="5044721" cy="1539946"/>
          </a:xfrm>
          <a:prstGeom prst="rect">
            <a:avLst/>
          </a:prstGeom>
        </p:spPr>
      </p:pic>
      <p:sp>
        <p:nvSpPr>
          <p:cNvPr id="30" name="Oval 112">
            <a:extLst>
              <a:ext uri="{FF2B5EF4-FFF2-40B4-BE49-F238E27FC236}">
                <a16:creationId xmlns:a16="http://schemas.microsoft.com/office/drawing/2014/main" id="{97553FF2-BD79-60AF-18A8-2424FB11E478}"/>
              </a:ext>
            </a:extLst>
          </p:cNvPr>
          <p:cNvSpPr/>
          <p:nvPr/>
        </p:nvSpPr>
        <p:spPr>
          <a:xfrm>
            <a:off x="673939" y="2762822"/>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31" name="Oval 114">
            <a:extLst>
              <a:ext uri="{FF2B5EF4-FFF2-40B4-BE49-F238E27FC236}">
                <a16:creationId xmlns:a16="http://schemas.microsoft.com/office/drawing/2014/main" id="{CA0B9FBC-81CA-10B6-ABE9-9764847570B4}"/>
              </a:ext>
            </a:extLst>
          </p:cNvPr>
          <p:cNvSpPr/>
          <p:nvPr/>
        </p:nvSpPr>
        <p:spPr>
          <a:xfrm>
            <a:off x="2862302" y="535602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323874498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animBg="1"/>
      <p:bldP spid="13" grpId="0" animBg="1"/>
      <p:bldP spid="4" grpId="0"/>
      <p:bldP spid="5" grpId="0"/>
      <p:bldP spid="8" grpId="0" animBg="1"/>
      <p:bldP spid="9" grpId="0"/>
      <p:bldP spid="10" grpId="0" animBg="1"/>
      <p:bldP spid="14" grpId="0"/>
      <p:bldP spid="30" grpId="0" animBg="1"/>
      <p:bldP spid="3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6A146-2367-9234-0F97-73949E629E6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2772B30-82B5-828B-32E0-48E55200D135}"/>
              </a:ext>
            </a:extLst>
          </p:cNvPr>
          <p:cNvSpPr>
            <a:spLocks noGrp="1"/>
          </p:cNvSpPr>
          <p:nvPr>
            <p:ph type="title"/>
          </p:nvPr>
        </p:nvSpPr>
        <p:spPr/>
        <p:txBody>
          <a:bodyPr/>
          <a:lstStyle/>
          <a:p>
            <a:r>
              <a:rPr lang="en-US" altLang="zh-CN"/>
              <a:t>Subscription Order - Change</a:t>
            </a:r>
            <a:endParaRPr lang="zh-CN" altLang="en-US"/>
          </a:p>
        </p:txBody>
      </p:sp>
      <p:sp>
        <p:nvSpPr>
          <p:cNvPr id="10" name="TextBox 93">
            <a:extLst>
              <a:ext uri="{FF2B5EF4-FFF2-40B4-BE49-F238E27FC236}">
                <a16:creationId xmlns:a16="http://schemas.microsoft.com/office/drawing/2014/main" id="{70FC0947-CD80-1644-E7ED-B929D3EDD9D7}"/>
              </a:ext>
            </a:extLst>
          </p:cNvPr>
          <p:cNvSpPr txBox="1"/>
          <p:nvPr/>
        </p:nvSpPr>
        <p:spPr>
          <a:xfrm>
            <a:off x="8359061" y="4569449"/>
            <a:ext cx="3407906" cy="553998"/>
          </a:xfrm>
          <a:prstGeom prst="rect">
            <a:avLst/>
          </a:prstGeom>
          <a:noFill/>
        </p:spPr>
        <p:txBody>
          <a:bodyPr wrap="square" rtlCol="0">
            <a:spAutoFit/>
          </a:bodyPr>
          <a:lstStyle/>
          <a:p>
            <a:r>
              <a:rPr lang="en-US" sz="1000">
                <a:cs typeface="Lato Light"/>
              </a:rPr>
              <a:t>The Change History tab maintains a complete audit trail of subscription order changes.</a:t>
            </a:r>
          </a:p>
          <a:p>
            <a:r>
              <a:rPr lang="en-US" sz="1000">
                <a:cs typeface="Lato Light"/>
              </a:rPr>
              <a:t>This allows users to track historical modifications.</a:t>
            </a:r>
          </a:p>
        </p:txBody>
      </p:sp>
      <p:sp>
        <p:nvSpPr>
          <p:cNvPr id="27" name="TextBox 93">
            <a:extLst>
              <a:ext uri="{FF2B5EF4-FFF2-40B4-BE49-F238E27FC236}">
                <a16:creationId xmlns:a16="http://schemas.microsoft.com/office/drawing/2014/main" id="{DD70F266-DAE1-F19D-24C4-059E4706D0F4}"/>
              </a:ext>
            </a:extLst>
          </p:cNvPr>
          <p:cNvSpPr txBox="1"/>
          <p:nvPr/>
        </p:nvSpPr>
        <p:spPr>
          <a:xfrm>
            <a:off x="8359061" y="1740069"/>
            <a:ext cx="3470716" cy="2554545"/>
          </a:xfrm>
          <a:prstGeom prst="rect">
            <a:avLst/>
          </a:prstGeom>
          <a:noFill/>
        </p:spPr>
        <p:txBody>
          <a:bodyPr wrap="square" rtlCol="0">
            <a:spAutoFit/>
          </a:bodyPr>
          <a:lstStyle/>
          <a:p>
            <a:r>
              <a:rPr lang="en-US" sz="1000">
                <a:cs typeface="Lato Light"/>
              </a:rPr>
              <a:t>The Change Request tab displays all change requests associated with the subscription order.</a:t>
            </a:r>
          </a:p>
          <a:p>
            <a:endParaRPr lang="en-US" sz="1000">
              <a:cs typeface="Lato Light"/>
            </a:endParaRPr>
          </a:p>
          <a:p>
            <a:r>
              <a:rPr lang="en-US" sz="1000">
                <a:cs typeface="Lato Light"/>
              </a:rPr>
              <a:t>When users submit their subscription order modifications:</a:t>
            </a:r>
          </a:p>
          <a:p>
            <a:r>
              <a:rPr lang="en-US" sz="1000">
                <a:cs typeface="Lato Light"/>
              </a:rPr>
              <a:t>1. A Change Request is automatically created.</a:t>
            </a:r>
          </a:p>
          <a:p>
            <a:r>
              <a:rPr lang="en-US" sz="1000">
                <a:cs typeface="Lato Light"/>
              </a:rPr>
              <a:t>2. The request is routed to the appropriate approver.</a:t>
            </a:r>
          </a:p>
          <a:p>
            <a:r>
              <a:rPr lang="en-US" sz="1000">
                <a:cs typeface="Lato Light"/>
              </a:rPr>
              <a:t>3. The approver reviews the request in the Approval Center.</a:t>
            </a:r>
          </a:p>
          <a:p>
            <a:r>
              <a:rPr lang="en-US" sz="1000">
                <a:cs typeface="Lato Light"/>
              </a:rPr>
              <a:t>4. The changes become effective only after approval is completed.</a:t>
            </a:r>
          </a:p>
          <a:p>
            <a:endParaRPr lang="en-US" sz="1000">
              <a:cs typeface="Lato Light"/>
            </a:endParaRPr>
          </a:p>
          <a:p>
            <a:r>
              <a:rPr lang="en-US" sz="1000">
                <a:cs typeface="Lato Light"/>
              </a:rPr>
              <a:t>The </a:t>
            </a:r>
            <a:r>
              <a:rPr lang="en-US" sz="1000" b="1">
                <a:cs typeface="Lato Light"/>
              </a:rPr>
              <a:t>Change Request ID </a:t>
            </a:r>
            <a:r>
              <a:rPr lang="en-US" sz="1000">
                <a:cs typeface="Lato Light"/>
              </a:rPr>
              <a:t>is displayed as a clickable hyperlink. Users can click the Change Request ID to view the corresponding Change Request Detail.</a:t>
            </a:r>
          </a:p>
          <a:p>
            <a:endParaRPr lang="en-US" altLang="zh-CN" sz="1000" b="1">
              <a:cs typeface="Lato Light"/>
            </a:endParaRPr>
          </a:p>
          <a:p>
            <a:r>
              <a:rPr lang="en-US" altLang="zh-CN" sz="1000" b="1">
                <a:cs typeface="Lato Light"/>
              </a:rPr>
              <a:t>The Approval Center will be introduced in the following document.</a:t>
            </a:r>
            <a:endParaRPr lang="en-US" sz="1000">
              <a:cs typeface="Lato Light"/>
            </a:endParaRPr>
          </a:p>
        </p:txBody>
      </p:sp>
      <p:sp>
        <p:nvSpPr>
          <p:cNvPr id="28" name="TextBox 92">
            <a:extLst>
              <a:ext uri="{FF2B5EF4-FFF2-40B4-BE49-F238E27FC236}">
                <a16:creationId xmlns:a16="http://schemas.microsoft.com/office/drawing/2014/main" id="{BEEA979B-35E2-F972-88CE-E7A988D2F2B8}"/>
              </a:ext>
            </a:extLst>
          </p:cNvPr>
          <p:cNvSpPr txBox="1"/>
          <p:nvPr/>
        </p:nvSpPr>
        <p:spPr>
          <a:xfrm>
            <a:off x="8359061" y="4341538"/>
            <a:ext cx="1839512" cy="292388"/>
          </a:xfrm>
          <a:prstGeom prst="rect">
            <a:avLst/>
          </a:prstGeom>
          <a:noFill/>
        </p:spPr>
        <p:txBody>
          <a:bodyPr wrap="square" rtlCol="0">
            <a:spAutoFit/>
          </a:bodyPr>
          <a:lstStyle/>
          <a:p>
            <a:r>
              <a:rPr lang="en-US" sz="1300" b="1">
                <a:solidFill>
                  <a:srgbClr val="00B0F0"/>
                </a:solidFill>
                <a:cs typeface="Lato Regular"/>
              </a:rPr>
              <a:t>Change History</a:t>
            </a:r>
          </a:p>
        </p:txBody>
      </p:sp>
      <p:sp>
        <p:nvSpPr>
          <p:cNvPr id="31" name="Oval 113">
            <a:extLst>
              <a:ext uri="{FF2B5EF4-FFF2-40B4-BE49-F238E27FC236}">
                <a16:creationId xmlns:a16="http://schemas.microsoft.com/office/drawing/2014/main" id="{95E60E60-E570-AF64-AF83-190F12BFC7A7}"/>
              </a:ext>
            </a:extLst>
          </p:cNvPr>
          <p:cNvSpPr/>
          <p:nvPr/>
        </p:nvSpPr>
        <p:spPr>
          <a:xfrm>
            <a:off x="8148750" y="4384913"/>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7" name="TextBox 92">
            <a:extLst>
              <a:ext uri="{FF2B5EF4-FFF2-40B4-BE49-F238E27FC236}">
                <a16:creationId xmlns:a16="http://schemas.microsoft.com/office/drawing/2014/main" id="{9732DD87-2411-B57D-E7FE-0FB01ADC1FD6}"/>
              </a:ext>
            </a:extLst>
          </p:cNvPr>
          <p:cNvSpPr txBox="1"/>
          <p:nvPr/>
        </p:nvSpPr>
        <p:spPr>
          <a:xfrm>
            <a:off x="8359061" y="1464325"/>
            <a:ext cx="1839512" cy="292388"/>
          </a:xfrm>
          <a:prstGeom prst="rect">
            <a:avLst/>
          </a:prstGeom>
          <a:noFill/>
        </p:spPr>
        <p:txBody>
          <a:bodyPr wrap="square" rtlCol="0">
            <a:spAutoFit/>
          </a:bodyPr>
          <a:lstStyle/>
          <a:p>
            <a:r>
              <a:rPr lang="en-US" sz="1300" b="1">
                <a:solidFill>
                  <a:srgbClr val="404040"/>
                </a:solidFill>
                <a:cs typeface="Lato Regular"/>
              </a:rPr>
              <a:t>Change Request</a:t>
            </a:r>
          </a:p>
        </p:txBody>
      </p:sp>
      <p:sp>
        <p:nvSpPr>
          <p:cNvPr id="8" name="Oval 113">
            <a:extLst>
              <a:ext uri="{FF2B5EF4-FFF2-40B4-BE49-F238E27FC236}">
                <a16:creationId xmlns:a16="http://schemas.microsoft.com/office/drawing/2014/main" id="{89B1E8F2-3115-66E8-C6E2-BD5EF9FF3F13}"/>
              </a:ext>
            </a:extLst>
          </p:cNvPr>
          <p:cNvSpPr/>
          <p:nvPr/>
        </p:nvSpPr>
        <p:spPr>
          <a:xfrm>
            <a:off x="8117955" y="1495192"/>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16" name="图片 15">
            <a:extLst>
              <a:ext uri="{FF2B5EF4-FFF2-40B4-BE49-F238E27FC236}">
                <a16:creationId xmlns:a16="http://schemas.microsoft.com/office/drawing/2014/main" id="{2FED4060-7457-153A-8D06-0F0230F3D662}"/>
              </a:ext>
            </a:extLst>
          </p:cNvPr>
          <p:cNvPicPr>
            <a:picLocks noChangeAspect="1"/>
          </p:cNvPicPr>
          <p:nvPr/>
        </p:nvPicPr>
        <p:blipFill>
          <a:blip r:embed="rId2"/>
          <a:stretch>
            <a:fillRect/>
          </a:stretch>
        </p:blipFill>
        <p:spPr>
          <a:xfrm>
            <a:off x="362223" y="4720945"/>
            <a:ext cx="7462728" cy="1808176"/>
          </a:xfrm>
          <a:prstGeom prst="rect">
            <a:avLst/>
          </a:prstGeom>
        </p:spPr>
      </p:pic>
      <p:pic>
        <p:nvPicPr>
          <p:cNvPr id="18" name="图片 17">
            <a:extLst>
              <a:ext uri="{FF2B5EF4-FFF2-40B4-BE49-F238E27FC236}">
                <a16:creationId xmlns:a16="http://schemas.microsoft.com/office/drawing/2014/main" id="{E6273AA6-F8F0-ADCE-1992-391D4A016F57}"/>
              </a:ext>
            </a:extLst>
          </p:cNvPr>
          <p:cNvPicPr>
            <a:picLocks noChangeAspect="1"/>
          </p:cNvPicPr>
          <p:nvPr/>
        </p:nvPicPr>
        <p:blipFill>
          <a:blip r:embed="rId3"/>
          <a:stretch>
            <a:fillRect/>
          </a:stretch>
        </p:blipFill>
        <p:spPr>
          <a:xfrm>
            <a:off x="362223" y="1517729"/>
            <a:ext cx="7492501" cy="1579179"/>
          </a:xfrm>
          <a:prstGeom prst="rect">
            <a:avLst/>
          </a:prstGeom>
        </p:spPr>
      </p:pic>
      <p:pic>
        <p:nvPicPr>
          <p:cNvPr id="20" name="图片 19">
            <a:extLst>
              <a:ext uri="{FF2B5EF4-FFF2-40B4-BE49-F238E27FC236}">
                <a16:creationId xmlns:a16="http://schemas.microsoft.com/office/drawing/2014/main" id="{175E1B2D-3DA0-AA44-A093-CDF79E9CA0FD}"/>
              </a:ext>
            </a:extLst>
          </p:cNvPr>
          <p:cNvPicPr>
            <a:picLocks noChangeAspect="1"/>
          </p:cNvPicPr>
          <p:nvPr/>
        </p:nvPicPr>
        <p:blipFill>
          <a:blip r:embed="rId4"/>
          <a:stretch>
            <a:fillRect/>
          </a:stretch>
        </p:blipFill>
        <p:spPr>
          <a:xfrm>
            <a:off x="362223" y="3039895"/>
            <a:ext cx="6279931" cy="1547188"/>
          </a:xfrm>
          <a:prstGeom prst="rect">
            <a:avLst/>
          </a:prstGeom>
        </p:spPr>
      </p:pic>
      <p:sp>
        <p:nvSpPr>
          <p:cNvPr id="21" name="Oval 113">
            <a:extLst>
              <a:ext uri="{FF2B5EF4-FFF2-40B4-BE49-F238E27FC236}">
                <a16:creationId xmlns:a16="http://schemas.microsoft.com/office/drawing/2014/main" id="{789EB781-63B3-84E0-E999-76DF7FCE7105}"/>
              </a:ext>
            </a:extLst>
          </p:cNvPr>
          <p:cNvSpPr/>
          <p:nvPr/>
        </p:nvSpPr>
        <p:spPr>
          <a:xfrm>
            <a:off x="2152345" y="5225971"/>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9" name="Oval 113">
            <a:extLst>
              <a:ext uri="{FF2B5EF4-FFF2-40B4-BE49-F238E27FC236}">
                <a16:creationId xmlns:a16="http://schemas.microsoft.com/office/drawing/2014/main" id="{89F16B42-3D6C-D832-2856-6F807C1D6090}"/>
              </a:ext>
            </a:extLst>
          </p:cNvPr>
          <p:cNvSpPr/>
          <p:nvPr/>
        </p:nvSpPr>
        <p:spPr>
          <a:xfrm>
            <a:off x="3654011" y="2053372"/>
            <a:ext cx="228600" cy="2286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5" name="文本框 4">
            <a:extLst>
              <a:ext uri="{FF2B5EF4-FFF2-40B4-BE49-F238E27FC236}">
                <a16:creationId xmlns:a16="http://schemas.microsoft.com/office/drawing/2014/main" id="{5F455700-7B0B-EA66-93D6-A37F298F6C12}"/>
              </a:ext>
            </a:extLst>
          </p:cNvPr>
          <p:cNvSpPr txBox="1"/>
          <p:nvPr/>
        </p:nvSpPr>
        <p:spPr>
          <a:xfrm>
            <a:off x="320182" y="769538"/>
            <a:ext cx="11351930" cy="276999"/>
          </a:xfrm>
          <a:prstGeom prst="rect">
            <a:avLst/>
          </a:prstGeom>
          <a:noFill/>
        </p:spPr>
        <p:txBody>
          <a:bodyPr wrap="square">
            <a:spAutoFit/>
          </a:bodyPr>
          <a:lstStyle/>
          <a:p>
            <a:r>
              <a:rPr lang="zh-CN" altLang="en-US" sz="1200" b="1">
                <a:latin typeface="+mj-lt"/>
              </a:rPr>
              <a:t>Only Edit actions require a Change Request and Approval. Operational actions such as </a:t>
            </a:r>
            <a:r>
              <a:rPr lang="en-US" altLang="zh-CN" sz="1200" b="1">
                <a:latin typeface="+mj-lt"/>
              </a:rPr>
              <a:t>New, </a:t>
            </a:r>
            <a:r>
              <a:rPr lang="zh-CN" altLang="en-US" sz="1200" b="1">
                <a:latin typeface="+mj-lt"/>
              </a:rPr>
              <a:t>Copy, Cancel, </a:t>
            </a:r>
            <a:r>
              <a:rPr lang="en-US" altLang="zh-CN" sz="1200" b="1">
                <a:latin typeface="+mj-lt"/>
              </a:rPr>
              <a:t>Accept</a:t>
            </a:r>
            <a:r>
              <a:rPr lang="zh-CN" altLang="en-US" sz="1200" b="1">
                <a:latin typeface="+mj-lt"/>
              </a:rPr>
              <a:t> take effect immediately.</a:t>
            </a:r>
          </a:p>
        </p:txBody>
      </p:sp>
    </p:spTree>
    <p:extLst>
      <p:ext uri="{BB962C8B-B14F-4D97-AF65-F5344CB8AC3E}">
        <p14:creationId xmlns:p14="http://schemas.microsoft.com/office/powerpoint/2010/main" val="4521460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28" grpId="0"/>
      <p:bldP spid="31" grpId="0" animBg="1"/>
      <p:bldP spid="7" grpId="0"/>
      <p:bldP spid="8" grpId="0" animBg="1"/>
      <p:bldP spid="21"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17B9-AA09-1D45-07C8-B6370EA654A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2572225-0CC6-64D5-FA97-D68E3880A422}"/>
              </a:ext>
            </a:extLst>
          </p:cNvPr>
          <p:cNvSpPr>
            <a:spLocks noGrp="1"/>
          </p:cNvSpPr>
          <p:nvPr>
            <p:ph type="title"/>
          </p:nvPr>
        </p:nvSpPr>
        <p:spPr/>
        <p:txBody>
          <a:bodyPr/>
          <a:lstStyle/>
          <a:p>
            <a:r>
              <a:rPr lang="en-US" altLang="zh-CN"/>
              <a:t>One Time Order Creation - Overview </a:t>
            </a:r>
            <a:endParaRPr lang="zh-CN" altLang="en-US"/>
          </a:p>
        </p:txBody>
      </p:sp>
      <p:sp>
        <p:nvSpPr>
          <p:cNvPr id="2" name="Text 1">
            <a:extLst>
              <a:ext uri="{FF2B5EF4-FFF2-40B4-BE49-F238E27FC236}">
                <a16:creationId xmlns:a16="http://schemas.microsoft.com/office/drawing/2014/main" id="{B2293DC2-14B0-5A13-D31D-E2FD1F005978}"/>
              </a:ext>
            </a:extLst>
          </p:cNvPr>
          <p:cNvSpPr/>
          <p:nvPr/>
        </p:nvSpPr>
        <p:spPr>
          <a:xfrm>
            <a:off x="338470" y="802570"/>
            <a:ext cx="8138160" cy="256032"/>
          </a:xfrm>
          <a:prstGeom prst="rect">
            <a:avLst/>
          </a:prstGeom>
          <a:noFill/>
          <a:ln/>
        </p:spPr>
        <p:txBody>
          <a:bodyPr wrap="square" lIns="0" tIns="0" rIns="0" bIns="0" rtlCol="0" anchor="ctr">
            <a:normAutofit/>
          </a:bodyPr>
          <a:lstStyle/>
          <a:p>
            <a:pPr marL="0" indent="0">
              <a:buNone/>
            </a:pPr>
            <a:r>
              <a:rPr lang="en-US" sz="1200" i="1">
                <a:solidFill>
                  <a:srgbClr val="0B3A82"/>
                </a:solidFill>
                <a:latin typeface="Arial" pitchFamily="34" charset="0"/>
                <a:ea typeface="Arial" pitchFamily="34" charset="-122"/>
                <a:cs typeface="Arial" pitchFamily="34" charset="-120"/>
              </a:rPr>
              <a:t>A simple step-by-step guide for manual one-time billing scenarios</a:t>
            </a:r>
            <a:endParaRPr lang="en-US" sz="1200"/>
          </a:p>
        </p:txBody>
      </p:sp>
      <p:sp>
        <p:nvSpPr>
          <p:cNvPr id="6" name="Shape 2">
            <a:extLst>
              <a:ext uri="{FF2B5EF4-FFF2-40B4-BE49-F238E27FC236}">
                <a16:creationId xmlns:a16="http://schemas.microsoft.com/office/drawing/2014/main" id="{EA2A091F-4D02-1156-DF1A-337CCD820EAF}"/>
              </a:ext>
            </a:extLst>
          </p:cNvPr>
          <p:cNvSpPr/>
          <p:nvPr/>
        </p:nvSpPr>
        <p:spPr>
          <a:xfrm>
            <a:off x="8906046" y="833095"/>
            <a:ext cx="2688688" cy="713232"/>
          </a:xfrm>
          <a:prstGeom prst="roundRect">
            <a:avLst>
              <a:gd name="adj" fmla="val 15385"/>
            </a:avLst>
          </a:prstGeom>
          <a:solidFill>
            <a:srgbClr val="EAF3FF"/>
          </a:solidFill>
          <a:ln w="12700">
            <a:solidFill>
              <a:srgbClr val="B7D3F3"/>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7" name="Text 3">
            <a:extLst>
              <a:ext uri="{FF2B5EF4-FFF2-40B4-BE49-F238E27FC236}">
                <a16:creationId xmlns:a16="http://schemas.microsoft.com/office/drawing/2014/main" id="{6B32FBAB-22A9-54C9-F89F-79453312F537}"/>
              </a:ext>
            </a:extLst>
          </p:cNvPr>
          <p:cNvSpPr/>
          <p:nvPr/>
        </p:nvSpPr>
        <p:spPr>
          <a:xfrm>
            <a:off x="9053191" y="956538"/>
            <a:ext cx="1005840" cy="164592"/>
          </a:xfrm>
          <a:prstGeom prst="rect">
            <a:avLst/>
          </a:prstGeom>
          <a:noFill/>
          <a:ln/>
        </p:spPr>
        <p:txBody>
          <a:bodyPr wrap="square" lIns="0" tIns="0" rIns="0" bIns="0" rtlCol="0" anchor="ctr">
            <a:normAutofit/>
          </a:bodyPr>
          <a:lstStyle/>
          <a:p>
            <a:pPr marL="0" indent="0">
              <a:buNone/>
            </a:pPr>
            <a:r>
              <a:rPr lang="en-US" sz="1000" b="1">
                <a:solidFill>
                  <a:srgbClr val="1769AA"/>
                </a:solidFill>
                <a:latin typeface="+mj-lt"/>
                <a:ea typeface="Arial" pitchFamily="34" charset="-122"/>
                <a:cs typeface="Arial" pitchFamily="34" charset="-120"/>
              </a:rPr>
              <a:t>WHEN TO USE</a:t>
            </a:r>
            <a:endParaRPr lang="en-US" sz="1000">
              <a:latin typeface="+mj-lt"/>
            </a:endParaRPr>
          </a:p>
        </p:txBody>
      </p:sp>
      <p:sp>
        <p:nvSpPr>
          <p:cNvPr id="8" name="Text 4">
            <a:extLst>
              <a:ext uri="{FF2B5EF4-FFF2-40B4-BE49-F238E27FC236}">
                <a16:creationId xmlns:a16="http://schemas.microsoft.com/office/drawing/2014/main" id="{0A11C9A3-B37D-6D13-DE53-E08F340C5768}"/>
              </a:ext>
            </a:extLst>
          </p:cNvPr>
          <p:cNvSpPr/>
          <p:nvPr/>
        </p:nvSpPr>
        <p:spPr>
          <a:xfrm>
            <a:off x="9053191" y="1125702"/>
            <a:ext cx="2541543" cy="409281"/>
          </a:xfrm>
          <a:prstGeom prst="rect">
            <a:avLst/>
          </a:prstGeom>
          <a:noFill/>
          <a:ln/>
        </p:spPr>
        <p:txBody>
          <a:bodyPr wrap="square" lIns="0" tIns="0" rIns="0" bIns="0" rtlCol="0" anchor="ctr">
            <a:noAutofit/>
          </a:bodyPr>
          <a:lstStyle/>
          <a:p>
            <a:pPr marL="0" indent="0">
              <a:buNone/>
            </a:pPr>
            <a:r>
              <a:rPr lang="en-US" sz="1000">
                <a:solidFill>
                  <a:srgbClr val="1F2937"/>
                </a:solidFill>
                <a:latin typeface="+mj-lt"/>
                <a:ea typeface="Arial" pitchFamily="34" charset="-122"/>
                <a:cs typeface="Arial" pitchFamily="34" charset="-120"/>
              </a:rPr>
              <a:t>Special billing scenarios</a:t>
            </a:r>
            <a:endParaRPr lang="en-US" sz="1000">
              <a:latin typeface="+mj-lt"/>
            </a:endParaRPr>
          </a:p>
          <a:p>
            <a:pPr marL="0" indent="0">
              <a:buNone/>
            </a:pPr>
            <a:r>
              <a:rPr lang="en-US" sz="1000">
                <a:solidFill>
                  <a:srgbClr val="1F2937"/>
                </a:solidFill>
                <a:latin typeface="+mj-lt"/>
                <a:ea typeface="Arial" pitchFamily="34" charset="-122"/>
                <a:cs typeface="Arial" pitchFamily="34" charset="-120"/>
              </a:rPr>
              <a:t>not handled by the standard integration flow</a:t>
            </a:r>
            <a:endParaRPr lang="en-US" sz="1000">
              <a:latin typeface="+mj-lt"/>
            </a:endParaRPr>
          </a:p>
        </p:txBody>
      </p:sp>
      <p:sp>
        <p:nvSpPr>
          <p:cNvPr id="9" name="Text 5">
            <a:extLst>
              <a:ext uri="{FF2B5EF4-FFF2-40B4-BE49-F238E27FC236}">
                <a16:creationId xmlns:a16="http://schemas.microsoft.com/office/drawing/2014/main" id="{A8DA3130-0DC1-646F-68D3-3565EF260640}"/>
              </a:ext>
            </a:extLst>
          </p:cNvPr>
          <p:cNvSpPr/>
          <p:nvPr/>
        </p:nvSpPr>
        <p:spPr>
          <a:xfrm>
            <a:off x="347614" y="1232338"/>
            <a:ext cx="2926080" cy="201168"/>
          </a:xfrm>
          <a:prstGeom prst="rect">
            <a:avLst/>
          </a:prstGeom>
          <a:noFill/>
          <a:ln/>
        </p:spPr>
        <p:txBody>
          <a:bodyPr wrap="square" lIns="0" tIns="0" rIns="0" bIns="0" rtlCol="0" anchor="ctr">
            <a:normAutofit/>
          </a:bodyPr>
          <a:lstStyle/>
          <a:p>
            <a:pPr marL="0" indent="0">
              <a:buNone/>
            </a:pPr>
            <a:r>
              <a:rPr lang="en-US" sz="1100" b="1">
                <a:solidFill>
                  <a:srgbClr val="607080"/>
                </a:solidFill>
                <a:latin typeface="+mj-lt"/>
                <a:ea typeface="Arial" pitchFamily="34" charset="-122"/>
                <a:cs typeface="Arial" pitchFamily="34" charset="-120"/>
              </a:rPr>
              <a:t>CREATE → SUBMIT → BILLING</a:t>
            </a:r>
            <a:endParaRPr lang="en-US" sz="1100">
              <a:latin typeface="+mj-lt"/>
            </a:endParaRPr>
          </a:p>
        </p:txBody>
      </p:sp>
      <p:sp>
        <p:nvSpPr>
          <p:cNvPr id="10" name="Shape 6">
            <a:extLst>
              <a:ext uri="{FF2B5EF4-FFF2-40B4-BE49-F238E27FC236}">
                <a16:creationId xmlns:a16="http://schemas.microsoft.com/office/drawing/2014/main" id="{1257CD58-CDED-C1FC-55F0-38B61E2627D4}"/>
              </a:ext>
            </a:extLst>
          </p:cNvPr>
          <p:cNvSpPr/>
          <p:nvPr/>
        </p:nvSpPr>
        <p:spPr>
          <a:xfrm>
            <a:off x="777382" y="1945570"/>
            <a:ext cx="10287000" cy="0"/>
          </a:xfrm>
          <a:prstGeom prst="line">
            <a:avLst/>
          </a:prstGeom>
          <a:noFill/>
          <a:ln w="12700">
            <a:solidFill>
              <a:srgbClr val="C9D6E6"/>
            </a:solidFill>
            <a:prstDash val="solid"/>
          </a:ln>
        </p:spPr>
        <p:txBody>
          <a:bodyPr/>
          <a:lstStyle/>
          <a:p>
            <a:endParaRPr lang="zh-CN" altLang="en-US">
              <a:latin typeface="+mj-lt"/>
            </a:endParaRPr>
          </a:p>
        </p:txBody>
      </p:sp>
      <p:sp>
        <p:nvSpPr>
          <p:cNvPr id="12" name="Shape 7">
            <a:extLst>
              <a:ext uri="{FF2B5EF4-FFF2-40B4-BE49-F238E27FC236}">
                <a16:creationId xmlns:a16="http://schemas.microsoft.com/office/drawing/2014/main" id="{A6855990-AD66-B532-4304-E0978300845F}"/>
              </a:ext>
            </a:extLst>
          </p:cNvPr>
          <p:cNvSpPr/>
          <p:nvPr/>
        </p:nvSpPr>
        <p:spPr>
          <a:xfrm>
            <a:off x="841390" y="1698682"/>
            <a:ext cx="475488" cy="475488"/>
          </a:xfrm>
          <a:prstGeom prst="ellipse">
            <a:avLst/>
          </a:prstGeom>
          <a:solidFill>
            <a:srgbClr val="1769AA"/>
          </a:solidFill>
          <a:ln w="12700">
            <a:solidFill>
              <a:srgbClr val="FFFFFF"/>
            </a:solidFill>
            <a:prstDash val="solid"/>
          </a:ln>
          <a:effectLst>
            <a:outerShdw blurRad="15240" dist="5080" dir="2700000" algn="bl" rotWithShape="0">
              <a:srgbClr val="000000">
                <a:alpha val="15000"/>
              </a:srgbClr>
            </a:outerShdw>
          </a:effectLst>
        </p:spPr>
        <p:txBody>
          <a:bodyPr/>
          <a:lstStyle/>
          <a:p>
            <a:endParaRPr lang="zh-CN" altLang="en-US">
              <a:latin typeface="+mj-lt"/>
            </a:endParaRPr>
          </a:p>
        </p:txBody>
      </p:sp>
      <p:sp>
        <p:nvSpPr>
          <p:cNvPr id="13" name="Text 8">
            <a:extLst>
              <a:ext uri="{FF2B5EF4-FFF2-40B4-BE49-F238E27FC236}">
                <a16:creationId xmlns:a16="http://schemas.microsoft.com/office/drawing/2014/main" id="{80EC61DA-258A-D62D-348F-038AF0E83EE0}"/>
              </a:ext>
            </a:extLst>
          </p:cNvPr>
          <p:cNvSpPr/>
          <p:nvPr/>
        </p:nvSpPr>
        <p:spPr>
          <a:xfrm>
            <a:off x="841390" y="1726114"/>
            <a:ext cx="475488" cy="44805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mj-lt"/>
                <a:ea typeface="Arial" pitchFamily="34" charset="-122"/>
                <a:cs typeface="Arial" pitchFamily="34" charset="-120"/>
              </a:rPr>
              <a:t>1</a:t>
            </a:r>
            <a:endParaRPr lang="en-US" sz="2000">
              <a:latin typeface="+mj-lt"/>
            </a:endParaRPr>
          </a:p>
        </p:txBody>
      </p:sp>
      <p:sp>
        <p:nvSpPr>
          <p:cNvPr id="17" name="Shape 9">
            <a:extLst>
              <a:ext uri="{FF2B5EF4-FFF2-40B4-BE49-F238E27FC236}">
                <a16:creationId xmlns:a16="http://schemas.microsoft.com/office/drawing/2014/main" id="{70640810-8E68-ADC0-FD3B-07A1B1F33F8B}"/>
              </a:ext>
            </a:extLst>
          </p:cNvPr>
          <p:cNvSpPr/>
          <p:nvPr/>
        </p:nvSpPr>
        <p:spPr>
          <a:xfrm>
            <a:off x="320182" y="2238178"/>
            <a:ext cx="1691640" cy="1965960"/>
          </a:xfrm>
          <a:prstGeom prst="roundRect">
            <a:avLst>
              <a:gd name="adj" fmla="val 6486"/>
            </a:avLst>
          </a:prstGeom>
          <a:solidFill>
            <a:srgbClr val="FFFFFF"/>
          </a:solidFill>
          <a:ln w="12700">
            <a:solidFill>
              <a:srgbClr val="1769AA"/>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18" name="Text 10">
            <a:extLst>
              <a:ext uri="{FF2B5EF4-FFF2-40B4-BE49-F238E27FC236}">
                <a16:creationId xmlns:a16="http://schemas.microsoft.com/office/drawing/2014/main" id="{9959D8D8-DE12-7AE4-2637-17BC069B1429}"/>
              </a:ext>
            </a:extLst>
          </p:cNvPr>
          <p:cNvSpPr/>
          <p:nvPr/>
        </p:nvSpPr>
        <p:spPr>
          <a:xfrm>
            <a:off x="429910" y="2411914"/>
            <a:ext cx="1472184" cy="310896"/>
          </a:xfrm>
          <a:prstGeom prst="rect">
            <a:avLst/>
          </a:prstGeom>
          <a:noFill/>
          <a:ln/>
        </p:spPr>
        <p:txBody>
          <a:bodyPr wrap="square" lIns="0" tIns="0" rIns="0" bIns="0" rtlCol="0" anchor="ctr">
            <a:normAutofit/>
          </a:bodyPr>
          <a:lstStyle/>
          <a:p>
            <a:pPr marL="0" indent="0" algn="ctr">
              <a:buNone/>
            </a:pPr>
            <a:r>
              <a:rPr lang="en-US" sz="1300" b="1">
                <a:solidFill>
                  <a:srgbClr val="1769AA"/>
                </a:solidFill>
                <a:latin typeface="+mj-lt"/>
                <a:ea typeface="Arial" pitchFamily="34" charset="-122"/>
                <a:cs typeface="Arial" pitchFamily="34" charset="-120"/>
              </a:rPr>
              <a:t>Choose Order Type</a:t>
            </a:r>
            <a:endParaRPr lang="en-US" sz="1300">
              <a:latin typeface="+mj-lt"/>
            </a:endParaRPr>
          </a:p>
        </p:txBody>
      </p:sp>
      <p:sp>
        <p:nvSpPr>
          <p:cNvPr id="19" name="Text 11">
            <a:extLst>
              <a:ext uri="{FF2B5EF4-FFF2-40B4-BE49-F238E27FC236}">
                <a16:creationId xmlns:a16="http://schemas.microsoft.com/office/drawing/2014/main" id="{7761A3E4-092A-0769-5A30-E5FC73B0F735}"/>
              </a:ext>
            </a:extLst>
          </p:cNvPr>
          <p:cNvSpPr/>
          <p:nvPr/>
        </p:nvSpPr>
        <p:spPr>
          <a:xfrm>
            <a:off x="448198" y="2823394"/>
            <a:ext cx="1435608" cy="1143000"/>
          </a:xfrm>
          <a:prstGeom prst="rect">
            <a:avLst/>
          </a:prstGeom>
          <a:noFill/>
          <a:ln/>
        </p:spPr>
        <p:txBody>
          <a:bodyPr wrap="square" lIns="0" tIns="0" rIns="0" bIns="0" rtlCol="0" anchor="ctr">
            <a:normAutofit/>
          </a:bodyPr>
          <a:lstStyle/>
          <a:p>
            <a:pPr marL="0" indent="0" algn="ctr">
              <a:buNone/>
            </a:pPr>
            <a:r>
              <a:rPr lang="en-US" sz="1000">
                <a:solidFill>
                  <a:srgbClr val="1F2937"/>
                </a:solidFill>
                <a:latin typeface="+mj-lt"/>
                <a:ea typeface="Arial" pitchFamily="34" charset="-122"/>
                <a:cs typeface="Arial" pitchFamily="34" charset="-120"/>
              </a:rPr>
              <a:t>From Subscription Order Search, click New and select One-Time Order.</a:t>
            </a:r>
            <a:endParaRPr lang="en-US" sz="1000">
              <a:latin typeface="+mj-lt"/>
            </a:endParaRPr>
          </a:p>
        </p:txBody>
      </p:sp>
      <p:sp>
        <p:nvSpPr>
          <p:cNvPr id="20" name="Shape 12">
            <a:extLst>
              <a:ext uri="{FF2B5EF4-FFF2-40B4-BE49-F238E27FC236}">
                <a16:creationId xmlns:a16="http://schemas.microsoft.com/office/drawing/2014/main" id="{E7472C10-6ECF-5DFB-2975-303E925899BE}"/>
              </a:ext>
            </a:extLst>
          </p:cNvPr>
          <p:cNvSpPr/>
          <p:nvPr/>
        </p:nvSpPr>
        <p:spPr>
          <a:xfrm>
            <a:off x="2030110" y="2951410"/>
            <a:ext cx="137160" cy="210312"/>
          </a:xfrm>
          <a:prstGeom prst="chevron">
            <a:avLst/>
          </a:prstGeom>
          <a:solidFill>
            <a:srgbClr val="0F9FA8"/>
          </a:solidFill>
          <a:ln w="12700">
            <a:solidFill>
              <a:srgbClr val="0F9FA8"/>
            </a:solidFill>
            <a:prstDash val="solid"/>
          </a:ln>
        </p:spPr>
        <p:txBody>
          <a:bodyPr/>
          <a:lstStyle/>
          <a:p>
            <a:endParaRPr lang="zh-CN" altLang="en-US">
              <a:latin typeface="+mj-lt"/>
            </a:endParaRPr>
          </a:p>
        </p:txBody>
      </p:sp>
      <p:sp>
        <p:nvSpPr>
          <p:cNvPr id="21" name="Shape 13">
            <a:extLst>
              <a:ext uri="{FF2B5EF4-FFF2-40B4-BE49-F238E27FC236}">
                <a16:creationId xmlns:a16="http://schemas.microsoft.com/office/drawing/2014/main" id="{2ED1236E-0669-FDEC-3531-BFDB6CDEC727}"/>
              </a:ext>
            </a:extLst>
          </p:cNvPr>
          <p:cNvSpPr/>
          <p:nvPr/>
        </p:nvSpPr>
        <p:spPr>
          <a:xfrm>
            <a:off x="2761630" y="1698682"/>
            <a:ext cx="475488" cy="475488"/>
          </a:xfrm>
          <a:prstGeom prst="ellipse">
            <a:avLst/>
          </a:prstGeom>
          <a:solidFill>
            <a:srgbClr val="0F9FA8"/>
          </a:solidFill>
          <a:ln w="12700">
            <a:solidFill>
              <a:srgbClr val="FFFFFF"/>
            </a:solidFill>
            <a:prstDash val="solid"/>
          </a:ln>
          <a:effectLst>
            <a:outerShdw blurRad="15240" dist="5080" dir="2700000" algn="bl" rotWithShape="0">
              <a:srgbClr val="000000">
                <a:alpha val="15000"/>
              </a:srgbClr>
            </a:outerShdw>
          </a:effectLst>
        </p:spPr>
        <p:txBody>
          <a:bodyPr/>
          <a:lstStyle/>
          <a:p>
            <a:endParaRPr lang="zh-CN" altLang="en-US">
              <a:latin typeface="+mj-lt"/>
            </a:endParaRPr>
          </a:p>
        </p:txBody>
      </p:sp>
      <p:sp>
        <p:nvSpPr>
          <p:cNvPr id="22" name="Text 14">
            <a:extLst>
              <a:ext uri="{FF2B5EF4-FFF2-40B4-BE49-F238E27FC236}">
                <a16:creationId xmlns:a16="http://schemas.microsoft.com/office/drawing/2014/main" id="{CD5DC8F6-99B2-2F79-0C96-67002FEE4F5C}"/>
              </a:ext>
            </a:extLst>
          </p:cNvPr>
          <p:cNvSpPr/>
          <p:nvPr/>
        </p:nvSpPr>
        <p:spPr>
          <a:xfrm>
            <a:off x="2761630" y="1726114"/>
            <a:ext cx="475488" cy="44805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mj-lt"/>
                <a:ea typeface="Arial" pitchFamily="34" charset="-122"/>
                <a:cs typeface="Arial" pitchFamily="34" charset="-120"/>
              </a:rPr>
              <a:t>2</a:t>
            </a:r>
            <a:endParaRPr lang="en-US" sz="2000">
              <a:latin typeface="+mj-lt"/>
            </a:endParaRPr>
          </a:p>
        </p:txBody>
      </p:sp>
      <p:sp>
        <p:nvSpPr>
          <p:cNvPr id="23" name="Shape 15">
            <a:extLst>
              <a:ext uri="{FF2B5EF4-FFF2-40B4-BE49-F238E27FC236}">
                <a16:creationId xmlns:a16="http://schemas.microsoft.com/office/drawing/2014/main" id="{DA078122-798A-2247-97A0-488C4DE35E0D}"/>
              </a:ext>
            </a:extLst>
          </p:cNvPr>
          <p:cNvSpPr/>
          <p:nvPr/>
        </p:nvSpPr>
        <p:spPr>
          <a:xfrm>
            <a:off x="2240422" y="2238178"/>
            <a:ext cx="1691640" cy="1965960"/>
          </a:xfrm>
          <a:prstGeom prst="roundRect">
            <a:avLst>
              <a:gd name="adj" fmla="val 6486"/>
            </a:avLst>
          </a:prstGeom>
          <a:solidFill>
            <a:srgbClr val="FFFFFF"/>
          </a:solidFill>
          <a:ln w="12700">
            <a:solidFill>
              <a:srgbClr val="0F9FA8"/>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24" name="Text 16">
            <a:extLst>
              <a:ext uri="{FF2B5EF4-FFF2-40B4-BE49-F238E27FC236}">
                <a16:creationId xmlns:a16="http://schemas.microsoft.com/office/drawing/2014/main" id="{1BFB0E7F-F7C9-0F32-1210-6966EA1426E4}"/>
              </a:ext>
            </a:extLst>
          </p:cNvPr>
          <p:cNvSpPr/>
          <p:nvPr/>
        </p:nvSpPr>
        <p:spPr>
          <a:xfrm>
            <a:off x="2350150" y="2411914"/>
            <a:ext cx="1472184" cy="310896"/>
          </a:xfrm>
          <a:prstGeom prst="rect">
            <a:avLst/>
          </a:prstGeom>
          <a:noFill/>
          <a:ln/>
        </p:spPr>
        <p:txBody>
          <a:bodyPr wrap="square" lIns="0" tIns="0" rIns="0" bIns="0" rtlCol="0" anchor="ctr">
            <a:normAutofit/>
          </a:bodyPr>
          <a:lstStyle/>
          <a:p>
            <a:pPr marL="0" indent="0" algn="ctr">
              <a:buNone/>
            </a:pPr>
            <a:r>
              <a:rPr lang="en-US" sz="1300" b="1">
                <a:solidFill>
                  <a:srgbClr val="0F9FA8"/>
                </a:solidFill>
                <a:latin typeface="+mj-lt"/>
                <a:ea typeface="Arial" pitchFamily="34" charset="-122"/>
                <a:cs typeface="Arial" pitchFamily="34" charset="-120"/>
              </a:rPr>
              <a:t>Complete Header</a:t>
            </a:r>
            <a:endParaRPr lang="en-US" sz="1300">
              <a:latin typeface="+mj-lt"/>
            </a:endParaRPr>
          </a:p>
        </p:txBody>
      </p:sp>
      <p:sp>
        <p:nvSpPr>
          <p:cNvPr id="25" name="Text 17">
            <a:extLst>
              <a:ext uri="{FF2B5EF4-FFF2-40B4-BE49-F238E27FC236}">
                <a16:creationId xmlns:a16="http://schemas.microsoft.com/office/drawing/2014/main" id="{9F9ABD4F-AFE5-0CB9-8505-71B4540068BA}"/>
              </a:ext>
            </a:extLst>
          </p:cNvPr>
          <p:cNvSpPr/>
          <p:nvPr/>
        </p:nvSpPr>
        <p:spPr>
          <a:xfrm>
            <a:off x="2368438" y="2823394"/>
            <a:ext cx="1435608" cy="1143000"/>
          </a:xfrm>
          <a:prstGeom prst="rect">
            <a:avLst/>
          </a:prstGeom>
          <a:noFill/>
          <a:ln/>
        </p:spPr>
        <p:txBody>
          <a:bodyPr wrap="square" lIns="0" tIns="0" rIns="0" bIns="0" rtlCol="0" anchor="ctr">
            <a:normAutofit/>
          </a:bodyPr>
          <a:lstStyle/>
          <a:p>
            <a:pPr marL="0" indent="0" algn="ctr">
              <a:buNone/>
            </a:pPr>
            <a:r>
              <a:rPr lang="en-US" sz="1000">
                <a:solidFill>
                  <a:srgbClr val="1F2937"/>
                </a:solidFill>
                <a:latin typeface="+mj-lt"/>
                <a:ea typeface="Arial" pitchFamily="34" charset="-122"/>
                <a:cs typeface="Arial" pitchFamily="34" charset="-120"/>
              </a:rPr>
              <a:t>Enter required header data and select the </a:t>
            </a:r>
            <a:r>
              <a:rPr lang="en-US" sz="1000" b="1">
                <a:solidFill>
                  <a:srgbClr val="1F2937"/>
                </a:solidFill>
                <a:latin typeface="+mj-lt"/>
                <a:ea typeface="Arial" pitchFamily="34" charset="-122"/>
                <a:cs typeface="Arial" pitchFamily="34" charset="-120"/>
              </a:rPr>
              <a:t>Billing Request Reason</a:t>
            </a:r>
            <a:r>
              <a:rPr lang="en-US" sz="1000">
                <a:solidFill>
                  <a:srgbClr val="1F2937"/>
                </a:solidFill>
                <a:latin typeface="+mj-lt"/>
                <a:ea typeface="Arial" pitchFamily="34" charset="-122"/>
                <a:cs typeface="Arial" pitchFamily="34" charset="-120"/>
              </a:rPr>
              <a:t>.</a:t>
            </a:r>
            <a:endParaRPr lang="en-US" sz="1000">
              <a:latin typeface="+mj-lt"/>
            </a:endParaRPr>
          </a:p>
        </p:txBody>
      </p:sp>
      <p:sp>
        <p:nvSpPr>
          <p:cNvPr id="26" name="Shape 18">
            <a:extLst>
              <a:ext uri="{FF2B5EF4-FFF2-40B4-BE49-F238E27FC236}">
                <a16:creationId xmlns:a16="http://schemas.microsoft.com/office/drawing/2014/main" id="{6ADFB39E-3FCB-E763-17F5-90C13F1FCB85}"/>
              </a:ext>
            </a:extLst>
          </p:cNvPr>
          <p:cNvSpPr/>
          <p:nvPr/>
        </p:nvSpPr>
        <p:spPr>
          <a:xfrm>
            <a:off x="3950350" y="2951410"/>
            <a:ext cx="137160" cy="210312"/>
          </a:xfrm>
          <a:prstGeom prst="chevron">
            <a:avLst/>
          </a:prstGeom>
          <a:solidFill>
            <a:srgbClr val="6BAA45"/>
          </a:solidFill>
          <a:ln w="12700">
            <a:solidFill>
              <a:srgbClr val="6BAA45"/>
            </a:solidFill>
            <a:prstDash val="solid"/>
          </a:ln>
        </p:spPr>
        <p:txBody>
          <a:bodyPr/>
          <a:lstStyle/>
          <a:p>
            <a:endParaRPr lang="zh-CN" altLang="en-US">
              <a:latin typeface="+mj-lt"/>
            </a:endParaRPr>
          </a:p>
        </p:txBody>
      </p:sp>
      <p:sp>
        <p:nvSpPr>
          <p:cNvPr id="28" name="Shape 19">
            <a:extLst>
              <a:ext uri="{FF2B5EF4-FFF2-40B4-BE49-F238E27FC236}">
                <a16:creationId xmlns:a16="http://schemas.microsoft.com/office/drawing/2014/main" id="{28E241EA-4BA7-A7E1-87F8-DE7C6F7BB405}"/>
              </a:ext>
            </a:extLst>
          </p:cNvPr>
          <p:cNvSpPr/>
          <p:nvPr/>
        </p:nvSpPr>
        <p:spPr>
          <a:xfrm>
            <a:off x="4681870" y="1698682"/>
            <a:ext cx="475488" cy="475488"/>
          </a:xfrm>
          <a:prstGeom prst="ellipse">
            <a:avLst/>
          </a:prstGeom>
          <a:solidFill>
            <a:srgbClr val="6BAA45"/>
          </a:solidFill>
          <a:ln w="12700">
            <a:solidFill>
              <a:srgbClr val="FFFFFF"/>
            </a:solidFill>
            <a:prstDash val="solid"/>
          </a:ln>
          <a:effectLst>
            <a:outerShdw blurRad="15240" dist="5080" dir="2700000" algn="bl" rotWithShape="0">
              <a:srgbClr val="000000">
                <a:alpha val="15000"/>
              </a:srgbClr>
            </a:outerShdw>
          </a:effectLst>
        </p:spPr>
        <p:txBody>
          <a:bodyPr/>
          <a:lstStyle/>
          <a:p>
            <a:endParaRPr lang="zh-CN" altLang="en-US">
              <a:latin typeface="+mj-lt"/>
            </a:endParaRPr>
          </a:p>
        </p:txBody>
      </p:sp>
      <p:sp>
        <p:nvSpPr>
          <p:cNvPr id="29" name="Text 20">
            <a:extLst>
              <a:ext uri="{FF2B5EF4-FFF2-40B4-BE49-F238E27FC236}">
                <a16:creationId xmlns:a16="http://schemas.microsoft.com/office/drawing/2014/main" id="{4E7A0170-9594-5246-C9AD-2B721AD44B3D}"/>
              </a:ext>
            </a:extLst>
          </p:cNvPr>
          <p:cNvSpPr/>
          <p:nvPr/>
        </p:nvSpPr>
        <p:spPr>
          <a:xfrm>
            <a:off x="4681870" y="1726114"/>
            <a:ext cx="475488" cy="44805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mj-lt"/>
                <a:ea typeface="Arial" pitchFamily="34" charset="-122"/>
                <a:cs typeface="Arial" pitchFamily="34" charset="-120"/>
              </a:rPr>
              <a:t>3</a:t>
            </a:r>
            <a:endParaRPr lang="en-US" sz="2000">
              <a:latin typeface="+mj-lt"/>
            </a:endParaRPr>
          </a:p>
        </p:txBody>
      </p:sp>
      <p:sp>
        <p:nvSpPr>
          <p:cNvPr id="30" name="Shape 21">
            <a:extLst>
              <a:ext uri="{FF2B5EF4-FFF2-40B4-BE49-F238E27FC236}">
                <a16:creationId xmlns:a16="http://schemas.microsoft.com/office/drawing/2014/main" id="{0EBE64DD-E156-F925-B595-871E3144F03D}"/>
              </a:ext>
            </a:extLst>
          </p:cNvPr>
          <p:cNvSpPr/>
          <p:nvPr/>
        </p:nvSpPr>
        <p:spPr>
          <a:xfrm>
            <a:off x="4160662" y="2238178"/>
            <a:ext cx="1691640" cy="1965960"/>
          </a:xfrm>
          <a:prstGeom prst="roundRect">
            <a:avLst>
              <a:gd name="adj" fmla="val 6486"/>
            </a:avLst>
          </a:prstGeom>
          <a:solidFill>
            <a:srgbClr val="FFFFFF"/>
          </a:solidFill>
          <a:ln w="12700">
            <a:solidFill>
              <a:srgbClr val="6BAA45"/>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31" name="Text 22">
            <a:extLst>
              <a:ext uri="{FF2B5EF4-FFF2-40B4-BE49-F238E27FC236}">
                <a16:creationId xmlns:a16="http://schemas.microsoft.com/office/drawing/2014/main" id="{1FF44177-0CA2-148F-F311-E8360C91E816}"/>
              </a:ext>
            </a:extLst>
          </p:cNvPr>
          <p:cNvSpPr/>
          <p:nvPr/>
        </p:nvSpPr>
        <p:spPr>
          <a:xfrm>
            <a:off x="4270390" y="2411914"/>
            <a:ext cx="1472184" cy="310896"/>
          </a:xfrm>
          <a:prstGeom prst="rect">
            <a:avLst/>
          </a:prstGeom>
          <a:noFill/>
          <a:ln/>
        </p:spPr>
        <p:txBody>
          <a:bodyPr wrap="square" lIns="0" tIns="0" rIns="0" bIns="0" rtlCol="0" anchor="ctr">
            <a:normAutofit/>
          </a:bodyPr>
          <a:lstStyle/>
          <a:p>
            <a:pPr marL="0" indent="0" algn="ctr">
              <a:buNone/>
            </a:pPr>
            <a:r>
              <a:rPr lang="en-US" sz="1300" b="1">
                <a:solidFill>
                  <a:srgbClr val="6BAA45"/>
                </a:solidFill>
                <a:latin typeface="+mj-lt"/>
                <a:ea typeface="Arial" pitchFamily="34" charset="-122"/>
                <a:cs typeface="Arial" pitchFamily="34" charset="-120"/>
              </a:rPr>
              <a:t>Add Order Items</a:t>
            </a:r>
            <a:endParaRPr lang="en-US" sz="1300">
              <a:latin typeface="+mj-lt"/>
            </a:endParaRPr>
          </a:p>
        </p:txBody>
      </p:sp>
      <p:sp>
        <p:nvSpPr>
          <p:cNvPr id="32" name="Text 23">
            <a:extLst>
              <a:ext uri="{FF2B5EF4-FFF2-40B4-BE49-F238E27FC236}">
                <a16:creationId xmlns:a16="http://schemas.microsoft.com/office/drawing/2014/main" id="{5FEDF244-26BB-464E-5470-B59676AA770D}"/>
              </a:ext>
            </a:extLst>
          </p:cNvPr>
          <p:cNvSpPr/>
          <p:nvPr/>
        </p:nvSpPr>
        <p:spPr>
          <a:xfrm>
            <a:off x="4288678" y="2823394"/>
            <a:ext cx="1435608" cy="1143000"/>
          </a:xfrm>
          <a:prstGeom prst="rect">
            <a:avLst/>
          </a:prstGeom>
          <a:noFill/>
          <a:ln/>
        </p:spPr>
        <p:txBody>
          <a:bodyPr wrap="square" lIns="0" tIns="0" rIns="0" bIns="0" rtlCol="0" anchor="ctr">
            <a:normAutofit/>
          </a:bodyPr>
          <a:lstStyle/>
          <a:p>
            <a:pPr marL="0" indent="0" algn="ctr">
              <a:buNone/>
            </a:pPr>
            <a:r>
              <a:rPr lang="en-US" sz="1000">
                <a:solidFill>
                  <a:srgbClr val="1F2937"/>
                </a:solidFill>
                <a:latin typeface="+mj-lt"/>
                <a:ea typeface="Arial" pitchFamily="34" charset="-122"/>
                <a:cs typeface="Arial" pitchFamily="34" charset="-120"/>
              </a:rPr>
              <a:t>Enter Product, Quantity and One-Time Price. </a:t>
            </a:r>
          </a:p>
          <a:p>
            <a:pPr algn="ctr"/>
            <a:r>
              <a:rPr lang="en-US" sz="1000">
                <a:solidFill>
                  <a:srgbClr val="1F2937"/>
                </a:solidFill>
                <a:latin typeface="+mj-lt"/>
                <a:ea typeface="Arial" pitchFamily="34" charset="-122"/>
                <a:cs typeface="Arial" pitchFamily="34" charset="-120"/>
              </a:rPr>
              <a:t>Enter lease type for selected </a:t>
            </a:r>
            <a:r>
              <a:rPr lang="en-US" altLang="zh-CN" sz="1000"/>
              <a:t>Billing Request Reasons</a:t>
            </a:r>
            <a:r>
              <a:rPr lang="en-US" sz="1000">
                <a:solidFill>
                  <a:srgbClr val="1F2937"/>
                </a:solidFill>
                <a:latin typeface="+mj-lt"/>
                <a:ea typeface="Arial" pitchFamily="34" charset="-122"/>
                <a:cs typeface="Arial" pitchFamily="34" charset="-120"/>
              </a:rPr>
              <a:t>.</a:t>
            </a:r>
          </a:p>
          <a:p>
            <a:pPr marL="0" indent="0" algn="ctr">
              <a:buNone/>
            </a:pPr>
            <a:r>
              <a:rPr lang="en-US" sz="1000">
                <a:solidFill>
                  <a:srgbClr val="1F2937"/>
                </a:solidFill>
                <a:latin typeface="+mj-lt"/>
                <a:ea typeface="Arial" pitchFamily="34" charset="-122"/>
                <a:cs typeface="Arial" pitchFamily="34" charset="-120"/>
              </a:rPr>
              <a:t>Review auto-derived fields.</a:t>
            </a:r>
            <a:endParaRPr lang="en-US" sz="1000">
              <a:latin typeface="+mj-lt"/>
            </a:endParaRPr>
          </a:p>
        </p:txBody>
      </p:sp>
      <p:sp>
        <p:nvSpPr>
          <p:cNvPr id="33" name="Shape 24">
            <a:extLst>
              <a:ext uri="{FF2B5EF4-FFF2-40B4-BE49-F238E27FC236}">
                <a16:creationId xmlns:a16="http://schemas.microsoft.com/office/drawing/2014/main" id="{56D9C2A5-07E0-3A0C-ADDA-8C3802EA673E}"/>
              </a:ext>
            </a:extLst>
          </p:cNvPr>
          <p:cNvSpPr/>
          <p:nvPr/>
        </p:nvSpPr>
        <p:spPr>
          <a:xfrm>
            <a:off x="5870590" y="2951410"/>
            <a:ext cx="137160" cy="210312"/>
          </a:xfrm>
          <a:prstGeom prst="chevron">
            <a:avLst/>
          </a:prstGeom>
          <a:solidFill>
            <a:srgbClr val="6F42C1"/>
          </a:solidFill>
          <a:ln w="12700">
            <a:solidFill>
              <a:srgbClr val="6F42C1"/>
            </a:solidFill>
            <a:prstDash val="solid"/>
          </a:ln>
        </p:spPr>
        <p:txBody>
          <a:bodyPr/>
          <a:lstStyle/>
          <a:p>
            <a:endParaRPr lang="zh-CN" altLang="en-US">
              <a:latin typeface="+mj-lt"/>
            </a:endParaRPr>
          </a:p>
        </p:txBody>
      </p:sp>
      <p:sp>
        <p:nvSpPr>
          <p:cNvPr id="35" name="Shape 25">
            <a:extLst>
              <a:ext uri="{FF2B5EF4-FFF2-40B4-BE49-F238E27FC236}">
                <a16:creationId xmlns:a16="http://schemas.microsoft.com/office/drawing/2014/main" id="{26AB3984-B123-86B9-D31C-48E9CF4CA1AB}"/>
              </a:ext>
            </a:extLst>
          </p:cNvPr>
          <p:cNvSpPr/>
          <p:nvPr/>
        </p:nvSpPr>
        <p:spPr>
          <a:xfrm>
            <a:off x="6602110" y="1698682"/>
            <a:ext cx="475488" cy="475488"/>
          </a:xfrm>
          <a:prstGeom prst="ellipse">
            <a:avLst/>
          </a:prstGeom>
          <a:solidFill>
            <a:srgbClr val="6F42C1"/>
          </a:solidFill>
          <a:ln w="12700">
            <a:solidFill>
              <a:srgbClr val="FFFFFF"/>
            </a:solidFill>
            <a:prstDash val="solid"/>
          </a:ln>
          <a:effectLst>
            <a:outerShdw blurRad="15240" dist="5080" dir="2700000" algn="bl" rotWithShape="0">
              <a:srgbClr val="000000">
                <a:alpha val="15000"/>
              </a:srgbClr>
            </a:outerShdw>
          </a:effectLst>
        </p:spPr>
        <p:txBody>
          <a:bodyPr/>
          <a:lstStyle/>
          <a:p>
            <a:endParaRPr lang="zh-CN" altLang="en-US">
              <a:latin typeface="+mj-lt"/>
            </a:endParaRPr>
          </a:p>
        </p:txBody>
      </p:sp>
      <p:sp>
        <p:nvSpPr>
          <p:cNvPr id="36" name="Text 26">
            <a:extLst>
              <a:ext uri="{FF2B5EF4-FFF2-40B4-BE49-F238E27FC236}">
                <a16:creationId xmlns:a16="http://schemas.microsoft.com/office/drawing/2014/main" id="{B4ED2895-B089-CA78-62C9-F2883B7D6D67}"/>
              </a:ext>
            </a:extLst>
          </p:cNvPr>
          <p:cNvSpPr/>
          <p:nvPr/>
        </p:nvSpPr>
        <p:spPr>
          <a:xfrm>
            <a:off x="6602110" y="1726114"/>
            <a:ext cx="475488" cy="44805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mj-lt"/>
                <a:ea typeface="Arial" pitchFamily="34" charset="-122"/>
                <a:cs typeface="Arial" pitchFamily="34" charset="-120"/>
              </a:rPr>
              <a:t>4</a:t>
            </a:r>
            <a:endParaRPr lang="en-US" sz="2000">
              <a:latin typeface="+mj-lt"/>
            </a:endParaRPr>
          </a:p>
        </p:txBody>
      </p:sp>
      <p:sp>
        <p:nvSpPr>
          <p:cNvPr id="37" name="Shape 27">
            <a:extLst>
              <a:ext uri="{FF2B5EF4-FFF2-40B4-BE49-F238E27FC236}">
                <a16:creationId xmlns:a16="http://schemas.microsoft.com/office/drawing/2014/main" id="{2D10EE0C-993C-6E0F-BCB3-CB492D85E6FE}"/>
              </a:ext>
            </a:extLst>
          </p:cNvPr>
          <p:cNvSpPr/>
          <p:nvPr/>
        </p:nvSpPr>
        <p:spPr>
          <a:xfrm>
            <a:off x="6080902" y="2238178"/>
            <a:ext cx="1691640" cy="1965960"/>
          </a:xfrm>
          <a:prstGeom prst="roundRect">
            <a:avLst>
              <a:gd name="adj" fmla="val 6486"/>
            </a:avLst>
          </a:prstGeom>
          <a:solidFill>
            <a:srgbClr val="FFFFFF"/>
          </a:solidFill>
          <a:ln w="12700">
            <a:solidFill>
              <a:srgbClr val="6F42C1"/>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38" name="Text 28">
            <a:extLst>
              <a:ext uri="{FF2B5EF4-FFF2-40B4-BE49-F238E27FC236}">
                <a16:creationId xmlns:a16="http://schemas.microsoft.com/office/drawing/2014/main" id="{4BB59CC5-EE9A-9E2E-D646-AA126BD1CE9B}"/>
              </a:ext>
            </a:extLst>
          </p:cNvPr>
          <p:cNvSpPr/>
          <p:nvPr/>
        </p:nvSpPr>
        <p:spPr>
          <a:xfrm>
            <a:off x="6190630" y="2411914"/>
            <a:ext cx="1472184" cy="310896"/>
          </a:xfrm>
          <a:prstGeom prst="rect">
            <a:avLst/>
          </a:prstGeom>
          <a:noFill/>
          <a:ln/>
        </p:spPr>
        <p:txBody>
          <a:bodyPr wrap="square" lIns="0" tIns="0" rIns="0" bIns="0" rtlCol="0" anchor="ctr">
            <a:normAutofit/>
          </a:bodyPr>
          <a:lstStyle/>
          <a:p>
            <a:pPr marL="0" indent="0" algn="ctr">
              <a:buNone/>
            </a:pPr>
            <a:r>
              <a:rPr lang="en-US" sz="1300" b="1">
                <a:solidFill>
                  <a:srgbClr val="6F42C1"/>
                </a:solidFill>
                <a:latin typeface="+mj-lt"/>
                <a:ea typeface="Arial" pitchFamily="34" charset="-122"/>
                <a:cs typeface="Arial" pitchFamily="34" charset="-120"/>
              </a:rPr>
              <a:t>Review</a:t>
            </a:r>
            <a:endParaRPr lang="en-US" sz="1300">
              <a:latin typeface="+mj-lt"/>
            </a:endParaRPr>
          </a:p>
        </p:txBody>
      </p:sp>
      <p:sp>
        <p:nvSpPr>
          <p:cNvPr id="39" name="Text 29">
            <a:extLst>
              <a:ext uri="{FF2B5EF4-FFF2-40B4-BE49-F238E27FC236}">
                <a16:creationId xmlns:a16="http://schemas.microsoft.com/office/drawing/2014/main" id="{0FADA395-5A4B-1943-69AC-A184010AD9B1}"/>
              </a:ext>
            </a:extLst>
          </p:cNvPr>
          <p:cNvSpPr/>
          <p:nvPr/>
        </p:nvSpPr>
        <p:spPr>
          <a:xfrm>
            <a:off x="6208918" y="2823394"/>
            <a:ext cx="1435608" cy="1143000"/>
          </a:xfrm>
          <a:prstGeom prst="rect">
            <a:avLst/>
          </a:prstGeom>
          <a:noFill/>
          <a:ln/>
        </p:spPr>
        <p:txBody>
          <a:bodyPr wrap="square" lIns="0" tIns="0" rIns="0" bIns="0" rtlCol="0" anchor="ctr">
            <a:normAutofit/>
          </a:bodyPr>
          <a:lstStyle/>
          <a:p>
            <a:pPr marL="0" indent="0" algn="ctr">
              <a:buNone/>
            </a:pPr>
            <a:r>
              <a:rPr lang="en-US" sz="1000">
                <a:solidFill>
                  <a:srgbClr val="1F2937"/>
                </a:solidFill>
                <a:latin typeface="+mj-lt"/>
                <a:ea typeface="Arial" pitchFamily="34" charset="-122"/>
                <a:cs typeface="Arial" pitchFamily="34" charset="-120"/>
              </a:rPr>
              <a:t>Review the complete order information before submission.</a:t>
            </a:r>
            <a:endParaRPr lang="en-US" sz="1000">
              <a:latin typeface="+mj-lt"/>
            </a:endParaRPr>
          </a:p>
        </p:txBody>
      </p:sp>
      <p:sp>
        <p:nvSpPr>
          <p:cNvPr id="40" name="Shape 30">
            <a:extLst>
              <a:ext uri="{FF2B5EF4-FFF2-40B4-BE49-F238E27FC236}">
                <a16:creationId xmlns:a16="http://schemas.microsoft.com/office/drawing/2014/main" id="{A32C6A99-7F22-C1C4-CE6F-23F4AC8A1484}"/>
              </a:ext>
            </a:extLst>
          </p:cNvPr>
          <p:cNvSpPr/>
          <p:nvPr/>
        </p:nvSpPr>
        <p:spPr>
          <a:xfrm>
            <a:off x="7790830" y="2951410"/>
            <a:ext cx="137160" cy="210312"/>
          </a:xfrm>
          <a:prstGeom prst="chevron">
            <a:avLst/>
          </a:prstGeom>
          <a:solidFill>
            <a:srgbClr val="F28C28"/>
          </a:solidFill>
          <a:ln w="12700">
            <a:solidFill>
              <a:srgbClr val="F28C28"/>
            </a:solidFill>
            <a:prstDash val="solid"/>
          </a:ln>
        </p:spPr>
        <p:txBody>
          <a:bodyPr/>
          <a:lstStyle/>
          <a:p>
            <a:endParaRPr lang="zh-CN" altLang="en-US">
              <a:latin typeface="+mj-lt"/>
            </a:endParaRPr>
          </a:p>
        </p:txBody>
      </p:sp>
      <p:sp>
        <p:nvSpPr>
          <p:cNvPr id="41" name="Shape 31">
            <a:extLst>
              <a:ext uri="{FF2B5EF4-FFF2-40B4-BE49-F238E27FC236}">
                <a16:creationId xmlns:a16="http://schemas.microsoft.com/office/drawing/2014/main" id="{7B32D0D0-D9E6-CA4D-9CB9-163751B84943}"/>
              </a:ext>
            </a:extLst>
          </p:cNvPr>
          <p:cNvSpPr/>
          <p:nvPr/>
        </p:nvSpPr>
        <p:spPr>
          <a:xfrm>
            <a:off x="8522350" y="1698682"/>
            <a:ext cx="475488" cy="475488"/>
          </a:xfrm>
          <a:prstGeom prst="ellipse">
            <a:avLst/>
          </a:prstGeom>
          <a:solidFill>
            <a:srgbClr val="F28C28"/>
          </a:solidFill>
          <a:ln w="12700">
            <a:solidFill>
              <a:srgbClr val="FFFFFF"/>
            </a:solidFill>
            <a:prstDash val="solid"/>
          </a:ln>
          <a:effectLst>
            <a:outerShdw blurRad="15240" dist="5080" dir="2700000" algn="bl" rotWithShape="0">
              <a:srgbClr val="000000">
                <a:alpha val="15000"/>
              </a:srgbClr>
            </a:outerShdw>
          </a:effectLst>
        </p:spPr>
        <p:txBody>
          <a:bodyPr/>
          <a:lstStyle/>
          <a:p>
            <a:endParaRPr lang="zh-CN" altLang="en-US">
              <a:latin typeface="+mj-lt"/>
            </a:endParaRPr>
          </a:p>
        </p:txBody>
      </p:sp>
      <p:sp>
        <p:nvSpPr>
          <p:cNvPr id="42" name="Text 32">
            <a:extLst>
              <a:ext uri="{FF2B5EF4-FFF2-40B4-BE49-F238E27FC236}">
                <a16:creationId xmlns:a16="http://schemas.microsoft.com/office/drawing/2014/main" id="{D07CF052-A968-7379-D593-B5F756C61EC2}"/>
              </a:ext>
            </a:extLst>
          </p:cNvPr>
          <p:cNvSpPr/>
          <p:nvPr/>
        </p:nvSpPr>
        <p:spPr>
          <a:xfrm>
            <a:off x="8522350" y="1726114"/>
            <a:ext cx="475488" cy="44805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mj-lt"/>
                <a:ea typeface="Arial" pitchFamily="34" charset="-122"/>
                <a:cs typeface="Arial" pitchFamily="34" charset="-120"/>
              </a:rPr>
              <a:t>5</a:t>
            </a:r>
            <a:endParaRPr lang="en-US" sz="2000">
              <a:latin typeface="+mj-lt"/>
            </a:endParaRPr>
          </a:p>
        </p:txBody>
      </p:sp>
      <p:sp>
        <p:nvSpPr>
          <p:cNvPr id="43" name="Shape 33">
            <a:extLst>
              <a:ext uri="{FF2B5EF4-FFF2-40B4-BE49-F238E27FC236}">
                <a16:creationId xmlns:a16="http://schemas.microsoft.com/office/drawing/2014/main" id="{5C240A97-5C55-B43A-43D1-048BECF3725D}"/>
              </a:ext>
            </a:extLst>
          </p:cNvPr>
          <p:cNvSpPr/>
          <p:nvPr/>
        </p:nvSpPr>
        <p:spPr>
          <a:xfrm>
            <a:off x="8001142" y="2238178"/>
            <a:ext cx="1691640" cy="1965960"/>
          </a:xfrm>
          <a:prstGeom prst="roundRect">
            <a:avLst>
              <a:gd name="adj" fmla="val 6486"/>
            </a:avLst>
          </a:prstGeom>
          <a:solidFill>
            <a:srgbClr val="FFFFFF"/>
          </a:solidFill>
          <a:ln w="12700">
            <a:solidFill>
              <a:srgbClr val="F28C28"/>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44" name="Text 34">
            <a:extLst>
              <a:ext uri="{FF2B5EF4-FFF2-40B4-BE49-F238E27FC236}">
                <a16:creationId xmlns:a16="http://schemas.microsoft.com/office/drawing/2014/main" id="{1AB38568-9763-6375-2160-DEB63A97F085}"/>
              </a:ext>
            </a:extLst>
          </p:cNvPr>
          <p:cNvSpPr/>
          <p:nvPr/>
        </p:nvSpPr>
        <p:spPr>
          <a:xfrm>
            <a:off x="8110870" y="2411914"/>
            <a:ext cx="1472184" cy="310896"/>
          </a:xfrm>
          <a:prstGeom prst="rect">
            <a:avLst/>
          </a:prstGeom>
          <a:noFill/>
          <a:ln/>
        </p:spPr>
        <p:txBody>
          <a:bodyPr wrap="square" lIns="0" tIns="0" rIns="0" bIns="0" rtlCol="0" anchor="ctr">
            <a:normAutofit/>
          </a:bodyPr>
          <a:lstStyle/>
          <a:p>
            <a:pPr marL="0" indent="0" algn="ctr">
              <a:buNone/>
            </a:pPr>
            <a:r>
              <a:rPr lang="en-US" sz="1300" b="1">
                <a:solidFill>
                  <a:srgbClr val="F28C28"/>
                </a:solidFill>
                <a:latin typeface="+mj-lt"/>
                <a:ea typeface="Arial" pitchFamily="34" charset="-122"/>
                <a:cs typeface="Arial" pitchFamily="34" charset="-120"/>
              </a:rPr>
              <a:t>Submit Order</a:t>
            </a:r>
            <a:endParaRPr lang="en-US" sz="1300">
              <a:latin typeface="+mj-lt"/>
            </a:endParaRPr>
          </a:p>
        </p:txBody>
      </p:sp>
      <p:sp>
        <p:nvSpPr>
          <p:cNvPr id="45" name="Text 35">
            <a:extLst>
              <a:ext uri="{FF2B5EF4-FFF2-40B4-BE49-F238E27FC236}">
                <a16:creationId xmlns:a16="http://schemas.microsoft.com/office/drawing/2014/main" id="{3BAC8EAF-FD7C-3666-3E05-B45D00E9B43D}"/>
              </a:ext>
            </a:extLst>
          </p:cNvPr>
          <p:cNvSpPr/>
          <p:nvPr/>
        </p:nvSpPr>
        <p:spPr>
          <a:xfrm>
            <a:off x="8129158" y="2823394"/>
            <a:ext cx="1435608" cy="1143000"/>
          </a:xfrm>
          <a:prstGeom prst="rect">
            <a:avLst/>
          </a:prstGeom>
          <a:noFill/>
          <a:ln/>
        </p:spPr>
        <p:txBody>
          <a:bodyPr wrap="square" lIns="0" tIns="0" rIns="0" bIns="0" rtlCol="0" anchor="ctr">
            <a:normAutofit/>
          </a:bodyPr>
          <a:lstStyle/>
          <a:p>
            <a:pPr marL="0" indent="0" algn="ctr">
              <a:buNone/>
            </a:pPr>
            <a:r>
              <a:rPr lang="en-US" sz="1000">
                <a:solidFill>
                  <a:srgbClr val="1F2937"/>
                </a:solidFill>
                <a:latin typeface="+mj-lt"/>
                <a:ea typeface="Arial" pitchFamily="34" charset="-122"/>
                <a:cs typeface="Arial" pitchFamily="34" charset="-120"/>
              </a:rPr>
              <a:t>Submit the order. </a:t>
            </a:r>
            <a:r>
              <a:rPr lang="en-US" sz="1000" err="1">
                <a:solidFill>
                  <a:srgbClr val="1F2937"/>
                </a:solidFill>
                <a:latin typeface="+mj-lt"/>
                <a:ea typeface="Arial" pitchFamily="34" charset="-122"/>
                <a:cs typeface="Arial" pitchFamily="34" charset="-120"/>
              </a:rPr>
              <a:t>NexBill</a:t>
            </a:r>
            <a:r>
              <a:rPr lang="en-US" sz="1000">
                <a:solidFill>
                  <a:srgbClr val="1F2937"/>
                </a:solidFill>
                <a:latin typeface="+mj-lt"/>
                <a:ea typeface="Arial" pitchFamily="34" charset="-122"/>
                <a:cs typeface="Arial" pitchFamily="34" charset="-120"/>
              </a:rPr>
              <a:t> validates the data and creates the order.</a:t>
            </a:r>
            <a:endParaRPr lang="en-US" sz="1000">
              <a:latin typeface="+mj-lt"/>
            </a:endParaRPr>
          </a:p>
        </p:txBody>
      </p:sp>
      <p:sp>
        <p:nvSpPr>
          <p:cNvPr id="46" name="Shape 36">
            <a:extLst>
              <a:ext uri="{FF2B5EF4-FFF2-40B4-BE49-F238E27FC236}">
                <a16:creationId xmlns:a16="http://schemas.microsoft.com/office/drawing/2014/main" id="{5A24390A-28A0-A7C0-7C0B-74B2F097D7B3}"/>
              </a:ext>
            </a:extLst>
          </p:cNvPr>
          <p:cNvSpPr/>
          <p:nvPr/>
        </p:nvSpPr>
        <p:spPr>
          <a:xfrm>
            <a:off x="9711070" y="2951410"/>
            <a:ext cx="137160" cy="210312"/>
          </a:xfrm>
          <a:prstGeom prst="chevron">
            <a:avLst/>
          </a:prstGeom>
          <a:solidFill>
            <a:srgbClr val="F2B400"/>
          </a:solidFill>
          <a:ln w="12700">
            <a:solidFill>
              <a:srgbClr val="F2B400"/>
            </a:solidFill>
            <a:prstDash val="solid"/>
          </a:ln>
        </p:spPr>
        <p:txBody>
          <a:bodyPr/>
          <a:lstStyle/>
          <a:p>
            <a:endParaRPr lang="zh-CN" altLang="en-US">
              <a:latin typeface="+mj-lt"/>
            </a:endParaRPr>
          </a:p>
        </p:txBody>
      </p:sp>
      <p:sp>
        <p:nvSpPr>
          <p:cNvPr id="47" name="Shape 37">
            <a:extLst>
              <a:ext uri="{FF2B5EF4-FFF2-40B4-BE49-F238E27FC236}">
                <a16:creationId xmlns:a16="http://schemas.microsoft.com/office/drawing/2014/main" id="{BFD52F06-24E0-F76C-9035-5DAA460F6BDD}"/>
              </a:ext>
            </a:extLst>
          </p:cNvPr>
          <p:cNvSpPr/>
          <p:nvPr/>
        </p:nvSpPr>
        <p:spPr>
          <a:xfrm>
            <a:off x="10442590" y="1698682"/>
            <a:ext cx="475488" cy="475488"/>
          </a:xfrm>
          <a:prstGeom prst="ellipse">
            <a:avLst/>
          </a:prstGeom>
          <a:solidFill>
            <a:srgbClr val="F2B400"/>
          </a:solidFill>
          <a:ln w="12700">
            <a:solidFill>
              <a:srgbClr val="FFFFFF"/>
            </a:solidFill>
            <a:prstDash val="solid"/>
          </a:ln>
          <a:effectLst>
            <a:outerShdw blurRad="15240" dist="5080" dir="2700000" algn="bl" rotWithShape="0">
              <a:srgbClr val="000000">
                <a:alpha val="15000"/>
              </a:srgbClr>
            </a:outerShdw>
          </a:effectLst>
        </p:spPr>
        <p:txBody>
          <a:bodyPr/>
          <a:lstStyle/>
          <a:p>
            <a:endParaRPr lang="zh-CN" altLang="en-US">
              <a:latin typeface="+mj-lt"/>
            </a:endParaRPr>
          </a:p>
        </p:txBody>
      </p:sp>
      <p:sp>
        <p:nvSpPr>
          <p:cNvPr id="48" name="Text 38">
            <a:extLst>
              <a:ext uri="{FF2B5EF4-FFF2-40B4-BE49-F238E27FC236}">
                <a16:creationId xmlns:a16="http://schemas.microsoft.com/office/drawing/2014/main" id="{B5A4CA79-B891-A5C4-FBF9-B70168A60D3B}"/>
              </a:ext>
            </a:extLst>
          </p:cNvPr>
          <p:cNvSpPr/>
          <p:nvPr/>
        </p:nvSpPr>
        <p:spPr>
          <a:xfrm>
            <a:off x="10442590" y="1726114"/>
            <a:ext cx="475488" cy="44805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mj-lt"/>
                <a:ea typeface="Arial" pitchFamily="34" charset="-122"/>
                <a:cs typeface="Arial" pitchFamily="34" charset="-120"/>
              </a:rPr>
              <a:t>6</a:t>
            </a:r>
            <a:endParaRPr lang="en-US" sz="2000">
              <a:latin typeface="+mj-lt"/>
            </a:endParaRPr>
          </a:p>
        </p:txBody>
      </p:sp>
      <p:sp>
        <p:nvSpPr>
          <p:cNvPr id="49" name="Shape 39">
            <a:extLst>
              <a:ext uri="{FF2B5EF4-FFF2-40B4-BE49-F238E27FC236}">
                <a16:creationId xmlns:a16="http://schemas.microsoft.com/office/drawing/2014/main" id="{2515559F-A313-7DB3-F2AB-618AC668842F}"/>
              </a:ext>
            </a:extLst>
          </p:cNvPr>
          <p:cNvSpPr/>
          <p:nvPr/>
        </p:nvSpPr>
        <p:spPr>
          <a:xfrm>
            <a:off x="9921382" y="2238178"/>
            <a:ext cx="1691640" cy="1965960"/>
          </a:xfrm>
          <a:prstGeom prst="roundRect">
            <a:avLst>
              <a:gd name="adj" fmla="val 6486"/>
            </a:avLst>
          </a:prstGeom>
          <a:solidFill>
            <a:srgbClr val="FFFFFF"/>
          </a:solidFill>
          <a:ln w="12700">
            <a:solidFill>
              <a:srgbClr val="F2B400"/>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50" name="Text 40">
            <a:extLst>
              <a:ext uri="{FF2B5EF4-FFF2-40B4-BE49-F238E27FC236}">
                <a16:creationId xmlns:a16="http://schemas.microsoft.com/office/drawing/2014/main" id="{18CA591D-2375-8616-17B0-E52E6563382B}"/>
              </a:ext>
            </a:extLst>
          </p:cNvPr>
          <p:cNvSpPr/>
          <p:nvPr/>
        </p:nvSpPr>
        <p:spPr>
          <a:xfrm>
            <a:off x="10031110" y="2411914"/>
            <a:ext cx="1472184" cy="310896"/>
          </a:xfrm>
          <a:prstGeom prst="rect">
            <a:avLst/>
          </a:prstGeom>
          <a:noFill/>
          <a:ln/>
        </p:spPr>
        <p:txBody>
          <a:bodyPr wrap="square" lIns="0" tIns="0" rIns="0" bIns="0" rtlCol="0" anchor="ctr">
            <a:normAutofit/>
          </a:bodyPr>
          <a:lstStyle/>
          <a:p>
            <a:pPr marL="0" indent="0" algn="ctr">
              <a:buNone/>
            </a:pPr>
            <a:r>
              <a:rPr lang="en-US" sz="1300" b="1">
                <a:solidFill>
                  <a:srgbClr val="F2B400"/>
                </a:solidFill>
                <a:latin typeface="+mj-lt"/>
                <a:ea typeface="Arial" pitchFamily="34" charset="-122"/>
                <a:cs typeface="Arial" pitchFamily="34" charset="-120"/>
              </a:rPr>
              <a:t>Verify Result</a:t>
            </a:r>
            <a:endParaRPr lang="en-US" sz="1300">
              <a:latin typeface="+mj-lt"/>
            </a:endParaRPr>
          </a:p>
        </p:txBody>
      </p:sp>
      <p:sp>
        <p:nvSpPr>
          <p:cNvPr id="51" name="Text 41">
            <a:extLst>
              <a:ext uri="{FF2B5EF4-FFF2-40B4-BE49-F238E27FC236}">
                <a16:creationId xmlns:a16="http://schemas.microsoft.com/office/drawing/2014/main" id="{C701ACA0-7380-C83D-E2F2-A646FE43D424}"/>
              </a:ext>
            </a:extLst>
          </p:cNvPr>
          <p:cNvSpPr/>
          <p:nvPr/>
        </p:nvSpPr>
        <p:spPr>
          <a:xfrm>
            <a:off x="10049398" y="2823394"/>
            <a:ext cx="1435608" cy="1143000"/>
          </a:xfrm>
          <a:prstGeom prst="rect">
            <a:avLst/>
          </a:prstGeom>
          <a:noFill/>
          <a:ln/>
        </p:spPr>
        <p:txBody>
          <a:bodyPr wrap="square" lIns="0" tIns="0" rIns="0" bIns="0" rtlCol="0" anchor="ctr">
            <a:normAutofit/>
          </a:bodyPr>
          <a:lstStyle/>
          <a:p>
            <a:pPr algn="ctr"/>
            <a:r>
              <a:rPr lang="en-US" altLang="zh-CN" sz="1000"/>
              <a:t>Subscription order ID generated.</a:t>
            </a:r>
          </a:p>
          <a:p>
            <a:pPr algn="ctr"/>
            <a:r>
              <a:rPr lang="en-US" altLang="zh-CN" sz="1000"/>
              <a:t>Payment schedule created</a:t>
            </a:r>
            <a:r>
              <a:rPr lang="en-US" sz="1000">
                <a:solidFill>
                  <a:srgbClr val="1F2937"/>
                </a:solidFill>
                <a:latin typeface="+mj-lt"/>
                <a:ea typeface="Arial" pitchFamily="34" charset="-122"/>
                <a:cs typeface="Arial" pitchFamily="34" charset="-120"/>
              </a:rPr>
              <a:t>.</a:t>
            </a:r>
            <a:endParaRPr lang="en-US" sz="1000">
              <a:latin typeface="+mj-lt"/>
            </a:endParaRPr>
          </a:p>
        </p:txBody>
      </p:sp>
      <p:sp>
        <p:nvSpPr>
          <p:cNvPr id="52" name="Text 42">
            <a:extLst>
              <a:ext uri="{FF2B5EF4-FFF2-40B4-BE49-F238E27FC236}">
                <a16:creationId xmlns:a16="http://schemas.microsoft.com/office/drawing/2014/main" id="{9AB241BA-771A-0FC6-7512-663C825F3A54}"/>
              </a:ext>
            </a:extLst>
          </p:cNvPr>
          <p:cNvSpPr/>
          <p:nvPr/>
        </p:nvSpPr>
        <p:spPr>
          <a:xfrm>
            <a:off x="347614" y="4460170"/>
            <a:ext cx="2286000" cy="228600"/>
          </a:xfrm>
          <a:prstGeom prst="rect">
            <a:avLst/>
          </a:prstGeom>
          <a:noFill/>
          <a:ln/>
        </p:spPr>
        <p:txBody>
          <a:bodyPr wrap="square" lIns="0" tIns="0" rIns="0" bIns="0" rtlCol="0" anchor="ctr">
            <a:normAutofit/>
          </a:bodyPr>
          <a:lstStyle/>
          <a:p>
            <a:pPr marL="0" indent="0">
              <a:buNone/>
            </a:pPr>
            <a:r>
              <a:rPr lang="en-US" sz="1200" b="1">
                <a:solidFill>
                  <a:srgbClr val="0B3A82"/>
                </a:solidFill>
                <a:latin typeface="+mj-lt"/>
                <a:ea typeface="Arial" pitchFamily="34" charset="-122"/>
                <a:cs typeface="Arial" pitchFamily="34" charset="-120"/>
              </a:rPr>
              <a:t>KEY INPUTS TO REMEMBER</a:t>
            </a:r>
            <a:endParaRPr lang="en-US" sz="1200">
              <a:latin typeface="+mj-lt"/>
            </a:endParaRPr>
          </a:p>
        </p:txBody>
      </p:sp>
      <p:sp>
        <p:nvSpPr>
          <p:cNvPr id="53" name="Shape 43">
            <a:extLst>
              <a:ext uri="{FF2B5EF4-FFF2-40B4-BE49-F238E27FC236}">
                <a16:creationId xmlns:a16="http://schemas.microsoft.com/office/drawing/2014/main" id="{A843E28A-8F98-F23C-B641-E35F640E6925}"/>
              </a:ext>
            </a:extLst>
          </p:cNvPr>
          <p:cNvSpPr/>
          <p:nvPr/>
        </p:nvSpPr>
        <p:spPr>
          <a:xfrm>
            <a:off x="320182" y="4752778"/>
            <a:ext cx="6080760" cy="841248"/>
          </a:xfrm>
          <a:prstGeom prst="roundRect">
            <a:avLst>
              <a:gd name="adj" fmla="val 13043"/>
            </a:avLst>
          </a:prstGeom>
          <a:solidFill>
            <a:srgbClr val="EFF5FD"/>
          </a:solidFill>
          <a:ln w="12700">
            <a:solidFill>
              <a:srgbClr val="D9E3EF"/>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54" name="Text 44">
            <a:extLst>
              <a:ext uri="{FF2B5EF4-FFF2-40B4-BE49-F238E27FC236}">
                <a16:creationId xmlns:a16="http://schemas.microsoft.com/office/drawing/2014/main" id="{FE9EDB62-3D60-84A6-9AD5-250AA926AC95}"/>
              </a:ext>
            </a:extLst>
          </p:cNvPr>
          <p:cNvSpPr/>
          <p:nvPr/>
        </p:nvSpPr>
        <p:spPr>
          <a:xfrm>
            <a:off x="429910" y="4862506"/>
            <a:ext cx="1097280" cy="164592"/>
          </a:xfrm>
          <a:prstGeom prst="rect">
            <a:avLst/>
          </a:prstGeom>
          <a:noFill/>
          <a:ln/>
        </p:spPr>
        <p:txBody>
          <a:bodyPr wrap="square" lIns="0" tIns="0" rIns="0" bIns="0" rtlCol="0" anchor="ctr">
            <a:normAutofit/>
          </a:bodyPr>
          <a:lstStyle/>
          <a:p>
            <a:pPr marL="0" indent="0">
              <a:buNone/>
            </a:pPr>
            <a:r>
              <a:rPr lang="en-US" sz="1000" b="1">
                <a:solidFill>
                  <a:srgbClr val="1769AA"/>
                </a:solidFill>
                <a:latin typeface="+mj-lt"/>
                <a:ea typeface="Arial" pitchFamily="34" charset="-122"/>
                <a:cs typeface="Arial" pitchFamily="34" charset="-120"/>
              </a:rPr>
              <a:t>HEADER</a:t>
            </a:r>
            <a:endParaRPr lang="en-US" sz="1000">
              <a:latin typeface="+mj-lt"/>
            </a:endParaRPr>
          </a:p>
        </p:txBody>
      </p:sp>
      <p:sp>
        <p:nvSpPr>
          <p:cNvPr id="55" name="Text 45">
            <a:extLst>
              <a:ext uri="{FF2B5EF4-FFF2-40B4-BE49-F238E27FC236}">
                <a16:creationId xmlns:a16="http://schemas.microsoft.com/office/drawing/2014/main" id="{5BCD9230-7EA2-4CD6-D60E-85C64440CE3D}"/>
              </a:ext>
            </a:extLst>
          </p:cNvPr>
          <p:cNvSpPr/>
          <p:nvPr/>
        </p:nvSpPr>
        <p:spPr>
          <a:xfrm>
            <a:off x="429910" y="5081962"/>
            <a:ext cx="5861304" cy="384048"/>
          </a:xfrm>
          <a:prstGeom prst="rect">
            <a:avLst/>
          </a:prstGeom>
          <a:noFill/>
          <a:ln/>
        </p:spPr>
        <p:txBody>
          <a:bodyPr wrap="square" lIns="0" tIns="0" rIns="0" bIns="0" rtlCol="0" anchor="ctr">
            <a:normAutofit/>
          </a:bodyPr>
          <a:lstStyle/>
          <a:p>
            <a:pPr marL="0" indent="0">
              <a:buNone/>
            </a:pPr>
            <a:r>
              <a:rPr lang="en-US" sz="1000">
                <a:solidFill>
                  <a:srgbClr val="1F2937"/>
                </a:solidFill>
                <a:latin typeface="+mj-lt"/>
                <a:ea typeface="Arial" pitchFamily="34" charset="-122"/>
                <a:cs typeface="Arial" pitchFamily="34" charset="-120"/>
              </a:rPr>
              <a:t>Sold-To Party · Sales Area · Billing Request Reason · Customer PO · Payment Term · EaaS Category · Agreement Type · One-Off Invoice Date</a:t>
            </a:r>
            <a:endParaRPr lang="en-US" sz="1000">
              <a:latin typeface="+mj-lt"/>
            </a:endParaRPr>
          </a:p>
        </p:txBody>
      </p:sp>
      <p:sp>
        <p:nvSpPr>
          <p:cNvPr id="56" name="Shape 46">
            <a:extLst>
              <a:ext uri="{FF2B5EF4-FFF2-40B4-BE49-F238E27FC236}">
                <a16:creationId xmlns:a16="http://schemas.microsoft.com/office/drawing/2014/main" id="{9D7F42DB-DE0F-F56B-4922-0FC485427E58}"/>
              </a:ext>
            </a:extLst>
          </p:cNvPr>
          <p:cNvSpPr/>
          <p:nvPr/>
        </p:nvSpPr>
        <p:spPr>
          <a:xfrm>
            <a:off x="6556390" y="4752778"/>
            <a:ext cx="2514600" cy="841248"/>
          </a:xfrm>
          <a:prstGeom prst="roundRect">
            <a:avLst>
              <a:gd name="adj" fmla="val 13043"/>
            </a:avLst>
          </a:prstGeom>
          <a:solidFill>
            <a:srgbClr val="EEF9F1"/>
          </a:solidFill>
          <a:ln w="12700">
            <a:solidFill>
              <a:srgbClr val="D9E3EF"/>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57" name="Text 47">
            <a:extLst>
              <a:ext uri="{FF2B5EF4-FFF2-40B4-BE49-F238E27FC236}">
                <a16:creationId xmlns:a16="http://schemas.microsoft.com/office/drawing/2014/main" id="{F220A4B9-4D4B-EE45-3D62-9676CF243131}"/>
              </a:ext>
            </a:extLst>
          </p:cNvPr>
          <p:cNvSpPr/>
          <p:nvPr/>
        </p:nvSpPr>
        <p:spPr>
          <a:xfrm>
            <a:off x="6666118" y="4862506"/>
            <a:ext cx="1097280" cy="164592"/>
          </a:xfrm>
          <a:prstGeom prst="rect">
            <a:avLst/>
          </a:prstGeom>
          <a:noFill/>
          <a:ln/>
        </p:spPr>
        <p:txBody>
          <a:bodyPr wrap="square" lIns="0" tIns="0" rIns="0" bIns="0" rtlCol="0" anchor="ctr">
            <a:normAutofit/>
          </a:bodyPr>
          <a:lstStyle/>
          <a:p>
            <a:pPr marL="0" indent="0">
              <a:buNone/>
            </a:pPr>
            <a:r>
              <a:rPr lang="en-US" sz="1000" b="1">
                <a:solidFill>
                  <a:srgbClr val="6BAA45"/>
                </a:solidFill>
                <a:latin typeface="+mj-lt"/>
                <a:ea typeface="Arial" pitchFamily="34" charset="-122"/>
                <a:cs typeface="Arial" pitchFamily="34" charset="-120"/>
              </a:rPr>
              <a:t>ITEM</a:t>
            </a:r>
            <a:endParaRPr lang="en-US" sz="1000">
              <a:latin typeface="+mj-lt"/>
            </a:endParaRPr>
          </a:p>
        </p:txBody>
      </p:sp>
      <p:sp>
        <p:nvSpPr>
          <p:cNvPr id="58" name="Text 48">
            <a:extLst>
              <a:ext uri="{FF2B5EF4-FFF2-40B4-BE49-F238E27FC236}">
                <a16:creationId xmlns:a16="http://schemas.microsoft.com/office/drawing/2014/main" id="{D4F7D7C4-14C2-FCF7-A432-6132AB6DA743}"/>
              </a:ext>
            </a:extLst>
          </p:cNvPr>
          <p:cNvSpPr/>
          <p:nvPr/>
        </p:nvSpPr>
        <p:spPr>
          <a:xfrm>
            <a:off x="6666118" y="5081962"/>
            <a:ext cx="2295144" cy="384048"/>
          </a:xfrm>
          <a:prstGeom prst="rect">
            <a:avLst/>
          </a:prstGeom>
          <a:noFill/>
          <a:ln/>
        </p:spPr>
        <p:txBody>
          <a:bodyPr wrap="square" lIns="0" tIns="0" rIns="0" bIns="0" rtlCol="0" anchor="ctr">
            <a:normAutofit/>
          </a:bodyPr>
          <a:lstStyle/>
          <a:p>
            <a:r>
              <a:rPr lang="en-US" sz="1000">
                <a:solidFill>
                  <a:srgbClr val="1F2937"/>
                </a:solidFill>
                <a:latin typeface="+mj-lt"/>
                <a:ea typeface="Arial" pitchFamily="34" charset="-122"/>
                <a:cs typeface="Arial" pitchFamily="34" charset="-120"/>
              </a:rPr>
              <a:t>Product · Quantity · One-Time Price</a:t>
            </a:r>
            <a:r>
              <a:rPr lang="en-US" altLang="zh-CN" sz="1000">
                <a:solidFill>
                  <a:srgbClr val="1F2937"/>
                </a:solidFill>
                <a:ea typeface="Arial" pitchFamily="34" charset="-122"/>
                <a:cs typeface="Arial" pitchFamily="34" charset="-120"/>
              </a:rPr>
              <a:t> · Lease Type</a:t>
            </a:r>
            <a:endParaRPr lang="en-US" sz="1000">
              <a:latin typeface="+mj-lt"/>
            </a:endParaRPr>
          </a:p>
        </p:txBody>
      </p:sp>
      <p:sp>
        <p:nvSpPr>
          <p:cNvPr id="59" name="Shape 49">
            <a:extLst>
              <a:ext uri="{FF2B5EF4-FFF2-40B4-BE49-F238E27FC236}">
                <a16:creationId xmlns:a16="http://schemas.microsoft.com/office/drawing/2014/main" id="{BF8C8FE9-5CFA-B146-AF36-DB160CFEE242}"/>
              </a:ext>
            </a:extLst>
          </p:cNvPr>
          <p:cNvSpPr/>
          <p:nvPr/>
        </p:nvSpPr>
        <p:spPr>
          <a:xfrm>
            <a:off x="9189862" y="4752778"/>
            <a:ext cx="2514600" cy="841248"/>
          </a:xfrm>
          <a:prstGeom prst="roundRect">
            <a:avLst>
              <a:gd name="adj" fmla="val 13043"/>
            </a:avLst>
          </a:prstGeom>
          <a:solidFill>
            <a:srgbClr val="F5F0FB"/>
          </a:solidFill>
          <a:ln w="12700">
            <a:solidFill>
              <a:srgbClr val="D9E3EF"/>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60" name="Text 50">
            <a:extLst>
              <a:ext uri="{FF2B5EF4-FFF2-40B4-BE49-F238E27FC236}">
                <a16:creationId xmlns:a16="http://schemas.microsoft.com/office/drawing/2014/main" id="{1F9B8AEA-4107-09A9-D3F6-5CE942DB225E}"/>
              </a:ext>
            </a:extLst>
          </p:cNvPr>
          <p:cNvSpPr/>
          <p:nvPr/>
        </p:nvSpPr>
        <p:spPr>
          <a:xfrm>
            <a:off x="9299590" y="4862506"/>
            <a:ext cx="1097280" cy="164592"/>
          </a:xfrm>
          <a:prstGeom prst="rect">
            <a:avLst/>
          </a:prstGeom>
          <a:noFill/>
          <a:ln/>
        </p:spPr>
        <p:txBody>
          <a:bodyPr wrap="square" lIns="0" tIns="0" rIns="0" bIns="0" rtlCol="0" anchor="ctr">
            <a:normAutofit/>
          </a:bodyPr>
          <a:lstStyle/>
          <a:p>
            <a:pPr marL="0" indent="0">
              <a:buNone/>
            </a:pPr>
            <a:r>
              <a:rPr lang="en-US" sz="1000" b="1">
                <a:solidFill>
                  <a:srgbClr val="6F42C1"/>
                </a:solidFill>
                <a:latin typeface="+mj-lt"/>
                <a:ea typeface="Arial" pitchFamily="34" charset="-122"/>
                <a:cs typeface="Arial" pitchFamily="34" charset="-120"/>
              </a:rPr>
              <a:t>AUTO-DERIVED</a:t>
            </a:r>
            <a:endParaRPr lang="en-US" sz="1000">
              <a:latin typeface="+mj-lt"/>
            </a:endParaRPr>
          </a:p>
        </p:txBody>
      </p:sp>
      <p:sp>
        <p:nvSpPr>
          <p:cNvPr id="61" name="Text 51">
            <a:extLst>
              <a:ext uri="{FF2B5EF4-FFF2-40B4-BE49-F238E27FC236}">
                <a16:creationId xmlns:a16="http://schemas.microsoft.com/office/drawing/2014/main" id="{E6000BD1-036F-8981-8DBC-1266290374A2}"/>
              </a:ext>
            </a:extLst>
          </p:cNvPr>
          <p:cNvSpPr/>
          <p:nvPr/>
        </p:nvSpPr>
        <p:spPr>
          <a:xfrm>
            <a:off x="9299590" y="5081962"/>
            <a:ext cx="2295144" cy="384048"/>
          </a:xfrm>
          <a:prstGeom prst="rect">
            <a:avLst/>
          </a:prstGeom>
          <a:noFill/>
          <a:ln/>
        </p:spPr>
        <p:txBody>
          <a:bodyPr wrap="square" lIns="0" tIns="0" rIns="0" bIns="0" rtlCol="0" anchor="ctr">
            <a:noAutofit/>
          </a:bodyPr>
          <a:lstStyle/>
          <a:p>
            <a:pPr marL="0" indent="0">
              <a:buNone/>
            </a:pPr>
            <a:r>
              <a:rPr lang="en-US" sz="1000">
                <a:solidFill>
                  <a:srgbClr val="1F2937"/>
                </a:solidFill>
                <a:latin typeface="+mj-lt"/>
                <a:ea typeface="Arial" pitchFamily="34" charset="-122"/>
                <a:cs typeface="Arial" pitchFamily="34" charset="-120"/>
              </a:rPr>
              <a:t>Partners / names / addresses · Sales area attributes · Lease Type · Service Fulfillment Time</a:t>
            </a:r>
            <a:endParaRPr lang="en-US" sz="1000">
              <a:latin typeface="+mj-lt"/>
            </a:endParaRPr>
          </a:p>
        </p:txBody>
      </p:sp>
      <p:sp>
        <p:nvSpPr>
          <p:cNvPr id="62" name="Shape 52">
            <a:extLst>
              <a:ext uri="{FF2B5EF4-FFF2-40B4-BE49-F238E27FC236}">
                <a16:creationId xmlns:a16="http://schemas.microsoft.com/office/drawing/2014/main" id="{E9AB27BD-5DE4-B73D-7D80-55332AFC81F7}"/>
              </a:ext>
            </a:extLst>
          </p:cNvPr>
          <p:cNvSpPr/>
          <p:nvPr/>
        </p:nvSpPr>
        <p:spPr>
          <a:xfrm>
            <a:off x="320182" y="5740330"/>
            <a:ext cx="11384280" cy="521208"/>
          </a:xfrm>
          <a:prstGeom prst="roundRect">
            <a:avLst>
              <a:gd name="adj" fmla="val 21053"/>
            </a:avLst>
          </a:prstGeom>
          <a:solidFill>
            <a:srgbClr val="F8FAFD"/>
          </a:solidFill>
          <a:ln w="12700">
            <a:solidFill>
              <a:srgbClr val="DDE6F0"/>
            </a:solidFill>
            <a:prstDash val="solid"/>
          </a:ln>
          <a:effectLst>
            <a:outerShdw blurRad="15240" dist="5080" dir="2700000" algn="bl" rotWithShape="0">
              <a:srgbClr val="000000">
                <a:alpha val="12000"/>
              </a:srgbClr>
            </a:outerShdw>
          </a:effectLst>
        </p:spPr>
        <p:txBody>
          <a:bodyPr/>
          <a:lstStyle/>
          <a:p>
            <a:endParaRPr lang="zh-CN" altLang="en-US">
              <a:latin typeface="+mj-lt"/>
            </a:endParaRPr>
          </a:p>
        </p:txBody>
      </p:sp>
      <p:sp>
        <p:nvSpPr>
          <p:cNvPr id="63" name="Text 53">
            <a:extLst>
              <a:ext uri="{FF2B5EF4-FFF2-40B4-BE49-F238E27FC236}">
                <a16:creationId xmlns:a16="http://schemas.microsoft.com/office/drawing/2014/main" id="{5AF860F4-3B40-2A63-0643-724B00D55057}"/>
              </a:ext>
            </a:extLst>
          </p:cNvPr>
          <p:cNvSpPr/>
          <p:nvPr/>
        </p:nvSpPr>
        <p:spPr>
          <a:xfrm>
            <a:off x="503062" y="5877490"/>
            <a:ext cx="1005840" cy="164592"/>
          </a:xfrm>
          <a:prstGeom prst="rect">
            <a:avLst/>
          </a:prstGeom>
          <a:noFill/>
          <a:ln/>
        </p:spPr>
        <p:txBody>
          <a:bodyPr wrap="square" lIns="0" tIns="0" rIns="0" bIns="0" rtlCol="0" anchor="ctr">
            <a:noAutofit/>
          </a:bodyPr>
          <a:lstStyle/>
          <a:p>
            <a:pPr marL="0" indent="0">
              <a:buNone/>
            </a:pPr>
            <a:r>
              <a:rPr lang="en-US" sz="1100" b="1">
                <a:solidFill>
                  <a:srgbClr val="0B3A82"/>
                </a:solidFill>
                <a:latin typeface="+mj-lt"/>
                <a:ea typeface="Arial" pitchFamily="34" charset="-122"/>
                <a:cs typeface="Arial" pitchFamily="34" charset="-120"/>
              </a:rPr>
              <a:t>KEY USER TIP</a:t>
            </a:r>
            <a:endParaRPr lang="en-US" sz="1100">
              <a:latin typeface="+mj-lt"/>
            </a:endParaRPr>
          </a:p>
        </p:txBody>
      </p:sp>
      <p:sp>
        <p:nvSpPr>
          <p:cNvPr id="64" name="Text 54">
            <a:extLst>
              <a:ext uri="{FF2B5EF4-FFF2-40B4-BE49-F238E27FC236}">
                <a16:creationId xmlns:a16="http://schemas.microsoft.com/office/drawing/2014/main" id="{F0207D2E-92C7-B742-3B55-A3F2E38D61FF}"/>
              </a:ext>
            </a:extLst>
          </p:cNvPr>
          <p:cNvSpPr/>
          <p:nvPr/>
        </p:nvSpPr>
        <p:spPr>
          <a:xfrm>
            <a:off x="1600342" y="5822626"/>
            <a:ext cx="9738360" cy="274320"/>
          </a:xfrm>
          <a:prstGeom prst="rect">
            <a:avLst/>
          </a:prstGeom>
          <a:noFill/>
          <a:ln/>
        </p:spPr>
        <p:txBody>
          <a:bodyPr wrap="square" lIns="0" tIns="0" rIns="0" bIns="0" rtlCol="0" anchor="ctr">
            <a:noAutofit/>
          </a:bodyPr>
          <a:lstStyle/>
          <a:p>
            <a:pPr marL="0" indent="0">
              <a:buNone/>
            </a:pPr>
            <a:r>
              <a:rPr lang="en-US" sz="1100">
                <a:solidFill>
                  <a:srgbClr val="1F2937"/>
                </a:solidFill>
                <a:latin typeface="+mj-lt"/>
                <a:ea typeface="Arial" pitchFamily="34" charset="-122"/>
                <a:cs typeface="Arial" pitchFamily="34" charset="-120"/>
              </a:rPr>
              <a:t>The system automatically derives much of the partner and organizational information. Focus on the required business inputs, then Review before Submit.</a:t>
            </a:r>
            <a:endParaRPr lang="en-US" sz="1100">
              <a:latin typeface="+mj-lt"/>
            </a:endParaRPr>
          </a:p>
        </p:txBody>
      </p:sp>
    </p:spTree>
    <p:extLst>
      <p:ext uri="{BB962C8B-B14F-4D97-AF65-F5344CB8AC3E}">
        <p14:creationId xmlns:p14="http://schemas.microsoft.com/office/powerpoint/2010/main" val="180380390"/>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EC-BD13-558F-2592-90FB54B1341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8180726-F2AC-E5F2-4829-AC95708A4581}"/>
              </a:ext>
            </a:extLst>
          </p:cNvPr>
          <p:cNvSpPr>
            <a:spLocks noGrp="1"/>
          </p:cNvSpPr>
          <p:nvPr>
            <p:ph type="title"/>
          </p:nvPr>
        </p:nvSpPr>
        <p:spPr/>
        <p:txBody>
          <a:bodyPr/>
          <a:lstStyle/>
          <a:p>
            <a:r>
              <a:rPr lang="en-US" altLang="zh-CN"/>
              <a:t>One-Time Billing Order Creation </a:t>
            </a:r>
            <a:endParaRPr lang="zh-CN" altLang="en-US"/>
          </a:p>
        </p:txBody>
      </p:sp>
      <p:sp>
        <p:nvSpPr>
          <p:cNvPr id="14" name="TextBox 72">
            <a:extLst>
              <a:ext uri="{FF2B5EF4-FFF2-40B4-BE49-F238E27FC236}">
                <a16:creationId xmlns:a16="http://schemas.microsoft.com/office/drawing/2014/main" id="{09B27ACE-A2BB-465A-E15C-9FE08F41A9CE}"/>
              </a:ext>
            </a:extLst>
          </p:cNvPr>
          <p:cNvSpPr txBox="1"/>
          <p:nvPr/>
        </p:nvSpPr>
        <p:spPr>
          <a:xfrm>
            <a:off x="8989247" y="1544697"/>
            <a:ext cx="2220826"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Choose Order Type</a:t>
            </a:r>
            <a:endParaRPr lang="id-ID" sz="1300" b="1">
              <a:solidFill>
                <a:schemeClr val="accent6">
                  <a:lumMod val="75000"/>
                  <a:lumOff val="25000"/>
                </a:schemeClr>
              </a:solidFill>
              <a:cs typeface="Lato Regular"/>
            </a:endParaRPr>
          </a:p>
        </p:txBody>
      </p:sp>
      <p:sp>
        <p:nvSpPr>
          <p:cNvPr id="27" name="TextBox 73">
            <a:extLst>
              <a:ext uri="{FF2B5EF4-FFF2-40B4-BE49-F238E27FC236}">
                <a16:creationId xmlns:a16="http://schemas.microsoft.com/office/drawing/2014/main" id="{C7EF3730-CB7C-DF5D-CB94-78BE8B889315}"/>
              </a:ext>
            </a:extLst>
          </p:cNvPr>
          <p:cNvSpPr txBox="1"/>
          <p:nvPr/>
        </p:nvSpPr>
        <p:spPr>
          <a:xfrm>
            <a:off x="8989247" y="1837085"/>
            <a:ext cx="2520438" cy="2708434"/>
          </a:xfrm>
          <a:prstGeom prst="rect">
            <a:avLst/>
          </a:prstGeom>
          <a:noFill/>
        </p:spPr>
        <p:txBody>
          <a:bodyPr wrap="square" rtlCol="0">
            <a:spAutoFit/>
          </a:bodyPr>
          <a:lstStyle/>
          <a:p>
            <a:r>
              <a:rPr lang="pt-BR" sz="1000">
                <a:cs typeface="Lato Light"/>
              </a:rPr>
              <a:t>User chooses a one-time billing order type from the subscription order search page – New button.</a:t>
            </a:r>
          </a:p>
          <a:p>
            <a:endParaRPr lang="pt-BR" sz="1000" b="1">
              <a:cs typeface="Lato Light"/>
            </a:endParaRPr>
          </a:p>
          <a:p>
            <a:r>
              <a:rPr lang="en-US" altLang="zh-CN" sz="1000">
                <a:cs typeface="Lato Light"/>
              </a:rPr>
              <a:t>Only the following </a:t>
            </a:r>
            <a:r>
              <a:rPr lang="en-US" altLang="zh-CN" sz="1000" b="1">
                <a:cs typeface="Lato Light"/>
              </a:rPr>
              <a:t>Billing Request Reasons </a:t>
            </a:r>
            <a:r>
              <a:rPr lang="en-US" altLang="zh-CN" sz="1000">
                <a:cs typeface="Lato Light"/>
              </a:rPr>
              <a:t>support One-Time Billing Order creation:</a:t>
            </a:r>
          </a:p>
          <a:p>
            <a:endParaRPr lang="en-US" altLang="zh-CN" sz="1000">
              <a:cs typeface="Lato Light"/>
            </a:endParaRPr>
          </a:p>
          <a:p>
            <a:r>
              <a:rPr lang="en-US" altLang="zh-CN" sz="1000" b="1">
                <a:cs typeface="Lato Light"/>
              </a:rPr>
              <a:t>01 – On Demand Service</a:t>
            </a:r>
          </a:p>
          <a:p>
            <a:r>
              <a:rPr lang="en-US" altLang="zh-CN" sz="1000" b="1">
                <a:cs typeface="Lato Light"/>
              </a:rPr>
              <a:t>19 – On Demand Service ICO</a:t>
            </a:r>
          </a:p>
          <a:p>
            <a:r>
              <a:rPr lang="en-US" altLang="zh-CN" sz="1000" b="1">
                <a:cs typeface="Lato Light"/>
              </a:rPr>
              <a:t>07 – Damage Charge Request</a:t>
            </a:r>
          </a:p>
          <a:p>
            <a:r>
              <a:rPr lang="en-US" altLang="zh-CN" sz="1000" b="1">
                <a:cs typeface="Lato Light"/>
              </a:rPr>
              <a:t>13 – Manual Monthly Billing</a:t>
            </a:r>
          </a:p>
          <a:p>
            <a:r>
              <a:rPr lang="en-US" altLang="zh-CN" sz="1000" b="1">
                <a:cs typeface="Lato Light"/>
              </a:rPr>
              <a:t>14 – Manual ICO Monthly Billing</a:t>
            </a:r>
          </a:p>
          <a:p>
            <a:r>
              <a:rPr lang="en-US" altLang="zh-CN" sz="1000" b="1">
                <a:cs typeface="Lato Light"/>
              </a:rPr>
              <a:t>15 – Origination Fee</a:t>
            </a:r>
          </a:p>
          <a:p>
            <a:r>
              <a:rPr lang="en-US" altLang="zh-CN" sz="1000" b="1">
                <a:cs typeface="Lato Light"/>
              </a:rPr>
              <a:t>16 – Property Tax</a:t>
            </a:r>
          </a:p>
          <a:p>
            <a:r>
              <a:rPr lang="en-US" altLang="zh-CN" sz="1000" b="1">
                <a:cs typeface="Lato Light"/>
              </a:rPr>
              <a:t>17 – Penalty (Credit)</a:t>
            </a:r>
          </a:p>
          <a:p>
            <a:r>
              <a:rPr lang="en-US" altLang="zh-CN" sz="1000" b="1">
                <a:cs typeface="Lato Light"/>
              </a:rPr>
              <a:t>18 – Penalty ICO (Credit)</a:t>
            </a:r>
            <a:endParaRPr lang="en-US" sz="1000" b="1">
              <a:cs typeface="Lato Light"/>
            </a:endParaRPr>
          </a:p>
        </p:txBody>
      </p:sp>
      <p:sp>
        <p:nvSpPr>
          <p:cNvPr id="34" name="Oval 111">
            <a:extLst>
              <a:ext uri="{FF2B5EF4-FFF2-40B4-BE49-F238E27FC236}">
                <a16:creationId xmlns:a16="http://schemas.microsoft.com/office/drawing/2014/main" id="{54B6DBD7-D561-DF0E-7086-F8CB8A824496}"/>
              </a:ext>
            </a:extLst>
          </p:cNvPr>
          <p:cNvSpPr/>
          <p:nvPr/>
        </p:nvSpPr>
        <p:spPr>
          <a:xfrm>
            <a:off x="8766680" y="160848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5" name="Text 2">
            <a:extLst>
              <a:ext uri="{FF2B5EF4-FFF2-40B4-BE49-F238E27FC236}">
                <a16:creationId xmlns:a16="http://schemas.microsoft.com/office/drawing/2014/main" id="{8F51E497-CD54-6B66-0998-3FFABF2CB697}"/>
              </a:ext>
            </a:extLst>
          </p:cNvPr>
          <p:cNvSpPr/>
          <p:nvPr/>
        </p:nvSpPr>
        <p:spPr>
          <a:xfrm>
            <a:off x="362223" y="787267"/>
            <a:ext cx="11639523" cy="509377"/>
          </a:xfrm>
          <a:prstGeom prst="rect">
            <a:avLst/>
          </a:prstGeom>
          <a:noFill/>
          <a:ln/>
        </p:spPr>
        <p:txBody>
          <a:bodyPr wrap="square" lIns="0" tIns="0" rIns="0" bIns="0" rtlCol="0" anchor="ctr">
            <a:normAutofit/>
          </a:bodyPr>
          <a:lstStyle/>
          <a:p>
            <a:r>
              <a:rPr lang="en-US" altLang="zh-CN" sz="1200"/>
              <a:t>The One-Time Billing Order Creation function allows </a:t>
            </a:r>
            <a:r>
              <a:rPr lang="en-US" altLang="zh-CN" sz="1200" b="1"/>
              <a:t>authorized</a:t>
            </a:r>
            <a:r>
              <a:rPr lang="en-US" altLang="zh-CN" sz="1200"/>
              <a:t> </a:t>
            </a:r>
            <a:r>
              <a:rPr lang="en-US" altLang="zh-CN" sz="1200" b="1"/>
              <a:t>users</a:t>
            </a:r>
            <a:r>
              <a:rPr lang="en-US" altLang="zh-CN" sz="1200"/>
              <a:t> to manually create a one-time billing order in </a:t>
            </a:r>
            <a:r>
              <a:rPr lang="en-US" altLang="zh-CN" sz="1200" err="1"/>
              <a:t>NexBill</a:t>
            </a:r>
            <a:r>
              <a:rPr lang="en-US" altLang="zh-CN" sz="1200"/>
              <a:t> for </a:t>
            </a:r>
            <a:r>
              <a:rPr lang="en-US" altLang="zh-CN" sz="1200" b="1"/>
              <a:t>special billing scenarios that cannot be processed through the standard integration flow.  </a:t>
            </a:r>
          </a:p>
        </p:txBody>
      </p:sp>
      <p:pic>
        <p:nvPicPr>
          <p:cNvPr id="11" name="图片 10">
            <a:extLst>
              <a:ext uri="{FF2B5EF4-FFF2-40B4-BE49-F238E27FC236}">
                <a16:creationId xmlns:a16="http://schemas.microsoft.com/office/drawing/2014/main" id="{108739FC-B416-8BB6-BCC5-32A94D084178}"/>
              </a:ext>
            </a:extLst>
          </p:cNvPr>
          <p:cNvPicPr>
            <a:picLocks noChangeAspect="1"/>
          </p:cNvPicPr>
          <p:nvPr/>
        </p:nvPicPr>
        <p:blipFill>
          <a:blip r:embed="rId2"/>
          <a:stretch>
            <a:fillRect/>
          </a:stretch>
        </p:blipFill>
        <p:spPr>
          <a:xfrm>
            <a:off x="424010" y="1608081"/>
            <a:ext cx="8176266" cy="3116319"/>
          </a:xfrm>
          <a:prstGeom prst="rect">
            <a:avLst/>
          </a:prstGeom>
        </p:spPr>
      </p:pic>
      <p:pic>
        <p:nvPicPr>
          <p:cNvPr id="15" name="图片 14">
            <a:extLst>
              <a:ext uri="{FF2B5EF4-FFF2-40B4-BE49-F238E27FC236}">
                <a16:creationId xmlns:a16="http://schemas.microsoft.com/office/drawing/2014/main" id="{A3DDC872-40A7-B3E0-9F9F-693703DD2A2F}"/>
              </a:ext>
            </a:extLst>
          </p:cNvPr>
          <p:cNvPicPr>
            <a:picLocks noChangeAspect="1"/>
          </p:cNvPicPr>
          <p:nvPr/>
        </p:nvPicPr>
        <p:blipFill>
          <a:blip r:embed="rId3"/>
          <a:stretch>
            <a:fillRect/>
          </a:stretch>
        </p:blipFill>
        <p:spPr>
          <a:xfrm>
            <a:off x="1912883" y="4667187"/>
            <a:ext cx="5235859" cy="1914030"/>
          </a:xfrm>
          <a:prstGeom prst="rect">
            <a:avLst/>
          </a:prstGeom>
        </p:spPr>
      </p:pic>
      <p:sp>
        <p:nvSpPr>
          <p:cNvPr id="16" name="Oval 111">
            <a:extLst>
              <a:ext uri="{FF2B5EF4-FFF2-40B4-BE49-F238E27FC236}">
                <a16:creationId xmlns:a16="http://schemas.microsoft.com/office/drawing/2014/main" id="{0F3D216C-908C-CFA5-B43E-F1E20CD89E51}"/>
              </a:ext>
            </a:extLst>
          </p:cNvPr>
          <p:cNvSpPr/>
          <p:nvPr/>
        </p:nvSpPr>
        <p:spPr>
          <a:xfrm>
            <a:off x="5911343" y="376310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37787064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7" grpId="0"/>
      <p:bldP spid="34" grpId="0" animBg="1"/>
      <p:bldP spid="1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70E1E-0AD3-7BD1-F7CB-86B3A2E20685}"/>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7B435754-9F7D-59F2-2653-AE83166A7CF8}"/>
              </a:ext>
            </a:extLst>
          </p:cNvPr>
          <p:cNvPicPr>
            <a:picLocks noChangeAspect="1"/>
          </p:cNvPicPr>
          <p:nvPr/>
        </p:nvPicPr>
        <p:blipFill>
          <a:blip r:embed="rId2"/>
          <a:stretch>
            <a:fillRect/>
          </a:stretch>
        </p:blipFill>
        <p:spPr>
          <a:xfrm>
            <a:off x="362223" y="1424033"/>
            <a:ext cx="6679708" cy="5243647"/>
          </a:xfrm>
          <a:prstGeom prst="rect">
            <a:avLst/>
          </a:prstGeom>
        </p:spPr>
      </p:pic>
      <p:sp>
        <p:nvSpPr>
          <p:cNvPr id="3" name="标题 2">
            <a:extLst>
              <a:ext uri="{FF2B5EF4-FFF2-40B4-BE49-F238E27FC236}">
                <a16:creationId xmlns:a16="http://schemas.microsoft.com/office/drawing/2014/main" id="{EA7B28D9-4E97-82F6-55F1-C1DA57ABDF53}"/>
              </a:ext>
            </a:extLst>
          </p:cNvPr>
          <p:cNvSpPr>
            <a:spLocks noGrp="1"/>
          </p:cNvSpPr>
          <p:nvPr>
            <p:ph type="title"/>
          </p:nvPr>
        </p:nvSpPr>
        <p:spPr/>
        <p:txBody>
          <a:bodyPr/>
          <a:lstStyle/>
          <a:p>
            <a:r>
              <a:rPr lang="en-US" altLang="zh-CN"/>
              <a:t>One Time Order Creation </a:t>
            </a:r>
            <a:endParaRPr lang="zh-CN" altLang="en-US"/>
          </a:p>
        </p:txBody>
      </p:sp>
      <p:sp>
        <p:nvSpPr>
          <p:cNvPr id="28" name="TextBox 82">
            <a:extLst>
              <a:ext uri="{FF2B5EF4-FFF2-40B4-BE49-F238E27FC236}">
                <a16:creationId xmlns:a16="http://schemas.microsoft.com/office/drawing/2014/main" id="{77853C41-D375-4972-91D9-6697FD397D07}"/>
              </a:ext>
            </a:extLst>
          </p:cNvPr>
          <p:cNvSpPr txBox="1"/>
          <p:nvPr/>
        </p:nvSpPr>
        <p:spPr>
          <a:xfrm>
            <a:off x="7902175" y="1280690"/>
            <a:ext cx="2643390" cy="292388"/>
          </a:xfrm>
          <a:prstGeom prst="rect">
            <a:avLst/>
          </a:prstGeom>
          <a:noFill/>
        </p:spPr>
        <p:txBody>
          <a:bodyPr wrap="square" rtlCol="0">
            <a:spAutoFit/>
          </a:bodyPr>
          <a:lstStyle/>
          <a:p>
            <a:r>
              <a:rPr lang="en-US" sz="1300" b="1">
                <a:solidFill>
                  <a:srgbClr val="126C36"/>
                </a:solidFill>
                <a:cs typeface="Lato Regular"/>
              </a:rPr>
              <a:t>Input Order Header Information</a:t>
            </a:r>
            <a:endParaRPr lang="id-ID" sz="1300" b="1">
              <a:solidFill>
                <a:srgbClr val="126C36"/>
              </a:solidFill>
              <a:cs typeface="Lato Regular"/>
            </a:endParaRPr>
          </a:p>
        </p:txBody>
      </p:sp>
      <p:sp>
        <p:nvSpPr>
          <p:cNvPr id="29" name="TextBox 83">
            <a:extLst>
              <a:ext uri="{FF2B5EF4-FFF2-40B4-BE49-F238E27FC236}">
                <a16:creationId xmlns:a16="http://schemas.microsoft.com/office/drawing/2014/main" id="{63169C44-B064-A019-ECB6-A1B9CB869C35}"/>
              </a:ext>
            </a:extLst>
          </p:cNvPr>
          <p:cNvSpPr txBox="1"/>
          <p:nvPr/>
        </p:nvSpPr>
        <p:spPr>
          <a:xfrm>
            <a:off x="7902175" y="1507420"/>
            <a:ext cx="4057530" cy="4708981"/>
          </a:xfrm>
          <a:prstGeom prst="rect">
            <a:avLst/>
          </a:prstGeom>
          <a:noFill/>
        </p:spPr>
        <p:txBody>
          <a:bodyPr wrap="square" rtlCol="0">
            <a:spAutoFit/>
          </a:bodyPr>
          <a:lstStyle/>
          <a:p>
            <a:r>
              <a:rPr lang="en-US" sz="1000" b="1">
                <a:cs typeface="Lato Light"/>
              </a:rPr>
              <a:t>Minimum required input information </a:t>
            </a:r>
            <a:r>
              <a:rPr lang="en-US" sz="1000">
                <a:cs typeface="Lato Light"/>
              </a:rPr>
              <a:t>includes:</a:t>
            </a:r>
          </a:p>
          <a:p>
            <a:pPr marL="171450" indent="-171450">
              <a:buFont typeface="Arial" panose="020B0604020202020204" pitchFamily="34" charset="0"/>
              <a:buChar char="•"/>
            </a:pPr>
            <a:r>
              <a:rPr lang="en-US" sz="1000" b="1">
                <a:cs typeface="Lato Light"/>
              </a:rPr>
              <a:t>Sold-To Party</a:t>
            </a:r>
          </a:p>
          <a:p>
            <a:pPr marL="171450" indent="-171450">
              <a:buFont typeface="Arial" panose="020B0604020202020204" pitchFamily="34" charset="0"/>
              <a:buChar char="•"/>
            </a:pPr>
            <a:r>
              <a:rPr lang="en-US" sz="1000" b="1">
                <a:cs typeface="Lato Light"/>
              </a:rPr>
              <a:t>Sales Area</a:t>
            </a:r>
          </a:p>
          <a:p>
            <a:pPr marL="171450" indent="-171450">
              <a:buFont typeface="Arial" panose="020B0604020202020204" pitchFamily="34" charset="0"/>
              <a:buChar char="•"/>
            </a:pPr>
            <a:r>
              <a:rPr lang="en-US" sz="1000" b="1">
                <a:cs typeface="Lato Light"/>
              </a:rPr>
              <a:t>Billing Request Reason</a:t>
            </a:r>
          </a:p>
          <a:p>
            <a:pPr marL="171450" indent="-171450">
              <a:buFont typeface="Arial" panose="020B0604020202020204" pitchFamily="34" charset="0"/>
              <a:buChar char="•"/>
            </a:pPr>
            <a:r>
              <a:rPr lang="en-US" altLang="zh-CN" sz="1000" b="1">
                <a:cs typeface="Lato Light"/>
              </a:rPr>
              <a:t>Customer PO</a:t>
            </a:r>
            <a:endParaRPr lang="en-US" sz="1000" b="1">
              <a:cs typeface="Lato Light"/>
            </a:endParaRPr>
          </a:p>
          <a:p>
            <a:pPr marL="171450" indent="-171450">
              <a:buFont typeface="Arial" panose="020B0604020202020204" pitchFamily="34" charset="0"/>
              <a:buChar char="•"/>
            </a:pPr>
            <a:r>
              <a:rPr lang="en-US" sz="1000" b="1">
                <a:cs typeface="Lato Light"/>
              </a:rPr>
              <a:t>Payment Term</a:t>
            </a:r>
          </a:p>
          <a:p>
            <a:pPr marL="171450" indent="-171450">
              <a:buFont typeface="Arial" panose="020B0604020202020204" pitchFamily="34" charset="0"/>
              <a:buChar char="•"/>
            </a:pPr>
            <a:r>
              <a:rPr lang="en-US" sz="1000" b="1">
                <a:cs typeface="Lato Light"/>
              </a:rPr>
              <a:t>EaaS Category Header</a:t>
            </a:r>
          </a:p>
          <a:p>
            <a:pPr marL="171450" indent="-171450">
              <a:buFont typeface="Arial" panose="020B0604020202020204" pitchFamily="34" charset="0"/>
              <a:buChar char="•"/>
            </a:pPr>
            <a:r>
              <a:rPr lang="en-US" sz="1000" b="1">
                <a:cs typeface="Lato Light"/>
              </a:rPr>
              <a:t>Agreement Type</a:t>
            </a:r>
          </a:p>
          <a:p>
            <a:pPr marL="171450" indent="-171450">
              <a:buFont typeface="Arial" panose="020B0604020202020204" pitchFamily="34" charset="0"/>
              <a:buChar char="•"/>
            </a:pPr>
            <a:r>
              <a:rPr lang="en-US" sz="1000" b="1">
                <a:cs typeface="Lato Light"/>
              </a:rPr>
              <a:t>One-Off Invoice Date</a:t>
            </a:r>
          </a:p>
          <a:p>
            <a:pPr marL="171450" indent="-171450">
              <a:buFont typeface="Arial" panose="020B0604020202020204" pitchFamily="34" charset="0"/>
              <a:buChar char="•"/>
            </a:pPr>
            <a:endParaRPr lang="en-US" sz="1000">
              <a:cs typeface="Lato Light"/>
            </a:endParaRPr>
          </a:p>
          <a:p>
            <a:r>
              <a:rPr lang="en-US" altLang="zh-CN" sz="1000">
                <a:cs typeface="Lato Light"/>
              </a:rPr>
              <a:t>Users can either:</a:t>
            </a:r>
          </a:p>
          <a:p>
            <a:r>
              <a:rPr lang="en-US" altLang="zh-CN" sz="1000">
                <a:cs typeface="Lato Light"/>
              </a:rPr>
              <a:t>Enter a Partner Number directly, or</a:t>
            </a:r>
          </a:p>
          <a:p>
            <a:r>
              <a:rPr lang="en-US" altLang="zh-CN" sz="1000">
                <a:cs typeface="Lato Light"/>
              </a:rPr>
              <a:t>Click the Search Help (</a:t>
            </a:r>
            <a:r>
              <a:rPr lang="zh-CN" altLang="en-US" sz="1000">
                <a:cs typeface="Lato Light"/>
              </a:rPr>
              <a:t>🔍</a:t>
            </a:r>
            <a:r>
              <a:rPr lang="en-US" altLang="zh-CN" sz="1000">
                <a:cs typeface="Lato Light"/>
              </a:rPr>
              <a:t>) icon to search and select a partner.</a:t>
            </a:r>
            <a:endParaRPr lang="en-US" sz="1000">
              <a:cs typeface="Lato Light"/>
            </a:endParaRPr>
          </a:p>
          <a:p>
            <a:pPr marL="171450" indent="-171450">
              <a:buFont typeface="Arial" panose="020B0604020202020204" pitchFamily="34" charset="0"/>
              <a:buChar char="•"/>
            </a:pPr>
            <a:endParaRPr lang="en-US" sz="1000">
              <a:cs typeface="Lato Light"/>
            </a:endParaRPr>
          </a:p>
          <a:p>
            <a:r>
              <a:rPr lang="en-US" altLang="zh-CN" sz="1000" b="1"/>
              <a:t>Automatically Derived Data</a:t>
            </a:r>
          </a:p>
          <a:p>
            <a:pPr marL="171450" indent="-171450">
              <a:buFont typeface="Arial" panose="020B0604020202020204" pitchFamily="34" charset="0"/>
              <a:buChar char="•"/>
            </a:pPr>
            <a:r>
              <a:rPr lang="en-US" altLang="zh-CN" sz="1000">
                <a:cs typeface="Lato Light"/>
              </a:rPr>
              <a:t>Ship-To Party, name and address</a:t>
            </a:r>
          </a:p>
          <a:p>
            <a:pPr marL="171450" indent="-171450">
              <a:buFont typeface="Arial" panose="020B0604020202020204" pitchFamily="34" charset="0"/>
              <a:buChar char="•"/>
            </a:pPr>
            <a:r>
              <a:rPr lang="en-US" altLang="zh-CN" sz="1000">
                <a:cs typeface="Lato Light"/>
              </a:rPr>
              <a:t>Bill-To Party, name and address</a:t>
            </a:r>
          </a:p>
          <a:p>
            <a:pPr marL="171450" indent="-171450">
              <a:buFont typeface="Arial" panose="020B0604020202020204" pitchFamily="34" charset="0"/>
              <a:buChar char="•"/>
            </a:pPr>
            <a:r>
              <a:rPr lang="en-US" altLang="zh-CN" sz="1000">
                <a:cs typeface="Lato Light"/>
              </a:rPr>
              <a:t>Payer, name and address</a:t>
            </a:r>
          </a:p>
          <a:p>
            <a:pPr marL="171450" indent="-171450">
              <a:buFont typeface="Arial" panose="020B0604020202020204" pitchFamily="34" charset="0"/>
              <a:buChar char="•"/>
            </a:pPr>
            <a:r>
              <a:rPr lang="en-US" altLang="zh-CN" sz="1000">
                <a:cs typeface="Lato Light"/>
              </a:rPr>
              <a:t>Contract Party, Sales Organization, Distribution Channel, Division, Sales Office, Currency</a:t>
            </a:r>
          </a:p>
          <a:p>
            <a:endParaRPr lang="en-US" altLang="zh-CN" sz="1000">
              <a:cs typeface="Lato Light"/>
            </a:endParaRPr>
          </a:p>
          <a:p>
            <a:r>
              <a:rPr lang="en-US" altLang="zh-CN" sz="1000">
                <a:cs typeface="Lato Light"/>
              </a:rPr>
              <a:t>Users may change the partner or click the ✏ Pencil icon to </a:t>
            </a:r>
            <a:r>
              <a:rPr lang="en-US" altLang="zh-CN" sz="1000" b="1">
                <a:cs typeface="Lato Light"/>
              </a:rPr>
              <a:t>update</a:t>
            </a:r>
            <a:r>
              <a:rPr lang="en-US" altLang="zh-CN" sz="1000">
                <a:cs typeface="Lato Light"/>
              </a:rPr>
              <a:t> </a:t>
            </a:r>
            <a:r>
              <a:rPr lang="en-US" altLang="zh-CN" sz="1000" b="1">
                <a:cs typeface="Lato Light"/>
              </a:rPr>
              <a:t>Name, Address, City, State / Region, Country, Postal Code</a:t>
            </a:r>
          </a:p>
          <a:p>
            <a:r>
              <a:rPr lang="en-US" altLang="zh-CN" sz="1000">
                <a:cs typeface="Lato Light"/>
              </a:rPr>
              <a:t>Click Save to apply the changes to the One-Time Order.</a:t>
            </a:r>
          </a:p>
          <a:p>
            <a:endParaRPr lang="en-US" altLang="zh-CN" sz="1000">
              <a:cs typeface="Lato Light"/>
            </a:endParaRPr>
          </a:p>
          <a:p>
            <a:r>
              <a:rPr lang="en-US" altLang="zh-CN" sz="1000">
                <a:cs typeface="Lato Light"/>
              </a:rPr>
              <a:t>Users may change the sale area from dropdown list.</a:t>
            </a:r>
          </a:p>
          <a:p>
            <a:endParaRPr lang="en-US" altLang="zh-CN" sz="1000">
              <a:cs typeface="Lato Light"/>
            </a:endParaRPr>
          </a:p>
          <a:p>
            <a:r>
              <a:rPr lang="en-US" altLang="zh-CN" sz="1000" b="1">
                <a:cs typeface="Lato Light"/>
              </a:rPr>
              <a:t>Note: </a:t>
            </a:r>
            <a:r>
              <a:rPr lang="en-US" altLang="zh-CN" sz="1000">
                <a:cs typeface="Lato Light"/>
              </a:rPr>
              <a:t>Changes apply only to the current Subscription Order and do not update Account Master data.</a:t>
            </a:r>
            <a:endParaRPr lang="en-US" sz="1000">
              <a:cs typeface="Lato Light"/>
            </a:endParaRPr>
          </a:p>
        </p:txBody>
      </p:sp>
      <p:sp>
        <p:nvSpPr>
          <p:cNvPr id="38" name="Oval 112">
            <a:extLst>
              <a:ext uri="{FF2B5EF4-FFF2-40B4-BE49-F238E27FC236}">
                <a16:creationId xmlns:a16="http://schemas.microsoft.com/office/drawing/2014/main" id="{3D566055-AC21-5972-E22C-10BA63D1CB7C}"/>
              </a:ext>
            </a:extLst>
          </p:cNvPr>
          <p:cNvSpPr/>
          <p:nvPr/>
        </p:nvSpPr>
        <p:spPr>
          <a:xfrm>
            <a:off x="7673575" y="131266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5" name="Text 2">
            <a:extLst>
              <a:ext uri="{FF2B5EF4-FFF2-40B4-BE49-F238E27FC236}">
                <a16:creationId xmlns:a16="http://schemas.microsoft.com/office/drawing/2014/main" id="{2ABBDD9F-8181-9643-BDF0-EAF59A383F6F}"/>
              </a:ext>
            </a:extLst>
          </p:cNvPr>
          <p:cNvSpPr/>
          <p:nvPr/>
        </p:nvSpPr>
        <p:spPr>
          <a:xfrm>
            <a:off x="362223" y="771313"/>
            <a:ext cx="11639523" cy="509377"/>
          </a:xfrm>
          <a:prstGeom prst="rect">
            <a:avLst/>
          </a:prstGeom>
          <a:noFill/>
          <a:ln/>
        </p:spPr>
        <p:txBody>
          <a:bodyPr wrap="square" lIns="0" tIns="0" rIns="0" bIns="0" rtlCol="0" anchor="ctr">
            <a:normAutofit lnSpcReduction="10000"/>
          </a:bodyPr>
          <a:lstStyle/>
          <a:p>
            <a:r>
              <a:rPr lang="en-US" altLang="zh-CN" sz="1200"/>
              <a:t>The One-Time Order Creation function allows authorized users to manually create a one-time billing Subscription Order in </a:t>
            </a:r>
            <a:r>
              <a:rPr lang="en-US" altLang="zh-CN" sz="1200" err="1"/>
              <a:t>NexBill</a:t>
            </a:r>
            <a:r>
              <a:rPr lang="en-US" altLang="zh-CN" sz="1200"/>
              <a:t> for special billing scenarios that cannot be processed through the standard integration flow.  To simplify the user experience and reduce manual effort, </a:t>
            </a:r>
            <a:r>
              <a:rPr lang="en-US" altLang="zh-CN" sz="1200" err="1"/>
              <a:t>NexBill</a:t>
            </a:r>
            <a:r>
              <a:rPr lang="en-US" altLang="zh-CN" sz="1200"/>
              <a:t> automatically derives and populates information wherever possible. Users only need to enter the required business information and mandatory fields.</a:t>
            </a:r>
          </a:p>
        </p:txBody>
      </p:sp>
      <p:sp>
        <p:nvSpPr>
          <p:cNvPr id="7" name="Oval 112">
            <a:extLst>
              <a:ext uri="{FF2B5EF4-FFF2-40B4-BE49-F238E27FC236}">
                <a16:creationId xmlns:a16="http://schemas.microsoft.com/office/drawing/2014/main" id="{03F99D96-353B-351F-9732-5DC8DE378291}"/>
              </a:ext>
            </a:extLst>
          </p:cNvPr>
          <p:cNvSpPr/>
          <p:nvPr/>
        </p:nvSpPr>
        <p:spPr>
          <a:xfrm>
            <a:off x="957243" y="219686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15" name="图片 14">
            <a:extLst>
              <a:ext uri="{FF2B5EF4-FFF2-40B4-BE49-F238E27FC236}">
                <a16:creationId xmlns:a16="http://schemas.microsoft.com/office/drawing/2014/main" id="{F4FD88C8-AEE0-E8A2-34CE-BA5F3B4CF221}"/>
              </a:ext>
            </a:extLst>
          </p:cNvPr>
          <p:cNvPicPr>
            <a:picLocks noChangeAspect="1"/>
          </p:cNvPicPr>
          <p:nvPr/>
        </p:nvPicPr>
        <p:blipFill>
          <a:blip r:embed="rId3"/>
          <a:stretch>
            <a:fillRect/>
          </a:stretch>
        </p:blipFill>
        <p:spPr>
          <a:xfrm>
            <a:off x="5296450" y="1569686"/>
            <a:ext cx="1476354" cy="1254362"/>
          </a:xfrm>
          <a:prstGeom prst="rect">
            <a:avLst/>
          </a:prstGeom>
        </p:spPr>
      </p:pic>
    </p:spTree>
    <p:extLst>
      <p:ext uri="{BB962C8B-B14F-4D97-AF65-F5344CB8AC3E}">
        <p14:creationId xmlns:p14="http://schemas.microsoft.com/office/powerpoint/2010/main" val="39123305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8"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DB4F4-7B81-358A-A3DE-33DF8F1802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C90B5AB-373C-D7BA-E49F-714EAB15DA82}"/>
              </a:ext>
            </a:extLst>
          </p:cNvPr>
          <p:cNvSpPr>
            <a:spLocks noGrp="1"/>
          </p:cNvSpPr>
          <p:nvPr>
            <p:ph type="title"/>
          </p:nvPr>
        </p:nvSpPr>
        <p:spPr/>
        <p:txBody>
          <a:bodyPr/>
          <a:lstStyle/>
          <a:p>
            <a:r>
              <a:rPr lang="en-US" altLang="zh-CN"/>
              <a:t>One Time Order Creation </a:t>
            </a:r>
            <a:endParaRPr lang="zh-CN" altLang="en-US"/>
          </a:p>
        </p:txBody>
      </p:sp>
      <p:sp>
        <p:nvSpPr>
          <p:cNvPr id="6" name="TextBox 93">
            <a:extLst>
              <a:ext uri="{FF2B5EF4-FFF2-40B4-BE49-F238E27FC236}">
                <a16:creationId xmlns:a16="http://schemas.microsoft.com/office/drawing/2014/main" id="{DE2C54B2-F7CE-5479-8A87-4D8FBE83B15E}"/>
              </a:ext>
            </a:extLst>
          </p:cNvPr>
          <p:cNvSpPr txBox="1"/>
          <p:nvPr/>
        </p:nvSpPr>
        <p:spPr>
          <a:xfrm>
            <a:off x="8420419" y="1209812"/>
            <a:ext cx="3407906" cy="4708981"/>
          </a:xfrm>
          <a:prstGeom prst="rect">
            <a:avLst/>
          </a:prstGeom>
          <a:noFill/>
        </p:spPr>
        <p:txBody>
          <a:bodyPr wrap="square" rtlCol="0">
            <a:spAutoFit/>
          </a:bodyPr>
          <a:lstStyle/>
          <a:p>
            <a:r>
              <a:rPr lang="en-US" altLang="zh-CN" sz="1000" b="1">
                <a:cs typeface="Lato Light"/>
              </a:rPr>
              <a:t>Minimum required input information </a:t>
            </a:r>
            <a:r>
              <a:rPr lang="en-US" altLang="zh-CN" sz="1000">
                <a:cs typeface="Lato Light"/>
              </a:rPr>
              <a:t>includes :</a:t>
            </a:r>
          </a:p>
          <a:p>
            <a:pPr marL="171450" indent="-171450">
              <a:buFont typeface="Arial" panose="020B0604020202020204" pitchFamily="34" charset="0"/>
              <a:buChar char="•"/>
            </a:pPr>
            <a:r>
              <a:rPr lang="en-US" altLang="zh-CN" sz="1000" b="1">
                <a:cs typeface="Lato Light"/>
              </a:rPr>
              <a:t>Product</a:t>
            </a:r>
          </a:p>
          <a:p>
            <a:pPr marL="171450" indent="-171450">
              <a:buFont typeface="Arial" panose="020B0604020202020204" pitchFamily="34" charset="0"/>
              <a:buChar char="•"/>
            </a:pPr>
            <a:r>
              <a:rPr lang="en-US" altLang="zh-CN" sz="1000" b="1">
                <a:cs typeface="Lato Light"/>
              </a:rPr>
              <a:t>Quantity</a:t>
            </a:r>
          </a:p>
          <a:p>
            <a:pPr marL="171450" indent="-171450">
              <a:buFont typeface="Arial" panose="020B0604020202020204" pitchFamily="34" charset="0"/>
              <a:buChar char="•"/>
            </a:pPr>
            <a:r>
              <a:rPr lang="en-US" altLang="zh-CN" sz="1000" b="1">
                <a:cs typeface="Lato Light"/>
              </a:rPr>
              <a:t>One-Time Price</a:t>
            </a:r>
          </a:p>
          <a:p>
            <a:pPr marL="171450" indent="-171450">
              <a:buFont typeface="Arial" panose="020B0604020202020204" pitchFamily="34" charset="0"/>
              <a:buChar char="•"/>
            </a:pPr>
            <a:r>
              <a:rPr lang="en-US" altLang="zh-CN" sz="1000" b="1">
                <a:cs typeface="Lato Light"/>
              </a:rPr>
              <a:t>Lease Type</a:t>
            </a:r>
          </a:p>
          <a:p>
            <a:endParaRPr lang="en-US" sz="1000">
              <a:cs typeface="Lato Light"/>
            </a:endParaRPr>
          </a:p>
          <a:p>
            <a:r>
              <a:rPr lang="en-US" altLang="zh-CN" sz="1000">
                <a:cs typeface="Lato Light"/>
              </a:rPr>
              <a:t>Users can either</a:t>
            </a:r>
            <a:r>
              <a:rPr lang="en-US" sz="1000">
                <a:cs typeface="Lato Light"/>
              </a:rPr>
              <a:t>:</a:t>
            </a:r>
          </a:p>
          <a:p>
            <a:r>
              <a:rPr lang="en-US" altLang="zh-CN" sz="1000">
                <a:cs typeface="Lato Light"/>
              </a:rPr>
              <a:t>Enter a Product ID directly</a:t>
            </a:r>
            <a:r>
              <a:rPr lang="en-US" sz="1000">
                <a:cs typeface="Lato Light"/>
              </a:rPr>
              <a:t> or</a:t>
            </a:r>
          </a:p>
          <a:p>
            <a:r>
              <a:rPr lang="en-US" altLang="zh-CN" sz="1000">
                <a:cs typeface="Lato Light"/>
              </a:rPr>
              <a:t>Click the Search Help (</a:t>
            </a:r>
            <a:r>
              <a:rPr lang="zh-CN" altLang="en-US" sz="1000">
                <a:cs typeface="Lato Light"/>
              </a:rPr>
              <a:t>🔍</a:t>
            </a:r>
            <a:r>
              <a:rPr lang="en-US" altLang="zh-CN" sz="1000">
                <a:cs typeface="Lato Light"/>
              </a:rPr>
              <a:t>) icon to search and select a product.</a:t>
            </a:r>
          </a:p>
          <a:p>
            <a:r>
              <a:rPr lang="en-US" altLang="zh-CN" sz="1000">
                <a:cs typeface="Lato Light"/>
              </a:rPr>
              <a:t>Users click ‘New’ to add one or more product items.</a:t>
            </a:r>
            <a:endParaRPr lang="en-US" sz="1000">
              <a:cs typeface="Lato Light"/>
            </a:endParaRPr>
          </a:p>
          <a:p>
            <a:pPr marL="171450" indent="-171450">
              <a:buFont typeface="Arial" panose="020B0604020202020204" pitchFamily="34" charset="0"/>
              <a:buChar char="•"/>
            </a:pPr>
            <a:endParaRPr lang="en-US" sz="1000">
              <a:cs typeface="Lato Light"/>
            </a:endParaRPr>
          </a:p>
          <a:p>
            <a:r>
              <a:rPr lang="en-US" altLang="zh-CN" sz="1000" b="1"/>
              <a:t>Automatically Derived Data</a:t>
            </a:r>
          </a:p>
          <a:p>
            <a:pPr marL="171450" indent="-171450">
              <a:buFont typeface="Arial" panose="020B0604020202020204" pitchFamily="34" charset="0"/>
              <a:buChar char="•"/>
            </a:pPr>
            <a:r>
              <a:rPr lang="en-US" altLang="zh-CN" sz="1000" b="1">
                <a:cs typeface="Lato Light"/>
              </a:rPr>
              <a:t>Service Fulfillment Time</a:t>
            </a:r>
          </a:p>
          <a:p>
            <a:pPr marL="171450" indent="-171450">
              <a:buFont typeface="Arial" panose="020B0604020202020204" pitchFamily="34" charset="0"/>
              <a:buChar char="•"/>
            </a:pPr>
            <a:r>
              <a:rPr lang="en-US" altLang="zh-CN" sz="1000" b="1">
                <a:cs typeface="Lato Light"/>
              </a:rPr>
              <a:t>Lease Type</a:t>
            </a:r>
          </a:p>
          <a:p>
            <a:r>
              <a:rPr lang="en-US" altLang="zh-CN" sz="1000">
                <a:cs typeface="Lato Light"/>
              </a:rPr>
              <a:t>based on: </a:t>
            </a:r>
          </a:p>
          <a:p>
            <a:r>
              <a:rPr lang="en-US" altLang="zh-CN" sz="1000">
                <a:cs typeface="Lato Light"/>
              </a:rPr>
              <a:t>Billing Request Reason</a:t>
            </a:r>
          </a:p>
          <a:p>
            <a:r>
              <a:rPr lang="en-US" altLang="zh-CN" sz="1000">
                <a:cs typeface="Lato Light"/>
              </a:rPr>
              <a:t>EaaS Category Header</a:t>
            </a:r>
          </a:p>
          <a:p>
            <a:endParaRPr lang="en-US" altLang="zh-CN" sz="1000">
              <a:cs typeface="Lato Light"/>
            </a:endParaRPr>
          </a:p>
          <a:p>
            <a:r>
              <a:rPr lang="en-US" altLang="zh-CN" sz="1000">
                <a:cs typeface="Lato Light"/>
              </a:rPr>
              <a:t>For billing request reason below, users must fill lease type OL or FL.</a:t>
            </a:r>
          </a:p>
          <a:p>
            <a:r>
              <a:rPr lang="en-US" altLang="zh-CN" sz="1000" b="1">
                <a:cs typeface="Lato Light"/>
              </a:rPr>
              <a:t>13 – Manual Monthly Billing</a:t>
            </a:r>
          </a:p>
          <a:p>
            <a:r>
              <a:rPr lang="en-US" altLang="zh-CN" sz="1000" b="1">
                <a:cs typeface="Lato Light"/>
              </a:rPr>
              <a:t>14 – Manual ICO Monthly Billing</a:t>
            </a:r>
          </a:p>
          <a:p>
            <a:endParaRPr lang="en-US" altLang="zh-CN" sz="1000" b="1">
              <a:cs typeface="Lato Light"/>
            </a:endParaRPr>
          </a:p>
          <a:p>
            <a:r>
              <a:rPr lang="en-US" altLang="zh-CN" sz="1000">
                <a:cs typeface="Lato Light"/>
              </a:rPr>
              <a:t>For billing request reason below, default lease type NA, users can change it to OL or FL.</a:t>
            </a:r>
            <a:endParaRPr lang="en-US" altLang="zh-CN" sz="1000" b="1">
              <a:cs typeface="Lato Light"/>
            </a:endParaRPr>
          </a:p>
          <a:p>
            <a:r>
              <a:rPr lang="en-US" altLang="zh-CN" sz="1000" b="1">
                <a:cs typeface="Lato Light"/>
              </a:rPr>
              <a:t>15 – Origination Fee</a:t>
            </a:r>
          </a:p>
          <a:p>
            <a:r>
              <a:rPr lang="en-US" altLang="zh-CN" sz="1000" b="1">
                <a:cs typeface="Lato Light"/>
              </a:rPr>
              <a:t>16 – Property Tax</a:t>
            </a:r>
          </a:p>
          <a:p>
            <a:r>
              <a:rPr lang="en-US" altLang="zh-CN" sz="1000" b="1">
                <a:cs typeface="Lato Light"/>
              </a:rPr>
              <a:t>17 – Penalty (Credit)</a:t>
            </a:r>
          </a:p>
          <a:p>
            <a:r>
              <a:rPr lang="en-US" altLang="zh-CN" sz="1000" b="1">
                <a:cs typeface="Lato Light"/>
              </a:rPr>
              <a:t>18 – Penalty ICO (Credit)</a:t>
            </a:r>
            <a:endParaRPr lang="en-US" sz="1000">
              <a:cs typeface="Lato Light"/>
            </a:endParaRPr>
          </a:p>
        </p:txBody>
      </p:sp>
      <p:pic>
        <p:nvPicPr>
          <p:cNvPr id="19" name="图片 18">
            <a:extLst>
              <a:ext uri="{FF2B5EF4-FFF2-40B4-BE49-F238E27FC236}">
                <a16:creationId xmlns:a16="http://schemas.microsoft.com/office/drawing/2014/main" id="{A173EB01-08B3-6FDA-E571-F4F6CE37EC05}"/>
              </a:ext>
            </a:extLst>
          </p:cNvPr>
          <p:cNvPicPr>
            <a:picLocks noChangeAspect="1"/>
          </p:cNvPicPr>
          <p:nvPr/>
        </p:nvPicPr>
        <p:blipFill>
          <a:blip r:embed="rId2"/>
          <a:stretch>
            <a:fillRect/>
          </a:stretch>
        </p:blipFill>
        <p:spPr>
          <a:xfrm>
            <a:off x="1926655" y="2758965"/>
            <a:ext cx="3928110" cy="3262580"/>
          </a:xfrm>
          <a:prstGeom prst="rect">
            <a:avLst/>
          </a:prstGeom>
        </p:spPr>
      </p:pic>
      <p:pic>
        <p:nvPicPr>
          <p:cNvPr id="21" name="图片 20">
            <a:extLst>
              <a:ext uri="{FF2B5EF4-FFF2-40B4-BE49-F238E27FC236}">
                <a16:creationId xmlns:a16="http://schemas.microsoft.com/office/drawing/2014/main" id="{F71B81C5-EF72-D434-C343-FBC77ECA7973}"/>
              </a:ext>
            </a:extLst>
          </p:cNvPr>
          <p:cNvPicPr>
            <a:picLocks noChangeAspect="1"/>
          </p:cNvPicPr>
          <p:nvPr/>
        </p:nvPicPr>
        <p:blipFill>
          <a:blip r:embed="rId3"/>
          <a:stretch>
            <a:fillRect/>
          </a:stretch>
        </p:blipFill>
        <p:spPr>
          <a:xfrm>
            <a:off x="320182" y="986104"/>
            <a:ext cx="7714806" cy="1630972"/>
          </a:xfrm>
          <a:prstGeom prst="rect">
            <a:avLst/>
          </a:prstGeom>
        </p:spPr>
      </p:pic>
      <p:sp>
        <p:nvSpPr>
          <p:cNvPr id="8" name="TextBox 97">
            <a:extLst>
              <a:ext uri="{FF2B5EF4-FFF2-40B4-BE49-F238E27FC236}">
                <a16:creationId xmlns:a16="http://schemas.microsoft.com/office/drawing/2014/main" id="{31F67733-AA87-9192-EE06-8637C4771741}"/>
              </a:ext>
            </a:extLst>
          </p:cNvPr>
          <p:cNvSpPr txBox="1"/>
          <p:nvPr/>
        </p:nvSpPr>
        <p:spPr>
          <a:xfrm>
            <a:off x="8420419" y="949318"/>
            <a:ext cx="2972520" cy="292388"/>
          </a:xfrm>
          <a:prstGeom prst="rect">
            <a:avLst/>
          </a:prstGeom>
          <a:noFill/>
        </p:spPr>
        <p:txBody>
          <a:bodyPr wrap="square" rtlCol="0">
            <a:spAutoFit/>
          </a:bodyPr>
          <a:lstStyle/>
          <a:p>
            <a:r>
              <a:rPr lang="en-US" altLang="zh-CN" sz="1300" b="1">
                <a:solidFill>
                  <a:srgbClr val="F26A52"/>
                </a:solidFill>
                <a:cs typeface="Lato Regular"/>
              </a:rPr>
              <a:t>Add Item Information</a:t>
            </a:r>
          </a:p>
        </p:txBody>
      </p:sp>
      <p:sp>
        <p:nvSpPr>
          <p:cNvPr id="9" name="Oval 114">
            <a:extLst>
              <a:ext uri="{FF2B5EF4-FFF2-40B4-BE49-F238E27FC236}">
                <a16:creationId xmlns:a16="http://schemas.microsoft.com/office/drawing/2014/main" id="{A01B4F32-528E-ED7D-78C4-BD28F0482B5D}"/>
              </a:ext>
            </a:extLst>
          </p:cNvPr>
          <p:cNvSpPr/>
          <p:nvPr/>
        </p:nvSpPr>
        <p:spPr>
          <a:xfrm>
            <a:off x="8191819" y="981212"/>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0" name="Oval 114">
            <a:extLst>
              <a:ext uri="{FF2B5EF4-FFF2-40B4-BE49-F238E27FC236}">
                <a16:creationId xmlns:a16="http://schemas.microsoft.com/office/drawing/2014/main" id="{F9854846-1D80-66E0-A3C8-7685A3457E36}"/>
              </a:ext>
            </a:extLst>
          </p:cNvPr>
          <p:cNvSpPr/>
          <p:nvPr/>
        </p:nvSpPr>
        <p:spPr>
          <a:xfrm>
            <a:off x="1210495" y="1572990"/>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39358762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75B10-DA38-BAAC-D716-A68DA4808EDB}"/>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FB07A5D1-1DE6-17E8-38A4-16E913B0E9E7}"/>
              </a:ext>
            </a:extLst>
          </p:cNvPr>
          <p:cNvPicPr>
            <a:picLocks noChangeAspect="1"/>
          </p:cNvPicPr>
          <p:nvPr/>
        </p:nvPicPr>
        <p:blipFill>
          <a:blip r:embed="rId2"/>
          <a:stretch>
            <a:fillRect/>
          </a:stretch>
        </p:blipFill>
        <p:spPr>
          <a:xfrm>
            <a:off x="320182" y="1017634"/>
            <a:ext cx="7530724" cy="4400447"/>
          </a:xfrm>
          <a:prstGeom prst="rect">
            <a:avLst/>
          </a:prstGeom>
        </p:spPr>
      </p:pic>
      <p:sp>
        <p:nvSpPr>
          <p:cNvPr id="3" name="标题 2">
            <a:extLst>
              <a:ext uri="{FF2B5EF4-FFF2-40B4-BE49-F238E27FC236}">
                <a16:creationId xmlns:a16="http://schemas.microsoft.com/office/drawing/2014/main" id="{FE06FE58-6320-7576-4BE0-47A2E6C6E273}"/>
              </a:ext>
            </a:extLst>
          </p:cNvPr>
          <p:cNvSpPr>
            <a:spLocks noGrp="1"/>
          </p:cNvSpPr>
          <p:nvPr>
            <p:ph type="title"/>
          </p:nvPr>
        </p:nvSpPr>
        <p:spPr/>
        <p:txBody>
          <a:bodyPr/>
          <a:lstStyle/>
          <a:p>
            <a:r>
              <a:rPr lang="en-US" altLang="zh-CN"/>
              <a:t>One-Time Billing Order Creation </a:t>
            </a:r>
            <a:endParaRPr lang="zh-CN" altLang="en-US"/>
          </a:p>
        </p:txBody>
      </p:sp>
      <p:sp>
        <p:nvSpPr>
          <p:cNvPr id="9" name="TextBox 93">
            <a:extLst>
              <a:ext uri="{FF2B5EF4-FFF2-40B4-BE49-F238E27FC236}">
                <a16:creationId xmlns:a16="http://schemas.microsoft.com/office/drawing/2014/main" id="{07BDDBD1-E5C0-A0A3-ED0A-F3061F1D707C}"/>
              </a:ext>
            </a:extLst>
          </p:cNvPr>
          <p:cNvSpPr txBox="1"/>
          <p:nvPr/>
        </p:nvSpPr>
        <p:spPr>
          <a:xfrm>
            <a:off x="8349600" y="1234277"/>
            <a:ext cx="3269587" cy="2246769"/>
          </a:xfrm>
          <a:prstGeom prst="rect">
            <a:avLst/>
          </a:prstGeom>
          <a:noFill/>
        </p:spPr>
        <p:txBody>
          <a:bodyPr wrap="square" rtlCol="0">
            <a:spAutoFit/>
          </a:bodyPr>
          <a:lstStyle/>
          <a:p>
            <a:r>
              <a:rPr lang="en-US" sz="1000">
                <a:cs typeface="Lato Light"/>
              </a:rPr>
              <a:t>After all required information is entered, users can:</a:t>
            </a:r>
          </a:p>
          <a:p>
            <a:r>
              <a:rPr lang="en-US" sz="1000">
                <a:cs typeface="Lato Light"/>
              </a:rPr>
              <a:t>1. Review the one-time billing order information.</a:t>
            </a:r>
          </a:p>
          <a:p>
            <a:r>
              <a:rPr lang="en-US" sz="1000">
                <a:cs typeface="Lato Light"/>
              </a:rPr>
              <a:t>2. Click Submit.</a:t>
            </a:r>
          </a:p>
          <a:p>
            <a:endParaRPr lang="en-US" sz="1000">
              <a:cs typeface="Lato Light"/>
            </a:endParaRPr>
          </a:p>
          <a:p>
            <a:r>
              <a:rPr lang="en-US" sz="1000" err="1">
                <a:cs typeface="Lato Light"/>
              </a:rPr>
              <a:t>NexBill</a:t>
            </a:r>
            <a:r>
              <a:rPr lang="en-US" sz="1000">
                <a:cs typeface="Lato Light"/>
              </a:rPr>
              <a:t> will validate the order and create a new One-Time Billing Order.</a:t>
            </a:r>
          </a:p>
          <a:p>
            <a:endParaRPr lang="en-US" sz="1000">
              <a:cs typeface="Lato Light"/>
            </a:endParaRPr>
          </a:p>
          <a:p>
            <a:r>
              <a:rPr lang="en-US" sz="1000" b="1">
                <a:cs typeface="Lato Light"/>
              </a:rPr>
              <a:t>Upon successful creation</a:t>
            </a:r>
            <a:r>
              <a:rPr lang="en-US" sz="1000">
                <a:cs typeface="Lato Light"/>
              </a:rPr>
              <a:t>:</a:t>
            </a:r>
          </a:p>
          <a:p>
            <a:endParaRPr lang="en-US" sz="1000">
              <a:cs typeface="Lato Light"/>
            </a:endParaRPr>
          </a:p>
          <a:p>
            <a:r>
              <a:rPr lang="en-US" sz="1000">
                <a:cs typeface="Lato Light"/>
              </a:rPr>
              <a:t>A One-Time Billing Order ID is generated.</a:t>
            </a:r>
          </a:p>
          <a:p>
            <a:r>
              <a:rPr lang="en-US" sz="1000">
                <a:cs typeface="Lato Light"/>
              </a:rPr>
              <a:t>Payment Schedule generation is triggered automatically.</a:t>
            </a:r>
          </a:p>
          <a:p>
            <a:r>
              <a:rPr lang="en-US" sz="1000">
                <a:cs typeface="Lato Light"/>
              </a:rPr>
              <a:t>Change History is recorded.</a:t>
            </a:r>
          </a:p>
          <a:p>
            <a:r>
              <a:rPr lang="en-US" sz="1000">
                <a:cs typeface="Lato Light"/>
              </a:rPr>
              <a:t>The order becomes available for billing processing.</a:t>
            </a:r>
          </a:p>
        </p:txBody>
      </p:sp>
      <p:pic>
        <p:nvPicPr>
          <p:cNvPr id="19" name="图片 18">
            <a:extLst>
              <a:ext uri="{FF2B5EF4-FFF2-40B4-BE49-F238E27FC236}">
                <a16:creationId xmlns:a16="http://schemas.microsoft.com/office/drawing/2014/main" id="{84B955DE-A9C8-C6EC-1DC8-12CBE23B7577}"/>
              </a:ext>
            </a:extLst>
          </p:cNvPr>
          <p:cNvPicPr>
            <a:picLocks noChangeAspect="1"/>
          </p:cNvPicPr>
          <p:nvPr/>
        </p:nvPicPr>
        <p:blipFill>
          <a:blip r:embed="rId3"/>
          <a:stretch>
            <a:fillRect/>
          </a:stretch>
        </p:blipFill>
        <p:spPr>
          <a:xfrm>
            <a:off x="1587061" y="1394298"/>
            <a:ext cx="4466897" cy="4743166"/>
          </a:xfrm>
          <a:prstGeom prst="rect">
            <a:avLst/>
          </a:prstGeom>
        </p:spPr>
      </p:pic>
      <p:sp>
        <p:nvSpPr>
          <p:cNvPr id="22" name="Oval 113">
            <a:extLst>
              <a:ext uri="{FF2B5EF4-FFF2-40B4-BE49-F238E27FC236}">
                <a16:creationId xmlns:a16="http://schemas.microsoft.com/office/drawing/2014/main" id="{3A76D0FF-FA08-5063-4817-90A404E06DAB}"/>
              </a:ext>
            </a:extLst>
          </p:cNvPr>
          <p:cNvSpPr/>
          <p:nvPr/>
        </p:nvSpPr>
        <p:spPr>
          <a:xfrm>
            <a:off x="7320837" y="5373115"/>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2" name="TextBox 92">
            <a:extLst>
              <a:ext uri="{FF2B5EF4-FFF2-40B4-BE49-F238E27FC236}">
                <a16:creationId xmlns:a16="http://schemas.microsoft.com/office/drawing/2014/main" id="{1D59B19C-FB87-3D3B-04C8-A87AC655A00F}"/>
              </a:ext>
            </a:extLst>
          </p:cNvPr>
          <p:cNvSpPr txBox="1"/>
          <p:nvPr/>
        </p:nvSpPr>
        <p:spPr>
          <a:xfrm>
            <a:off x="8349599" y="956895"/>
            <a:ext cx="1839512"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Review and Submit</a:t>
            </a:r>
            <a:endParaRPr lang="en-US" sz="1300" b="1">
              <a:solidFill>
                <a:schemeClr val="accent4">
                  <a:lumMod val="75000"/>
                  <a:lumOff val="25000"/>
                </a:schemeClr>
              </a:solidFill>
              <a:cs typeface="Lato Regular"/>
            </a:endParaRPr>
          </a:p>
        </p:txBody>
      </p:sp>
      <p:sp>
        <p:nvSpPr>
          <p:cNvPr id="6" name="Oval 113">
            <a:extLst>
              <a:ext uri="{FF2B5EF4-FFF2-40B4-BE49-F238E27FC236}">
                <a16:creationId xmlns:a16="http://schemas.microsoft.com/office/drawing/2014/main" id="{A6739710-908B-A29D-73F0-DB5E17F4AE09}"/>
              </a:ext>
            </a:extLst>
          </p:cNvPr>
          <p:cNvSpPr/>
          <p:nvPr/>
        </p:nvSpPr>
        <p:spPr>
          <a:xfrm>
            <a:off x="8101684" y="988789"/>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Tree>
    <p:extLst>
      <p:ext uri="{BB962C8B-B14F-4D97-AF65-F5344CB8AC3E}">
        <p14:creationId xmlns:p14="http://schemas.microsoft.com/office/powerpoint/2010/main" val="277902477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2" grpId="0" animBg="1"/>
      <p:bldP spid="2" grpId="0"/>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A7DE-39BB-18CF-5593-6E06B89C6DC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CA9E2CF-D3ED-1C68-7103-62933FF0AE3D}"/>
              </a:ext>
            </a:extLst>
          </p:cNvPr>
          <p:cNvSpPr>
            <a:spLocks noGrp="1"/>
          </p:cNvSpPr>
          <p:nvPr>
            <p:ph type="title"/>
          </p:nvPr>
        </p:nvSpPr>
        <p:spPr/>
        <p:txBody>
          <a:bodyPr/>
          <a:lstStyle/>
          <a:p>
            <a:r>
              <a:rPr lang="en-US" altLang="zh-CN"/>
              <a:t>Subscription Order Mass Change - Choose the Right Mode </a:t>
            </a:r>
            <a:endParaRPr lang="zh-CN" altLang="en-US"/>
          </a:p>
        </p:txBody>
      </p:sp>
      <p:sp>
        <p:nvSpPr>
          <p:cNvPr id="2" name="Text 1">
            <a:extLst>
              <a:ext uri="{FF2B5EF4-FFF2-40B4-BE49-F238E27FC236}">
                <a16:creationId xmlns:a16="http://schemas.microsoft.com/office/drawing/2014/main" id="{E466971C-13E7-7351-1BFC-DE3FF58D2B8F}"/>
              </a:ext>
            </a:extLst>
          </p:cNvPr>
          <p:cNvSpPr/>
          <p:nvPr/>
        </p:nvSpPr>
        <p:spPr>
          <a:xfrm>
            <a:off x="396957" y="742277"/>
            <a:ext cx="10241280" cy="228600"/>
          </a:xfrm>
          <a:prstGeom prst="rect">
            <a:avLst/>
          </a:prstGeom>
          <a:noFill/>
          <a:ln/>
        </p:spPr>
        <p:txBody>
          <a:bodyPr wrap="square" lIns="0" tIns="0" rIns="0" bIns="0" rtlCol="0" anchor="ctr">
            <a:normAutofit/>
          </a:bodyPr>
          <a:lstStyle/>
          <a:p>
            <a:pPr marL="0" indent="0" algn="l">
              <a:buNone/>
            </a:pPr>
            <a:r>
              <a:rPr lang="en-US" sz="1200" i="1">
                <a:solidFill>
                  <a:srgbClr val="5D6775"/>
                </a:solidFill>
                <a:latin typeface="Aptos" pitchFamily="34" charset="0"/>
                <a:ea typeface="Aptos" pitchFamily="34" charset="-122"/>
                <a:cs typeface="Aptos" pitchFamily="34" charset="-120"/>
              </a:rPr>
              <a:t>A simple decision path for Key Users: choose the business object first, then apply the appropriate change scope.</a:t>
            </a:r>
            <a:endParaRPr lang="en-US" sz="1200"/>
          </a:p>
        </p:txBody>
      </p:sp>
      <p:sp>
        <p:nvSpPr>
          <p:cNvPr id="46" name="Text 2">
            <a:extLst>
              <a:ext uri="{FF2B5EF4-FFF2-40B4-BE49-F238E27FC236}">
                <a16:creationId xmlns:a16="http://schemas.microsoft.com/office/drawing/2014/main" id="{FEE59FE3-0F49-6893-3705-C8149225850F}"/>
              </a:ext>
            </a:extLst>
          </p:cNvPr>
          <p:cNvSpPr/>
          <p:nvPr/>
        </p:nvSpPr>
        <p:spPr>
          <a:xfrm>
            <a:off x="7990251" y="842012"/>
            <a:ext cx="3728344" cy="566928"/>
          </a:xfrm>
          <a:prstGeom prst="rect">
            <a:avLst/>
          </a:prstGeom>
          <a:solidFill>
            <a:srgbClr val="123E86"/>
          </a:solidFill>
          <a:ln w="12700">
            <a:solidFill>
              <a:srgbClr val="123E86"/>
            </a:solidFill>
          </a:ln>
        </p:spPr>
        <p:txBody>
          <a:bodyPr wrap="square" lIns="762" tIns="762" rIns="762" bIns="762" rtlCol="0" anchor="ctr">
            <a:normAutofit/>
          </a:bodyPr>
          <a:lstStyle/>
          <a:p>
            <a:pPr marL="0" indent="0" algn="ctr">
              <a:buNone/>
            </a:pPr>
            <a:r>
              <a:rPr lang="en-US" sz="1000" b="1">
                <a:solidFill>
                  <a:srgbClr val="FFFFFF"/>
                </a:solidFill>
                <a:latin typeface="Aptos" pitchFamily="34" charset="0"/>
                <a:ea typeface="Aptos" pitchFamily="34" charset="-122"/>
                <a:cs typeface="Aptos" pitchFamily="34" charset="-120"/>
              </a:rPr>
              <a:t>KEY USER RULE</a:t>
            </a:r>
            <a:endParaRPr lang="en-US" sz="1000"/>
          </a:p>
          <a:p>
            <a:pPr marL="0" indent="0" algn="ctr">
              <a:buNone/>
            </a:pPr>
            <a:r>
              <a:rPr lang="en-US" sz="1000" b="1">
                <a:solidFill>
                  <a:srgbClr val="FFFFFF"/>
                </a:solidFill>
                <a:latin typeface="Aptos" pitchFamily="34" charset="0"/>
                <a:ea typeface="Aptos" pitchFamily="34" charset="-122"/>
                <a:cs typeface="Aptos" pitchFamily="34" charset="-120"/>
              </a:rPr>
              <a:t>Whole Order → Order View   |   Selected </a:t>
            </a:r>
            <a:r>
              <a:rPr lang="en-US" altLang="zh-CN" sz="1000" b="1">
                <a:solidFill>
                  <a:srgbClr val="FFFFFF"/>
                </a:solidFill>
                <a:latin typeface="Aptos" pitchFamily="34" charset="0"/>
                <a:ea typeface="Aptos" pitchFamily="34" charset="-122"/>
                <a:cs typeface="Aptos" pitchFamily="34" charset="-120"/>
              </a:rPr>
              <a:t>Device</a:t>
            </a:r>
            <a:r>
              <a:rPr lang="en-US" sz="1000" b="1">
                <a:solidFill>
                  <a:srgbClr val="FFFFFF"/>
                </a:solidFill>
                <a:latin typeface="Aptos" pitchFamily="34" charset="0"/>
                <a:ea typeface="Aptos" pitchFamily="34" charset="-122"/>
                <a:cs typeface="Aptos" pitchFamily="34" charset="-120"/>
              </a:rPr>
              <a:t>s → Devices View</a:t>
            </a:r>
            <a:endParaRPr lang="en-US" sz="1000"/>
          </a:p>
        </p:txBody>
      </p:sp>
      <p:sp>
        <p:nvSpPr>
          <p:cNvPr id="47" name="Text 3">
            <a:extLst>
              <a:ext uri="{FF2B5EF4-FFF2-40B4-BE49-F238E27FC236}">
                <a16:creationId xmlns:a16="http://schemas.microsoft.com/office/drawing/2014/main" id="{5CFD3AF2-31B3-784D-29A2-39E65D234378}"/>
              </a:ext>
            </a:extLst>
          </p:cNvPr>
          <p:cNvSpPr/>
          <p:nvPr/>
        </p:nvSpPr>
        <p:spPr>
          <a:xfrm>
            <a:off x="488397" y="1217765"/>
            <a:ext cx="301752" cy="301752"/>
          </a:xfrm>
          <a:prstGeom prst="rect">
            <a:avLst/>
          </a:prstGeom>
          <a:solidFill>
            <a:srgbClr val="1769C2"/>
          </a:solidFill>
          <a:ln w="12700">
            <a:solidFill>
              <a:srgbClr val="1769C2"/>
            </a:solidFill>
          </a:ln>
        </p:spPr>
        <p:txBody>
          <a:bodyPr wrap="square" lIns="0" tIns="0" rIns="0" bIns="0" rtlCol="0" anchor="ctr">
            <a:normAutofit/>
          </a:bodyPr>
          <a:lstStyle/>
          <a:p>
            <a:pPr marL="0" indent="0" algn="ctr">
              <a:buNone/>
            </a:pPr>
            <a:r>
              <a:rPr lang="en-US" sz="1050" b="1">
                <a:solidFill>
                  <a:srgbClr val="FFFFFF"/>
                </a:solidFill>
                <a:latin typeface="Aptos" pitchFamily="34" charset="0"/>
                <a:ea typeface="Aptos" pitchFamily="34" charset="-122"/>
                <a:cs typeface="Aptos" pitchFamily="34" charset="-120"/>
              </a:rPr>
              <a:t>1</a:t>
            </a:r>
            <a:endParaRPr lang="en-US" sz="1050"/>
          </a:p>
        </p:txBody>
      </p:sp>
      <p:sp>
        <p:nvSpPr>
          <p:cNvPr id="48" name="Text 4">
            <a:extLst>
              <a:ext uri="{FF2B5EF4-FFF2-40B4-BE49-F238E27FC236}">
                <a16:creationId xmlns:a16="http://schemas.microsoft.com/office/drawing/2014/main" id="{A362F560-1FA6-31A0-7713-0D9F83CBCFE1}"/>
              </a:ext>
            </a:extLst>
          </p:cNvPr>
          <p:cNvSpPr/>
          <p:nvPr/>
        </p:nvSpPr>
        <p:spPr>
          <a:xfrm>
            <a:off x="863301" y="1199477"/>
            <a:ext cx="2926080" cy="274320"/>
          </a:xfrm>
          <a:prstGeom prst="rect">
            <a:avLst/>
          </a:prstGeom>
          <a:noFill/>
          <a:ln/>
        </p:spPr>
        <p:txBody>
          <a:bodyPr wrap="square" lIns="635" tIns="635" rIns="635" bIns="635" rtlCol="0" anchor="ctr">
            <a:normAutofit/>
          </a:bodyPr>
          <a:lstStyle/>
          <a:p>
            <a:pPr marL="0" indent="0" algn="l">
              <a:buNone/>
            </a:pPr>
            <a:r>
              <a:rPr lang="en-US" sz="1550" b="1">
                <a:solidFill>
                  <a:srgbClr val="123E86"/>
                </a:solidFill>
                <a:latin typeface="Aptos" pitchFamily="34" charset="0"/>
                <a:ea typeface="Aptos" pitchFamily="34" charset="-122"/>
                <a:cs typeface="Aptos" pitchFamily="34" charset="-120"/>
              </a:rPr>
              <a:t>What are you changing?</a:t>
            </a:r>
            <a:endParaRPr lang="en-US" sz="1550"/>
          </a:p>
        </p:txBody>
      </p:sp>
      <p:sp>
        <p:nvSpPr>
          <p:cNvPr id="49" name="Text 5">
            <a:extLst>
              <a:ext uri="{FF2B5EF4-FFF2-40B4-BE49-F238E27FC236}">
                <a16:creationId xmlns:a16="http://schemas.microsoft.com/office/drawing/2014/main" id="{A1AC25D4-18B5-33B8-9599-3E23206F99C0}"/>
              </a:ext>
            </a:extLst>
          </p:cNvPr>
          <p:cNvSpPr/>
          <p:nvPr/>
        </p:nvSpPr>
        <p:spPr>
          <a:xfrm>
            <a:off x="488397" y="1592669"/>
            <a:ext cx="5120640" cy="1170432"/>
          </a:xfrm>
          <a:prstGeom prst="rect">
            <a:avLst/>
          </a:prstGeom>
          <a:solidFill>
            <a:srgbClr val="EEF5FD"/>
          </a:solidFill>
          <a:ln w="12700">
            <a:solidFill>
              <a:srgbClr val="1769C2"/>
            </a:solidFill>
          </a:ln>
        </p:spPr>
        <p:txBody>
          <a:bodyPr wrap="square" lIns="1524" tIns="1524" rIns="1524" bIns="1524" rtlCol="0" anchor="ctr">
            <a:normAutofit/>
          </a:bodyPr>
          <a:lstStyle/>
          <a:p>
            <a:pPr marL="0" indent="0" algn="ctr">
              <a:buNone/>
            </a:pPr>
            <a:r>
              <a:rPr lang="en-US" sz="1200" b="1">
                <a:solidFill>
                  <a:srgbClr val="25364A"/>
                </a:solidFill>
                <a:latin typeface="Aptos" pitchFamily="34" charset="0"/>
                <a:ea typeface="Aptos" pitchFamily="34" charset="-122"/>
                <a:cs typeface="Aptos" pitchFamily="34" charset="-120"/>
              </a:rPr>
              <a:t>SUBSCRIPTION ORDER VIEW</a:t>
            </a:r>
            <a:endParaRPr lang="en-US" sz="1200"/>
          </a:p>
          <a:p>
            <a:pPr marL="0" indent="0" algn="ctr">
              <a:buNone/>
            </a:pPr>
            <a:r>
              <a:rPr lang="en-US" sz="1200" b="1">
                <a:solidFill>
                  <a:srgbClr val="0070C0"/>
                </a:solidFill>
                <a:latin typeface="Aptos" pitchFamily="34" charset="0"/>
                <a:ea typeface="Aptos" pitchFamily="34" charset="-122"/>
                <a:cs typeface="Aptos" pitchFamily="34" charset="-120"/>
              </a:rPr>
              <a:t>Change applies to the entire Subscription Order</a:t>
            </a:r>
          </a:p>
          <a:p>
            <a:pPr marL="0" indent="0" algn="ctr">
              <a:buNone/>
            </a:pPr>
            <a:endParaRPr lang="en-US" sz="1220" b="1">
              <a:solidFill>
                <a:srgbClr val="25364A"/>
              </a:solidFill>
              <a:latin typeface="Aptos" pitchFamily="34" charset="0"/>
            </a:endParaRPr>
          </a:p>
          <a:p>
            <a:pPr marL="0" indent="0" algn="ctr">
              <a:buNone/>
            </a:pPr>
            <a:endParaRPr lang="en-US" sz="1220" b="1">
              <a:solidFill>
                <a:srgbClr val="25364A"/>
              </a:solidFill>
              <a:latin typeface="Aptos" pitchFamily="34" charset="0"/>
            </a:endParaRPr>
          </a:p>
          <a:p>
            <a:pPr marL="0" indent="0" algn="ctr">
              <a:buNone/>
            </a:pPr>
            <a:endParaRPr lang="en-US" sz="1220"/>
          </a:p>
        </p:txBody>
      </p:sp>
      <p:sp>
        <p:nvSpPr>
          <p:cNvPr id="50" name="Text 6">
            <a:extLst>
              <a:ext uri="{FF2B5EF4-FFF2-40B4-BE49-F238E27FC236}">
                <a16:creationId xmlns:a16="http://schemas.microsoft.com/office/drawing/2014/main" id="{257691BB-7E5A-EA71-3830-48D51D65973C}"/>
              </a:ext>
            </a:extLst>
          </p:cNvPr>
          <p:cNvSpPr/>
          <p:nvPr/>
        </p:nvSpPr>
        <p:spPr>
          <a:xfrm>
            <a:off x="6597955" y="1592669"/>
            <a:ext cx="5120640" cy="1170432"/>
          </a:xfrm>
          <a:prstGeom prst="rect">
            <a:avLst/>
          </a:prstGeom>
          <a:solidFill>
            <a:srgbClr val="EDF9FA"/>
          </a:solidFill>
          <a:ln w="12700">
            <a:solidFill>
              <a:srgbClr val="14A2B3"/>
            </a:solidFill>
          </a:ln>
        </p:spPr>
        <p:txBody>
          <a:bodyPr wrap="square" lIns="1524" tIns="1524" rIns="1524" bIns="1524" rtlCol="0" anchor="ctr">
            <a:normAutofit/>
          </a:bodyPr>
          <a:lstStyle/>
          <a:p>
            <a:pPr marL="0" indent="0" algn="ctr">
              <a:buNone/>
            </a:pPr>
            <a:r>
              <a:rPr lang="en-US" sz="1200" b="1">
                <a:solidFill>
                  <a:srgbClr val="25364A"/>
                </a:solidFill>
                <a:latin typeface="Aptos" pitchFamily="34" charset="0"/>
                <a:ea typeface="Aptos" pitchFamily="34" charset="-122"/>
                <a:cs typeface="Aptos" pitchFamily="34" charset="-120"/>
              </a:rPr>
              <a:t>DEVICE VIEW</a:t>
            </a:r>
            <a:endParaRPr lang="en-US" sz="1200"/>
          </a:p>
          <a:p>
            <a:pPr marL="0" indent="0" algn="ctr">
              <a:buNone/>
            </a:pPr>
            <a:r>
              <a:rPr lang="en-US" sz="1200" b="1">
                <a:solidFill>
                  <a:srgbClr val="7030A0"/>
                </a:solidFill>
                <a:latin typeface="Aptos" pitchFamily="34" charset="0"/>
                <a:ea typeface="Aptos" pitchFamily="34" charset="-122"/>
                <a:cs typeface="Aptos" pitchFamily="34" charset="-120"/>
              </a:rPr>
              <a:t>Change applies to specific devices within a Subscription Order</a:t>
            </a:r>
          </a:p>
          <a:p>
            <a:pPr marL="0" indent="0" algn="ctr">
              <a:buNone/>
            </a:pPr>
            <a:endParaRPr lang="en-US" sz="1220" b="1">
              <a:solidFill>
                <a:srgbClr val="25364A"/>
              </a:solidFill>
              <a:latin typeface="Aptos" pitchFamily="34" charset="0"/>
            </a:endParaRPr>
          </a:p>
          <a:p>
            <a:pPr marL="0" indent="0" algn="ctr">
              <a:buNone/>
            </a:pPr>
            <a:endParaRPr lang="en-US" sz="1220" b="1">
              <a:solidFill>
                <a:srgbClr val="25364A"/>
              </a:solidFill>
              <a:latin typeface="Aptos" pitchFamily="34" charset="0"/>
            </a:endParaRPr>
          </a:p>
          <a:p>
            <a:pPr marL="0" indent="0" algn="ctr">
              <a:buNone/>
            </a:pPr>
            <a:endParaRPr lang="en-US" sz="1220"/>
          </a:p>
        </p:txBody>
      </p:sp>
      <p:sp>
        <p:nvSpPr>
          <p:cNvPr id="51" name="Text 7">
            <a:extLst>
              <a:ext uri="{FF2B5EF4-FFF2-40B4-BE49-F238E27FC236}">
                <a16:creationId xmlns:a16="http://schemas.microsoft.com/office/drawing/2014/main" id="{F7B76824-1B9A-DBFA-A50F-AD0E868B5CF7}"/>
              </a:ext>
            </a:extLst>
          </p:cNvPr>
          <p:cNvSpPr/>
          <p:nvPr/>
        </p:nvSpPr>
        <p:spPr>
          <a:xfrm>
            <a:off x="671277" y="2269325"/>
            <a:ext cx="1051560" cy="265176"/>
          </a:xfrm>
          <a:prstGeom prst="rect">
            <a:avLst/>
          </a:prstGeom>
          <a:solidFill>
            <a:srgbClr val="1769C2"/>
          </a:solidFill>
          <a:ln w="12700">
            <a:solidFill>
              <a:srgbClr val="1769C2"/>
            </a:solidFill>
          </a:ln>
        </p:spPr>
        <p:txBody>
          <a:bodyPr wrap="square" lIns="254" tIns="254" rIns="254" bIns="254" rtlCol="0" anchor="ctr">
            <a:normAutofit/>
          </a:bodyPr>
          <a:lstStyle/>
          <a:p>
            <a:pPr marL="0" indent="0" algn="ctr">
              <a:buNone/>
            </a:pPr>
            <a:r>
              <a:rPr lang="en-US" sz="870" b="1">
                <a:solidFill>
                  <a:srgbClr val="FFFFFF"/>
                </a:solidFill>
                <a:latin typeface="Aptos" pitchFamily="34" charset="0"/>
                <a:ea typeface="Aptos" pitchFamily="34" charset="-122"/>
                <a:cs typeface="Aptos" pitchFamily="34" charset="-120"/>
              </a:rPr>
              <a:t>WHOLE ORDER</a:t>
            </a:r>
            <a:endParaRPr lang="en-US" sz="870"/>
          </a:p>
        </p:txBody>
      </p:sp>
      <p:sp>
        <p:nvSpPr>
          <p:cNvPr id="52" name="Text 8">
            <a:extLst>
              <a:ext uri="{FF2B5EF4-FFF2-40B4-BE49-F238E27FC236}">
                <a16:creationId xmlns:a16="http://schemas.microsoft.com/office/drawing/2014/main" id="{A430C8F9-CDBB-DA2D-4835-B39BCFA84443}"/>
              </a:ext>
            </a:extLst>
          </p:cNvPr>
          <p:cNvSpPr/>
          <p:nvPr/>
        </p:nvSpPr>
        <p:spPr>
          <a:xfrm>
            <a:off x="1924005" y="2149721"/>
            <a:ext cx="3410712" cy="595824"/>
          </a:xfrm>
          <a:prstGeom prst="rect">
            <a:avLst/>
          </a:prstGeom>
          <a:noFill/>
          <a:ln/>
        </p:spPr>
        <p:txBody>
          <a:bodyPr wrap="square" lIns="635" tIns="635" rIns="635" bIns="635" rtlCol="0" anchor="ctr">
            <a:noAutofit/>
          </a:bodyPr>
          <a:lstStyle/>
          <a:p>
            <a:r>
              <a:rPr lang="en-US" altLang="zh-CN" sz="1000">
                <a:solidFill>
                  <a:srgbClr val="25364A"/>
                </a:solidFill>
                <a:latin typeface="Aptos" pitchFamily="34" charset="0"/>
                <a:ea typeface="Aptos" pitchFamily="34" charset="-122"/>
                <a:cs typeface="Aptos" pitchFamily="34" charset="-120"/>
              </a:rPr>
              <a:t>• </a:t>
            </a:r>
            <a:r>
              <a:rPr lang="en-US" sz="1000" b="1">
                <a:solidFill>
                  <a:srgbClr val="25364A"/>
                </a:solidFill>
                <a:latin typeface="Aptos" pitchFamily="34" charset="0"/>
                <a:ea typeface="Aptos" pitchFamily="34" charset="-122"/>
                <a:cs typeface="Aptos" pitchFamily="34" charset="-120"/>
              </a:rPr>
              <a:t>Bill-To • Ship-To • Ship-To Address</a:t>
            </a:r>
          </a:p>
          <a:p>
            <a:r>
              <a:rPr lang="en-US" altLang="zh-CN" sz="1000" b="1">
                <a:solidFill>
                  <a:srgbClr val="25364A"/>
                </a:solidFill>
                <a:latin typeface="Aptos" pitchFamily="34" charset="0"/>
                <a:ea typeface="Aptos" pitchFamily="34" charset="-122"/>
                <a:cs typeface="Aptos" pitchFamily="34" charset="-120"/>
              </a:rPr>
              <a:t>• </a:t>
            </a:r>
            <a:r>
              <a:rPr lang="en-US" sz="1000" b="1">
                <a:solidFill>
                  <a:srgbClr val="25364A"/>
                </a:solidFill>
                <a:latin typeface="Aptos" pitchFamily="34" charset="0"/>
                <a:ea typeface="Aptos" pitchFamily="34" charset="-122"/>
                <a:cs typeface="Aptos" pitchFamily="34" charset="-120"/>
              </a:rPr>
              <a:t>PO • Payment Term</a:t>
            </a:r>
          </a:p>
          <a:p>
            <a:r>
              <a:rPr lang="en-US" altLang="zh-CN" sz="1000" b="1">
                <a:solidFill>
                  <a:srgbClr val="25364A"/>
                </a:solidFill>
                <a:latin typeface="Aptos" pitchFamily="34" charset="0"/>
                <a:ea typeface="Aptos" pitchFamily="34" charset="-122"/>
                <a:cs typeface="Aptos" pitchFamily="34" charset="-120"/>
              </a:rPr>
              <a:t>• </a:t>
            </a:r>
            <a:r>
              <a:rPr lang="en-US" sz="1000" b="1">
                <a:solidFill>
                  <a:srgbClr val="25364A"/>
                </a:solidFill>
                <a:latin typeface="Aptos" pitchFamily="34" charset="0"/>
                <a:ea typeface="Aptos" pitchFamily="34" charset="-122"/>
                <a:cs typeface="Aptos" pitchFamily="34" charset="-120"/>
              </a:rPr>
              <a:t>Lock / Unlock </a:t>
            </a:r>
            <a:r>
              <a:rPr lang="en-US" altLang="zh-CN" sz="1000" b="1">
                <a:solidFill>
                  <a:srgbClr val="1E2430"/>
                </a:solidFill>
                <a:latin typeface="Aptos" pitchFamily="34" charset="0"/>
                <a:ea typeface="Aptos" pitchFamily="34" charset="-122"/>
                <a:cs typeface="Aptos" pitchFamily="34" charset="-120"/>
              </a:rPr>
              <a:t>Payment Schedule</a:t>
            </a:r>
            <a:r>
              <a:rPr lang="en-US" sz="1000" b="1">
                <a:solidFill>
                  <a:srgbClr val="25364A"/>
                </a:solidFill>
                <a:latin typeface="Aptos" pitchFamily="34" charset="0"/>
                <a:ea typeface="Aptos" pitchFamily="34" charset="-122"/>
                <a:cs typeface="Aptos" pitchFamily="34" charset="-120"/>
              </a:rPr>
              <a:t> </a:t>
            </a:r>
          </a:p>
          <a:p>
            <a:r>
              <a:rPr lang="en-US" altLang="zh-CN" sz="1000" b="1">
                <a:solidFill>
                  <a:srgbClr val="25364A"/>
                </a:solidFill>
                <a:latin typeface="Aptos" pitchFamily="34" charset="0"/>
                <a:ea typeface="Aptos" pitchFamily="34" charset="-122"/>
                <a:cs typeface="Aptos" pitchFamily="34" charset="-120"/>
              </a:rPr>
              <a:t>• </a:t>
            </a:r>
            <a:r>
              <a:rPr lang="en-US" sz="1000" b="1">
                <a:solidFill>
                  <a:srgbClr val="25364A"/>
                </a:solidFill>
                <a:latin typeface="Aptos" pitchFamily="34" charset="0"/>
                <a:ea typeface="Aptos" pitchFamily="34" charset="-122"/>
                <a:cs typeface="Aptos" pitchFamily="34" charset="-120"/>
              </a:rPr>
              <a:t>Cancel </a:t>
            </a:r>
            <a:r>
              <a:rPr lang="en-US" altLang="zh-CN" sz="1000" b="1">
                <a:solidFill>
                  <a:srgbClr val="1E2430"/>
                </a:solidFill>
                <a:latin typeface="Aptos" pitchFamily="34" charset="0"/>
                <a:ea typeface="Aptos" pitchFamily="34" charset="-122"/>
                <a:cs typeface="Aptos" pitchFamily="34" charset="-120"/>
              </a:rPr>
              <a:t>Subscription Order </a:t>
            </a:r>
            <a:endParaRPr lang="en-US" sz="1000" b="1"/>
          </a:p>
        </p:txBody>
      </p:sp>
      <p:sp>
        <p:nvSpPr>
          <p:cNvPr id="53" name="Text 9">
            <a:extLst>
              <a:ext uri="{FF2B5EF4-FFF2-40B4-BE49-F238E27FC236}">
                <a16:creationId xmlns:a16="http://schemas.microsoft.com/office/drawing/2014/main" id="{6BB7D56A-6351-7835-545D-29474E7389B8}"/>
              </a:ext>
            </a:extLst>
          </p:cNvPr>
          <p:cNvSpPr/>
          <p:nvPr/>
        </p:nvSpPr>
        <p:spPr>
          <a:xfrm>
            <a:off x="6834333" y="2296757"/>
            <a:ext cx="1143000" cy="265176"/>
          </a:xfrm>
          <a:prstGeom prst="rect">
            <a:avLst/>
          </a:prstGeom>
          <a:solidFill>
            <a:srgbClr val="14A2B3"/>
          </a:solidFill>
          <a:ln w="12700">
            <a:solidFill>
              <a:srgbClr val="14A2B3"/>
            </a:solidFill>
          </a:ln>
        </p:spPr>
        <p:txBody>
          <a:bodyPr wrap="square" lIns="254" tIns="254" rIns="254" bIns="254" rtlCol="0" anchor="ctr">
            <a:normAutofit/>
          </a:bodyPr>
          <a:lstStyle/>
          <a:p>
            <a:pPr marL="0" indent="0" algn="ctr">
              <a:buNone/>
            </a:pPr>
            <a:r>
              <a:rPr lang="en-US" sz="870" b="1">
                <a:solidFill>
                  <a:srgbClr val="FFFFFF"/>
                </a:solidFill>
                <a:latin typeface="Aptos" pitchFamily="34" charset="0"/>
                <a:ea typeface="Aptos" pitchFamily="34" charset="-122"/>
                <a:cs typeface="Aptos" pitchFamily="34" charset="-120"/>
              </a:rPr>
              <a:t>SELECTED DEVICES</a:t>
            </a:r>
            <a:endParaRPr lang="en-US" sz="870"/>
          </a:p>
        </p:txBody>
      </p:sp>
      <p:sp>
        <p:nvSpPr>
          <p:cNvPr id="54" name="Text 10">
            <a:extLst>
              <a:ext uri="{FF2B5EF4-FFF2-40B4-BE49-F238E27FC236}">
                <a16:creationId xmlns:a16="http://schemas.microsoft.com/office/drawing/2014/main" id="{CD36D3DB-236A-FE16-6018-61CAFB1089DC}"/>
              </a:ext>
            </a:extLst>
          </p:cNvPr>
          <p:cNvSpPr/>
          <p:nvPr/>
        </p:nvSpPr>
        <p:spPr>
          <a:xfrm>
            <a:off x="8132781" y="2149721"/>
            <a:ext cx="3227832" cy="576804"/>
          </a:xfrm>
          <a:prstGeom prst="rect">
            <a:avLst/>
          </a:prstGeom>
          <a:noFill/>
          <a:ln/>
        </p:spPr>
        <p:txBody>
          <a:bodyPr wrap="square" lIns="635" tIns="635" rIns="635" bIns="635" rtlCol="0" anchor="ctr">
            <a:normAutofit/>
          </a:bodyPr>
          <a:lstStyle/>
          <a:p>
            <a:r>
              <a:rPr lang="en-US" altLang="zh-CN" sz="1000" b="1">
                <a:solidFill>
                  <a:srgbClr val="25364A"/>
                </a:solidFill>
                <a:latin typeface="Aptos" pitchFamily="34" charset="0"/>
                <a:ea typeface="Aptos" pitchFamily="34" charset="-122"/>
                <a:cs typeface="Aptos" pitchFamily="34" charset="-120"/>
              </a:rPr>
              <a:t>• </a:t>
            </a:r>
            <a:r>
              <a:rPr lang="en-US" sz="1000" b="1">
                <a:solidFill>
                  <a:srgbClr val="25364A"/>
                </a:solidFill>
                <a:latin typeface="Aptos" pitchFamily="34" charset="0"/>
                <a:ea typeface="Aptos" pitchFamily="34" charset="-122"/>
                <a:cs typeface="Aptos" pitchFamily="34" charset="-120"/>
              </a:rPr>
              <a:t>Bill-To • Ship-To • Ship-To Address </a:t>
            </a:r>
          </a:p>
          <a:p>
            <a:r>
              <a:rPr lang="en-US" sz="1000" b="1">
                <a:solidFill>
                  <a:srgbClr val="25364A"/>
                </a:solidFill>
                <a:latin typeface="Aptos" pitchFamily="34" charset="0"/>
                <a:ea typeface="Aptos" pitchFamily="34" charset="-122"/>
                <a:cs typeface="Aptos" pitchFamily="34" charset="-120"/>
              </a:rPr>
              <a:t>• </a:t>
            </a:r>
            <a:r>
              <a:rPr lang="en-US" altLang="zh-CN" sz="1000" b="1">
                <a:solidFill>
                  <a:srgbClr val="1E2430"/>
                </a:solidFill>
                <a:latin typeface="Aptos" pitchFamily="34" charset="0"/>
                <a:ea typeface="Aptos" pitchFamily="34" charset="-122"/>
                <a:cs typeface="Aptos" pitchFamily="34" charset="-120"/>
              </a:rPr>
              <a:t>Cancel Change Event </a:t>
            </a:r>
            <a:r>
              <a:rPr lang="en-US" altLang="zh-CN" sz="1000" b="1">
                <a:solidFill>
                  <a:srgbClr val="25364A"/>
                </a:solidFill>
                <a:latin typeface="Aptos" pitchFamily="34" charset="0"/>
                <a:ea typeface="Aptos" pitchFamily="34" charset="-122"/>
                <a:cs typeface="Aptos" pitchFamily="34" charset="-120"/>
              </a:rPr>
              <a:t>• </a:t>
            </a:r>
            <a:r>
              <a:rPr lang="en-US" altLang="zh-CN" sz="1000" b="1">
                <a:solidFill>
                  <a:srgbClr val="1E2430"/>
                </a:solidFill>
                <a:latin typeface="Aptos" pitchFamily="34" charset="0"/>
                <a:ea typeface="Aptos" pitchFamily="34" charset="-122"/>
                <a:cs typeface="Aptos" pitchFamily="34" charset="-120"/>
              </a:rPr>
              <a:t>Change Event Effective Date</a:t>
            </a:r>
            <a:endParaRPr lang="en-US" sz="1000" b="1">
              <a:solidFill>
                <a:srgbClr val="25364A"/>
              </a:solidFill>
              <a:latin typeface="Aptos" pitchFamily="34" charset="0"/>
              <a:ea typeface="Aptos" pitchFamily="34" charset="-122"/>
              <a:cs typeface="Aptos" pitchFamily="34" charset="-120"/>
            </a:endParaRPr>
          </a:p>
          <a:p>
            <a:r>
              <a:rPr lang="en-US" altLang="zh-CN" sz="1000" b="1">
                <a:solidFill>
                  <a:srgbClr val="25364A"/>
                </a:solidFill>
                <a:latin typeface="Aptos" pitchFamily="34" charset="0"/>
                <a:ea typeface="Aptos" pitchFamily="34" charset="-122"/>
                <a:cs typeface="Aptos" pitchFamily="34" charset="-120"/>
              </a:rPr>
              <a:t>• </a:t>
            </a:r>
            <a:r>
              <a:rPr lang="en-US" sz="1000" b="1">
                <a:solidFill>
                  <a:srgbClr val="25364A"/>
                </a:solidFill>
                <a:latin typeface="Aptos" pitchFamily="34" charset="0"/>
                <a:ea typeface="Aptos" pitchFamily="34" charset="-122"/>
                <a:cs typeface="Aptos" pitchFamily="34" charset="-120"/>
              </a:rPr>
              <a:t>Cancel Device </a:t>
            </a:r>
            <a:endParaRPr lang="en-US" sz="1000" b="1"/>
          </a:p>
        </p:txBody>
      </p:sp>
      <p:sp>
        <p:nvSpPr>
          <p:cNvPr id="55" name="Shape 11">
            <a:extLst>
              <a:ext uri="{FF2B5EF4-FFF2-40B4-BE49-F238E27FC236}">
                <a16:creationId xmlns:a16="http://schemas.microsoft.com/office/drawing/2014/main" id="{797028E4-CBA4-507B-4EFE-0DF1F7F391B4}"/>
              </a:ext>
            </a:extLst>
          </p:cNvPr>
          <p:cNvSpPr/>
          <p:nvPr/>
        </p:nvSpPr>
        <p:spPr>
          <a:xfrm>
            <a:off x="3048717" y="2790533"/>
            <a:ext cx="0" cy="237744"/>
          </a:xfrm>
          <a:prstGeom prst="line">
            <a:avLst/>
          </a:prstGeom>
          <a:noFill/>
          <a:ln w="17780">
            <a:solidFill>
              <a:srgbClr val="D6DFEA"/>
            </a:solidFill>
            <a:prstDash val="solid"/>
            <a:tailEnd type="triangle"/>
          </a:ln>
        </p:spPr>
        <p:txBody>
          <a:bodyPr/>
          <a:lstStyle/>
          <a:p>
            <a:endParaRPr lang="zh-CN" altLang="en-US"/>
          </a:p>
        </p:txBody>
      </p:sp>
      <p:sp>
        <p:nvSpPr>
          <p:cNvPr id="56" name="Shape 12">
            <a:extLst>
              <a:ext uri="{FF2B5EF4-FFF2-40B4-BE49-F238E27FC236}">
                <a16:creationId xmlns:a16="http://schemas.microsoft.com/office/drawing/2014/main" id="{2A0F772C-AC8B-E29E-F8C8-D1F3283E4EF5}"/>
              </a:ext>
            </a:extLst>
          </p:cNvPr>
          <p:cNvSpPr/>
          <p:nvPr/>
        </p:nvSpPr>
        <p:spPr>
          <a:xfrm>
            <a:off x="9147765" y="2790533"/>
            <a:ext cx="0" cy="237744"/>
          </a:xfrm>
          <a:prstGeom prst="line">
            <a:avLst/>
          </a:prstGeom>
          <a:noFill/>
          <a:ln w="17780">
            <a:solidFill>
              <a:srgbClr val="D6DFEA"/>
            </a:solidFill>
            <a:prstDash val="solid"/>
            <a:tailEnd type="triangle"/>
          </a:ln>
        </p:spPr>
        <p:txBody>
          <a:bodyPr/>
          <a:lstStyle/>
          <a:p>
            <a:endParaRPr lang="zh-CN" altLang="en-US"/>
          </a:p>
        </p:txBody>
      </p:sp>
      <p:sp>
        <p:nvSpPr>
          <p:cNvPr id="57" name="Text 13">
            <a:extLst>
              <a:ext uri="{FF2B5EF4-FFF2-40B4-BE49-F238E27FC236}">
                <a16:creationId xmlns:a16="http://schemas.microsoft.com/office/drawing/2014/main" id="{20F10C03-BB25-1660-D764-90EF34D922E1}"/>
              </a:ext>
            </a:extLst>
          </p:cNvPr>
          <p:cNvSpPr/>
          <p:nvPr/>
        </p:nvSpPr>
        <p:spPr>
          <a:xfrm>
            <a:off x="488397" y="3092285"/>
            <a:ext cx="301752" cy="301752"/>
          </a:xfrm>
          <a:prstGeom prst="rect">
            <a:avLst/>
          </a:prstGeom>
          <a:solidFill>
            <a:srgbClr val="5AA619"/>
          </a:solidFill>
          <a:ln w="12700">
            <a:solidFill>
              <a:srgbClr val="5AA619"/>
            </a:solidFill>
          </a:ln>
        </p:spPr>
        <p:txBody>
          <a:bodyPr wrap="square" lIns="0" tIns="0" rIns="0" bIns="0" rtlCol="0" anchor="ctr">
            <a:normAutofit/>
          </a:bodyPr>
          <a:lstStyle/>
          <a:p>
            <a:pPr marL="0" indent="0" algn="ctr">
              <a:buNone/>
            </a:pPr>
            <a:r>
              <a:rPr lang="en-US" sz="1050" b="1">
                <a:solidFill>
                  <a:srgbClr val="FFFFFF"/>
                </a:solidFill>
                <a:latin typeface="Aptos" pitchFamily="34" charset="0"/>
                <a:ea typeface="Aptos" pitchFamily="34" charset="-122"/>
                <a:cs typeface="Aptos" pitchFamily="34" charset="-120"/>
              </a:rPr>
              <a:t>2</a:t>
            </a:r>
            <a:endParaRPr lang="en-US" sz="1050"/>
          </a:p>
        </p:txBody>
      </p:sp>
      <p:sp>
        <p:nvSpPr>
          <p:cNvPr id="58" name="Text 14">
            <a:extLst>
              <a:ext uri="{FF2B5EF4-FFF2-40B4-BE49-F238E27FC236}">
                <a16:creationId xmlns:a16="http://schemas.microsoft.com/office/drawing/2014/main" id="{4B7E6F66-C013-4304-69BA-BF5D0597C68D}"/>
              </a:ext>
            </a:extLst>
          </p:cNvPr>
          <p:cNvSpPr/>
          <p:nvPr/>
        </p:nvSpPr>
        <p:spPr>
          <a:xfrm>
            <a:off x="863301" y="3073997"/>
            <a:ext cx="5532120" cy="283464"/>
          </a:xfrm>
          <a:prstGeom prst="rect">
            <a:avLst/>
          </a:prstGeom>
          <a:noFill/>
          <a:ln/>
        </p:spPr>
        <p:txBody>
          <a:bodyPr wrap="square" lIns="635" tIns="635" rIns="635" bIns="635" rtlCol="0" anchor="ctr">
            <a:normAutofit/>
          </a:bodyPr>
          <a:lstStyle/>
          <a:p>
            <a:pPr marL="0" indent="0" algn="l">
              <a:buNone/>
            </a:pPr>
            <a:r>
              <a:rPr lang="en-US" sz="1550" b="1">
                <a:solidFill>
                  <a:srgbClr val="123E86"/>
                </a:solidFill>
                <a:latin typeface="Aptos" pitchFamily="34" charset="0"/>
                <a:ea typeface="Aptos" pitchFamily="34" charset="-122"/>
                <a:cs typeface="Aptos" pitchFamily="34" charset="-120"/>
              </a:rPr>
              <a:t>If you are changing Devices: what is the scope?</a:t>
            </a:r>
            <a:endParaRPr lang="en-US" sz="1550"/>
          </a:p>
        </p:txBody>
      </p:sp>
      <p:sp>
        <p:nvSpPr>
          <p:cNvPr id="59" name="Text 15">
            <a:extLst>
              <a:ext uri="{FF2B5EF4-FFF2-40B4-BE49-F238E27FC236}">
                <a16:creationId xmlns:a16="http://schemas.microsoft.com/office/drawing/2014/main" id="{F0555E7C-85EF-F80E-7A30-1B5FD0F46AE5}"/>
              </a:ext>
            </a:extLst>
          </p:cNvPr>
          <p:cNvSpPr/>
          <p:nvPr/>
        </p:nvSpPr>
        <p:spPr>
          <a:xfrm>
            <a:off x="6413709" y="3092285"/>
            <a:ext cx="5248656" cy="256032"/>
          </a:xfrm>
          <a:prstGeom prst="rect">
            <a:avLst/>
          </a:prstGeom>
          <a:noFill/>
          <a:ln/>
        </p:spPr>
        <p:txBody>
          <a:bodyPr wrap="square" lIns="635" tIns="635" rIns="635" bIns="635" rtlCol="0" anchor="ctr">
            <a:normAutofit/>
          </a:bodyPr>
          <a:lstStyle/>
          <a:p>
            <a:pPr marL="0" indent="0" algn="r">
              <a:buNone/>
            </a:pPr>
            <a:r>
              <a:rPr lang="en-US" sz="1000">
                <a:solidFill>
                  <a:srgbClr val="66758A"/>
                </a:solidFill>
                <a:latin typeface="Aptos" pitchFamily="34" charset="0"/>
                <a:ea typeface="Aptos" pitchFamily="34" charset="-122"/>
                <a:cs typeface="Aptos" pitchFamily="34" charset="-120"/>
              </a:rPr>
              <a:t>The outcome depends on the action and whether all or only some devices are selected.</a:t>
            </a:r>
            <a:endParaRPr lang="en-US" sz="1000"/>
          </a:p>
        </p:txBody>
      </p:sp>
      <p:sp>
        <p:nvSpPr>
          <p:cNvPr id="60" name="Text 16">
            <a:extLst>
              <a:ext uri="{FF2B5EF4-FFF2-40B4-BE49-F238E27FC236}">
                <a16:creationId xmlns:a16="http://schemas.microsoft.com/office/drawing/2014/main" id="{D3F2D4FF-6160-464B-16CE-5ECFCB3E5AC3}"/>
              </a:ext>
            </a:extLst>
          </p:cNvPr>
          <p:cNvSpPr/>
          <p:nvPr/>
        </p:nvSpPr>
        <p:spPr>
          <a:xfrm>
            <a:off x="488397" y="3485477"/>
            <a:ext cx="11201400" cy="402336"/>
          </a:xfrm>
          <a:prstGeom prst="rect">
            <a:avLst/>
          </a:prstGeom>
          <a:solidFill>
            <a:srgbClr val="123E86"/>
          </a:solidFill>
          <a:ln w="12700">
            <a:solidFill>
              <a:srgbClr val="123E86"/>
            </a:solidFill>
          </a:ln>
        </p:spPr>
        <p:txBody>
          <a:bodyPr wrap="square" lIns="1270" tIns="1270" rIns="1270" bIns="1270" rtlCol="0" anchor="ctr">
            <a:normAutofit/>
          </a:bodyPr>
          <a:lstStyle/>
          <a:p>
            <a:pPr marL="0" indent="0" algn="l">
              <a:buNone/>
            </a:pPr>
            <a:r>
              <a:rPr lang="en-US" sz="1200" b="1">
                <a:solidFill>
                  <a:srgbClr val="FFFFFF"/>
                </a:solidFill>
                <a:latin typeface="Aptos" pitchFamily="34" charset="0"/>
                <a:ea typeface="Aptos" pitchFamily="34" charset="-122"/>
                <a:cs typeface="Aptos" pitchFamily="34" charset="-120"/>
              </a:rPr>
              <a:t>DEVICE VIEW — OUTCOME BY ACTION</a:t>
            </a:r>
            <a:endParaRPr lang="en-US" sz="1200"/>
          </a:p>
        </p:txBody>
      </p:sp>
      <p:sp>
        <p:nvSpPr>
          <p:cNvPr id="61" name="Text 17">
            <a:extLst>
              <a:ext uri="{FF2B5EF4-FFF2-40B4-BE49-F238E27FC236}">
                <a16:creationId xmlns:a16="http://schemas.microsoft.com/office/drawing/2014/main" id="{D391FEC5-1C9F-AF0F-2EAF-FD1A383C1B34}"/>
              </a:ext>
            </a:extLst>
          </p:cNvPr>
          <p:cNvSpPr/>
          <p:nvPr/>
        </p:nvSpPr>
        <p:spPr>
          <a:xfrm>
            <a:off x="6431997" y="3576917"/>
            <a:ext cx="2011680" cy="201168"/>
          </a:xfrm>
          <a:prstGeom prst="rect">
            <a:avLst/>
          </a:prstGeom>
          <a:noFill/>
          <a:ln/>
        </p:spPr>
        <p:txBody>
          <a:bodyPr wrap="square" lIns="635" tIns="635" rIns="635" bIns="635" rtlCol="0" anchor="ctr">
            <a:normAutofit/>
          </a:bodyPr>
          <a:lstStyle/>
          <a:p>
            <a:pPr marL="0" indent="0" algn="ctr">
              <a:buNone/>
            </a:pPr>
            <a:r>
              <a:rPr lang="en-US" sz="1100" b="1">
                <a:solidFill>
                  <a:srgbClr val="FFFFFF"/>
                </a:solidFill>
                <a:latin typeface="Aptos" pitchFamily="34" charset="0"/>
                <a:ea typeface="Aptos" pitchFamily="34" charset="-122"/>
                <a:cs typeface="Aptos" pitchFamily="34" charset="-120"/>
              </a:rPr>
              <a:t>FULL DEVICES</a:t>
            </a:r>
            <a:endParaRPr lang="en-US" sz="1100"/>
          </a:p>
        </p:txBody>
      </p:sp>
      <p:sp>
        <p:nvSpPr>
          <p:cNvPr id="62" name="Text 18">
            <a:extLst>
              <a:ext uri="{FF2B5EF4-FFF2-40B4-BE49-F238E27FC236}">
                <a16:creationId xmlns:a16="http://schemas.microsoft.com/office/drawing/2014/main" id="{F33A61C1-D832-2B8A-6B8E-296D72136179}"/>
              </a:ext>
            </a:extLst>
          </p:cNvPr>
          <p:cNvSpPr/>
          <p:nvPr/>
        </p:nvSpPr>
        <p:spPr>
          <a:xfrm>
            <a:off x="8782005" y="3576917"/>
            <a:ext cx="2331720" cy="201168"/>
          </a:xfrm>
          <a:prstGeom prst="rect">
            <a:avLst/>
          </a:prstGeom>
          <a:noFill/>
          <a:ln/>
        </p:spPr>
        <p:txBody>
          <a:bodyPr wrap="square" lIns="635" tIns="635" rIns="635" bIns="635" rtlCol="0" anchor="ctr">
            <a:normAutofit/>
          </a:bodyPr>
          <a:lstStyle/>
          <a:p>
            <a:pPr marL="0" indent="0" algn="ctr">
              <a:buNone/>
            </a:pPr>
            <a:r>
              <a:rPr lang="en-US" sz="1100" b="1">
                <a:solidFill>
                  <a:srgbClr val="FFFFFF"/>
                </a:solidFill>
                <a:latin typeface="Aptos" pitchFamily="34" charset="0"/>
                <a:ea typeface="Aptos" pitchFamily="34" charset="-122"/>
                <a:cs typeface="Aptos" pitchFamily="34" charset="-120"/>
              </a:rPr>
              <a:t>PARTIAL DEVICES</a:t>
            </a:r>
            <a:endParaRPr lang="en-US" sz="1100"/>
          </a:p>
        </p:txBody>
      </p:sp>
      <p:sp>
        <p:nvSpPr>
          <p:cNvPr id="63" name="Text 19">
            <a:extLst>
              <a:ext uri="{FF2B5EF4-FFF2-40B4-BE49-F238E27FC236}">
                <a16:creationId xmlns:a16="http://schemas.microsoft.com/office/drawing/2014/main" id="{D00AFA1D-BBA9-38A7-025B-D469F6407DB5}"/>
              </a:ext>
            </a:extLst>
          </p:cNvPr>
          <p:cNvSpPr/>
          <p:nvPr/>
        </p:nvSpPr>
        <p:spPr>
          <a:xfrm>
            <a:off x="488397" y="3924389"/>
            <a:ext cx="5669280" cy="502920"/>
          </a:xfrm>
          <a:prstGeom prst="rect">
            <a:avLst/>
          </a:prstGeom>
          <a:solidFill>
            <a:srgbClr val="EEF5FD"/>
          </a:solidFill>
          <a:ln w="12700">
            <a:solidFill>
              <a:srgbClr val="D6DFEA"/>
            </a:solidFill>
          </a:ln>
        </p:spPr>
        <p:txBody>
          <a:bodyPr wrap="square" lIns="1016" tIns="1016" rIns="1016" bIns="1016" rtlCol="0" anchor="ctr">
            <a:normAutofit/>
          </a:bodyPr>
          <a:lstStyle/>
          <a:p>
            <a:pPr marL="0" indent="0" algn="l">
              <a:buNone/>
            </a:pPr>
            <a:r>
              <a:rPr lang="en-US" sz="1100" b="1">
                <a:solidFill>
                  <a:srgbClr val="25364A"/>
                </a:solidFill>
                <a:latin typeface="Aptos" pitchFamily="34" charset="0"/>
                <a:ea typeface="Aptos" pitchFamily="34" charset="-122"/>
                <a:cs typeface="Aptos" pitchFamily="34" charset="-120"/>
              </a:rPr>
              <a:t>Change Bill-To / Ship-To / Ship-To Address</a:t>
            </a:r>
            <a:endParaRPr lang="en-US" sz="1100"/>
          </a:p>
        </p:txBody>
      </p:sp>
      <p:sp>
        <p:nvSpPr>
          <p:cNvPr id="64" name="Text 20">
            <a:extLst>
              <a:ext uri="{FF2B5EF4-FFF2-40B4-BE49-F238E27FC236}">
                <a16:creationId xmlns:a16="http://schemas.microsoft.com/office/drawing/2014/main" id="{B94DD783-F04C-A82B-794F-887772A16A39}"/>
              </a:ext>
            </a:extLst>
          </p:cNvPr>
          <p:cNvSpPr/>
          <p:nvPr/>
        </p:nvSpPr>
        <p:spPr>
          <a:xfrm>
            <a:off x="6313125" y="3924389"/>
            <a:ext cx="2267712" cy="502920"/>
          </a:xfrm>
          <a:prstGeom prst="rect">
            <a:avLst/>
          </a:prstGeom>
          <a:solidFill>
            <a:srgbClr val="EEF5FD"/>
          </a:solidFill>
          <a:ln w="12700">
            <a:solidFill>
              <a:srgbClr val="D6DFEA"/>
            </a:solidFill>
          </a:ln>
        </p:spPr>
        <p:txBody>
          <a:bodyPr wrap="square" lIns="762" tIns="762" rIns="762" bIns="762" rtlCol="0" anchor="ctr">
            <a:normAutofit/>
          </a:bodyPr>
          <a:lstStyle/>
          <a:p>
            <a:pPr marL="0" indent="0" algn="ctr">
              <a:buNone/>
            </a:pPr>
            <a:r>
              <a:rPr lang="en-US" sz="1100">
                <a:latin typeface="Aptos" pitchFamily="34" charset="0"/>
                <a:ea typeface="Aptos" pitchFamily="34" charset="-122"/>
                <a:cs typeface="Aptos" pitchFamily="34" charset="-120"/>
              </a:rPr>
              <a:t>No Split</a:t>
            </a:r>
            <a:endParaRPr lang="en-US" sz="1100"/>
          </a:p>
          <a:p>
            <a:pPr marL="0" indent="0" algn="ctr">
              <a:buNone/>
            </a:pPr>
            <a:r>
              <a:rPr lang="en-US" sz="1100">
                <a:latin typeface="Aptos" pitchFamily="34" charset="0"/>
                <a:ea typeface="Aptos" pitchFamily="34" charset="-122"/>
                <a:cs typeface="Aptos" pitchFamily="34" charset="-120"/>
              </a:rPr>
              <a:t>Update existing Order</a:t>
            </a:r>
            <a:endParaRPr lang="en-US" sz="1100"/>
          </a:p>
        </p:txBody>
      </p:sp>
      <p:sp>
        <p:nvSpPr>
          <p:cNvPr id="65" name="Text 21">
            <a:extLst>
              <a:ext uri="{FF2B5EF4-FFF2-40B4-BE49-F238E27FC236}">
                <a16:creationId xmlns:a16="http://schemas.microsoft.com/office/drawing/2014/main" id="{89F8D4DA-9664-2287-61CC-264DFD1F027C}"/>
              </a:ext>
            </a:extLst>
          </p:cNvPr>
          <p:cNvSpPr/>
          <p:nvPr/>
        </p:nvSpPr>
        <p:spPr>
          <a:xfrm>
            <a:off x="8672277" y="3924389"/>
            <a:ext cx="3017520" cy="502920"/>
          </a:xfrm>
          <a:prstGeom prst="rect">
            <a:avLst/>
          </a:prstGeom>
          <a:solidFill>
            <a:srgbClr val="EEF5FD"/>
          </a:solidFill>
          <a:ln w="12700">
            <a:solidFill>
              <a:srgbClr val="D6DFEA"/>
            </a:solidFill>
          </a:ln>
        </p:spPr>
        <p:txBody>
          <a:bodyPr wrap="square" lIns="762" tIns="762" rIns="762" bIns="762" rtlCol="0" anchor="ctr">
            <a:normAutofit/>
          </a:bodyPr>
          <a:lstStyle/>
          <a:p>
            <a:pPr marL="0" indent="0" algn="ctr">
              <a:buNone/>
            </a:pPr>
            <a:r>
              <a:rPr lang="en-US" sz="1100">
                <a:latin typeface="Aptos" pitchFamily="34" charset="0"/>
                <a:ea typeface="Aptos" pitchFamily="34" charset="-122"/>
                <a:cs typeface="Aptos" pitchFamily="34" charset="-120"/>
              </a:rPr>
              <a:t>Split Order</a:t>
            </a:r>
            <a:endParaRPr lang="en-US" sz="1100"/>
          </a:p>
          <a:p>
            <a:pPr marL="0" indent="0" algn="ctr">
              <a:buNone/>
            </a:pPr>
            <a:r>
              <a:rPr lang="en-US" sz="1100">
                <a:latin typeface="Aptos" pitchFamily="34" charset="0"/>
                <a:ea typeface="Aptos" pitchFamily="34" charset="-122"/>
                <a:cs typeface="Aptos" pitchFamily="34" charset="-120"/>
              </a:rPr>
              <a:t>Create new Order for selected Devices</a:t>
            </a:r>
            <a:endParaRPr lang="en-US" sz="1100"/>
          </a:p>
        </p:txBody>
      </p:sp>
      <p:sp>
        <p:nvSpPr>
          <p:cNvPr id="66" name="Text 22">
            <a:extLst>
              <a:ext uri="{FF2B5EF4-FFF2-40B4-BE49-F238E27FC236}">
                <a16:creationId xmlns:a16="http://schemas.microsoft.com/office/drawing/2014/main" id="{15517D8B-8323-CFAB-8021-DF435D965218}"/>
              </a:ext>
            </a:extLst>
          </p:cNvPr>
          <p:cNvSpPr/>
          <p:nvPr/>
        </p:nvSpPr>
        <p:spPr>
          <a:xfrm>
            <a:off x="488397" y="4482173"/>
            <a:ext cx="5669280" cy="502920"/>
          </a:xfrm>
          <a:prstGeom prst="rect">
            <a:avLst/>
          </a:prstGeom>
          <a:solidFill>
            <a:srgbClr val="FFF4EA"/>
          </a:solidFill>
          <a:ln w="12700">
            <a:solidFill>
              <a:srgbClr val="D6DFEA"/>
            </a:solidFill>
          </a:ln>
        </p:spPr>
        <p:txBody>
          <a:bodyPr wrap="square" lIns="1016" tIns="1016" rIns="1016" bIns="1016" rtlCol="0" anchor="ctr">
            <a:normAutofit/>
          </a:bodyPr>
          <a:lstStyle/>
          <a:p>
            <a:pPr marL="0" indent="0" algn="l">
              <a:buNone/>
            </a:pPr>
            <a:r>
              <a:rPr lang="en-US" sz="1100" b="1">
                <a:solidFill>
                  <a:srgbClr val="25364A"/>
                </a:solidFill>
                <a:latin typeface="Aptos" pitchFamily="34" charset="0"/>
                <a:ea typeface="Aptos" pitchFamily="34" charset="-122"/>
                <a:cs typeface="Aptos" pitchFamily="34" charset="-120"/>
              </a:rPr>
              <a:t>Cancel Device</a:t>
            </a:r>
            <a:endParaRPr lang="en-US" sz="1100"/>
          </a:p>
        </p:txBody>
      </p:sp>
      <p:sp>
        <p:nvSpPr>
          <p:cNvPr id="67" name="Text 23">
            <a:extLst>
              <a:ext uri="{FF2B5EF4-FFF2-40B4-BE49-F238E27FC236}">
                <a16:creationId xmlns:a16="http://schemas.microsoft.com/office/drawing/2014/main" id="{EF9D1FE3-45CC-D2B1-32B2-F18729BBC411}"/>
              </a:ext>
            </a:extLst>
          </p:cNvPr>
          <p:cNvSpPr/>
          <p:nvPr/>
        </p:nvSpPr>
        <p:spPr>
          <a:xfrm>
            <a:off x="6313125" y="4482173"/>
            <a:ext cx="2267712" cy="502920"/>
          </a:xfrm>
          <a:prstGeom prst="rect">
            <a:avLst/>
          </a:prstGeom>
          <a:solidFill>
            <a:srgbClr val="FFF4EA"/>
          </a:solidFill>
          <a:ln w="12700">
            <a:solidFill>
              <a:srgbClr val="D6DFEA"/>
            </a:solidFill>
          </a:ln>
        </p:spPr>
        <p:txBody>
          <a:bodyPr wrap="square" lIns="762" tIns="762" rIns="762" bIns="762" rtlCol="0" anchor="ctr">
            <a:normAutofit/>
          </a:bodyPr>
          <a:lstStyle/>
          <a:p>
            <a:pPr marL="0" indent="0" algn="ctr">
              <a:buNone/>
            </a:pPr>
            <a:r>
              <a:rPr lang="en-US" sz="1100">
                <a:latin typeface="Aptos" pitchFamily="34" charset="0"/>
                <a:ea typeface="Aptos" pitchFamily="34" charset="-122"/>
                <a:cs typeface="Aptos" pitchFamily="34" charset="-120"/>
              </a:rPr>
              <a:t>No Split</a:t>
            </a:r>
            <a:endParaRPr lang="en-US" sz="1100"/>
          </a:p>
          <a:p>
            <a:pPr marL="0" indent="0" algn="ctr">
              <a:buNone/>
            </a:pPr>
            <a:r>
              <a:rPr lang="en-US" sz="1100">
                <a:latin typeface="Aptos" pitchFamily="34" charset="0"/>
                <a:ea typeface="Aptos" pitchFamily="34" charset="-122"/>
                <a:cs typeface="Aptos" pitchFamily="34" charset="-120"/>
              </a:rPr>
              <a:t>Cancel whole Order</a:t>
            </a:r>
            <a:endParaRPr lang="en-US" sz="1100"/>
          </a:p>
        </p:txBody>
      </p:sp>
      <p:sp>
        <p:nvSpPr>
          <p:cNvPr id="68" name="Text 24">
            <a:extLst>
              <a:ext uri="{FF2B5EF4-FFF2-40B4-BE49-F238E27FC236}">
                <a16:creationId xmlns:a16="http://schemas.microsoft.com/office/drawing/2014/main" id="{65C10F41-AA1A-1A83-0F27-89498387A2A7}"/>
              </a:ext>
            </a:extLst>
          </p:cNvPr>
          <p:cNvSpPr/>
          <p:nvPr/>
        </p:nvSpPr>
        <p:spPr>
          <a:xfrm>
            <a:off x="8672277" y="4482173"/>
            <a:ext cx="3017520" cy="502920"/>
          </a:xfrm>
          <a:prstGeom prst="rect">
            <a:avLst/>
          </a:prstGeom>
          <a:solidFill>
            <a:srgbClr val="FFF4EA"/>
          </a:solidFill>
          <a:ln w="12700">
            <a:solidFill>
              <a:srgbClr val="D6DFEA"/>
            </a:solidFill>
          </a:ln>
        </p:spPr>
        <p:txBody>
          <a:bodyPr wrap="square" lIns="762" tIns="762" rIns="762" bIns="762" rtlCol="0" anchor="ctr">
            <a:normAutofit/>
          </a:bodyPr>
          <a:lstStyle/>
          <a:p>
            <a:pPr marL="0" indent="0" algn="ctr">
              <a:buNone/>
            </a:pPr>
            <a:r>
              <a:rPr lang="en-US" sz="1100">
                <a:latin typeface="Aptos" pitchFamily="34" charset="0"/>
                <a:ea typeface="Aptos" pitchFamily="34" charset="-122"/>
                <a:cs typeface="Aptos" pitchFamily="34" charset="-120"/>
              </a:rPr>
              <a:t>No Split</a:t>
            </a:r>
            <a:endParaRPr lang="en-US" sz="1100"/>
          </a:p>
          <a:p>
            <a:pPr marL="0" indent="0" algn="ctr">
              <a:buNone/>
            </a:pPr>
            <a:r>
              <a:rPr lang="en-US" sz="1100">
                <a:latin typeface="Aptos" pitchFamily="34" charset="0"/>
                <a:ea typeface="Aptos" pitchFamily="34" charset="-122"/>
                <a:cs typeface="Aptos" pitchFamily="34" charset="-120"/>
              </a:rPr>
              <a:t>Reduce Order Quantity</a:t>
            </a:r>
            <a:endParaRPr lang="en-US" sz="1100"/>
          </a:p>
        </p:txBody>
      </p:sp>
      <p:sp>
        <p:nvSpPr>
          <p:cNvPr id="69" name="Text 25">
            <a:extLst>
              <a:ext uri="{FF2B5EF4-FFF2-40B4-BE49-F238E27FC236}">
                <a16:creationId xmlns:a16="http://schemas.microsoft.com/office/drawing/2014/main" id="{36059BC1-1F15-71DB-F4E6-80D0D7B6E7BE}"/>
              </a:ext>
            </a:extLst>
          </p:cNvPr>
          <p:cNvSpPr/>
          <p:nvPr/>
        </p:nvSpPr>
        <p:spPr>
          <a:xfrm>
            <a:off x="488397" y="5039957"/>
            <a:ext cx="5669280" cy="502920"/>
          </a:xfrm>
          <a:prstGeom prst="rect">
            <a:avLst/>
          </a:prstGeom>
          <a:solidFill>
            <a:srgbClr val="F5EFFA"/>
          </a:solidFill>
          <a:ln w="12700">
            <a:solidFill>
              <a:srgbClr val="D6DFEA"/>
            </a:solidFill>
          </a:ln>
        </p:spPr>
        <p:txBody>
          <a:bodyPr wrap="square" lIns="1016" tIns="1016" rIns="1016" bIns="1016" rtlCol="0" anchor="ctr">
            <a:normAutofit/>
          </a:bodyPr>
          <a:lstStyle/>
          <a:p>
            <a:r>
              <a:rPr lang="en-US" sz="1100" b="1">
                <a:solidFill>
                  <a:srgbClr val="25364A"/>
                </a:solidFill>
                <a:latin typeface="Aptos" pitchFamily="34" charset="0"/>
                <a:ea typeface="Aptos" pitchFamily="34" charset="-122"/>
                <a:cs typeface="Aptos" pitchFamily="34" charset="-120"/>
              </a:rPr>
              <a:t>Change Event </a:t>
            </a:r>
            <a:r>
              <a:rPr lang="en-US" altLang="zh-CN" sz="1100" b="1">
                <a:solidFill>
                  <a:srgbClr val="25364A"/>
                </a:solidFill>
                <a:latin typeface="Aptos" pitchFamily="34" charset="0"/>
                <a:ea typeface="Aptos" pitchFamily="34" charset="-122"/>
                <a:cs typeface="Aptos" pitchFamily="34" charset="-120"/>
              </a:rPr>
              <a:t>Effective Date</a:t>
            </a:r>
            <a:endParaRPr lang="en-US" sz="1100"/>
          </a:p>
          <a:p>
            <a:pPr marL="0" indent="0" algn="l">
              <a:buNone/>
            </a:pPr>
            <a:r>
              <a:rPr lang="en-US" sz="1100" b="1">
                <a:solidFill>
                  <a:srgbClr val="25364A"/>
                </a:solidFill>
                <a:latin typeface="Aptos" pitchFamily="34" charset="0"/>
                <a:ea typeface="Aptos" pitchFamily="34" charset="-122"/>
                <a:cs typeface="Aptos" pitchFamily="34" charset="-120"/>
              </a:rPr>
              <a:t>Cancel Event</a:t>
            </a:r>
            <a:endParaRPr lang="en-US" sz="1100"/>
          </a:p>
        </p:txBody>
      </p:sp>
      <p:sp>
        <p:nvSpPr>
          <p:cNvPr id="70" name="Text 26">
            <a:extLst>
              <a:ext uri="{FF2B5EF4-FFF2-40B4-BE49-F238E27FC236}">
                <a16:creationId xmlns:a16="http://schemas.microsoft.com/office/drawing/2014/main" id="{DA810497-BCE0-30BE-FD73-1291105B3DD0}"/>
              </a:ext>
            </a:extLst>
          </p:cNvPr>
          <p:cNvSpPr/>
          <p:nvPr/>
        </p:nvSpPr>
        <p:spPr>
          <a:xfrm>
            <a:off x="6313125" y="5039957"/>
            <a:ext cx="2267712" cy="502920"/>
          </a:xfrm>
          <a:prstGeom prst="rect">
            <a:avLst/>
          </a:prstGeom>
          <a:solidFill>
            <a:srgbClr val="F5EFFA"/>
          </a:solidFill>
          <a:ln w="12700">
            <a:solidFill>
              <a:srgbClr val="D6DFEA"/>
            </a:solidFill>
          </a:ln>
        </p:spPr>
        <p:txBody>
          <a:bodyPr wrap="square" lIns="762" tIns="762" rIns="762" bIns="762" rtlCol="0" anchor="ctr">
            <a:normAutofit/>
          </a:bodyPr>
          <a:lstStyle/>
          <a:p>
            <a:pPr marL="0" indent="0" algn="ctr">
              <a:buNone/>
            </a:pPr>
            <a:r>
              <a:rPr lang="en-US" sz="1100">
                <a:latin typeface="Aptos" pitchFamily="34" charset="0"/>
                <a:ea typeface="Aptos" pitchFamily="34" charset="-122"/>
                <a:cs typeface="Aptos" pitchFamily="34" charset="-120"/>
              </a:rPr>
              <a:t>N/A</a:t>
            </a:r>
            <a:endParaRPr lang="en-US" sz="1100"/>
          </a:p>
          <a:p>
            <a:pPr marL="0" indent="0" algn="ctr">
              <a:buNone/>
            </a:pPr>
            <a:r>
              <a:rPr lang="en-US" sz="1100">
                <a:latin typeface="Aptos" pitchFamily="34" charset="0"/>
                <a:ea typeface="Aptos" pitchFamily="34" charset="-122"/>
                <a:cs typeface="Aptos" pitchFamily="34" charset="-120"/>
              </a:rPr>
              <a:t>Device-level action</a:t>
            </a:r>
            <a:endParaRPr lang="en-US" sz="1100"/>
          </a:p>
        </p:txBody>
      </p:sp>
      <p:sp>
        <p:nvSpPr>
          <p:cNvPr id="71" name="Text 27">
            <a:extLst>
              <a:ext uri="{FF2B5EF4-FFF2-40B4-BE49-F238E27FC236}">
                <a16:creationId xmlns:a16="http://schemas.microsoft.com/office/drawing/2014/main" id="{F8D6A410-D6C8-CB0B-1AA7-9B909374F1FB}"/>
              </a:ext>
            </a:extLst>
          </p:cNvPr>
          <p:cNvSpPr/>
          <p:nvPr/>
        </p:nvSpPr>
        <p:spPr>
          <a:xfrm>
            <a:off x="8672277" y="5039957"/>
            <a:ext cx="3017520" cy="502920"/>
          </a:xfrm>
          <a:prstGeom prst="rect">
            <a:avLst/>
          </a:prstGeom>
          <a:solidFill>
            <a:srgbClr val="F5EFFA"/>
          </a:solidFill>
          <a:ln w="12700">
            <a:solidFill>
              <a:srgbClr val="D6DFEA"/>
            </a:solidFill>
          </a:ln>
        </p:spPr>
        <p:txBody>
          <a:bodyPr wrap="square" lIns="762" tIns="762" rIns="762" bIns="762" rtlCol="0" anchor="ctr">
            <a:normAutofit/>
          </a:bodyPr>
          <a:lstStyle/>
          <a:p>
            <a:pPr marL="0" indent="0" algn="ctr">
              <a:buNone/>
            </a:pPr>
            <a:r>
              <a:rPr lang="en-US" sz="1100">
                <a:latin typeface="Aptos" pitchFamily="34" charset="0"/>
                <a:ea typeface="Aptos" pitchFamily="34" charset="-122"/>
                <a:cs typeface="Aptos" pitchFamily="34" charset="-120"/>
              </a:rPr>
              <a:t>N/A</a:t>
            </a:r>
            <a:endParaRPr lang="en-US" sz="1100"/>
          </a:p>
          <a:p>
            <a:pPr marL="0" indent="0" algn="ctr">
              <a:buNone/>
            </a:pPr>
            <a:r>
              <a:rPr lang="en-US" sz="1100">
                <a:latin typeface="Aptos" pitchFamily="34" charset="0"/>
                <a:ea typeface="Aptos" pitchFamily="34" charset="-122"/>
                <a:cs typeface="Aptos" pitchFamily="34" charset="-120"/>
              </a:rPr>
              <a:t>Device-level action</a:t>
            </a:r>
            <a:endParaRPr lang="en-US" sz="1100"/>
          </a:p>
        </p:txBody>
      </p:sp>
      <p:sp>
        <p:nvSpPr>
          <p:cNvPr id="72" name="Text 28">
            <a:extLst>
              <a:ext uri="{FF2B5EF4-FFF2-40B4-BE49-F238E27FC236}">
                <a16:creationId xmlns:a16="http://schemas.microsoft.com/office/drawing/2014/main" id="{F30EC082-3262-C56B-2E25-795C19F79081}"/>
              </a:ext>
            </a:extLst>
          </p:cNvPr>
          <p:cNvSpPr/>
          <p:nvPr/>
        </p:nvSpPr>
        <p:spPr>
          <a:xfrm>
            <a:off x="488397" y="5707469"/>
            <a:ext cx="11201400" cy="457200"/>
          </a:xfrm>
          <a:prstGeom prst="rect">
            <a:avLst/>
          </a:prstGeom>
          <a:solidFill>
            <a:srgbClr val="FFF8EE"/>
          </a:solidFill>
          <a:ln w="12700">
            <a:solidFill>
              <a:srgbClr val="F0C98A"/>
            </a:solidFill>
          </a:ln>
        </p:spPr>
        <p:txBody>
          <a:bodyPr wrap="square" lIns="762" tIns="762" rIns="762" bIns="762" rtlCol="0" anchor="ctr">
            <a:normAutofit/>
          </a:bodyPr>
          <a:lstStyle/>
          <a:p>
            <a:pPr marL="0" indent="0" algn="ctr">
              <a:buNone/>
            </a:pPr>
            <a:r>
              <a:rPr lang="en-US" sz="1100" b="1">
                <a:solidFill>
                  <a:srgbClr val="25364A"/>
                </a:solidFill>
                <a:latin typeface="Aptos" pitchFamily="34" charset="0"/>
                <a:ea typeface="Aptos" pitchFamily="34" charset="-122"/>
                <a:cs typeface="Aptos" pitchFamily="34" charset="-120"/>
              </a:rPr>
              <a:t>IMPORTANT  |  Split Order is triggered only for a partial-device partner/address change. Partial Device Cancellation does NOT split the order; it reduces the order quantity.</a:t>
            </a:r>
            <a:endParaRPr lang="en-US" sz="1100"/>
          </a:p>
        </p:txBody>
      </p:sp>
      <p:sp>
        <p:nvSpPr>
          <p:cNvPr id="73" name="Text 30">
            <a:extLst>
              <a:ext uri="{FF2B5EF4-FFF2-40B4-BE49-F238E27FC236}">
                <a16:creationId xmlns:a16="http://schemas.microsoft.com/office/drawing/2014/main" id="{EF59CB0B-0BA1-B379-63E7-F792E17AC445}"/>
              </a:ext>
            </a:extLst>
          </p:cNvPr>
          <p:cNvSpPr/>
          <p:nvPr/>
        </p:nvSpPr>
        <p:spPr>
          <a:xfrm>
            <a:off x="863301" y="6265253"/>
            <a:ext cx="4709160" cy="256032"/>
          </a:xfrm>
          <a:prstGeom prst="rect">
            <a:avLst/>
          </a:prstGeom>
          <a:noFill/>
          <a:ln/>
        </p:spPr>
        <p:txBody>
          <a:bodyPr wrap="square" lIns="635" tIns="635" rIns="635" bIns="635" rtlCol="0" anchor="ctr">
            <a:normAutofit/>
          </a:bodyPr>
          <a:lstStyle/>
          <a:p>
            <a:pPr marL="0" indent="0" algn="l">
              <a:buNone/>
            </a:pPr>
            <a:r>
              <a:rPr lang="en-US" sz="1200" b="1">
                <a:solidFill>
                  <a:srgbClr val="123E86"/>
                </a:solidFill>
                <a:latin typeface="Aptos" pitchFamily="34" charset="0"/>
                <a:ea typeface="Aptos" pitchFamily="34" charset="-122"/>
                <a:cs typeface="Aptos" pitchFamily="34" charset="-120"/>
              </a:rPr>
              <a:t>Submit → Change Request → Approval → Applied</a:t>
            </a:r>
            <a:endParaRPr lang="en-US" sz="1200"/>
          </a:p>
        </p:txBody>
      </p:sp>
      <p:sp>
        <p:nvSpPr>
          <p:cNvPr id="74" name="Text 31">
            <a:extLst>
              <a:ext uri="{FF2B5EF4-FFF2-40B4-BE49-F238E27FC236}">
                <a16:creationId xmlns:a16="http://schemas.microsoft.com/office/drawing/2014/main" id="{93C9718B-423C-00D3-3677-D23EFDF883A3}"/>
              </a:ext>
            </a:extLst>
          </p:cNvPr>
          <p:cNvSpPr/>
          <p:nvPr/>
        </p:nvSpPr>
        <p:spPr>
          <a:xfrm>
            <a:off x="5654757" y="6256109"/>
            <a:ext cx="1353312" cy="265176"/>
          </a:xfrm>
          <a:prstGeom prst="rect">
            <a:avLst/>
          </a:prstGeom>
          <a:solidFill>
            <a:srgbClr val="1769C2"/>
          </a:solidFill>
          <a:ln w="12700">
            <a:solidFill>
              <a:srgbClr val="1769C2"/>
            </a:solidFill>
          </a:ln>
        </p:spPr>
        <p:txBody>
          <a:bodyPr wrap="square" lIns="254" tIns="254" rIns="254" bIns="254" rtlCol="0" anchor="ctr">
            <a:normAutofit/>
          </a:bodyPr>
          <a:lstStyle/>
          <a:p>
            <a:pPr marL="0" indent="0" algn="ctr">
              <a:buNone/>
            </a:pPr>
            <a:r>
              <a:rPr lang="en-US" sz="1000" b="1">
                <a:solidFill>
                  <a:srgbClr val="FFFFFF"/>
                </a:solidFill>
                <a:latin typeface="Aptos" pitchFamily="34" charset="0"/>
                <a:ea typeface="Aptos" pitchFamily="34" charset="-122"/>
                <a:cs typeface="Aptos" pitchFamily="34" charset="-120"/>
              </a:rPr>
              <a:t>SUBMIT / SAVE</a:t>
            </a:r>
            <a:endParaRPr lang="en-US" sz="1000"/>
          </a:p>
        </p:txBody>
      </p:sp>
      <p:sp>
        <p:nvSpPr>
          <p:cNvPr id="75" name="Shape 32">
            <a:extLst>
              <a:ext uri="{FF2B5EF4-FFF2-40B4-BE49-F238E27FC236}">
                <a16:creationId xmlns:a16="http://schemas.microsoft.com/office/drawing/2014/main" id="{8BD93B76-B007-FF36-A38A-30E34B67A2B4}"/>
              </a:ext>
            </a:extLst>
          </p:cNvPr>
          <p:cNvSpPr/>
          <p:nvPr/>
        </p:nvSpPr>
        <p:spPr>
          <a:xfrm>
            <a:off x="7099509" y="6384125"/>
            <a:ext cx="356616" cy="0"/>
          </a:xfrm>
          <a:prstGeom prst="line">
            <a:avLst/>
          </a:prstGeom>
          <a:noFill/>
          <a:ln w="17780">
            <a:solidFill>
              <a:srgbClr val="D6DFEA"/>
            </a:solidFill>
            <a:prstDash val="solid"/>
            <a:tailEnd type="triangle"/>
          </a:ln>
        </p:spPr>
        <p:txBody>
          <a:bodyPr/>
          <a:lstStyle/>
          <a:p>
            <a:endParaRPr lang="zh-CN" altLang="en-US" sz="1000"/>
          </a:p>
        </p:txBody>
      </p:sp>
      <p:sp>
        <p:nvSpPr>
          <p:cNvPr id="76" name="Text 33">
            <a:extLst>
              <a:ext uri="{FF2B5EF4-FFF2-40B4-BE49-F238E27FC236}">
                <a16:creationId xmlns:a16="http://schemas.microsoft.com/office/drawing/2014/main" id="{3C9F54DF-4828-13C9-0DD2-3A9562D670A9}"/>
              </a:ext>
            </a:extLst>
          </p:cNvPr>
          <p:cNvSpPr/>
          <p:nvPr/>
        </p:nvSpPr>
        <p:spPr>
          <a:xfrm>
            <a:off x="7556709" y="6256109"/>
            <a:ext cx="1280160" cy="265176"/>
          </a:xfrm>
          <a:prstGeom prst="rect">
            <a:avLst/>
          </a:prstGeom>
          <a:solidFill>
            <a:srgbClr val="5AA619"/>
          </a:solidFill>
          <a:ln w="12700">
            <a:solidFill>
              <a:srgbClr val="5AA619"/>
            </a:solidFill>
          </a:ln>
        </p:spPr>
        <p:txBody>
          <a:bodyPr wrap="square" lIns="254" tIns="254" rIns="254" bIns="254" rtlCol="0" anchor="ctr">
            <a:normAutofit/>
          </a:bodyPr>
          <a:lstStyle/>
          <a:p>
            <a:pPr marL="0" indent="0" algn="ctr">
              <a:buNone/>
            </a:pPr>
            <a:r>
              <a:rPr lang="en-US" sz="1000" b="1">
                <a:solidFill>
                  <a:srgbClr val="FFFFFF"/>
                </a:solidFill>
                <a:latin typeface="Aptos" pitchFamily="34" charset="0"/>
                <a:ea typeface="Aptos" pitchFamily="34" charset="-122"/>
                <a:cs typeface="Aptos" pitchFamily="34" charset="-120"/>
              </a:rPr>
              <a:t>APPROVAL</a:t>
            </a:r>
            <a:endParaRPr lang="en-US" sz="1000"/>
          </a:p>
        </p:txBody>
      </p:sp>
      <p:sp>
        <p:nvSpPr>
          <p:cNvPr id="77" name="Shape 34">
            <a:extLst>
              <a:ext uri="{FF2B5EF4-FFF2-40B4-BE49-F238E27FC236}">
                <a16:creationId xmlns:a16="http://schemas.microsoft.com/office/drawing/2014/main" id="{EC230514-7B6D-659F-F1A7-6B4BB28CA15A}"/>
              </a:ext>
            </a:extLst>
          </p:cNvPr>
          <p:cNvSpPr/>
          <p:nvPr/>
        </p:nvSpPr>
        <p:spPr>
          <a:xfrm>
            <a:off x="8937453" y="6384125"/>
            <a:ext cx="347472" cy="0"/>
          </a:xfrm>
          <a:prstGeom prst="line">
            <a:avLst/>
          </a:prstGeom>
          <a:noFill/>
          <a:ln w="17780">
            <a:solidFill>
              <a:srgbClr val="D6DFEA"/>
            </a:solidFill>
            <a:prstDash val="solid"/>
            <a:tailEnd type="triangle"/>
          </a:ln>
        </p:spPr>
        <p:txBody>
          <a:bodyPr/>
          <a:lstStyle/>
          <a:p>
            <a:endParaRPr lang="zh-CN" altLang="en-US" sz="1000"/>
          </a:p>
        </p:txBody>
      </p:sp>
      <p:sp>
        <p:nvSpPr>
          <p:cNvPr id="78" name="Text 35">
            <a:extLst>
              <a:ext uri="{FF2B5EF4-FFF2-40B4-BE49-F238E27FC236}">
                <a16:creationId xmlns:a16="http://schemas.microsoft.com/office/drawing/2014/main" id="{23A8E8BD-1FAF-7BE2-B02D-91704F2505D5}"/>
              </a:ext>
            </a:extLst>
          </p:cNvPr>
          <p:cNvSpPr/>
          <p:nvPr/>
        </p:nvSpPr>
        <p:spPr>
          <a:xfrm>
            <a:off x="9385509" y="6256109"/>
            <a:ext cx="987552" cy="265176"/>
          </a:xfrm>
          <a:prstGeom prst="rect">
            <a:avLst/>
          </a:prstGeom>
          <a:solidFill>
            <a:srgbClr val="F27B18"/>
          </a:solidFill>
          <a:ln w="12700">
            <a:solidFill>
              <a:srgbClr val="F27B18"/>
            </a:solidFill>
          </a:ln>
        </p:spPr>
        <p:txBody>
          <a:bodyPr wrap="square" lIns="254" tIns="254" rIns="254" bIns="254" rtlCol="0" anchor="ctr">
            <a:normAutofit/>
          </a:bodyPr>
          <a:lstStyle/>
          <a:p>
            <a:pPr marL="0" indent="0" algn="ctr">
              <a:buNone/>
            </a:pPr>
            <a:r>
              <a:rPr lang="en-US" sz="1000" b="1">
                <a:solidFill>
                  <a:srgbClr val="FFFFFF"/>
                </a:solidFill>
                <a:latin typeface="Aptos" pitchFamily="34" charset="0"/>
                <a:ea typeface="Aptos" pitchFamily="34" charset="-122"/>
                <a:cs typeface="Aptos" pitchFamily="34" charset="-120"/>
              </a:rPr>
              <a:t>APPLIED</a:t>
            </a:r>
            <a:endParaRPr lang="en-US" sz="1000"/>
          </a:p>
        </p:txBody>
      </p:sp>
      <p:sp>
        <p:nvSpPr>
          <p:cNvPr id="79" name="Text 36">
            <a:extLst>
              <a:ext uri="{FF2B5EF4-FFF2-40B4-BE49-F238E27FC236}">
                <a16:creationId xmlns:a16="http://schemas.microsoft.com/office/drawing/2014/main" id="{5E1CE81C-26DE-CA63-A25D-98CC5E37674B}"/>
              </a:ext>
            </a:extLst>
          </p:cNvPr>
          <p:cNvSpPr/>
          <p:nvPr/>
        </p:nvSpPr>
        <p:spPr>
          <a:xfrm>
            <a:off x="10482789" y="6237821"/>
            <a:ext cx="1207008" cy="389290"/>
          </a:xfrm>
          <a:prstGeom prst="rect">
            <a:avLst/>
          </a:prstGeom>
          <a:noFill/>
          <a:ln/>
        </p:spPr>
        <p:txBody>
          <a:bodyPr wrap="square" lIns="635" tIns="635" rIns="635" bIns="635" rtlCol="0" anchor="ctr">
            <a:noAutofit/>
          </a:bodyPr>
          <a:lstStyle/>
          <a:p>
            <a:pPr marL="0" indent="0" algn="r">
              <a:buNone/>
            </a:pPr>
            <a:r>
              <a:rPr lang="en-US" sz="1000">
                <a:solidFill>
                  <a:srgbClr val="66758A"/>
                </a:solidFill>
                <a:latin typeface="Aptos" pitchFamily="34" charset="0"/>
                <a:ea typeface="Aptos" pitchFamily="34" charset="-122"/>
                <a:cs typeface="Aptos" pitchFamily="34" charset="-120"/>
              </a:rPr>
              <a:t>Then verify affected records + Change History.</a:t>
            </a:r>
            <a:endParaRPr lang="en-US" sz="1000"/>
          </a:p>
        </p:txBody>
      </p:sp>
    </p:spTree>
    <p:extLst>
      <p:ext uri="{BB962C8B-B14F-4D97-AF65-F5344CB8AC3E}">
        <p14:creationId xmlns:p14="http://schemas.microsoft.com/office/powerpoint/2010/main" val="364251379"/>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BC1E-5EC1-38B5-1632-0DCA6B167CB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D1FD5E1-0CA1-140D-A19E-334F36B04CC1}"/>
              </a:ext>
            </a:extLst>
          </p:cNvPr>
          <p:cNvSpPr>
            <a:spLocks noGrp="1"/>
          </p:cNvSpPr>
          <p:nvPr>
            <p:ph type="title"/>
          </p:nvPr>
        </p:nvSpPr>
        <p:spPr/>
        <p:txBody>
          <a:bodyPr/>
          <a:lstStyle/>
          <a:p>
            <a:r>
              <a:rPr lang="en-US" altLang="zh-CN"/>
              <a:t>Subscription Order Mass Change </a:t>
            </a:r>
            <a:endParaRPr lang="zh-CN" altLang="en-US"/>
          </a:p>
        </p:txBody>
      </p:sp>
      <p:sp>
        <p:nvSpPr>
          <p:cNvPr id="7" name="TextBox 72">
            <a:extLst>
              <a:ext uri="{FF2B5EF4-FFF2-40B4-BE49-F238E27FC236}">
                <a16:creationId xmlns:a16="http://schemas.microsoft.com/office/drawing/2014/main" id="{A4981EFD-40A6-DE4D-6820-5DD7D7C98E5E}"/>
              </a:ext>
            </a:extLst>
          </p:cNvPr>
          <p:cNvSpPr txBox="1"/>
          <p:nvPr/>
        </p:nvSpPr>
        <p:spPr>
          <a:xfrm>
            <a:off x="8002029" y="1284701"/>
            <a:ext cx="3512053"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Subscription Order Data</a:t>
            </a:r>
            <a:endParaRPr lang="id-ID" sz="1300" b="1">
              <a:solidFill>
                <a:schemeClr val="accent6">
                  <a:lumMod val="75000"/>
                  <a:lumOff val="25000"/>
                </a:schemeClr>
              </a:solidFill>
              <a:cs typeface="Lato Regular"/>
            </a:endParaRPr>
          </a:p>
        </p:txBody>
      </p:sp>
      <p:sp>
        <p:nvSpPr>
          <p:cNvPr id="8" name="TextBox 73">
            <a:extLst>
              <a:ext uri="{FF2B5EF4-FFF2-40B4-BE49-F238E27FC236}">
                <a16:creationId xmlns:a16="http://schemas.microsoft.com/office/drawing/2014/main" id="{69FB934B-F10A-CCE0-FC28-4CD1ECF7DE34}"/>
              </a:ext>
            </a:extLst>
          </p:cNvPr>
          <p:cNvSpPr txBox="1"/>
          <p:nvPr/>
        </p:nvSpPr>
        <p:spPr>
          <a:xfrm>
            <a:off x="7999960" y="1545102"/>
            <a:ext cx="3730153" cy="3785652"/>
          </a:xfrm>
          <a:prstGeom prst="rect">
            <a:avLst/>
          </a:prstGeom>
          <a:noFill/>
        </p:spPr>
        <p:txBody>
          <a:bodyPr wrap="square" rtlCol="0">
            <a:spAutoFit/>
          </a:bodyPr>
          <a:lstStyle/>
          <a:p>
            <a:r>
              <a:rPr lang="en-US" altLang="zh-CN" sz="1000">
                <a:cs typeface="Lato Light"/>
              </a:rPr>
              <a:t>Users can search </a:t>
            </a:r>
            <a:r>
              <a:rPr lang="en-US" altLang="zh-CN" sz="1000"/>
              <a:t>subscription order</a:t>
            </a:r>
            <a:r>
              <a:rPr lang="en-US" altLang="zh-CN" sz="1000">
                <a:cs typeface="Lato Light"/>
              </a:rPr>
              <a:t> records using one or more search criteria.</a:t>
            </a:r>
          </a:p>
          <a:p>
            <a:endParaRPr lang="en-US" altLang="zh-CN" sz="1000">
              <a:cs typeface="Lato Light"/>
            </a:endParaRPr>
          </a:p>
          <a:p>
            <a:r>
              <a:rPr lang="en-US" altLang="zh-CN" sz="1000">
                <a:cs typeface="Lato Light"/>
              </a:rPr>
              <a:t>Users can add additional search conditions by clicking the </a:t>
            </a:r>
            <a:r>
              <a:rPr lang="en-US" altLang="zh-CN" sz="1000" b="1">
                <a:cs typeface="Lato Light"/>
              </a:rPr>
              <a:t>"+"</a:t>
            </a:r>
            <a:r>
              <a:rPr lang="en-US" altLang="zh-CN" sz="1000">
                <a:cs typeface="Lato Light"/>
              </a:rPr>
              <a:t> icon and remove conditions by clicking the </a:t>
            </a:r>
            <a:r>
              <a:rPr lang="en-US" altLang="zh-CN" sz="1000" b="1">
                <a:cs typeface="Lato Light"/>
              </a:rPr>
              <a:t>"×"</a:t>
            </a:r>
            <a:r>
              <a:rPr lang="en-US" altLang="zh-CN" sz="1000">
                <a:cs typeface="Lato Light"/>
              </a:rPr>
              <a:t> icon.</a:t>
            </a:r>
          </a:p>
          <a:p>
            <a:endParaRPr lang="en-US" altLang="zh-CN" sz="1000">
              <a:cs typeface="Lato Light"/>
            </a:endParaRPr>
          </a:p>
          <a:p>
            <a:r>
              <a:rPr lang="en-US" altLang="zh-CN" sz="1000" b="1">
                <a:cs typeface="Lato Light"/>
              </a:rPr>
              <a:t>Save Search &amp; My Searches</a:t>
            </a:r>
          </a:p>
          <a:p>
            <a:r>
              <a:rPr lang="en-US" altLang="zh-CN" sz="1000">
                <a:cs typeface="Lato Light"/>
              </a:rPr>
              <a:t>Users can enter a search name and click </a:t>
            </a:r>
            <a:r>
              <a:rPr lang="en-US" altLang="zh-CN" sz="1000" b="1">
                <a:cs typeface="Lato Light"/>
              </a:rPr>
              <a:t>Save</a:t>
            </a:r>
            <a:r>
              <a:rPr lang="en-US" altLang="zh-CN" sz="1000">
                <a:cs typeface="Lato Light"/>
              </a:rPr>
              <a:t>.</a:t>
            </a:r>
          </a:p>
          <a:p>
            <a:r>
              <a:rPr lang="en-US" altLang="zh-CN" sz="1000">
                <a:cs typeface="Lato Light"/>
              </a:rPr>
              <a:t>The current search conditions are saved as a reusable search template.</a:t>
            </a:r>
          </a:p>
          <a:p>
            <a:r>
              <a:rPr lang="en-US" altLang="zh-CN" sz="1000">
                <a:cs typeface="Lato Light"/>
              </a:rPr>
              <a:t>Users can quickly reload saved search criteria without re-entering conditions by </a:t>
            </a:r>
            <a:r>
              <a:rPr lang="en-US" altLang="zh-CN" sz="1000" b="1">
                <a:cs typeface="Lato Light"/>
              </a:rPr>
              <a:t>My Searches</a:t>
            </a:r>
            <a:r>
              <a:rPr lang="en-US" altLang="zh-CN" sz="1000">
                <a:cs typeface="Lato Light"/>
              </a:rPr>
              <a:t>.</a:t>
            </a:r>
          </a:p>
          <a:p>
            <a:endParaRPr lang="en-US" altLang="zh-CN" sz="1000">
              <a:cs typeface="Lato Light"/>
            </a:endParaRPr>
          </a:p>
          <a:p>
            <a:r>
              <a:rPr lang="en-US" altLang="zh-CN" sz="1000" b="1">
                <a:cs typeface="Lato Light"/>
              </a:rPr>
              <a:t>Clear</a:t>
            </a:r>
            <a:endParaRPr lang="en-US" altLang="zh-CN" sz="1000">
              <a:cs typeface="Lato Light"/>
            </a:endParaRPr>
          </a:p>
          <a:p>
            <a:r>
              <a:rPr lang="en-US" altLang="zh-CN" sz="1000">
                <a:cs typeface="Lato Light"/>
              </a:rPr>
              <a:t>The Clear button clears all entered filter values and conditions, clears the current search results displayed in the result list.  </a:t>
            </a:r>
          </a:p>
          <a:p>
            <a:endParaRPr lang="en-US" altLang="zh-CN" sz="1000">
              <a:cs typeface="Lato Light"/>
            </a:endParaRPr>
          </a:p>
          <a:p>
            <a:r>
              <a:rPr lang="en-US" altLang="zh-CN" sz="1000">
                <a:cs typeface="Lato Light"/>
              </a:rPr>
              <a:t>This function is useful when users want to quickly discard existing search conditions and perform a new search.</a:t>
            </a:r>
          </a:p>
          <a:p>
            <a:endParaRPr lang="en-US" altLang="zh-CN" sz="1000">
              <a:cs typeface="Lato Light"/>
            </a:endParaRPr>
          </a:p>
          <a:p>
            <a:r>
              <a:rPr lang="en-US" altLang="zh-CN" sz="1000">
                <a:cs typeface="Lato Light"/>
              </a:rPr>
              <a:t>After searching, users can select one or multiple records from the result list and perform a mass update.</a:t>
            </a:r>
          </a:p>
          <a:p>
            <a:endParaRPr lang="en-US" altLang="zh-CN" sz="1000">
              <a:cs typeface="Lato Light"/>
            </a:endParaRPr>
          </a:p>
          <a:p>
            <a:r>
              <a:rPr lang="en-US" altLang="zh-CN" sz="1000">
                <a:cs typeface="Lato Light"/>
              </a:rPr>
              <a:t>Users can choose </a:t>
            </a:r>
            <a:r>
              <a:rPr lang="en-US" altLang="zh-CN" sz="1000" b="1">
                <a:cs typeface="Lato Light"/>
              </a:rPr>
              <a:t>Subscription Order View or Device View</a:t>
            </a:r>
            <a:endParaRPr lang="en-US" altLang="zh-CN" sz="1000">
              <a:cs typeface="Lato Light"/>
            </a:endParaRPr>
          </a:p>
        </p:txBody>
      </p:sp>
      <p:sp>
        <p:nvSpPr>
          <p:cNvPr id="17" name="Oval 111">
            <a:extLst>
              <a:ext uri="{FF2B5EF4-FFF2-40B4-BE49-F238E27FC236}">
                <a16:creationId xmlns:a16="http://schemas.microsoft.com/office/drawing/2014/main" id="{0153AA9B-E670-E3D9-9E90-A4A9236B0845}"/>
              </a:ext>
            </a:extLst>
          </p:cNvPr>
          <p:cNvSpPr/>
          <p:nvPr/>
        </p:nvSpPr>
        <p:spPr>
          <a:xfrm>
            <a:off x="7756238" y="135298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3" name="Text 2">
            <a:extLst>
              <a:ext uri="{FF2B5EF4-FFF2-40B4-BE49-F238E27FC236}">
                <a16:creationId xmlns:a16="http://schemas.microsoft.com/office/drawing/2014/main" id="{DD86DB59-DDBA-0EAE-6C84-156742FDA7AA}"/>
              </a:ext>
            </a:extLst>
          </p:cNvPr>
          <p:cNvSpPr/>
          <p:nvPr/>
        </p:nvSpPr>
        <p:spPr>
          <a:xfrm>
            <a:off x="320182" y="775324"/>
            <a:ext cx="11639523" cy="509377"/>
          </a:xfrm>
          <a:prstGeom prst="rect">
            <a:avLst/>
          </a:prstGeom>
          <a:noFill/>
          <a:ln/>
        </p:spPr>
        <p:txBody>
          <a:bodyPr wrap="square" lIns="0" tIns="0" rIns="0" bIns="0" rtlCol="0" anchor="ctr">
            <a:normAutofit lnSpcReduction="10000"/>
          </a:bodyPr>
          <a:lstStyle/>
          <a:p>
            <a:r>
              <a:rPr lang="en-US" altLang="zh-CN" sz="1200"/>
              <a:t>The Mass Change function allows authorized users to update multiple Subscription Orders or Devices through a single request. Instead of updating records one by one, users can select multiple records, apply the same change, and submit the request for approval.</a:t>
            </a:r>
          </a:p>
          <a:p>
            <a:r>
              <a:rPr lang="en-US" altLang="zh-CN" sz="1200"/>
              <a:t>The function supports both: </a:t>
            </a:r>
            <a:r>
              <a:rPr lang="en-US" altLang="zh-CN" sz="1200" b="1"/>
              <a:t>Subscription Order View and Device View.</a:t>
            </a:r>
          </a:p>
        </p:txBody>
      </p:sp>
      <p:pic>
        <p:nvPicPr>
          <p:cNvPr id="4" name="图片 3">
            <a:extLst>
              <a:ext uri="{FF2B5EF4-FFF2-40B4-BE49-F238E27FC236}">
                <a16:creationId xmlns:a16="http://schemas.microsoft.com/office/drawing/2014/main" id="{D87DE867-1BB6-EAA3-8E53-396E766BB643}"/>
              </a:ext>
            </a:extLst>
          </p:cNvPr>
          <p:cNvPicPr>
            <a:picLocks noChangeAspect="1"/>
          </p:cNvPicPr>
          <p:nvPr/>
        </p:nvPicPr>
        <p:blipFill>
          <a:blip r:embed="rId2"/>
          <a:stretch>
            <a:fillRect/>
          </a:stretch>
        </p:blipFill>
        <p:spPr>
          <a:xfrm>
            <a:off x="320182" y="1352989"/>
            <a:ext cx="7299818" cy="4945663"/>
          </a:xfrm>
          <a:prstGeom prst="rect">
            <a:avLst/>
          </a:prstGeom>
        </p:spPr>
      </p:pic>
    </p:spTree>
    <p:extLst>
      <p:ext uri="{BB962C8B-B14F-4D97-AF65-F5344CB8AC3E}">
        <p14:creationId xmlns:p14="http://schemas.microsoft.com/office/powerpoint/2010/main" val="61786447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DB7DD-4284-9F79-D0D6-FB9644F607A4}"/>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3E166B23-A01A-4E46-20DE-F6041B84B830}"/>
              </a:ext>
            </a:extLst>
          </p:cNvPr>
          <p:cNvPicPr>
            <a:picLocks noChangeAspect="1"/>
          </p:cNvPicPr>
          <p:nvPr/>
        </p:nvPicPr>
        <p:blipFill>
          <a:blip r:embed="rId2"/>
          <a:stretch>
            <a:fillRect/>
          </a:stretch>
        </p:blipFill>
        <p:spPr>
          <a:xfrm>
            <a:off x="360030" y="1052058"/>
            <a:ext cx="7176320" cy="2730328"/>
          </a:xfrm>
          <a:prstGeom prst="rect">
            <a:avLst/>
          </a:prstGeom>
        </p:spPr>
      </p:pic>
      <p:sp>
        <p:nvSpPr>
          <p:cNvPr id="3" name="标题 2">
            <a:extLst>
              <a:ext uri="{FF2B5EF4-FFF2-40B4-BE49-F238E27FC236}">
                <a16:creationId xmlns:a16="http://schemas.microsoft.com/office/drawing/2014/main" id="{FCF9596B-8BC5-D593-9013-21E0C9B6BD29}"/>
              </a:ext>
            </a:extLst>
          </p:cNvPr>
          <p:cNvSpPr>
            <a:spLocks noGrp="1"/>
          </p:cNvSpPr>
          <p:nvPr>
            <p:ph type="title"/>
          </p:nvPr>
        </p:nvSpPr>
        <p:spPr/>
        <p:txBody>
          <a:bodyPr/>
          <a:lstStyle/>
          <a:p>
            <a:r>
              <a:rPr lang="en-US" altLang="zh-CN"/>
              <a:t>Subscription Order Mass Change </a:t>
            </a:r>
            <a:endParaRPr lang="zh-CN" altLang="en-US"/>
          </a:p>
        </p:txBody>
      </p:sp>
      <p:sp>
        <p:nvSpPr>
          <p:cNvPr id="9" name="TextBox 82">
            <a:extLst>
              <a:ext uri="{FF2B5EF4-FFF2-40B4-BE49-F238E27FC236}">
                <a16:creationId xmlns:a16="http://schemas.microsoft.com/office/drawing/2014/main" id="{460CADA0-AA63-2418-B3FD-C456EB2670A4}"/>
              </a:ext>
            </a:extLst>
          </p:cNvPr>
          <p:cNvSpPr txBox="1"/>
          <p:nvPr/>
        </p:nvSpPr>
        <p:spPr>
          <a:xfrm>
            <a:off x="8029189" y="921505"/>
            <a:ext cx="2422377" cy="292388"/>
          </a:xfrm>
          <a:prstGeom prst="rect">
            <a:avLst/>
          </a:prstGeom>
          <a:noFill/>
        </p:spPr>
        <p:txBody>
          <a:bodyPr wrap="square" rtlCol="0">
            <a:spAutoFit/>
          </a:bodyPr>
          <a:lstStyle/>
          <a:p>
            <a:r>
              <a:rPr lang="en-US" sz="1300" b="1">
                <a:solidFill>
                  <a:srgbClr val="126C36"/>
                </a:solidFill>
                <a:cs typeface="Lato Regular"/>
              </a:rPr>
              <a:t>Subscription Order View</a:t>
            </a:r>
          </a:p>
        </p:txBody>
      </p:sp>
      <p:sp>
        <p:nvSpPr>
          <p:cNvPr id="10" name="TextBox 83">
            <a:extLst>
              <a:ext uri="{FF2B5EF4-FFF2-40B4-BE49-F238E27FC236}">
                <a16:creationId xmlns:a16="http://schemas.microsoft.com/office/drawing/2014/main" id="{D8CD057F-6AA2-937C-7EED-9569B1BD3275}"/>
              </a:ext>
            </a:extLst>
          </p:cNvPr>
          <p:cNvSpPr txBox="1"/>
          <p:nvPr/>
        </p:nvSpPr>
        <p:spPr>
          <a:xfrm>
            <a:off x="8046382" y="1257080"/>
            <a:ext cx="3390254" cy="1323439"/>
          </a:xfrm>
          <a:prstGeom prst="rect">
            <a:avLst/>
          </a:prstGeom>
          <a:noFill/>
        </p:spPr>
        <p:txBody>
          <a:bodyPr wrap="square" rtlCol="0">
            <a:spAutoFit/>
          </a:bodyPr>
          <a:lstStyle/>
          <a:p>
            <a:r>
              <a:rPr lang="en-US" sz="1000">
                <a:cs typeface="Lato Light"/>
              </a:rPr>
              <a:t>Used to perform changes at the Subscription Order level.</a:t>
            </a:r>
            <a:endParaRPr lang="en-US" altLang="zh-CN" sz="1000">
              <a:cs typeface="Lato Light"/>
            </a:endParaRPr>
          </a:p>
          <a:p>
            <a:pPr marL="171450" indent="-171450">
              <a:buFont typeface="Arial" panose="020B0604020202020204" pitchFamily="34" charset="0"/>
              <a:buChar char="•"/>
            </a:pPr>
            <a:r>
              <a:rPr lang="en-US" altLang="zh-CN" sz="1000">
                <a:cs typeface="Lato Light"/>
              </a:rPr>
              <a:t>Change Bill-To</a:t>
            </a:r>
          </a:p>
          <a:p>
            <a:pPr marL="171450" indent="-171450">
              <a:buFont typeface="Arial" panose="020B0604020202020204" pitchFamily="34" charset="0"/>
              <a:buChar char="•"/>
            </a:pPr>
            <a:r>
              <a:rPr lang="en-US" altLang="zh-CN" sz="1000">
                <a:cs typeface="Lato Light"/>
              </a:rPr>
              <a:t>Change Ship-To</a:t>
            </a:r>
          </a:p>
          <a:p>
            <a:pPr marL="171450" indent="-171450">
              <a:buFont typeface="Arial" panose="020B0604020202020204" pitchFamily="34" charset="0"/>
              <a:buChar char="•"/>
            </a:pPr>
            <a:r>
              <a:rPr lang="en-US" altLang="zh-CN" sz="1000">
                <a:cs typeface="Lato Light"/>
              </a:rPr>
              <a:t>Change Ship-To Address</a:t>
            </a:r>
          </a:p>
          <a:p>
            <a:pPr marL="171450" indent="-171450">
              <a:buFont typeface="Arial" panose="020B0604020202020204" pitchFamily="34" charset="0"/>
              <a:buChar char="•"/>
            </a:pPr>
            <a:r>
              <a:rPr lang="en-US" altLang="zh-CN" sz="1000">
                <a:cs typeface="Lato Light"/>
              </a:rPr>
              <a:t>Change PO</a:t>
            </a:r>
          </a:p>
          <a:p>
            <a:pPr marL="171450" indent="-171450">
              <a:buFont typeface="Arial" panose="020B0604020202020204" pitchFamily="34" charset="0"/>
              <a:buChar char="•"/>
            </a:pPr>
            <a:r>
              <a:rPr lang="en-US" altLang="zh-CN" sz="1000">
                <a:cs typeface="Lato Light"/>
              </a:rPr>
              <a:t>Change Payment Term</a:t>
            </a:r>
          </a:p>
          <a:p>
            <a:pPr marL="171450" indent="-171450">
              <a:buFont typeface="Arial" panose="020B0604020202020204" pitchFamily="34" charset="0"/>
              <a:buChar char="•"/>
            </a:pPr>
            <a:r>
              <a:rPr lang="en-US" altLang="zh-CN" sz="1000">
                <a:cs typeface="Lato Light"/>
              </a:rPr>
              <a:t>Lock / Unlock Payment Schedule</a:t>
            </a:r>
          </a:p>
          <a:p>
            <a:pPr marL="171450" indent="-171450">
              <a:buFont typeface="Arial" panose="020B0604020202020204" pitchFamily="34" charset="0"/>
              <a:buChar char="•"/>
            </a:pPr>
            <a:r>
              <a:rPr lang="en-US" altLang="zh-CN" sz="1000">
                <a:cs typeface="Lato Light"/>
              </a:rPr>
              <a:t>Cancel Subscription Order</a:t>
            </a:r>
            <a:endParaRPr lang="en-US" altLang="zh-CN" sz="800">
              <a:solidFill>
                <a:srgbClr val="131720"/>
              </a:solidFill>
              <a:latin typeface="+mj-lt"/>
            </a:endParaRPr>
          </a:p>
        </p:txBody>
      </p:sp>
      <p:sp>
        <p:nvSpPr>
          <p:cNvPr id="18" name="Oval 112">
            <a:extLst>
              <a:ext uri="{FF2B5EF4-FFF2-40B4-BE49-F238E27FC236}">
                <a16:creationId xmlns:a16="http://schemas.microsoft.com/office/drawing/2014/main" id="{E7EF15B9-1D5C-98B5-50F0-1939E8CAA619}"/>
              </a:ext>
            </a:extLst>
          </p:cNvPr>
          <p:cNvSpPr/>
          <p:nvPr/>
        </p:nvSpPr>
        <p:spPr>
          <a:xfrm>
            <a:off x="7800589" y="95348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2" name="TextBox 83">
            <a:extLst>
              <a:ext uri="{FF2B5EF4-FFF2-40B4-BE49-F238E27FC236}">
                <a16:creationId xmlns:a16="http://schemas.microsoft.com/office/drawing/2014/main" id="{8DE015CE-DD42-BA57-1F48-2DA203019F30}"/>
              </a:ext>
            </a:extLst>
          </p:cNvPr>
          <p:cNvSpPr txBox="1"/>
          <p:nvPr/>
        </p:nvSpPr>
        <p:spPr>
          <a:xfrm>
            <a:off x="8046381" y="2995744"/>
            <a:ext cx="3390254" cy="1323439"/>
          </a:xfrm>
          <a:prstGeom prst="rect">
            <a:avLst/>
          </a:prstGeom>
          <a:noFill/>
        </p:spPr>
        <p:txBody>
          <a:bodyPr wrap="square" rtlCol="0">
            <a:spAutoFit/>
          </a:bodyPr>
          <a:lstStyle/>
          <a:p>
            <a:r>
              <a:rPr lang="en-US" sz="1000">
                <a:cs typeface="Lato Light"/>
              </a:rPr>
              <a:t>Used to perform changes on specific devices within a Subscription Order.</a:t>
            </a:r>
          </a:p>
          <a:p>
            <a:pPr marL="171450" indent="-171450">
              <a:buFont typeface="Arial" panose="020B0604020202020204" pitchFamily="34" charset="0"/>
              <a:buChar char="•"/>
            </a:pPr>
            <a:r>
              <a:rPr lang="en-US" altLang="zh-CN" sz="1000">
                <a:cs typeface="Lato Light"/>
              </a:rPr>
              <a:t>Change Bill-To</a:t>
            </a:r>
          </a:p>
          <a:p>
            <a:pPr marL="171450" indent="-171450">
              <a:buFont typeface="Arial" panose="020B0604020202020204" pitchFamily="34" charset="0"/>
              <a:buChar char="•"/>
            </a:pPr>
            <a:r>
              <a:rPr lang="en-US" altLang="zh-CN" sz="1000">
                <a:cs typeface="Lato Light"/>
              </a:rPr>
              <a:t>Change Ship-To</a:t>
            </a:r>
          </a:p>
          <a:p>
            <a:pPr marL="171450" indent="-171450">
              <a:buFont typeface="Arial" panose="020B0604020202020204" pitchFamily="34" charset="0"/>
              <a:buChar char="•"/>
            </a:pPr>
            <a:r>
              <a:rPr lang="en-US" altLang="zh-CN" sz="1000">
                <a:cs typeface="Lato Light"/>
              </a:rPr>
              <a:t>Change Ship-To Address</a:t>
            </a:r>
          </a:p>
          <a:p>
            <a:pPr marL="171450" indent="-171450">
              <a:buFont typeface="Arial" panose="020B0604020202020204" pitchFamily="34" charset="0"/>
              <a:buChar char="•"/>
            </a:pPr>
            <a:r>
              <a:rPr lang="en-US" altLang="zh-CN" sz="1000">
                <a:cs typeface="Lato Light"/>
              </a:rPr>
              <a:t>Cancel Change Event</a:t>
            </a:r>
          </a:p>
          <a:p>
            <a:pPr marL="171450" indent="-171450">
              <a:buFont typeface="Arial" panose="020B0604020202020204" pitchFamily="34" charset="0"/>
              <a:buChar char="•"/>
            </a:pPr>
            <a:r>
              <a:rPr lang="en-US" altLang="zh-CN" sz="1000">
                <a:cs typeface="Lato Light"/>
              </a:rPr>
              <a:t>Change Event Effective Date</a:t>
            </a:r>
          </a:p>
          <a:p>
            <a:pPr marL="171450" indent="-171450">
              <a:buFont typeface="Arial" panose="020B0604020202020204" pitchFamily="34" charset="0"/>
              <a:buChar char="•"/>
            </a:pPr>
            <a:r>
              <a:rPr lang="en-US" altLang="zh-CN" sz="1000">
                <a:cs typeface="Lato Light"/>
              </a:rPr>
              <a:t>Cancel Device</a:t>
            </a:r>
          </a:p>
        </p:txBody>
      </p:sp>
      <p:sp>
        <p:nvSpPr>
          <p:cNvPr id="15" name="TextBox 97">
            <a:extLst>
              <a:ext uri="{FF2B5EF4-FFF2-40B4-BE49-F238E27FC236}">
                <a16:creationId xmlns:a16="http://schemas.microsoft.com/office/drawing/2014/main" id="{25F42197-65A4-7814-B6CC-A760C71DD3CA}"/>
              </a:ext>
            </a:extLst>
          </p:cNvPr>
          <p:cNvSpPr txBox="1"/>
          <p:nvPr/>
        </p:nvSpPr>
        <p:spPr>
          <a:xfrm>
            <a:off x="8106763" y="2703356"/>
            <a:ext cx="3329872" cy="292388"/>
          </a:xfrm>
          <a:prstGeom prst="rect">
            <a:avLst/>
          </a:prstGeom>
          <a:noFill/>
        </p:spPr>
        <p:txBody>
          <a:bodyPr wrap="square" rtlCol="0">
            <a:spAutoFit/>
          </a:bodyPr>
          <a:lstStyle/>
          <a:p>
            <a:r>
              <a:rPr lang="en-US" altLang="zh-CN" sz="1300" b="1">
                <a:solidFill>
                  <a:srgbClr val="F26A52"/>
                </a:solidFill>
                <a:cs typeface="Lato Regular"/>
              </a:rPr>
              <a:t>Device View</a:t>
            </a:r>
          </a:p>
        </p:txBody>
      </p:sp>
      <p:sp>
        <p:nvSpPr>
          <p:cNvPr id="16" name="Oval 114">
            <a:extLst>
              <a:ext uri="{FF2B5EF4-FFF2-40B4-BE49-F238E27FC236}">
                <a16:creationId xmlns:a16="http://schemas.microsoft.com/office/drawing/2014/main" id="{EC87223A-A631-7384-4E96-993692A8E2FF}"/>
              </a:ext>
            </a:extLst>
          </p:cNvPr>
          <p:cNvSpPr/>
          <p:nvPr/>
        </p:nvSpPr>
        <p:spPr>
          <a:xfrm>
            <a:off x="7817781" y="2716874"/>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7" name="图片 6">
            <a:extLst>
              <a:ext uri="{FF2B5EF4-FFF2-40B4-BE49-F238E27FC236}">
                <a16:creationId xmlns:a16="http://schemas.microsoft.com/office/drawing/2014/main" id="{27CFD40F-A711-FDE5-C97B-734B09BEA003}"/>
              </a:ext>
            </a:extLst>
          </p:cNvPr>
          <p:cNvPicPr>
            <a:picLocks noChangeAspect="1"/>
          </p:cNvPicPr>
          <p:nvPr/>
        </p:nvPicPr>
        <p:blipFill>
          <a:blip r:embed="rId3"/>
          <a:stretch>
            <a:fillRect/>
          </a:stretch>
        </p:blipFill>
        <p:spPr>
          <a:xfrm>
            <a:off x="360030" y="3782386"/>
            <a:ext cx="7176320" cy="2687646"/>
          </a:xfrm>
          <a:prstGeom prst="rect">
            <a:avLst/>
          </a:prstGeom>
        </p:spPr>
      </p:pic>
    </p:spTree>
    <p:extLst>
      <p:ext uri="{BB962C8B-B14F-4D97-AF65-F5344CB8AC3E}">
        <p14:creationId xmlns:p14="http://schemas.microsoft.com/office/powerpoint/2010/main" val="7716160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8" grpId="0" animBg="1"/>
      <p:bldP spid="12" grpId="0"/>
      <p:bldP spid="15" grpId="0"/>
      <p:bldP spid="1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004F-880D-336C-8F49-0EAA79E2C90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421A912-458A-1A7F-4D58-2E67FF399AF3}"/>
              </a:ext>
            </a:extLst>
          </p:cNvPr>
          <p:cNvSpPr>
            <a:spLocks noGrp="1"/>
          </p:cNvSpPr>
          <p:nvPr>
            <p:ph type="title"/>
          </p:nvPr>
        </p:nvSpPr>
        <p:spPr/>
        <p:txBody>
          <a:bodyPr/>
          <a:lstStyle/>
          <a:p>
            <a:r>
              <a:rPr lang="en-US" altLang="zh-CN"/>
              <a:t>Subscription Order Mass Change – Subscription Order View </a:t>
            </a:r>
            <a:endParaRPr lang="zh-CN" altLang="en-US"/>
          </a:p>
        </p:txBody>
      </p:sp>
      <p:sp>
        <p:nvSpPr>
          <p:cNvPr id="9" name="TextBox 82">
            <a:extLst>
              <a:ext uri="{FF2B5EF4-FFF2-40B4-BE49-F238E27FC236}">
                <a16:creationId xmlns:a16="http://schemas.microsoft.com/office/drawing/2014/main" id="{CF185DE1-6DE6-100C-A69E-46F9187DA369}"/>
              </a:ext>
            </a:extLst>
          </p:cNvPr>
          <p:cNvSpPr txBox="1"/>
          <p:nvPr/>
        </p:nvSpPr>
        <p:spPr>
          <a:xfrm>
            <a:off x="7859526" y="843266"/>
            <a:ext cx="2422377" cy="292388"/>
          </a:xfrm>
          <a:prstGeom prst="rect">
            <a:avLst/>
          </a:prstGeom>
          <a:noFill/>
        </p:spPr>
        <p:txBody>
          <a:bodyPr wrap="square" rtlCol="0">
            <a:spAutoFit/>
          </a:bodyPr>
          <a:lstStyle/>
          <a:p>
            <a:r>
              <a:rPr lang="en-US" altLang="zh-CN" sz="1300" b="1">
                <a:solidFill>
                  <a:srgbClr val="126C36"/>
                </a:solidFill>
                <a:cs typeface="Lato Regular"/>
              </a:rPr>
              <a:t>Subscription Order View</a:t>
            </a:r>
          </a:p>
        </p:txBody>
      </p:sp>
      <p:sp>
        <p:nvSpPr>
          <p:cNvPr id="10" name="TextBox 83">
            <a:extLst>
              <a:ext uri="{FF2B5EF4-FFF2-40B4-BE49-F238E27FC236}">
                <a16:creationId xmlns:a16="http://schemas.microsoft.com/office/drawing/2014/main" id="{82C71F08-3178-ECF1-F55A-3ACCA362D6EB}"/>
              </a:ext>
            </a:extLst>
          </p:cNvPr>
          <p:cNvSpPr txBox="1"/>
          <p:nvPr/>
        </p:nvSpPr>
        <p:spPr>
          <a:xfrm>
            <a:off x="7859526" y="1103845"/>
            <a:ext cx="4180074" cy="4862870"/>
          </a:xfrm>
          <a:prstGeom prst="rect">
            <a:avLst/>
          </a:prstGeom>
          <a:noFill/>
        </p:spPr>
        <p:txBody>
          <a:bodyPr wrap="square" rtlCol="0">
            <a:spAutoFit/>
          </a:bodyPr>
          <a:lstStyle/>
          <a:p>
            <a:r>
              <a:rPr lang="en-US" sz="1000" b="1">
                <a:cs typeface="Lato Light"/>
              </a:rPr>
              <a:t>Change Bill-To / </a:t>
            </a:r>
            <a:r>
              <a:rPr lang="en-US" altLang="zh-CN" sz="1000" b="1">
                <a:cs typeface="Lato Light"/>
              </a:rPr>
              <a:t>Change Ship-To</a:t>
            </a:r>
            <a:endParaRPr lang="en-US" sz="1000">
              <a:cs typeface="Lato Light"/>
            </a:endParaRPr>
          </a:p>
          <a:p>
            <a:r>
              <a:rPr lang="en-US" sz="1000">
                <a:cs typeface="Lato Light"/>
              </a:rPr>
              <a:t>Allows users to update the Bill-To / </a:t>
            </a:r>
            <a:r>
              <a:rPr lang="en-US" altLang="zh-CN" sz="1000">
                <a:cs typeface="Lato Light"/>
              </a:rPr>
              <a:t>Ship-To</a:t>
            </a:r>
            <a:r>
              <a:rPr lang="en-US" sz="1000">
                <a:cs typeface="Lato Light"/>
              </a:rPr>
              <a:t> Partner for selected subscription orders.</a:t>
            </a:r>
          </a:p>
          <a:p>
            <a:r>
              <a:rPr lang="en-US" sz="1000">
                <a:cs typeface="Lato Light"/>
              </a:rPr>
              <a:t>Users enter a new </a:t>
            </a:r>
            <a:r>
              <a:rPr lang="en-US" altLang="zh-CN" sz="1000">
                <a:cs typeface="Lato Light"/>
              </a:rPr>
              <a:t>Bill-To / Ship-To</a:t>
            </a:r>
            <a:r>
              <a:rPr lang="en-US" sz="1000">
                <a:cs typeface="Lato Light"/>
              </a:rPr>
              <a:t> ID, and </a:t>
            </a:r>
            <a:r>
              <a:rPr lang="en-US" sz="1000" err="1">
                <a:cs typeface="Lato Light"/>
              </a:rPr>
              <a:t>NexBill</a:t>
            </a:r>
            <a:r>
              <a:rPr lang="en-US" sz="1000">
                <a:cs typeface="Lato Light"/>
              </a:rPr>
              <a:t> automatically retrieves the corresponding name and address from Account Master. Users may adjust the displayed address information before submitting the request.</a:t>
            </a:r>
          </a:p>
          <a:p>
            <a:endParaRPr lang="en-US" sz="1000">
              <a:cs typeface="Lato Light"/>
            </a:endParaRPr>
          </a:p>
          <a:p>
            <a:r>
              <a:rPr lang="en-US" sz="1000" b="1">
                <a:cs typeface="Lato Light"/>
              </a:rPr>
              <a:t>Change Ship-To Address</a:t>
            </a:r>
            <a:endParaRPr lang="en-US" sz="1000">
              <a:cs typeface="Lato Light"/>
            </a:endParaRPr>
          </a:p>
          <a:p>
            <a:r>
              <a:rPr lang="en-US" sz="1000">
                <a:cs typeface="Lato Light"/>
              </a:rPr>
              <a:t>Allows users to update only the Ship-To address information </a:t>
            </a:r>
            <a:r>
              <a:rPr lang="en-US" altLang="zh-CN" sz="1000">
                <a:cs typeface="Lato Light"/>
              </a:rPr>
              <a:t>for selected subscription orders, </a:t>
            </a:r>
            <a:r>
              <a:rPr lang="en-US" sz="1000">
                <a:cs typeface="Lato Light"/>
              </a:rPr>
              <a:t>while keeping the existing Ship-To Partner data unchanged.</a:t>
            </a:r>
          </a:p>
          <a:p>
            <a:endParaRPr lang="en-US" sz="1000">
              <a:cs typeface="Lato Light"/>
            </a:endParaRPr>
          </a:p>
          <a:p>
            <a:r>
              <a:rPr lang="en-US" sz="1000" b="1">
                <a:cs typeface="Lato Light"/>
              </a:rPr>
              <a:t>Change PO</a:t>
            </a:r>
            <a:endParaRPr lang="en-US" sz="1000">
              <a:cs typeface="Lato Light"/>
            </a:endParaRPr>
          </a:p>
          <a:p>
            <a:r>
              <a:rPr lang="en-US" sz="1000">
                <a:cs typeface="Lato Light"/>
              </a:rPr>
              <a:t>Allows users to replace the Customer PO number for selected Subscription Orders.</a:t>
            </a:r>
          </a:p>
          <a:p>
            <a:endParaRPr lang="en-US" sz="1000">
              <a:cs typeface="Lato Light"/>
            </a:endParaRPr>
          </a:p>
          <a:p>
            <a:r>
              <a:rPr lang="en-US" sz="1000" b="1">
                <a:cs typeface="Lato Light"/>
              </a:rPr>
              <a:t>Change Payment Term</a:t>
            </a:r>
            <a:endParaRPr lang="en-US" sz="1000">
              <a:cs typeface="Lato Light"/>
            </a:endParaRPr>
          </a:p>
          <a:p>
            <a:r>
              <a:rPr lang="en-US" sz="1000">
                <a:cs typeface="Lato Light"/>
              </a:rPr>
              <a:t>Allows users to update the Payment Term for </a:t>
            </a:r>
            <a:r>
              <a:rPr lang="en-US" altLang="zh-CN" sz="1000">
                <a:cs typeface="Lato Light"/>
              </a:rPr>
              <a:t>selected Subscription Orders.</a:t>
            </a:r>
            <a:r>
              <a:rPr lang="en-US" sz="1000">
                <a:cs typeface="Lato Light"/>
              </a:rPr>
              <a:t> </a:t>
            </a:r>
          </a:p>
          <a:p>
            <a:endParaRPr lang="en-US" sz="1000">
              <a:cs typeface="Lato Light"/>
            </a:endParaRPr>
          </a:p>
          <a:p>
            <a:r>
              <a:rPr lang="en-US" sz="1000" b="1">
                <a:cs typeface="Lato Light"/>
              </a:rPr>
              <a:t>Lock / Unlock Payment Schedule</a:t>
            </a:r>
            <a:endParaRPr lang="en-US" sz="1000">
              <a:cs typeface="Lato Light"/>
            </a:endParaRPr>
          </a:p>
          <a:p>
            <a:r>
              <a:rPr lang="en-US" sz="1000">
                <a:cs typeface="Lato Light"/>
              </a:rPr>
              <a:t>Allows users to control future payment schedule generation and billing activities. </a:t>
            </a:r>
          </a:p>
          <a:p>
            <a:r>
              <a:rPr lang="en-US" sz="1000" b="1">
                <a:cs typeface="Lato Light"/>
              </a:rPr>
              <a:t>Lock</a:t>
            </a:r>
            <a:r>
              <a:rPr lang="en-US" sz="1000">
                <a:cs typeface="Lato Light"/>
              </a:rPr>
              <a:t>: Locks eligible payment schedules (status is </a:t>
            </a:r>
            <a:r>
              <a:rPr lang="en-US" altLang="zh-CN" sz="1000">
                <a:cs typeface="Lato Light"/>
              </a:rPr>
              <a:t>'Pending' or 'Reverse’)</a:t>
            </a:r>
            <a:r>
              <a:rPr lang="en-US" sz="1000">
                <a:cs typeface="Lato Light"/>
              </a:rPr>
              <a:t>.</a:t>
            </a:r>
          </a:p>
          <a:p>
            <a:r>
              <a:rPr lang="en-US" sz="1000" b="1">
                <a:cs typeface="Lato Light"/>
              </a:rPr>
              <a:t>Unlock</a:t>
            </a:r>
            <a:r>
              <a:rPr lang="en-US" sz="1000">
                <a:cs typeface="Lato Light"/>
              </a:rPr>
              <a:t>: Releases previously locked payment schedules and restores them to normal processing.</a:t>
            </a:r>
          </a:p>
          <a:p>
            <a:endParaRPr lang="en-US" sz="1000">
              <a:cs typeface="Lato Light"/>
            </a:endParaRPr>
          </a:p>
          <a:p>
            <a:r>
              <a:rPr lang="en-US" sz="1000" b="1">
                <a:cs typeface="Lato Light"/>
              </a:rPr>
              <a:t>Cancel Subscription Order</a:t>
            </a:r>
          </a:p>
          <a:p>
            <a:r>
              <a:rPr lang="en-US" sz="1000">
                <a:cs typeface="Lato Light"/>
              </a:rPr>
              <a:t>Allows users to cancel selected Subscription Orders. The entire Subscription Order is cancelled after approval. Future payment schedules (</a:t>
            </a:r>
            <a:r>
              <a:rPr lang="en-US" altLang="zh-CN" sz="1000">
                <a:cs typeface="Lato Light"/>
              </a:rPr>
              <a:t>status is 'Pending' or 'Reverse' or 'Lock’)</a:t>
            </a:r>
            <a:r>
              <a:rPr lang="en-US" sz="1000">
                <a:cs typeface="Lato Light"/>
              </a:rPr>
              <a:t> are also cancelled.</a:t>
            </a:r>
            <a:endParaRPr lang="en-US" altLang="zh-CN" sz="1000">
              <a:cs typeface="Lato Light"/>
            </a:endParaRPr>
          </a:p>
        </p:txBody>
      </p:sp>
      <p:sp>
        <p:nvSpPr>
          <p:cNvPr id="18" name="Oval 112">
            <a:extLst>
              <a:ext uri="{FF2B5EF4-FFF2-40B4-BE49-F238E27FC236}">
                <a16:creationId xmlns:a16="http://schemas.microsoft.com/office/drawing/2014/main" id="{BD466DDD-CCB7-3E02-463C-865724567D16}"/>
              </a:ext>
            </a:extLst>
          </p:cNvPr>
          <p:cNvSpPr/>
          <p:nvPr/>
        </p:nvSpPr>
        <p:spPr>
          <a:xfrm>
            <a:off x="7630926" y="87524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16" name="图片 15">
            <a:extLst>
              <a:ext uri="{FF2B5EF4-FFF2-40B4-BE49-F238E27FC236}">
                <a16:creationId xmlns:a16="http://schemas.microsoft.com/office/drawing/2014/main" id="{6D46104D-8BB6-D73D-D8E8-B8D298A1DEB1}"/>
              </a:ext>
            </a:extLst>
          </p:cNvPr>
          <p:cNvPicPr>
            <a:picLocks noChangeAspect="1"/>
          </p:cNvPicPr>
          <p:nvPr/>
        </p:nvPicPr>
        <p:blipFill>
          <a:blip r:embed="rId2"/>
          <a:stretch>
            <a:fillRect/>
          </a:stretch>
        </p:blipFill>
        <p:spPr>
          <a:xfrm>
            <a:off x="356968" y="925963"/>
            <a:ext cx="2207556" cy="2772905"/>
          </a:xfrm>
          <a:prstGeom prst="rect">
            <a:avLst/>
          </a:prstGeom>
        </p:spPr>
      </p:pic>
      <p:pic>
        <p:nvPicPr>
          <p:cNvPr id="19" name="图片 18">
            <a:extLst>
              <a:ext uri="{FF2B5EF4-FFF2-40B4-BE49-F238E27FC236}">
                <a16:creationId xmlns:a16="http://schemas.microsoft.com/office/drawing/2014/main" id="{6F86DA13-10C7-3266-98D3-82C968BF93F5}"/>
              </a:ext>
            </a:extLst>
          </p:cNvPr>
          <p:cNvPicPr>
            <a:picLocks noChangeAspect="1"/>
          </p:cNvPicPr>
          <p:nvPr/>
        </p:nvPicPr>
        <p:blipFill>
          <a:blip r:embed="rId3"/>
          <a:stretch>
            <a:fillRect/>
          </a:stretch>
        </p:blipFill>
        <p:spPr>
          <a:xfrm>
            <a:off x="2710126" y="925963"/>
            <a:ext cx="2067492" cy="2772905"/>
          </a:xfrm>
          <a:prstGeom prst="rect">
            <a:avLst/>
          </a:prstGeom>
        </p:spPr>
      </p:pic>
      <p:pic>
        <p:nvPicPr>
          <p:cNvPr id="21" name="图片 20">
            <a:extLst>
              <a:ext uri="{FF2B5EF4-FFF2-40B4-BE49-F238E27FC236}">
                <a16:creationId xmlns:a16="http://schemas.microsoft.com/office/drawing/2014/main" id="{78EDACF8-0D23-9694-1CAD-F6B78E8DB89A}"/>
              </a:ext>
            </a:extLst>
          </p:cNvPr>
          <p:cNvPicPr>
            <a:picLocks noChangeAspect="1"/>
          </p:cNvPicPr>
          <p:nvPr/>
        </p:nvPicPr>
        <p:blipFill>
          <a:blip r:embed="rId4"/>
          <a:stretch>
            <a:fillRect/>
          </a:stretch>
        </p:blipFill>
        <p:spPr>
          <a:xfrm>
            <a:off x="4958027" y="925962"/>
            <a:ext cx="2492490" cy="2744119"/>
          </a:xfrm>
          <a:prstGeom prst="rect">
            <a:avLst/>
          </a:prstGeom>
        </p:spPr>
      </p:pic>
      <p:pic>
        <p:nvPicPr>
          <p:cNvPr id="23" name="图片 22">
            <a:extLst>
              <a:ext uri="{FF2B5EF4-FFF2-40B4-BE49-F238E27FC236}">
                <a16:creationId xmlns:a16="http://schemas.microsoft.com/office/drawing/2014/main" id="{5792F0CC-6B59-F451-91DD-795570F08ED3}"/>
              </a:ext>
            </a:extLst>
          </p:cNvPr>
          <p:cNvPicPr>
            <a:picLocks noChangeAspect="1"/>
          </p:cNvPicPr>
          <p:nvPr/>
        </p:nvPicPr>
        <p:blipFill>
          <a:blip r:embed="rId5"/>
          <a:stretch>
            <a:fillRect/>
          </a:stretch>
        </p:blipFill>
        <p:spPr>
          <a:xfrm>
            <a:off x="357475" y="3829574"/>
            <a:ext cx="2189724" cy="1219593"/>
          </a:xfrm>
          <a:prstGeom prst="rect">
            <a:avLst/>
          </a:prstGeom>
        </p:spPr>
      </p:pic>
      <p:pic>
        <p:nvPicPr>
          <p:cNvPr id="25" name="图片 24">
            <a:extLst>
              <a:ext uri="{FF2B5EF4-FFF2-40B4-BE49-F238E27FC236}">
                <a16:creationId xmlns:a16="http://schemas.microsoft.com/office/drawing/2014/main" id="{A48D4302-946A-6872-C5D9-A9152C09ECE4}"/>
              </a:ext>
            </a:extLst>
          </p:cNvPr>
          <p:cNvPicPr>
            <a:picLocks noChangeAspect="1"/>
          </p:cNvPicPr>
          <p:nvPr/>
        </p:nvPicPr>
        <p:blipFill>
          <a:blip r:embed="rId6"/>
          <a:stretch>
            <a:fillRect/>
          </a:stretch>
        </p:blipFill>
        <p:spPr>
          <a:xfrm>
            <a:off x="2734797" y="3829574"/>
            <a:ext cx="2124546" cy="1294219"/>
          </a:xfrm>
          <a:prstGeom prst="rect">
            <a:avLst/>
          </a:prstGeom>
        </p:spPr>
      </p:pic>
      <p:pic>
        <p:nvPicPr>
          <p:cNvPr id="27" name="图片 26">
            <a:extLst>
              <a:ext uri="{FF2B5EF4-FFF2-40B4-BE49-F238E27FC236}">
                <a16:creationId xmlns:a16="http://schemas.microsoft.com/office/drawing/2014/main" id="{D72D8907-F9A6-6993-E2CB-313BEE4A133A}"/>
              </a:ext>
            </a:extLst>
          </p:cNvPr>
          <p:cNvPicPr>
            <a:picLocks noChangeAspect="1"/>
          </p:cNvPicPr>
          <p:nvPr/>
        </p:nvPicPr>
        <p:blipFill>
          <a:blip r:embed="rId7"/>
          <a:stretch>
            <a:fillRect/>
          </a:stretch>
        </p:blipFill>
        <p:spPr>
          <a:xfrm>
            <a:off x="4958027" y="3817188"/>
            <a:ext cx="2422377" cy="1109716"/>
          </a:xfrm>
          <a:prstGeom prst="rect">
            <a:avLst/>
          </a:prstGeom>
        </p:spPr>
      </p:pic>
      <p:pic>
        <p:nvPicPr>
          <p:cNvPr id="29" name="图片 28">
            <a:extLst>
              <a:ext uri="{FF2B5EF4-FFF2-40B4-BE49-F238E27FC236}">
                <a16:creationId xmlns:a16="http://schemas.microsoft.com/office/drawing/2014/main" id="{443CF8EB-9D06-46F0-0029-C0B8F0CB6AB4}"/>
              </a:ext>
            </a:extLst>
          </p:cNvPr>
          <p:cNvPicPr>
            <a:picLocks noChangeAspect="1"/>
          </p:cNvPicPr>
          <p:nvPr/>
        </p:nvPicPr>
        <p:blipFill>
          <a:blip r:embed="rId8"/>
          <a:stretch>
            <a:fillRect/>
          </a:stretch>
        </p:blipFill>
        <p:spPr>
          <a:xfrm>
            <a:off x="4961854" y="5005335"/>
            <a:ext cx="2414722" cy="1271811"/>
          </a:xfrm>
          <a:prstGeom prst="rect">
            <a:avLst/>
          </a:prstGeom>
        </p:spPr>
      </p:pic>
    </p:spTree>
    <p:extLst>
      <p:ext uri="{BB962C8B-B14F-4D97-AF65-F5344CB8AC3E}">
        <p14:creationId xmlns:p14="http://schemas.microsoft.com/office/powerpoint/2010/main" val="39451134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3B976-1FB7-42FD-B5D0-A3100A996B1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7D4C3B1-69FE-12FD-9E2A-12FC94F3C3B0}"/>
              </a:ext>
            </a:extLst>
          </p:cNvPr>
          <p:cNvSpPr>
            <a:spLocks noGrp="1"/>
          </p:cNvSpPr>
          <p:nvPr>
            <p:ph type="title"/>
          </p:nvPr>
        </p:nvSpPr>
        <p:spPr/>
        <p:txBody>
          <a:bodyPr/>
          <a:lstStyle/>
          <a:p>
            <a:r>
              <a:rPr lang="en-US" altLang="zh-CN"/>
              <a:t>Subscription Order Mass Change – Device View </a:t>
            </a:r>
            <a:endParaRPr lang="zh-CN" altLang="en-US"/>
          </a:p>
        </p:txBody>
      </p:sp>
      <p:sp>
        <p:nvSpPr>
          <p:cNvPr id="12" name="TextBox 83">
            <a:extLst>
              <a:ext uri="{FF2B5EF4-FFF2-40B4-BE49-F238E27FC236}">
                <a16:creationId xmlns:a16="http://schemas.microsoft.com/office/drawing/2014/main" id="{19F06F2B-ED02-CFA5-85FA-B063F25B1A63}"/>
              </a:ext>
            </a:extLst>
          </p:cNvPr>
          <p:cNvSpPr txBox="1"/>
          <p:nvPr/>
        </p:nvSpPr>
        <p:spPr>
          <a:xfrm>
            <a:off x="7608209" y="1112970"/>
            <a:ext cx="4410952" cy="5016758"/>
          </a:xfrm>
          <a:prstGeom prst="rect">
            <a:avLst/>
          </a:prstGeom>
          <a:noFill/>
        </p:spPr>
        <p:txBody>
          <a:bodyPr wrap="square" rtlCol="0">
            <a:spAutoFit/>
          </a:bodyPr>
          <a:lstStyle/>
          <a:p>
            <a:r>
              <a:rPr lang="en-US" altLang="zh-CN" sz="1000" b="1">
                <a:cs typeface="Lato Light"/>
              </a:rPr>
              <a:t>Change Bill-To / Change Ship-To / Change Ship-To Address (Device View)</a:t>
            </a:r>
          </a:p>
          <a:p>
            <a:r>
              <a:rPr lang="en-US" altLang="zh-CN" sz="1000">
                <a:cs typeface="Lato Light"/>
              </a:rPr>
              <a:t>Allows users to update the Bill-To / Ship-To / Ship-To address information for </a:t>
            </a:r>
            <a:r>
              <a:rPr lang="en-US" altLang="zh-CN" sz="1000" b="1">
                <a:cs typeface="Lato Light"/>
              </a:rPr>
              <a:t>selected devices</a:t>
            </a:r>
            <a:r>
              <a:rPr lang="en-US" altLang="zh-CN" sz="1000">
                <a:cs typeface="Lato Light"/>
              </a:rPr>
              <a:t>.</a:t>
            </a:r>
          </a:p>
          <a:p>
            <a:endParaRPr lang="en-US" altLang="zh-CN" sz="1000">
              <a:cs typeface="Lato Light"/>
            </a:endParaRPr>
          </a:p>
          <a:p>
            <a:r>
              <a:rPr lang="en-US" altLang="zh-CN" sz="1000" b="1">
                <a:cs typeface="Lato Light"/>
              </a:rPr>
              <a:t>Full Device Selection</a:t>
            </a:r>
            <a:r>
              <a:rPr lang="en-US" altLang="zh-CN" sz="1000">
                <a:cs typeface="Lato Light"/>
              </a:rPr>
              <a:t>: If all devices under the Subscription Order are selected, </a:t>
            </a:r>
            <a:r>
              <a:rPr lang="en-US" altLang="zh-CN" sz="1000" err="1">
                <a:cs typeface="Lato Light"/>
              </a:rPr>
              <a:t>NexBill</a:t>
            </a:r>
            <a:r>
              <a:rPr lang="en-US" altLang="zh-CN" sz="1000">
                <a:cs typeface="Lato Light"/>
              </a:rPr>
              <a:t> updates the existing Subscription Order directly after approval.</a:t>
            </a:r>
          </a:p>
          <a:p>
            <a:endParaRPr lang="en-US" altLang="zh-CN" sz="1000">
              <a:cs typeface="Lato Light"/>
            </a:endParaRPr>
          </a:p>
          <a:p>
            <a:r>
              <a:rPr lang="en-US" altLang="zh-CN" sz="1000" b="1">
                <a:cs typeface="Lato Light"/>
              </a:rPr>
              <a:t>Partial Device Selection</a:t>
            </a:r>
            <a:r>
              <a:rPr lang="en-US" altLang="zh-CN" sz="1000">
                <a:cs typeface="Lato Light"/>
              </a:rPr>
              <a:t>: If only part of the devices under the Subscription Order are selected, </a:t>
            </a:r>
            <a:r>
              <a:rPr lang="en-US" altLang="zh-CN" sz="1000" err="1">
                <a:cs typeface="Lato Light"/>
              </a:rPr>
              <a:t>NexBill</a:t>
            </a:r>
            <a:r>
              <a:rPr lang="en-US" altLang="zh-CN" sz="1000">
                <a:cs typeface="Lato Light"/>
              </a:rPr>
              <a:t> automatically performs a Subscription Order Split after approval:</a:t>
            </a:r>
          </a:p>
          <a:p>
            <a:r>
              <a:rPr lang="en-US" altLang="zh-CN" sz="1000">
                <a:cs typeface="Lato Light"/>
              </a:rPr>
              <a:t>1. Create a new Subscription Order based on the original Subscription Order, copy header, items, partners, payment schedules, and related attributes.</a:t>
            </a:r>
          </a:p>
          <a:p>
            <a:r>
              <a:rPr lang="en-US" altLang="zh-CN" sz="1000">
                <a:cs typeface="Lato Light"/>
              </a:rPr>
              <a:t>2. Generate a new Subscription Order ID.</a:t>
            </a:r>
          </a:p>
          <a:p>
            <a:r>
              <a:rPr lang="en-US" altLang="zh-CN" sz="1000">
                <a:cs typeface="Lato Light"/>
              </a:rPr>
              <a:t>3. Move the selected devices to the new Subscription Order.</a:t>
            </a:r>
          </a:p>
          <a:p>
            <a:r>
              <a:rPr lang="en-US" altLang="zh-CN" sz="1000">
                <a:cs typeface="Lato Light"/>
              </a:rPr>
              <a:t>4. Adjust quantities on both Subscription Orders.</a:t>
            </a:r>
          </a:p>
          <a:p>
            <a:r>
              <a:rPr lang="en-US" altLang="zh-CN" sz="1000">
                <a:cs typeface="Lato Light"/>
              </a:rPr>
              <a:t>5. Update the Bill-To / Ship-To / Ship-To address and Payer information on the new Subscription Order.</a:t>
            </a:r>
          </a:p>
          <a:p>
            <a:r>
              <a:rPr lang="en-US" altLang="zh-CN" sz="1000">
                <a:cs typeface="Lato Light"/>
              </a:rPr>
              <a:t>6. Reassign related records such as payment schedules and change history.</a:t>
            </a:r>
          </a:p>
          <a:p>
            <a:r>
              <a:rPr lang="en-US" altLang="zh-CN" sz="1000">
                <a:cs typeface="Lato Light"/>
              </a:rPr>
              <a:t>7. </a:t>
            </a:r>
            <a:r>
              <a:rPr lang="en-US" altLang="zh-CN" sz="1000" b="1">
                <a:cs typeface="Lato Light"/>
              </a:rPr>
              <a:t>Open Change Events </a:t>
            </a:r>
            <a:r>
              <a:rPr lang="en-US" altLang="zh-CN" sz="1000">
                <a:cs typeface="Lato Light"/>
              </a:rPr>
              <a:t>linked to those devices are reassigned to the new Subscription Order. </a:t>
            </a:r>
          </a:p>
          <a:p>
            <a:endParaRPr lang="en-US" altLang="zh-CN" sz="1000">
              <a:cs typeface="Lato Light"/>
            </a:endParaRPr>
          </a:p>
          <a:p>
            <a:r>
              <a:rPr lang="en-US" altLang="zh-CN" sz="1000">
                <a:cs typeface="Lato Light"/>
              </a:rPr>
              <a:t>The original Subscription Order remains unchanged and retains only the Change Events associated with the remaining devices.</a:t>
            </a:r>
          </a:p>
          <a:p>
            <a:endParaRPr lang="en-US" altLang="zh-CN" sz="1000">
              <a:cs typeface="Lato Light"/>
            </a:endParaRPr>
          </a:p>
          <a:p>
            <a:r>
              <a:rPr lang="en-US" altLang="zh-CN" sz="1000" b="1">
                <a:cs typeface="Lato Light"/>
              </a:rPr>
              <a:t>Cancel Subscription Order (Device View)</a:t>
            </a:r>
          </a:p>
          <a:p>
            <a:r>
              <a:rPr lang="en-US" sz="1000" b="1">
                <a:cs typeface="Lato Light"/>
              </a:rPr>
              <a:t>Partial Device Cancellation</a:t>
            </a:r>
            <a:r>
              <a:rPr lang="en-US" sz="1000">
                <a:cs typeface="Lato Light"/>
              </a:rPr>
              <a:t>: If only selected devices are cancelled, the Subscription Order remains active and the item quantity is adjusted accordingly. </a:t>
            </a:r>
          </a:p>
          <a:p>
            <a:r>
              <a:rPr lang="en-US" sz="1000" b="1">
                <a:cs typeface="Lato Light"/>
              </a:rPr>
              <a:t>Full Device Cancellation</a:t>
            </a:r>
            <a:r>
              <a:rPr lang="en-US" sz="1000">
                <a:cs typeface="Lato Light"/>
              </a:rPr>
              <a:t>: If all devices under the Subscription Order are selected, the entire Subscription Order is cancelled, related future payment schedules are cancelled.</a:t>
            </a:r>
          </a:p>
        </p:txBody>
      </p:sp>
      <p:sp>
        <p:nvSpPr>
          <p:cNvPr id="15" name="TextBox 97">
            <a:extLst>
              <a:ext uri="{FF2B5EF4-FFF2-40B4-BE49-F238E27FC236}">
                <a16:creationId xmlns:a16="http://schemas.microsoft.com/office/drawing/2014/main" id="{942AAE4C-8F6E-4CE0-5AAE-F99AFC6C9B09}"/>
              </a:ext>
            </a:extLst>
          </p:cNvPr>
          <p:cNvSpPr txBox="1"/>
          <p:nvPr/>
        </p:nvSpPr>
        <p:spPr>
          <a:xfrm>
            <a:off x="7608209" y="866346"/>
            <a:ext cx="3329872" cy="292388"/>
          </a:xfrm>
          <a:prstGeom prst="rect">
            <a:avLst/>
          </a:prstGeom>
          <a:noFill/>
        </p:spPr>
        <p:txBody>
          <a:bodyPr wrap="square" rtlCol="0">
            <a:spAutoFit/>
          </a:bodyPr>
          <a:lstStyle/>
          <a:p>
            <a:r>
              <a:rPr lang="en-US" altLang="zh-CN" sz="1300" b="1">
                <a:solidFill>
                  <a:srgbClr val="F26A52"/>
                </a:solidFill>
                <a:cs typeface="Lato Regular"/>
              </a:rPr>
              <a:t>Device View</a:t>
            </a:r>
          </a:p>
        </p:txBody>
      </p:sp>
      <p:sp>
        <p:nvSpPr>
          <p:cNvPr id="16" name="Oval 114">
            <a:extLst>
              <a:ext uri="{FF2B5EF4-FFF2-40B4-BE49-F238E27FC236}">
                <a16:creationId xmlns:a16="http://schemas.microsoft.com/office/drawing/2014/main" id="{2300D28F-2AA8-BA11-DC7B-49B61A822D7A}"/>
              </a:ext>
            </a:extLst>
          </p:cNvPr>
          <p:cNvSpPr/>
          <p:nvPr/>
        </p:nvSpPr>
        <p:spPr>
          <a:xfrm>
            <a:off x="7379609" y="884370"/>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5" name="图片 4">
            <a:extLst>
              <a:ext uri="{FF2B5EF4-FFF2-40B4-BE49-F238E27FC236}">
                <a16:creationId xmlns:a16="http://schemas.microsoft.com/office/drawing/2014/main" id="{7BE5882A-3F6D-8F19-34BC-72D9F3281A0D}"/>
              </a:ext>
            </a:extLst>
          </p:cNvPr>
          <p:cNvPicPr>
            <a:picLocks noChangeAspect="1"/>
          </p:cNvPicPr>
          <p:nvPr/>
        </p:nvPicPr>
        <p:blipFill>
          <a:blip r:embed="rId2"/>
          <a:stretch>
            <a:fillRect/>
          </a:stretch>
        </p:blipFill>
        <p:spPr>
          <a:xfrm>
            <a:off x="320182" y="968452"/>
            <a:ext cx="2112963" cy="2619628"/>
          </a:xfrm>
          <a:prstGeom prst="rect">
            <a:avLst/>
          </a:prstGeom>
        </p:spPr>
      </p:pic>
      <p:pic>
        <p:nvPicPr>
          <p:cNvPr id="7" name="图片 6">
            <a:extLst>
              <a:ext uri="{FF2B5EF4-FFF2-40B4-BE49-F238E27FC236}">
                <a16:creationId xmlns:a16="http://schemas.microsoft.com/office/drawing/2014/main" id="{A65295DA-1187-47B2-7ADC-B720826755A0}"/>
              </a:ext>
            </a:extLst>
          </p:cNvPr>
          <p:cNvPicPr>
            <a:picLocks noChangeAspect="1"/>
          </p:cNvPicPr>
          <p:nvPr/>
        </p:nvPicPr>
        <p:blipFill>
          <a:blip r:embed="rId3"/>
          <a:stretch>
            <a:fillRect/>
          </a:stretch>
        </p:blipFill>
        <p:spPr>
          <a:xfrm>
            <a:off x="2568435" y="968452"/>
            <a:ext cx="2043681" cy="2619628"/>
          </a:xfrm>
          <a:prstGeom prst="rect">
            <a:avLst/>
          </a:prstGeom>
        </p:spPr>
      </p:pic>
      <p:pic>
        <p:nvPicPr>
          <p:cNvPr id="9" name="图片 8">
            <a:extLst>
              <a:ext uri="{FF2B5EF4-FFF2-40B4-BE49-F238E27FC236}">
                <a16:creationId xmlns:a16="http://schemas.microsoft.com/office/drawing/2014/main" id="{236E5124-25A6-776F-C09E-D38B191B7961}"/>
              </a:ext>
            </a:extLst>
          </p:cNvPr>
          <p:cNvPicPr>
            <a:picLocks noChangeAspect="1"/>
          </p:cNvPicPr>
          <p:nvPr/>
        </p:nvPicPr>
        <p:blipFill>
          <a:blip r:embed="rId4"/>
          <a:stretch>
            <a:fillRect/>
          </a:stretch>
        </p:blipFill>
        <p:spPr>
          <a:xfrm>
            <a:off x="4747406" y="968452"/>
            <a:ext cx="2496913" cy="2710267"/>
          </a:xfrm>
          <a:prstGeom prst="rect">
            <a:avLst/>
          </a:prstGeom>
        </p:spPr>
      </p:pic>
      <p:graphicFrame>
        <p:nvGraphicFramePr>
          <p:cNvPr id="2" name="表格 1">
            <a:extLst>
              <a:ext uri="{FF2B5EF4-FFF2-40B4-BE49-F238E27FC236}">
                <a16:creationId xmlns:a16="http://schemas.microsoft.com/office/drawing/2014/main" id="{94034A4F-0639-F683-A9AA-8B0DFD2E9B0D}"/>
              </a:ext>
            </a:extLst>
          </p:cNvPr>
          <p:cNvGraphicFramePr>
            <a:graphicFrameLocks noGrp="1"/>
          </p:cNvGraphicFramePr>
          <p:nvPr>
            <p:extLst>
              <p:ext uri="{D42A27DB-BD31-4B8C-83A1-F6EECF244321}">
                <p14:modId xmlns:p14="http://schemas.microsoft.com/office/powerpoint/2010/main" val="2788711332"/>
              </p:ext>
            </p:extLst>
          </p:nvPr>
        </p:nvGraphicFramePr>
        <p:xfrm>
          <a:off x="3590274" y="3907443"/>
          <a:ext cx="3724925" cy="1501140"/>
        </p:xfrm>
        <a:graphic>
          <a:graphicData uri="http://schemas.openxmlformats.org/drawingml/2006/table">
            <a:tbl>
              <a:tblPr/>
              <a:tblGrid>
                <a:gridCol w="1789315">
                  <a:extLst>
                    <a:ext uri="{9D8B030D-6E8A-4147-A177-3AD203B41FA5}">
                      <a16:colId xmlns:a16="http://schemas.microsoft.com/office/drawing/2014/main" val="520178347"/>
                    </a:ext>
                  </a:extLst>
                </a:gridCol>
                <a:gridCol w="847790">
                  <a:extLst>
                    <a:ext uri="{9D8B030D-6E8A-4147-A177-3AD203B41FA5}">
                      <a16:colId xmlns:a16="http://schemas.microsoft.com/office/drawing/2014/main" val="176300327"/>
                    </a:ext>
                  </a:extLst>
                </a:gridCol>
                <a:gridCol w="1087820">
                  <a:extLst>
                    <a:ext uri="{9D8B030D-6E8A-4147-A177-3AD203B41FA5}">
                      <a16:colId xmlns:a16="http://schemas.microsoft.com/office/drawing/2014/main" val="2605504193"/>
                    </a:ext>
                  </a:extLst>
                </a:gridCol>
              </a:tblGrid>
              <a:tr h="243053">
                <a:tc>
                  <a:txBody>
                    <a:bodyPr/>
                    <a:lstStyle/>
                    <a:p>
                      <a:pPr fontAlgn="t">
                        <a:lnSpc>
                          <a:spcPts val="1500"/>
                        </a:lnSpc>
                      </a:pPr>
                      <a:r>
                        <a:rPr lang="en-US" sz="1000" b="1" i="0">
                          <a:solidFill>
                            <a:schemeClr val="tx1"/>
                          </a:solidFill>
                          <a:effectLst/>
                          <a:latin typeface="+mj-lt"/>
                        </a:rPr>
                        <a:t>Split Order Trigger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endParaRPr lang="zh-CN" altLang="en-US" sz="100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endParaRPr lang="zh-CN" altLang="en-US" sz="100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extLst>
                  <a:ext uri="{0D108BD9-81ED-4DB2-BD59-A6C34878D82A}">
                    <a16:rowId xmlns:a16="http://schemas.microsoft.com/office/drawing/2014/main" val="2547936030"/>
                  </a:ext>
                </a:extLst>
              </a:tr>
              <a:tr h="210208">
                <a:tc>
                  <a:txBody>
                    <a:bodyPr/>
                    <a:lstStyle/>
                    <a:p>
                      <a:r>
                        <a:rPr lang="en-US" sz="1000">
                          <a:solidFill>
                            <a:schemeClr val="tx1"/>
                          </a:solidFill>
                          <a:effectLst/>
                          <a:latin typeface="+mj-lt"/>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Full Device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Partial Device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extLst>
                  <a:ext uri="{0D108BD9-81ED-4DB2-BD59-A6C34878D82A}">
                    <a16:rowId xmlns:a16="http://schemas.microsoft.com/office/drawing/2014/main" val="860425655"/>
                  </a:ext>
                </a:extLst>
              </a:tr>
              <a:tr h="210208">
                <a:tc>
                  <a:txBody>
                    <a:bodyPr/>
                    <a:lstStyle/>
                    <a:p>
                      <a:r>
                        <a:rPr lang="en-US" sz="1000">
                          <a:solidFill>
                            <a:schemeClr val="tx1"/>
                          </a:solidFill>
                          <a:effectLst/>
                          <a:latin typeface="+mj-lt"/>
                        </a:rPr>
                        <a:t>Change Bill-To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No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extLst>
                  <a:ext uri="{0D108BD9-81ED-4DB2-BD59-A6C34878D82A}">
                    <a16:rowId xmlns:a16="http://schemas.microsoft.com/office/drawing/2014/main" val="727494803"/>
                  </a:ext>
                </a:extLst>
              </a:tr>
              <a:tr h="210208">
                <a:tc>
                  <a:txBody>
                    <a:bodyPr/>
                    <a:lstStyle/>
                    <a:p>
                      <a:r>
                        <a:rPr lang="en-US" sz="1000">
                          <a:solidFill>
                            <a:schemeClr val="tx1"/>
                          </a:solidFill>
                          <a:effectLst/>
                          <a:latin typeface="+mj-lt"/>
                        </a:rPr>
                        <a:t>Change Ship-To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No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extLst>
                  <a:ext uri="{0D108BD9-81ED-4DB2-BD59-A6C34878D82A}">
                    <a16:rowId xmlns:a16="http://schemas.microsoft.com/office/drawing/2014/main" val="1843961647"/>
                  </a:ext>
                </a:extLst>
              </a:tr>
              <a:tr h="210208">
                <a:tc>
                  <a:txBody>
                    <a:bodyPr/>
                    <a:lstStyle/>
                    <a:p>
                      <a:r>
                        <a:rPr lang="en-US" sz="1000">
                          <a:solidFill>
                            <a:schemeClr val="tx1"/>
                          </a:solidFill>
                          <a:effectLst/>
                          <a:latin typeface="+mj-lt"/>
                        </a:rPr>
                        <a:t>Change Ship-To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No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extLst>
                  <a:ext uri="{0D108BD9-81ED-4DB2-BD59-A6C34878D82A}">
                    <a16:rowId xmlns:a16="http://schemas.microsoft.com/office/drawing/2014/main" val="4248686347"/>
                  </a:ext>
                </a:extLst>
              </a:tr>
              <a:tr h="210208">
                <a:tc>
                  <a:txBody>
                    <a:bodyPr/>
                    <a:lstStyle/>
                    <a:p>
                      <a:r>
                        <a:rPr lang="en-US" sz="1000">
                          <a:solidFill>
                            <a:schemeClr val="tx1"/>
                          </a:solidFill>
                          <a:effectLst/>
                          <a:latin typeface="+mj-lt"/>
                        </a:rPr>
                        <a:t>Cancel Device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No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tc>
                  <a:txBody>
                    <a:bodyPr/>
                    <a:lstStyle/>
                    <a:p>
                      <a:r>
                        <a:rPr lang="en-US" sz="1000">
                          <a:solidFill>
                            <a:schemeClr val="tx1"/>
                          </a:solidFill>
                          <a:effectLst/>
                          <a:latin typeface="+mj-lt"/>
                        </a:rPr>
                        <a:t>No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89000"/>
                      </a:schemeClr>
                    </a:solidFill>
                  </a:tcPr>
                </a:tc>
                <a:extLst>
                  <a:ext uri="{0D108BD9-81ED-4DB2-BD59-A6C34878D82A}">
                    <a16:rowId xmlns:a16="http://schemas.microsoft.com/office/drawing/2014/main" val="805973556"/>
                  </a:ext>
                </a:extLst>
              </a:tr>
            </a:tbl>
          </a:graphicData>
        </a:graphic>
      </p:graphicFrame>
      <p:pic>
        <p:nvPicPr>
          <p:cNvPr id="6" name="图片 5">
            <a:extLst>
              <a:ext uri="{FF2B5EF4-FFF2-40B4-BE49-F238E27FC236}">
                <a16:creationId xmlns:a16="http://schemas.microsoft.com/office/drawing/2014/main" id="{0D6A4D5C-BDF8-E1E4-FB0B-F9280C571B2F}"/>
              </a:ext>
            </a:extLst>
          </p:cNvPr>
          <p:cNvPicPr>
            <a:picLocks noChangeAspect="1"/>
          </p:cNvPicPr>
          <p:nvPr/>
        </p:nvPicPr>
        <p:blipFill>
          <a:blip r:embed="rId5"/>
          <a:stretch>
            <a:fillRect/>
          </a:stretch>
        </p:blipFill>
        <p:spPr>
          <a:xfrm>
            <a:off x="360803" y="3907443"/>
            <a:ext cx="2999523" cy="1582839"/>
          </a:xfrm>
          <a:prstGeom prst="rect">
            <a:avLst/>
          </a:prstGeom>
        </p:spPr>
      </p:pic>
    </p:spTree>
    <p:extLst>
      <p:ext uri="{BB962C8B-B14F-4D97-AF65-F5344CB8AC3E}">
        <p14:creationId xmlns:p14="http://schemas.microsoft.com/office/powerpoint/2010/main" val="38266238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CA4EA-1738-072C-D70A-611AA2D400E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980F61-9F07-3F97-44C3-8C3192BF36BF}"/>
              </a:ext>
            </a:extLst>
          </p:cNvPr>
          <p:cNvSpPr>
            <a:spLocks noGrp="1"/>
          </p:cNvSpPr>
          <p:nvPr>
            <p:ph type="title"/>
          </p:nvPr>
        </p:nvSpPr>
        <p:spPr/>
        <p:txBody>
          <a:bodyPr/>
          <a:lstStyle/>
          <a:p>
            <a:r>
              <a:rPr lang="en-US" altLang="zh-CN"/>
              <a:t>Subscription Order Mass Change </a:t>
            </a:r>
            <a:endParaRPr lang="zh-CN" altLang="en-US"/>
          </a:p>
        </p:txBody>
      </p:sp>
      <p:sp>
        <p:nvSpPr>
          <p:cNvPr id="12" name="TextBox 83">
            <a:extLst>
              <a:ext uri="{FF2B5EF4-FFF2-40B4-BE49-F238E27FC236}">
                <a16:creationId xmlns:a16="http://schemas.microsoft.com/office/drawing/2014/main" id="{B8009F2A-06BD-149B-E8B0-958BB8496F66}"/>
              </a:ext>
            </a:extLst>
          </p:cNvPr>
          <p:cNvSpPr txBox="1"/>
          <p:nvPr/>
        </p:nvSpPr>
        <p:spPr>
          <a:xfrm>
            <a:off x="7640638" y="1216015"/>
            <a:ext cx="4195491" cy="4093428"/>
          </a:xfrm>
          <a:prstGeom prst="rect">
            <a:avLst/>
          </a:prstGeom>
          <a:noFill/>
        </p:spPr>
        <p:txBody>
          <a:bodyPr wrap="square" rtlCol="0">
            <a:spAutoFit/>
          </a:bodyPr>
          <a:lstStyle/>
          <a:p>
            <a:r>
              <a:rPr lang="en-US" sz="1000" b="1">
                <a:cs typeface="Lato Light"/>
              </a:rPr>
              <a:t>Cancel Change Event </a:t>
            </a:r>
          </a:p>
          <a:p>
            <a:r>
              <a:rPr lang="en-US" sz="1000">
                <a:cs typeface="Lato Light"/>
              </a:rPr>
              <a:t>Available in Device View only. </a:t>
            </a:r>
          </a:p>
          <a:p>
            <a:endParaRPr lang="en-US" sz="1000">
              <a:cs typeface="Lato Light"/>
            </a:endParaRPr>
          </a:p>
          <a:p>
            <a:r>
              <a:rPr lang="en-US" sz="1000">
                <a:cs typeface="Lato Light"/>
              </a:rPr>
              <a:t>Allows users to cancel </a:t>
            </a:r>
            <a:r>
              <a:rPr lang="en-US" sz="1000" b="1">
                <a:cs typeface="Lato Light"/>
              </a:rPr>
              <a:t>open</a:t>
            </a:r>
            <a:r>
              <a:rPr lang="en-US" sz="1000">
                <a:cs typeface="Lato Light"/>
              </a:rPr>
              <a:t> Change Events associated with selected devices. The cancellation becomes effective after approval.</a:t>
            </a:r>
          </a:p>
          <a:p>
            <a:r>
              <a:rPr lang="en-US" sz="1000">
                <a:cs typeface="Lato Light"/>
              </a:rPr>
              <a:t>Only Open Change Events are displayed in the result list.</a:t>
            </a:r>
          </a:p>
          <a:p>
            <a:endParaRPr lang="en-US" sz="1000">
              <a:cs typeface="Lato Light"/>
            </a:endParaRPr>
          </a:p>
          <a:p>
            <a:r>
              <a:rPr lang="en-US" sz="1000" b="1">
                <a:cs typeface="Lato Light"/>
              </a:rPr>
              <a:t>Change Event Effective Date</a:t>
            </a:r>
            <a:endParaRPr lang="en-US" sz="1000">
              <a:cs typeface="Lato Light"/>
            </a:endParaRPr>
          </a:p>
          <a:p>
            <a:r>
              <a:rPr lang="en-US" sz="1000">
                <a:cs typeface="Lato Light"/>
              </a:rPr>
              <a:t>Available in </a:t>
            </a:r>
            <a:r>
              <a:rPr lang="en-US" sz="1000" err="1">
                <a:cs typeface="Lato Light"/>
              </a:rPr>
              <a:t>DeviceView</a:t>
            </a:r>
            <a:r>
              <a:rPr lang="en-US" sz="1000">
                <a:cs typeface="Lato Light"/>
              </a:rPr>
              <a:t> only.</a:t>
            </a:r>
          </a:p>
          <a:p>
            <a:endParaRPr lang="en-US" sz="1000">
              <a:cs typeface="Lato Light"/>
            </a:endParaRPr>
          </a:p>
          <a:p>
            <a:r>
              <a:rPr lang="en-US" sz="1000">
                <a:cs typeface="Lato Light"/>
              </a:rPr>
              <a:t>Allows users to update the effective date </a:t>
            </a:r>
            <a:r>
              <a:rPr lang="en-US" sz="1000" b="1">
                <a:cs typeface="Lato Light"/>
              </a:rPr>
              <a:t>of open </a:t>
            </a:r>
            <a:r>
              <a:rPr lang="en-US" sz="1000">
                <a:cs typeface="Lato Light"/>
              </a:rPr>
              <a:t>Change Events for selected devices. </a:t>
            </a:r>
          </a:p>
          <a:p>
            <a:r>
              <a:rPr lang="en-US" sz="1000">
                <a:cs typeface="Lato Light"/>
              </a:rPr>
              <a:t>Only devices with Open Change Events are displayed in the result list.</a:t>
            </a:r>
          </a:p>
          <a:p>
            <a:r>
              <a:rPr lang="en-US" sz="1000">
                <a:cs typeface="Lato Light"/>
              </a:rPr>
              <a:t>The new effective date is applied after approval and execution.</a:t>
            </a:r>
          </a:p>
          <a:p>
            <a:endParaRPr lang="en-US" sz="1000">
              <a:cs typeface="Lato Light"/>
            </a:endParaRPr>
          </a:p>
          <a:p>
            <a:r>
              <a:rPr lang="en-US" altLang="zh-CN" sz="1000">
                <a:cs typeface="Lato Light"/>
              </a:rPr>
              <a:t>Effective Date cannot be earlier than the billing from date of the most recent final invoice. </a:t>
            </a:r>
          </a:p>
          <a:p>
            <a:r>
              <a:rPr lang="en-US" altLang="zh-CN" sz="1000" b="1">
                <a:cs typeface="Lato Light"/>
              </a:rPr>
              <a:t>Example:</a:t>
            </a:r>
          </a:p>
          <a:p>
            <a:r>
              <a:rPr lang="en-US" altLang="zh-CN" sz="1000">
                <a:cs typeface="Lato Light"/>
              </a:rPr>
              <a:t>Most Recent Final Invoice Billing From Date: 01-Jan-2026</a:t>
            </a:r>
          </a:p>
          <a:p>
            <a:r>
              <a:rPr lang="en-US" altLang="zh-CN" sz="1000">
                <a:cs typeface="Lato Light"/>
              </a:rPr>
              <a:t>New Effective Date: 15-Dec-2025 ❌ Not Allowed</a:t>
            </a:r>
          </a:p>
          <a:p>
            <a:r>
              <a:rPr lang="en-US" altLang="zh-CN" sz="1000">
                <a:cs typeface="Lato Light"/>
              </a:rPr>
              <a:t>New Effective Date: 01-Jan-2026 ✅ Allowed</a:t>
            </a:r>
          </a:p>
          <a:p>
            <a:r>
              <a:rPr lang="en-US" altLang="zh-CN" sz="1000">
                <a:cs typeface="Lato Light"/>
              </a:rPr>
              <a:t>New Effective Date: 15-Feb-2026 ✅ Allowed</a:t>
            </a:r>
          </a:p>
          <a:p>
            <a:endParaRPr lang="en-US" altLang="zh-CN" sz="1000">
              <a:cs typeface="Lato Light"/>
            </a:endParaRPr>
          </a:p>
          <a:p>
            <a:r>
              <a:rPr lang="en-US" altLang="zh-CN" sz="1000">
                <a:cs typeface="Lato Light"/>
              </a:rPr>
              <a:t>Note: This validation ensures that Change Events cannot modify periods that have already been finalized and invoiced.</a:t>
            </a:r>
            <a:endParaRPr lang="en-US" sz="1000">
              <a:cs typeface="Lato Light"/>
            </a:endParaRPr>
          </a:p>
          <a:p>
            <a:endParaRPr lang="en-US" sz="1000">
              <a:cs typeface="Lato Light"/>
            </a:endParaRPr>
          </a:p>
        </p:txBody>
      </p:sp>
      <p:sp>
        <p:nvSpPr>
          <p:cNvPr id="15" name="TextBox 97">
            <a:extLst>
              <a:ext uri="{FF2B5EF4-FFF2-40B4-BE49-F238E27FC236}">
                <a16:creationId xmlns:a16="http://schemas.microsoft.com/office/drawing/2014/main" id="{E8373168-F9A2-5BC0-298F-8AD952077BE4}"/>
              </a:ext>
            </a:extLst>
          </p:cNvPr>
          <p:cNvSpPr txBox="1"/>
          <p:nvPr/>
        </p:nvSpPr>
        <p:spPr>
          <a:xfrm>
            <a:off x="7640638" y="969391"/>
            <a:ext cx="3329872" cy="292388"/>
          </a:xfrm>
          <a:prstGeom prst="rect">
            <a:avLst/>
          </a:prstGeom>
          <a:noFill/>
        </p:spPr>
        <p:txBody>
          <a:bodyPr wrap="square" rtlCol="0">
            <a:spAutoFit/>
          </a:bodyPr>
          <a:lstStyle/>
          <a:p>
            <a:r>
              <a:rPr lang="en-US" altLang="zh-CN" sz="1300" b="1">
                <a:solidFill>
                  <a:srgbClr val="F26A52"/>
                </a:solidFill>
                <a:cs typeface="Lato Regular"/>
              </a:rPr>
              <a:t>Device View</a:t>
            </a:r>
          </a:p>
        </p:txBody>
      </p:sp>
      <p:sp>
        <p:nvSpPr>
          <p:cNvPr id="16" name="Oval 114">
            <a:extLst>
              <a:ext uri="{FF2B5EF4-FFF2-40B4-BE49-F238E27FC236}">
                <a16:creationId xmlns:a16="http://schemas.microsoft.com/office/drawing/2014/main" id="{F470CC7D-A953-3D8C-6E3A-FB27B4F4798A}"/>
              </a:ext>
            </a:extLst>
          </p:cNvPr>
          <p:cNvSpPr/>
          <p:nvPr/>
        </p:nvSpPr>
        <p:spPr>
          <a:xfrm>
            <a:off x="7412038" y="987415"/>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17" name="图片 16">
            <a:extLst>
              <a:ext uri="{FF2B5EF4-FFF2-40B4-BE49-F238E27FC236}">
                <a16:creationId xmlns:a16="http://schemas.microsoft.com/office/drawing/2014/main" id="{C9FE1886-CFF3-6EA2-CCAA-8163275F1808}"/>
              </a:ext>
            </a:extLst>
          </p:cNvPr>
          <p:cNvPicPr>
            <a:picLocks noChangeAspect="1"/>
          </p:cNvPicPr>
          <p:nvPr/>
        </p:nvPicPr>
        <p:blipFill>
          <a:blip r:embed="rId2"/>
          <a:stretch>
            <a:fillRect/>
          </a:stretch>
        </p:blipFill>
        <p:spPr>
          <a:xfrm>
            <a:off x="320182" y="2417381"/>
            <a:ext cx="4314496" cy="1795440"/>
          </a:xfrm>
          <a:prstGeom prst="rect">
            <a:avLst/>
          </a:prstGeom>
        </p:spPr>
      </p:pic>
      <p:pic>
        <p:nvPicPr>
          <p:cNvPr id="19" name="图片 18">
            <a:extLst>
              <a:ext uri="{FF2B5EF4-FFF2-40B4-BE49-F238E27FC236}">
                <a16:creationId xmlns:a16="http://schemas.microsoft.com/office/drawing/2014/main" id="{011DADAF-855E-2BB7-8AD7-45001CD13585}"/>
              </a:ext>
            </a:extLst>
          </p:cNvPr>
          <p:cNvPicPr>
            <a:picLocks noChangeAspect="1"/>
          </p:cNvPicPr>
          <p:nvPr/>
        </p:nvPicPr>
        <p:blipFill>
          <a:blip r:embed="rId3"/>
          <a:stretch>
            <a:fillRect/>
          </a:stretch>
        </p:blipFill>
        <p:spPr>
          <a:xfrm>
            <a:off x="320182" y="4125151"/>
            <a:ext cx="2925766" cy="2182225"/>
          </a:xfrm>
          <a:prstGeom prst="rect">
            <a:avLst/>
          </a:prstGeom>
        </p:spPr>
      </p:pic>
      <p:pic>
        <p:nvPicPr>
          <p:cNvPr id="4" name="图片 3">
            <a:extLst>
              <a:ext uri="{FF2B5EF4-FFF2-40B4-BE49-F238E27FC236}">
                <a16:creationId xmlns:a16="http://schemas.microsoft.com/office/drawing/2014/main" id="{73669E16-10D2-F9C3-FC10-A38C1C6FD192}"/>
              </a:ext>
            </a:extLst>
          </p:cNvPr>
          <p:cNvPicPr>
            <a:picLocks noChangeAspect="1"/>
          </p:cNvPicPr>
          <p:nvPr/>
        </p:nvPicPr>
        <p:blipFill>
          <a:blip r:embed="rId4"/>
          <a:stretch>
            <a:fillRect/>
          </a:stretch>
        </p:blipFill>
        <p:spPr>
          <a:xfrm>
            <a:off x="320182" y="991434"/>
            <a:ext cx="6874149" cy="1155499"/>
          </a:xfrm>
          <a:prstGeom prst="rect">
            <a:avLst/>
          </a:prstGeom>
        </p:spPr>
      </p:pic>
    </p:spTree>
    <p:extLst>
      <p:ext uri="{BB962C8B-B14F-4D97-AF65-F5344CB8AC3E}">
        <p14:creationId xmlns:p14="http://schemas.microsoft.com/office/powerpoint/2010/main" val="32940017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A1497-C91E-D7B6-24B2-959EC00745B5}"/>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B57F8E30-428B-CD52-FB2F-51E1E1D2834E}"/>
              </a:ext>
            </a:extLst>
          </p:cNvPr>
          <p:cNvPicPr>
            <a:picLocks noChangeAspect="1"/>
          </p:cNvPicPr>
          <p:nvPr/>
        </p:nvPicPr>
        <p:blipFill>
          <a:blip r:embed="rId2"/>
          <a:stretch>
            <a:fillRect/>
          </a:stretch>
        </p:blipFill>
        <p:spPr>
          <a:xfrm>
            <a:off x="258400" y="1145766"/>
            <a:ext cx="7319559" cy="2070293"/>
          </a:xfrm>
          <a:prstGeom prst="rect">
            <a:avLst/>
          </a:prstGeom>
        </p:spPr>
      </p:pic>
      <p:sp>
        <p:nvSpPr>
          <p:cNvPr id="3" name="标题 2">
            <a:extLst>
              <a:ext uri="{FF2B5EF4-FFF2-40B4-BE49-F238E27FC236}">
                <a16:creationId xmlns:a16="http://schemas.microsoft.com/office/drawing/2014/main" id="{BFF72AF5-C4CE-43A2-41FA-D1B5CE2992E0}"/>
              </a:ext>
            </a:extLst>
          </p:cNvPr>
          <p:cNvSpPr>
            <a:spLocks noGrp="1"/>
          </p:cNvSpPr>
          <p:nvPr>
            <p:ph type="title"/>
          </p:nvPr>
        </p:nvSpPr>
        <p:spPr/>
        <p:txBody>
          <a:bodyPr/>
          <a:lstStyle/>
          <a:p>
            <a:r>
              <a:rPr lang="en-US" altLang="zh-CN"/>
              <a:t>Subscription Order Mass Change </a:t>
            </a:r>
            <a:endParaRPr lang="zh-CN" altLang="en-US"/>
          </a:p>
        </p:txBody>
      </p:sp>
      <p:sp>
        <p:nvSpPr>
          <p:cNvPr id="12" name="TextBox 83">
            <a:extLst>
              <a:ext uri="{FF2B5EF4-FFF2-40B4-BE49-F238E27FC236}">
                <a16:creationId xmlns:a16="http://schemas.microsoft.com/office/drawing/2014/main" id="{C90F9F75-6D3D-D393-5D30-9E3A31A40DC2}"/>
              </a:ext>
            </a:extLst>
          </p:cNvPr>
          <p:cNvSpPr txBox="1"/>
          <p:nvPr/>
        </p:nvSpPr>
        <p:spPr>
          <a:xfrm>
            <a:off x="7960141" y="1145767"/>
            <a:ext cx="3793906" cy="1631216"/>
          </a:xfrm>
          <a:prstGeom prst="rect">
            <a:avLst/>
          </a:prstGeom>
          <a:noFill/>
        </p:spPr>
        <p:txBody>
          <a:bodyPr wrap="square" rtlCol="0">
            <a:spAutoFit/>
          </a:bodyPr>
          <a:lstStyle/>
          <a:p>
            <a:r>
              <a:rPr lang="en-US" sz="1000">
                <a:cs typeface="Lato Light"/>
              </a:rPr>
              <a:t>After selecting records and entering the new value:</a:t>
            </a:r>
          </a:p>
          <a:p>
            <a:endParaRPr lang="en-US" sz="1000">
              <a:cs typeface="Lato Light"/>
            </a:endParaRPr>
          </a:p>
          <a:p>
            <a:r>
              <a:rPr lang="en-US" sz="1000">
                <a:cs typeface="Lato Light"/>
              </a:rPr>
              <a:t>Click the corresponding action button.</a:t>
            </a:r>
          </a:p>
          <a:p>
            <a:r>
              <a:rPr lang="en-US" sz="1000">
                <a:cs typeface="Lato Light"/>
              </a:rPr>
              <a:t>Enter the new value.</a:t>
            </a:r>
          </a:p>
          <a:p>
            <a:r>
              <a:rPr lang="en-US" sz="1000">
                <a:cs typeface="Lato Light"/>
              </a:rPr>
              <a:t>Click Submit or Save.</a:t>
            </a:r>
          </a:p>
          <a:p>
            <a:endParaRPr lang="en-US" sz="1000">
              <a:cs typeface="Lato Light"/>
            </a:endParaRPr>
          </a:p>
          <a:p>
            <a:r>
              <a:rPr lang="en-US" sz="1000" err="1">
                <a:cs typeface="Lato Light"/>
              </a:rPr>
              <a:t>NexBill</a:t>
            </a:r>
            <a:r>
              <a:rPr lang="en-US" sz="1000">
                <a:cs typeface="Lato Light"/>
              </a:rPr>
              <a:t> generates a Change Request.</a:t>
            </a:r>
          </a:p>
          <a:p>
            <a:r>
              <a:rPr lang="en-US" sz="1000">
                <a:cs typeface="Lato Light"/>
              </a:rPr>
              <a:t>The request is routed to the configured approver.</a:t>
            </a:r>
          </a:p>
          <a:p>
            <a:endParaRPr lang="en-US" sz="1000">
              <a:cs typeface="Lato Light"/>
            </a:endParaRPr>
          </a:p>
          <a:p>
            <a:r>
              <a:rPr lang="en-US" sz="1000">
                <a:cs typeface="Lato Light"/>
              </a:rPr>
              <a:t>No changes are applied until approval is completed.</a:t>
            </a:r>
          </a:p>
        </p:txBody>
      </p:sp>
      <p:sp>
        <p:nvSpPr>
          <p:cNvPr id="2" name="TextBox 83">
            <a:extLst>
              <a:ext uri="{FF2B5EF4-FFF2-40B4-BE49-F238E27FC236}">
                <a16:creationId xmlns:a16="http://schemas.microsoft.com/office/drawing/2014/main" id="{181365D3-957F-2FC1-E2B9-3126FC750C4E}"/>
              </a:ext>
            </a:extLst>
          </p:cNvPr>
          <p:cNvSpPr txBox="1"/>
          <p:nvPr/>
        </p:nvSpPr>
        <p:spPr>
          <a:xfrm>
            <a:off x="7960141" y="3044655"/>
            <a:ext cx="3869636" cy="2554545"/>
          </a:xfrm>
          <a:prstGeom prst="rect">
            <a:avLst/>
          </a:prstGeom>
          <a:noFill/>
        </p:spPr>
        <p:txBody>
          <a:bodyPr wrap="square" rtlCol="0">
            <a:spAutoFit/>
          </a:bodyPr>
          <a:lstStyle/>
          <a:p>
            <a:r>
              <a:rPr lang="en-US" sz="1000">
                <a:cs typeface="Lato Light"/>
              </a:rPr>
              <a:t>The </a:t>
            </a:r>
            <a:r>
              <a:rPr lang="en-US" sz="1000" b="1">
                <a:cs typeface="Lato Light"/>
              </a:rPr>
              <a:t>My Request </a:t>
            </a:r>
            <a:r>
              <a:rPr lang="en-US" sz="1000">
                <a:cs typeface="Lato Light"/>
              </a:rPr>
              <a:t>tab displays all submitted Mass Change requests. Users can monitor change requests and their status.</a:t>
            </a:r>
          </a:p>
          <a:p>
            <a:endParaRPr lang="en-US" sz="1000">
              <a:cs typeface="Lato Light"/>
            </a:endParaRPr>
          </a:p>
          <a:p>
            <a:r>
              <a:rPr lang="en-US" sz="1000">
                <a:cs typeface="Lato Light"/>
              </a:rPr>
              <a:t>Possible statuses include:</a:t>
            </a:r>
          </a:p>
          <a:p>
            <a:r>
              <a:rPr lang="en-US" altLang="zh-CN" sz="1000"/>
              <a:t>APPROVED</a:t>
            </a:r>
          </a:p>
          <a:p>
            <a:r>
              <a:rPr lang="en-US" altLang="zh-CN" sz="1000"/>
              <a:t>PENDING_APPROVAL</a:t>
            </a:r>
          </a:p>
          <a:p>
            <a:r>
              <a:rPr lang="en-US" altLang="zh-CN" sz="1000"/>
              <a:t>REJECTED</a:t>
            </a:r>
          </a:p>
          <a:p>
            <a:r>
              <a:rPr lang="en-US" altLang="zh-CN" sz="1000"/>
              <a:t>APPLIED</a:t>
            </a:r>
            <a:endParaRPr lang="en-US" sz="1000">
              <a:cs typeface="Lato Light"/>
            </a:endParaRPr>
          </a:p>
          <a:p>
            <a:endParaRPr lang="en-US" sz="1000">
              <a:cs typeface="Lato Light"/>
            </a:endParaRPr>
          </a:p>
          <a:p>
            <a:r>
              <a:rPr lang="en-US" sz="1000">
                <a:cs typeface="Lato Light"/>
              </a:rPr>
              <a:t>The Request ID is a hyperlink. Users can click it to view the Change Request details, including affected records and old/new values.</a:t>
            </a:r>
          </a:p>
          <a:p>
            <a:endParaRPr lang="en-US" sz="1000">
              <a:cs typeface="Lato Light"/>
            </a:endParaRPr>
          </a:p>
          <a:p>
            <a:r>
              <a:rPr lang="en-US" sz="1000" b="1">
                <a:cs typeface="Lato Light"/>
              </a:rPr>
              <a:t>Approval Process</a:t>
            </a:r>
            <a:endParaRPr lang="en-US" sz="1000">
              <a:cs typeface="Lato Light"/>
            </a:endParaRPr>
          </a:p>
          <a:p>
            <a:r>
              <a:rPr lang="en-US" sz="1000">
                <a:cs typeface="Lato Light"/>
              </a:rPr>
              <a:t>Every Mass Change request must be approved before execution.</a:t>
            </a:r>
          </a:p>
          <a:p>
            <a:r>
              <a:rPr lang="en-US" sz="1000">
                <a:cs typeface="Lato Light"/>
              </a:rPr>
              <a:t>After approval, </a:t>
            </a:r>
            <a:r>
              <a:rPr lang="en-US" sz="1000" err="1">
                <a:cs typeface="Lato Light"/>
              </a:rPr>
              <a:t>NexBill</a:t>
            </a:r>
            <a:r>
              <a:rPr lang="en-US" sz="1000">
                <a:cs typeface="Lato Light"/>
              </a:rPr>
              <a:t> validates the selected records, executes the requested changes. Records all changes in Change History.</a:t>
            </a:r>
          </a:p>
        </p:txBody>
      </p:sp>
      <p:sp>
        <p:nvSpPr>
          <p:cNvPr id="7" name="TextBox 92">
            <a:extLst>
              <a:ext uri="{FF2B5EF4-FFF2-40B4-BE49-F238E27FC236}">
                <a16:creationId xmlns:a16="http://schemas.microsoft.com/office/drawing/2014/main" id="{95654841-DC6C-515C-F6DE-C3EA72EC69D7}"/>
              </a:ext>
            </a:extLst>
          </p:cNvPr>
          <p:cNvSpPr txBox="1"/>
          <p:nvPr/>
        </p:nvSpPr>
        <p:spPr>
          <a:xfrm>
            <a:off x="7960513" y="883153"/>
            <a:ext cx="2323859" cy="292388"/>
          </a:xfrm>
          <a:prstGeom prst="rect">
            <a:avLst/>
          </a:prstGeom>
          <a:noFill/>
        </p:spPr>
        <p:txBody>
          <a:bodyPr wrap="square" rtlCol="0">
            <a:spAutoFit/>
          </a:bodyPr>
          <a:lstStyle/>
          <a:p>
            <a:r>
              <a:rPr lang="en-US" sz="1300" b="1">
                <a:solidFill>
                  <a:schemeClr val="accent4">
                    <a:lumMod val="75000"/>
                    <a:lumOff val="25000"/>
                  </a:schemeClr>
                </a:solidFill>
                <a:cs typeface="Lato Regular"/>
              </a:rPr>
              <a:t>Generate Change Request</a:t>
            </a:r>
          </a:p>
        </p:txBody>
      </p:sp>
      <p:sp>
        <p:nvSpPr>
          <p:cNvPr id="8" name="Oval 113">
            <a:extLst>
              <a:ext uri="{FF2B5EF4-FFF2-40B4-BE49-F238E27FC236}">
                <a16:creationId xmlns:a16="http://schemas.microsoft.com/office/drawing/2014/main" id="{CF0F0400-94AC-E9FB-1DF9-C7E7183051CB}"/>
              </a:ext>
            </a:extLst>
          </p:cNvPr>
          <p:cNvSpPr/>
          <p:nvPr/>
        </p:nvSpPr>
        <p:spPr>
          <a:xfrm>
            <a:off x="7755371" y="922456"/>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9" name="TextBox 92">
            <a:extLst>
              <a:ext uri="{FF2B5EF4-FFF2-40B4-BE49-F238E27FC236}">
                <a16:creationId xmlns:a16="http://schemas.microsoft.com/office/drawing/2014/main" id="{A5C8DEE2-0B0F-DB35-1772-188980AB305C}"/>
              </a:ext>
            </a:extLst>
          </p:cNvPr>
          <p:cNvSpPr txBox="1"/>
          <p:nvPr/>
        </p:nvSpPr>
        <p:spPr>
          <a:xfrm>
            <a:off x="7960141" y="2778291"/>
            <a:ext cx="1839512" cy="292388"/>
          </a:xfrm>
          <a:prstGeom prst="rect">
            <a:avLst/>
          </a:prstGeom>
          <a:noFill/>
        </p:spPr>
        <p:txBody>
          <a:bodyPr wrap="square" rtlCol="0">
            <a:spAutoFit/>
          </a:bodyPr>
          <a:lstStyle/>
          <a:p>
            <a:r>
              <a:rPr lang="en-US" sz="1300" b="1">
                <a:solidFill>
                  <a:srgbClr val="57D3FF"/>
                </a:solidFill>
                <a:cs typeface="Lato Regular"/>
              </a:rPr>
              <a:t>My Request</a:t>
            </a:r>
          </a:p>
        </p:txBody>
      </p:sp>
      <p:sp>
        <p:nvSpPr>
          <p:cNvPr id="10" name="Oval 113">
            <a:extLst>
              <a:ext uri="{FF2B5EF4-FFF2-40B4-BE49-F238E27FC236}">
                <a16:creationId xmlns:a16="http://schemas.microsoft.com/office/drawing/2014/main" id="{06AF6BE3-8BD4-F782-F6A8-7A9AF4D8035B}"/>
              </a:ext>
            </a:extLst>
          </p:cNvPr>
          <p:cNvSpPr/>
          <p:nvPr/>
        </p:nvSpPr>
        <p:spPr>
          <a:xfrm>
            <a:off x="760451" y="2662683"/>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pic>
        <p:nvPicPr>
          <p:cNvPr id="18" name="图片 17">
            <a:extLst>
              <a:ext uri="{FF2B5EF4-FFF2-40B4-BE49-F238E27FC236}">
                <a16:creationId xmlns:a16="http://schemas.microsoft.com/office/drawing/2014/main" id="{FFE28756-39C0-E586-18FE-A30F2333CA74}"/>
              </a:ext>
            </a:extLst>
          </p:cNvPr>
          <p:cNvPicPr>
            <a:picLocks noChangeAspect="1"/>
          </p:cNvPicPr>
          <p:nvPr/>
        </p:nvPicPr>
        <p:blipFill>
          <a:blip r:embed="rId3"/>
          <a:stretch>
            <a:fillRect/>
          </a:stretch>
        </p:blipFill>
        <p:spPr>
          <a:xfrm>
            <a:off x="320182" y="3543033"/>
            <a:ext cx="5324614" cy="2600602"/>
          </a:xfrm>
          <a:prstGeom prst="rect">
            <a:avLst/>
          </a:prstGeom>
        </p:spPr>
      </p:pic>
      <p:sp>
        <p:nvSpPr>
          <p:cNvPr id="4" name="Oval 113">
            <a:extLst>
              <a:ext uri="{FF2B5EF4-FFF2-40B4-BE49-F238E27FC236}">
                <a16:creationId xmlns:a16="http://schemas.microsoft.com/office/drawing/2014/main" id="{31A6F90E-D62B-F6C6-FC23-56D6A1C008E5}"/>
              </a:ext>
            </a:extLst>
          </p:cNvPr>
          <p:cNvSpPr/>
          <p:nvPr/>
        </p:nvSpPr>
        <p:spPr>
          <a:xfrm>
            <a:off x="7755371" y="2809950"/>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Tree>
    <p:extLst>
      <p:ext uri="{BB962C8B-B14F-4D97-AF65-F5344CB8AC3E}">
        <p14:creationId xmlns:p14="http://schemas.microsoft.com/office/powerpoint/2010/main" val="27379120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7" grpId="0"/>
      <p:bldP spid="8" grpId="0" animBg="1"/>
      <p:bldP spid="9" grpId="0"/>
      <p:bldP spid="10" grpId="0" animBg="1"/>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387C-7473-29AE-2303-C49C1052A1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922039-9F49-F2B9-29D1-DAFB0B91CA69}"/>
              </a:ext>
            </a:extLst>
          </p:cNvPr>
          <p:cNvSpPr>
            <a:spLocks noGrp="1"/>
          </p:cNvSpPr>
          <p:nvPr>
            <p:ph type="title"/>
          </p:nvPr>
        </p:nvSpPr>
        <p:spPr>
          <a:xfrm>
            <a:off x="267690" y="1412760"/>
            <a:ext cx="7209879" cy="965108"/>
          </a:xfrm>
        </p:spPr>
        <p:txBody>
          <a:bodyPr/>
          <a:lstStyle/>
          <a:p>
            <a:r>
              <a:rPr lang="en-US" altLang="zh-CN" sz="4800"/>
              <a:t>6. Invoice Management</a:t>
            </a:r>
            <a:endParaRPr lang="zh-CN" altLang="en-US" sz="4800"/>
          </a:p>
        </p:txBody>
      </p:sp>
      <p:sp>
        <p:nvSpPr>
          <p:cNvPr id="4" name="文本占位符 3">
            <a:extLst>
              <a:ext uri="{FF2B5EF4-FFF2-40B4-BE49-F238E27FC236}">
                <a16:creationId xmlns:a16="http://schemas.microsoft.com/office/drawing/2014/main" id="{75E1E5E2-59B9-517E-D168-200B9F6C099C}"/>
              </a:ext>
            </a:extLst>
          </p:cNvPr>
          <p:cNvSpPr>
            <a:spLocks noGrp="1"/>
          </p:cNvSpPr>
          <p:nvPr>
            <p:ph type="body" idx="11"/>
          </p:nvPr>
        </p:nvSpPr>
        <p:spPr>
          <a:xfrm>
            <a:off x="750528" y="5517488"/>
            <a:ext cx="6265272" cy="133626"/>
          </a:xfrm>
        </p:spPr>
        <p:txBody>
          <a:bodyPr/>
          <a:lstStyle/>
          <a:p>
            <a:r>
              <a:rPr lang="en-US" altLang="zh-CN" sz="1000"/>
              <a:t>Duration:		40 Minutes</a:t>
            </a:r>
            <a:endParaRPr lang="zh-CN" altLang="en-US" sz="1000"/>
          </a:p>
        </p:txBody>
      </p:sp>
      <p:sp>
        <p:nvSpPr>
          <p:cNvPr id="5" name="文本占位符 4">
            <a:extLst>
              <a:ext uri="{FF2B5EF4-FFF2-40B4-BE49-F238E27FC236}">
                <a16:creationId xmlns:a16="http://schemas.microsoft.com/office/drawing/2014/main" id="{98D5CF47-7AC6-DA0E-8204-D09446362298}"/>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Payment Schedule		- Xuezhi Ding</a:t>
            </a:r>
          </a:p>
          <a:p>
            <a:pPr marL="628650" lvl="1" indent="-171450">
              <a:buFont typeface="Arial" panose="020B0604020202020204" pitchFamily="34" charset="0"/>
              <a:buChar char="•"/>
            </a:pPr>
            <a:r>
              <a:rPr lang="en-US" altLang="zh-CN" sz="1000">
                <a:solidFill>
                  <a:schemeClr val="bg1"/>
                </a:solidFill>
              </a:rPr>
              <a:t>Manual Invoicing</a:t>
            </a:r>
          </a:p>
          <a:p>
            <a:pPr marL="171450" indent="-171450">
              <a:lnSpc>
                <a:spcPct val="150000"/>
              </a:lnSpc>
              <a:buFont typeface="Arial" panose="020B0604020202020204" pitchFamily="34" charset="0"/>
              <a:buChar char="•"/>
            </a:pPr>
            <a:r>
              <a:rPr lang="en-US" altLang="zh-CN">
                <a:solidFill>
                  <a:schemeClr val="bg1"/>
                </a:solidFill>
              </a:rPr>
              <a:t>Invoice Document		- Xuezhi Ding</a:t>
            </a:r>
          </a:p>
          <a:p>
            <a:pPr marL="171450" indent="-171450">
              <a:lnSpc>
                <a:spcPct val="150000"/>
              </a:lnSpc>
              <a:buFont typeface="Arial" panose="020B0604020202020204" pitchFamily="34" charset="0"/>
              <a:buChar char="•"/>
            </a:pPr>
            <a:r>
              <a:rPr lang="en-US" altLang="zh-CN">
                <a:solidFill>
                  <a:schemeClr val="bg1"/>
                </a:solidFill>
              </a:rPr>
              <a:t>Statement			- Xuezhi Ding</a:t>
            </a:r>
          </a:p>
          <a:p>
            <a:pPr marL="171450" indent="-171450">
              <a:lnSpc>
                <a:spcPct val="150000"/>
              </a:lnSpc>
              <a:buFont typeface="Arial" panose="020B0604020202020204" pitchFamily="34" charset="0"/>
              <a:buChar char="•"/>
            </a:pPr>
            <a:r>
              <a:rPr lang="en-US" altLang="zh-CN">
                <a:solidFill>
                  <a:schemeClr val="bg1"/>
                </a:solidFill>
              </a:rPr>
              <a:t>Invoice Reverse/Adjustment		- Xuezhi Ding</a:t>
            </a:r>
          </a:p>
          <a:p>
            <a:pPr marL="171450" indent="-171450">
              <a:lnSpc>
                <a:spcPct val="150000"/>
              </a:lnSpc>
              <a:buFont typeface="Arial" panose="020B0604020202020204" pitchFamily="34" charset="0"/>
              <a:buChar char="•"/>
            </a:pPr>
            <a:r>
              <a:rPr lang="en-US" altLang="zh-CN">
                <a:solidFill>
                  <a:schemeClr val="bg1"/>
                </a:solidFill>
              </a:rPr>
              <a:t>Central Billing Invoice		- Xuezhi Ding</a:t>
            </a:r>
          </a:p>
        </p:txBody>
      </p:sp>
    </p:spTree>
    <p:extLst>
      <p:ext uri="{BB962C8B-B14F-4D97-AF65-F5344CB8AC3E}">
        <p14:creationId xmlns:p14="http://schemas.microsoft.com/office/powerpoint/2010/main" val="3515389312"/>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80C13-1C51-52EF-383A-D7D103AE0A3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4791BB-37EC-CB98-CAA9-410CA14F263D}"/>
              </a:ext>
            </a:extLst>
          </p:cNvPr>
          <p:cNvSpPr>
            <a:spLocks noGrp="1"/>
          </p:cNvSpPr>
          <p:nvPr>
            <p:ph type="title"/>
          </p:nvPr>
        </p:nvSpPr>
        <p:spPr>
          <a:xfrm>
            <a:off x="330200" y="177800"/>
            <a:ext cx="11303000" cy="802548"/>
          </a:xfrm>
        </p:spPr>
        <p:txBody>
          <a:bodyPr/>
          <a:lstStyle/>
          <a:p>
            <a:r>
              <a:rPr lang="en-US" altLang="zh-CN" sz="3400">
                <a:solidFill>
                  <a:srgbClr val="000000"/>
                </a:solidFill>
                <a:latin typeface="Aptos Display" panose="020B0004020202020204" pitchFamily="34" charset="0"/>
              </a:rPr>
              <a:t>Agenda</a:t>
            </a:r>
            <a:endParaRPr lang="zh-CN" altLang="en-US" sz="3400">
              <a:solidFill>
                <a:srgbClr val="000000"/>
              </a:solidFill>
              <a:latin typeface="Aptos Display" panose="020B0004020202020204" pitchFamily="34" charset="0"/>
            </a:endParaRPr>
          </a:p>
        </p:txBody>
      </p:sp>
      <p:sp>
        <p:nvSpPr>
          <p:cNvPr id="5" name="文本占位符 1">
            <a:extLst>
              <a:ext uri="{FF2B5EF4-FFF2-40B4-BE49-F238E27FC236}">
                <a16:creationId xmlns:a16="http://schemas.microsoft.com/office/drawing/2014/main" id="{CBA75288-4596-6D2B-002E-1ACE76A47AA1}"/>
              </a:ext>
            </a:extLst>
          </p:cNvPr>
          <p:cNvSpPr txBox="1">
            <a:spLocks noGrp="1"/>
          </p:cNvSpPr>
          <p:nvPr>
            <p:ph type="body" sz="quarter" idx="12"/>
          </p:nvPr>
        </p:nvSpPr>
        <p:spPr bwMode="white">
          <a:xfrm>
            <a:off x="488931" y="1844271"/>
            <a:ext cx="5528411" cy="2541593"/>
          </a:xfrm>
          <a:prstGeom prst="rect">
            <a:avLst/>
          </a:prstGeom>
        </p:spPr>
        <p:txBody>
          <a:bodyPr wrap="square" lIns="50800" tIns="25400" rIns="50800" bIns="2540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2200" b="0" kern="0">
                <a:solidFill>
                  <a:srgbClr val="1B2434"/>
                </a:solidFill>
                <a:highlight>
                  <a:srgbClr val="00FF00"/>
                </a:highlight>
                <a:cs typeface="Cascadia Code" panose="020B0609020000020004" pitchFamily="49" charset="0"/>
              </a:rPr>
              <a:t>Payment Schedule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Document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Statement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Central Billing Invoice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Reverse/Invoice Adjustment</a:t>
            </a:r>
          </a:p>
        </p:txBody>
      </p:sp>
    </p:spTree>
    <p:extLst>
      <p:ext uri="{BB962C8B-B14F-4D97-AF65-F5344CB8AC3E}">
        <p14:creationId xmlns:p14="http://schemas.microsoft.com/office/powerpoint/2010/main" val="4061567507"/>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FE801-8310-BDE7-7BA8-08E2F57FDD5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D8AC33C-5C1D-4C4B-DDF8-4634C5C9F7A1}"/>
              </a:ext>
            </a:extLst>
          </p:cNvPr>
          <p:cNvSpPr>
            <a:spLocks noGrp="1"/>
          </p:cNvSpPr>
          <p:nvPr>
            <p:ph type="title"/>
          </p:nvPr>
        </p:nvSpPr>
        <p:spPr>
          <a:xfrm>
            <a:off x="330200" y="177800"/>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Business Process View</a:t>
            </a:r>
            <a:endParaRPr lang="zh-CN" altLang="en-US" sz="3400">
              <a:solidFill>
                <a:srgbClr val="000000"/>
              </a:solidFill>
              <a:latin typeface="Aptos Display" panose="020B0004020202020204" pitchFamily="34" charset="0"/>
            </a:endParaRPr>
          </a:p>
        </p:txBody>
      </p:sp>
      <p:sp>
        <p:nvSpPr>
          <p:cNvPr id="2" name="Title 10">
            <a:extLst>
              <a:ext uri="{FF2B5EF4-FFF2-40B4-BE49-F238E27FC236}">
                <a16:creationId xmlns:a16="http://schemas.microsoft.com/office/drawing/2014/main" id="{8C29504E-A4C3-7FB5-2E6F-25D92B8E2D63}"/>
              </a:ext>
            </a:extLst>
          </p:cNvPr>
          <p:cNvSpPr txBox="1">
            <a:spLocks/>
          </p:cNvSpPr>
          <p:nvPr/>
        </p:nvSpPr>
        <p:spPr>
          <a:xfrm>
            <a:off x="333810" y="860658"/>
            <a:ext cx="9499366" cy="421091"/>
          </a:xfrm>
          <a:prstGeom prst="rect">
            <a:avLst/>
          </a:prstGeom>
        </p:spPr>
        <p:txBody>
          <a:bodyPr vert="horz" lIns="50800" tIns="25400" rIns="50800" bIns="25400" rtlCol="0" anchor="b">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300" err="1">
                <a:solidFill>
                  <a:srgbClr val="586070"/>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300">
                <a:solidFill>
                  <a:srgbClr val="586070"/>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-Business Process View</a:t>
            </a:r>
          </a:p>
        </p:txBody>
      </p:sp>
      <p:sp>
        <p:nvSpPr>
          <p:cNvPr id="4" name="Rectangle 2">
            <a:extLst>
              <a:ext uri="{FF2B5EF4-FFF2-40B4-BE49-F238E27FC236}">
                <a16:creationId xmlns:a16="http://schemas.microsoft.com/office/drawing/2014/main" id="{D9164156-7A0E-623A-5E92-F691992F0B06}"/>
              </a:ext>
            </a:extLst>
          </p:cNvPr>
          <p:cNvSpPr/>
          <p:nvPr/>
        </p:nvSpPr>
        <p:spPr>
          <a:xfrm>
            <a:off x="1707408" y="1453517"/>
            <a:ext cx="7771807" cy="4484833"/>
          </a:xfrm>
          <a:prstGeom prst="rect">
            <a:avLst/>
          </a:prstGeom>
          <a:solidFill>
            <a:srgbClr val="F8FBFC"/>
          </a:solidFill>
          <a:ln w="15875">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t"/>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1500" b="1">
                <a:solidFill>
                  <a:srgbClr val="1B2434"/>
                </a:solidFill>
                <a:latin typeface="Aptos" panose="020B0004020202020204" pitchFamily="34" charset="0"/>
                <a:ea typeface="Lato" panose="020F0502020204030203" pitchFamily="34" charset="0"/>
                <a:cs typeface="Lato" panose="020F0502020204030203" pitchFamily="34" charset="0"/>
              </a:rPr>
              <a:t>Subscription &amp; Billing – NexBill  </a:t>
            </a:r>
            <a:endParaRPr lang="zh-CN" altLang="en-US" sz="1500" b="1">
              <a:solidFill>
                <a:srgbClr val="1B2434"/>
              </a:solidFill>
              <a:latin typeface="Aptos" panose="020B0004020202020204" pitchFamily="34" charset="0"/>
              <a:cs typeface="Lato" panose="020F0502020204030203" pitchFamily="34" charset="0"/>
            </a:endParaRPr>
          </a:p>
        </p:txBody>
      </p:sp>
      <p:sp>
        <p:nvSpPr>
          <p:cNvPr id="5" name="Rectangle 1">
            <a:extLst>
              <a:ext uri="{FF2B5EF4-FFF2-40B4-BE49-F238E27FC236}">
                <a16:creationId xmlns:a16="http://schemas.microsoft.com/office/drawing/2014/main" id="{199E9201-9E2F-5F53-B9AE-50BEFB54C8CE}"/>
              </a:ext>
            </a:extLst>
          </p:cNvPr>
          <p:cNvSpPr/>
          <p:nvPr/>
        </p:nvSpPr>
        <p:spPr>
          <a:xfrm>
            <a:off x="423586" y="1484017"/>
            <a:ext cx="1273257" cy="4484832"/>
          </a:xfrm>
          <a:prstGeom prst="rect">
            <a:avLst/>
          </a:prstGeom>
          <a:solidFill>
            <a:srgbClr val="E7F2F6"/>
          </a:solidFill>
          <a:ln w="9525">
            <a:solidFill>
              <a:srgbClr val="AEBDD4"/>
            </a:solid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endParaRPr lang="zh-CN" altLang="en-US" sz="1200" b="1">
              <a:solidFill>
                <a:srgbClr val="000000"/>
              </a:solidFill>
              <a:latin typeface="Lato" panose="020F0502020204030203" pitchFamily="34" charset="0"/>
              <a:ea typeface="黑体" panose="02010609060101010101" pitchFamily="49" charset="-122"/>
              <a:cs typeface="Lato" panose="020F0502020204030203" pitchFamily="34" charset="0"/>
            </a:endParaRPr>
          </a:p>
        </p:txBody>
      </p:sp>
      <p:sp>
        <p:nvSpPr>
          <p:cNvPr id="6" name="Rectangle 4">
            <a:extLst>
              <a:ext uri="{FF2B5EF4-FFF2-40B4-BE49-F238E27FC236}">
                <a16:creationId xmlns:a16="http://schemas.microsoft.com/office/drawing/2014/main" id="{1CCE48F0-489A-AAF8-5ACD-EF6B248CC2C8}"/>
              </a:ext>
            </a:extLst>
          </p:cNvPr>
          <p:cNvSpPr/>
          <p:nvPr/>
        </p:nvSpPr>
        <p:spPr>
          <a:xfrm>
            <a:off x="9850929" y="1453518"/>
            <a:ext cx="1469009" cy="4484832"/>
          </a:xfrm>
          <a:prstGeom prst="rect">
            <a:avLst/>
          </a:prstGeom>
          <a:solidFill>
            <a:srgbClr val="E7F2F6"/>
          </a:solidFill>
          <a:ln w="9525">
            <a:solidFill>
              <a:srgbClr val="AEBDD4"/>
            </a:solid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endParaRPr lang="zh-CN" altLang="en-US" sz="1200" b="1">
              <a:solidFill>
                <a:srgbClr val="000000"/>
              </a:solidFill>
              <a:latin typeface="Lato" panose="020F0502020204030203" pitchFamily="34" charset="0"/>
              <a:ea typeface="黑体" panose="02010609060101010101" pitchFamily="49" charset="-122"/>
              <a:cs typeface="Lato" panose="020F0502020204030203" pitchFamily="34" charset="0"/>
            </a:endParaRPr>
          </a:p>
        </p:txBody>
      </p:sp>
      <p:sp>
        <p:nvSpPr>
          <p:cNvPr id="8" name="TextBox 5">
            <a:extLst>
              <a:ext uri="{FF2B5EF4-FFF2-40B4-BE49-F238E27FC236}">
                <a16:creationId xmlns:a16="http://schemas.microsoft.com/office/drawing/2014/main" id="{184A7684-D302-7DEB-CD4F-EEFA7FF8D043}"/>
              </a:ext>
            </a:extLst>
          </p:cNvPr>
          <p:cNvSpPr txBox="1"/>
          <p:nvPr/>
        </p:nvSpPr>
        <p:spPr>
          <a:xfrm>
            <a:off x="724172" y="1484017"/>
            <a:ext cx="714939" cy="343684"/>
          </a:xfrm>
          <a:prstGeom prst="rect">
            <a:avLst/>
          </a:prstGeom>
          <a:noFill/>
        </p:spPr>
        <p:txBody>
          <a:bodyPr wrap="none" lIns="50800" tIns="25400" rIns="50800" bIns="25400"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ctr" defTabSz="914126"/>
            <a:r>
              <a:rPr lang="en-US" altLang="zh-CN" sz="950" b="1">
                <a:solidFill>
                  <a:srgbClr val="1B2434"/>
                </a:solidFill>
                <a:latin typeface="Aptos" panose="020B0004020202020204" pitchFamily="34" charset="0"/>
                <a:ea typeface="Lato" panose="020F0502020204030203" pitchFamily="34" charset="0"/>
                <a:cs typeface="Lato" panose="020F0502020204030203" pitchFamily="34" charset="0"/>
              </a:rPr>
              <a:t>Customer</a:t>
            </a:r>
          </a:p>
          <a:p>
            <a:pPr algn="ctr" defTabSz="914126"/>
            <a:r>
              <a:rPr lang="en-US" altLang="zh-CN" sz="950" b="1">
                <a:solidFill>
                  <a:srgbClr val="1B2434"/>
                </a:solidFill>
                <a:latin typeface="Aptos" panose="020B0004020202020204" pitchFamily="34" charset="0"/>
                <a:ea typeface="Lato" panose="020F0502020204030203" pitchFamily="34" charset="0"/>
                <a:cs typeface="Lato" panose="020F0502020204030203" pitchFamily="34" charset="0"/>
              </a:rPr>
              <a:t>Interaction</a:t>
            </a:r>
            <a:endParaRPr lang="zh-CN" altLang="en-US" sz="950" b="1">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9" name="Rectangle 7">
            <a:extLst>
              <a:ext uri="{FF2B5EF4-FFF2-40B4-BE49-F238E27FC236}">
                <a16:creationId xmlns:a16="http://schemas.microsoft.com/office/drawing/2014/main" id="{EFBBEA32-B80A-ED2D-9B0F-89DE524637F2}"/>
              </a:ext>
            </a:extLst>
          </p:cNvPr>
          <p:cNvSpPr/>
          <p:nvPr/>
        </p:nvSpPr>
        <p:spPr>
          <a:xfrm>
            <a:off x="608772"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SPS Sign Off / FGLA</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0" name="Rectangle 8">
            <a:extLst>
              <a:ext uri="{FF2B5EF4-FFF2-40B4-BE49-F238E27FC236}">
                <a16:creationId xmlns:a16="http://schemas.microsoft.com/office/drawing/2014/main" id="{2C185AE6-2048-7332-900D-E0B8AB07026F}"/>
              </a:ext>
            </a:extLst>
          </p:cNvPr>
          <p:cNvSpPr/>
          <p:nvPr/>
        </p:nvSpPr>
        <p:spPr>
          <a:xfrm>
            <a:off x="608772" y="2107367"/>
            <a:ext cx="902524" cy="338400"/>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1" name="Rectangle 9">
            <a:extLst>
              <a:ext uri="{FF2B5EF4-FFF2-40B4-BE49-F238E27FC236}">
                <a16:creationId xmlns:a16="http://schemas.microsoft.com/office/drawing/2014/main" id="{7CB9B665-3AA2-2284-A56F-AD7A9B3F9C74}"/>
              </a:ext>
            </a:extLst>
          </p:cNvPr>
          <p:cNvSpPr/>
          <p:nvPr/>
        </p:nvSpPr>
        <p:spPr>
          <a:xfrm>
            <a:off x="2138977"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Subscription </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Initiation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2" name="Rectangle 10">
            <a:extLst>
              <a:ext uri="{FF2B5EF4-FFF2-40B4-BE49-F238E27FC236}">
                <a16:creationId xmlns:a16="http://schemas.microsoft.com/office/drawing/2014/main" id="{017B0C26-B29C-9A45-412A-C58CA9646ACF}"/>
              </a:ext>
            </a:extLst>
          </p:cNvPr>
          <p:cNvSpPr/>
          <p:nvPr/>
        </p:nvSpPr>
        <p:spPr>
          <a:xfrm>
            <a:off x="3385149"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Payment Schedule</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Generation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3" name="Rectangle 11">
            <a:extLst>
              <a:ext uri="{FF2B5EF4-FFF2-40B4-BE49-F238E27FC236}">
                <a16:creationId xmlns:a16="http://schemas.microsoft.com/office/drawing/2014/main" id="{681B2237-8014-8CCE-CB87-5779FBF92DE9}"/>
              </a:ext>
            </a:extLst>
          </p:cNvPr>
          <p:cNvSpPr/>
          <p:nvPr/>
        </p:nvSpPr>
        <p:spPr>
          <a:xfrm>
            <a:off x="2138976" y="539740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Metering Data Acquisition </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4" name="Rectangle 12">
            <a:extLst>
              <a:ext uri="{FF2B5EF4-FFF2-40B4-BE49-F238E27FC236}">
                <a16:creationId xmlns:a16="http://schemas.microsoft.com/office/drawing/2014/main" id="{2D45A54E-E0A6-9344-BE18-B2CDC10FF405}"/>
              </a:ext>
            </a:extLst>
          </p:cNvPr>
          <p:cNvSpPr/>
          <p:nvPr/>
        </p:nvSpPr>
        <p:spPr>
          <a:xfrm>
            <a:off x="3385149" y="539740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Data Processing</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5" name="Rectangle 14">
            <a:extLst>
              <a:ext uri="{FF2B5EF4-FFF2-40B4-BE49-F238E27FC236}">
                <a16:creationId xmlns:a16="http://schemas.microsoft.com/office/drawing/2014/main" id="{0CD1AD37-2498-799D-B415-1547C62AF275}"/>
              </a:ext>
            </a:extLst>
          </p:cNvPr>
          <p:cNvSpPr/>
          <p:nvPr/>
        </p:nvSpPr>
        <p:spPr>
          <a:xfrm>
            <a:off x="4470121" y="2610688"/>
            <a:ext cx="902524" cy="3222035"/>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720">
                <a:solidFill>
                  <a:srgbClr val="1B2434"/>
                </a:solidFill>
                <a:latin typeface="Aptos" panose="020B0004020202020204" pitchFamily="34" charset="0"/>
                <a:ea typeface="Lato" panose="020F0502020204030203" pitchFamily="34" charset="0"/>
                <a:cs typeface="Lato" panose="020F0502020204030203" pitchFamily="34" charset="0"/>
              </a:rPr>
              <a:t>Billable Item</a:t>
            </a:r>
            <a:endParaRPr lang="zh-CN" altLang="en-US" sz="72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6" name="Rectangle 15">
            <a:extLst>
              <a:ext uri="{FF2B5EF4-FFF2-40B4-BE49-F238E27FC236}">
                <a16:creationId xmlns:a16="http://schemas.microsoft.com/office/drawing/2014/main" id="{34972099-6776-08DE-2932-DEE2CAA49CD0}"/>
              </a:ext>
            </a:extLst>
          </p:cNvPr>
          <p:cNvSpPr/>
          <p:nvPr/>
        </p:nvSpPr>
        <p:spPr>
          <a:xfrm>
            <a:off x="5676966" y="2610689"/>
            <a:ext cx="902524" cy="2073781"/>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720">
                <a:solidFill>
                  <a:srgbClr val="1B2434"/>
                </a:solidFill>
                <a:latin typeface="Aptos" panose="020B0004020202020204" pitchFamily="34" charset="0"/>
                <a:ea typeface="Lato" panose="020F0502020204030203" pitchFamily="34" charset="0"/>
                <a:cs typeface="Lato" panose="020F0502020204030203" pitchFamily="34" charset="0"/>
              </a:rPr>
              <a:t>Invoice Preview &amp; Approval </a:t>
            </a:r>
            <a:endParaRPr lang="zh-CN" altLang="en-US" sz="72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7" name="Rectangle 16">
            <a:extLst>
              <a:ext uri="{FF2B5EF4-FFF2-40B4-BE49-F238E27FC236}">
                <a16:creationId xmlns:a16="http://schemas.microsoft.com/office/drawing/2014/main" id="{E068D02E-4E60-9F35-204D-A7451084EB58}"/>
              </a:ext>
            </a:extLst>
          </p:cNvPr>
          <p:cNvSpPr/>
          <p:nvPr/>
        </p:nvSpPr>
        <p:spPr>
          <a:xfrm>
            <a:off x="5676966" y="479173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Invoice Adjustment</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8" name="Rectangle 17">
            <a:extLst>
              <a:ext uri="{FF2B5EF4-FFF2-40B4-BE49-F238E27FC236}">
                <a16:creationId xmlns:a16="http://schemas.microsoft.com/office/drawing/2014/main" id="{5857E039-0133-1C4D-855F-E6519AAAE752}"/>
              </a:ext>
            </a:extLst>
          </p:cNvPr>
          <p:cNvSpPr/>
          <p:nvPr/>
        </p:nvSpPr>
        <p:spPr>
          <a:xfrm>
            <a:off x="6897676" y="2610689"/>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Customer Invoice Generation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19" name="Rectangle 18">
            <a:extLst>
              <a:ext uri="{FF2B5EF4-FFF2-40B4-BE49-F238E27FC236}">
                <a16:creationId xmlns:a16="http://schemas.microsoft.com/office/drawing/2014/main" id="{7C7C57E1-F715-96BD-018B-FF431950F0E2}"/>
              </a:ext>
            </a:extLst>
          </p:cNvPr>
          <p:cNvSpPr/>
          <p:nvPr/>
        </p:nvSpPr>
        <p:spPr>
          <a:xfrm>
            <a:off x="6897676" y="3701251"/>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ICO Billing Generation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20" name="Rectangle 20">
            <a:extLst>
              <a:ext uri="{FF2B5EF4-FFF2-40B4-BE49-F238E27FC236}">
                <a16:creationId xmlns:a16="http://schemas.microsoft.com/office/drawing/2014/main" id="{9014C8E2-8A39-D934-0A17-A6C74F02AE27}"/>
              </a:ext>
            </a:extLst>
          </p:cNvPr>
          <p:cNvSpPr/>
          <p:nvPr/>
        </p:nvSpPr>
        <p:spPr>
          <a:xfrm>
            <a:off x="6897676" y="434465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Partner Settlement</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21" name="Rectangle 21">
            <a:extLst>
              <a:ext uri="{FF2B5EF4-FFF2-40B4-BE49-F238E27FC236}">
                <a16:creationId xmlns:a16="http://schemas.microsoft.com/office/drawing/2014/main" id="{1685CC1F-1026-BAF4-68C8-6B4128B42A97}"/>
              </a:ext>
            </a:extLst>
          </p:cNvPr>
          <p:cNvSpPr/>
          <p:nvPr/>
        </p:nvSpPr>
        <p:spPr>
          <a:xfrm>
            <a:off x="6897675" y="3186068"/>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Invoice delivery</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22" name="Rectangle 22">
            <a:extLst>
              <a:ext uri="{FF2B5EF4-FFF2-40B4-BE49-F238E27FC236}">
                <a16:creationId xmlns:a16="http://schemas.microsoft.com/office/drawing/2014/main" id="{7C0D1A90-9C0C-2248-1433-44571237D21B}"/>
              </a:ext>
            </a:extLst>
          </p:cNvPr>
          <p:cNvSpPr/>
          <p:nvPr/>
        </p:nvSpPr>
        <p:spPr>
          <a:xfrm>
            <a:off x="10227046" y="2580190"/>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AR Generation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23" name="Rectangle 23">
            <a:extLst>
              <a:ext uri="{FF2B5EF4-FFF2-40B4-BE49-F238E27FC236}">
                <a16:creationId xmlns:a16="http://schemas.microsoft.com/office/drawing/2014/main" id="{A1BB8828-A461-EDD0-8106-899759AAA1E2}"/>
              </a:ext>
            </a:extLst>
          </p:cNvPr>
          <p:cNvSpPr/>
          <p:nvPr/>
        </p:nvSpPr>
        <p:spPr>
          <a:xfrm>
            <a:off x="10227046" y="3125514"/>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Customer Collection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24" name="Rectangle 24">
            <a:extLst>
              <a:ext uri="{FF2B5EF4-FFF2-40B4-BE49-F238E27FC236}">
                <a16:creationId xmlns:a16="http://schemas.microsoft.com/office/drawing/2014/main" id="{D61FF1E1-DE5A-FCFE-7052-017545E99968}"/>
              </a:ext>
            </a:extLst>
          </p:cNvPr>
          <p:cNvSpPr/>
          <p:nvPr/>
        </p:nvSpPr>
        <p:spPr>
          <a:xfrm>
            <a:off x="10227046" y="4601426"/>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AP Generation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25" name="Rectangle 25">
            <a:extLst>
              <a:ext uri="{FF2B5EF4-FFF2-40B4-BE49-F238E27FC236}">
                <a16:creationId xmlns:a16="http://schemas.microsoft.com/office/drawing/2014/main" id="{86E9280A-1A44-5EF8-A43C-BAD2CBBE99F5}"/>
              </a:ext>
            </a:extLst>
          </p:cNvPr>
          <p:cNvSpPr/>
          <p:nvPr/>
        </p:nvSpPr>
        <p:spPr>
          <a:xfrm>
            <a:off x="10227046" y="5092292"/>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Payment</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26" name="Straight Arrow Connector 27">
            <a:extLst>
              <a:ext uri="{FF2B5EF4-FFF2-40B4-BE49-F238E27FC236}">
                <a16:creationId xmlns:a16="http://schemas.microsoft.com/office/drawing/2014/main" id="{2AE30EF2-91C2-161E-7170-6168849BF899}"/>
              </a:ext>
            </a:extLst>
          </p:cNvPr>
          <p:cNvCxnSpPr>
            <a:cxnSpLocks/>
            <a:stCxn id="9" idx="3"/>
            <a:endCxn id="11" idx="1"/>
          </p:cNvCxnSpPr>
          <p:nvPr/>
        </p:nvCxnSpPr>
        <p:spPr>
          <a:xfrm>
            <a:off x="1511296" y="2780599"/>
            <a:ext cx="627681"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33">
            <a:extLst>
              <a:ext uri="{FF2B5EF4-FFF2-40B4-BE49-F238E27FC236}">
                <a16:creationId xmlns:a16="http://schemas.microsoft.com/office/drawing/2014/main" id="{3A8FBEBE-BFAF-7E18-51CC-98F983E51E2D}"/>
              </a:ext>
            </a:extLst>
          </p:cNvPr>
          <p:cNvCxnSpPr>
            <a:stCxn id="11" idx="3"/>
            <a:endCxn id="12" idx="1"/>
          </p:cNvCxnSpPr>
          <p:nvPr/>
        </p:nvCxnSpPr>
        <p:spPr>
          <a:xfrm>
            <a:off x="3041501" y="2780599"/>
            <a:ext cx="343648"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35">
            <a:extLst>
              <a:ext uri="{FF2B5EF4-FFF2-40B4-BE49-F238E27FC236}">
                <a16:creationId xmlns:a16="http://schemas.microsoft.com/office/drawing/2014/main" id="{E411C219-2DBC-51D6-7720-2173E6193EC7}"/>
              </a:ext>
            </a:extLst>
          </p:cNvPr>
          <p:cNvCxnSpPr>
            <a:cxnSpLocks/>
            <a:stCxn id="13" idx="3"/>
            <a:endCxn id="14" idx="1"/>
          </p:cNvCxnSpPr>
          <p:nvPr/>
        </p:nvCxnSpPr>
        <p:spPr>
          <a:xfrm>
            <a:off x="3041500" y="5567313"/>
            <a:ext cx="343649"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37">
            <a:extLst>
              <a:ext uri="{FF2B5EF4-FFF2-40B4-BE49-F238E27FC236}">
                <a16:creationId xmlns:a16="http://schemas.microsoft.com/office/drawing/2014/main" id="{FF019026-E628-1787-DC03-5FE5B0460BC3}"/>
              </a:ext>
            </a:extLst>
          </p:cNvPr>
          <p:cNvCxnSpPr>
            <a:cxnSpLocks/>
            <a:stCxn id="12" idx="3"/>
          </p:cNvCxnSpPr>
          <p:nvPr/>
        </p:nvCxnSpPr>
        <p:spPr>
          <a:xfrm flipV="1">
            <a:off x="4287673" y="2780598"/>
            <a:ext cx="178254"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38">
            <a:extLst>
              <a:ext uri="{FF2B5EF4-FFF2-40B4-BE49-F238E27FC236}">
                <a16:creationId xmlns:a16="http://schemas.microsoft.com/office/drawing/2014/main" id="{B385BD54-9BF0-9B59-CAE6-858A9F60BC54}"/>
              </a:ext>
            </a:extLst>
          </p:cNvPr>
          <p:cNvCxnSpPr>
            <a:cxnSpLocks/>
            <a:stCxn id="14" idx="3"/>
          </p:cNvCxnSpPr>
          <p:nvPr/>
        </p:nvCxnSpPr>
        <p:spPr>
          <a:xfrm flipV="1">
            <a:off x="4287673" y="5567312"/>
            <a:ext cx="209525"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41">
            <a:extLst>
              <a:ext uri="{FF2B5EF4-FFF2-40B4-BE49-F238E27FC236}">
                <a16:creationId xmlns:a16="http://schemas.microsoft.com/office/drawing/2014/main" id="{097015B9-58B9-08EA-9BEE-C301CEFB72BE}"/>
              </a:ext>
            </a:extLst>
          </p:cNvPr>
          <p:cNvCxnSpPr>
            <a:cxnSpLocks/>
            <a:endCxn id="16" idx="1"/>
          </p:cNvCxnSpPr>
          <p:nvPr/>
        </p:nvCxnSpPr>
        <p:spPr>
          <a:xfrm>
            <a:off x="5372645" y="3647580"/>
            <a:ext cx="304321"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2" name="Arrow: Left-Right 43">
            <a:extLst>
              <a:ext uri="{FF2B5EF4-FFF2-40B4-BE49-F238E27FC236}">
                <a16:creationId xmlns:a16="http://schemas.microsoft.com/office/drawing/2014/main" id="{D935834B-7638-858B-CECD-D298C9CAF74A}"/>
              </a:ext>
            </a:extLst>
          </p:cNvPr>
          <p:cNvSpPr/>
          <p:nvPr/>
        </p:nvSpPr>
        <p:spPr>
          <a:xfrm rot="5400000">
            <a:off x="6028000" y="4673944"/>
            <a:ext cx="245015" cy="126420"/>
          </a:xfrm>
          <a:prstGeom prst="leftRightArrow">
            <a:avLst/>
          </a:prstGeom>
          <a:solidFill>
            <a:schemeClr val="bg1"/>
          </a:solidFill>
          <a:ln w="11430">
            <a:solidFill>
              <a:srgbClr val="AEBDD4"/>
            </a:solid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endParaRPr lang="zh-CN" altLang="en-US" sz="1200" b="1">
              <a:solidFill>
                <a:srgbClr val="000000"/>
              </a:solidFill>
              <a:latin typeface="Lato" panose="020F0502020204030203" pitchFamily="34" charset="0"/>
              <a:ea typeface="黑体" panose="02010609060101010101" pitchFamily="49" charset="-122"/>
              <a:cs typeface="Lato" panose="020F0502020204030203" pitchFamily="34" charset="0"/>
            </a:endParaRPr>
          </a:p>
        </p:txBody>
      </p:sp>
      <p:cxnSp>
        <p:nvCxnSpPr>
          <p:cNvPr id="33" name="Connector: Elbow 51">
            <a:extLst>
              <a:ext uri="{FF2B5EF4-FFF2-40B4-BE49-F238E27FC236}">
                <a16:creationId xmlns:a16="http://schemas.microsoft.com/office/drawing/2014/main" id="{DE47E274-4EDB-B099-CE94-C3EAAAFA9EDE}"/>
              </a:ext>
            </a:extLst>
          </p:cNvPr>
          <p:cNvCxnSpPr>
            <a:cxnSpLocks/>
            <a:stCxn id="16" idx="3"/>
            <a:endCxn id="18" idx="1"/>
          </p:cNvCxnSpPr>
          <p:nvPr/>
        </p:nvCxnSpPr>
        <p:spPr>
          <a:xfrm flipV="1">
            <a:off x="6579490" y="2780599"/>
            <a:ext cx="318186" cy="866981"/>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53">
            <a:extLst>
              <a:ext uri="{FF2B5EF4-FFF2-40B4-BE49-F238E27FC236}">
                <a16:creationId xmlns:a16="http://schemas.microsoft.com/office/drawing/2014/main" id="{F8D7A072-3E6E-88CA-C12C-8E61257F7043}"/>
              </a:ext>
            </a:extLst>
          </p:cNvPr>
          <p:cNvCxnSpPr>
            <a:cxnSpLocks/>
            <a:stCxn id="16" idx="3"/>
            <a:endCxn id="20" idx="1"/>
          </p:cNvCxnSpPr>
          <p:nvPr/>
        </p:nvCxnSpPr>
        <p:spPr>
          <a:xfrm>
            <a:off x="6579490" y="3647580"/>
            <a:ext cx="318186" cy="866983"/>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55">
            <a:extLst>
              <a:ext uri="{FF2B5EF4-FFF2-40B4-BE49-F238E27FC236}">
                <a16:creationId xmlns:a16="http://schemas.microsoft.com/office/drawing/2014/main" id="{3B6B65D9-3A26-E900-19C1-6B8677193F80}"/>
              </a:ext>
            </a:extLst>
          </p:cNvPr>
          <p:cNvCxnSpPr>
            <a:cxnSpLocks/>
            <a:stCxn id="16" idx="3"/>
            <a:endCxn id="19" idx="1"/>
          </p:cNvCxnSpPr>
          <p:nvPr/>
        </p:nvCxnSpPr>
        <p:spPr>
          <a:xfrm>
            <a:off x="6579490" y="3647580"/>
            <a:ext cx="318186" cy="223581"/>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60">
            <a:extLst>
              <a:ext uri="{FF2B5EF4-FFF2-40B4-BE49-F238E27FC236}">
                <a16:creationId xmlns:a16="http://schemas.microsoft.com/office/drawing/2014/main" id="{88F9E61E-734D-F909-7235-D7B1FA618114}"/>
              </a:ext>
            </a:extLst>
          </p:cNvPr>
          <p:cNvCxnSpPr>
            <a:cxnSpLocks/>
            <a:stCxn id="18" idx="2"/>
            <a:endCxn id="21" idx="0"/>
          </p:cNvCxnSpPr>
          <p:nvPr/>
        </p:nvCxnSpPr>
        <p:spPr>
          <a:xfrm rot="5400000">
            <a:off x="7231159" y="3068288"/>
            <a:ext cx="235560" cy="1"/>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62">
            <a:extLst>
              <a:ext uri="{FF2B5EF4-FFF2-40B4-BE49-F238E27FC236}">
                <a16:creationId xmlns:a16="http://schemas.microsoft.com/office/drawing/2014/main" id="{7E51A297-A691-F8B7-EFA4-97542E5948DC}"/>
              </a:ext>
            </a:extLst>
          </p:cNvPr>
          <p:cNvCxnSpPr>
            <a:cxnSpLocks/>
          </p:cNvCxnSpPr>
          <p:nvPr/>
        </p:nvCxnSpPr>
        <p:spPr>
          <a:xfrm>
            <a:off x="7800200" y="4514562"/>
            <a:ext cx="441024"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64">
            <a:extLst>
              <a:ext uri="{FF2B5EF4-FFF2-40B4-BE49-F238E27FC236}">
                <a16:creationId xmlns:a16="http://schemas.microsoft.com/office/drawing/2014/main" id="{CBD1F7D2-2944-9B04-5EED-BF001715F9CE}"/>
              </a:ext>
            </a:extLst>
          </p:cNvPr>
          <p:cNvCxnSpPr>
            <a:cxnSpLocks/>
            <a:stCxn id="22" idx="2"/>
            <a:endCxn id="23" idx="0"/>
          </p:cNvCxnSpPr>
          <p:nvPr/>
        </p:nvCxnSpPr>
        <p:spPr>
          <a:xfrm>
            <a:off x="10678308" y="2920009"/>
            <a:ext cx="0" cy="205505"/>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9" name="Rectangle 70">
            <a:extLst>
              <a:ext uri="{FF2B5EF4-FFF2-40B4-BE49-F238E27FC236}">
                <a16:creationId xmlns:a16="http://schemas.microsoft.com/office/drawing/2014/main" id="{897FF8C1-92AC-EB91-914B-5C29389FC1C4}"/>
              </a:ext>
            </a:extLst>
          </p:cNvPr>
          <p:cNvSpPr/>
          <p:nvPr/>
        </p:nvSpPr>
        <p:spPr>
          <a:xfrm>
            <a:off x="8248672" y="2610688"/>
            <a:ext cx="902524" cy="2073782"/>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720">
                <a:solidFill>
                  <a:srgbClr val="1B2434"/>
                </a:solidFill>
                <a:latin typeface="Aptos" panose="020B0004020202020204" pitchFamily="34" charset="0"/>
                <a:ea typeface="Lato" panose="020F0502020204030203" pitchFamily="34" charset="0"/>
                <a:cs typeface="Lato" panose="020F0502020204030203" pitchFamily="34" charset="0"/>
              </a:rPr>
              <a:t>F&amp;A Posting</a:t>
            </a:r>
            <a:endParaRPr lang="zh-CN" altLang="en-US" sz="72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40" name="Straight Arrow Connector 95">
            <a:extLst>
              <a:ext uri="{FF2B5EF4-FFF2-40B4-BE49-F238E27FC236}">
                <a16:creationId xmlns:a16="http://schemas.microsoft.com/office/drawing/2014/main" id="{97E84930-E49E-4FBA-DA89-A404778F4092}"/>
              </a:ext>
            </a:extLst>
          </p:cNvPr>
          <p:cNvCxnSpPr>
            <a:cxnSpLocks/>
            <a:stCxn id="19" idx="3"/>
          </p:cNvCxnSpPr>
          <p:nvPr/>
        </p:nvCxnSpPr>
        <p:spPr>
          <a:xfrm flipV="1">
            <a:off x="7800200" y="3871160"/>
            <a:ext cx="448472"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1" name="Rectangle 98">
            <a:extLst>
              <a:ext uri="{FF2B5EF4-FFF2-40B4-BE49-F238E27FC236}">
                <a16:creationId xmlns:a16="http://schemas.microsoft.com/office/drawing/2014/main" id="{28E0DA82-CACF-3205-453E-700E3BDA7947}"/>
              </a:ext>
            </a:extLst>
          </p:cNvPr>
          <p:cNvSpPr/>
          <p:nvPr/>
        </p:nvSpPr>
        <p:spPr>
          <a:xfrm>
            <a:off x="608772" y="3956296"/>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Flex Pause/Down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2" name="Rectangle 99">
            <a:extLst>
              <a:ext uri="{FF2B5EF4-FFF2-40B4-BE49-F238E27FC236}">
                <a16:creationId xmlns:a16="http://schemas.microsoft.com/office/drawing/2014/main" id="{188B4456-3749-9603-B45B-E8B4A7E86CB2}"/>
              </a:ext>
            </a:extLst>
          </p:cNvPr>
          <p:cNvSpPr/>
          <p:nvPr/>
        </p:nvSpPr>
        <p:spPr>
          <a:xfrm>
            <a:off x="608772" y="443666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Early Termination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3" name="Rectangle 100">
            <a:extLst>
              <a:ext uri="{FF2B5EF4-FFF2-40B4-BE49-F238E27FC236}">
                <a16:creationId xmlns:a16="http://schemas.microsoft.com/office/drawing/2014/main" id="{2702407E-0D14-4B1D-BA16-63D2EEA34B19}"/>
              </a:ext>
            </a:extLst>
          </p:cNvPr>
          <p:cNvSpPr/>
          <p:nvPr/>
        </p:nvSpPr>
        <p:spPr>
          <a:xfrm>
            <a:off x="608772" y="4917034"/>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Termination/ </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Extension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4" name="TextBox 102">
            <a:extLst>
              <a:ext uri="{FF2B5EF4-FFF2-40B4-BE49-F238E27FC236}">
                <a16:creationId xmlns:a16="http://schemas.microsoft.com/office/drawing/2014/main" id="{3CDB65D4-6742-AC27-F47E-F7AF52653FB8}"/>
              </a:ext>
            </a:extLst>
          </p:cNvPr>
          <p:cNvSpPr txBox="1"/>
          <p:nvPr/>
        </p:nvSpPr>
        <p:spPr>
          <a:xfrm>
            <a:off x="9899063" y="1453518"/>
            <a:ext cx="1243987" cy="197490"/>
          </a:xfrm>
          <a:prstGeom prst="rect">
            <a:avLst/>
          </a:prstGeom>
          <a:noFill/>
        </p:spPr>
        <p:txBody>
          <a:bodyPr wrap="square" lIns="50800" tIns="25400" rIns="50800" bIns="25400"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ctr" defTabSz="914126"/>
            <a:r>
              <a:rPr lang="en-US" altLang="zh-CN" sz="950" b="1">
                <a:solidFill>
                  <a:srgbClr val="1B2434"/>
                </a:solidFill>
                <a:latin typeface="Aptos" panose="020B0004020202020204" pitchFamily="34" charset="0"/>
                <a:ea typeface="Lato" panose="020F0502020204030203" pitchFamily="34" charset="0"/>
                <a:cs typeface="Lato" panose="020F0502020204030203" pitchFamily="34" charset="0"/>
              </a:rPr>
              <a:t>AR/AP Handling</a:t>
            </a:r>
            <a:endParaRPr lang="zh-CN" altLang="en-US" sz="950" b="1">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5" name="Flowchart: Punched Tape 103">
            <a:extLst>
              <a:ext uri="{FF2B5EF4-FFF2-40B4-BE49-F238E27FC236}">
                <a16:creationId xmlns:a16="http://schemas.microsoft.com/office/drawing/2014/main" id="{3F29A5CE-6897-7B6E-E2E6-D582C3AD8836}"/>
              </a:ext>
            </a:extLst>
          </p:cNvPr>
          <p:cNvSpPr/>
          <p:nvPr/>
        </p:nvSpPr>
        <p:spPr>
          <a:xfrm>
            <a:off x="7517804" y="2875606"/>
            <a:ext cx="359154" cy="260937"/>
          </a:xfrm>
          <a:prstGeom prst="flowChartPunchedTape">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Taxation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6" name="Flowchart: Punched Tape 104">
            <a:extLst>
              <a:ext uri="{FF2B5EF4-FFF2-40B4-BE49-F238E27FC236}">
                <a16:creationId xmlns:a16="http://schemas.microsoft.com/office/drawing/2014/main" id="{DA3613E8-D09A-9D6B-A78C-1CE15658F152}"/>
              </a:ext>
            </a:extLst>
          </p:cNvPr>
          <p:cNvSpPr/>
          <p:nvPr/>
        </p:nvSpPr>
        <p:spPr>
          <a:xfrm>
            <a:off x="7517804" y="3959746"/>
            <a:ext cx="359154" cy="260937"/>
          </a:xfrm>
          <a:prstGeom prst="flowChartPunchedTape">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Taxation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7" name="Flowchart: Punched Tape 105">
            <a:extLst>
              <a:ext uri="{FF2B5EF4-FFF2-40B4-BE49-F238E27FC236}">
                <a16:creationId xmlns:a16="http://schemas.microsoft.com/office/drawing/2014/main" id="{E7102493-E492-30FC-3238-A99B3AEF6AAC}"/>
              </a:ext>
            </a:extLst>
          </p:cNvPr>
          <p:cNvSpPr/>
          <p:nvPr/>
        </p:nvSpPr>
        <p:spPr>
          <a:xfrm>
            <a:off x="7517804" y="4593445"/>
            <a:ext cx="359154" cy="260937"/>
          </a:xfrm>
          <a:prstGeom prst="flowChartPunchedTape">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Taxation</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sp>
        <p:nvSpPr>
          <p:cNvPr id="48" name="Rectangle 107">
            <a:extLst>
              <a:ext uri="{FF2B5EF4-FFF2-40B4-BE49-F238E27FC236}">
                <a16:creationId xmlns:a16="http://schemas.microsoft.com/office/drawing/2014/main" id="{309D796B-1D44-6A81-3A1A-DCC8A9768906}"/>
              </a:ext>
            </a:extLst>
          </p:cNvPr>
          <p:cNvSpPr/>
          <p:nvPr/>
        </p:nvSpPr>
        <p:spPr>
          <a:xfrm>
            <a:off x="3385148" y="443666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Payment Schedule</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Updating</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49" name="Straight Arrow Connector 109">
            <a:extLst>
              <a:ext uri="{FF2B5EF4-FFF2-40B4-BE49-F238E27FC236}">
                <a16:creationId xmlns:a16="http://schemas.microsoft.com/office/drawing/2014/main" id="{09F31A6A-D5DE-3CA4-230C-187461E04068}"/>
              </a:ext>
            </a:extLst>
          </p:cNvPr>
          <p:cNvCxnSpPr>
            <a:cxnSpLocks/>
            <a:stCxn id="42" idx="3"/>
            <a:endCxn id="59" idx="1"/>
          </p:cNvCxnSpPr>
          <p:nvPr/>
        </p:nvCxnSpPr>
        <p:spPr>
          <a:xfrm>
            <a:off x="1511296" y="4606575"/>
            <a:ext cx="627680"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11">
            <a:extLst>
              <a:ext uri="{FF2B5EF4-FFF2-40B4-BE49-F238E27FC236}">
                <a16:creationId xmlns:a16="http://schemas.microsoft.com/office/drawing/2014/main" id="{8B33E3F3-FF20-C48A-0381-9EE041C30A0C}"/>
              </a:ext>
            </a:extLst>
          </p:cNvPr>
          <p:cNvCxnSpPr>
            <a:cxnSpLocks/>
            <a:stCxn id="41" idx="3"/>
            <a:endCxn id="59" idx="1"/>
          </p:cNvCxnSpPr>
          <p:nvPr/>
        </p:nvCxnSpPr>
        <p:spPr>
          <a:xfrm>
            <a:off x="1511296" y="4126206"/>
            <a:ext cx="627680" cy="480369"/>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112">
            <a:extLst>
              <a:ext uri="{FF2B5EF4-FFF2-40B4-BE49-F238E27FC236}">
                <a16:creationId xmlns:a16="http://schemas.microsoft.com/office/drawing/2014/main" id="{AAA86CD7-920D-F2D0-9472-22091E25E50E}"/>
              </a:ext>
            </a:extLst>
          </p:cNvPr>
          <p:cNvCxnSpPr>
            <a:cxnSpLocks/>
            <a:stCxn id="43" idx="3"/>
            <a:endCxn id="59" idx="1"/>
          </p:cNvCxnSpPr>
          <p:nvPr/>
        </p:nvCxnSpPr>
        <p:spPr>
          <a:xfrm flipV="1">
            <a:off x="1511296" y="4606575"/>
            <a:ext cx="627680" cy="480369"/>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121">
            <a:extLst>
              <a:ext uri="{FF2B5EF4-FFF2-40B4-BE49-F238E27FC236}">
                <a16:creationId xmlns:a16="http://schemas.microsoft.com/office/drawing/2014/main" id="{BC53184F-502E-8DEC-9FD1-40717C9705F9}"/>
              </a:ext>
            </a:extLst>
          </p:cNvPr>
          <p:cNvCxnSpPr>
            <a:cxnSpLocks/>
            <a:stCxn id="48" idx="3"/>
          </p:cNvCxnSpPr>
          <p:nvPr/>
        </p:nvCxnSpPr>
        <p:spPr>
          <a:xfrm>
            <a:off x="4287672" y="4606575"/>
            <a:ext cx="192036" cy="807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3" name="Rectangle 141">
            <a:extLst>
              <a:ext uri="{FF2B5EF4-FFF2-40B4-BE49-F238E27FC236}">
                <a16:creationId xmlns:a16="http://schemas.microsoft.com/office/drawing/2014/main" id="{02F2EC4F-64D4-1E4B-A974-B7C56AD6509F}"/>
              </a:ext>
            </a:extLst>
          </p:cNvPr>
          <p:cNvSpPr/>
          <p:nvPr/>
        </p:nvSpPr>
        <p:spPr>
          <a:xfrm>
            <a:off x="608772" y="5397403"/>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Customer Usage</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54" name="Straight Arrow Connector 142">
            <a:extLst>
              <a:ext uri="{FF2B5EF4-FFF2-40B4-BE49-F238E27FC236}">
                <a16:creationId xmlns:a16="http://schemas.microsoft.com/office/drawing/2014/main" id="{CCCB3287-A390-12FD-569A-DD391DBCEF68}"/>
              </a:ext>
            </a:extLst>
          </p:cNvPr>
          <p:cNvCxnSpPr>
            <a:cxnSpLocks/>
            <a:stCxn id="53" idx="3"/>
            <a:endCxn id="13" idx="1"/>
          </p:cNvCxnSpPr>
          <p:nvPr/>
        </p:nvCxnSpPr>
        <p:spPr>
          <a:xfrm>
            <a:off x="1511296" y="5567313"/>
            <a:ext cx="627680"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159">
            <a:extLst>
              <a:ext uri="{FF2B5EF4-FFF2-40B4-BE49-F238E27FC236}">
                <a16:creationId xmlns:a16="http://schemas.microsoft.com/office/drawing/2014/main" id="{970E1592-6796-C888-6000-B025BF08F3E8}"/>
              </a:ext>
            </a:extLst>
          </p:cNvPr>
          <p:cNvCxnSpPr>
            <a:cxnSpLocks/>
            <a:stCxn id="24" idx="2"/>
            <a:endCxn id="25" idx="0"/>
          </p:cNvCxnSpPr>
          <p:nvPr/>
        </p:nvCxnSpPr>
        <p:spPr>
          <a:xfrm>
            <a:off x="10678308" y="4941245"/>
            <a:ext cx="0" cy="151047"/>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164">
            <a:extLst>
              <a:ext uri="{FF2B5EF4-FFF2-40B4-BE49-F238E27FC236}">
                <a16:creationId xmlns:a16="http://schemas.microsoft.com/office/drawing/2014/main" id="{C7F3213E-C39F-681C-8B7C-0CF071A44790}"/>
              </a:ext>
            </a:extLst>
          </p:cNvPr>
          <p:cNvCxnSpPr>
            <a:cxnSpLocks/>
            <a:stCxn id="10" idx="2"/>
            <a:endCxn id="9" idx="0"/>
          </p:cNvCxnSpPr>
          <p:nvPr/>
        </p:nvCxnSpPr>
        <p:spPr>
          <a:xfrm>
            <a:off x="1060034" y="2445767"/>
            <a:ext cx="0" cy="164922"/>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2F211C65-DF65-B011-5C57-D01C4F2D4EA3}"/>
              </a:ext>
            </a:extLst>
          </p:cNvPr>
          <p:cNvCxnSpPr>
            <a:cxnSpLocks/>
            <a:stCxn id="39" idx="3"/>
            <a:endCxn id="24" idx="1"/>
          </p:cNvCxnSpPr>
          <p:nvPr/>
        </p:nvCxnSpPr>
        <p:spPr>
          <a:xfrm>
            <a:off x="9151196" y="3647579"/>
            <a:ext cx="1075850" cy="1123757"/>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8" name="连接符: 肘形 57">
            <a:extLst>
              <a:ext uri="{FF2B5EF4-FFF2-40B4-BE49-F238E27FC236}">
                <a16:creationId xmlns:a16="http://schemas.microsoft.com/office/drawing/2014/main" id="{326C3E0E-748C-C52B-F52F-6B09A1B9C8CA}"/>
              </a:ext>
            </a:extLst>
          </p:cNvPr>
          <p:cNvCxnSpPr>
            <a:cxnSpLocks/>
            <a:stCxn id="39" idx="3"/>
            <a:endCxn id="22" idx="1"/>
          </p:cNvCxnSpPr>
          <p:nvPr/>
        </p:nvCxnSpPr>
        <p:spPr>
          <a:xfrm flipV="1">
            <a:off x="9151196" y="2750100"/>
            <a:ext cx="1075850" cy="897479"/>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9" name="Rectangle 9">
            <a:extLst>
              <a:ext uri="{FF2B5EF4-FFF2-40B4-BE49-F238E27FC236}">
                <a16:creationId xmlns:a16="http://schemas.microsoft.com/office/drawing/2014/main" id="{14366539-1AE2-8D64-517A-F5E595A6D117}"/>
              </a:ext>
            </a:extLst>
          </p:cNvPr>
          <p:cNvSpPr/>
          <p:nvPr/>
        </p:nvSpPr>
        <p:spPr>
          <a:xfrm>
            <a:off x="2138976" y="443666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Subscription </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Change</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60" name="直接箭头连接符 59">
            <a:extLst>
              <a:ext uri="{FF2B5EF4-FFF2-40B4-BE49-F238E27FC236}">
                <a16:creationId xmlns:a16="http://schemas.microsoft.com/office/drawing/2014/main" id="{435682CB-02F8-4BAE-FD8D-D365A222EFC2}"/>
              </a:ext>
            </a:extLst>
          </p:cNvPr>
          <p:cNvCxnSpPr>
            <a:stCxn id="18" idx="3"/>
          </p:cNvCxnSpPr>
          <p:nvPr/>
        </p:nvCxnSpPr>
        <p:spPr>
          <a:xfrm flipV="1">
            <a:off x="7800200" y="2780598"/>
            <a:ext cx="441024"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B503127-8514-901B-EFA8-3289CE881313}"/>
              </a:ext>
            </a:extLst>
          </p:cNvPr>
          <p:cNvCxnSpPr>
            <a:cxnSpLocks/>
            <a:stCxn id="59" idx="3"/>
            <a:endCxn id="48" idx="1"/>
          </p:cNvCxnSpPr>
          <p:nvPr/>
        </p:nvCxnSpPr>
        <p:spPr>
          <a:xfrm>
            <a:off x="3041500" y="4606575"/>
            <a:ext cx="343648" cy="0"/>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2" name="Rectangle 10">
            <a:extLst>
              <a:ext uri="{FF2B5EF4-FFF2-40B4-BE49-F238E27FC236}">
                <a16:creationId xmlns:a16="http://schemas.microsoft.com/office/drawing/2014/main" id="{A83794BF-7C79-5366-22A9-D37056AF254A}"/>
              </a:ext>
            </a:extLst>
          </p:cNvPr>
          <p:cNvSpPr/>
          <p:nvPr/>
        </p:nvSpPr>
        <p:spPr>
          <a:xfrm>
            <a:off x="9231859" y="209653"/>
            <a:ext cx="902524" cy="226809"/>
          </a:xfrm>
          <a:prstGeom prst="rect">
            <a:avLst/>
          </a:prstGeom>
          <a:solidFill>
            <a:srgbClr val="E2231A"/>
          </a:solidFill>
          <a:ln w="6350">
            <a:noFill/>
          </a:ln>
        </p:spPr>
        <p:style>
          <a:lnRef idx="0">
            <a:scrgbClr r="0" g="0" b="0"/>
          </a:lnRef>
          <a:fillRef idx="0">
            <a:scrgbClr r="0" g="0" b="0"/>
          </a:fillRef>
          <a:effectRef idx="0">
            <a:scrgbClr r="0" g="0" b="0"/>
          </a:effectRef>
          <a:fontRef idx="minor">
            <a:schemeClr val="lt1"/>
          </a:fontRef>
        </p:style>
        <p:txBody>
          <a:bodyPr lIns="0" tIns="0" rIns="0" bIns="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endParaRPr lang="zh-CN" altLang="en-US" sz="700" b="1">
              <a:solidFill>
                <a:srgbClr val="000000"/>
              </a:solidFill>
              <a:latin typeface="Lato" panose="020F0502020204030203" pitchFamily="34" charset="0"/>
              <a:ea typeface="黑体" panose="02010609060101010101" pitchFamily="49" charset="-122"/>
              <a:cs typeface="Lato" panose="020F0502020204030203" pitchFamily="34" charset="0"/>
            </a:endParaRPr>
          </a:p>
        </p:txBody>
      </p:sp>
      <p:sp>
        <p:nvSpPr>
          <p:cNvPr id="63" name="文本框 32">
            <a:extLst>
              <a:ext uri="{FF2B5EF4-FFF2-40B4-BE49-F238E27FC236}">
                <a16:creationId xmlns:a16="http://schemas.microsoft.com/office/drawing/2014/main" id="{D9AA8653-B39F-2FB1-164D-D259E6A17F44}"/>
              </a:ext>
            </a:extLst>
          </p:cNvPr>
          <p:cNvSpPr txBox="1"/>
          <p:nvPr/>
        </p:nvSpPr>
        <p:spPr>
          <a:xfrm>
            <a:off x="10119175" y="149758"/>
            <a:ext cx="1746395" cy="651460"/>
          </a:xfrm>
          <a:prstGeom prst="rect">
            <a:avLst/>
          </a:prstGeom>
          <a:noFill/>
        </p:spPr>
        <p:txBody>
          <a:bodyPr wrap="square" lIns="50800" tIns="25400" rIns="50800" bIns="25400"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altLang="zh-CN" sz="1300">
                <a:solidFill>
                  <a:srgbClr val="586070"/>
                </a:solidFill>
                <a:latin typeface="Aptos" panose="020B0004020202020204" pitchFamily="34" charset="0"/>
                <a:cs typeface="Arial" pitchFamily="34" charset="0"/>
              </a:rPr>
              <a:t>Billing Function. This ISR focus on---by GSC OF IT team</a:t>
            </a:r>
            <a:endParaRPr lang="zh-CN" altLang="en-US" sz="1300">
              <a:solidFill>
                <a:srgbClr val="586070"/>
              </a:solidFill>
              <a:latin typeface="Aptos" panose="020B0004020202020204" pitchFamily="34" charset="0"/>
              <a:cs typeface="Arial" pitchFamily="34" charset="0"/>
            </a:endParaRPr>
          </a:p>
        </p:txBody>
      </p:sp>
      <p:sp>
        <p:nvSpPr>
          <p:cNvPr id="64" name="Rectangle 101">
            <a:extLst>
              <a:ext uri="{FF2B5EF4-FFF2-40B4-BE49-F238E27FC236}">
                <a16:creationId xmlns:a16="http://schemas.microsoft.com/office/drawing/2014/main" id="{5CED0B72-0F19-20EC-7196-866072C5D202}"/>
              </a:ext>
            </a:extLst>
          </p:cNvPr>
          <p:cNvSpPr/>
          <p:nvPr/>
        </p:nvSpPr>
        <p:spPr>
          <a:xfrm>
            <a:off x="609963" y="352602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On Demand Charge</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65" name="Straight Arrow Connector 124">
            <a:extLst>
              <a:ext uri="{FF2B5EF4-FFF2-40B4-BE49-F238E27FC236}">
                <a16:creationId xmlns:a16="http://schemas.microsoft.com/office/drawing/2014/main" id="{5E99D47E-8E80-7AC7-DE64-33F334253ED1}"/>
              </a:ext>
            </a:extLst>
          </p:cNvPr>
          <p:cNvCxnSpPr>
            <a:cxnSpLocks/>
            <a:endCxn id="68" idx="1"/>
          </p:cNvCxnSpPr>
          <p:nvPr/>
        </p:nvCxnSpPr>
        <p:spPr>
          <a:xfrm>
            <a:off x="1471968" y="3670766"/>
            <a:ext cx="636448" cy="1"/>
          </a:xfrm>
          <a:prstGeom prst="straightConnector1">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6" name="Rectangle 101">
            <a:extLst>
              <a:ext uri="{FF2B5EF4-FFF2-40B4-BE49-F238E27FC236}">
                <a16:creationId xmlns:a16="http://schemas.microsoft.com/office/drawing/2014/main" id="{FB3B7A16-0090-9DD2-8460-2E5152FE4B08}"/>
              </a:ext>
            </a:extLst>
          </p:cNvPr>
          <p:cNvSpPr/>
          <p:nvPr/>
        </p:nvSpPr>
        <p:spPr>
          <a:xfrm>
            <a:off x="608772" y="3045654"/>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Damage Charge</a:t>
            </a:r>
            <a:endParaRPr lang="zh-CN" altLang="en-US" sz="680">
              <a:solidFill>
                <a:srgbClr val="1B2434"/>
              </a:solidFill>
              <a:latin typeface="Aptos" panose="020B0004020202020204" pitchFamily="34" charset="0"/>
              <a:ea typeface="黑体" panose="02010609060101010101" pitchFamily="49" charset="-122"/>
              <a:cs typeface="Lato" panose="020F0502020204030203" pitchFamily="34" charset="0"/>
            </a:endParaRPr>
          </a:p>
        </p:txBody>
      </p:sp>
      <p:cxnSp>
        <p:nvCxnSpPr>
          <p:cNvPr id="67" name="连接符: 肘形 66">
            <a:extLst>
              <a:ext uri="{FF2B5EF4-FFF2-40B4-BE49-F238E27FC236}">
                <a16:creationId xmlns:a16="http://schemas.microsoft.com/office/drawing/2014/main" id="{E8506BA6-6551-8AA3-CDCF-CD39D85FAF11}"/>
              </a:ext>
            </a:extLst>
          </p:cNvPr>
          <p:cNvCxnSpPr>
            <a:cxnSpLocks/>
            <a:stCxn id="66" idx="3"/>
            <a:endCxn id="68" idx="1"/>
          </p:cNvCxnSpPr>
          <p:nvPr/>
        </p:nvCxnSpPr>
        <p:spPr>
          <a:xfrm>
            <a:off x="1511296" y="3215564"/>
            <a:ext cx="597120" cy="455203"/>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8" name="Rectangle 9">
            <a:extLst>
              <a:ext uri="{FF2B5EF4-FFF2-40B4-BE49-F238E27FC236}">
                <a16:creationId xmlns:a16="http://schemas.microsoft.com/office/drawing/2014/main" id="{3ED9CF52-AB71-F876-9FF8-F835AE10B4DD}"/>
              </a:ext>
            </a:extLst>
          </p:cNvPr>
          <p:cNvSpPr/>
          <p:nvPr/>
        </p:nvSpPr>
        <p:spPr>
          <a:xfrm>
            <a:off x="2108416" y="3500857"/>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One-off</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Subscription</a:t>
            </a:r>
          </a:p>
        </p:txBody>
      </p:sp>
      <p:cxnSp>
        <p:nvCxnSpPr>
          <p:cNvPr id="70" name="连接符: 肘形 69">
            <a:extLst>
              <a:ext uri="{FF2B5EF4-FFF2-40B4-BE49-F238E27FC236}">
                <a16:creationId xmlns:a16="http://schemas.microsoft.com/office/drawing/2014/main" id="{D3B73CDA-7DAA-B65E-37FB-7944A855E4ED}"/>
              </a:ext>
            </a:extLst>
          </p:cNvPr>
          <p:cNvCxnSpPr>
            <a:cxnSpLocks/>
            <a:stCxn id="68" idx="3"/>
            <a:endCxn id="12" idx="1"/>
          </p:cNvCxnSpPr>
          <p:nvPr/>
        </p:nvCxnSpPr>
        <p:spPr>
          <a:xfrm flipV="1">
            <a:off x="3010940" y="2780599"/>
            <a:ext cx="374209" cy="890168"/>
          </a:xfrm>
          <a:prstGeom prst="bentConnector3">
            <a:avLst>
              <a:gd name="adj1" fmla="val 5000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1" name="Rectangle 9">
            <a:extLst>
              <a:ext uri="{FF2B5EF4-FFF2-40B4-BE49-F238E27FC236}">
                <a16:creationId xmlns:a16="http://schemas.microsoft.com/office/drawing/2014/main" id="{5DA54F10-E1E9-3AC6-B987-8600EF939C0E}"/>
              </a:ext>
            </a:extLst>
          </p:cNvPr>
          <p:cNvSpPr/>
          <p:nvPr/>
        </p:nvSpPr>
        <p:spPr>
          <a:xfrm>
            <a:off x="2143170" y="4916685"/>
            <a:ext cx="902524" cy="339819"/>
          </a:xfrm>
          <a:prstGeom prst="rect">
            <a:avLst/>
          </a:prstGeom>
          <a:solidFill>
            <a:srgbClr val="FFFFFF"/>
          </a:solidFill>
          <a:ln w="10160">
            <a:solidFill>
              <a:srgbClr val="6294A0"/>
            </a:solidFill>
          </a:ln>
        </p:spPr>
        <p:style>
          <a:lnRef idx="0">
            <a:scrgbClr r="0" g="0" b="0"/>
          </a:lnRef>
          <a:fillRef idx="0">
            <a:scrgbClr r="0" g="0" b="0"/>
          </a:fillRef>
          <a:effectRef idx="0">
            <a:scrgbClr r="0" g="0" b="0"/>
          </a:effectRef>
          <a:fontRef idx="minor">
            <a:schemeClr val="lt1"/>
          </a:fontRef>
        </p:style>
        <p:txBody>
          <a:bodyPr lIns="50800" tIns="25400" rIns="50800" bIns="25400"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One-off</a:t>
            </a:r>
          </a:p>
          <a:p>
            <a:pPr algn="ctr" defTabSz="914126"/>
            <a:r>
              <a:rPr lang="en-US" altLang="zh-CN" sz="680">
                <a:solidFill>
                  <a:srgbClr val="1B2434"/>
                </a:solidFill>
                <a:latin typeface="Aptos" panose="020B0004020202020204" pitchFamily="34" charset="0"/>
                <a:ea typeface="Lato" panose="020F0502020204030203" pitchFamily="34" charset="0"/>
                <a:cs typeface="Lato" panose="020F0502020204030203" pitchFamily="34" charset="0"/>
              </a:rPr>
              <a:t>Subscription</a:t>
            </a:r>
          </a:p>
        </p:txBody>
      </p:sp>
      <p:cxnSp>
        <p:nvCxnSpPr>
          <p:cNvPr id="72" name="连接符: 肘形 71">
            <a:extLst>
              <a:ext uri="{FF2B5EF4-FFF2-40B4-BE49-F238E27FC236}">
                <a16:creationId xmlns:a16="http://schemas.microsoft.com/office/drawing/2014/main" id="{904A811A-EA6C-C34B-F04A-9F40540F3CE9}"/>
              </a:ext>
            </a:extLst>
          </p:cNvPr>
          <p:cNvCxnSpPr>
            <a:cxnSpLocks/>
            <a:endCxn id="71" idx="1"/>
          </p:cNvCxnSpPr>
          <p:nvPr/>
        </p:nvCxnSpPr>
        <p:spPr>
          <a:xfrm>
            <a:off x="1518744" y="4605876"/>
            <a:ext cx="624426" cy="480719"/>
          </a:xfrm>
          <a:prstGeom prst="bentConnector3">
            <a:avLst>
              <a:gd name="adj1" fmla="val 70470"/>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E5F8E94F-077A-CA27-3EC5-DB38CBC3B0D7}"/>
              </a:ext>
            </a:extLst>
          </p:cNvPr>
          <p:cNvCxnSpPr>
            <a:stCxn id="71" idx="3"/>
            <a:endCxn id="48" idx="1"/>
          </p:cNvCxnSpPr>
          <p:nvPr/>
        </p:nvCxnSpPr>
        <p:spPr>
          <a:xfrm flipV="1">
            <a:off x="3045694" y="4606575"/>
            <a:ext cx="339454" cy="480020"/>
          </a:xfrm>
          <a:prstGeom prst="bentConnector3">
            <a:avLst/>
          </a:prstGeom>
          <a:ln w="11430">
            <a:solidFill>
              <a:srgbClr val="AEBDD4"/>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663739"/>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2E5C6F0-0E4E-035A-2C8F-3BED19C27997}"/>
              </a:ext>
            </a:extLst>
          </p:cNvPr>
          <p:cNvSpPr>
            <a:spLocks noGrp="1"/>
          </p:cNvSpPr>
          <p:nvPr>
            <p:ph type="title"/>
          </p:nvPr>
        </p:nvSpPr>
        <p:spPr>
          <a:xfrm>
            <a:off x="330200" y="177800"/>
            <a:ext cx="11303000" cy="381000"/>
          </a:xfrm>
          <a:noFill/>
          <a:ln w="9525">
            <a:noFill/>
            <a:miter lim="800000"/>
            <a:headEnd/>
            <a:tailEnd/>
          </a:ln>
        </p:spPr>
        <p:txBody>
          <a:bodyPr vert="horz" wrap="square" lIns="0" tIns="0" rIns="0" bIns="0" numCol="1" anchor="t" anchorCtr="0" compatLnSpc="1">
            <a:prstTxWarp prst="textNoShape">
              <a:avLst/>
            </a:prstTxWarp>
          </a:bodyPr>
          <a:lstStyle/>
          <a:p>
            <a:pPr algn="l">
              <a:lnSpc>
                <a:spcPct val="100000"/>
              </a:lnSpc>
              <a:spcBef>
                <a:spcPts val="0"/>
              </a:spcBef>
              <a:spcAft>
                <a:spcPts val="0"/>
              </a:spcAft>
            </a:pPr>
            <a:r>
              <a:rPr sz="3400" b="0">
                <a:solidFill>
                  <a:srgbClr val="000000"/>
                </a:solidFill>
                <a:latin typeface="Aptos Display"/>
              </a:rPr>
              <a:t>Invoice </a:t>
            </a:r>
            <a:r>
              <a:rPr lang="en-US" sz="3400" b="0">
                <a:solidFill>
                  <a:srgbClr val="000000"/>
                </a:solidFill>
                <a:latin typeface="Aptos Display"/>
              </a:rPr>
              <a:t>management: five functions, five user outcomes</a:t>
            </a:r>
            <a:endParaRPr lang="zh-CN" altLang="en-US" sz="3400" kern="0">
              <a:solidFill>
                <a:srgbClr val="000000"/>
              </a:solidFill>
              <a:latin typeface="Aptos Display" panose="020B0004020202020204" pitchFamily="34" charset="0"/>
              <a:cs typeface="Cascadia Code" panose="020B0609020000020004" pitchFamily="49" charset="0"/>
            </a:endParaRPr>
          </a:p>
        </p:txBody>
      </p:sp>
      <p:sp>
        <p:nvSpPr>
          <p:cNvPr id="4" name="TextBox 3"/>
          <p:cNvSpPr txBox="1"/>
          <p:nvPr/>
        </p:nvSpPr>
        <p:spPr>
          <a:xfrm>
            <a:off x="365760" y="713232"/>
            <a:ext cx="10972800" cy="310896"/>
          </a:xfrm>
          <a:prstGeom prst="rect">
            <a:avLst/>
          </a:prstGeom>
          <a:noFill/>
        </p:spPr>
        <p:txBody>
          <a:bodyPr wrap="square" lIns="13716" tIns="9144" rIns="13716" bIns="9144" anchor="t">
            <a:spAutoFit/>
          </a:bodyPr>
          <a:lstStyle/>
          <a:p>
            <a:pPr algn="l">
              <a:lnSpc>
                <a:spcPct val="95000"/>
              </a:lnSpc>
              <a:spcBef>
                <a:spcPts val="0"/>
              </a:spcBef>
              <a:spcAft>
                <a:spcPts val="0"/>
              </a:spcAft>
            </a:pPr>
            <a:r>
              <a:rPr sz="1500" b="0">
                <a:solidFill>
                  <a:srgbClr val="586070"/>
                </a:solidFill>
                <a:latin typeface="Aptos"/>
              </a:rPr>
              <a:t>Choose the function based on the task you need to complete in the billing cycle.</a:t>
            </a:r>
          </a:p>
        </p:txBody>
      </p:sp>
      <p:sp>
        <p:nvSpPr>
          <p:cNvPr id="5" name="TextBox 4"/>
          <p:cNvSpPr txBox="1"/>
          <p:nvPr/>
        </p:nvSpPr>
        <p:spPr>
          <a:xfrm>
            <a:off x="566928" y="1161288"/>
            <a:ext cx="384048" cy="210312"/>
          </a:xfrm>
          <a:prstGeom prst="rect">
            <a:avLst/>
          </a:prstGeom>
          <a:noFill/>
        </p:spPr>
        <p:txBody>
          <a:bodyPr wrap="square" lIns="13716" tIns="9144" rIns="13716" bIns="9144" anchor="t">
            <a:spAutoFit/>
          </a:bodyPr>
          <a:lstStyle/>
          <a:p>
            <a:pPr algn="l">
              <a:lnSpc>
                <a:spcPct val="95000"/>
              </a:lnSpc>
              <a:spcBef>
                <a:spcPts val="0"/>
              </a:spcBef>
              <a:spcAft>
                <a:spcPts val="0"/>
              </a:spcAft>
            </a:pPr>
            <a:r>
              <a:rPr sz="1000" b="1">
                <a:solidFill>
                  <a:srgbClr val="E2231A"/>
                </a:solidFill>
                <a:latin typeface="Aptos"/>
              </a:rPr>
              <a:t>NO.</a:t>
            </a:r>
          </a:p>
        </p:txBody>
      </p:sp>
      <p:sp>
        <p:nvSpPr>
          <p:cNvPr id="6" name="TextBox 5"/>
          <p:cNvSpPr txBox="1"/>
          <p:nvPr/>
        </p:nvSpPr>
        <p:spPr>
          <a:xfrm>
            <a:off x="987552" y="1161288"/>
            <a:ext cx="1938528" cy="210312"/>
          </a:xfrm>
          <a:prstGeom prst="rect">
            <a:avLst/>
          </a:prstGeom>
          <a:noFill/>
        </p:spPr>
        <p:txBody>
          <a:bodyPr wrap="square" lIns="13716" tIns="9144" rIns="13716" bIns="9144" anchor="t">
            <a:spAutoFit/>
          </a:bodyPr>
          <a:lstStyle/>
          <a:p>
            <a:pPr algn="l">
              <a:lnSpc>
                <a:spcPct val="95000"/>
              </a:lnSpc>
              <a:spcBef>
                <a:spcPts val="0"/>
              </a:spcBef>
              <a:spcAft>
                <a:spcPts val="0"/>
              </a:spcAft>
            </a:pPr>
            <a:r>
              <a:rPr sz="1000" b="1">
                <a:solidFill>
                  <a:srgbClr val="E2231A"/>
                </a:solidFill>
                <a:latin typeface="Aptos"/>
              </a:rPr>
              <a:t>FUNCTION</a:t>
            </a:r>
          </a:p>
        </p:txBody>
      </p:sp>
      <p:sp>
        <p:nvSpPr>
          <p:cNvPr id="7" name="TextBox 6"/>
          <p:cNvSpPr txBox="1"/>
          <p:nvPr/>
        </p:nvSpPr>
        <p:spPr>
          <a:xfrm>
            <a:off x="3044952" y="1161288"/>
            <a:ext cx="2852928" cy="210312"/>
          </a:xfrm>
          <a:prstGeom prst="rect">
            <a:avLst/>
          </a:prstGeom>
          <a:noFill/>
        </p:spPr>
        <p:txBody>
          <a:bodyPr wrap="square" lIns="13716" tIns="9144" rIns="13716" bIns="9144" anchor="t">
            <a:spAutoFit/>
          </a:bodyPr>
          <a:lstStyle/>
          <a:p>
            <a:pPr algn="l">
              <a:lnSpc>
                <a:spcPct val="95000"/>
              </a:lnSpc>
              <a:spcBef>
                <a:spcPts val="0"/>
              </a:spcBef>
              <a:spcAft>
                <a:spcPts val="0"/>
              </a:spcAft>
            </a:pPr>
            <a:r>
              <a:rPr sz="1000" b="1">
                <a:solidFill>
                  <a:srgbClr val="E2231A"/>
                </a:solidFill>
                <a:latin typeface="Aptos"/>
              </a:rPr>
              <a:t>USE IT TO</a:t>
            </a:r>
          </a:p>
        </p:txBody>
      </p:sp>
      <p:sp>
        <p:nvSpPr>
          <p:cNvPr id="8" name="TextBox 7"/>
          <p:cNvSpPr txBox="1"/>
          <p:nvPr/>
        </p:nvSpPr>
        <p:spPr>
          <a:xfrm>
            <a:off x="6062472" y="1161288"/>
            <a:ext cx="3401568" cy="210312"/>
          </a:xfrm>
          <a:prstGeom prst="rect">
            <a:avLst/>
          </a:prstGeom>
          <a:noFill/>
        </p:spPr>
        <p:txBody>
          <a:bodyPr wrap="square" lIns="13716" tIns="9144" rIns="13716" bIns="9144" anchor="t">
            <a:spAutoFit/>
          </a:bodyPr>
          <a:lstStyle/>
          <a:p>
            <a:pPr algn="l">
              <a:lnSpc>
                <a:spcPct val="95000"/>
              </a:lnSpc>
              <a:spcBef>
                <a:spcPts val="0"/>
              </a:spcBef>
              <a:spcAft>
                <a:spcPts val="0"/>
              </a:spcAft>
            </a:pPr>
            <a:r>
              <a:rPr sz="1000" b="1">
                <a:solidFill>
                  <a:srgbClr val="E2231A"/>
                </a:solidFill>
                <a:latin typeface="Aptos"/>
              </a:rPr>
              <a:t>KEY USER ACTIONS</a:t>
            </a:r>
          </a:p>
        </p:txBody>
      </p:sp>
      <p:sp>
        <p:nvSpPr>
          <p:cNvPr id="9" name="TextBox 8"/>
          <p:cNvSpPr txBox="1"/>
          <p:nvPr/>
        </p:nvSpPr>
        <p:spPr>
          <a:xfrm>
            <a:off x="9646920" y="1161288"/>
            <a:ext cx="1874519" cy="210312"/>
          </a:xfrm>
          <a:prstGeom prst="rect">
            <a:avLst/>
          </a:prstGeom>
          <a:noFill/>
        </p:spPr>
        <p:txBody>
          <a:bodyPr wrap="square" lIns="13716" tIns="9144" rIns="13716" bIns="9144" anchor="t">
            <a:spAutoFit/>
          </a:bodyPr>
          <a:lstStyle/>
          <a:p>
            <a:pPr algn="l">
              <a:lnSpc>
                <a:spcPct val="95000"/>
              </a:lnSpc>
              <a:spcBef>
                <a:spcPts val="0"/>
              </a:spcBef>
              <a:spcAft>
                <a:spcPts val="0"/>
              </a:spcAft>
            </a:pPr>
            <a:r>
              <a:rPr sz="1000" b="1">
                <a:solidFill>
                  <a:srgbClr val="E2231A"/>
                </a:solidFill>
                <a:latin typeface="Aptos"/>
              </a:rPr>
              <a:t>USER OUTCOME</a:t>
            </a:r>
          </a:p>
        </p:txBody>
      </p:sp>
      <p:sp>
        <p:nvSpPr>
          <p:cNvPr id="10" name="Rectangle 9"/>
          <p:cNvSpPr/>
          <p:nvPr/>
        </p:nvSpPr>
        <p:spPr>
          <a:xfrm>
            <a:off x="566928" y="1394460"/>
            <a:ext cx="10954512" cy="10972"/>
          </a:xfrm>
          <a:prstGeom prst="rect">
            <a:avLst/>
          </a:prstGeom>
          <a:solidFill>
            <a:srgbClr val="D3D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1600200"/>
            <a:ext cx="384048" cy="438912"/>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800" b="1">
                <a:solidFill>
                  <a:srgbClr val="E2231A"/>
                </a:solidFill>
                <a:latin typeface="Aptos"/>
              </a:rPr>
              <a:t>01</a:t>
            </a:r>
          </a:p>
        </p:txBody>
      </p:sp>
      <p:sp>
        <p:nvSpPr>
          <p:cNvPr id="12" name="TextBox 11"/>
          <p:cNvSpPr txBox="1"/>
          <p:nvPr/>
        </p:nvSpPr>
        <p:spPr>
          <a:xfrm>
            <a:off x="987552" y="1536192"/>
            <a:ext cx="1938528" cy="658368"/>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650" b="1">
                <a:solidFill>
                  <a:srgbClr val="1B2434"/>
                </a:solidFill>
                <a:latin typeface="Aptos"/>
              </a:rPr>
              <a:t>Payment
Schedule</a:t>
            </a:r>
          </a:p>
        </p:txBody>
      </p:sp>
      <p:sp>
        <p:nvSpPr>
          <p:cNvPr id="13" name="TextBox 12"/>
          <p:cNvSpPr txBox="1"/>
          <p:nvPr/>
        </p:nvSpPr>
        <p:spPr>
          <a:xfrm>
            <a:off x="3044952" y="1527048"/>
            <a:ext cx="285292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Understand when a customer charge is due and which subscription or order it relates to.</a:t>
            </a:r>
          </a:p>
        </p:txBody>
      </p:sp>
      <p:sp>
        <p:nvSpPr>
          <p:cNvPr id="14" name="TextBox 13"/>
          <p:cNvSpPr txBox="1"/>
          <p:nvPr/>
        </p:nvSpPr>
        <p:spPr>
          <a:xfrm>
            <a:off x="6062472" y="1527048"/>
            <a:ext cx="340156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Review charge period, customer, amount and status; identify items ready for invoicing or needing action.</a:t>
            </a:r>
          </a:p>
        </p:txBody>
      </p:sp>
      <p:sp>
        <p:nvSpPr>
          <p:cNvPr id="15" name="TextBox 14"/>
          <p:cNvSpPr txBox="1"/>
          <p:nvPr/>
        </p:nvSpPr>
        <p:spPr>
          <a:xfrm>
            <a:off x="9646920" y="1545336"/>
            <a:ext cx="1874519" cy="640080"/>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400" b="1">
                <a:solidFill>
                  <a:srgbClr val="586070"/>
                </a:solidFill>
                <a:latin typeface="Aptos"/>
              </a:rPr>
              <a:t>Billing readiness
and clear next steps</a:t>
            </a:r>
          </a:p>
        </p:txBody>
      </p:sp>
      <p:sp>
        <p:nvSpPr>
          <p:cNvPr id="16" name="Rectangle 15"/>
          <p:cNvSpPr/>
          <p:nvPr/>
        </p:nvSpPr>
        <p:spPr>
          <a:xfrm>
            <a:off x="566928" y="2345436"/>
            <a:ext cx="10954512" cy="10972"/>
          </a:xfrm>
          <a:prstGeom prst="rect">
            <a:avLst/>
          </a:prstGeom>
          <a:solidFill>
            <a:srgbClr val="D3D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551176"/>
            <a:ext cx="384048" cy="438912"/>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800" b="1">
                <a:solidFill>
                  <a:srgbClr val="E2231A"/>
                </a:solidFill>
                <a:latin typeface="Aptos"/>
              </a:rPr>
              <a:t>02</a:t>
            </a:r>
          </a:p>
        </p:txBody>
      </p:sp>
      <p:sp>
        <p:nvSpPr>
          <p:cNvPr id="18" name="TextBox 17"/>
          <p:cNvSpPr txBox="1"/>
          <p:nvPr/>
        </p:nvSpPr>
        <p:spPr>
          <a:xfrm>
            <a:off x="987552" y="2487168"/>
            <a:ext cx="1938528" cy="658368"/>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650" b="1">
                <a:solidFill>
                  <a:srgbClr val="1B2434"/>
                </a:solidFill>
                <a:latin typeface="Aptos"/>
              </a:rPr>
              <a:t>Invoice
Document</a:t>
            </a:r>
          </a:p>
        </p:txBody>
      </p:sp>
      <p:sp>
        <p:nvSpPr>
          <p:cNvPr id="19" name="TextBox 18"/>
          <p:cNvSpPr txBox="1"/>
          <p:nvPr/>
        </p:nvSpPr>
        <p:spPr>
          <a:xfrm>
            <a:off x="3044952" y="2478024"/>
            <a:ext cx="285292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Use the formal billing document generated from billable items.</a:t>
            </a:r>
          </a:p>
        </p:txBody>
      </p:sp>
      <p:sp>
        <p:nvSpPr>
          <p:cNvPr id="20" name="TextBox 19"/>
          <p:cNvSpPr txBox="1"/>
          <p:nvPr/>
        </p:nvSpPr>
        <p:spPr>
          <a:xfrm>
            <a:off x="6062472" y="2478024"/>
            <a:ext cx="340156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Review customer, company code, period, amount, tax, currency and references for communication and SAP posting.</a:t>
            </a:r>
          </a:p>
        </p:txBody>
      </p:sp>
      <p:sp>
        <p:nvSpPr>
          <p:cNvPr id="21" name="TextBox 20"/>
          <p:cNvSpPr txBox="1"/>
          <p:nvPr/>
        </p:nvSpPr>
        <p:spPr>
          <a:xfrm>
            <a:off x="9646920" y="2496312"/>
            <a:ext cx="1874519" cy="640080"/>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400" b="1">
                <a:solidFill>
                  <a:srgbClr val="586070"/>
                </a:solidFill>
                <a:latin typeface="Aptos"/>
              </a:rPr>
              <a:t>Official invoice
and accounting basis</a:t>
            </a:r>
          </a:p>
        </p:txBody>
      </p:sp>
      <p:sp>
        <p:nvSpPr>
          <p:cNvPr id="22" name="Rectangle 21"/>
          <p:cNvSpPr/>
          <p:nvPr/>
        </p:nvSpPr>
        <p:spPr>
          <a:xfrm>
            <a:off x="566928" y="3296412"/>
            <a:ext cx="10954512" cy="10972"/>
          </a:xfrm>
          <a:prstGeom prst="rect">
            <a:avLst/>
          </a:prstGeom>
          <a:solidFill>
            <a:srgbClr val="D3D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3502152"/>
            <a:ext cx="384048" cy="438912"/>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800" b="1">
                <a:solidFill>
                  <a:srgbClr val="E2231A"/>
                </a:solidFill>
                <a:latin typeface="Aptos"/>
              </a:rPr>
              <a:t>03</a:t>
            </a:r>
          </a:p>
        </p:txBody>
      </p:sp>
      <p:sp>
        <p:nvSpPr>
          <p:cNvPr id="24" name="TextBox 23"/>
          <p:cNvSpPr txBox="1"/>
          <p:nvPr/>
        </p:nvSpPr>
        <p:spPr>
          <a:xfrm>
            <a:off x="987552" y="3438144"/>
            <a:ext cx="1938528" cy="658368"/>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650" b="1">
                <a:solidFill>
                  <a:srgbClr val="1B2434"/>
                </a:solidFill>
                <a:latin typeface="Aptos"/>
              </a:rPr>
              <a:t>Statement</a:t>
            </a:r>
          </a:p>
        </p:txBody>
      </p:sp>
      <p:sp>
        <p:nvSpPr>
          <p:cNvPr id="25" name="TextBox 24"/>
          <p:cNvSpPr txBox="1"/>
          <p:nvPr/>
        </p:nvSpPr>
        <p:spPr>
          <a:xfrm>
            <a:off x="3044952" y="3429000"/>
            <a:ext cx="285292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Review consolidated billing for a customer and billing period.</a:t>
            </a:r>
          </a:p>
        </p:txBody>
      </p:sp>
      <p:sp>
        <p:nvSpPr>
          <p:cNvPr id="26" name="TextBox 25"/>
          <p:cNvSpPr txBox="1"/>
          <p:nvPr/>
        </p:nvSpPr>
        <p:spPr>
          <a:xfrm>
            <a:off x="6062472" y="3429000"/>
            <a:ext cx="340156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Check statement numbers, amounts, tax, terms and status; approve, reject, unlock, resend or add remarks.</a:t>
            </a:r>
          </a:p>
        </p:txBody>
      </p:sp>
      <p:sp>
        <p:nvSpPr>
          <p:cNvPr id="27" name="TextBox 26"/>
          <p:cNvSpPr txBox="1"/>
          <p:nvPr/>
        </p:nvSpPr>
        <p:spPr>
          <a:xfrm>
            <a:off x="9646920" y="3447288"/>
            <a:ext cx="1874519" cy="640080"/>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400" b="1">
                <a:solidFill>
                  <a:srgbClr val="586070"/>
                </a:solidFill>
                <a:latin typeface="Aptos"/>
              </a:rPr>
              <a:t>Controlled customer
billing release</a:t>
            </a:r>
          </a:p>
        </p:txBody>
      </p:sp>
      <p:sp>
        <p:nvSpPr>
          <p:cNvPr id="28" name="Rectangle 27"/>
          <p:cNvSpPr/>
          <p:nvPr/>
        </p:nvSpPr>
        <p:spPr>
          <a:xfrm>
            <a:off x="566928" y="4247388"/>
            <a:ext cx="10954512" cy="10972"/>
          </a:xfrm>
          <a:prstGeom prst="rect">
            <a:avLst/>
          </a:prstGeom>
          <a:solidFill>
            <a:srgbClr val="D3D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4453128"/>
            <a:ext cx="384048" cy="438912"/>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800" b="1">
                <a:solidFill>
                  <a:srgbClr val="E2231A"/>
                </a:solidFill>
                <a:latin typeface="Aptos"/>
              </a:rPr>
              <a:t>04</a:t>
            </a:r>
          </a:p>
        </p:txBody>
      </p:sp>
      <p:sp>
        <p:nvSpPr>
          <p:cNvPr id="30" name="TextBox 29"/>
          <p:cNvSpPr txBox="1"/>
          <p:nvPr/>
        </p:nvSpPr>
        <p:spPr>
          <a:xfrm>
            <a:off x="987552" y="4389120"/>
            <a:ext cx="1938528" cy="658368"/>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650" b="1">
                <a:solidFill>
                  <a:srgbClr val="1B2434"/>
                </a:solidFill>
                <a:latin typeface="Aptos"/>
              </a:rPr>
              <a:t>Central Billing
Invoice</a:t>
            </a:r>
          </a:p>
        </p:txBody>
      </p:sp>
      <p:sp>
        <p:nvSpPr>
          <p:cNvPr id="31" name="TextBox 30"/>
          <p:cNvSpPr txBox="1"/>
          <p:nvPr/>
        </p:nvSpPr>
        <p:spPr>
          <a:xfrm>
            <a:off x="3044952" y="4379976"/>
            <a:ext cx="2852928" cy="427809"/>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Process central billing and final invoice creation.</a:t>
            </a:r>
          </a:p>
        </p:txBody>
      </p:sp>
      <p:sp>
        <p:nvSpPr>
          <p:cNvPr id="32" name="TextBox 31"/>
          <p:cNvSpPr txBox="1"/>
          <p:nvPr/>
        </p:nvSpPr>
        <p:spPr>
          <a:xfrm>
            <a:off x="6062472" y="4379976"/>
            <a:ext cx="340156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Review the original invoice, select AR or AP, generate Central Billing BITs, and monitor Task ID and status.</a:t>
            </a:r>
          </a:p>
        </p:txBody>
      </p:sp>
      <p:sp>
        <p:nvSpPr>
          <p:cNvPr id="33" name="TextBox 32"/>
          <p:cNvSpPr txBox="1"/>
          <p:nvPr/>
        </p:nvSpPr>
        <p:spPr>
          <a:xfrm>
            <a:off x="9646920" y="4402063"/>
            <a:ext cx="1874519" cy="632481"/>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400" b="1">
                <a:solidFill>
                  <a:srgbClr val="586070"/>
                </a:solidFill>
                <a:latin typeface="Aptos"/>
              </a:rPr>
              <a:t>Traceable </a:t>
            </a:r>
            <a:r>
              <a:rPr lang="en-US" altLang="zh-CN" sz="1400" b="1">
                <a:solidFill>
                  <a:srgbClr val="586070"/>
                </a:solidFill>
                <a:latin typeface="Aptos"/>
              </a:rPr>
              <a:t>Central billing </a:t>
            </a:r>
            <a:r>
              <a:rPr sz="1400" b="1">
                <a:solidFill>
                  <a:srgbClr val="586070"/>
                </a:solidFill>
                <a:latin typeface="Aptos"/>
              </a:rPr>
              <a:t>AR/AP
</a:t>
            </a:r>
          </a:p>
        </p:txBody>
      </p:sp>
      <p:sp>
        <p:nvSpPr>
          <p:cNvPr id="34" name="Rectangle 33"/>
          <p:cNvSpPr/>
          <p:nvPr/>
        </p:nvSpPr>
        <p:spPr>
          <a:xfrm>
            <a:off x="566928" y="5198364"/>
            <a:ext cx="10954512" cy="10972"/>
          </a:xfrm>
          <a:prstGeom prst="rect">
            <a:avLst/>
          </a:prstGeom>
          <a:solidFill>
            <a:srgbClr val="D3D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5404104"/>
            <a:ext cx="384048" cy="438912"/>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800" b="1">
                <a:solidFill>
                  <a:srgbClr val="E2231A"/>
                </a:solidFill>
                <a:latin typeface="Aptos"/>
              </a:rPr>
              <a:t>05</a:t>
            </a:r>
          </a:p>
        </p:txBody>
      </p:sp>
      <p:sp>
        <p:nvSpPr>
          <p:cNvPr id="36" name="TextBox 35"/>
          <p:cNvSpPr txBox="1"/>
          <p:nvPr/>
        </p:nvSpPr>
        <p:spPr>
          <a:xfrm>
            <a:off x="987552" y="5340096"/>
            <a:ext cx="1938528" cy="658368"/>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650" b="1">
                <a:solidFill>
                  <a:srgbClr val="1B2434"/>
                </a:solidFill>
                <a:latin typeface="Aptos"/>
              </a:rPr>
              <a:t>Invoice Reverse /
Adjustment</a:t>
            </a:r>
          </a:p>
        </p:txBody>
      </p:sp>
      <p:sp>
        <p:nvSpPr>
          <p:cNvPr id="37" name="TextBox 36"/>
          <p:cNvSpPr txBox="1"/>
          <p:nvPr/>
        </p:nvSpPr>
        <p:spPr>
          <a:xfrm>
            <a:off x="3044952" y="5330952"/>
            <a:ext cx="285292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Correct an invoice that was issued incorrectly or now needs a change.</a:t>
            </a:r>
          </a:p>
        </p:txBody>
      </p:sp>
      <p:sp>
        <p:nvSpPr>
          <p:cNvPr id="38" name="TextBox 37"/>
          <p:cNvSpPr txBox="1"/>
          <p:nvPr/>
        </p:nvSpPr>
        <p:spPr>
          <a:xfrm>
            <a:off x="6062472" y="5330952"/>
            <a:ext cx="3401568" cy="749808"/>
          </a:xfrm>
          <a:prstGeom prst="rect">
            <a:avLst/>
          </a:prstGeom>
          <a:noFill/>
        </p:spPr>
        <p:txBody>
          <a:bodyPr wrap="square" lIns="13716" tIns="9144" rIns="13716" bIns="9144" anchor="t">
            <a:spAutoFit/>
          </a:bodyPr>
          <a:lstStyle/>
          <a:p>
            <a:pPr algn="l">
              <a:lnSpc>
                <a:spcPct val="95000"/>
              </a:lnSpc>
              <a:spcBef>
                <a:spcPts val="0"/>
              </a:spcBef>
              <a:spcAft>
                <a:spcPts val="0"/>
              </a:spcAft>
            </a:pPr>
            <a:r>
              <a:rPr sz="1400" b="0">
                <a:solidFill>
                  <a:srgbClr val="1B2434"/>
                </a:solidFill>
                <a:latin typeface="Aptos"/>
              </a:rPr>
              <a:t>Find the original invoice and start reversal or adjustment; NexBill links the resulting credit or adjustment data.</a:t>
            </a:r>
          </a:p>
        </p:txBody>
      </p:sp>
      <p:sp>
        <p:nvSpPr>
          <p:cNvPr id="39" name="TextBox 38"/>
          <p:cNvSpPr txBox="1"/>
          <p:nvPr/>
        </p:nvSpPr>
        <p:spPr>
          <a:xfrm>
            <a:off x="9646920" y="5557710"/>
            <a:ext cx="1874519" cy="223138"/>
          </a:xfrm>
          <a:prstGeom prst="rect">
            <a:avLst/>
          </a:prstGeom>
          <a:noFill/>
        </p:spPr>
        <p:txBody>
          <a:bodyPr wrap="square" lIns="13716" tIns="9144" rIns="13716" bIns="9144" anchor="ctr">
            <a:spAutoFit/>
          </a:bodyPr>
          <a:lstStyle/>
          <a:p>
            <a:pPr algn="l">
              <a:lnSpc>
                <a:spcPct val="95000"/>
              </a:lnSpc>
              <a:spcBef>
                <a:spcPts val="0"/>
              </a:spcBef>
              <a:spcAft>
                <a:spcPts val="0"/>
              </a:spcAft>
            </a:pPr>
            <a:r>
              <a:rPr sz="1400" b="1">
                <a:solidFill>
                  <a:srgbClr val="586070"/>
                </a:solidFill>
                <a:latin typeface="Aptos"/>
              </a:rPr>
              <a:t>billing correction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B549-6DB9-48A5-4E74-7D0B4F315B6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52260BF-EABB-5EB5-B7E8-755E71EB1DBF}"/>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a:t>
            </a:r>
            <a:endParaRPr lang="zh-CN" altLang="en-US" sz="3400">
              <a:solidFill>
                <a:srgbClr val="000000"/>
              </a:solidFill>
              <a:latin typeface="Aptos Display" panose="020B0004020202020204" pitchFamily="34" charset="0"/>
            </a:endParaRPr>
          </a:p>
        </p:txBody>
      </p:sp>
      <p:pic>
        <p:nvPicPr>
          <p:cNvPr id="7" name="图片 6">
            <a:extLst>
              <a:ext uri="{FF2B5EF4-FFF2-40B4-BE49-F238E27FC236}">
                <a16:creationId xmlns:a16="http://schemas.microsoft.com/office/drawing/2014/main" id="{CDF7C0B4-656A-1DA2-A98C-1CEBDC3CF18B}"/>
              </a:ext>
            </a:extLst>
          </p:cNvPr>
          <p:cNvPicPr>
            <a:picLocks noChangeAspect="1"/>
          </p:cNvPicPr>
          <p:nvPr/>
        </p:nvPicPr>
        <p:blipFill>
          <a:blip r:embed="rId2"/>
          <a:stretch>
            <a:fillRect/>
          </a:stretch>
        </p:blipFill>
        <p:spPr>
          <a:xfrm>
            <a:off x="1601447" y="1568111"/>
            <a:ext cx="8292442" cy="5117992"/>
          </a:xfrm>
          <a:prstGeom prst="rect">
            <a:avLst/>
          </a:prstGeom>
        </p:spPr>
      </p:pic>
      <p:sp>
        <p:nvSpPr>
          <p:cNvPr id="4" name="Title 10">
            <a:extLst>
              <a:ext uri="{FF2B5EF4-FFF2-40B4-BE49-F238E27FC236}">
                <a16:creationId xmlns:a16="http://schemas.microsoft.com/office/drawing/2014/main" id="{71B6B5AE-2234-BF2D-0657-73B0B45ED641}"/>
              </a:ext>
            </a:extLst>
          </p:cNvPr>
          <p:cNvSpPr txBox="1">
            <a:spLocks/>
          </p:cNvSpPr>
          <p:nvPr/>
        </p:nvSpPr>
        <p:spPr>
          <a:xfrm>
            <a:off x="330200" y="857930"/>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709138597"/>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8B810-050E-4CA5-3DBA-AA850EDC0DB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0FC7889-1C96-9615-A24D-577378840074}"/>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Schedule-Search Payment Schedule</a:t>
            </a:r>
            <a:endParaRPr lang="zh-CN" altLang="en-US" sz="3400">
              <a:solidFill>
                <a:srgbClr val="000000"/>
              </a:solidFill>
              <a:latin typeface="Aptos Display" panose="020B0004020202020204" pitchFamily="34" charset="0"/>
            </a:endParaRPr>
          </a:p>
        </p:txBody>
      </p:sp>
      <p:sp>
        <p:nvSpPr>
          <p:cNvPr id="48" name="Text 41">
            <a:extLst>
              <a:ext uri="{FF2B5EF4-FFF2-40B4-BE49-F238E27FC236}">
                <a16:creationId xmlns:a16="http://schemas.microsoft.com/office/drawing/2014/main" id="{EE0FBE19-9436-8DEF-E37F-4DAA9350C422}"/>
              </a:ext>
            </a:extLst>
          </p:cNvPr>
          <p:cNvSpPr txBox="1"/>
          <p:nvPr/>
        </p:nvSpPr>
        <p:spPr>
          <a:xfrm>
            <a:off x="9183505" y="4452640"/>
            <a:ext cx="3395167" cy="512064"/>
          </a:xfrm>
          <a:prstGeom prst="rect">
            <a:avLst/>
          </a:prstGeom>
          <a:noFill/>
          <a:ln/>
        </p:spPr>
        <p:txBody>
          <a:bodyPr wrap="square" lIns="0" tIns="0" rIns="0" bIns="0" rtlCol="0" anchor="t"/>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Action buttons.</a:t>
            </a:r>
            <a:endParaRPr lang="en-US" sz="900"/>
          </a:p>
        </p:txBody>
      </p:sp>
      <p:sp>
        <p:nvSpPr>
          <p:cNvPr id="82" name="Shape 21">
            <a:extLst>
              <a:ext uri="{FF2B5EF4-FFF2-40B4-BE49-F238E27FC236}">
                <a16:creationId xmlns:a16="http://schemas.microsoft.com/office/drawing/2014/main" id="{07C8C8A9-D21F-9EE0-C789-33BECEAD6ABC}"/>
              </a:ext>
            </a:extLst>
          </p:cNvPr>
          <p:cNvSpPr/>
          <p:nvPr/>
        </p:nvSpPr>
        <p:spPr>
          <a:xfrm>
            <a:off x="8803681" y="1975943"/>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84" name="Text 22">
            <a:extLst>
              <a:ext uri="{FF2B5EF4-FFF2-40B4-BE49-F238E27FC236}">
                <a16:creationId xmlns:a16="http://schemas.microsoft.com/office/drawing/2014/main" id="{4B4CF78B-6325-E766-673D-19DB31CBEC5C}"/>
              </a:ext>
            </a:extLst>
          </p:cNvPr>
          <p:cNvSpPr txBox="1"/>
          <p:nvPr/>
        </p:nvSpPr>
        <p:spPr>
          <a:xfrm>
            <a:off x="8803681" y="1975943"/>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1</a:t>
            </a:r>
            <a:endParaRPr lang="en-US" sz="1200" b="1">
              <a:solidFill>
                <a:srgbClr val="FFFFFF"/>
              </a:solidFill>
              <a:latin typeface="Aptos" panose="020B0004020202020204" pitchFamily="34" charset="0"/>
            </a:endParaRPr>
          </a:p>
        </p:txBody>
      </p:sp>
      <p:sp>
        <p:nvSpPr>
          <p:cNvPr id="86" name="Text 23">
            <a:extLst>
              <a:ext uri="{FF2B5EF4-FFF2-40B4-BE49-F238E27FC236}">
                <a16:creationId xmlns:a16="http://schemas.microsoft.com/office/drawing/2014/main" id="{C3E3C2C2-DEA1-6270-7F0D-2CA0EAA1D876}"/>
              </a:ext>
            </a:extLst>
          </p:cNvPr>
          <p:cNvSpPr txBox="1"/>
          <p:nvPr/>
        </p:nvSpPr>
        <p:spPr>
          <a:xfrm>
            <a:off x="9129135" y="2016647"/>
            <a:ext cx="3395167" cy="512064"/>
          </a:xfrm>
          <a:prstGeom prst="rect">
            <a:avLst/>
          </a:prstGeom>
          <a:noFill/>
          <a:ln/>
        </p:spPr>
        <p:txBody>
          <a:bodyPr wrap="square" lIns="50800" tIns="25400" rIns="50800" bIns="25400" rtlCol="0" anchor="t"/>
          <a:lstStyle/>
          <a:p>
            <a:pPr marL="0" indent="0">
              <a:lnSpc>
                <a:spcPts val="1188"/>
              </a:lnSpc>
              <a:buNone/>
            </a:pPr>
            <a:r>
              <a:rPr lang="en-US" sz="900">
                <a:solidFill>
                  <a:srgbClr val="1B2434"/>
                </a:solidFill>
                <a:latin typeface="Aptos" panose="020B0004020202020204" pitchFamily="34" charset="0"/>
                <a:ea typeface="Calibri" pitchFamily="34" charset="-122"/>
                <a:cs typeface="Calibri" pitchFamily="34" charset="-120"/>
              </a:rPr>
              <a:t>Page title: “Search: Payment Schedule and Manual Invoicing”.</a:t>
            </a:r>
            <a:endParaRPr lang="en-US" sz="900">
              <a:solidFill>
                <a:srgbClr val="1B2434"/>
              </a:solidFill>
              <a:latin typeface="Aptos" panose="020B0004020202020204" pitchFamily="34" charset="0"/>
            </a:endParaRPr>
          </a:p>
        </p:txBody>
      </p:sp>
      <p:sp>
        <p:nvSpPr>
          <p:cNvPr id="92" name="Text 26">
            <a:extLst>
              <a:ext uri="{FF2B5EF4-FFF2-40B4-BE49-F238E27FC236}">
                <a16:creationId xmlns:a16="http://schemas.microsoft.com/office/drawing/2014/main" id="{1B057BFD-CDE3-2FEF-B107-6D9278B367D1}"/>
              </a:ext>
            </a:extLst>
          </p:cNvPr>
          <p:cNvSpPr txBox="1"/>
          <p:nvPr/>
        </p:nvSpPr>
        <p:spPr>
          <a:xfrm>
            <a:off x="9129135" y="2440945"/>
            <a:ext cx="3395167" cy="512064"/>
          </a:xfrm>
          <a:prstGeom prst="rect">
            <a:avLst/>
          </a:prstGeom>
          <a:noFill/>
          <a:ln/>
        </p:spPr>
        <p:txBody>
          <a:bodyPr wrap="square" lIns="50800" tIns="25400" rIns="50800" bIns="25400" rtlCol="0" anchor="t"/>
          <a:lstStyle/>
          <a:p>
            <a:pPr marL="0" indent="0">
              <a:lnSpc>
                <a:spcPts val="1188"/>
              </a:lnSpc>
              <a:buNone/>
            </a:pPr>
            <a:r>
              <a:rPr lang="en-US" sz="900">
                <a:solidFill>
                  <a:srgbClr val="1B2434"/>
                </a:solidFill>
                <a:latin typeface="Aptos" panose="020B0004020202020204" pitchFamily="34" charset="0"/>
                <a:ea typeface="Calibri" pitchFamily="34" charset="-122"/>
                <a:cs typeface="Calibri" pitchFamily="34" charset="-120"/>
              </a:rPr>
              <a:t>Filter conditions — field name, operator, value.</a:t>
            </a:r>
            <a:endParaRPr lang="en-US" sz="900">
              <a:solidFill>
                <a:srgbClr val="1B2434"/>
              </a:solidFill>
              <a:latin typeface="Aptos" panose="020B0004020202020204" pitchFamily="34" charset="0"/>
            </a:endParaRPr>
          </a:p>
        </p:txBody>
      </p:sp>
      <p:sp>
        <p:nvSpPr>
          <p:cNvPr id="94" name="Shape 27">
            <a:extLst>
              <a:ext uri="{FF2B5EF4-FFF2-40B4-BE49-F238E27FC236}">
                <a16:creationId xmlns:a16="http://schemas.microsoft.com/office/drawing/2014/main" id="{40BC1A04-7939-C92B-B172-20983B586EF0}"/>
              </a:ext>
            </a:extLst>
          </p:cNvPr>
          <p:cNvSpPr/>
          <p:nvPr/>
        </p:nvSpPr>
        <p:spPr>
          <a:xfrm>
            <a:off x="8803681" y="273460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96" name="Text 28">
            <a:extLst>
              <a:ext uri="{FF2B5EF4-FFF2-40B4-BE49-F238E27FC236}">
                <a16:creationId xmlns:a16="http://schemas.microsoft.com/office/drawing/2014/main" id="{FB2EE951-73A2-9F99-0811-29896BB06399}"/>
              </a:ext>
            </a:extLst>
          </p:cNvPr>
          <p:cNvSpPr txBox="1"/>
          <p:nvPr/>
        </p:nvSpPr>
        <p:spPr>
          <a:xfrm>
            <a:off x="8803681" y="2734607"/>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3</a:t>
            </a:r>
            <a:endParaRPr lang="en-US" sz="1200" b="1">
              <a:solidFill>
                <a:srgbClr val="FFFFFF"/>
              </a:solidFill>
              <a:latin typeface="Aptos" panose="020B0004020202020204" pitchFamily="34" charset="0"/>
            </a:endParaRPr>
          </a:p>
        </p:txBody>
      </p:sp>
      <p:sp>
        <p:nvSpPr>
          <p:cNvPr id="98" name="Text 29">
            <a:extLst>
              <a:ext uri="{FF2B5EF4-FFF2-40B4-BE49-F238E27FC236}">
                <a16:creationId xmlns:a16="http://schemas.microsoft.com/office/drawing/2014/main" id="{E77DFFBE-96B4-9C55-0850-02358CAB66A6}"/>
              </a:ext>
            </a:extLst>
          </p:cNvPr>
          <p:cNvSpPr txBox="1"/>
          <p:nvPr/>
        </p:nvSpPr>
        <p:spPr>
          <a:xfrm>
            <a:off x="9129135" y="2773243"/>
            <a:ext cx="3395167" cy="512064"/>
          </a:xfrm>
          <a:prstGeom prst="rect">
            <a:avLst/>
          </a:prstGeom>
          <a:noFill/>
          <a:ln/>
        </p:spPr>
        <p:txBody>
          <a:bodyPr wrap="square" lIns="50800" tIns="25400" rIns="50800" bIns="25400" rtlCol="0" anchor="t"/>
          <a:lstStyle/>
          <a:p>
            <a:pPr marL="0" indent="0">
              <a:lnSpc>
                <a:spcPts val="1188"/>
              </a:lnSpc>
              <a:buNone/>
            </a:pPr>
            <a:r>
              <a:rPr lang="en-US" sz="900">
                <a:solidFill>
                  <a:srgbClr val="1B2434"/>
                </a:solidFill>
                <a:latin typeface="Aptos" panose="020B0004020202020204" pitchFamily="34" charset="0"/>
                <a:ea typeface="Calibri" pitchFamily="34" charset="-122"/>
                <a:cs typeface="Calibri" pitchFamily="34" charset="-120"/>
              </a:rPr>
              <a:t>+ add a condition field, × removes condition field.</a:t>
            </a:r>
            <a:endParaRPr lang="en-US" sz="900">
              <a:solidFill>
                <a:srgbClr val="1B2434"/>
              </a:solidFill>
              <a:latin typeface="Aptos" panose="020B0004020202020204" pitchFamily="34" charset="0"/>
            </a:endParaRPr>
          </a:p>
        </p:txBody>
      </p:sp>
      <p:sp>
        <p:nvSpPr>
          <p:cNvPr id="100" name="Shape 30">
            <a:extLst>
              <a:ext uri="{FF2B5EF4-FFF2-40B4-BE49-F238E27FC236}">
                <a16:creationId xmlns:a16="http://schemas.microsoft.com/office/drawing/2014/main" id="{AA63E8D1-4CD6-6A7D-7ED8-05E10C7FA73A}"/>
              </a:ext>
            </a:extLst>
          </p:cNvPr>
          <p:cNvSpPr/>
          <p:nvPr/>
        </p:nvSpPr>
        <p:spPr>
          <a:xfrm>
            <a:off x="8803681" y="3104632"/>
            <a:ext cx="256032" cy="256032"/>
          </a:xfrm>
          <a:prstGeom prst="ellipse">
            <a:avLst/>
          </a:prstGeom>
          <a:solidFill>
            <a:srgbClr val="C00000"/>
          </a:solidFill>
          <a:ln w="15875">
            <a:solidFill>
              <a:srgbClr val="FFFFFF"/>
            </a:solidFill>
            <a:prstDash val="solid"/>
          </a:ln>
        </p:spPr>
        <p:txBody>
          <a:bodyPr/>
          <a:lstStyle/>
          <a:p>
            <a:endParaRPr lang="zh-CN" altLang="en-US"/>
          </a:p>
        </p:txBody>
      </p:sp>
      <p:sp>
        <p:nvSpPr>
          <p:cNvPr id="104" name="Text 32">
            <a:extLst>
              <a:ext uri="{FF2B5EF4-FFF2-40B4-BE49-F238E27FC236}">
                <a16:creationId xmlns:a16="http://schemas.microsoft.com/office/drawing/2014/main" id="{5605C894-4D95-1BB4-E056-651BEA3FECA9}"/>
              </a:ext>
            </a:extLst>
          </p:cNvPr>
          <p:cNvSpPr txBox="1"/>
          <p:nvPr/>
        </p:nvSpPr>
        <p:spPr>
          <a:xfrm>
            <a:off x="9129135" y="3151566"/>
            <a:ext cx="3395167" cy="594322"/>
          </a:xfrm>
          <a:prstGeom prst="rect">
            <a:avLst/>
          </a:prstGeom>
          <a:noFill/>
          <a:ln/>
        </p:spPr>
        <p:txBody>
          <a:bodyPr wrap="square" lIns="50800" tIns="25400" rIns="50800" bIns="25400" rtlCol="0" anchor="t"/>
          <a:lstStyle/>
          <a:p>
            <a:pPr marL="0" indent="0">
              <a:lnSpc>
                <a:spcPts val="1188"/>
              </a:lnSpc>
              <a:buNone/>
            </a:pPr>
            <a:r>
              <a:rPr lang="en-US" sz="900">
                <a:solidFill>
                  <a:srgbClr val="1B2434"/>
                </a:solidFill>
                <a:latin typeface="Aptos" panose="020B0004020202020204" pitchFamily="34" charset="0"/>
                <a:ea typeface="Calibri" pitchFamily="34" charset="-122"/>
                <a:cs typeface="Calibri" pitchFamily="34" charset="-120"/>
              </a:rPr>
              <a:t>Save Search As / My Searches: store the filter you use daily.</a:t>
            </a:r>
            <a:endParaRPr lang="en-US" sz="900">
              <a:solidFill>
                <a:srgbClr val="1B2434"/>
              </a:solidFill>
              <a:latin typeface="Aptos" panose="020B0004020202020204" pitchFamily="34" charset="0"/>
            </a:endParaRPr>
          </a:p>
        </p:txBody>
      </p:sp>
      <p:sp>
        <p:nvSpPr>
          <p:cNvPr id="106" name="Shape 33">
            <a:extLst>
              <a:ext uri="{FF2B5EF4-FFF2-40B4-BE49-F238E27FC236}">
                <a16:creationId xmlns:a16="http://schemas.microsoft.com/office/drawing/2014/main" id="{4F09DD46-2461-76E5-A8B5-E0D496F0093C}"/>
              </a:ext>
            </a:extLst>
          </p:cNvPr>
          <p:cNvSpPr/>
          <p:nvPr/>
        </p:nvSpPr>
        <p:spPr>
          <a:xfrm>
            <a:off x="8803681" y="3547872"/>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08" name="Text 34">
            <a:extLst>
              <a:ext uri="{FF2B5EF4-FFF2-40B4-BE49-F238E27FC236}">
                <a16:creationId xmlns:a16="http://schemas.microsoft.com/office/drawing/2014/main" id="{CA81DE7A-4B7A-97A5-C1A7-5A429CF37065}"/>
              </a:ext>
            </a:extLst>
          </p:cNvPr>
          <p:cNvSpPr txBox="1"/>
          <p:nvPr/>
        </p:nvSpPr>
        <p:spPr>
          <a:xfrm>
            <a:off x="8809360" y="3556164"/>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5</a:t>
            </a:r>
            <a:endParaRPr lang="en-US" sz="1200" b="1">
              <a:solidFill>
                <a:srgbClr val="FFFFFF"/>
              </a:solidFill>
              <a:latin typeface="Aptos" panose="020B0004020202020204" pitchFamily="34" charset="0"/>
            </a:endParaRPr>
          </a:p>
        </p:txBody>
      </p:sp>
      <p:sp>
        <p:nvSpPr>
          <p:cNvPr id="110" name="Text 35">
            <a:extLst>
              <a:ext uri="{FF2B5EF4-FFF2-40B4-BE49-F238E27FC236}">
                <a16:creationId xmlns:a16="http://schemas.microsoft.com/office/drawing/2014/main" id="{3830F875-4005-B767-DE82-1E7EB714CECC}"/>
              </a:ext>
            </a:extLst>
          </p:cNvPr>
          <p:cNvSpPr txBox="1"/>
          <p:nvPr/>
        </p:nvSpPr>
        <p:spPr>
          <a:xfrm>
            <a:off x="9129135" y="3608240"/>
            <a:ext cx="3395167" cy="512064"/>
          </a:xfrm>
          <a:prstGeom prst="rect">
            <a:avLst/>
          </a:prstGeom>
          <a:noFill/>
          <a:ln/>
        </p:spPr>
        <p:txBody>
          <a:bodyPr wrap="square" lIns="50800" tIns="25400" rIns="50800" bIns="25400" rtlCol="0" anchor="t"/>
          <a:lstStyle/>
          <a:p>
            <a:pPr marL="0" indent="0">
              <a:lnSpc>
                <a:spcPts val="1188"/>
              </a:lnSpc>
              <a:buNone/>
            </a:pPr>
            <a:r>
              <a:rPr lang="en-US" sz="900">
                <a:solidFill>
                  <a:srgbClr val="1B2434"/>
                </a:solidFill>
                <a:latin typeface="Aptos" panose="020B0004020202020204" pitchFamily="34" charset="0"/>
                <a:ea typeface="Calibri" pitchFamily="34" charset="-122"/>
                <a:cs typeface="Calibri" pitchFamily="34" charset="-120"/>
              </a:rPr>
              <a:t>Clear empties results and condition; Search the results list</a:t>
            </a:r>
            <a:endParaRPr lang="en-US" sz="900">
              <a:solidFill>
                <a:srgbClr val="1B2434"/>
              </a:solidFill>
              <a:latin typeface="Aptos" panose="020B0004020202020204" pitchFamily="34" charset="0"/>
            </a:endParaRPr>
          </a:p>
        </p:txBody>
      </p:sp>
      <p:sp>
        <p:nvSpPr>
          <p:cNvPr id="112" name="Shape 36">
            <a:extLst>
              <a:ext uri="{FF2B5EF4-FFF2-40B4-BE49-F238E27FC236}">
                <a16:creationId xmlns:a16="http://schemas.microsoft.com/office/drawing/2014/main" id="{8B813E91-F7F9-1C57-97BC-F4B1D37EE18F}"/>
              </a:ext>
            </a:extLst>
          </p:cNvPr>
          <p:cNvSpPr/>
          <p:nvPr/>
        </p:nvSpPr>
        <p:spPr>
          <a:xfrm>
            <a:off x="8803681" y="4021101"/>
            <a:ext cx="256032" cy="256032"/>
          </a:xfrm>
          <a:prstGeom prst="ellipse">
            <a:avLst/>
          </a:prstGeom>
          <a:solidFill>
            <a:srgbClr val="C00000"/>
          </a:solidFill>
          <a:ln w="15875">
            <a:solidFill>
              <a:srgbClr val="FFFFFF"/>
            </a:solidFill>
            <a:prstDash val="solid"/>
          </a:ln>
        </p:spPr>
        <p:txBody>
          <a:bodyPr/>
          <a:lstStyle/>
          <a:p>
            <a:endParaRPr lang="zh-CN" altLang="en-US"/>
          </a:p>
        </p:txBody>
      </p:sp>
      <p:sp>
        <p:nvSpPr>
          <p:cNvPr id="114" name="Text 37">
            <a:extLst>
              <a:ext uri="{FF2B5EF4-FFF2-40B4-BE49-F238E27FC236}">
                <a16:creationId xmlns:a16="http://schemas.microsoft.com/office/drawing/2014/main" id="{B96BB61B-2AA4-9B84-DA46-2F4B2679CCA4}"/>
              </a:ext>
            </a:extLst>
          </p:cNvPr>
          <p:cNvSpPr txBox="1"/>
          <p:nvPr/>
        </p:nvSpPr>
        <p:spPr>
          <a:xfrm>
            <a:off x="8803681" y="4025092"/>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6</a:t>
            </a:r>
            <a:endParaRPr lang="en-US" sz="1200" b="1">
              <a:solidFill>
                <a:srgbClr val="FFFFFF"/>
              </a:solidFill>
              <a:latin typeface="Aptos" panose="020B0004020202020204" pitchFamily="34" charset="0"/>
            </a:endParaRPr>
          </a:p>
        </p:txBody>
      </p:sp>
      <p:sp>
        <p:nvSpPr>
          <p:cNvPr id="116" name="Text 38">
            <a:extLst>
              <a:ext uri="{FF2B5EF4-FFF2-40B4-BE49-F238E27FC236}">
                <a16:creationId xmlns:a16="http://schemas.microsoft.com/office/drawing/2014/main" id="{72D4663E-369B-0585-C167-5A812FFBE998}"/>
              </a:ext>
            </a:extLst>
          </p:cNvPr>
          <p:cNvSpPr txBox="1"/>
          <p:nvPr/>
        </p:nvSpPr>
        <p:spPr>
          <a:xfrm>
            <a:off x="9129135" y="4059936"/>
            <a:ext cx="3395167" cy="512064"/>
          </a:xfrm>
          <a:prstGeom prst="rect">
            <a:avLst/>
          </a:prstGeom>
          <a:noFill/>
          <a:ln/>
        </p:spPr>
        <p:txBody>
          <a:bodyPr wrap="square" lIns="50800" tIns="25400" rIns="50800" bIns="25400" rtlCol="0" anchor="t"/>
          <a:lstStyle/>
          <a:p>
            <a:pPr marL="0" indent="0">
              <a:lnSpc>
                <a:spcPts val="1188"/>
              </a:lnSpc>
              <a:buNone/>
            </a:pPr>
            <a:r>
              <a:rPr lang="en-US" sz="900">
                <a:solidFill>
                  <a:srgbClr val="1B2434"/>
                </a:solidFill>
                <a:latin typeface="Aptos" panose="020B0004020202020204" pitchFamily="34" charset="0"/>
                <a:ea typeface="Calibri" pitchFamily="34" charset="-122"/>
                <a:cs typeface="Calibri" pitchFamily="34" charset="-120"/>
              </a:rPr>
              <a:t>Three tabs: DaaS List, IaaS List, Task Request List.</a:t>
            </a:r>
            <a:endParaRPr lang="en-US" sz="900">
              <a:solidFill>
                <a:srgbClr val="1B2434"/>
              </a:solidFill>
              <a:latin typeface="Aptos" panose="020B0004020202020204" pitchFamily="34" charset="0"/>
            </a:endParaRPr>
          </a:p>
        </p:txBody>
      </p:sp>
      <p:sp>
        <p:nvSpPr>
          <p:cNvPr id="118" name="Shape 39">
            <a:extLst>
              <a:ext uri="{FF2B5EF4-FFF2-40B4-BE49-F238E27FC236}">
                <a16:creationId xmlns:a16="http://schemas.microsoft.com/office/drawing/2014/main" id="{0B5703A9-9C6D-FCBE-A41D-64CA572DEC2C}"/>
              </a:ext>
            </a:extLst>
          </p:cNvPr>
          <p:cNvSpPr/>
          <p:nvPr/>
        </p:nvSpPr>
        <p:spPr>
          <a:xfrm>
            <a:off x="8803681" y="4404856"/>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20" name="Text 40">
            <a:extLst>
              <a:ext uri="{FF2B5EF4-FFF2-40B4-BE49-F238E27FC236}">
                <a16:creationId xmlns:a16="http://schemas.microsoft.com/office/drawing/2014/main" id="{1A4F6CB7-2F97-FF98-5D74-2C16FEBA8CFA}"/>
              </a:ext>
            </a:extLst>
          </p:cNvPr>
          <p:cNvSpPr txBox="1"/>
          <p:nvPr/>
        </p:nvSpPr>
        <p:spPr>
          <a:xfrm>
            <a:off x="8803681" y="4404856"/>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7</a:t>
            </a:r>
            <a:endParaRPr lang="en-US" sz="1200" b="1">
              <a:solidFill>
                <a:srgbClr val="FFFFFF"/>
              </a:solidFill>
              <a:latin typeface="Aptos" panose="020B0004020202020204" pitchFamily="34" charset="0"/>
            </a:endParaRPr>
          </a:p>
        </p:txBody>
      </p:sp>
      <p:grpSp>
        <p:nvGrpSpPr>
          <p:cNvPr id="6" name="组合 5">
            <a:extLst>
              <a:ext uri="{FF2B5EF4-FFF2-40B4-BE49-F238E27FC236}">
                <a16:creationId xmlns:a16="http://schemas.microsoft.com/office/drawing/2014/main" id="{CFDC62CD-8366-3DB3-415F-7BAB461D3810}"/>
              </a:ext>
            </a:extLst>
          </p:cNvPr>
          <p:cNvGrpSpPr/>
          <p:nvPr/>
        </p:nvGrpSpPr>
        <p:grpSpPr>
          <a:xfrm>
            <a:off x="786572" y="1624732"/>
            <a:ext cx="7187337" cy="3245327"/>
            <a:chOff x="939843" y="1222865"/>
            <a:chExt cx="10312312" cy="3504575"/>
          </a:xfrm>
        </p:grpSpPr>
        <p:pic>
          <p:nvPicPr>
            <p:cNvPr id="5" name="图片 4">
              <a:extLst>
                <a:ext uri="{FF2B5EF4-FFF2-40B4-BE49-F238E27FC236}">
                  <a16:creationId xmlns:a16="http://schemas.microsoft.com/office/drawing/2014/main" id="{B2672635-FE64-EDDC-09E2-28311BB229EC}"/>
                </a:ext>
              </a:extLst>
            </p:cNvPr>
            <p:cNvPicPr>
              <a:picLocks noChangeAspect="1"/>
            </p:cNvPicPr>
            <p:nvPr/>
          </p:nvPicPr>
          <p:blipFill>
            <a:blip r:embed="rId3"/>
            <a:stretch>
              <a:fillRect/>
            </a:stretch>
          </p:blipFill>
          <p:spPr>
            <a:xfrm>
              <a:off x="939843" y="1222865"/>
              <a:ext cx="10312312" cy="3504575"/>
            </a:xfrm>
            <a:prstGeom prst="rect">
              <a:avLst/>
            </a:prstGeom>
          </p:spPr>
        </p:pic>
        <p:sp>
          <p:nvSpPr>
            <p:cNvPr id="58" name="Text 6">
              <a:extLst>
                <a:ext uri="{FF2B5EF4-FFF2-40B4-BE49-F238E27FC236}">
                  <a16:creationId xmlns:a16="http://schemas.microsoft.com/office/drawing/2014/main" id="{FFEA05E0-A97A-3F9A-283D-117FBA3949DF}"/>
                </a:ext>
              </a:extLst>
            </p:cNvPr>
            <p:cNvSpPr txBox="1"/>
            <p:nvPr/>
          </p:nvSpPr>
          <p:spPr>
            <a:xfrm>
              <a:off x="4516537" y="135855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 </a:t>
              </a:r>
              <a:endParaRPr lang="en-US" sz="900"/>
            </a:p>
          </p:txBody>
        </p:sp>
        <p:sp>
          <p:nvSpPr>
            <p:cNvPr id="66" name="Shape 5">
              <a:extLst>
                <a:ext uri="{FF2B5EF4-FFF2-40B4-BE49-F238E27FC236}">
                  <a16:creationId xmlns:a16="http://schemas.microsoft.com/office/drawing/2014/main" id="{4D2AEF74-267C-47B1-ACD7-8605E028B431}"/>
                </a:ext>
              </a:extLst>
            </p:cNvPr>
            <p:cNvSpPr/>
            <p:nvPr/>
          </p:nvSpPr>
          <p:spPr>
            <a:xfrm>
              <a:off x="4304358" y="2057103"/>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2</a:t>
              </a:r>
              <a:endParaRPr lang="zh-CN" altLang="en-US" sz="1000" b="1">
                <a:solidFill>
                  <a:schemeClr val="bg1"/>
                </a:solidFill>
              </a:endParaRPr>
            </a:p>
          </p:txBody>
        </p:sp>
        <p:sp>
          <p:nvSpPr>
            <p:cNvPr id="68" name="Shape 5">
              <a:extLst>
                <a:ext uri="{FF2B5EF4-FFF2-40B4-BE49-F238E27FC236}">
                  <a16:creationId xmlns:a16="http://schemas.microsoft.com/office/drawing/2014/main" id="{7BCA630F-CBEB-9164-3E58-2686DAAC6E56}"/>
                </a:ext>
              </a:extLst>
            </p:cNvPr>
            <p:cNvSpPr/>
            <p:nvPr/>
          </p:nvSpPr>
          <p:spPr>
            <a:xfrm>
              <a:off x="5975920" y="1887218"/>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3</a:t>
              </a:r>
              <a:endParaRPr lang="zh-CN" altLang="en-US" sz="1000" b="1">
                <a:solidFill>
                  <a:schemeClr val="bg1"/>
                </a:solidFill>
              </a:endParaRPr>
            </a:p>
          </p:txBody>
        </p:sp>
        <p:sp>
          <p:nvSpPr>
            <p:cNvPr id="72" name="Shape 5">
              <a:extLst>
                <a:ext uri="{FF2B5EF4-FFF2-40B4-BE49-F238E27FC236}">
                  <a16:creationId xmlns:a16="http://schemas.microsoft.com/office/drawing/2014/main" id="{99CA3DF7-3462-BE9C-5D42-1A5241DE14A5}"/>
                </a:ext>
              </a:extLst>
            </p:cNvPr>
            <p:cNvSpPr/>
            <p:nvPr/>
          </p:nvSpPr>
          <p:spPr>
            <a:xfrm>
              <a:off x="4098262" y="2701120"/>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4</a:t>
              </a:r>
              <a:endParaRPr lang="zh-CN" altLang="en-US" sz="1000" b="1">
                <a:solidFill>
                  <a:schemeClr val="bg1"/>
                </a:solidFill>
              </a:endParaRPr>
            </a:p>
          </p:txBody>
        </p:sp>
        <p:sp>
          <p:nvSpPr>
            <p:cNvPr id="74" name="Shape 5">
              <a:extLst>
                <a:ext uri="{FF2B5EF4-FFF2-40B4-BE49-F238E27FC236}">
                  <a16:creationId xmlns:a16="http://schemas.microsoft.com/office/drawing/2014/main" id="{E417D2C6-C6B7-B147-A1C9-2A9D4C12E04E}"/>
                </a:ext>
              </a:extLst>
            </p:cNvPr>
            <p:cNvSpPr/>
            <p:nvPr/>
          </p:nvSpPr>
          <p:spPr>
            <a:xfrm>
              <a:off x="10346662" y="2765494"/>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5</a:t>
              </a:r>
              <a:endParaRPr lang="zh-CN" altLang="en-US" sz="1000" b="1">
                <a:solidFill>
                  <a:schemeClr val="bg1"/>
                </a:solidFill>
              </a:endParaRPr>
            </a:p>
          </p:txBody>
        </p:sp>
        <p:sp>
          <p:nvSpPr>
            <p:cNvPr id="76" name="Shape 5">
              <a:extLst>
                <a:ext uri="{FF2B5EF4-FFF2-40B4-BE49-F238E27FC236}">
                  <a16:creationId xmlns:a16="http://schemas.microsoft.com/office/drawing/2014/main" id="{C26688F0-8623-3A55-87E2-23FB8C6B2E07}"/>
                </a:ext>
              </a:extLst>
            </p:cNvPr>
            <p:cNvSpPr/>
            <p:nvPr/>
          </p:nvSpPr>
          <p:spPr>
            <a:xfrm>
              <a:off x="3363389" y="1474935"/>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1</a:t>
              </a:r>
              <a:endParaRPr lang="zh-CN" altLang="en-US" sz="1000" b="1">
                <a:solidFill>
                  <a:schemeClr val="bg1"/>
                </a:solidFill>
              </a:endParaRPr>
            </a:p>
          </p:txBody>
        </p:sp>
        <p:sp>
          <p:nvSpPr>
            <p:cNvPr id="144" name="Shape 5">
              <a:extLst>
                <a:ext uri="{FF2B5EF4-FFF2-40B4-BE49-F238E27FC236}">
                  <a16:creationId xmlns:a16="http://schemas.microsoft.com/office/drawing/2014/main" id="{F4604AD2-4AAA-410C-81EE-8E948B936A17}"/>
                </a:ext>
              </a:extLst>
            </p:cNvPr>
            <p:cNvSpPr/>
            <p:nvPr/>
          </p:nvSpPr>
          <p:spPr>
            <a:xfrm>
              <a:off x="2721745" y="3321404"/>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6</a:t>
              </a:r>
              <a:endParaRPr lang="zh-CN" altLang="en-US" sz="1000" b="1">
                <a:solidFill>
                  <a:schemeClr val="bg1"/>
                </a:solidFill>
              </a:endParaRPr>
            </a:p>
          </p:txBody>
        </p:sp>
        <p:sp>
          <p:nvSpPr>
            <p:cNvPr id="146" name="Shape 5">
              <a:extLst>
                <a:ext uri="{FF2B5EF4-FFF2-40B4-BE49-F238E27FC236}">
                  <a16:creationId xmlns:a16="http://schemas.microsoft.com/office/drawing/2014/main" id="{0570AC5B-5467-045A-5A44-58D30C3066BD}"/>
                </a:ext>
              </a:extLst>
            </p:cNvPr>
            <p:cNvSpPr/>
            <p:nvPr/>
          </p:nvSpPr>
          <p:spPr>
            <a:xfrm>
              <a:off x="9589995" y="3333966"/>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7</a:t>
              </a:r>
              <a:endParaRPr lang="zh-CN" altLang="en-US" sz="1000" b="1">
                <a:solidFill>
                  <a:schemeClr val="bg1"/>
                </a:solidFill>
              </a:endParaRPr>
            </a:p>
          </p:txBody>
        </p:sp>
      </p:grpSp>
      <p:sp>
        <p:nvSpPr>
          <p:cNvPr id="12" name="Title 10">
            <a:extLst>
              <a:ext uri="{FF2B5EF4-FFF2-40B4-BE49-F238E27FC236}">
                <a16:creationId xmlns:a16="http://schemas.microsoft.com/office/drawing/2014/main" id="{60F1EB8F-7C32-0985-171E-148D81EAF1C8}"/>
              </a:ext>
            </a:extLst>
          </p:cNvPr>
          <p:cNvSpPr txBox="1">
            <a:spLocks/>
          </p:cNvSpPr>
          <p:nvPr/>
        </p:nvSpPr>
        <p:spPr>
          <a:xfrm>
            <a:off x="330200" y="857930"/>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
        <p:nvSpPr>
          <p:cNvPr id="16" name="Text 37">
            <a:extLst>
              <a:ext uri="{FF2B5EF4-FFF2-40B4-BE49-F238E27FC236}">
                <a16:creationId xmlns:a16="http://schemas.microsoft.com/office/drawing/2014/main" id="{F0424756-DEEB-EB9F-86B0-DBE13A716533}"/>
              </a:ext>
            </a:extLst>
          </p:cNvPr>
          <p:cNvSpPr txBox="1"/>
          <p:nvPr/>
        </p:nvSpPr>
        <p:spPr>
          <a:xfrm>
            <a:off x="8803681" y="3117254"/>
            <a:ext cx="244800" cy="230005"/>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4</a:t>
            </a:r>
          </a:p>
        </p:txBody>
      </p:sp>
      <p:sp>
        <p:nvSpPr>
          <p:cNvPr id="17" name="矩形 16">
            <a:extLst>
              <a:ext uri="{FF2B5EF4-FFF2-40B4-BE49-F238E27FC236}">
                <a16:creationId xmlns:a16="http://schemas.microsoft.com/office/drawing/2014/main" id="{DF966CF2-218F-AAF4-1B28-034DE3D8F646}"/>
              </a:ext>
            </a:extLst>
          </p:cNvPr>
          <p:cNvSpPr/>
          <p:nvPr/>
        </p:nvSpPr>
        <p:spPr bwMode="auto">
          <a:xfrm>
            <a:off x="4680155" y="3864272"/>
            <a:ext cx="3651947" cy="285528"/>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2" name="Text 22">
            <a:extLst>
              <a:ext uri="{FF2B5EF4-FFF2-40B4-BE49-F238E27FC236}">
                <a16:creationId xmlns:a16="http://schemas.microsoft.com/office/drawing/2014/main" id="{5CF778FE-C0C6-FE6D-0259-AC063B5302CE}"/>
              </a:ext>
            </a:extLst>
          </p:cNvPr>
          <p:cNvSpPr txBox="1"/>
          <p:nvPr/>
        </p:nvSpPr>
        <p:spPr>
          <a:xfrm>
            <a:off x="8803681" y="2364582"/>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2</a:t>
            </a:r>
            <a:endParaRPr lang="en-US" sz="1200" b="1">
              <a:solidFill>
                <a:srgbClr val="FFFFFF"/>
              </a:solidFill>
              <a:latin typeface="Aptos" panose="020B0004020202020204" pitchFamily="34" charset="0"/>
            </a:endParaRPr>
          </a:p>
        </p:txBody>
      </p:sp>
    </p:spTree>
    <p:extLst>
      <p:ext uri="{BB962C8B-B14F-4D97-AF65-F5344CB8AC3E}">
        <p14:creationId xmlns:p14="http://schemas.microsoft.com/office/powerpoint/2010/main" val="194711155"/>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F444-8B9F-2066-4A6D-939A419EE72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55663CB-9AAA-7146-D316-3275A421A891}"/>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Schedule-Search Payment Schedule</a:t>
            </a:r>
            <a:endParaRPr lang="zh-CN" altLang="en-US" sz="3400">
              <a:solidFill>
                <a:srgbClr val="000000"/>
              </a:solidFill>
              <a:latin typeface="Aptos Display" panose="020B0004020202020204" pitchFamily="34" charset="0"/>
            </a:endParaRPr>
          </a:p>
        </p:txBody>
      </p:sp>
      <p:pic>
        <p:nvPicPr>
          <p:cNvPr id="6" name="图片 5">
            <a:extLst>
              <a:ext uri="{FF2B5EF4-FFF2-40B4-BE49-F238E27FC236}">
                <a16:creationId xmlns:a16="http://schemas.microsoft.com/office/drawing/2014/main" id="{37039190-9858-F753-35BF-C8FEEA04E44A}"/>
              </a:ext>
            </a:extLst>
          </p:cNvPr>
          <p:cNvPicPr>
            <a:picLocks noChangeAspect="1"/>
          </p:cNvPicPr>
          <p:nvPr/>
        </p:nvPicPr>
        <p:blipFill>
          <a:blip r:embed="rId2"/>
          <a:stretch>
            <a:fillRect/>
          </a:stretch>
        </p:blipFill>
        <p:spPr>
          <a:xfrm>
            <a:off x="403424" y="1764751"/>
            <a:ext cx="7792550" cy="3059185"/>
          </a:xfrm>
          <a:prstGeom prst="rect">
            <a:avLst/>
          </a:prstGeom>
        </p:spPr>
      </p:pic>
      <p:sp>
        <p:nvSpPr>
          <p:cNvPr id="9" name="Text 47">
            <a:extLst>
              <a:ext uri="{FF2B5EF4-FFF2-40B4-BE49-F238E27FC236}">
                <a16:creationId xmlns:a16="http://schemas.microsoft.com/office/drawing/2014/main" id="{8E28814D-AF92-C42C-7903-8E7E48D77737}"/>
              </a:ext>
            </a:extLst>
          </p:cNvPr>
          <p:cNvSpPr txBox="1"/>
          <p:nvPr/>
        </p:nvSpPr>
        <p:spPr>
          <a:xfrm>
            <a:off x="8465575" y="1645751"/>
            <a:ext cx="2959509" cy="851642"/>
          </a:xfrm>
          <a:prstGeom prst="rect">
            <a:avLst/>
          </a:prstGeom>
          <a:noFill/>
          <a:ln/>
        </p:spPr>
        <p:txBody>
          <a:bodyPr wrap="square" lIns="50800" tIns="25400" rIns="50800" bIns="25400" rtlCol="0" anchor="ctr"/>
          <a:lstStyle/>
          <a:p>
            <a:pPr>
              <a:lnSpc>
                <a:spcPts val="1450"/>
              </a:lnSpc>
            </a:pPr>
            <a:r>
              <a:rPr lang="zh-CN" altLang="zh-CN" sz="1500">
                <a:solidFill>
                  <a:srgbClr val="1B2434"/>
                </a:solidFill>
                <a:latin typeface="Aptos" panose="020B0004020202020204" pitchFamily="34" charset="0"/>
              </a:rPr>
              <a:t>Click the "+" button, then </a:t>
            </a:r>
            <a:r>
              <a:rPr lang="en-US" altLang="zh-CN" sz="1500">
                <a:solidFill>
                  <a:srgbClr val="1B2434"/>
                </a:solidFill>
                <a:latin typeface="Aptos" panose="020B0004020202020204" pitchFamily="34" charset="0"/>
              </a:rPr>
              <a:t>add the search condition field. And you can choose from the field List.</a:t>
            </a:r>
            <a:endParaRPr lang="en-US" sz="1500">
              <a:solidFill>
                <a:srgbClr val="1B2434"/>
              </a:solidFill>
              <a:latin typeface="Aptos" panose="020B0004020202020204" pitchFamily="34" charset="0"/>
            </a:endParaRPr>
          </a:p>
        </p:txBody>
      </p:sp>
      <p:sp>
        <p:nvSpPr>
          <p:cNvPr id="5" name="Title 10">
            <a:extLst>
              <a:ext uri="{FF2B5EF4-FFF2-40B4-BE49-F238E27FC236}">
                <a16:creationId xmlns:a16="http://schemas.microsoft.com/office/drawing/2014/main" id="{4994F746-4E4B-948C-82D2-10A9C4B93533}"/>
              </a:ext>
            </a:extLst>
          </p:cNvPr>
          <p:cNvSpPr txBox="1">
            <a:spLocks/>
          </p:cNvSpPr>
          <p:nvPr/>
        </p:nvSpPr>
        <p:spPr>
          <a:xfrm>
            <a:off x="330200" y="857930"/>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015559720"/>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65561-E5ED-169A-F97E-606595E4AE2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664C16-289B-C398-7EF8-DB9D368FC9CB}"/>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Schedule-Search Payment Schedule</a:t>
            </a:r>
            <a:endParaRPr lang="zh-CN" altLang="en-US" sz="3400">
              <a:solidFill>
                <a:srgbClr val="000000"/>
              </a:solidFill>
              <a:latin typeface="Aptos Display" panose="020B0004020202020204" pitchFamily="34" charset="0"/>
            </a:endParaRPr>
          </a:p>
        </p:txBody>
      </p:sp>
      <p:sp>
        <p:nvSpPr>
          <p:cNvPr id="9" name="Text 47">
            <a:extLst>
              <a:ext uri="{FF2B5EF4-FFF2-40B4-BE49-F238E27FC236}">
                <a16:creationId xmlns:a16="http://schemas.microsoft.com/office/drawing/2014/main" id="{5626393A-3206-9EC2-A1E8-AEF193713EBA}"/>
              </a:ext>
            </a:extLst>
          </p:cNvPr>
          <p:cNvSpPr txBox="1"/>
          <p:nvPr/>
        </p:nvSpPr>
        <p:spPr>
          <a:xfrm>
            <a:off x="8465575" y="1645751"/>
            <a:ext cx="2959509" cy="851642"/>
          </a:xfrm>
          <a:prstGeom prst="rect">
            <a:avLst/>
          </a:prstGeom>
          <a:noFill/>
          <a:ln/>
        </p:spPr>
        <p:txBody>
          <a:bodyPr wrap="square" lIns="0" tIns="0" rIns="0" bIns="0" rtlCol="0" anchor="ctr"/>
          <a:lstStyle/>
          <a:p>
            <a:pPr>
              <a:lnSpc>
                <a:spcPts val="1450"/>
              </a:lnSpc>
            </a:pPr>
            <a:endParaRPr lang="en-US" sz="1500"/>
          </a:p>
        </p:txBody>
      </p:sp>
      <p:sp>
        <p:nvSpPr>
          <p:cNvPr id="5" name="Title 10">
            <a:extLst>
              <a:ext uri="{FF2B5EF4-FFF2-40B4-BE49-F238E27FC236}">
                <a16:creationId xmlns:a16="http://schemas.microsoft.com/office/drawing/2014/main" id="{5278523C-25DC-257B-D0B1-614B5E53BE60}"/>
              </a:ext>
            </a:extLst>
          </p:cNvPr>
          <p:cNvSpPr txBox="1">
            <a:spLocks/>
          </p:cNvSpPr>
          <p:nvPr/>
        </p:nvSpPr>
        <p:spPr>
          <a:xfrm>
            <a:off x="330200" y="857930"/>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pic>
        <p:nvPicPr>
          <p:cNvPr id="4" name="图片 3">
            <a:extLst>
              <a:ext uri="{FF2B5EF4-FFF2-40B4-BE49-F238E27FC236}">
                <a16:creationId xmlns:a16="http://schemas.microsoft.com/office/drawing/2014/main" id="{BF5F171F-11DB-9FA7-6BA0-E42300CBCD3C}"/>
              </a:ext>
            </a:extLst>
          </p:cNvPr>
          <p:cNvPicPr>
            <a:picLocks noChangeAspect="1"/>
          </p:cNvPicPr>
          <p:nvPr/>
        </p:nvPicPr>
        <p:blipFill>
          <a:blip r:embed="rId2"/>
          <a:stretch>
            <a:fillRect/>
          </a:stretch>
        </p:blipFill>
        <p:spPr>
          <a:xfrm>
            <a:off x="949734" y="1764751"/>
            <a:ext cx="6109539" cy="2529731"/>
          </a:xfrm>
          <a:prstGeom prst="rect">
            <a:avLst/>
          </a:prstGeom>
        </p:spPr>
      </p:pic>
      <p:pic>
        <p:nvPicPr>
          <p:cNvPr id="8" name="图片 7">
            <a:extLst>
              <a:ext uri="{FF2B5EF4-FFF2-40B4-BE49-F238E27FC236}">
                <a16:creationId xmlns:a16="http://schemas.microsoft.com/office/drawing/2014/main" id="{1998F26E-2DC6-E1EB-29E7-988736A93914}"/>
              </a:ext>
            </a:extLst>
          </p:cNvPr>
          <p:cNvPicPr>
            <a:picLocks noChangeAspect="1"/>
          </p:cNvPicPr>
          <p:nvPr/>
        </p:nvPicPr>
        <p:blipFill>
          <a:blip r:embed="rId3"/>
          <a:stretch>
            <a:fillRect/>
          </a:stretch>
        </p:blipFill>
        <p:spPr>
          <a:xfrm>
            <a:off x="1620163" y="4594230"/>
            <a:ext cx="4601533" cy="1842411"/>
          </a:xfrm>
          <a:prstGeom prst="rect">
            <a:avLst/>
          </a:prstGeom>
        </p:spPr>
      </p:pic>
      <p:sp>
        <p:nvSpPr>
          <p:cNvPr id="13" name="文本框 12">
            <a:extLst>
              <a:ext uri="{FF2B5EF4-FFF2-40B4-BE49-F238E27FC236}">
                <a16:creationId xmlns:a16="http://schemas.microsoft.com/office/drawing/2014/main" id="{9143E492-732D-1E90-F599-1B52C63DA45B}"/>
              </a:ext>
            </a:extLst>
          </p:cNvPr>
          <p:cNvSpPr txBox="1"/>
          <p:nvPr/>
        </p:nvSpPr>
        <p:spPr>
          <a:xfrm>
            <a:off x="7902677" y="2256268"/>
            <a:ext cx="3886200" cy="825932"/>
          </a:xfrm>
          <a:prstGeom prst="rect">
            <a:avLst/>
          </a:prstGeom>
          <a:noFill/>
        </p:spPr>
        <p:txBody>
          <a:bodyPr wrap="square" lIns="50800" tIns="25400" rIns="50800" bIns="25400">
            <a:spAutoFit/>
          </a:bodyPr>
          <a:lstStyle/>
          <a:p>
            <a:pPr>
              <a:lnSpc>
                <a:spcPts val="1450"/>
              </a:lnSpc>
            </a:pPr>
            <a:r>
              <a:rPr lang="en-US" altLang="zh-CN" sz="1500">
                <a:solidFill>
                  <a:srgbClr val="1B2434"/>
                </a:solidFill>
                <a:latin typeface="Aptos" panose="020B0004020202020204" pitchFamily="34" charset="0"/>
              </a:rPr>
              <a:t>Field value: </a:t>
            </a:r>
            <a:r>
              <a:rPr lang="zh-CN" altLang="zh-CN" sz="1500">
                <a:solidFill>
                  <a:srgbClr val="1B2434"/>
                </a:solidFill>
                <a:latin typeface="Aptos" panose="020B0004020202020204" pitchFamily="34" charset="0"/>
              </a:rPr>
              <a:t>For certain fields, click the dropdown arrow to display the list of available values, then select the desired option from the list.</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2846519638"/>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7350B-B0CA-336B-FC04-07770E87625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ED88739-0054-AE80-6BED-463CE9BFDCF6}"/>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Schedule-Search Payment Schedule</a:t>
            </a:r>
            <a:endParaRPr lang="zh-CN" altLang="en-US" sz="3400">
              <a:solidFill>
                <a:srgbClr val="000000"/>
              </a:solidFill>
              <a:latin typeface="Aptos Display" panose="020B0004020202020204" pitchFamily="34" charset="0"/>
            </a:endParaRPr>
          </a:p>
        </p:txBody>
      </p:sp>
      <p:pic>
        <p:nvPicPr>
          <p:cNvPr id="6" name="图片 5">
            <a:extLst>
              <a:ext uri="{FF2B5EF4-FFF2-40B4-BE49-F238E27FC236}">
                <a16:creationId xmlns:a16="http://schemas.microsoft.com/office/drawing/2014/main" id="{7A2658D9-97F9-900E-2654-BFBA394F3993}"/>
              </a:ext>
            </a:extLst>
          </p:cNvPr>
          <p:cNvPicPr>
            <a:picLocks noChangeAspect="1"/>
          </p:cNvPicPr>
          <p:nvPr/>
        </p:nvPicPr>
        <p:blipFill>
          <a:blip r:embed="rId2"/>
          <a:stretch>
            <a:fillRect/>
          </a:stretch>
        </p:blipFill>
        <p:spPr>
          <a:xfrm>
            <a:off x="182700" y="1818956"/>
            <a:ext cx="6051981" cy="4751750"/>
          </a:xfrm>
          <a:prstGeom prst="rect">
            <a:avLst/>
          </a:prstGeom>
        </p:spPr>
      </p:pic>
      <p:pic>
        <p:nvPicPr>
          <p:cNvPr id="9" name="图片 8">
            <a:extLst>
              <a:ext uri="{FF2B5EF4-FFF2-40B4-BE49-F238E27FC236}">
                <a16:creationId xmlns:a16="http://schemas.microsoft.com/office/drawing/2014/main" id="{C2D52EDC-E4FB-F946-6A2A-C44742F52D39}"/>
              </a:ext>
            </a:extLst>
          </p:cNvPr>
          <p:cNvPicPr>
            <a:picLocks noChangeAspect="1"/>
          </p:cNvPicPr>
          <p:nvPr/>
        </p:nvPicPr>
        <p:blipFill>
          <a:blip r:embed="rId3"/>
          <a:stretch>
            <a:fillRect/>
          </a:stretch>
        </p:blipFill>
        <p:spPr>
          <a:xfrm>
            <a:off x="6390535" y="1849519"/>
            <a:ext cx="5569170" cy="4611968"/>
          </a:xfrm>
          <a:prstGeom prst="rect">
            <a:avLst/>
          </a:prstGeom>
        </p:spPr>
      </p:pic>
      <p:sp>
        <p:nvSpPr>
          <p:cNvPr id="12" name="Text 47">
            <a:extLst>
              <a:ext uri="{FF2B5EF4-FFF2-40B4-BE49-F238E27FC236}">
                <a16:creationId xmlns:a16="http://schemas.microsoft.com/office/drawing/2014/main" id="{08DF7604-E9C3-5B16-4390-DF3280B9AE1C}"/>
              </a:ext>
            </a:extLst>
          </p:cNvPr>
          <p:cNvSpPr txBox="1"/>
          <p:nvPr/>
        </p:nvSpPr>
        <p:spPr>
          <a:xfrm>
            <a:off x="3403531" y="3921654"/>
            <a:ext cx="3872339" cy="797830"/>
          </a:xfrm>
          <a:prstGeom prst="rect">
            <a:avLst/>
          </a:prstGeom>
          <a:noFill/>
          <a:ln/>
        </p:spPr>
        <p:txBody>
          <a:bodyPr wrap="square" lIns="50800" tIns="25400" rIns="50800" bIns="25400" rtlCol="0" anchor="ctr"/>
          <a:lstStyle/>
          <a:p>
            <a:pPr>
              <a:lnSpc>
                <a:spcPts val="1450"/>
              </a:lnSpc>
            </a:pPr>
            <a:r>
              <a:rPr lang="en-US" altLang="zh-CN" sz="1600">
                <a:solidFill>
                  <a:srgbClr val="1B2434"/>
                </a:solidFill>
                <a:latin typeface="Aptos" panose="020B0004020202020204" pitchFamily="34" charset="0"/>
              </a:rPr>
              <a:t>Daas List Tab: display the DAAS/</a:t>
            </a:r>
            <a:r>
              <a:rPr lang="zh-CN" altLang="zh-CN" sz="1600">
                <a:solidFill>
                  <a:srgbClr val="1B2434"/>
                </a:solidFill>
                <a:latin typeface="Aptos" panose="020B0004020202020204" pitchFamily="34" charset="0"/>
              </a:rPr>
              <a:t>MSAAS</a:t>
            </a:r>
            <a:r>
              <a:rPr lang="en-US" altLang="zh-CN" sz="1600">
                <a:solidFill>
                  <a:srgbClr val="1B2434"/>
                </a:solidFill>
                <a:latin typeface="Aptos" panose="020B0004020202020204" pitchFamily="34" charset="0"/>
              </a:rPr>
              <a:t>/ISGLEASE data;</a:t>
            </a:r>
            <a:r>
              <a:rPr lang="zh-CN" altLang="en-US" sz="1600">
                <a:solidFill>
                  <a:srgbClr val="1B2434"/>
                </a:solidFill>
                <a:latin typeface="Aptos" panose="020B0004020202020204" pitchFamily="34" charset="0"/>
              </a:rPr>
              <a:t> </a:t>
            </a:r>
            <a:br>
              <a:rPr lang="en-US" altLang="zh-CN" sz="1600">
                <a:solidFill>
                  <a:srgbClr val="1B2434"/>
                </a:solidFill>
                <a:latin typeface="Aptos" panose="020B0004020202020204" pitchFamily="34" charset="0"/>
              </a:rPr>
            </a:br>
            <a:r>
              <a:rPr lang="en-US" altLang="zh-CN" sz="1600">
                <a:solidFill>
                  <a:srgbClr val="1B2434"/>
                </a:solidFill>
                <a:latin typeface="Aptos" panose="020B0004020202020204" pitchFamily="34" charset="0"/>
              </a:rPr>
              <a:t>IAAS List Tab: display the IAAS data.</a:t>
            </a:r>
          </a:p>
        </p:txBody>
      </p:sp>
      <p:sp>
        <p:nvSpPr>
          <p:cNvPr id="5" name="Title 10">
            <a:extLst>
              <a:ext uri="{FF2B5EF4-FFF2-40B4-BE49-F238E27FC236}">
                <a16:creationId xmlns:a16="http://schemas.microsoft.com/office/drawing/2014/main" id="{E7096AD8-54CE-CCB8-152A-381D75E9A4CD}"/>
              </a:ext>
            </a:extLst>
          </p:cNvPr>
          <p:cNvSpPr txBox="1">
            <a:spLocks/>
          </p:cNvSpPr>
          <p:nvPr/>
        </p:nvSpPr>
        <p:spPr>
          <a:xfrm>
            <a:off x="330200" y="857930"/>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690165470"/>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07641-8878-BFA2-C582-E40C90BCA07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8E195A-2FB9-E52A-9DBC-658CC3FDE89D}"/>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 Data List</a:t>
            </a:r>
            <a:endParaRPr lang="zh-CN" altLang="en-US" sz="3400">
              <a:solidFill>
                <a:srgbClr val="000000"/>
              </a:solidFill>
              <a:latin typeface="Aptos Display" panose="020B0004020202020204" pitchFamily="34" charset="0"/>
            </a:endParaRPr>
          </a:p>
        </p:txBody>
      </p:sp>
      <p:pic>
        <p:nvPicPr>
          <p:cNvPr id="5" name="图片 4">
            <a:extLst>
              <a:ext uri="{FF2B5EF4-FFF2-40B4-BE49-F238E27FC236}">
                <a16:creationId xmlns:a16="http://schemas.microsoft.com/office/drawing/2014/main" id="{F0A47BE3-B26D-2D1D-EF1C-55C62B32F78B}"/>
              </a:ext>
            </a:extLst>
          </p:cNvPr>
          <p:cNvPicPr>
            <a:picLocks noChangeAspect="1"/>
          </p:cNvPicPr>
          <p:nvPr/>
        </p:nvPicPr>
        <p:blipFill>
          <a:blip r:embed="rId2"/>
          <a:stretch>
            <a:fillRect/>
          </a:stretch>
        </p:blipFill>
        <p:spPr>
          <a:xfrm>
            <a:off x="218149" y="1757481"/>
            <a:ext cx="11741556" cy="4059092"/>
          </a:xfrm>
          <a:prstGeom prst="rect">
            <a:avLst/>
          </a:prstGeom>
        </p:spPr>
      </p:pic>
      <p:sp>
        <p:nvSpPr>
          <p:cNvPr id="8" name="Title 10">
            <a:extLst>
              <a:ext uri="{FF2B5EF4-FFF2-40B4-BE49-F238E27FC236}">
                <a16:creationId xmlns:a16="http://schemas.microsoft.com/office/drawing/2014/main" id="{80CE52E9-0F2A-620E-B927-13B6B2843400}"/>
              </a:ext>
            </a:extLst>
          </p:cNvPr>
          <p:cNvSpPr txBox="1">
            <a:spLocks/>
          </p:cNvSpPr>
          <p:nvPr/>
        </p:nvSpPr>
        <p:spPr>
          <a:xfrm>
            <a:off x="330200" y="857930"/>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285207705"/>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4E148-5293-9A34-B11C-BD820C55258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95EC76A-8A0D-A0B7-D569-7B8CBD232C8B}"/>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Schedule-Data List</a:t>
            </a:r>
            <a:endParaRPr lang="zh-CN" altLang="en-US" sz="3400">
              <a:solidFill>
                <a:srgbClr val="000000"/>
              </a:solidFill>
              <a:latin typeface="Aptos Display" panose="020B0004020202020204" pitchFamily="34" charset="0"/>
            </a:endParaRPr>
          </a:p>
        </p:txBody>
      </p:sp>
      <p:sp>
        <p:nvSpPr>
          <p:cNvPr id="10" name="Text 47">
            <a:extLst>
              <a:ext uri="{FF2B5EF4-FFF2-40B4-BE49-F238E27FC236}">
                <a16:creationId xmlns:a16="http://schemas.microsoft.com/office/drawing/2014/main" id="{C2B7843B-ABE8-E082-3901-E97447AF03F3}"/>
              </a:ext>
            </a:extLst>
          </p:cNvPr>
          <p:cNvSpPr txBox="1"/>
          <p:nvPr/>
        </p:nvSpPr>
        <p:spPr>
          <a:xfrm>
            <a:off x="8707276" y="1705758"/>
            <a:ext cx="3272239" cy="3000579"/>
          </a:xfrm>
          <a:prstGeom prst="rect">
            <a:avLst/>
          </a:prstGeom>
          <a:noFill/>
          <a:ln/>
        </p:spPr>
        <p:txBody>
          <a:bodyPr wrap="square" lIns="50800" tIns="25400" rIns="50800" bIns="25400" rtlCol="0" anchor="ctr"/>
          <a:lstStyle/>
          <a:p>
            <a:pPr>
              <a:lnSpc>
                <a:spcPts val="1450"/>
              </a:lnSpc>
            </a:pPr>
            <a:r>
              <a:rPr lang="en-US" sz="1600">
                <a:solidFill>
                  <a:srgbClr val="1B2434"/>
                </a:solidFill>
                <a:latin typeface="Aptos" panose="020B0004020202020204" pitchFamily="34" charset="0"/>
              </a:rPr>
              <a:t>Payment Schedule Id:</a:t>
            </a:r>
            <a:br>
              <a:rPr lang="en-US" sz="1600">
                <a:solidFill>
                  <a:srgbClr val="1B2434"/>
                </a:solidFill>
                <a:latin typeface="Aptos" panose="020B0004020202020204" pitchFamily="34" charset="0"/>
              </a:rPr>
            </a:br>
            <a:endParaRPr lang="en-US" sz="1600">
              <a:solidFill>
                <a:srgbClr val="1B2434"/>
              </a:solidFill>
              <a:latin typeface="Aptos" panose="020B0004020202020204" pitchFamily="34" charset="0"/>
            </a:endParaRPr>
          </a:p>
          <a:p>
            <a:pPr marL="285750" indent="-285750">
              <a:lnSpc>
                <a:spcPts val="1450"/>
              </a:lnSpc>
              <a:buFont typeface="Arial" panose="020B0604020202020204" pitchFamily="34" charset="0"/>
              <a:buChar char="•"/>
            </a:pPr>
            <a:r>
              <a:rPr lang="zh-CN" altLang="zh-CN" sz="1600">
                <a:solidFill>
                  <a:srgbClr val="1B2434"/>
                </a:solidFill>
                <a:latin typeface="Aptos" panose="020B0004020202020204" pitchFamily="34" charset="0"/>
              </a:rPr>
              <a:t>The Payment Schedule ID is generated from the Bundle ID </a:t>
            </a:r>
            <a:r>
              <a:rPr lang="en-US" altLang="zh-CN" sz="1600">
                <a:solidFill>
                  <a:srgbClr val="1B2434"/>
                </a:solidFill>
                <a:latin typeface="Aptos" panose="020B0004020202020204" pitchFamily="34" charset="0"/>
              </a:rPr>
              <a:t>or </a:t>
            </a:r>
            <a:r>
              <a:rPr lang="zh-CN" altLang="zh-CN" sz="1600">
                <a:solidFill>
                  <a:srgbClr val="1B2434"/>
                </a:solidFill>
                <a:latin typeface="Aptos" panose="020B0004020202020204" pitchFamily="34" charset="0"/>
              </a:rPr>
              <a:t>SA in the Subscription Order</a:t>
            </a:r>
            <a:r>
              <a:rPr lang="en-US" altLang="zh-CN" sz="1600">
                <a:solidFill>
                  <a:srgbClr val="1B2434"/>
                </a:solidFill>
                <a:latin typeface="Aptos" panose="020B0004020202020204" pitchFamily="34" charset="0"/>
              </a:rPr>
              <a:t>.</a:t>
            </a:r>
          </a:p>
          <a:p>
            <a:pPr marL="285750" indent="-285750">
              <a:lnSpc>
                <a:spcPts val="1450"/>
              </a:lnSpc>
              <a:buFont typeface="Arial" panose="020B0604020202020204" pitchFamily="34" charset="0"/>
              <a:buChar char="•"/>
            </a:pPr>
            <a:r>
              <a:rPr lang="zh-CN" altLang="zh-CN" sz="1600">
                <a:solidFill>
                  <a:srgbClr val="1B2434"/>
                </a:solidFill>
                <a:latin typeface="Aptos" panose="020B0004020202020204" pitchFamily="34" charset="0"/>
              </a:rPr>
              <a:t>For every one Bundle ID or every one SA line item, the system will generate one corresponding Payment Schedule I</a:t>
            </a:r>
            <a:r>
              <a:rPr lang="en-US" altLang="zh-CN" sz="1600">
                <a:solidFill>
                  <a:srgbClr val="1B2434"/>
                </a:solidFill>
                <a:latin typeface="Aptos" panose="020B0004020202020204" pitchFamily="34" charset="0"/>
              </a:rPr>
              <a:t>d</a:t>
            </a:r>
            <a:r>
              <a:rPr lang="zh-CN" altLang="zh-CN" sz="1600">
                <a:solidFill>
                  <a:srgbClr val="1B2434"/>
                </a:solidFill>
                <a:latin typeface="Aptos" panose="020B0004020202020204" pitchFamily="34" charset="0"/>
              </a:rPr>
              <a:t>.</a:t>
            </a:r>
            <a:r>
              <a:rPr lang="en-US" altLang="zh-CN" sz="1600">
                <a:solidFill>
                  <a:srgbClr val="1B2434"/>
                </a:solidFill>
                <a:latin typeface="Aptos" panose="020B0004020202020204" pitchFamily="34" charset="0"/>
              </a:rPr>
              <a:t> </a:t>
            </a:r>
            <a:br>
              <a:rPr lang="en-US" altLang="zh-CN" sz="1600">
                <a:solidFill>
                  <a:srgbClr val="1B2434"/>
                </a:solidFill>
                <a:latin typeface="Aptos" panose="020B0004020202020204" pitchFamily="34" charset="0"/>
              </a:rPr>
            </a:br>
            <a:endParaRPr lang="en-US" altLang="zh-CN" sz="1600">
              <a:solidFill>
                <a:srgbClr val="1B2434"/>
              </a:solidFill>
              <a:latin typeface="Aptos" panose="020B0004020202020204" pitchFamily="34" charset="0"/>
            </a:endParaRPr>
          </a:p>
          <a:p>
            <a:pPr>
              <a:lnSpc>
                <a:spcPts val="1450"/>
              </a:lnSpc>
            </a:pPr>
            <a:r>
              <a:rPr lang="en-US" altLang="zh-CN" sz="1600">
                <a:solidFill>
                  <a:srgbClr val="1B2434"/>
                </a:solidFill>
                <a:latin typeface="Aptos" panose="020B0004020202020204" pitchFamily="34" charset="0"/>
              </a:rPr>
              <a:t>Payment Schedule Item: </a:t>
            </a:r>
            <a:br>
              <a:rPr lang="en-US" altLang="zh-CN" sz="1600">
                <a:solidFill>
                  <a:srgbClr val="1B2434"/>
                </a:solidFill>
                <a:latin typeface="Aptos" panose="020B0004020202020204" pitchFamily="34" charset="0"/>
              </a:rPr>
            </a:br>
            <a:endParaRPr lang="en-US" altLang="zh-CN" sz="1600">
              <a:solidFill>
                <a:srgbClr val="1B2434"/>
              </a:solidFill>
              <a:latin typeface="Aptos" panose="020B0004020202020204" pitchFamily="34" charset="0"/>
            </a:endParaRPr>
          </a:p>
          <a:p>
            <a:pPr marL="285750" indent="-285750">
              <a:lnSpc>
                <a:spcPts val="1450"/>
              </a:lnSpc>
              <a:buFont typeface="Arial" panose="020B0604020202020204" pitchFamily="34" charset="0"/>
              <a:buChar char="•"/>
            </a:pPr>
            <a:r>
              <a:rPr lang="zh-CN" altLang="zh-CN" sz="1600">
                <a:solidFill>
                  <a:srgbClr val="1B2434"/>
                </a:solidFill>
                <a:latin typeface="Aptos" panose="020B0004020202020204" pitchFamily="34" charset="0"/>
              </a:rPr>
              <a:t>The Payment Schedul</a:t>
            </a:r>
            <a:r>
              <a:rPr lang="en-US" altLang="zh-CN" sz="1600">
                <a:solidFill>
                  <a:srgbClr val="1B2434"/>
                </a:solidFill>
                <a:latin typeface="Aptos" panose="020B0004020202020204" pitchFamily="34" charset="0"/>
              </a:rPr>
              <a:t> item equal the current Term.</a:t>
            </a:r>
          </a:p>
        </p:txBody>
      </p:sp>
      <p:grpSp>
        <p:nvGrpSpPr>
          <p:cNvPr id="2" name="组合 1">
            <a:extLst>
              <a:ext uri="{FF2B5EF4-FFF2-40B4-BE49-F238E27FC236}">
                <a16:creationId xmlns:a16="http://schemas.microsoft.com/office/drawing/2014/main" id="{D759D8A7-EEE1-22BA-EA44-EDA90D283867}"/>
              </a:ext>
            </a:extLst>
          </p:cNvPr>
          <p:cNvGrpSpPr/>
          <p:nvPr/>
        </p:nvGrpSpPr>
        <p:grpSpPr>
          <a:xfrm>
            <a:off x="212483" y="1764752"/>
            <a:ext cx="8233427" cy="3239868"/>
            <a:chOff x="320182" y="1981227"/>
            <a:chExt cx="11783047" cy="4599617"/>
          </a:xfrm>
        </p:grpSpPr>
        <p:grpSp>
          <p:nvGrpSpPr>
            <p:cNvPr id="27" name="组合 26">
              <a:extLst>
                <a:ext uri="{FF2B5EF4-FFF2-40B4-BE49-F238E27FC236}">
                  <a16:creationId xmlns:a16="http://schemas.microsoft.com/office/drawing/2014/main" id="{DD1E88B5-3DDB-04BF-8545-49733AA25695}"/>
                </a:ext>
              </a:extLst>
            </p:cNvPr>
            <p:cNvGrpSpPr/>
            <p:nvPr/>
          </p:nvGrpSpPr>
          <p:grpSpPr>
            <a:xfrm>
              <a:off x="320182" y="1981227"/>
              <a:ext cx="11439363" cy="4599617"/>
              <a:chOff x="320182" y="1981227"/>
              <a:chExt cx="11439363" cy="4599617"/>
            </a:xfrm>
          </p:grpSpPr>
          <p:pic>
            <p:nvPicPr>
              <p:cNvPr id="8" name="图片 7">
                <a:extLst>
                  <a:ext uri="{FF2B5EF4-FFF2-40B4-BE49-F238E27FC236}">
                    <a16:creationId xmlns:a16="http://schemas.microsoft.com/office/drawing/2014/main" id="{84D9E6C7-370D-3B5B-258F-E41E3A9AC207}"/>
                  </a:ext>
                </a:extLst>
              </p:cNvPr>
              <p:cNvPicPr>
                <a:picLocks noChangeAspect="1"/>
              </p:cNvPicPr>
              <p:nvPr/>
            </p:nvPicPr>
            <p:blipFill>
              <a:blip r:embed="rId2"/>
              <a:stretch>
                <a:fillRect/>
              </a:stretch>
            </p:blipFill>
            <p:spPr>
              <a:xfrm>
                <a:off x="6903903" y="2090306"/>
                <a:ext cx="4855642" cy="4381458"/>
              </a:xfrm>
              <a:prstGeom prst="rect">
                <a:avLst/>
              </a:prstGeom>
            </p:spPr>
          </p:pic>
          <p:pic>
            <p:nvPicPr>
              <p:cNvPr id="12" name="图片 11">
                <a:extLst>
                  <a:ext uri="{FF2B5EF4-FFF2-40B4-BE49-F238E27FC236}">
                    <a16:creationId xmlns:a16="http://schemas.microsoft.com/office/drawing/2014/main" id="{F4270EAF-4627-C8F5-3B53-383DDD5E7EFC}"/>
                  </a:ext>
                </a:extLst>
              </p:cNvPr>
              <p:cNvPicPr>
                <a:picLocks noChangeAspect="1"/>
              </p:cNvPicPr>
              <p:nvPr/>
            </p:nvPicPr>
            <p:blipFill>
              <a:blip r:embed="rId3"/>
              <a:stretch>
                <a:fillRect/>
              </a:stretch>
            </p:blipFill>
            <p:spPr>
              <a:xfrm>
                <a:off x="320182" y="1981227"/>
                <a:ext cx="6333632" cy="4599617"/>
              </a:xfrm>
              <a:prstGeom prst="rect">
                <a:avLst/>
              </a:prstGeom>
            </p:spPr>
          </p:pic>
          <p:cxnSp>
            <p:nvCxnSpPr>
              <p:cNvPr id="18" name="直接箭头连接符 17">
                <a:extLst>
                  <a:ext uri="{FF2B5EF4-FFF2-40B4-BE49-F238E27FC236}">
                    <a16:creationId xmlns:a16="http://schemas.microsoft.com/office/drawing/2014/main" id="{494A16AC-0816-DEA5-D1A0-60BFFE9C6C71}"/>
                  </a:ext>
                </a:extLst>
              </p:cNvPr>
              <p:cNvCxnSpPr>
                <a:cxnSpLocks/>
              </p:cNvCxnSpPr>
              <p:nvPr/>
            </p:nvCxnSpPr>
            <p:spPr bwMode="auto">
              <a:xfrm flipV="1">
                <a:off x="6139943" y="2507226"/>
                <a:ext cx="1242758" cy="1369142"/>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0" name="直接箭头连接符 19">
                <a:extLst>
                  <a:ext uri="{FF2B5EF4-FFF2-40B4-BE49-F238E27FC236}">
                    <a16:creationId xmlns:a16="http://schemas.microsoft.com/office/drawing/2014/main" id="{9D677943-3159-F964-A42D-38978FA7407F}"/>
                  </a:ext>
                </a:extLst>
              </p:cNvPr>
              <p:cNvCxnSpPr>
                <a:cxnSpLocks/>
              </p:cNvCxnSpPr>
              <p:nvPr/>
            </p:nvCxnSpPr>
            <p:spPr bwMode="auto">
              <a:xfrm>
                <a:off x="6096000" y="4151672"/>
                <a:ext cx="1361016" cy="169943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3" name="直接箭头连接符 22">
                <a:extLst>
                  <a:ext uri="{FF2B5EF4-FFF2-40B4-BE49-F238E27FC236}">
                    <a16:creationId xmlns:a16="http://schemas.microsoft.com/office/drawing/2014/main" id="{3863A749-BE02-2B45-D0F6-AEE1996EC3FD}"/>
                  </a:ext>
                </a:extLst>
              </p:cNvPr>
              <p:cNvCxnSpPr>
                <a:cxnSpLocks/>
              </p:cNvCxnSpPr>
              <p:nvPr/>
            </p:nvCxnSpPr>
            <p:spPr bwMode="auto">
              <a:xfrm>
                <a:off x="6071421" y="4431888"/>
                <a:ext cx="1346175" cy="1939415"/>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grpSp>
        <p:pic>
          <p:nvPicPr>
            <p:cNvPr id="16" name="图片 15">
              <a:extLst>
                <a:ext uri="{FF2B5EF4-FFF2-40B4-BE49-F238E27FC236}">
                  <a16:creationId xmlns:a16="http://schemas.microsoft.com/office/drawing/2014/main" id="{8E3F00CF-24AD-9EEE-D60B-05212A4BA047}"/>
                </a:ext>
              </a:extLst>
            </p:cNvPr>
            <p:cNvPicPr>
              <a:picLocks noChangeAspect="1"/>
            </p:cNvPicPr>
            <p:nvPr/>
          </p:nvPicPr>
          <p:blipFill>
            <a:blip r:embed="rId4"/>
            <a:stretch>
              <a:fillRect/>
            </a:stretch>
          </p:blipFill>
          <p:spPr>
            <a:xfrm>
              <a:off x="9331724" y="2799824"/>
              <a:ext cx="2771505" cy="3357550"/>
            </a:xfrm>
            <a:prstGeom prst="rect">
              <a:avLst/>
            </a:prstGeom>
          </p:spPr>
        </p:pic>
      </p:grpSp>
      <p:sp>
        <p:nvSpPr>
          <p:cNvPr id="6" name="Title 10">
            <a:extLst>
              <a:ext uri="{FF2B5EF4-FFF2-40B4-BE49-F238E27FC236}">
                <a16:creationId xmlns:a16="http://schemas.microsoft.com/office/drawing/2014/main" id="{75C45A97-82DA-1072-8B10-D3A81E8911C0}"/>
              </a:ext>
            </a:extLst>
          </p:cNvPr>
          <p:cNvSpPr txBox="1">
            <a:spLocks/>
          </p:cNvSpPr>
          <p:nvPr/>
        </p:nvSpPr>
        <p:spPr>
          <a:xfrm>
            <a:off x="330200" y="818601"/>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5561455"/>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DC81-6F2B-E553-8F94-37780A9B3C9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43A8958-EDCB-D235-8295-29AED0D361DE}"/>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Schedule-Data List</a:t>
            </a:r>
            <a:endParaRPr lang="zh-CN" altLang="en-US" sz="3400">
              <a:solidFill>
                <a:srgbClr val="000000"/>
              </a:solidFill>
              <a:latin typeface="Aptos Display" panose="020B0004020202020204" pitchFamily="34" charset="0"/>
            </a:endParaRPr>
          </a:p>
        </p:txBody>
      </p:sp>
      <p:pic>
        <p:nvPicPr>
          <p:cNvPr id="6" name="图片 5">
            <a:extLst>
              <a:ext uri="{FF2B5EF4-FFF2-40B4-BE49-F238E27FC236}">
                <a16:creationId xmlns:a16="http://schemas.microsoft.com/office/drawing/2014/main" id="{05A4F2F2-FB16-B020-AF41-832803CD8276}"/>
              </a:ext>
            </a:extLst>
          </p:cNvPr>
          <p:cNvPicPr>
            <a:picLocks noChangeAspect="1"/>
          </p:cNvPicPr>
          <p:nvPr/>
        </p:nvPicPr>
        <p:blipFill>
          <a:blip r:embed="rId3"/>
          <a:stretch>
            <a:fillRect/>
          </a:stretch>
        </p:blipFill>
        <p:spPr>
          <a:xfrm>
            <a:off x="813748" y="1676400"/>
            <a:ext cx="3107370" cy="3363581"/>
          </a:xfrm>
          <a:prstGeom prst="rect">
            <a:avLst/>
          </a:prstGeom>
        </p:spPr>
      </p:pic>
      <p:graphicFrame>
        <p:nvGraphicFramePr>
          <p:cNvPr id="10" name="Table 0">
            <a:extLst>
              <a:ext uri="{FF2B5EF4-FFF2-40B4-BE49-F238E27FC236}">
                <a16:creationId xmlns:a16="http://schemas.microsoft.com/office/drawing/2014/main" id="{8417BBAB-03DD-4643-BF74-A44C8CBF6E67}"/>
              </a:ext>
            </a:extLst>
          </p:cNvPr>
          <p:cNvGraphicFramePr>
            <a:graphicFrameLocks noGrp="1"/>
          </p:cNvGraphicFramePr>
          <p:nvPr/>
        </p:nvGraphicFramePr>
        <p:xfrm>
          <a:off x="5069865" y="1667032"/>
          <a:ext cx="6801953" cy="4239263"/>
        </p:xfrm>
        <a:graphic>
          <a:graphicData uri="http://schemas.openxmlformats.org/drawingml/2006/table">
            <a:tbl>
              <a:tblPr/>
              <a:tblGrid>
                <a:gridCol w="565167">
                  <a:extLst>
                    <a:ext uri="{9D8B030D-6E8A-4147-A177-3AD203B41FA5}">
                      <a16:colId xmlns:a16="http://schemas.microsoft.com/office/drawing/2014/main" val="20000"/>
                    </a:ext>
                  </a:extLst>
                </a:gridCol>
                <a:gridCol w="1363050">
                  <a:extLst>
                    <a:ext uri="{9D8B030D-6E8A-4147-A177-3AD203B41FA5}">
                      <a16:colId xmlns:a16="http://schemas.microsoft.com/office/drawing/2014/main" val="20001"/>
                    </a:ext>
                  </a:extLst>
                </a:gridCol>
                <a:gridCol w="4873736">
                  <a:extLst>
                    <a:ext uri="{9D8B030D-6E8A-4147-A177-3AD203B41FA5}">
                      <a16:colId xmlns:a16="http://schemas.microsoft.com/office/drawing/2014/main" val="20002"/>
                    </a:ext>
                  </a:extLst>
                </a:gridCol>
              </a:tblGrid>
              <a:tr h="147911">
                <a:tc>
                  <a:txBody>
                    <a:bodyPr/>
                    <a:lstStyle/>
                    <a:p>
                      <a:pPr marL="0" indent="0">
                        <a:buNone/>
                      </a:pPr>
                      <a:r>
                        <a:rPr lang="en-US" sz="1050" b="1">
                          <a:solidFill>
                            <a:srgbClr val="1B2434"/>
                          </a:solidFill>
                          <a:latin typeface="Aptos" panose="020B0004020202020204" pitchFamily="34" charset="0"/>
                          <a:ea typeface="Calibri" pitchFamily="34" charset="-122"/>
                          <a:cs typeface="Calibri" pitchFamily="34" charset="-120"/>
                        </a:rPr>
                        <a:t>Code</a:t>
                      </a:r>
                      <a:endParaRPr lang="en-US" sz="1050" b="1">
                        <a:solidFill>
                          <a:srgbClr val="1B2434"/>
                        </a:solidFill>
                        <a:latin typeface="Aptos" panose="020B0004020202020204" pitchFamily="34"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DAEDEF"/>
                    </a:solidFill>
                  </a:tcPr>
                </a:tc>
                <a:tc>
                  <a:txBody>
                    <a:bodyPr/>
                    <a:lstStyle/>
                    <a:p>
                      <a:pPr marL="0" indent="0">
                        <a:buNone/>
                      </a:pPr>
                      <a:r>
                        <a:rPr lang="en-US" sz="1050" b="1">
                          <a:solidFill>
                            <a:srgbClr val="1B2434"/>
                          </a:solidFill>
                          <a:latin typeface="Aptos" panose="020B0004020202020204" pitchFamily="34" charset="0"/>
                          <a:ea typeface="Calibri" pitchFamily="34" charset="-122"/>
                          <a:cs typeface="Calibri" pitchFamily="34" charset="-120"/>
                        </a:rPr>
                        <a:t>Status</a:t>
                      </a:r>
                      <a:endParaRPr lang="en-US" sz="1050" b="1">
                        <a:solidFill>
                          <a:srgbClr val="1B2434"/>
                        </a:solidFill>
                        <a:latin typeface="Aptos" panose="020B0004020202020204" pitchFamily="34"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DAEDEF"/>
                    </a:solidFill>
                  </a:tcPr>
                </a:tc>
                <a:tc>
                  <a:txBody>
                    <a:bodyPr/>
                    <a:lstStyle/>
                    <a:p>
                      <a:pPr marL="0" indent="0">
                        <a:buNone/>
                      </a:pPr>
                      <a:r>
                        <a:rPr lang="en-US" altLang="zh-CN" sz="1050" b="1">
                          <a:solidFill>
                            <a:srgbClr val="1B2434"/>
                          </a:solidFill>
                          <a:latin typeface="Aptos" panose="020B0004020202020204" pitchFamily="34" charset="0"/>
                          <a:ea typeface="Calibri" pitchFamily="34" charset="-122"/>
                          <a:cs typeface="Calibri" pitchFamily="34" charset="-120"/>
                        </a:rPr>
                        <a:t>Action</a:t>
                      </a:r>
                      <a:endParaRPr lang="en-US" sz="1050" b="1">
                        <a:solidFill>
                          <a:srgbClr val="1B2434"/>
                        </a:solidFill>
                        <a:latin typeface="Aptos" panose="020B0004020202020204" pitchFamily="34"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DAEDEF"/>
                    </a:solidFill>
                  </a:tcPr>
                </a:tc>
                <a:extLst>
                  <a:ext uri="{0D108BD9-81ED-4DB2-BD59-A6C34878D82A}">
                    <a16:rowId xmlns:a16="http://schemas.microsoft.com/office/drawing/2014/main" val="10000"/>
                  </a:ext>
                </a:extLst>
              </a:tr>
              <a:tr h="354520">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1</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B45309"/>
                    </a:solidFill>
                  </a:tcPr>
                </a:tc>
                <a:tc>
                  <a:txBody>
                    <a:bodyPr/>
                    <a:lstStyle/>
                    <a:p>
                      <a:pPr marL="0" indent="0">
                        <a:buNone/>
                      </a:pPr>
                      <a:r>
                        <a:rPr lang="en-US" sz="1100" b="1">
                          <a:solidFill>
                            <a:srgbClr val="B45309"/>
                          </a:solidFill>
                          <a:latin typeface="Calibri" pitchFamily="34" charset="0"/>
                          <a:ea typeface="Calibri" pitchFamily="34" charset="-122"/>
                          <a:cs typeface="Calibri" pitchFamily="34" charset="-120"/>
                        </a:rPr>
                        <a:t>Pending</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indent="0">
                        <a:buNone/>
                      </a:pPr>
                      <a:r>
                        <a:rPr lang="en-US" altLang="zh-CN" sz="1100">
                          <a:solidFill>
                            <a:srgbClr val="1B2434"/>
                          </a:solidFill>
                          <a:latin typeface="Calibri" pitchFamily="34" charset="0"/>
                          <a:ea typeface="Calibri" pitchFamily="34" charset="-122"/>
                          <a:cs typeface="Calibri" pitchFamily="34" charset="-120"/>
                        </a:rPr>
                        <a:t>When subscription order is generated, then auto generate the payment schedule and the status is </a:t>
                      </a:r>
                      <a:r>
                        <a:rPr lang="en-US" altLang="zh-CN" sz="1100" b="1" kern="1200">
                          <a:solidFill>
                            <a:srgbClr val="B45309"/>
                          </a:solidFill>
                          <a:latin typeface="Calibri" pitchFamily="34" charset="0"/>
                          <a:ea typeface="Calibri" pitchFamily="34" charset="-122"/>
                          <a:cs typeface="Calibri" pitchFamily="34" charset="-120"/>
                        </a:rPr>
                        <a:t>1-pending</a:t>
                      </a:r>
                      <a:r>
                        <a:rPr lang="en-US" altLang="zh-CN" sz="1100">
                          <a:solidFill>
                            <a:srgbClr val="1B2434"/>
                          </a:solidFill>
                          <a:latin typeface="Calibri" pitchFamily="34" charset="0"/>
                          <a:ea typeface="Calibri" pitchFamily="34" charset="-122"/>
                          <a:cs typeface="Calibri" pitchFamily="34" charset="-120"/>
                        </a:rPr>
                        <a:t>.  or if preview statement Reject+unlock, then set the payment schedule status to</a:t>
                      </a:r>
                      <a:r>
                        <a:rPr lang="en-US" altLang="zh-CN" sz="1100" b="1" kern="1200">
                          <a:solidFill>
                            <a:srgbClr val="B45309"/>
                          </a:solidFill>
                          <a:latin typeface="Calibri" pitchFamily="34" charset="0"/>
                          <a:ea typeface="Calibri" pitchFamily="34" charset="-122"/>
                          <a:cs typeface="Calibri" pitchFamily="34" charset="-120"/>
                        </a:rPr>
                        <a:t> 1-pending</a:t>
                      </a:r>
                      <a:r>
                        <a:rPr lang="en-US" altLang="zh-CN" sz="1100">
                          <a:solidFill>
                            <a:srgbClr val="1B2434"/>
                          </a:solidFill>
                          <a:latin typeface="Calibri" pitchFamily="34" charset="0"/>
                          <a:ea typeface="Calibri" pitchFamily="34" charset="-122"/>
                          <a:cs typeface="Calibri" pitchFamily="34" charset="-120"/>
                        </a:rPr>
                        <a:t>, Waiting for generate the BIT.</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1"/>
                  </a:ext>
                </a:extLst>
              </a:tr>
              <a:tr h="354520">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2</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0369A1"/>
                    </a:solidFill>
                  </a:tcPr>
                </a:tc>
                <a:tc>
                  <a:txBody>
                    <a:bodyPr/>
                    <a:lstStyle/>
                    <a:p>
                      <a:pPr marL="0" indent="0">
                        <a:buNone/>
                      </a:pPr>
                      <a:r>
                        <a:rPr lang="en-US" sz="1100" b="1">
                          <a:solidFill>
                            <a:srgbClr val="0369A1"/>
                          </a:solidFill>
                          <a:latin typeface="Calibri" pitchFamily="34" charset="0"/>
                          <a:ea typeface="Calibri" pitchFamily="34" charset="-122"/>
                          <a:cs typeface="Calibri" pitchFamily="34" charset="-120"/>
                        </a:rPr>
                        <a:t>Billable</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indent="0">
                        <a:buNone/>
                      </a:pPr>
                      <a:r>
                        <a:rPr lang="en-US" sz="1100">
                          <a:latin typeface="Calibri" charset="0"/>
                          <a:ea typeface="Calibri" charset="0"/>
                          <a:cs typeface="Calibri" charset="0"/>
                        </a:rPr>
                        <a:t>When job/</a:t>
                      </a:r>
                      <a:r>
                        <a:rPr lang="en-US" altLang="zh-CN" sz="1100">
                          <a:latin typeface="Calibri" charset="0"/>
                          <a:ea typeface="Calibri" charset="0"/>
                          <a:cs typeface="Calibri" charset="0"/>
                        </a:rPr>
                        <a:t>Manual generate the BIT, then the status is</a:t>
                      </a:r>
                      <a:r>
                        <a:rPr lang="en-US" altLang="zh-CN" sz="1100" b="1" kern="1200">
                          <a:solidFill>
                            <a:srgbClr val="0369A1"/>
                          </a:solidFill>
                          <a:latin typeface="Calibri" pitchFamily="34" charset="0"/>
                          <a:ea typeface="Calibri" pitchFamily="34" charset="-122"/>
                          <a:cs typeface="Calibri" pitchFamily="34" charset="-120"/>
                        </a:rPr>
                        <a:t> 2-Billable</a:t>
                      </a:r>
                      <a:r>
                        <a:rPr lang="en-US" altLang="zh-CN" sz="1100" b="1" kern="1200">
                          <a:solidFill>
                            <a:srgbClr val="0369A1"/>
                          </a:solidFill>
                          <a:latin typeface="Calibri" charset="0"/>
                          <a:ea typeface="Calibri" charset="0"/>
                          <a:cs typeface="Calibri" charset="0"/>
                        </a:rPr>
                        <a:t>.</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2"/>
                  </a:ext>
                </a:extLst>
              </a:tr>
              <a:tr h="354520">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3</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6D28D9"/>
                    </a:solidFill>
                  </a:tcPr>
                </a:tc>
                <a:tc>
                  <a:txBody>
                    <a:bodyPr/>
                    <a:lstStyle/>
                    <a:p>
                      <a:pPr marL="0" indent="0">
                        <a:buNone/>
                      </a:pPr>
                      <a:r>
                        <a:rPr lang="en-US" sz="1100" b="1">
                          <a:solidFill>
                            <a:srgbClr val="6D28D9"/>
                          </a:solidFill>
                          <a:latin typeface="Calibri" pitchFamily="34" charset="0"/>
                          <a:ea typeface="Calibri" pitchFamily="34" charset="-122"/>
                          <a:cs typeface="Calibri" pitchFamily="34" charset="-120"/>
                        </a:rPr>
                        <a:t>Preview Invoice</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indent="0">
                        <a:buNone/>
                      </a:pPr>
                      <a:r>
                        <a:rPr lang="en-US" sz="1100">
                          <a:solidFill>
                            <a:srgbClr val="1B2434"/>
                          </a:solidFill>
                          <a:latin typeface="Calibri" pitchFamily="34" charset="0"/>
                          <a:ea typeface="Calibri" pitchFamily="34" charset="-122"/>
                          <a:cs typeface="Calibri" pitchFamily="34" charset="-120"/>
                        </a:rPr>
                        <a:t>When job/Manual generate the preview invoice, the status is </a:t>
                      </a:r>
                      <a:r>
                        <a:rPr lang="en-US" sz="1100" b="1" kern="1200">
                          <a:solidFill>
                            <a:srgbClr val="6D28D9"/>
                          </a:solidFill>
                          <a:latin typeface="Calibri" pitchFamily="34" charset="0"/>
                          <a:ea typeface="Calibri" pitchFamily="34" charset="-122"/>
                          <a:cs typeface="Calibri" pitchFamily="34" charset="-120"/>
                        </a:rPr>
                        <a:t>3-Preview invoice.</a:t>
                      </a: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3"/>
                  </a:ext>
                </a:extLst>
              </a:tr>
              <a:tr h="354520">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4</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BE123C"/>
                    </a:solidFill>
                  </a:tcPr>
                </a:tc>
                <a:tc>
                  <a:txBody>
                    <a:bodyPr/>
                    <a:lstStyle/>
                    <a:p>
                      <a:pPr marL="0" indent="0">
                        <a:buNone/>
                      </a:pPr>
                      <a:r>
                        <a:rPr lang="en-US" sz="1100" b="1">
                          <a:solidFill>
                            <a:srgbClr val="BE123C"/>
                          </a:solidFill>
                          <a:latin typeface="Calibri" pitchFamily="34" charset="0"/>
                          <a:ea typeface="Calibri" pitchFamily="34" charset="-122"/>
                          <a:cs typeface="Calibri" pitchFamily="34" charset="-120"/>
                        </a:rPr>
                        <a:t>Preview Rejected</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indent="0">
                        <a:buNone/>
                      </a:pPr>
                      <a:r>
                        <a:rPr lang="en-US" sz="1100">
                          <a:solidFill>
                            <a:srgbClr val="1B2434"/>
                          </a:solidFill>
                          <a:latin typeface="Calibri" pitchFamily="34" charset="0"/>
                          <a:ea typeface="Calibri" pitchFamily="34" charset="-122"/>
                          <a:cs typeface="Calibri" pitchFamily="34" charset="-120"/>
                        </a:rPr>
                        <a:t>The preview invoice was rejected, the status is </a:t>
                      </a:r>
                      <a:r>
                        <a:rPr lang="en-US" sz="1100" b="1" kern="1200">
                          <a:solidFill>
                            <a:srgbClr val="BE123C"/>
                          </a:solidFill>
                          <a:latin typeface="Calibri" pitchFamily="34" charset="0"/>
                          <a:ea typeface="Calibri" pitchFamily="34" charset="-122"/>
                          <a:cs typeface="Calibri" pitchFamily="34" charset="-120"/>
                        </a:rPr>
                        <a:t>4-Preview Rejected.</a:t>
                      </a: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4"/>
                  </a:ext>
                </a:extLst>
              </a:tr>
              <a:tr h="354520">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5</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047857"/>
                    </a:solidFill>
                  </a:tcPr>
                </a:tc>
                <a:tc>
                  <a:txBody>
                    <a:bodyPr/>
                    <a:lstStyle/>
                    <a:p>
                      <a:pPr marL="0" indent="0">
                        <a:buNone/>
                      </a:pPr>
                      <a:r>
                        <a:rPr lang="en-US" sz="1100" b="1">
                          <a:solidFill>
                            <a:srgbClr val="047857"/>
                          </a:solidFill>
                          <a:latin typeface="Calibri" pitchFamily="34" charset="0"/>
                          <a:ea typeface="Calibri" pitchFamily="34" charset="-122"/>
                          <a:cs typeface="Calibri" pitchFamily="34" charset="-120"/>
                        </a:rPr>
                        <a:t>Final Invoice</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indent="0">
                        <a:buNone/>
                      </a:pPr>
                      <a:r>
                        <a:rPr lang="en-US" sz="1100">
                          <a:solidFill>
                            <a:srgbClr val="1B2434"/>
                          </a:solidFill>
                          <a:latin typeface="Calibri" pitchFamily="34" charset="0"/>
                          <a:ea typeface="Calibri" pitchFamily="34" charset="-122"/>
                          <a:cs typeface="Calibri" pitchFamily="34" charset="-120"/>
                        </a:rPr>
                        <a:t>The preview invoice was approved and final invoice, the status is </a:t>
                      </a:r>
                      <a:r>
                        <a:rPr lang="en-US" sz="1100" b="1" kern="1200">
                          <a:solidFill>
                            <a:srgbClr val="047857"/>
                          </a:solidFill>
                          <a:latin typeface="Calibri" pitchFamily="34" charset="0"/>
                          <a:ea typeface="Calibri" pitchFamily="34" charset="-122"/>
                          <a:cs typeface="Calibri" pitchFamily="34" charset="-120"/>
                        </a:rPr>
                        <a:t>5-Final Invoice.</a:t>
                      </a: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5"/>
                  </a:ext>
                </a:extLst>
              </a:tr>
              <a:tr h="451363">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6</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64748B"/>
                    </a:solidFill>
                  </a:tcPr>
                </a:tc>
                <a:tc>
                  <a:txBody>
                    <a:bodyPr/>
                    <a:lstStyle/>
                    <a:p>
                      <a:pPr marL="0" indent="0">
                        <a:buNone/>
                      </a:pPr>
                      <a:r>
                        <a:rPr lang="en-US" sz="1100" b="1">
                          <a:solidFill>
                            <a:srgbClr val="64748B"/>
                          </a:solidFill>
                          <a:latin typeface="Calibri" pitchFamily="34" charset="0"/>
                          <a:ea typeface="Calibri" pitchFamily="34" charset="-122"/>
                          <a:cs typeface="Calibri" pitchFamily="34" charset="-120"/>
                        </a:rPr>
                        <a:t>Reversed</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indent="0">
                        <a:buNone/>
                      </a:pPr>
                      <a:r>
                        <a:rPr lang="en-US" sz="1100">
                          <a:latin typeface="Calibri" charset="0"/>
                          <a:ea typeface="Calibri" charset="0"/>
                          <a:cs typeface="Calibri" charset="0"/>
                        </a:rPr>
                        <a:t>The final invoice was reverse, the status is </a:t>
                      </a:r>
                      <a:r>
                        <a:rPr lang="en-US" sz="1100" b="1" kern="1200">
                          <a:solidFill>
                            <a:srgbClr val="64748B"/>
                          </a:solidFill>
                          <a:latin typeface="Calibri" pitchFamily="34" charset="0"/>
                          <a:ea typeface="Calibri" pitchFamily="34" charset="-122"/>
                          <a:cs typeface="Calibri" pitchFamily="34" charset="-120"/>
                        </a:rPr>
                        <a:t>6-Reversed, </a:t>
                      </a:r>
                      <a:r>
                        <a:rPr lang="en-US" sz="1100">
                          <a:latin typeface="Calibri" charset="0"/>
                          <a:ea typeface="Calibri" charset="0"/>
                          <a:cs typeface="Calibri" charset="0"/>
                        </a:rPr>
                        <a:t>and then you can re-generated the invoice.</a:t>
                      </a: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6"/>
                  </a:ext>
                </a:extLst>
              </a:tr>
              <a:tr h="373827">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7</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B91C1C"/>
                    </a:solidFill>
                  </a:tcPr>
                </a:tc>
                <a:tc>
                  <a:txBody>
                    <a:bodyPr/>
                    <a:lstStyle/>
                    <a:p>
                      <a:pPr marL="0" indent="0">
                        <a:buNone/>
                      </a:pPr>
                      <a:r>
                        <a:rPr lang="en-US" sz="1100" b="1">
                          <a:solidFill>
                            <a:srgbClr val="B91C1C"/>
                          </a:solidFill>
                          <a:latin typeface="Calibri" pitchFamily="34" charset="0"/>
                          <a:ea typeface="Calibri" pitchFamily="34" charset="-122"/>
                          <a:cs typeface="Calibri" pitchFamily="34" charset="-120"/>
                        </a:rPr>
                        <a:t>Cancel</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Calibri" charset="0"/>
                          <a:ea typeface="Calibri" charset="0"/>
                          <a:cs typeface="Calibri" charset="0"/>
                        </a:rPr>
                        <a:t>If the service request type is </a:t>
                      </a:r>
                      <a:r>
                        <a:rPr lang="zh-CN" altLang="zh-CN" sz="1100">
                          <a:effectLst/>
                        </a:rPr>
                        <a:t>Flex Down (FDWN) / Early Termination</a:t>
                      </a:r>
                      <a:r>
                        <a:rPr lang="en-US" altLang="zh-CN" sz="1100">
                          <a:effectLst/>
                        </a:rPr>
                        <a:t>-</a:t>
                      </a:r>
                      <a:r>
                        <a:rPr lang="zh-CN" altLang="zh-CN" sz="1100">
                          <a:effectLst/>
                        </a:rPr>
                        <a:t>BuyOut (ETB) / Early Termination</a:t>
                      </a:r>
                      <a:r>
                        <a:rPr lang="en-US" altLang="zh-CN" sz="1100">
                          <a:effectLst/>
                        </a:rPr>
                        <a:t>-</a:t>
                      </a:r>
                      <a:r>
                        <a:rPr lang="zh-CN" altLang="zh-CN" sz="1100">
                          <a:effectLst/>
                        </a:rPr>
                        <a:t>Return (ETR) </a:t>
                      </a:r>
                      <a:r>
                        <a:rPr lang="en-US" altLang="zh-CN" sz="1100">
                          <a:effectLst/>
                        </a:rPr>
                        <a:t> and the qty reduce to zero OR mass,</a:t>
                      </a:r>
                      <a:r>
                        <a:rPr lang="zh-CN" altLang="en-US" sz="1100">
                          <a:effectLst/>
                        </a:rPr>
                        <a:t> </a:t>
                      </a:r>
                      <a:r>
                        <a:rPr lang="en-US" altLang="zh-CN" sz="1100">
                          <a:effectLst/>
                        </a:rPr>
                        <a:t>so</a:t>
                      </a:r>
                      <a:r>
                        <a:rPr lang="zh-CN" altLang="en-US" sz="1100">
                          <a:effectLst/>
                        </a:rPr>
                        <a:t> </a:t>
                      </a:r>
                      <a:r>
                        <a:rPr lang="en-US" altLang="zh-CN" sz="1100">
                          <a:effectLst/>
                        </a:rPr>
                        <a:t>the p</a:t>
                      </a:r>
                      <a:r>
                        <a:rPr lang="en-US" altLang="zh-CN" sz="1100" kern="1200">
                          <a:solidFill>
                            <a:schemeClr val="tx1"/>
                          </a:solidFill>
                          <a:latin typeface="Calibri" charset="0"/>
                          <a:ea typeface="Calibri" charset="0"/>
                          <a:cs typeface="Calibri" charset="0"/>
                        </a:rPr>
                        <a:t>ayment schedule status change to </a:t>
                      </a:r>
                      <a:r>
                        <a:rPr lang="en-US" altLang="zh-CN" sz="1100" b="1" kern="1200">
                          <a:solidFill>
                            <a:srgbClr val="B91C1C"/>
                          </a:solidFill>
                          <a:latin typeface="Calibri" pitchFamily="34" charset="0"/>
                          <a:ea typeface="Calibri" pitchFamily="34" charset="-122"/>
                          <a:cs typeface="Calibri" pitchFamily="34" charset="-120"/>
                        </a:rPr>
                        <a:t>7-Cancel. Or mass change the subscription order to cancel, then will change the payment schedule status to cancel.</a:t>
                      </a:r>
                      <a:endParaRPr lang="zh-CN" altLang="zh-CN" sz="1100" b="1" kern="1200">
                        <a:solidFill>
                          <a:srgbClr val="B91C1C"/>
                        </a:solidFill>
                        <a:latin typeface="Calibri" pitchFamily="34" charset="0"/>
                        <a:ea typeface="+mn-ea"/>
                        <a:cs typeface="Calibri" pitchFamily="34" charset="-12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7"/>
                  </a:ext>
                </a:extLst>
              </a:tr>
              <a:tr h="222373">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8</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solidFill>
                      <a:srgbClr val="64748B"/>
                    </a:solidFill>
                  </a:tcPr>
                </a:tc>
                <a:tc>
                  <a:txBody>
                    <a:bodyPr/>
                    <a:lstStyle/>
                    <a:p>
                      <a:pPr marL="0" indent="0">
                        <a:buNone/>
                      </a:pPr>
                      <a:r>
                        <a:rPr lang="en-US" sz="1100" b="1">
                          <a:solidFill>
                            <a:srgbClr val="64748B"/>
                          </a:solidFill>
                          <a:latin typeface="Calibri" pitchFamily="34" charset="0"/>
                          <a:ea typeface="Calibri" pitchFamily="34" charset="-122"/>
                          <a:cs typeface="Calibri" pitchFamily="34" charset="-120"/>
                        </a:rPr>
                        <a:t>Lock</a:t>
                      </a:r>
                      <a:endParaRPr lang="en-US" sz="1100">
                        <a:latin typeface="Calibri" charset="0"/>
                        <a:ea typeface="Calibri" charset="0"/>
                        <a:cs typeface="Calibri" charset="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a:latin typeface="Calibri" charset="0"/>
                          <a:ea typeface="Calibri" charset="0"/>
                          <a:cs typeface="Calibri" charset="0"/>
                        </a:rPr>
                        <a:t>If the service request type is </a:t>
                      </a:r>
                      <a:r>
                        <a:rPr lang="zh-CN" altLang="zh-CN" sz="1100">
                          <a:effectLst/>
                        </a:rPr>
                        <a:t>Flex Pause</a:t>
                      </a:r>
                      <a:r>
                        <a:rPr lang="en-US" altLang="zh-CN" sz="1100">
                          <a:effectLst/>
                        </a:rPr>
                        <a:t> and the qty reduce to zero,</a:t>
                      </a:r>
                      <a:r>
                        <a:rPr lang="zh-CN" altLang="en-US" sz="1100">
                          <a:effectLst/>
                        </a:rPr>
                        <a:t> </a:t>
                      </a:r>
                      <a:r>
                        <a:rPr lang="en-US" altLang="zh-CN" sz="1100">
                          <a:effectLst/>
                        </a:rPr>
                        <a:t>so</a:t>
                      </a:r>
                      <a:r>
                        <a:rPr lang="zh-CN" altLang="en-US" sz="1100">
                          <a:effectLst/>
                        </a:rPr>
                        <a:t> </a:t>
                      </a:r>
                      <a:r>
                        <a:rPr lang="en-US" altLang="zh-CN" sz="1100">
                          <a:effectLst/>
                        </a:rPr>
                        <a:t>the p</a:t>
                      </a:r>
                      <a:r>
                        <a:rPr lang="en-US" altLang="zh-CN" sz="1100" kern="1200">
                          <a:solidFill>
                            <a:schemeClr val="tx1"/>
                          </a:solidFill>
                          <a:latin typeface="Calibri" charset="0"/>
                          <a:ea typeface="Calibri" charset="0"/>
                          <a:cs typeface="Calibri" charset="0"/>
                        </a:rPr>
                        <a:t>ayment schedule status change to </a:t>
                      </a:r>
                      <a:r>
                        <a:rPr lang="en-US" altLang="zh-CN" sz="1100" b="1" kern="1200">
                          <a:solidFill>
                            <a:srgbClr val="64748B"/>
                          </a:solidFill>
                          <a:latin typeface="Calibri" pitchFamily="34" charset="0"/>
                          <a:ea typeface="Calibri" pitchFamily="34" charset="-122"/>
                          <a:cs typeface="Calibri" pitchFamily="34" charset="-120"/>
                        </a:rPr>
                        <a:t>8-Lock.</a:t>
                      </a:r>
                      <a:r>
                        <a:rPr lang="en-US" altLang="zh-CN" sz="1100" b="1" kern="1200">
                          <a:solidFill>
                            <a:srgbClr val="B91C1C"/>
                          </a:solidFill>
                          <a:latin typeface="Calibri" pitchFamily="34" charset="0"/>
                          <a:ea typeface="Calibri" pitchFamily="34" charset="-122"/>
                          <a:cs typeface="Calibri" pitchFamily="34" charset="-120"/>
                        </a:rPr>
                        <a:t> Or mass change the subscription order to lock, then will change the payment schedule status to lock.</a:t>
                      </a:r>
                      <a:endParaRPr lang="zh-CN" altLang="zh-CN" sz="1100" b="1" kern="1200">
                        <a:solidFill>
                          <a:srgbClr val="64748B"/>
                        </a:solidFill>
                        <a:latin typeface="Calibri" pitchFamily="34" charset="0"/>
                        <a:ea typeface="+mn-ea"/>
                        <a:cs typeface="Calibri" pitchFamily="34" charset="-120"/>
                      </a:endParaRPr>
                    </a:p>
                  </a:txBody>
                  <a:tcPr anchor="ctr">
                    <a:lnL w="6350" cap="flat" cmpd="sng" algn="ctr">
                      <a:solidFill>
                        <a:srgbClr val="D5DEEC"/>
                      </a:solidFill>
                      <a:prstDash val="solid"/>
                      <a:round/>
                      <a:headEnd type="none" w="med" len="med"/>
                      <a:tailEnd type="none" w="med" len="med"/>
                    </a:lnL>
                    <a:lnR w="6350" cap="flat" cmpd="sng" algn="ctr">
                      <a:solidFill>
                        <a:srgbClr val="D5DEEC"/>
                      </a:solidFill>
                      <a:prstDash val="solid"/>
                      <a:round/>
                      <a:headEnd type="none" w="med" len="med"/>
                      <a:tailEnd type="none" w="med" len="med"/>
                    </a:lnR>
                    <a:lnT w="6350" cap="flat" cmpd="sng" algn="ctr">
                      <a:solidFill>
                        <a:srgbClr val="D5DEEC"/>
                      </a:solidFill>
                      <a:prstDash val="solid"/>
                      <a:round/>
                      <a:headEnd type="none" w="med" len="med"/>
                      <a:tailEnd type="none" w="med" len="med"/>
                    </a:lnT>
                    <a:lnB w="6350" cap="flat" cmpd="sng" algn="ctr">
                      <a:solidFill>
                        <a:srgbClr val="D5DEE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cxnSp>
        <p:nvCxnSpPr>
          <p:cNvPr id="14" name="直接箭头连接符 13">
            <a:extLst>
              <a:ext uri="{FF2B5EF4-FFF2-40B4-BE49-F238E27FC236}">
                <a16:creationId xmlns:a16="http://schemas.microsoft.com/office/drawing/2014/main" id="{6A86BF7E-001A-D901-7257-4659BDED6048}"/>
              </a:ext>
            </a:extLst>
          </p:cNvPr>
          <p:cNvCxnSpPr/>
          <p:nvPr/>
        </p:nvCxnSpPr>
        <p:spPr bwMode="auto">
          <a:xfrm>
            <a:off x="4149213" y="3913233"/>
            <a:ext cx="176981" cy="894735"/>
          </a:xfrm>
          <a:prstGeom prst="straightConnector1">
            <a:avLst/>
          </a:prstGeom>
          <a:solidFill>
            <a:schemeClr val="bg1"/>
          </a:solidFill>
          <a:ln w="9525" cap="flat" cmpd="sng" algn="ctr">
            <a:noFill/>
            <a:prstDash val="solid"/>
            <a:round/>
            <a:headEnd type="none" w="med" len="med"/>
            <a:tailEnd type="triangle"/>
          </a:ln>
          <a:effectLst/>
        </p:spPr>
      </p:cxnSp>
      <p:pic>
        <p:nvPicPr>
          <p:cNvPr id="16" name="图片 15">
            <a:extLst>
              <a:ext uri="{FF2B5EF4-FFF2-40B4-BE49-F238E27FC236}">
                <a16:creationId xmlns:a16="http://schemas.microsoft.com/office/drawing/2014/main" id="{3B396498-B3A0-6543-CFF1-E70C0873F573}"/>
              </a:ext>
            </a:extLst>
          </p:cNvPr>
          <p:cNvPicPr>
            <a:picLocks noChangeAspect="1"/>
          </p:cNvPicPr>
          <p:nvPr/>
        </p:nvPicPr>
        <p:blipFill>
          <a:blip r:embed="rId4"/>
          <a:stretch>
            <a:fillRect/>
          </a:stretch>
        </p:blipFill>
        <p:spPr>
          <a:xfrm>
            <a:off x="2599182" y="4591697"/>
            <a:ext cx="1819625" cy="1956587"/>
          </a:xfrm>
          <a:prstGeom prst="rect">
            <a:avLst/>
          </a:prstGeom>
        </p:spPr>
      </p:pic>
      <p:sp>
        <p:nvSpPr>
          <p:cNvPr id="8" name="Title 10">
            <a:extLst>
              <a:ext uri="{FF2B5EF4-FFF2-40B4-BE49-F238E27FC236}">
                <a16:creationId xmlns:a16="http://schemas.microsoft.com/office/drawing/2014/main" id="{0258288F-6963-A1BD-ED2E-0C95857A2122}"/>
              </a:ext>
            </a:extLst>
          </p:cNvPr>
          <p:cNvSpPr txBox="1">
            <a:spLocks/>
          </p:cNvSpPr>
          <p:nvPr/>
        </p:nvSpPr>
        <p:spPr>
          <a:xfrm>
            <a:off x="330200" y="818601"/>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cxnSp>
        <p:nvCxnSpPr>
          <p:cNvPr id="18" name="直接箭头连接符 17">
            <a:extLst>
              <a:ext uri="{FF2B5EF4-FFF2-40B4-BE49-F238E27FC236}">
                <a16:creationId xmlns:a16="http://schemas.microsoft.com/office/drawing/2014/main" id="{B2807F6D-A8C3-FFD5-26EF-642DD6ED578B}"/>
              </a:ext>
            </a:extLst>
          </p:cNvPr>
          <p:cNvCxnSpPr>
            <a:cxnSpLocks/>
          </p:cNvCxnSpPr>
          <p:nvPr/>
        </p:nvCxnSpPr>
        <p:spPr bwMode="auto">
          <a:xfrm>
            <a:off x="4149213" y="3913233"/>
            <a:ext cx="176981" cy="1268367"/>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52173918"/>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B7198-DC1C-6704-DC7C-B17BC4258F5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E86A191-FAA2-8F75-6C09-41458433B0CE}"/>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Schedule-Data List</a:t>
            </a:r>
            <a:endParaRPr lang="zh-CN" altLang="en-US" sz="3400">
              <a:solidFill>
                <a:srgbClr val="000000"/>
              </a:solidFill>
              <a:latin typeface="Aptos Display" panose="020B0004020202020204" pitchFamily="34" charset="0"/>
            </a:endParaRPr>
          </a:p>
        </p:txBody>
      </p:sp>
      <p:pic>
        <p:nvPicPr>
          <p:cNvPr id="10" name="图片 9">
            <a:extLst>
              <a:ext uri="{FF2B5EF4-FFF2-40B4-BE49-F238E27FC236}">
                <a16:creationId xmlns:a16="http://schemas.microsoft.com/office/drawing/2014/main" id="{62CC999D-9A38-FD77-6C27-73A75DA8C27A}"/>
              </a:ext>
            </a:extLst>
          </p:cNvPr>
          <p:cNvPicPr>
            <a:picLocks noChangeAspect="1"/>
          </p:cNvPicPr>
          <p:nvPr/>
        </p:nvPicPr>
        <p:blipFill>
          <a:blip r:embed="rId2"/>
          <a:stretch>
            <a:fillRect/>
          </a:stretch>
        </p:blipFill>
        <p:spPr>
          <a:xfrm>
            <a:off x="320182" y="1851736"/>
            <a:ext cx="7075090" cy="3233537"/>
          </a:xfrm>
          <a:prstGeom prst="rect">
            <a:avLst/>
          </a:prstGeom>
        </p:spPr>
      </p:pic>
      <p:graphicFrame>
        <p:nvGraphicFramePr>
          <p:cNvPr id="11" name="表格 10">
            <a:extLst>
              <a:ext uri="{FF2B5EF4-FFF2-40B4-BE49-F238E27FC236}">
                <a16:creationId xmlns:a16="http://schemas.microsoft.com/office/drawing/2014/main" id="{1E030C55-A0B4-9E84-BDC1-DEAB604CB498}"/>
              </a:ext>
            </a:extLst>
          </p:cNvPr>
          <p:cNvGraphicFramePr>
            <a:graphicFrameLocks noGrp="1"/>
          </p:cNvGraphicFramePr>
          <p:nvPr/>
        </p:nvGraphicFramePr>
        <p:xfrm>
          <a:off x="7639663" y="1760220"/>
          <a:ext cx="4232155" cy="4785360"/>
        </p:xfrm>
        <a:graphic>
          <a:graphicData uri="http://schemas.openxmlformats.org/drawingml/2006/table">
            <a:tbl>
              <a:tblPr firstRow="1" bandRow="1">
                <a:tableStyleId>{5C22544A-7EE6-4342-B048-85BDC9FD1C3A}</a:tableStyleId>
              </a:tblPr>
              <a:tblGrid>
                <a:gridCol w="1452398">
                  <a:extLst>
                    <a:ext uri="{9D8B030D-6E8A-4147-A177-3AD203B41FA5}">
                      <a16:colId xmlns:a16="http://schemas.microsoft.com/office/drawing/2014/main" val="1189040653"/>
                    </a:ext>
                  </a:extLst>
                </a:gridCol>
                <a:gridCol w="2779757">
                  <a:extLst>
                    <a:ext uri="{9D8B030D-6E8A-4147-A177-3AD203B41FA5}">
                      <a16:colId xmlns:a16="http://schemas.microsoft.com/office/drawing/2014/main" val="4168800627"/>
                    </a:ext>
                  </a:extLst>
                </a:gridCol>
              </a:tblGrid>
              <a:tr h="370840">
                <a:tc>
                  <a:txBody>
                    <a:bodyPr/>
                    <a:lstStyle/>
                    <a:p>
                      <a:pPr algn="l" fontAlgn="ctr">
                        <a:buNone/>
                      </a:pPr>
                      <a:r>
                        <a:rPr lang="en-US" altLang="zh-CN" sz="1100" b="1" i="0" u="none" strike="noStrike" kern="1200">
                          <a:solidFill>
                            <a:srgbClr val="1B2434"/>
                          </a:solidFill>
                          <a:effectLst/>
                          <a:latin typeface="Aptos" panose="020B0004020202020204" pitchFamily="34" charset="0"/>
                          <a:ea typeface="等线" panose="02010600030101010101" pitchFamily="2" charset="-122"/>
                          <a:cs typeface="+mn-cs"/>
                        </a:rPr>
                        <a:t>Charge From Date</a:t>
                      </a: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DAEDEF"/>
                    </a:solidFill>
                  </a:tcPr>
                </a:tc>
                <a:tc rowSpan="2">
                  <a:txBody>
                    <a:bodyPr/>
                    <a:lstStyle/>
                    <a:p>
                      <a:r>
                        <a:rPr lang="zh-CN" altLang="zh-CN" sz="1300" b="1" i="0" u="none" strike="noStrike" kern="1200">
                          <a:solidFill>
                            <a:srgbClr val="1B2434"/>
                          </a:solidFill>
                          <a:effectLst/>
                          <a:latin typeface="Aptos" panose="020B0004020202020204" pitchFamily="34" charset="0"/>
                          <a:ea typeface="等线" panose="02010600030101010101" pitchFamily="2" charset="-122"/>
                          <a:cs typeface="+mn-cs"/>
                        </a:rPr>
                        <a:t>The system automatically calculates the Charge From Date and Charge To Date for each period using the contract term from the </a:t>
                      </a:r>
                      <a:r>
                        <a:rPr lang="en-US" altLang="zh-CN" sz="1300" b="1" i="0" u="none" strike="noStrike" kern="1200">
                          <a:solidFill>
                            <a:srgbClr val="1B2434"/>
                          </a:solidFill>
                          <a:effectLst/>
                          <a:latin typeface="Aptos" panose="020B0004020202020204" pitchFamily="34" charset="0"/>
                          <a:ea typeface="等线" panose="02010600030101010101" pitchFamily="2" charset="-122"/>
                          <a:cs typeface="+mn-cs"/>
                        </a:rPr>
                        <a:t>subscription order </a:t>
                      </a:r>
                      <a:r>
                        <a:rPr lang="zh-CN" altLang="zh-CN" sz="1300" b="1" i="0" u="none" strike="noStrike" kern="1200">
                          <a:solidFill>
                            <a:srgbClr val="1B2434"/>
                          </a:solidFill>
                          <a:effectLst/>
                          <a:latin typeface="Aptos" panose="020B0004020202020204" pitchFamily="34" charset="0"/>
                          <a:ea typeface="等线" panose="02010600030101010101" pitchFamily="2" charset="-122"/>
                          <a:cs typeface="+mn-cs"/>
                        </a:rPr>
                        <a:t>and the billing cycle</a:t>
                      </a:r>
                      <a:r>
                        <a:rPr lang="en-US" altLang="zh-CN" sz="1300" b="1" i="0" u="none" strike="noStrike" kern="1200">
                          <a:solidFill>
                            <a:srgbClr val="1B2434"/>
                          </a:solidFill>
                          <a:effectLst/>
                          <a:latin typeface="Aptos" panose="020B0004020202020204" pitchFamily="34" charset="0"/>
                          <a:ea typeface="等线" panose="02010600030101010101" pitchFamily="2" charset="-122"/>
                          <a:cs typeface="+mn-cs"/>
                        </a:rPr>
                        <a:t>.</a:t>
                      </a:r>
                      <a:endParaRPr lang="zh-CN" altLang="en-US" sz="1300" b="1" i="0" u="none" strike="noStrike" kern="1200">
                        <a:solidFill>
                          <a:srgbClr val="1B2434"/>
                        </a:solidFill>
                        <a:effectLst/>
                        <a:latin typeface="Aptos" panose="020B0004020202020204" pitchFamily="34" charset="0"/>
                        <a:ea typeface="等线" panose="02010600030101010101" pitchFamily="2" charset="-122"/>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DAEDEF"/>
                    </a:solidFill>
                  </a:tcPr>
                </a:tc>
                <a:extLst>
                  <a:ext uri="{0D108BD9-81ED-4DB2-BD59-A6C34878D82A}">
                    <a16:rowId xmlns:a16="http://schemas.microsoft.com/office/drawing/2014/main" val="881126811"/>
                  </a:ext>
                </a:extLst>
              </a:tr>
              <a:tr h="576580">
                <a:tc>
                  <a:txBody>
                    <a:bodyPr/>
                    <a:lstStyle/>
                    <a:p>
                      <a:pPr algn="l" fontAlgn="ctr">
                        <a:buNone/>
                      </a:pPr>
                      <a:r>
                        <a:rPr lang="en-US" altLang="zh-CN" sz="1100" b="1" i="0" u="none" strike="noStrike" kern="1200">
                          <a:solidFill>
                            <a:srgbClr val="000000"/>
                          </a:solidFill>
                          <a:effectLst/>
                          <a:latin typeface="等线" panose="02010600030101010101" pitchFamily="2" charset="-122"/>
                          <a:ea typeface="等线" panose="02010600030101010101" pitchFamily="2" charset="-122"/>
                          <a:cs typeface="+mn-cs"/>
                        </a:rPr>
                        <a:t>Charge To Date</a:t>
                      </a:r>
                    </a:p>
                  </a:txBody>
                  <a:tcPr marL="0" marR="0" marT="0" marB="0" anchor="ctr">
                    <a:lnL w="12700" cap="flat" cmpd="sng" algn="ctr">
                      <a:solidFill>
                        <a:schemeClr val="tx1"/>
                      </a:solidFill>
                      <a:prstDash val="solid"/>
                      <a:round/>
                      <a:headEnd type="none" w="med" len="med"/>
                      <a:tailEnd type="none" w="med" len="med"/>
                    </a:lnL>
                    <a:solidFill>
                      <a:schemeClr val="accent1">
                        <a:lumMod val="75000"/>
                      </a:schemeClr>
                    </a:solidFill>
                  </a:tcPr>
                </a:tc>
                <a:tc vMerge="1">
                  <a:txBody>
                    <a:bodyPr/>
                    <a:lstStyle/>
                    <a:p>
                      <a:endParaRPr lang="zh-CN" altLang="en-US"/>
                    </a:p>
                  </a:txBody>
                  <a:tcPr/>
                </a:tc>
                <a:extLst>
                  <a:ext uri="{0D108BD9-81ED-4DB2-BD59-A6C34878D82A}">
                    <a16:rowId xmlns:a16="http://schemas.microsoft.com/office/drawing/2014/main" val="1661265954"/>
                  </a:ext>
                </a:extLst>
              </a:tr>
              <a:tr h="370840">
                <a:tc>
                  <a:txBody>
                    <a:bodyPr/>
                    <a:lstStyle/>
                    <a:p>
                      <a:pPr algn="l" fontAlgn="ctr">
                        <a:buNone/>
                      </a:pPr>
                      <a:r>
                        <a:rPr lang="en-US" altLang="zh-CN" sz="1100" b="1" i="0" u="none" strike="noStrike" kern="1200">
                          <a:solidFill>
                            <a:srgbClr val="000000"/>
                          </a:solidFill>
                          <a:effectLst/>
                          <a:latin typeface="等线" panose="02010600030101010101" pitchFamily="2" charset="-122"/>
                          <a:ea typeface="等线" panose="02010600030101010101" pitchFamily="2" charset="-122"/>
                          <a:cs typeface="+mn-cs"/>
                        </a:rPr>
                        <a:t>Billing Cycle</a:t>
                      </a:r>
                    </a:p>
                  </a:txBody>
                  <a:tcPr marL="0" marR="0" marT="0" marB="0" anchor="ctr">
                    <a:lnL w="12700" cap="flat" cmpd="sng" algn="ctr">
                      <a:solidFill>
                        <a:schemeClr val="tx1"/>
                      </a:solidFill>
                      <a:prstDash val="solid"/>
                      <a:round/>
                      <a:headEnd type="none" w="med" len="med"/>
                      <a:tailEnd type="none" w="med" len="med"/>
                    </a:lnL>
                    <a:solidFill>
                      <a:schemeClr val="bg1">
                        <a:lumMod val="75000"/>
                      </a:schemeClr>
                    </a:solidFill>
                  </a:tcPr>
                </a:tc>
                <a:tc>
                  <a:txBody>
                    <a:bodyPr/>
                    <a:lstStyle/>
                    <a:p>
                      <a:r>
                        <a:rPr lang="en-US" altLang="zh-CN" sz="1300"/>
                        <a:t>For recurring invoice, the Billing cycle have the value, like monthly invoice, quarterly invoice, yearly,</a:t>
                      </a:r>
                      <a:r>
                        <a:rPr lang="zh-CN" altLang="zh-CN" sz="1300" b="0" i="0" kern="1200">
                          <a:solidFill>
                            <a:schemeClr val="dk1"/>
                          </a:solidFill>
                          <a:effectLst/>
                          <a:latin typeface="+mn-lt"/>
                          <a:ea typeface="+mn-ea"/>
                          <a:cs typeface="+mn-cs"/>
                        </a:rPr>
                        <a:t> Semiyearly</a:t>
                      </a:r>
                      <a:r>
                        <a:rPr lang="en-US" altLang="zh-CN" sz="1300" b="0" i="0" kern="1200">
                          <a:solidFill>
                            <a:schemeClr val="dk1"/>
                          </a:solidFill>
                          <a:effectLst/>
                          <a:latin typeface="+mn-lt"/>
                          <a:ea typeface="+mn-ea"/>
                          <a:cs typeface="+mn-cs"/>
                        </a:rPr>
                        <a:t>..etc.</a:t>
                      </a:r>
                      <a:br>
                        <a:rPr lang="en-US" altLang="zh-CN" sz="1300" b="0" i="0" kern="1200">
                          <a:solidFill>
                            <a:schemeClr val="dk1"/>
                          </a:solidFill>
                          <a:effectLst/>
                          <a:latin typeface="+mn-lt"/>
                          <a:ea typeface="+mn-ea"/>
                          <a:cs typeface="+mn-cs"/>
                        </a:rPr>
                      </a:br>
                      <a:r>
                        <a:rPr lang="en-US" altLang="zh-CN" sz="1300" b="0" i="0" kern="1200">
                          <a:solidFill>
                            <a:schemeClr val="dk1"/>
                          </a:solidFill>
                          <a:effectLst/>
                          <a:latin typeface="+mn-lt"/>
                          <a:ea typeface="+mn-ea"/>
                          <a:cs typeface="+mn-cs"/>
                        </a:rPr>
                        <a:t>But for one-time invoice, the billing cycle is blank.</a:t>
                      </a:r>
                      <a:endParaRPr lang="zh-CN" altLang="en-US" sz="1300"/>
                    </a:p>
                  </a:txBody>
                  <a:tcPr>
                    <a:lnR w="12700" cap="flat" cmpd="sng" algn="ctr">
                      <a:solidFill>
                        <a:schemeClr val="tx1"/>
                      </a:solidFill>
                      <a:prstDash val="solid"/>
                      <a:round/>
                      <a:headEnd type="none" w="med" len="med"/>
                      <a:tailEnd type="none" w="med" len="med"/>
                    </a:lnR>
                    <a:solidFill>
                      <a:schemeClr val="bg1">
                        <a:lumMod val="75000"/>
                      </a:schemeClr>
                    </a:solidFill>
                  </a:tcPr>
                </a:tc>
                <a:extLst>
                  <a:ext uri="{0D108BD9-81ED-4DB2-BD59-A6C34878D82A}">
                    <a16:rowId xmlns:a16="http://schemas.microsoft.com/office/drawing/2014/main" val="3867176692"/>
                  </a:ext>
                </a:extLst>
              </a:tr>
              <a:tr h="370840">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Currency</a:t>
                      </a:r>
                    </a:p>
                  </a:txBody>
                  <a:tcPr marL="0" marR="0" marT="0" marB="0" anchor="ctr">
                    <a:lnL w="12700" cap="flat" cmpd="sng" algn="ctr">
                      <a:solidFill>
                        <a:schemeClr val="tx1"/>
                      </a:solidFill>
                      <a:prstDash val="solid"/>
                      <a:round/>
                      <a:headEnd type="none" w="med" len="med"/>
                      <a:tailEnd type="none" w="med" len="med"/>
                    </a:lnL>
                    <a:solidFill>
                      <a:srgbClr val="FFC000"/>
                    </a:solidFill>
                  </a:tcPr>
                </a:tc>
                <a:tc rowSpan="4">
                  <a:txBody>
                    <a:bodyPr/>
                    <a:lstStyle/>
                    <a:p>
                      <a:pPr marL="0" algn="l" defTabSz="914400" rtl="0" eaLnBrk="1" fontAlgn="ctr" latinLnBrk="0" hangingPunct="1">
                        <a:buNone/>
                      </a:pPr>
                      <a:r>
                        <a:rPr lang="en-US" altLang="zh-CN" sz="1300" b="0" i="0" u="none" strike="noStrike" kern="1200">
                          <a:solidFill>
                            <a:srgbClr val="000000"/>
                          </a:solidFill>
                          <a:effectLst/>
                          <a:latin typeface="等线" panose="02010600030101010101" pitchFamily="2" charset="-122"/>
                          <a:ea typeface="等线" panose="02010600030101010101" pitchFamily="2" charset="-122"/>
                          <a:cs typeface="+mn-cs"/>
                        </a:rPr>
                        <a:t>The 4 fields is copy from subscription order,</a:t>
                      </a:r>
                      <a:r>
                        <a:rPr lang="zh-CN" altLang="en-US" sz="1300" b="0" i="0" u="none" strike="noStrike" kern="1200">
                          <a:solidFill>
                            <a:srgbClr val="000000"/>
                          </a:solidFill>
                          <a:effectLst/>
                          <a:latin typeface="等线" panose="02010600030101010101" pitchFamily="2" charset="-122"/>
                          <a:ea typeface="等线" panose="02010600030101010101" pitchFamily="2" charset="-122"/>
                          <a:cs typeface="+mn-cs"/>
                        </a:rPr>
                        <a:t> </a:t>
                      </a:r>
                      <a:r>
                        <a:rPr lang="en-US" altLang="zh-CN" sz="1300" b="0" i="0" u="none" strike="noStrike" kern="1200">
                          <a:solidFill>
                            <a:srgbClr val="000000"/>
                          </a:solidFill>
                          <a:effectLst/>
                          <a:latin typeface="等线" panose="02010600030101010101" pitchFamily="2" charset="-122"/>
                          <a:ea typeface="等线" panose="02010600030101010101" pitchFamily="2" charset="-122"/>
                          <a:cs typeface="+mn-cs"/>
                        </a:rPr>
                        <a:t>and display every period unit price/Qty/amount.</a:t>
                      </a:r>
                      <a:endParaRPr lang="zh-CN" altLang="en-US" sz="13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lnR w="12700" cap="flat" cmpd="sng" algn="ctr">
                      <a:solidFill>
                        <a:schemeClr val="tx1"/>
                      </a:solidFill>
                      <a:prstDash val="solid"/>
                      <a:round/>
                      <a:headEnd type="none" w="med" len="med"/>
                      <a:tailEnd type="none" w="med" len="med"/>
                    </a:lnR>
                    <a:solidFill>
                      <a:srgbClr val="FFC000"/>
                    </a:solidFill>
                  </a:tcPr>
                </a:tc>
                <a:extLst>
                  <a:ext uri="{0D108BD9-81ED-4DB2-BD59-A6C34878D82A}">
                    <a16:rowId xmlns:a16="http://schemas.microsoft.com/office/drawing/2014/main" val="1768513799"/>
                  </a:ext>
                </a:extLst>
              </a:tr>
              <a:tr h="370840">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Quantity</a:t>
                      </a:r>
                    </a:p>
                  </a:txBody>
                  <a:tcPr marL="0" marR="0" marT="0" marB="0" anchor="ctr">
                    <a:lnL w="12700" cap="flat" cmpd="sng" algn="ctr">
                      <a:solidFill>
                        <a:schemeClr val="tx1"/>
                      </a:solidFill>
                      <a:prstDash val="solid"/>
                      <a:round/>
                      <a:headEnd type="none" w="med" len="med"/>
                      <a:tailEnd type="none" w="med" len="med"/>
                    </a:lnL>
                    <a:solidFill>
                      <a:srgbClr val="FFC000"/>
                    </a:solidFill>
                  </a:tcPr>
                </a:tc>
                <a:tc vMerge="1">
                  <a:txBody>
                    <a:bodyPr/>
                    <a:lstStyle/>
                    <a:p>
                      <a:endParaRPr lang="zh-CN" altLang="en-US"/>
                    </a:p>
                  </a:txBody>
                  <a:tcPr>
                    <a:solidFill>
                      <a:srgbClr val="FFC000"/>
                    </a:solidFill>
                  </a:tcPr>
                </a:tc>
                <a:extLst>
                  <a:ext uri="{0D108BD9-81ED-4DB2-BD59-A6C34878D82A}">
                    <a16:rowId xmlns:a16="http://schemas.microsoft.com/office/drawing/2014/main" val="3292960319"/>
                  </a:ext>
                </a:extLst>
              </a:tr>
              <a:tr h="370840">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Unit Price</a:t>
                      </a:r>
                    </a:p>
                  </a:txBody>
                  <a:tcPr marL="0" marR="0" marT="0" marB="0" anchor="ctr">
                    <a:lnL w="12700" cap="flat" cmpd="sng" algn="ctr">
                      <a:solidFill>
                        <a:schemeClr val="tx1"/>
                      </a:solidFill>
                      <a:prstDash val="solid"/>
                      <a:round/>
                      <a:headEnd type="none" w="med" len="med"/>
                      <a:tailEnd type="none" w="med" len="med"/>
                    </a:lnL>
                    <a:solidFill>
                      <a:srgbClr val="FFC000"/>
                    </a:solidFill>
                  </a:tcPr>
                </a:tc>
                <a:tc vMerge="1">
                  <a:txBody>
                    <a:bodyPr/>
                    <a:lstStyle/>
                    <a:p>
                      <a:endParaRPr lang="zh-CN" altLang="en-US"/>
                    </a:p>
                  </a:txBody>
                  <a:tcPr>
                    <a:solidFill>
                      <a:srgbClr val="FFC000"/>
                    </a:solidFill>
                  </a:tcPr>
                </a:tc>
                <a:extLst>
                  <a:ext uri="{0D108BD9-81ED-4DB2-BD59-A6C34878D82A}">
                    <a16:rowId xmlns:a16="http://schemas.microsoft.com/office/drawing/2014/main" val="2815876015"/>
                  </a:ext>
                </a:extLst>
              </a:tr>
              <a:tr h="370840">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Amount</a:t>
                      </a:r>
                    </a:p>
                  </a:txBody>
                  <a:tcPr marL="0" marR="0" marT="0" marB="0" anchor="ctr">
                    <a:lnL w="12700" cap="flat" cmpd="sng" algn="ctr">
                      <a:solidFill>
                        <a:schemeClr val="tx1"/>
                      </a:solidFill>
                      <a:prstDash val="solid"/>
                      <a:round/>
                      <a:headEnd type="none" w="med" len="med"/>
                      <a:tailEnd type="none" w="med" len="med"/>
                    </a:lnL>
                    <a:solidFill>
                      <a:srgbClr val="FFC000"/>
                    </a:solidFill>
                  </a:tcPr>
                </a:tc>
                <a:tc vMerge="1">
                  <a:txBody>
                    <a:bodyPr/>
                    <a:lstStyle/>
                    <a:p>
                      <a:endParaRPr lang="zh-CN" altLang="en-US"/>
                    </a:p>
                  </a:txBody>
                  <a:tcPr>
                    <a:solidFill>
                      <a:srgbClr val="FFC000"/>
                    </a:solidFill>
                  </a:tcPr>
                </a:tc>
                <a:extLst>
                  <a:ext uri="{0D108BD9-81ED-4DB2-BD59-A6C34878D82A}">
                    <a16:rowId xmlns:a16="http://schemas.microsoft.com/office/drawing/2014/main" val="380352561"/>
                  </a:ext>
                </a:extLst>
              </a:tr>
              <a:tr h="370840">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Product ID</a:t>
                      </a:r>
                    </a:p>
                  </a:txBody>
                  <a:tcPr marL="0" marR="0" marT="0" marB="0" anchor="ctr">
                    <a:lnL w="12700" cap="flat" cmpd="sng" algn="ctr">
                      <a:solidFill>
                        <a:schemeClr val="tx1"/>
                      </a:solidFill>
                      <a:prstDash val="solid"/>
                      <a:round/>
                      <a:headEnd type="none" w="med" len="med"/>
                      <a:tailEnd type="none" w="med" len="med"/>
                    </a:lnL>
                    <a:solidFill>
                      <a:srgbClr val="92D050"/>
                    </a:solidFill>
                  </a:tcPr>
                </a:tc>
                <a:tc rowSpan="2">
                  <a:txBody>
                    <a:bodyPr/>
                    <a:lstStyle/>
                    <a:p>
                      <a:pPr marL="0" algn="l" defTabSz="914400" rtl="0" eaLnBrk="1" fontAlgn="ctr" latinLnBrk="0" hangingPunct="1">
                        <a:buNone/>
                      </a:pPr>
                      <a:r>
                        <a:rPr lang="en-US" altLang="zh-CN" sz="1300" b="0" i="0" u="none" strike="noStrike" kern="1200">
                          <a:solidFill>
                            <a:srgbClr val="000000"/>
                          </a:solidFill>
                          <a:effectLst/>
                          <a:latin typeface="等线" panose="02010600030101010101" pitchFamily="2" charset="-122"/>
                          <a:ea typeface="等线" panose="02010600030101010101" pitchFamily="2" charset="-122"/>
                          <a:cs typeface="+mn-cs"/>
                        </a:rPr>
                        <a:t>Display the bundle ID/SA item and description.</a:t>
                      </a:r>
                      <a:endParaRPr lang="zh-CN" altLang="en-US" sz="13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03216309"/>
                  </a:ext>
                </a:extLst>
              </a:tr>
              <a:tr h="370840">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Product Description</a:t>
                      </a:r>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92D050"/>
                    </a:solidFill>
                  </a:tcPr>
                </a:tc>
                <a:tc vMerge="1">
                  <a:txBody>
                    <a:bodyPr/>
                    <a:lstStyle/>
                    <a:p>
                      <a:pPr marL="0" algn="l" defTabSz="914400" rtl="0" eaLnBrk="1" fontAlgn="ctr" latinLnBrk="0" hangingPunct="1">
                        <a:buNone/>
                      </a:pPr>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rgbClr val="FFC000"/>
                    </a:solidFill>
                  </a:tcPr>
                </a:tc>
                <a:extLst>
                  <a:ext uri="{0D108BD9-81ED-4DB2-BD59-A6C34878D82A}">
                    <a16:rowId xmlns:a16="http://schemas.microsoft.com/office/drawing/2014/main" val="2282011768"/>
                  </a:ext>
                </a:extLst>
              </a:tr>
            </a:tbl>
          </a:graphicData>
        </a:graphic>
      </p:graphicFrame>
      <p:sp>
        <p:nvSpPr>
          <p:cNvPr id="5" name="Title 10">
            <a:extLst>
              <a:ext uri="{FF2B5EF4-FFF2-40B4-BE49-F238E27FC236}">
                <a16:creationId xmlns:a16="http://schemas.microsoft.com/office/drawing/2014/main" id="{7341FBA8-9FBC-F52A-5A61-2E2BA0C07C27}"/>
              </a:ext>
            </a:extLst>
          </p:cNvPr>
          <p:cNvSpPr txBox="1">
            <a:spLocks/>
          </p:cNvSpPr>
          <p:nvPr/>
        </p:nvSpPr>
        <p:spPr>
          <a:xfrm>
            <a:off x="330200" y="818601"/>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92660904"/>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EA19-2D28-C8E3-9755-84AA27D162C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276069C-9B32-96CC-5BF0-B2E140DABB41}"/>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Schedule-Data List</a:t>
            </a:r>
            <a:endParaRPr lang="zh-CN" altLang="en-US" sz="3400">
              <a:solidFill>
                <a:srgbClr val="000000"/>
              </a:solidFill>
              <a:latin typeface="Aptos Display" panose="020B0004020202020204" pitchFamily="34" charset="0"/>
            </a:endParaRPr>
          </a:p>
        </p:txBody>
      </p:sp>
      <p:graphicFrame>
        <p:nvGraphicFramePr>
          <p:cNvPr id="11" name="表格 10">
            <a:extLst>
              <a:ext uri="{FF2B5EF4-FFF2-40B4-BE49-F238E27FC236}">
                <a16:creationId xmlns:a16="http://schemas.microsoft.com/office/drawing/2014/main" id="{B9501473-C2ED-6539-E28C-3761386513D4}"/>
              </a:ext>
            </a:extLst>
          </p:cNvPr>
          <p:cNvGraphicFramePr>
            <a:graphicFrameLocks noGrp="1"/>
          </p:cNvGraphicFramePr>
          <p:nvPr/>
        </p:nvGraphicFramePr>
        <p:xfrm>
          <a:off x="7806812" y="1546236"/>
          <a:ext cx="4011562" cy="3931920"/>
        </p:xfrm>
        <a:graphic>
          <a:graphicData uri="http://schemas.openxmlformats.org/drawingml/2006/table">
            <a:tbl>
              <a:tblPr firstRow="1" bandRow="1">
                <a:tableStyleId>{5C22544A-7EE6-4342-B048-85BDC9FD1C3A}</a:tableStyleId>
              </a:tblPr>
              <a:tblGrid>
                <a:gridCol w="1363494">
                  <a:extLst>
                    <a:ext uri="{9D8B030D-6E8A-4147-A177-3AD203B41FA5}">
                      <a16:colId xmlns:a16="http://schemas.microsoft.com/office/drawing/2014/main" val="1189040653"/>
                    </a:ext>
                  </a:extLst>
                </a:gridCol>
                <a:gridCol w="2648068">
                  <a:extLst>
                    <a:ext uri="{9D8B030D-6E8A-4147-A177-3AD203B41FA5}">
                      <a16:colId xmlns:a16="http://schemas.microsoft.com/office/drawing/2014/main" val="4168800627"/>
                    </a:ext>
                  </a:extLst>
                </a:gridCol>
              </a:tblGrid>
              <a:tr h="230775">
                <a:tc>
                  <a:txBody>
                    <a:bodyPr/>
                    <a:lstStyle/>
                    <a:p>
                      <a:pPr algn="l" fontAlgn="ctr">
                        <a:buNone/>
                      </a:pPr>
                      <a:r>
                        <a:rPr lang="en-US" altLang="zh-CN" sz="1100" b="1" i="0" u="none" strike="noStrike">
                          <a:solidFill>
                            <a:srgbClr val="1B2434"/>
                          </a:solidFill>
                          <a:effectLst/>
                          <a:latin typeface="Aptos" panose="020B0004020202020204" pitchFamily="34" charset="0"/>
                          <a:ea typeface="等线" panose="02010600030101010101" pitchFamily="2" charset="-122"/>
                        </a:rPr>
                        <a:t>Sold To Party</a:t>
                      </a:r>
                      <a:endParaRPr lang="zh-CN" sz="1100" b="1" i="0" u="none" strike="noStrike">
                        <a:solidFill>
                          <a:srgbClr val="1B2434"/>
                        </a:solidFill>
                        <a:effectLst/>
                        <a:latin typeface="Aptos" panose="020B0004020202020204" pitchFamily="34" charset="0"/>
                        <a:ea typeface="等线" panose="02010600030101010101" pitchFamily="2" charset="-122"/>
                      </a:endParaRPr>
                    </a:p>
                  </a:txBody>
                  <a:tcPr marL="0" marR="0" marT="0" marB="0" anchor="ctr">
                    <a:solidFill>
                      <a:srgbClr val="DAEDEF"/>
                    </a:solidFill>
                  </a:tcPr>
                </a:tc>
                <a:tc>
                  <a:txBody>
                    <a:bodyPr/>
                    <a:lstStyle/>
                    <a:p>
                      <a:endParaRPr lang="zh-CN" altLang="en-US" sz="1100" b="1" i="0" u="none" strike="noStrike" kern="1200">
                        <a:solidFill>
                          <a:srgbClr val="1B2434"/>
                        </a:solidFill>
                        <a:effectLst/>
                        <a:latin typeface="Aptos" panose="020B0004020202020204" pitchFamily="34" charset="0"/>
                        <a:ea typeface="等线" panose="02010600030101010101" pitchFamily="2" charset="-122"/>
                        <a:cs typeface="+mn-cs"/>
                      </a:endParaRPr>
                    </a:p>
                  </a:txBody>
                  <a:tcPr anchor="ctr">
                    <a:solidFill>
                      <a:srgbClr val="DAEDEF"/>
                    </a:solidFill>
                  </a:tcPr>
                </a:tc>
                <a:extLst>
                  <a:ext uri="{0D108BD9-81ED-4DB2-BD59-A6C34878D82A}">
                    <a16:rowId xmlns:a16="http://schemas.microsoft.com/office/drawing/2014/main" val="2757049123"/>
                  </a:ext>
                </a:extLst>
              </a:tr>
              <a:tr h="230775">
                <a:tc>
                  <a:txBody>
                    <a:bodyPr/>
                    <a:lstStyle/>
                    <a:p>
                      <a:pPr algn="l" fontAlgn="ctr">
                        <a:buNone/>
                      </a:pPr>
                      <a:r>
                        <a:rPr lang="en-US" altLang="zh-CN" sz="1100" b="1" i="0" u="none" strike="noStrike">
                          <a:solidFill>
                            <a:srgbClr val="000000"/>
                          </a:solidFill>
                          <a:effectLst/>
                          <a:latin typeface="等线" panose="02010600030101010101" pitchFamily="2" charset="-122"/>
                          <a:ea typeface="等线" panose="02010600030101010101" pitchFamily="2" charset="-122"/>
                        </a:rPr>
                        <a:t>Sold To Name</a:t>
                      </a:r>
                      <a:endParaRPr lang="zh-CN" sz="1100" b="1"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solidFill>
                      <a:schemeClr val="accent1">
                        <a:lumMod val="75000"/>
                      </a:schemeClr>
                    </a:solidFill>
                  </a:tcPr>
                </a:tc>
                <a:tc>
                  <a:txBody>
                    <a:bodyPr/>
                    <a:lstStyle/>
                    <a:p>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651086964"/>
                  </a:ext>
                </a:extLst>
              </a:tr>
              <a:tr h="230775">
                <a:tc>
                  <a:txBody>
                    <a:bodyPr/>
                    <a:lstStyle/>
                    <a:p>
                      <a:pPr algn="l" fontAlgn="ctr">
                        <a:buNone/>
                      </a:pPr>
                      <a:r>
                        <a:rPr lang="en-US" altLang="zh-CN" sz="1100" b="1" i="0" u="none" strike="noStrike">
                          <a:solidFill>
                            <a:srgbClr val="000000"/>
                          </a:solidFill>
                          <a:effectLst/>
                          <a:latin typeface="等线" panose="02010600030101010101" pitchFamily="2" charset="-122"/>
                          <a:ea typeface="等线" panose="02010600030101010101" pitchFamily="2" charset="-122"/>
                        </a:rPr>
                        <a:t>ERP ID</a:t>
                      </a:r>
                      <a:endParaRPr lang="zh-CN" sz="1100" b="1"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solidFill>
                      <a:schemeClr val="accent1">
                        <a:lumMod val="75000"/>
                      </a:schemeClr>
                    </a:solidFill>
                  </a:tcPr>
                </a:tc>
                <a:tc>
                  <a:txBody>
                    <a:bodyPr/>
                    <a:lstStyle/>
                    <a:p>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1305103838"/>
                  </a:ext>
                </a:extLst>
              </a:tr>
              <a:tr h="230775">
                <a:tc>
                  <a:txBody>
                    <a:bodyPr/>
                    <a:lstStyle/>
                    <a:p>
                      <a:pPr algn="l" fontAlgn="ctr">
                        <a:buNone/>
                      </a:pPr>
                      <a:r>
                        <a:rPr lang="en-US" altLang="zh-CN" sz="1100" b="1" i="0" u="none" strike="noStrike">
                          <a:solidFill>
                            <a:srgbClr val="000000"/>
                          </a:solidFill>
                          <a:effectLst/>
                          <a:latin typeface="等线" panose="02010600030101010101" pitchFamily="2" charset="-122"/>
                          <a:ea typeface="等线" panose="02010600030101010101" pitchFamily="2" charset="-122"/>
                        </a:rPr>
                        <a:t>EPR Item Id</a:t>
                      </a:r>
                      <a:endParaRPr lang="zh-CN" sz="1100" b="1"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solidFill>
                      <a:schemeClr val="accent1">
                        <a:lumMod val="75000"/>
                      </a:schemeClr>
                    </a:solidFill>
                  </a:tcPr>
                </a:tc>
                <a:tc>
                  <a:txBody>
                    <a:bodyPr/>
                    <a:lstStyle/>
                    <a:p>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420764100"/>
                  </a:ext>
                </a:extLst>
              </a:tr>
              <a:tr h="230775">
                <a:tc>
                  <a:txBody>
                    <a:bodyPr/>
                    <a:lstStyle/>
                    <a:p>
                      <a:pPr algn="l" fontAlgn="ctr">
                        <a:buNone/>
                      </a:pPr>
                      <a:r>
                        <a:rPr lang="en-US" altLang="zh-CN" sz="1100" b="1" i="0" u="none" strike="noStrike">
                          <a:solidFill>
                            <a:srgbClr val="000000"/>
                          </a:solidFill>
                          <a:effectLst/>
                          <a:latin typeface="等线" panose="02010600030101010101" pitchFamily="2" charset="-122"/>
                          <a:ea typeface="等线" panose="02010600030101010101" pitchFamily="2" charset="-122"/>
                        </a:rPr>
                        <a:t>Original order Id</a:t>
                      </a:r>
                      <a:endParaRPr lang="zh-CN" sz="1100" b="1"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solidFill>
                      <a:schemeClr val="accent1">
                        <a:lumMod val="75000"/>
                      </a:schemeClr>
                    </a:solidFill>
                  </a:tcPr>
                </a:tc>
                <a:tc>
                  <a:txBody>
                    <a:bodyPr/>
                    <a:lstStyle/>
                    <a:p>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782470929"/>
                  </a:ext>
                </a:extLst>
              </a:tr>
              <a:tr h="230775">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Current Term</a:t>
                      </a:r>
                    </a:p>
                  </a:txBody>
                  <a:tcPr marL="0" marR="0" marT="0" marB="0" anchor="ctr">
                    <a:solidFill>
                      <a:schemeClr val="accent1">
                        <a:lumMod val="75000"/>
                      </a:schemeClr>
                    </a:solidFill>
                  </a:tcPr>
                </a:tc>
                <a:tc>
                  <a:txBody>
                    <a:bodyPr/>
                    <a:lstStyle/>
                    <a:p>
                      <a:r>
                        <a:rPr lang="en-US" altLang="zh-CN" sz="1100" b="0" i="0" u="none" strike="noStrike" kern="1200">
                          <a:solidFill>
                            <a:srgbClr val="000000"/>
                          </a:solidFill>
                          <a:effectLst/>
                          <a:latin typeface="等线" panose="02010600030101010101" pitchFamily="2" charset="-122"/>
                          <a:ea typeface="等线" panose="02010600030101010101" pitchFamily="2" charset="-122"/>
                          <a:cs typeface="+mn-cs"/>
                        </a:rPr>
                        <a:t>The Current Term</a:t>
                      </a:r>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881126811"/>
                  </a:ext>
                </a:extLst>
              </a:tr>
              <a:tr h="380099">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Term Duration</a:t>
                      </a:r>
                    </a:p>
                  </a:txBody>
                  <a:tcPr marL="0" marR="0" marT="0" marB="0" anchor="ctr">
                    <a:solidFill>
                      <a:schemeClr val="accent1">
                        <a:lumMod val="75000"/>
                      </a:schemeClr>
                    </a:solidFill>
                  </a:tcPr>
                </a:tc>
                <a:tc>
                  <a:txBody>
                    <a:bodyPr/>
                    <a:lstStyle/>
                    <a:p>
                      <a:r>
                        <a:rPr lang="en-US" altLang="zh-CN" sz="1100" b="0" i="0" u="none" strike="noStrike" kern="1200">
                          <a:solidFill>
                            <a:srgbClr val="000000"/>
                          </a:solidFill>
                          <a:effectLst/>
                          <a:latin typeface="等线" panose="02010600030101010101" pitchFamily="2" charset="-122"/>
                          <a:ea typeface="等线" panose="02010600030101010101" pitchFamily="2" charset="-122"/>
                          <a:cs typeface="+mn-cs"/>
                        </a:rPr>
                        <a:t>The number of total month of the contract</a:t>
                      </a:r>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1661265954"/>
                  </a:ext>
                </a:extLst>
              </a:tr>
              <a:tr h="380099">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Selling  Term</a:t>
                      </a:r>
                    </a:p>
                  </a:txBody>
                  <a:tcPr marL="0" marR="0" marT="0" marB="0" anchor="ctr">
                    <a:solidFill>
                      <a:schemeClr val="accent1">
                        <a:lumMod val="75000"/>
                      </a:schemeClr>
                    </a:solidFill>
                  </a:tcPr>
                </a:tc>
                <a:tc>
                  <a:txBody>
                    <a:bodyPr/>
                    <a:lstStyle/>
                    <a:p>
                      <a:r>
                        <a:rPr lang="en-US" altLang="zh-CN" sz="1100" b="0" i="0" u="none" strike="noStrike" kern="1200">
                          <a:solidFill>
                            <a:srgbClr val="000000"/>
                          </a:solidFill>
                          <a:effectLst/>
                          <a:latin typeface="等线" panose="02010600030101010101" pitchFamily="2" charset="-122"/>
                          <a:ea typeface="等线" panose="02010600030101010101" pitchFamily="2" charset="-122"/>
                          <a:cs typeface="+mn-cs"/>
                        </a:rPr>
                        <a:t>The number of payment times of the contract</a:t>
                      </a:r>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chemeClr val="accent1">
                        <a:lumMod val="75000"/>
                      </a:schemeClr>
                    </a:solidFill>
                  </a:tcPr>
                </a:tc>
                <a:extLst>
                  <a:ext uri="{0D108BD9-81ED-4DB2-BD59-A6C34878D82A}">
                    <a16:rowId xmlns:a16="http://schemas.microsoft.com/office/drawing/2014/main" val="3867176692"/>
                  </a:ext>
                </a:extLst>
              </a:tr>
              <a:tr h="380099">
                <a:tc>
                  <a:txBody>
                    <a:bodyPr/>
                    <a:lstStyle/>
                    <a:p>
                      <a:pPr algn="l" fontAlgn="ctr">
                        <a:buNone/>
                      </a:pPr>
                      <a:r>
                        <a:rPr lang="zh-CN" sz="1100" b="1" i="0" u="none" strike="noStrike">
                          <a:solidFill>
                            <a:srgbClr val="000000"/>
                          </a:solidFill>
                          <a:effectLst/>
                          <a:latin typeface="等线" panose="02010600030101010101" pitchFamily="2" charset="-122"/>
                          <a:ea typeface="等线" panose="02010600030101010101" pitchFamily="2" charset="-122"/>
                        </a:rPr>
                        <a:t>Metering Type</a:t>
                      </a:r>
                    </a:p>
                  </a:txBody>
                  <a:tcPr marL="0" marR="0" marT="0" marB="0" anchor="ctr">
                    <a:solidFill>
                      <a:srgbClr val="92D050"/>
                    </a:solidFill>
                  </a:tcPr>
                </a:tc>
                <a:tc>
                  <a:txBody>
                    <a:bodyPr/>
                    <a:lstStyle/>
                    <a:p>
                      <a:pPr marL="0" algn="l" defTabSz="914400" rtl="0" eaLnBrk="1" fontAlgn="ctr" latinLnBrk="0" hangingPunct="1">
                        <a:buNone/>
                      </a:pPr>
                      <a:r>
                        <a:rPr lang="en-US" altLang="zh-CN" sz="1100" b="0" i="0" u="none" strike="noStrike" kern="1200">
                          <a:solidFill>
                            <a:srgbClr val="000000"/>
                          </a:solidFill>
                          <a:effectLst/>
                          <a:latin typeface="等线" panose="02010600030101010101" pitchFamily="2" charset="-122"/>
                          <a:ea typeface="等线" panose="02010600030101010101" pitchFamily="2" charset="-122"/>
                          <a:cs typeface="+mn-cs"/>
                        </a:rPr>
                        <a:t>For IAAS, show the metering type, like power,</a:t>
                      </a:r>
                      <a:r>
                        <a:rPr lang="zh-CN" altLang="zh-CN" sz="1100" b="0" i="0" kern="1200">
                          <a:solidFill>
                            <a:schemeClr val="dk1"/>
                          </a:solidFill>
                          <a:effectLst/>
                          <a:latin typeface="+mn-lt"/>
                          <a:ea typeface="+mn-ea"/>
                          <a:cs typeface="+mn-cs"/>
                        </a:rPr>
                        <a:t> Hybrid Cloud</a:t>
                      </a:r>
                      <a:r>
                        <a:rPr lang="en-US" altLang="zh-CN" sz="1100" b="0" i="0" kern="1200">
                          <a:solidFill>
                            <a:schemeClr val="dk1"/>
                          </a:solidFill>
                          <a:effectLst/>
                          <a:latin typeface="+mn-lt"/>
                          <a:ea typeface="+mn-ea"/>
                          <a:cs typeface="+mn-cs"/>
                        </a:rPr>
                        <a:t>….</a:t>
                      </a:r>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rgbClr val="92D050"/>
                    </a:solidFill>
                  </a:tcPr>
                </a:tc>
                <a:extLst>
                  <a:ext uri="{0D108BD9-81ED-4DB2-BD59-A6C34878D82A}">
                    <a16:rowId xmlns:a16="http://schemas.microsoft.com/office/drawing/2014/main" val="203216309"/>
                  </a:ext>
                </a:extLst>
              </a:tr>
              <a:tr h="977399">
                <a:tc>
                  <a:txBody>
                    <a:bodyPr/>
                    <a:lstStyle/>
                    <a:p>
                      <a:pPr algn="l" fontAlgn="ctr">
                        <a:buNone/>
                      </a:pPr>
                      <a:r>
                        <a:rPr lang="en-US" altLang="zh-CN" sz="1100" b="1" i="0" u="none" strike="noStrike">
                          <a:solidFill>
                            <a:srgbClr val="000000"/>
                          </a:solidFill>
                          <a:effectLst/>
                          <a:latin typeface="等线" panose="02010600030101010101" pitchFamily="2" charset="-122"/>
                          <a:ea typeface="等线" panose="02010600030101010101" pitchFamily="2" charset="-122"/>
                        </a:rPr>
                        <a:t>Usage Data Receive Flag</a:t>
                      </a:r>
                      <a:endParaRPr lang="zh-CN" sz="1100" b="1"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solidFill>
                      <a:srgbClr val="92D050"/>
                    </a:solidFill>
                  </a:tcPr>
                </a:tc>
                <a:tc>
                  <a:txBody>
                    <a:bodyPr/>
                    <a:lstStyle/>
                    <a:p>
                      <a:pPr marL="0" algn="l" defTabSz="914400" rtl="0" eaLnBrk="1" fontAlgn="ctr" latinLnBrk="0" hangingPunct="1">
                        <a:buNone/>
                      </a:pPr>
                      <a:r>
                        <a:rPr lang="zh-CN" altLang="zh-CN" sz="1100" b="1" i="0" kern="1200">
                          <a:solidFill>
                            <a:schemeClr val="dk1"/>
                          </a:solidFill>
                          <a:effectLst/>
                          <a:latin typeface="+mn-lt"/>
                          <a:ea typeface="+mn-ea"/>
                          <a:cs typeface="+mn-cs"/>
                        </a:rPr>
                        <a:t>This field is </a:t>
                      </a:r>
                      <a:r>
                        <a:rPr lang="en-US" altLang="zh-CN" sz="1100" b="1" i="0" kern="1200">
                          <a:solidFill>
                            <a:schemeClr val="dk1"/>
                          </a:solidFill>
                          <a:effectLst/>
                          <a:latin typeface="+mn-lt"/>
                          <a:ea typeface="+mn-ea"/>
                          <a:cs typeface="+mn-cs"/>
                        </a:rPr>
                        <a:t>IAAS only field</a:t>
                      </a:r>
                      <a:r>
                        <a:rPr lang="zh-CN" altLang="zh-CN" sz="1100" b="1" i="0" kern="1200">
                          <a:solidFill>
                            <a:schemeClr val="dk1"/>
                          </a:solidFill>
                          <a:effectLst/>
                          <a:latin typeface="+mn-lt"/>
                          <a:ea typeface="+mn-ea"/>
                          <a:cs typeface="+mn-cs"/>
                        </a:rPr>
                        <a:t>.</a:t>
                      </a:r>
                      <a:r>
                        <a:rPr lang="zh-CN" altLang="zh-CN" sz="1100" b="0" i="0" kern="1200">
                          <a:solidFill>
                            <a:schemeClr val="dk1"/>
                          </a:solidFill>
                          <a:effectLst/>
                          <a:latin typeface="+mn-lt"/>
                          <a:ea typeface="+mn-ea"/>
                          <a:cs typeface="+mn-cs"/>
                        </a:rPr>
                        <a:t> It indicates whether the Usage Data has been successfully synchronized from the SOM-CC system. The current-period invoice can be generated </a:t>
                      </a:r>
                      <a:r>
                        <a:rPr lang="zh-CN" altLang="zh-CN" sz="1100" b="1" i="0" kern="1200">
                          <a:solidFill>
                            <a:schemeClr val="dk1"/>
                          </a:solidFill>
                          <a:effectLst/>
                          <a:latin typeface="+mn-lt"/>
                          <a:ea typeface="+mn-ea"/>
                          <a:cs typeface="+mn-cs"/>
                        </a:rPr>
                        <a:t>if</a:t>
                      </a:r>
                      <a:r>
                        <a:rPr lang="en-US" altLang="zh-CN" sz="1100" b="1" i="0" kern="1200">
                          <a:solidFill>
                            <a:schemeClr val="dk1"/>
                          </a:solidFill>
                          <a:effectLst/>
                          <a:latin typeface="+mn-lt"/>
                          <a:ea typeface="+mn-ea"/>
                          <a:cs typeface="+mn-cs"/>
                        </a:rPr>
                        <a:t> </a:t>
                      </a:r>
                      <a:r>
                        <a:rPr lang="zh-CN" altLang="zh-CN" sz="1100" b="0" i="0" kern="1200">
                          <a:solidFill>
                            <a:schemeClr val="dk1"/>
                          </a:solidFill>
                          <a:effectLst/>
                          <a:latin typeface="+mn-lt"/>
                          <a:ea typeface="+mn-ea"/>
                          <a:cs typeface="+mn-cs"/>
                        </a:rPr>
                        <a:t>this </a:t>
                      </a:r>
                      <a:r>
                        <a:rPr lang="en-US" altLang="zh-CN" sz="1100" b="0" i="0" kern="1200">
                          <a:solidFill>
                            <a:schemeClr val="dk1"/>
                          </a:solidFill>
                          <a:effectLst/>
                          <a:latin typeface="+mn-lt"/>
                          <a:ea typeface="+mn-ea"/>
                          <a:cs typeface="+mn-cs"/>
                        </a:rPr>
                        <a:t>field</a:t>
                      </a:r>
                      <a:r>
                        <a:rPr lang="zh-CN" altLang="zh-CN" sz="1100" b="0" i="0" kern="1200">
                          <a:solidFill>
                            <a:schemeClr val="dk1"/>
                          </a:solidFill>
                          <a:effectLst/>
                          <a:latin typeface="+mn-lt"/>
                          <a:ea typeface="+mn-ea"/>
                          <a:cs typeface="+mn-cs"/>
                        </a:rPr>
                        <a:t> is set to </a:t>
                      </a:r>
                      <a:r>
                        <a:rPr lang="en-US" altLang="zh-CN" sz="1100" b="1" i="0" kern="1200">
                          <a:solidFill>
                            <a:schemeClr val="dk1"/>
                          </a:solidFill>
                          <a:effectLst/>
                          <a:latin typeface="+mn-lt"/>
                          <a:ea typeface="+mn-ea"/>
                          <a:cs typeface="+mn-cs"/>
                        </a:rPr>
                        <a:t>X</a:t>
                      </a:r>
                      <a:endParaRPr lang="zh-CN" altLang="en-US" sz="1100" b="0" i="0" u="none" strike="noStrike" kern="1200">
                        <a:solidFill>
                          <a:srgbClr val="000000"/>
                        </a:solidFill>
                        <a:effectLst/>
                        <a:latin typeface="等线" panose="02010600030101010101" pitchFamily="2" charset="-122"/>
                        <a:ea typeface="等线" panose="02010600030101010101" pitchFamily="2" charset="-122"/>
                        <a:cs typeface="+mn-cs"/>
                      </a:endParaRPr>
                    </a:p>
                  </a:txBody>
                  <a:tcPr anchor="ctr">
                    <a:solidFill>
                      <a:srgbClr val="92D050"/>
                    </a:solidFill>
                  </a:tcPr>
                </a:tc>
                <a:extLst>
                  <a:ext uri="{0D108BD9-81ED-4DB2-BD59-A6C34878D82A}">
                    <a16:rowId xmlns:a16="http://schemas.microsoft.com/office/drawing/2014/main" val="2282011768"/>
                  </a:ext>
                </a:extLst>
              </a:tr>
            </a:tbl>
          </a:graphicData>
        </a:graphic>
      </p:graphicFrame>
      <p:pic>
        <p:nvPicPr>
          <p:cNvPr id="13" name="图片 12">
            <a:extLst>
              <a:ext uri="{FF2B5EF4-FFF2-40B4-BE49-F238E27FC236}">
                <a16:creationId xmlns:a16="http://schemas.microsoft.com/office/drawing/2014/main" id="{39B78D30-1660-D616-D2F0-1914C6DAFCF9}"/>
              </a:ext>
            </a:extLst>
          </p:cNvPr>
          <p:cNvPicPr>
            <a:picLocks noChangeAspect="1"/>
          </p:cNvPicPr>
          <p:nvPr/>
        </p:nvPicPr>
        <p:blipFill>
          <a:blip r:embed="rId2"/>
          <a:stretch>
            <a:fillRect/>
          </a:stretch>
        </p:blipFill>
        <p:spPr>
          <a:xfrm>
            <a:off x="458826" y="1575728"/>
            <a:ext cx="7002983" cy="2297854"/>
          </a:xfrm>
          <a:prstGeom prst="rect">
            <a:avLst/>
          </a:prstGeom>
        </p:spPr>
      </p:pic>
      <p:sp>
        <p:nvSpPr>
          <p:cNvPr id="5" name="Title 10">
            <a:extLst>
              <a:ext uri="{FF2B5EF4-FFF2-40B4-BE49-F238E27FC236}">
                <a16:creationId xmlns:a16="http://schemas.microsoft.com/office/drawing/2014/main" id="{EB9C7891-DECD-10C5-1AEF-A86550FB282B}"/>
              </a:ext>
            </a:extLst>
          </p:cNvPr>
          <p:cNvSpPr txBox="1">
            <a:spLocks/>
          </p:cNvSpPr>
          <p:nvPr/>
        </p:nvSpPr>
        <p:spPr>
          <a:xfrm>
            <a:off x="330200" y="818601"/>
            <a:ext cx="11303000" cy="60707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872841593"/>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686C3-ADE4-821A-06D8-46CE6F04D42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8A61CF6-732A-CE91-21BB-A7F34039F4ED}"/>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a:t>
            </a:r>
            <a:endParaRPr lang="zh-CN" altLang="en-US" sz="3400">
              <a:solidFill>
                <a:srgbClr val="000000"/>
              </a:solidFill>
              <a:latin typeface="Aptos Display" panose="020B0004020202020204" pitchFamily="34" charset="0"/>
            </a:endParaRPr>
          </a:p>
        </p:txBody>
      </p:sp>
      <p:graphicFrame>
        <p:nvGraphicFramePr>
          <p:cNvPr id="12" name="表格 11">
            <a:extLst>
              <a:ext uri="{FF2B5EF4-FFF2-40B4-BE49-F238E27FC236}">
                <a16:creationId xmlns:a16="http://schemas.microsoft.com/office/drawing/2014/main" id="{670FD2BE-B06B-3D94-8ADB-7886C350FDA3}"/>
              </a:ext>
            </a:extLst>
          </p:cNvPr>
          <p:cNvGraphicFramePr>
            <a:graphicFrameLocks noGrp="1"/>
          </p:cNvGraphicFramePr>
          <p:nvPr/>
        </p:nvGraphicFramePr>
        <p:xfrm>
          <a:off x="8111010" y="1803972"/>
          <a:ext cx="3848695" cy="3368040"/>
        </p:xfrm>
        <a:graphic>
          <a:graphicData uri="http://schemas.openxmlformats.org/drawingml/2006/table">
            <a:tbl>
              <a:tblPr firstRow="1" bandRow="1">
                <a:tableStyleId>{5C22544A-7EE6-4342-B048-85BDC9FD1C3A}</a:tableStyleId>
              </a:tblPr>
              <a:tblGrid>
                <a:gridCol w="825909">
                  <a:extLst>
                    <a:ext uri="{9D8B030D-6E8A-4147-A177-3AD203B41FA5}">
                      <a16:colId xmlns:a16="http://schemas.microsoft.com/office/drawing/2014/main" val="421176213"/>
                    </a:ext>
                  </a:extLst>
                </a:gridCol>
                <a:gridCol w="3022786">
                  <a:extLst>
                    <a:ext uri="{9D8B030D-6E8A-4147-A177-3AD203B41FA5}">
                      <a16:colId xmlns:a16="http://schemas.microsoft.com/office/drawing/2014/main" val="1774553439"/>
                    </a:ext>
                  </a:extLst>
                </a:gridCol>
              </a:tblGrid>
              <a:tr h="425071">
                <a:tc>
                  <a:txBody>
                    <a:bodyPr/>
                    <a:lstStyle/>
                    <a:p>
                      <a:r>
                        <a:rPr lang="en-US" altLang="zh-CN" sz="1100" b="1">
                          <a:solidFill>
                            <a:srgbClr val="1B2434"/>
                          </a:solidFill>
                          <a:latin typeface="Aptos" panose="020B0004020202020204" pitchFamily="34" charset="0"/>
                        </a:rPr>
                        <a:t>Generate BIT</a:t>
                      </a:r>
                      <a:endParaRPr lang="zh-CN" altLang="en-US" sz="1100" b="1">
                        <a:solidFill>
                          <a:srgbClr val="1B2434"/>
                        </a:solidFill>
                        <a:latin typeface="Aptos" panose="020B0004020202020204" pitchFamily="34" charset="0"/>
                      </a:endParaRPr>
                    </a:p>
                  </a:txBody>
                  <a:tcPr>
                    <a:solidFill>
                      <a:srgbClr val="DAEDEF"/>
                    </a:solidFill>
                  </a:tcPr>
                </a:tc>
                <a:tc>
                  <a:txBody>
                    <a:bodyPr/>
                    <a:lstStyle/>
                    <a:p>
                      <a:pPr marL="285750" indent="-285750">
                        <a:buFont typeface="Wingdings" panose="05000000000000000000" pitchFamily="2" charset="2"/>
                        <a:buChar char="u"/>
                      </a:pPr>
                      <a:r>
                        <a:rPr lang="zh-CN" altLang="zh-CN" sz="1100" b="1" i="0" kern="1200">
                          <a:solidFill>
                            <a:srgbClr val="1B2434"/>
                          </a:solidFill>
                          <a:effectLst/>
                          <a:latin typeface="Aptos" panose="020B0004020202020204" pitchFamily="34" charset="0"/>
                          <a:ea typeface="+mn-ea"/>
                          <a:cs typeface="+mn-cs"/>
                        </a:rPr>
                        <a:t>Select at least one row</a:t>
                      </a:r>
                      <a:r>
                        <a:rPr lang="en-US" altLang="zh-CN" sz="1100" b="1" i="0" kern="1200">
                          <a:solidFill>
                            <a:srgbClr val="1B2434"/>
                          </a:solidFill>
                          <a:effectLst/>
                          <a:latin typeface="Aptos" panose="020B0004020202020204" pitchFamily="34" charset="0"/>
                          <a:ea typeface="+mn-ea"/>
                          <a:cs typeface="+mn-cs"/>
                        </a:rPr>
                        <a:t>;</a:t>
                      </a:r>
                    </a:p>
                    <a:p>
                      <a:pPr marL="285750" indent="-285750">
                        <a:buFont typeface="Wingdings" panose="05000000000000000000" pitchFamily="2" charset="2"/>
                        <a:buChar char="u"/>
                      </a:pPr>
                      <a:r>
                        <a:rPr lang="en-US" altLang="zh-CN" sz="1100" b="1" i="0" kern="1200">
                          <a:solidFill>
                            <a:srgbClr val="1B2434"/>
                          </a:solidFill>
                          <a:effectLst/>
                          <a:latin typeface="Aptos" panose="020B0004020202020204" pitchFamily="34" charset="0"/>
                          <a:ea typeface="+mn-ea"/>
                          <a:cs typeface="+mn-cs"/>
                        </a:rPr>
                        <a:t>If the payment schedule status is 1-pending, you can generate the BIT;</a:t>
                      </a:r>
                    </a:p>
                    <a:p>
                      <a:pPr marL="285750" indent="-285750">
                        <a:buFont typeface="Wingdings" panose="05000000000000000000" pitchFamily="2" charset="2"/>
                        <a:buChar char="u"/>
                      </a:pPr>
                      <a:r>
                        <a:rPr lang="zh-CN" altLang="zh-CN" sz="1100" b="1" i="0" kern="1200">
                          <a:solidFill>
                            <a:srgbClr val="1B2434"/>
                          </a:solidFill>
                          <a:effectLst/>
                          <a:latin typeface="Aptos" panose="020B0004020202020204" pitchFamily="34" charset="0"/>
                          <a:ea typeface="+mn-ea"/>
                          <a:cs typeface="+mn-cs"/>
                        </a:rPr>
                        <a:t>The system will automatically generate a task list and run it as a background job. You just need to check the status of the task list</a:t>
                      </a:r>
                      <a:r>
                        <a:rPr lang="en-US" altLang="zh-CN" sz="1100" b="1" i="0" kern="1200">
                          <a:solidFill>
                            <a:srgbClr val="1B2434"/>
                          </a:solidFill>
                          <a:effectLst/>
                          <a:latin typeface="Aptos" panose="020B0004020202020204" pitchFamily="34" charset="0"/>
                          <a:ea typeface="+mn-ea"/>
                          <a:cs typeface="+mn-cs"/>
                        </a:rPr>
                        <a:t>;</a:t>
                      </a:r>
                      <a:endParaRPr lang="zh-CN" altLang="en-US" sz="1100" b="1">
                        <a:solidFill>
                          <a:srgbClr val="1B2434"/>
                        </a:solidFill>
                        <a:latin typeface="Aptos" panose="020B0004020202020204" pitchFamily="34" charset="0"/>
                      </a:endParaRPr>
                    </a:p>
                  </a:txBody>
                  <a:tcPr>
                    <a:solidFill>
                      <a:srgbClr val="DAEDEF"/>
                    </a:solidFill>
                  </a:tcPr>
                </a:tc>
                <a:extLst>
                  <a:ext uri="{0D108BD9-81ED-4DB2-BD59-A6C34878D82A}">
                    <a16:rowId xmlns:a16="http://schemas.microsoft.com/office/drawing/2014/main" val="4107252936"/>
                  </a:ext>
                </a:extLst>
              </a:tr>
              <a:tr h="292924">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100">
                          <a:solidFill>
                            <a:schemeClr val="tx1"/>
                          </a:solidFill>
                        </a:rPr>
                        <a:t>Manual Invoice</a:t>
                      </a:r>
                      <a:endParaRPr lang="zh-CN" altLang="en-US" sz="1100">
                        <a:solidFill>
                          <a:schemeClr val="tx1"/>
                        </a:solidFill>
                      </a:endParaRPr>
                    </a:p>
                  </a:txBody>
                  <a:tcPr/>
                </a:tc>
                <a:tc>
                  <a:txBody>
                    <a:bodyPr/>
                    <a:lstStyle/>
                    <a:p>
                      <a:pPr marL="285750" indent="-285750">
                        <a:buFont typeface="Wingdings" panose="05000000000000000000" pitchFamily="2" charset="2"/>
                        <a:buChar char="u"/>
                      </a:pPr>
                      <a:r>
                        <a:rPr lang="zh-CN" altLang="zh-CN" sz="1100" b="0" i="0" kern="1200">
                          <a:solidFill>
                            <a:schemeClr val="dk1"/>
                          </a:solidFill>
                          <a:effectLst/>
                          <a:latin typeface="+mn-lt"/>
                          <a:ea typeface="+mn-ea"/>
                          <a:cs typeface="+mn-cs"/>
                        </a:rPr>
                        <a:t>Select at least one row</a:t>
                      </a:r>
                      <a:r>
                        <a:rPr lang="en-US" altLang="zh-CN" sz="1100" b="0" i="0" kern="1200">
                          <a:solidFill>
                            <a:schemeClr val="dk1"/>
                          </a:solidFill>
                          <a:effectLst/>
                          <a:latin typeface="+mn-lt"/>
                          <a:ea typeface="+mn-ea"/>
                          <a:cs typeface="+mn-cs"/>
                        </a:rPr>
                        <a:t>;</a:t>
                      </a:r>
                    </a:p>
                    <a:p>
                      <a:pPr marL="285750" indent="-285750">
                        <a:buFont typeface="Wingdings" panose="05000000000000000000" pitchFamily="2" charset="2"/>
                        <a:buChar char="u"/>
                      </a:pPr>
                      <a:r>
                        <a:rPr lang="zh-CN" altLang="zh-CN" sz="1100" b="1" i="0" kern="1200">
                          <a:solidFill>
                            <a:srgbClr val="FF0000"/>
                          </a:solidFill>
                          <a:effectLst/>
                          <a:latin typeface="+mn-lt"/>
                          <a:ea typeface="+mn-ea"/>
                          <a:cs typeface="+mn-cs"/>
                        </a:rPr>
                        <a:t>This applies to advance invoicing scenarios</a:t>
                      </a:r>
                      <a:r>
                        <a:rPr lang="en-US" altLang="zh-CN" sz="1100" b="1" i="0" kern="1200">
                          <a:solidFill>
                            <a:srgbClr val="FF0000"/>
                          </a:solidFill>
                          <a:effectLst/>
                          <a:latin typeface="+mn-lt"/>
                          <a:ea typeface="+mn-ea"/>
                          <a:cs typeface="+mn-cs"/>
                        </a:rPr>
                        <a:t> or reverse the original invoice and re-trigger the invoice;</a:t>
                      </a:r>
                    </a:p>
                    <a:p>
                      <a:pPr marL="285750" indent="-285750">
                        <a:buFont typeface="Wingdings" panose="05000000000000000000" pitchFamily="2" charset="2"/>
                        <a:buChar char="u"/>
                      </a:pPr>
                      <a:r>
                        <a:rPr lang="en-US" altLang="zh-CN" sz="1100" b="0" i="0" kern="1200">
                          <a:solidFill>
                            <a:schemeClr val="dk1"/>
                          </a:solidFill>
                          <a:effectLst/>
                          <a:latin typeface="+mn-lt"/>
                          <a:ea typeface="+mn-ea"/>
                          <a:cs typeface="+mn-cs"/>
                        </a:rPr>
                        <a:t>If the payment schedule status is 1-pending or 6-reversed, you can generate the BIT;</a:t>
                      </a:r>
                    </a:p>
                    <a:p>
                      <a:pPr marL="285750" indent="-285750">
                        <a:buFont typeface="Wingdings" panose="05000000000000000000" pitchFamily="2" charset="2"/>
                        <a:buChar char="u"/>
                      </a:pPr>
                      <a:r>
                        <a:rPr lang="zh-CN" altLang="zh-CN" sz="1100" b="0" i="0" kern="1200">
                          <a:solidFill>
                            <a:schemeClr val="dk1"/>
                          </a:solidFill>
                          <a:effectLst/>
                          <a:latin typeface="+mn-lt"/>
                          <a:ea typeface="+mn-ea"/>
                          <a:cs typeface="+mn-cs"/>
                        </a:rPr>
                        <a:t>The system will automatically generate a task list and run it as a background job. You just need to check the status of the task list</a:t>
                      </a:r>
                      <a:r>
                        <a:rPr lang="en-US" altLang="zh-CN" sz="1100" b="0" i="0" kern="1200">
                          <a:solidFill>
                            <a:schemeClr val="dk1"/>
                          </a:solidFill>
                          <a:effectLst/>
                          <a:latin typeface="+mn-lt"/>
                          <a:ea typeface="+mn-ea"/>
                          <a:cs typeface="+mn-cs"/>
                        </a:rPr>
                        <a:t>;</a:t>
                      </a:r>
                      <a:endParaRPr lang="zh-CN" altLang="en-US" sz="1100" b="0"/>
                    </a:p>
                    <a:p>
                      <a:pPr marL="285750" indent="-285750">
                        <a:buFont typeface="Wingdings" panose="05000000000000000000" pitchFamily="2" charset="2"/>
                        <a:buChar char="u"/>
                      </a:pPr>
                      <a:endParaRPr lang="zh-CN" altLang="en-US" sz="1100" b="0"/>
                    </a:p>
                  </a:txBody>
                  <a:tcPr/>
                </a:tc>
                <a:extLst>
                  <a:ext uri="{0D108BD9-81ED-4DB2-BD59-A6C34878D82A}">
                    <a16:rowId xmlns:a16="http://schemas.microsoft.com/office/drawing/2014/main" val="2556790776"/>
                  </a:ext>
                </a:extLst>
              </a:tr>
            </a:tbl>
          </a:graphicData>
        </a:graphic>
      </p:graphicFrame>
      <p:pic>
        <p:nvPicPr>
          <p:cNvPr id="14" name="图片 13">
            <a:extLst>
              <a:ext uri="{FF2B5EF4-FFF2-40B4-BE49-F238E27FC236}">
                <a16:creationId xmlns:a16="http://schemas.microsoft.com/office/drawing/2014/main" id="{38659A39-73C3-F386-A7A8-B8CA951C115A}"/>
              </a:ext>
            </a:extLst>
          </p:cNvPr>
          <p:cNvPicPr>
            <a:picLocks noChangeAspect="1"/>
          </p:cNvPicPr>
          <p:nvPr/>
        </p:nvPicPr>
        <p:blipFill>
          <a:blip r:embed="rId2"/>
          <a:stretch>
            <a:fillRect/>
          </a:stretch>
        </p:blipFill>
        <p:spPr>
          <a:xfrm>
            <a:off x="320182" y="1899925"/>
            <a:ext cx="7575121" cy="1716238"/>
          </a:xfrm>
          <a:prstGeom prst="rect">
            <a:avLst/>
          </a:prstGeom>
        </p:spPr>
      </p:pic>
      <p:sp>
        <p:nvSpPr>
          <p:cNvPr id="5" name="Title 10">
            <a:extLst>
              <a:ext uri="{FF2B5EF4-FFF2-40B4-BE49-F238E27FC236}">
                <a16:creationId xmlns:a16="http://schemas.microsoft.com/office/drawing/2014/main" id="{2B9CFE6C-1EBA-BD9F-46C9-BE9E2C36CAB1}"/>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1820277972"/>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33F0-C357-6726-538D-504E9FA2D33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EC0ECE9-7347-4A58-9069-0331F852F970}"/>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Schedule-Button-Manual Invoice</a:t>
            </a:r>
            <a:endParaRPr lang="zh-CN" altLang="en-US" sz="3400">
              <a:solidFill>
                <a:srgbClr val="000000"/>
              </a:solidFill>
              <a:latin typeface="Aptos Display" panose="020B0004020202020204" pitchFamily="34" charset="0"/>
            </a:endParaRPr>
          </a:p>
        </p:txBody>
      </p:sp>
      <p:grpSp>
        <p:nvGrpSpPr>
          <p:cNvPr id="21" name="组合 20">
            <a:extLst>
              <a:ext uri="{FF2B5EF4-FFF2-40B4-BE49-F238E27FC236}">
                <a16:creationId xmlns:a16="http://schemas.microsoft.com/office/drawing/2014/main" id="{50D5E18C-92F0-1618-5D73-821FC50C3517}"/>
              </a:ext>
            </a:extLst>
          </p:cNvPr>
          <p:cNvGrpSpPr/>
          <p:nvPr/>
        </p:nvGrpSpPr>
        <p:grpSpPr>
          <a:xfrm>
            <a:off x="313927" y="1537394"/>
            <a:ext cx="8497495" cy="2890173"/>
            <a:chOff x="135228" y="2412411"/>
            <a:chExt cx="9232490" cy="3518123"/>
          </a:xfrm>
        </p:grpSpPr>
        <p:pic>
          <p:nvPicPr>
            <p:cNvPr id="5" name="图片 4">
              <a:extLst>
                <a:ext uri="{FF2B5EF4-FFF2-40B4-BE49-F238E27FC236}">
                  <a16:creationId xmlns:a16="http://schemas.microsoft.com/office/drawing/2014/main" id="{15FB64C8-5A17-2B02-0625-1F5E02F6C22D}"/>
                </a:ext>
              </a:extLst>
            </p:cNvPr>
            <p:cNvPicPr>
              <a:picLocks noChangeAspect="1"/>
            </p:cNvPicPr>
            <p:nvPr/>
          </p:nvPicPr>
          <p:blipFill>
            <a:blip r:embed="rId2"/>
            <a:stretch>
              <a:fillRect/>
            </a:stretch>
          </p:blipFill>
          <p:spPr>
            <a:xfrm>
              <a:off x="135228" y="2412411"/>
              <a:ext cx="9232490" cy="3518123"/>
            </a:xfrm>
            <a:prstGeom prst="rect">
              <a:avLst/>
            </a:prstGeom>
          </p:spPr>
        </p:pic>
        <p:sp>
          <p:nvSpPr>
            <p:cNvPr id="9" name="Shape 5">
              <a:extLst>
                <a:ext uri="{FF2B5EF4-FFF2-40B4-BE49-F238E27FC236}">
                  <a16:creationId xmlns:a16="http://schemas.microsoft.com/office/drawing/2014/main" id="{6BA0C576-AF7B-BE1D-D604-0CC922A8788D}"/>
                </a:ext>
              </a:extLst>
            </p:cNvPr>
            <p:cNvSpPr/>
            <p:nvPr/>
          </p:nvSpPr>
          <p:spPr>
            <a:xfrm>
              <a:off x="600523" y="4963024"/>
              <a:ext cx="328045"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1</a:t>
              </a:r>
              <a:endParaRPr lang="zh-CN" altLang="en-US" sz="1000" b="1">
                <a:solidFill>
                  <a:schemeClr val="bg1"/>
                </a:solidFill>
              </a:endParaRPr>
            </a:p>
          </p:txBody>
        </p:sp>
        <p:sp>
          <p:nvSpPr>
            <p:cNvPr id="13" name="Shape 5">
              <a:extLst>
                <a:ext uri="{FF2B5EF4-FFF2-40B4-BE49-F238E27FC236}">
                  <a16:creationId xmlns:a16="http://schemas.microsoft.com/office/drawing/2014/main" id="{D95DA71F-B58C-3D5C-81FD-F3D3C3599562}"/>
                </a:ext>
              </a:extLst>
            </p:cNvPr>
            <p:cNvSpPr/>
            <p:nvPr/>
          </p:nvSpPr>
          <p:spPr>
            <a:xfrm>
              <a:off x="8087189" y="2804799"/>
              <a:ext cx="328044"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2</a:t>
              </a:r>
              <a:endParaRPr lang="zh-CN" altLang="en-US" sz="1000" b="1">
                <a:solidFill>
                  <a:schemeClr val="bg1"/>
                </a:solidFill>
              </a:endParaRPr>
            </a:p>
          </p:txBody>
        </p:sp>
      </p:grpSp>
      <p:grpSp>
        <p:nvGrpSpPr>
          <p:cNvPr id="22" name="组合 21">
            <a:extLst>
              <a:ext uri="{FF2B5EF4-FFF2-40B4-BE49-F238E27FC236}">
                <a16:creationId xmlns:a16="http://schemas.microsoft.com/office/drawing/2014/main" id="{9573D360-69EB-B2CA-D10D-EAB3A33C7CCE}"/>
              </a:ext>
            </a:extLst>
          </p:cNvPr>
          <p:cNvGrpSpPr/>
          <p:nvPr/>
        </p:nvGrpSpPr>
        <p:grpSpPr>
          <a:xfrm>
            <a:off x="4733897" y="3962400"/>
            <a:ext cx="4137922" cy="1358206"/>
            <a:chOff x="6039619" y="3141779"/>
            <a:chExt cx="6152381" cy="2152381"/>
          </a:xfrm>
        </p:grpSpPr>
        <p:pic>
          <p:nvPicPr>
            <p:cNvPr id="16" name="图片 15">
              <a:extLst>
                <a:ext uri="{FF2B5EF4-FFF2-40B4-BE49-F238E27FC236}">
                  <a16:creationId xmlns:a16="http://schemas.microsoft.com/office/drawing/2014/main" id="{03A67D1B-57A1-6EA3-F1EB-4B9F38C1F7E7}"/>
                </a:ext>
              </a:extLst>
            </p:cNvPr>
            <p:cNvPicPr>
              <a:picLocks noChangeAspect="1"/>
            </p:cNvPicPr>
            <p:nvPr/>
          </p:nvPicPr>
          <p:blipFill>
            <a:blip r:embed="rId3"/>
            <a:stretch>
              <a:fillRect/>
            </a:stretch>
          </p:blipFill>
          <p:spPr>
            <a:xfrm>
              <a:off x="6039619" y="3141779"/>
              <a:ext cx="6152381" cy="2152381"/>
            </a:xfrm>
            <a:prstGeom prst="rect">
              <a:avLst/>
            </a:prstGeom>
          </p:spPr>
        </p:pic>
        <p:sp>
          <p:nvSpPr>
            <p:cNvPr id="18" name="Shape 5">
              <a:extLst>
                <a:ext uri="{FF2B5EF4-FFF2-40B4-BE49-F238E27FC236}">
                  <a16:creationId xmlns:a16="http://schemas.microsoft.com/office/drawing/2014/main" id="{1743F98E-97FE-821E-6A07-4828B02B43C9}"/>
                </a:ext>
              </a:extLst>
            </p:cNvPr>
            <p:cNvSpPr/>
            <p:nvPr/>
          </p:nvSpPr>
          <p:spPr>
            <a:xfrm>
              <a:off x="10901090" y="4918438"/>
              <a:ext cx="328045"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3</a:t>
              </a:r>
              <a:endParaRPr lang="zh-CN" altLang="en-US" sz="1000" b="1">
                <a:solidFill>
                  <a:schemeClr val="bg1"/>
                </a:solidFill>
              </a:endParaRPr>
            </a:p>
          </p:txBody>
        </p:sp>
      </p:grpSp>
      <p:grpSp>
        <p:nvGrpSpPr>
          <p:cNvPr id="30" name="组合 29">
            <a:extLst>
              <a:ext uri="{FF2B5EF4-FFF2-40B4-BE49-F238E27FC236}">
                <a16:creationId xmlns:a16="http://schemas.microsoft.com/office/drawing/2014/main" id="{050875F4-28FF-7B27-9628-CFC7FC869B8D}"/>
              </a:ext>
            </a:extLst>
          </p:cNvPr>
          <p:cNvGrpSpPr/>
          <p:nvPr/>
        </p:nvGrpSpPr>
        <p:grpSpPr>
          <a:xfrm>
            <a:off x="872951" y="5396187"/>
            <a:ext cx="7675590" cy="1157590"/>
            <a:chOff x="980761" y="4838463"/>
            <a:chExt cx="9155850" cy="1706705"/>
          </a:xfrm>
        </p:grpSpPr>
        <p:pic>
          <p:nvPicPr>
            <p:cNvPr id="20" name="图片 19">
              <a:extLst>
                <a:ext uri="{FF2B5EF4-FFF2-40B4-BE49-F238E27FC236}">
                  <a16:creationId xmlns:a16="http://schemas.microsoft.com/office/drawing/2014/main" id="{F0A60808-0B86-C7C3-AAD8-734C356EE597}"/>
                </a:ext>
              </a:extLst>
            </p:cNvPr>
            <p:cNvPicPr>
              <a:picLocks noChangeAspect="1"/>
            </p:cNvPicPr>
            <p:nvPr/>
          </p:nvPicPr>
          <p:blipFill>
            <a:blip r:embed="rId4"/>
            <a:stretch>
              <a:fillRect/>
            </a:stretch>
          </p:blipFill>
          <p:spPr>
            <a:xfrm>
              <a:off x="980761" y="4843104"/>
              <a:ext cx="8802593" cy="1702064"/>
            </a:xfrm>
            <a:prstGeom prst="rect">
              <a:avLst/>
            </a:prstGeom>
          </p:spPr>
        </p:pic>
        <p:sp>
          <p:nvSpPr>
            <p:cNvPr id="24" name="Shape 5">
              <a:extLst>
                <a:ext uri="{FF2B5EF4-FFF2-40B4-BE49-F238E27FC236}">
                  <a16:creationId xmlns:a16="http://schemas.microsoft.com/office/drawing/2014/main" id="{07CB7A8A-E32A-7A9D-C09E-43AFD68D43F0}"/>
                </a:ext>
              </a:extLst>
            </p:cNvPr>
            <p:cNvSpPr/>
            <p:nvPr/>
          </p:nvSpPr>
          <p:spPr>
            <a:xfrm>
              <a:off x="2432629" y="5061820"/>
              <a:ext cx="301929" cy="199617"/>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4</a:t>
              </a:r>
              <a:endParaRPr lang="zh-CN" altLang="en-US" sz="1000" b="1">
                <a:solidFill>
                  <a:schemeClr val="bg1"/>
                </a:solidFill>
              </a:endParaRPr>
            </a:p>
          </p:txBody>
        </p:sp>
        <p:sp>
          <p:nvSpPr>
            <p:cNvPr id="26" name="Shape 5">
              <a:extLst>
                <a:ext uri="{FF2B5EF4-FFF2-40B4-BE49-F238E27FC236}">
                  <a16:creationId xmlns:a16="http://schemas.microsoft.com/office/drawing/2014/main" id="{AEE65030-0B5D-8D29-81FA-9D1D8BFA2473}"/>
                </a:ext>
              </a:extLst>
            </p:cNvPr>
            <p:cNvSpPr/>
            <p:nvPr/>
          </p:nvSpPr>
          <p:spPr>
            <a:xfrm>
              <a:off x="4788054" y="5877994"/>
              <a:ext cx="301929" cy="199617"/>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5</a:t>
              </a:r>
              <a:endParaRPr lang="zh-CN" altLang="en-US" sz="1000" b="1">
                <a:solidFill>
                  <a:schemeClr val="bg1"/>
                </a:solidFill>
              </a:endParaRPr>
            </a:p>
          </p:txBody>
        </p:sp>
        <p:sp>
          <p:nvSpPr>
            <p:cNvPr id="28" name="文本框 27">
              <a:extLst>
                <a:ext uri="{FF2B5EF4-FFF2-40B4-BE49-F238E27FC236}">
                  <a16:creationId xmlns:a16="http://schemas.microsoft.com/office/drawing/2014/main" id="{621A9163-6FDC-4AC5-5F85-E2867F0BF56B}"/>
                </a:ext>
              </a:extLst>
            </p:cNvPr>
            <p:cNvSpPr txBox="1"/>
            <p:nvPr/>
          </p:nvSpPr>
          <p:spPr>
            <a:xfrm>
              <a:off x="3342185" y="4838463"/>
              <a:ext cx="6794426" cy="476462"/>
            </a:xfrm>
            <a:prstGeom prst="rect">
              <a:avLst/>
            </a:prstGeom>
            <a:noFill/>
          </p:spPr>
          <p:txBody>
            <a:bodyPr wrap="square">
              <a:spAutoFit/>
            </a:bodyPr>
            <a:lstStyle/>
            <a:p>
              <a:r>
                <a:rPr lang="zh-CN" altLang="zh-CN" sz="1500" b="1" i="0">
                  <a:solidFill>
                    <a:srgbClr val="FF0000"/>
                  </a:solidFill>
                  <a:effectLst/>
                  <a:latin typeface="quote-cjk-patch"/>
                </a:rPr>
                <a:t>In the task list, the first Task ID </a:t>
              </a:r>
              <a:r>
                <a:rPr lang="en-US" altLang="zh-CN" sz="1500" b="1">
                  <a:solidFill>
                    <a:srgbClr val="FF0000"/>
                  </a:solidFill>
                  <a:latin typeface="quote-cjk-patch"/>
                </a:rPr>
                <a:t>is</a:t>
              </a:r>
              <a:r>
                <a:rPr lang="zh-CN" altLang="zh-CN" sz="1500" b="1" i="0">
                  <a:solidFill>
                    <a:srgbClr val="FF0000"/>
                  </a:solidFill>
                  <a:effectLst/>
                  <a:latin typeface="quote-cjk-patch"/>
                </a:rPr>
                <a:t> the </a:t>
              </a:r>
              <a:r>
                <a:rPr lang="en-US" altLang="zh-CN" sz="1500" b="1" i="0">
                  <a:solidFill>
                    <a:srgbClr val="FF0000"/>
                  </a:solidFill>
                  <a:effectLst/>
                  <a:latin typeface="quote-cjk-patch"/>
                </a:rPr>
                <a:t>manual </a:t>
              </a:r>
              <a:r>
                <a:rPr lang="zh-CN" altLang="zh-CN" sz="1500" b="1" i="0">
                  <a:solidFill>
                    <a:srgbClr val="FF0000"/>
                  </a:solidFill>
                  <a:effectLst/>
                  <a:latin typeface="quote-cjk-patch"/>
                </a:rPr>
                <a:t>invoice you just created</a:t>
              </a:r>
              <a:r>
                <a:rPr lang="en-US" altLang="zh-CN" sz="1500" b="1" i="0">
                  <a:solidFill>
                    <a:srgbClr val="FF0000"/>
                  </a:solidFill>
                  <a:effectLst/>
                  <a:latin typeface="quote-cjk-patch"/>
                </a:rPr>
                <a:t>.</a:t>
              </a:r>
              <a:endParaRPr lang="zh-CN" altLang="en-US" sz="1500">
                <a:solidFill>
                  <a:srgbClr val="FF0000"/>
                </a:solidFill>
              </a:endParaRPr>
            </a:p>
          </p:txBody>
        </p:sp>
      </p:grpSp>
      <p:sp>
        <p:nvSpPr>
          <p:cNvPr id="32" name="Shape 21">
            <a:extLst>
              <a:ext uri="{FF2B5EF4-FFF2-40B4-BE49-F238E27FC236}">
                <a16:creationId xmlns:a16="http://schemas.microsoft.com/office/drawing/2014/main" id="{FDBB3A9B-51E4-D482-8C36-41378AB55AAB}"/>
              </a:ext>
            </a:extLst>
          </p:cNvPr>
          <p:cNvSpPr/>
          <p:nvPr/>
        </p:nvSpPr>
        <p:spPr>
          <a:xfrm>
            <a:off x="9084360" y="1990990"/>
            <a:ext cx="264220" cy="256032"/>
          </a:xfrm>
          <a:prstGeom prst="ellipse">
            <a:avLst/>
          </a:prstGeom>
          <a:solidFill>
            <a:srgbClr val="D8232A"/>
          </a:solidFill>
          <a:ln w="15875">
            <a:solidFill>
              <a:srgbClr val="FFFFFF"/>
            </a:solidFill>
            <a:prstDash val="solid"/>
          </a:ln>
        </p:spPr>
        <p:txBody>
          <a:bodyPr/>
          <a:lstStyle/>
          <a:p>
            <a:endParaRPr lang="zh-CN" altLang="en-US"/>
          </a:p>
        </p:txBody>
      </p:sp>
      <p:sp>
        <p:nvSpPr>
          <p:cNvPr id="34" name="Text 22">
            <a:extLst>
              <a:ext uri="{FF2B5EF4-FFF2-40B4-BE49-F238E27FC236}">
                <a16:creationId xmlns:a16="http://schemas.microsoft.com/office/drawing/2014/main" id="{C3F40687-1F58-03D3-4E8D-8AE960A7B45A}"/>
              </a:ext>
            </a:extLst>
          </p:cNvPr>
          <p:cNvSpPr txBox="1"/>
          <p:nvPr/>
        </p:nvSpPr>
        <p:spPr>
          <a:xfrm>
            <a:off x="9084360" y="1990990"/>
            <a:ext cx="264220"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1</a:t>
            </a:r>
            <a:endParaRPr lang="en-US" sz="1200" b="1">
              <a:solidFill>
                <a:srgbClr val="FFFFFF"/>
              </a:solidFill>
              <a:latin typeface="Aptos" panose="020B0004020202020204" pitchFamily="34" charset="0"/>
            </a:endParaRPr>
          </a:p>
        </p:txBody>
      </p:sp>
      <p:sp>
        <p:nvSpPr>
          <p:cNvPr id="36" name="Text 23">
            <a:extLst>
              <a:ext uri="{FF2B5EF4-FFF2-40B4-BE49-F238E27FC236}">
                <a16:creationId xmlns:a16="http://schemas.microsoft.com/office/drawing/2014/main" id="{165D6C94-5246-4148-A799-F29775A33A3D}"/>
              </a:ext>
            </a:extLst>
          </p:cNvPr>
          <p:cNvSpPr txBox="1"/>
          <p:nvPr/>
        </p:nvSpPr>
        <p:spPr>
          <a:xfrm>
            <a:off x="9438357" y="1926769"/>
            <a:ext cx="3503749" cy="256032"/>
          </a:xfrm>
          <a:prstGeom prst="rect">
            <a:avLst/>
          </a:prstGeom>
          <a:noFill/>
          <a:ln/>
        </p:spPr>
        <p:txBody>
          <a:bodyPr wrap="square" lIns="0" tIns="0" rIns="0" bIns="0" rtlCol="0" anchor="ctr"/>
          <a:lstStyle/>
          <a:p>
            <a:pPr marL="0" indent="0">
              <a:lnSpc>
                <a:spcPts val="1188"/>
              </a:lnSpc>
              <a:buNone/>
            </a:pPr>
            <a:r>
              <a:rPr lang="en-US" altLang="zh-CN" sz="900"/>
              <a:t>Select as least one item</a:t>
            </a:r>
            <a:endParaRPr lang="en-US" sz="900"/>
          </a:p>
        </p:txBody>
      </p:sp>
      <p:sp>
        <p:nvSpPr>
          <p:cNvPr id="44" name="Shape 27">
            <a:extLst>
              <a:ext uri="{FF2B5EF4-FFF2-40B4-BE49-F238E27FC236}">
                <a16:creationId xmlns:a16="http://schemas.microsoft.com/office/drawing/2014/main" id="{6FB94687-736B-3CFA-7C95-7B0DF3065165}"/>
              </a:ext>
            </a:extLst>
          </p:cNvPr>
          <p:cNvSpPr/>
          <p:nvPr/>
        </p:nvSpPr>
        <p:spPr>
          <a:xfrm>
            <a:off x="9084360" y="2720150"/>
            <a:ext cx="264220" cy="256032"/>
          </a:xfrm>
          <a:prstGeom prst="ellipse">
            <a:avLst/>
          </a:prstGeom>
          <a:solidFill>
            <a:srgbClr val="D8232A"/>
          </a:solidFill>
          <a:ln w="15875">
            <a:solidFill>
              <a:srgbClr val="FFFFFF"/>
            </a:solidFill>
            <a:prstDash val="solid"/>
          </a:ln>
        </p:spPr>
        <p:txBody>
          <a:bodyPr/>
          <a:lstStyle/>
          <a:p>
            <a:endParaRPr lang="zh-CN" altLang="en-US"/>
          </a:p>
        </p:txBody>
      </p:sp>
      <p:sp>
        <p:nvSpPr>
          <p:cNvPr id="46" name="Text 28">
            <a:extLst>
              <a:ext uri="{FF2B5EF4-FFF2-40B4-BE49-F238E27FC236}">
                <a16:creationId xmlns:a16="http://schemas.microsoft.com/office/drawing/2014/main" id="{FF5D452D-33D6-E44B-4011-0A302EAC9629}"/>
              </a:ext>
            </a:extLst>
          </p:cNvPr>
          <p:cNvSpPr txBox="1"/>
          <p:nvPr/>
        </p:nvSpPr>
        <p:spPr>
          <a:xfrm>
            <a:off x="9084360" y="2720150"/>
            <a:ext cx="264220"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3</a:t>
            </a:r>
            <a:endParaRPr lang="en-US" sz="1200" b="1">
              <a:solidFill>
                <a:srgbClr val="FFFFFF"/>
              </a:solidFill>
              <a:latin typeface="Aptos" panose="020B0004020202020204" pitchFamily="34" charset="0"/>
            </a:endParaRPr>
          </a:p>
        </p:txBody>
      </p:sp>
      <p:sp>
        <p:nvSpPr>
          <p:cNvPr id="68" name="Text 23">
            <a:extLst>
              <a:ext uri="{FF2B5EF4-FFF2-40B4-BE49-F238E27FC236}">
                <a16:creationId xmlns:a16="http://schemas.microsoft.com/office/drawing/2014/main" id="{7FAC2AC0-C5AB-C113-AC8F-E5922D9E6670}"/>
              </a:ext>
            </a:extLst>
          </p:cNvPr>
          <p:cNvSpPr txBox="1"/>
          <p:nvPr/>
        </p:nvSpPr>
        <p:spPr>
          <a:xfrm>
            <a:off x="9438357" y="2318830"/>
            <a:ext cx="3503749" cy="256032"/>
          </a:xfrm>
          <a:prstGeom prst="rect">
            <a:avLst/>
          </a:prstGeom>
          <a:noFill/>
          <a:ln/>
        </p:spPr>
        <p:txBody>
          <a:bodyPr wrap="square" lIns="50800" tIns="25400" rIns="50800" bIns="25400" rtlCol="0" anchor="ctr"/>
          <a:lstStyle/>
          <a:p>
            <a:pPr marL="0" indent="0">
              <a:lnSpc>
                <a:spcPts val="1188"/>
              </a:lnSpc>
              <a:buNone/>
            </a:pPr>
            <a:r>
              <a:rPr lang="en-US" sz="900">
                <a:solidFill>
                  <a:srgbClr val="1B2434"/>
                </a:solidFill>
                <a:latin typeface="Aptos" panose="020B0004020202020204" pitchFamily="34" charset="0"/>
              </a:rPr>
              <a:t>Click “Manual Invoicing” button</a:t>
            </a:r>
          </a:p>
        </p:txBody>
      </p:sp>
      <p:sp>
        <p:nvSpPr>
          <p:cNvPr id="72" name="Shape 27">
            <a:extLst>
              <a:ext uri="{FF2B5EF4-FFF2-40B4-BE49-F238E27FC236}">
                <a16:creationId xmlns:a16="http://schemas.microsoft.com/office/drawing/2014/main" id="{F2DC87BF-6FA3-2725-AD40-40912C967AB6}"/>
              </a:ext>
            </a:extLst>
          </p:cNvPr>
          <p:cNvSpPr/>
          <p:nvPr/>
        </p:nvSpPr>
        <p:spPr>
          <a:xfrm>
            <a:off x="9084360" y="2333989"/>
            <a:ext cx="264220" cy="256032"/>
          </a:xfrm>
          <a:prstGeom prst="ellipse">
            <a:avLst/>
          </a:prstGeom>
          <a:solidFill>
            <a:srgbClr val="D8232A"/>
          </a:solidFill>
          <a:ln w="15875">
            <a:solidFill>
              <a:srgbClr val="FFFFFF"/>
            </a:solidFill>
            <a:prstDash val="solid"/>
          </a:ln>
        </p:spPr>
        <p:txBody>
          <a:bodyPr/>
          <a:lstStyle/>
          <a:p>
            <a:endParaRPr lang="zh-CN" altLang="en-US"/>
          </a:p>
        </p:txBody>
      </p:sp>
      <p:sp>
        <p:nvSpPr>
          <p:cNvPr id="74" name="Text 28">
            <a:extLst>
              <a:ext uri="{FF2B5EF4-FFF2-40B4-BE49-F238E27FC236}">
                <a16:creationId xmlns:a16="http://schemas.microsoft.com/office/drawing/2014/main" id="{3B5C31B4-5C39-9D0E-5CCE-F6F7AD5DAD90}"/>
              </a:ext>
            </a:extLst>
          </p:cNvPr>
          <p:cNvSpPr txBox="1"/>
          <p:nvPr/>
        </p:nvSpPr>
        <p:spPr>
          <a:xfrm>
            <a:off x="9084360" y="2333989"/>
            <a:ext cx="264220"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2</a:t>
            </a:r>
          </a:p>
        </p:txBody>
      </p:sp>
      <p:sp>
        <p:nvSpPr>
          <p:cNvPr id="76" name="Text 23">
            <a:extLst>
              <a:ext uri="{FF2B5EF4-FFF2-40B4-BE49-F238E27FC236}">
                <a16:creationId xmlns:a16="http://schemas.microsoft.com/office/drawing/2014/main" id="{CD3880D0-4DE5-1807-7D35-33B7C6FCDA8F}"/>
              </a:ext>
            </a:extLst>
          </p:cNvPr>
          <p:cNvSpPr txBox="1"/>
          <p:nvPr/>
        </p:nvSpPr>
        <p:spPr>
          <a:xfrm>
            <a:off x="9438357" y="2693546"/>
            <a:ext cx="3503749" cy="256032"/>
          </a:xfrm>
          <a:prstGeom prst="rect">
            <a:avLst/>
          </a:prstGeom>
          <a:noFill/>
          <a:ln/>
        </p:spPr>
        <p:txBody>
          <a:bodyPr wrap="square" lIns="0" tIns="0" rIns="0" bIns="0" rtlCol="0" anchor="ctr"/>
          <a:lstStyle/>
          <a:p>
            <a:pPr marL="0" indent="0">
              <a:lnSpc>
                <a:spcPts val="1188"/>
              </a:lnSpc>
              <a:buNone/>
            </a:pPr>
            <a:r>
              <a:rPr lang="en-US" altLang="zh-CN" sz="900"/>
              <a:t>Click Confirm button</a:t>
            </a:r>
            <a:endParaRPr lang="en-US" sz="900"/>
          </a:p>
        </p:txBody>
      </p:sp>
      <p:sp>
        <p:nvSpPr>
          <p:cNvPr id="78" name="Shape 27">
            <a:extLst>
              <a:ext uri="{FF2B5EF4-FFF2-40B4-BE49-F238E27FC236}">
                <a16:creationId xmlns:a16="http://schemas.microsoft.com/office/drawing/2014/main" id="{257E9B94-B1E6-8855-989C-A39DB12B712D}"/>
              </a:ext>
            </a:extLst>
          </p:cNvPr>
          <p:cNvSpPr/>
          <p:nvPr/>
        </p:nvSpPr>
        <p:spPr>
          <a:xfrm>
            <a:off x="9084360" y="3089924"/>
            <a:ext cx="264220" cy="256032"/>
          </a:xfrm>
          <a:prstGeom prst="ellipse">
            <a:avLst/>
          </a:prstGeom>
          <a:solidFill>
            <a:srgbClr val="D8232A"/>
          </a:solidFill>
          <a:ln w="15875">
            <a:solidFill>
              <a:srgbClr val="FFFFFF"/>
            </a:solidFill>
            <a:prstDash val="solid"/>
          </a:ln>
        </p:spPr>
        <p:txBody>
          <a:bodyPr/>
          <a:lstStyle/>
          <a:p>
            <a:endParaRPr lang="zh-CN" altLang="en-US"/>
          </a:p>
        </p:txBody>
      </p:sp>
      <p:sp>
        <p:nvSpPr>
          <p:cNvPr id="80" name="Text 28">
            <a:extLst>
              <a:ext uri="{FF2B5EF4-FFF2-40B4-BE49-F238E27FC236}">
                <a16:creationId xmlns:a16="http://schemas.microsoft.com/office/drawing/2014/main" id="{89C565C0-10FB-F8F5-9704-3EF1E65F1C7F}"/>
              </a:ext>
            </a:extLst>
          </p:cNvPr>
          <p:cNvSpPr txBox="1"/>
          <p:nvPr/>
        </p:nvSpPr>
        <p:spPr>
          <a:xfrm>
            <a:off x="9084360" y="3089924"/>
            <a:ext cx="264220"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4</a:t>
            </a:r>
            <a:endParaRPr lang="en-US" sz="1200" b="1">
              <a:solidFill>
                <a:srgbClr val="FFFFFF"/>
              </a:solidFill>
              <a:latin typeface="Aptos" panose="020B0004020202020204" pitchFamily="34" charset="0"/>
            </a:endParaRPr>
          </a:p>
        </p:txBody>
      </p:sp>
      <p:sp>
        <p:nvSpPr>
          <p:cNvPr id="82" name="Text 23">
            <a:extLst>
              <a:ext uri="{FF2B5EF4-FFF2-40B4-BE49-F238E27FC236}">
                <a16:creationId xmlns:a16="http://schemas.microsoft.com/office/drawing/2014/main" id="{6E0F5759-2FCB-07FA-D336-9CBDEBB6FA76}"/>
              </a:ext>
            </a:extLst>
          </p:cNvPr>
          <p:cNvSpPr txBox="1"/>
          <p:nvPr/>
        </p:nvSpPr>
        <p:spPr>
          <a:xfrm>
            <a:off x="9438357" y="3096299"/>
            <a:ext cx="3503749" cy="256032"/>
          </a:xfrm>
          <a:prstGeom prst="rect">
            <a:avLst/>
          </a:prstGeom>
          <a:noFill/>
          <a:ln/>
        </p:spPr>
        <p:txBody>
          <a:bodyPr wrap="square" lIns="50800" tIns="25400" rIns="50800" bIns="25400" rtlCol="0" anchor="ctr"/>
          <a:lstStyle/>
          <a:p>
            <a:pPr marL="0" indent="0">
              <a:lnSpc>
                <a:spcPts val="1188"/>
              </a:lnSpc>
              <a:buNone/>
            </a:pPr>
            <a:r>
              <a:rPr lang="en-US" sz="900">
                <a:solidFill>
                  <a:srgbClr val="1B2434"/>
                </a:solidFill>
                <a:latin typeface="Aptos" panose="020B0004020202020204" pitchFamily="34" charset="0"/>
              </a:rPr>
              <a:t>Select Task Request List Tab</a:t>
            </a:r>
          </a:p>
        </p:txBody>
      </p:sp>
      <p:sp>
        <p:nvSpPr>
          <p:cNvPr id="84" name="Shape 27">
            <a:extLst>
              <a:ext uri="{FF2B5EF4-FFF2-40B4-BE49-F238E27FC236}">
                <a16:creationId xmlns:a16="http://schemas.microsoft.com/office/drawing/2014/main" id="{8E172934-484D-88CC-4A8E-E780ECE15104}"/>
              </a:ext>
            </a:extLst>
          </p:cNvPr>
          <p:cNvSpPr/>
          <p:nvPr/>
        </p:nvSpPr>
        <p:spPr>
          <a:xfrm>
            <a:off x="9084360" y="3497565"/>
            <a:ext cx="264220" cy="256032"/>
          </a:xfrm>
          <a:prstGeom prst="ellipse">
            <a:avLst/>
          </a:prstGeom>
          <a:solidFill>
            <a:srgbClr val="D8232A"/>
          </a:solidFill>
          <a:ln w="15875">
            <a:solidFill>
              <a:srgbClr val="FFFFFF"/>
            </a:solidFill>
            <a:prstDash val="solid"/>
          </a:ln>
        </p:spPr>
        <p:txBody>
          <a:bodyPr/>
          <a:lstStyle/>
          <a:p>
            <a:endParaRPr lang="zh-CN" altLang="en-US"/>
          </a:p>
        </p:txBody>
      </p:sp>
      <p:sp>
        <p:nvSpPr>
          <p:cNvPr id="86" name="Text 28">
            <a:extLst>
              <a:ext uri="{FF2B5EF4-FFF2-40B4-BE49-F238E27FC236}">
                <a16:creationId xmlns:a16="http://schemas.microsoft.com/office/drawing/2014/main" id="{F0354ECC-7C50-4512-EFFA-D8354D537F67}"/>
              </a:ext>
            </a:extLst>
          </p:cNvPr>
          <p:cNvSpPr txBox="1"/>
          <p:nvPr/>
        </p:nvSpPr>
        <p:spPr>
          <a:xfrm>
            <a:off x="9084360" y="3497565"/>
            <a:ext cx="264220"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5</a:t>
            </a:r>
          </a:p>
        </p:txBody>
      </p:sp>
      <p:sp>
        <p:nvSpPr>
          <p:cNvPr id="88" name="Text 23">
            <a:extLst>
              <a:ext uri="{FF2B5EF4-FFF2-40B4-BE49-F238E27FC236}">
                <a16:creationId xmlns:a16="http://schemas.microsoft.com/office/drawing/2014/main" id="{F606BD4B-B447-CE27-D09E-05CED7F55872}"/>
              </a:ext>
            </a:extLst>
          </p:cNvPr>
          <p:cNvSpPr txBox="1"/>
          <p:nvPr/>
        </p:nvSpPr>
        <p:spPr>
          <a:xfrm>
            <a:off x="9438358" y="3603252"/>
            <a:ext cx="2521348" cy="109006"/>
          </a:xfrm>
          <a:prstGeom prst="rect">
            <a:avLst/>
          </a:prstGeom>
          <a:noFill/>
          <a:ln/>
        </p:spPr>
        <p:txBody>
          <a:bodyPr wrap="square" lIns="50800" tIns="25400" rIns="50800" bIns="25400" rtlCol="0" anchor="ctr"/>
          <a:lstStyle/>
          <a:p>
            <a:pPr>
              <a:lnSpc>
                <a:spcPts val="1188"/>
              </a:lnSpc>
            </a:pPr>
            <a:r>
              <a:rPr lang="zh-CN" altLang="zh-CN" sz="900">
                <a:solidFill>
                  <a:srgbClr val="1B2434"/>
                </a:solidFill>
                <a:latin typeface="Aptos" panose="020B0004020202020204" pitchFamily="34" charset="0"/>
              </a:rPr>
              <a:t>The first task ID is the one you just created. Click</a:t>
            </a:r>
            <a:r>
              <a:rPr lang="en-US" altLang="zh-CN" sz="900">
                <a:solidFill>
                  <a:srgbClr val="1B2434"/>
                </a:solidFill>
                <a:latin typeface="Aptos" panose="020B0004020202020204" pitchFamily="34" charset="0"/>
              </a:rPr>
              <a:t> </a:t>
            </a:r>
            <a:r>
              <a:rPr lang="zh-CN" altLang="zh-CN" sz="900">
                <a:solidFill>
                  <a:srgbClr val="1B2434"/>
                </a:solidFill>
                <a:latin typeface="Aptos" panose="020B0004020202020204" pitchFamily="34" charset="0"/>
              </a:rPr>
              <a:t>the task ID</a:t>
            </a:r>
            <a:endParaRPr lang="en-US" altLang="zh-CN" sz="900">
              <a:solidFill>
                <a:srgbClr val="1B2434"/>
              </a:solidFill>
              <a:latin typeface="Aptos" panose="020B0004020202020204" pitchFamily="34" charset="0"/>
            </a:endParaRPr>
          </a:p>
        </p:txBody>
      </p:sp>
      <p:sp>
        <p:nvSpPr>
          <p:cNvPr id="6" name="Title 10">
            <a:extLst>
              <a:ext uri="{FF2B5EF4-FFF2-40B4-BE49-F238E27FC236}">
                <a16:creationId xmlns:a16="http://schemas.microsoft.com/office/drawing/2014/main" id="{2C4CECC1-F461-A47E-57FD-93832DA46111}"/>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sp>
        <p:nvSpPr>
          <p:cNvPr id="7" name="矩形 6">
            <a:extLst>
              <a:ext uri="{FF2B5EF4-FFF2-40B4-BE49-F238E27FC236}">
                <a16:creationId xmlns:a16="http://schemas.microsoft.com/office/drawing/2014/main" id="{BAECECA6-DA03-A31A-4D7C-BE5FF97A09A4}"/>
              </a:ext>
            </a:extLst>
          </p:cNvPr>
          <p:cNvSpPr/>
          <p:nvPr/>
        </p:nvSpPr>
        <p:spPr bwMode="auto">
          <a:xfrm>
            <a:off x="7295535" y="2084083"/>
            <a:ext cx="1022555" cy="252031"/>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Tree>
    <p:extLst>
      <p:ext uri="{BB962C8B-B14F-4D97-AF65-F5344CB8AC3E}">
        <p14:creationId xmlns:p14="http://schemas.microsoft.com/office/powerpoint/2010/main" val="1080032260"/>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118F2-B771-7F88-7F3D-70799A9C513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DC9C2E1-4DC0-B381-87B8-1A5CCF7E0F1B}"/>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Schedule-Button-Manual Invoice</a:t>
            </a:r>
            <a:endParaRPr lang="zh-CN" altLang="en-US" sz="3400">
              <a:solidFill>
                <a:srgbClr val="000000"/>
              </a:solidFill>
              <a:latin typeface="Aptos Display" panose="020B0004020202020204" pitchFamily="34" charset="0"/>
            </a:endParaRPr>
          </a:p>
        </p:txBody>
      </p:sp>
      <p:grpSp>
        <p:nvGrpSpPr>
          <p:cNvPr id="95" name="组合 94">
            <a:extLst>
              <a:ext uri="{FF2B5EF4-FFF2-40B4-BE49-F238E27FC236}">
                <a16:creationId xmlns:a16="http://schemas.microsoft.com/office/drawing/2014/main" id="{5B4EB46D-6D9D-DF09-B75A-DB0DDE3D8881}"/>
              </a:ext>
            </a:extLst>
          </p:cNvPr>
          <p:cNvGrpSpPr/>
          <p:nvPr/>
        </p:nvGrpSpPr>
        <p:grpSpPr>
          <a:xfrm>
            <a:off x="970783" y="1871360"/>
            <a:ext cx="7384963" cy="3150543"/>
            <a:chOff x="842642" y="1497744"/>
            <a:chExt cx="5930433" cy="3150543"/>
          </a:xfrm>
        </p:grpSpPr>
        <p:pic>
          <p:nvPicPr>
            <p:cNvPr id="12" name="图片 11">
              <a:extLst>
                <a:ext uri="{FF2B5EF4-FFF2-40B4-BE49-F238E27FC236}">
                  <a16:creationId xmlns:a16="http://schemas.microsoft.com/office/drawing/2014/main" id="{F5C37CE8-71CB-1E6D-B9CB-76D3D29624E1}"/>
                </a:ext>
              </a:extLst>
            </p:cNvPr>
            <p:cNvPicPr>
              <a:picLocks noChangeAspect="1"/>
            </p:cNvPicPr>
            <p:nvPr/>
          </p:nvPicPr>
          <p:blipFill>
            <a:blip r:embed="rId2"/>
            <a:stretch>
              <a:fillRect/>
            </a:stretch>
          </p:blipFill>
          <p:spPr>
            <a:xfrm>
              <a:off x="842642" y="1497744"/>
              <a:ext cx="5930433" cy="3150543"/>
            </a:xfrm>
            <a:prstGeom prst="rect">
              <a:avLst/>
            </a:prstGeom>
          </p:spPr>
        </p:pic>
        <p:sp>
          <p:nvSpPr>
            <p:cNvPr id="25" name="Shape 5">
              <a:extLst>
                <a:ext uri="{FF2B5EF4-FFF2-40B4-BE49-F238E27FC236}">
                  <a16:creationId xmlns:a16="http://schemas.microsoft.com/office/drawing/2014/main" id="{1E8A8996-D009-30C3-76E9-7E07C864DFCD}"/>
                </a:ext>
              </a:extLst>
            </p:cNvPr>
            <p:cNvSpPr/>
            <p:nvPr/>
          </p:nvSpPr>
          <p:spPr>
            <a:xfrm>
              <a:off x="4178454" y="1544952"/>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6</a:t>
              </a:r>
              <a:endParaRPr lang="zh-CN" altLang="en-US" sz="1000" b="1">
                <a:solidFill>
                  <a:schemeClr val="bg1"/>
                </a:solidFill>
              </a:endParaRPr>
            </a:p>
          </p:txBody>
        </p:sp>
        <p:sp>
          <p:nvSpPr>
            <p:cNvPr id="29" name="Shape 5">
              <a:extLst>
                <a:ext uri="{FF2B5EF4-FFF2-40B4-BE49-F238E27FC236}">
                  <a16:creationId xmlns:a16="http://schemas.microsoft.com/office/drawing/2014/main" id="{48417381-4426-9373-6B50-DD0403C636A9}"/>
                </a:ext>
              </a:extLst>
            </p:cNvPr>
            <p:cNvSpPr/>
            <p:nvPr/>
          </p:nvSpPr>
          <p:spPr>
            <a:xfrm>
              <a:off x="2900260" y="2489774"/>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7</a:t>
              </a:r>
              <a:endParaRPr lang="zh-CN" altLang="en-US" sz="1000" b="1">
                <a:solidFill>
                  <a:schemeClr val="bg1"/>
                </a:solidFill>
              </a:endParaRPr>
            </a:p>
          </p:txBody>
        </p:sp>
        <p:sp>
          <p:nvSpPr>
            <p:cNvPr id="32" name="Shape 5">
              <a:extLst>
                <a:ext uri="{FF2B5EF4-FFF2-40B4-BE49-F238E27FC236}">
                  <a16:creationId xmlns:a16="http://schemas.microsoft.com/office/drawing/2014/main" id="{3013A749-911D-8E99-8B8F-5C57EDCFD2D5}"/>
                </a:ext>
              </a:extLst>
            </p:cNvPr>
            <p:cNvSpPr/>
            <p:nvPr/>
          </p:nvSpPr>
          <p:spPr>
            <a:xfrm>
              <a:off x="1386092" y="3180223"/>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8</a:t>
              </a:r>
              <a:endParaRPr lang="zh-CN" altLang="en-US" sz="1000" b="1">
                <a:solidFill>
                  <a:schemeClr val="bg1"/>
                </a:solidFill>
              </a:endParaRPr>
            </a:p>
          </p:txBody>
        </p:sp>
      </p:grpSp>
      <p:grpSp>
        <p:nvGrpSpPr>
          <p:cNvPr id="96" name="组合 95">
            <a:extLst>
              <a:ext uri="{FF2B5EF4-FFF2-40B4-BE49-F238E27FC236}">
                <a16:creationId xmlns:a16="http://schemas.microsoft.com/office/drawing/2014/main" id="{8DE51C7D-B767-431A-7858-FFC43C1A3AC1}"/>
              </a:ext>
            </a:extLst>
          </p:cNvPr>
          <p:cNvGrpSpPr/>
          <p:nvPr/>
        </p:nvGrpSpPr>
        <p:grpSpPr>
          <a:xfrm>
            <a:off x="320182" y="5292737"/>
            <a:ext cx="8574388" cy="1365785"/>
            <a:chOff x="340300" y="4981345"/>
            <a:chExt cx="10140887" cy="1626751"/>
          </a:xfrm>
        </p:grpSpPr>
        <p:pic>
          <p:nvPicPr>
            <p:cNvPr id="15" name="图片 14">
              <a:extLst>
                <a:ext uri="{FF2B5EF4-FFF2-40B4-BE49-F238E27FC236}">
                  <a16:creationId xmlns:a16="http://schemas.microsoft.com/office/drawing/2014/main" id="{43774CEF-986F-404B-DD9E-21E550376AB7}"/>
                </a:ext>
              </a:extLst>
            </p:cNvPr>
            <p:cNvPicPr>
              <a:picLocks noChangeAspect="1"/>
            </p:cNvPicPr>
            <p:nvPr/>
          </p:nvPicPr>
          <p:blipFill>
            <a:blip r:embed="rId3"/>
            <a:stretch>
              <a:fillRect/>
            </a:stretch>
          </p:blipFill>
          <p:spPr>
            <a:xfrm>
              <a:off x="340300" y="4981345"/>
              <a:ext cx="10140887" cy="1626751"/>
            </a:xfrm>
            <a:prstGeom prst="rect">
              <a:avLst/>
            </a:prstGeom>
          </p:spPr>
        </p:pic>
        <p:sp>
          <p:nvSpPr>
            <p:cNvPr id="34" name="Shape 5">
              <a:extLst>
                <a:ext uri="{FF2B5EF4-FFF2-40B4-BE49-F238E27FC236}">
                  <a16:creationId xmlns:a16="http://schemas.microsoft.com/office/drawing/2014/main" id="{EA8671D4-B8DD-51E9-295C-BF4DC23F9C04}"/>
                </a:ext>
              </a:extLst>
            </p:cNvPr>
            <p:cNvSpPr/>
            <p:nvPr/>
          </p:nvSpPr>
          <p:spPr>
            <a:xfrm>
              <a:off x="1537056" y="5158268"/>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9</a:t>
              </a:r>
              <a:endParaRPr lang="zh-CN" altLang="en-US" sz="1000" b="1">
                <a:solidFill>
                  <a:schemeClr val="bg1"/>
                </a:solidFill>
              </a:endParaRPr>
            </a:p>
          </p:txBody>
        </p:sp>
      </p:grpSp>
      <p:grpSp>
        <p:nvGrpSpPr>
          <p:cNvPr id="97" name="组合 96">
            <a:extLst>
              <a:ext uri="{FF2B5EF4-FFF2-40B4-BE49-F238E27FC236}">
                <a16:creationId xmlns:a16="http://schemas.microsoft.com/office/drawing/2014/main" id="{B63A3E84-BB12-9575-B21F-86760324946D}"/>
              </a:ext>
            </a:extLst>
          </p:cNvPr>
          <p:cNvGrpSpPr/>
          <p:nvPr/>
        </p:nvGrpSpPr>
        <p:grpSpPr>
          <a:xfrm>
            <a:off x="9130998" y="1846671"/>
            <a:ext cx="3837750" cy="1403021"/>
            <a:chOff x="7754810" y="1487932"/>
            <a:chExt cx="3782439" cy="1403021"/>
          </a:xfrm>
        </p:grpSpPr>
        <p:sp>
          <p:nvSpPr>
            <p:cNvPr id="36" name="Shape 21">
              <a:extLst>
                <a:ext uri="{FF2B5EF4-FFF2-40B4-BE49-F238E27FC236}">
                  <a16:creationId xmlns:a16="http://schemas.microsoft.com/office/drawing/2014/main" id="{25521487-11F0-F2A9-EAD3-89A16BB06A76}"/>
                </a:ext>
              </a:extLst>
            </p:cNvPr>
            <p:cNvSpPr/>
            <p:nvPr/>
          </p:nvSpPr>
          <p:spPr>
            <a:xfrm>
              <a:off x="7754810" y="153598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38" name="Text 22">
              <a:extLst>
                <a:ext uri="{FF2B5EF4-FFF2-40B4-BE49-F238E27FC236}">
                  <a16:creationId xmlns:a16="http://schemas.microsoft.com/office/drawing/2014/main" id="{65E1FB7D-5EB4-8AC5-20AE-C0F03BBE72EF}"/>
                </a:ext>
              </a:extLst>
            </p:cNvPr>
            <p:cNvSpPr txBox="1"/>
            <p:nvPr/>
          </p:nvSpPr>
          <p:spPr>
            <a:xfrm>
              <a:off x="7754810" y="1535987"/>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6</a:t>
              </a:r>
              <a:endParaRPr lang="en-US" sz="900"/>
            </a:p>
          </p:txBody>
        </p:sp>
        <p:sp>
          <p:nvSpPr>
            <p:cNvPr id="40" name="Text 23">
              <a:extLst>
                <a:ext uri="{FF2B5EF4-FFF2-40B4-BE49-F238E27FC236}">
                  <a16:creationId xmlns:a16="http://schemas.microsoft.com/office/drawing/2014/main" id="{ABE89011-2D79-33A7-E52D-61446FFE4F2E}"/>
                </a:ext>
              </a:extLst>
            </p:cNvPr>
            <p:cNvSpPr txBox="1"/>
            <p:nvPr/>
          </p:nvSpPr>
          <p:spPr>
            <a:xfrm>
              <a:off x="8142082" y="1487932"/>
              <a:ext cx="3395167" cy="256032"/>
            </a:xfrm>
            <a:prstGeom prst="rect">
              <a:avLst/>
            </a:prstGeom>
            <a:noFill/>
            <a:ln/>
          </p:spPr>
          <p:txBody>
            <a:bodyPr wrap="square" lIns="0" tIns="0" rIns="0" bIns="0" rtlCol="0" anchor="ctr"/>
            <a:lstStyle/>
            <a:p>
              <a:pPr>
                <a:lnSpc>
                  <a:spcPts val="1188"/>
                </a:lnSpc>
              </a:pPr>
              <a:r>
                <a:rPr lang="en-US" sz="900"/>
                <a:t>Check the task ID:2095788084976185344</a:t>
              </a:r>
            </a:p>
          </p:txBody>
        </p:sp>
        <p:sp>
          <p:nvSpPr>
            <p:cNvPr id="42" name="Shape 27">
              <a:extLst>
                <a:ext uri="{FF2B5EF4-FFF2-40B4-BE49-F238E27FC236}">
                  <a16:creationId xmlns:a16="http://schemas.microsoft.com/office/drawing/2014/main" id="{C0FBC21E-6867-C330-A71B-3B6C634639EC}"/>
                </a:ext>
              </a:extLst>
            </p:cNvPr>
            <p:cNvSpPr/>
            <p:nvPr/>
          </p:nvSpPr>
          <p:spPr>
            <a:xfrm>
              <a:off x="7754810" y="226514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44" name="Text 28">
              <a:extLst>
                <a:ext uri="{FF2B5EF4-FFF2-40B4-BE49-F238E27FC236}">
                  <a16:creationId xmlns:a16="http://schemas.microsoft.com/office/drawing/2014/main" id="{2594F9E3-37A4-0C1F-2839-A3D8ABD51926}"/>
                </a:ext>
              </a:extLst>
            </p:cNvPr>
            <p:cNvSpPr txBox="1"/>
            <p:nvPr/>
          </p:nvSpPr>
          <p:spPr>
            <a:xfrm>
              <a:off x="7754810" y="2265147"/>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8</a:t>
              </a:r>
              <a:endParaRPr lang="en-US" sz="900"/>
            </a:p>
          </p:txBody>
        </p:sp>
        <p:sp>
          <p:nvSpPr>
            <p:cNvPr id="46" name="Text 23">
              <a:extLst>
                <a:ext uri="{FF2B5EF4-FFF2-40B4-BE49-F238E27FC236}">
                  <a16:creationId xmlns:a16="http://schemas.microsoft.com/office/drawing/2014/main" id="{8DB520BA-1171-46A2-B0CC-478838276CF2}"/>
                </a:ext>
              </a:extLst>
            </p:cNvPr>
            <p:cNvSpPr txBox="1"/>
            <p:nvPr/>
          </p:nvSpPr>
          <p:spPr>
            <a:xfrm>
              <a:off x="8116264" y="1850497"/>
              <a:ext cx="3395167" cy="256032"/>
            </a:xfrm>
            <a:prstGeom prst="rect">
              <a:avLst/>
            </a:prstGeom>
            <a:noFill/>
            <a:ln/>
          </p:spPr>
          <p:txBody>
            <a:bodyPr wrap="square" lIns="0" tIns="0" rIns="0" bIns="0" rtlCol="0" anchor="ctr"/>
            <a:lstStyle/>
            <a:p>
              <a:pPr marL="0" indent="0">
                <a:lnSpc>
                  <a:spcPts val="1188"/>
                </a:lnSpc>
                <a:buNone/>
              </a:pPr>
              <a:r>
                <a:rPr lang="en-US" altLang="zh-CN" sz="900"/>
                <a:t>Check each step and each step status</a:t>
              </a:r>
              <a:endParaRPr lang="en-US" sz="900"/>
            </a:p>
          </p:txBody>
        </p:sp>
        <p:sp>
          <p:nvSpPr>
            <p:cNvPr id="48" name="Shape 27">
              <a:extLst>
                <a:ext uri="{FF2B5EF4-FFF2-40B4-BE49-F238E27FC236}">
                  <a16:creationId xmlns:a16="http://schemas.microsoft.com/office/drawing/2014/main" id="{8D36AA5F-79F9-67C3-B881-E7BB46DA858A}"/>
                </a:ext>
              </a:extLst>
            </p:cNvPr>
            <p:cNvSpPr/>
            <p:nvPr/>
          </p:nvSpPr>
          <p:spPr>
            <a:xfrm>
              <a:off x="7754810" y="1878986"/>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50" name="Text 28">
              <a:extLst>
                <a:ext uri="{FF2B5EF4-FFF2-40B4-BE49-F238E27FC236}">
                  <a16:creationId xmlns:a16="http://schemas.microsoft.com/office/drawing/2014/main" id="{C02D72D9-691D-0716-A5CC-AB9742D996A0}"/>
                </a:ext>
              </a:extLst>
            </p:cNvPr>
            <p:cNvSpPr txBox="1"/>
            <p:nvPr/>
          </p:nvSpPr>
          <p:spPr>
            <a:xfrm>
              <a:off x="7754810" y="1878986"/>
              <a:ext cx="256032" cy="256032"/>
            </a:xfrm>
            <a:prstGeom prst="rect">
              <a:avLst/>
            </a:prstGeom>
            <a:noFill/>
            <a:ln/>
          </p:spPr>
          <p:txBody>
            <a:bodyPr wrap="square" lIns="0" tIns="0" rIns="0" bIns="0" rtlCol="0" anchor="ctr"/>
            <a:lstStyle/>
            <a:p>
              <a:pPr marL="0" indent="0" algn="ctr">
                <a:buNone/>
              </a:pPr>
              <a:r>
                <a:rPr lang="en-US" sz="900">
                  <a:solidFill>
                    <a:schemeClr val="bg1"/>
                  </a:solidFill>
                </a:rPr>
                <a:t>7</a:t>
              </a:r>
            </a:p>
          </p:txBody>
        </p:sp>
        <p:sp>
          <p:nvSpPr>
            <p:cNvPr id="52" name="Text 23">
              <a:extLst>
                <a:ext uri="{FF2B5EF4-FFF2-40B4-BE49-F238E27FC236}">
                  <a16:creationId xmlns:a16="http://schemas.microsoft.com/office/drawing/2014/main" id="{99579293-1F8B-761F-3827-4C1DB881B7F3}"/>
                </a:ext>
              </a:extLst>
            </p:cNvPr>
            <p:cNvSpPr txBox="1"/>
            <p:nvPr/>
          </p:nvSpPr>
          <p:spPr>
            <a:xfrm>
              <a:off x="8142082" y="2254709"/>
              <a:ext cx="3395167" cy="256032"/>
            </a:xfrm>
            <a:prstGeom prst="rect">
              <a:avLst/>
            </a:prstGeom>
            <a:noFill/>
            <a:ln/>
          </p:spPr>
          <p:txBody>
            <a:bodyPr wrap="square" lIns="0" tIns="0" rIns="0" bIns="0" rtlCol="0" anchor="ctr"/>
            <a:lstStyle/>
            <a:p>
              <a:pPr marL="0" indent="0">
                <a:lnSpc>
                  <a:spcPts val="1188"/>
                </a:lnSpc>
                <a:buNone/>
              </a:pPr>
              <a:r>
                <a:rPr lang="en-US" sz="900"/>
                <a:t>Display the BIT information</a:t>
              </a:r>
            </a:p>
          </p:txBody>
        </p:sp>
        <p:sp>
          <p:nvSpPr>
            <p:cNvPr id="54" name="Shape 27">
              <a:extLst>
                <a:ext uri="{FF2B5EF4-FFF2-40B4-BE49-F238E27FC236}">
                  <a16:creationId xmlns:a16="http://schemas.microsoft.com/office/drawing/2014/main" id="{57121E3B-0D09-2EF9-79E3-82CB8CD23A0F}"/>
                </a:ext>
              </a:extLst>
            </p:cNvPr>
            <p:cNvSpPr/>
            <p:nvPr/>
          </p:nvSpPr>
          <p:spPr>
            <a:xfrm>
              <a:off x="7754810" y="2634921"/>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56" name="Text 28">
              <a:extLst>
                <a:ext uri="{FF2B5EF4-FFF2-40B4-BE49-F238E27FC236}">
                  <a16:creationId xmlns:a16="http://schemas.microsoft.com/office/drawing/2014/main" id="{D50545B1-416E-BB6D-23E8-80CAFF3C49AE}"/>
                </a:ext>
              </a:extLst>
            </p:cNvPr>
            <p:cNvSpPr txBox="1"/>
            <p:nvPr/>
          </p:nvSpPr>
          <p:spPr>
            <a:xfrm>
              <a:off x="7754810" y="2634921"/>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9</a:t>
              </a:r>
              <a:endParaRPr lang="en-US" sz="900"/>
            </a:p>
          </p:txBody>
        </p:sp>
        <p:sp>
          <p:nvSpPr>
            <p:cNvPr id="58" name="Text 23">
              <a:extLst>
                <a:ext uri="{FF2B5EF4-FFF2-40B4-BE49-F238E27FC236}">
                  <a16:creationId xmlns:a16="http://schemas.microsoft.com/office/drawing/2014/main" id="{97BB44D6-11B3-4ACA-66EB-54C9C1A6EA3F}"/>
                </a:ext>
              </a:extLst>
            </p:cNvPr>
            <p:cNvSpPr txBox="1"/>
            <p:nvPr/>
          </p:nvSpPr>
          <p:spPr>
            <a:xfrm>
              <a:off x="8139609" y="2588638"/>
              <a:ext cx="3395167" cy="256032"/>
            </a:xfrm>
            <a:prstGeom prst="rect">
              <a:avLst/>
            </a:prstGeom>
            <a:noFill/>
            <a:ln/>
          </p:spPr>
          <p:txBody>
            <a:bodyPr wrap="square" lIns="0" tIns="0" rIns="0" bIns="0" rtlCol="0" anchor="ctr"/>
            <a:lstStyle/>
            <a:p>
              <a:pPr marL="0" indent="0">
                <a:lnSpc>
                  <a:spcPts val="1188"/>
                </a:lnSpc>
                <a:buNone/>
              </a:pPr>
              <a:r>
                <a:rPr lang="en-US" sz="900"/>
                <a:t>Display the preview invoice and preview statement</a:t>
              </a:r>
            </a:p>
          </p:txBody>
        </p:sp>
      </p:grpSp>
      <p:sp>
        <p:nvSpPr>
          <p:cNvPr id="62" name="Text 28">
            <a:extLst>
              <a:ext uri="{FF2B5EF4-FFF2-40B4-BE49-F238E27FC236}">
                <a16:creationId xmlns:a16="http://schemas.microsoft.com/office/drawing/2014/main" id="{3546D910-CD71-7D6A-FB5F-2FC13B921CEC}"/>
              </a:ext>
            </a:extLst>
          </p:cNvPr>
          <p:cNvSpPr txBox="1"/>
          <p:nvPr/>
        </p:nvSpPr>
        <p:spPr>
          <a:xfrm>
            <a:off x="6932659" y="3121676"/>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5</a:t>
            </a:r>
          </a:p>
        </p:txBody>
      </p:sp>
      <p:sp>
        <p:nvSpPr>
          <p:cNvPr id="5" name="Title 10">
            <a:extLst>
              <a:ext uri="{FF2B5EF4-FFF2-40B4-BE49-F238E27FC236}">
                <a16:creationId xmlns:a16="http://schemas.microsoft.com/office/drawing/2014/main" id="{B852B197-DAA1-DBD4-8C9E-D4C5DEF428D4}"/>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r>
              <a:rPr lang="en-US" altLang="zh-CN" sz="1500">
                <a:solidFill>
                  <a:srgbClr val="1B2434"/>
                </a:solidFill>
                <a:latin typeface="Aptos" panose="020B0004020202020204" pitchFamily="34" charset="0"/>
              </a:rPr>
              <a:t>c</a:t>
            </a:r>
          </a:p>
        </p:txBody>
      </p:sp>
    </p:spTree>
    <p:extLst>
      <p:ext uri="{BB962C8B-B14F-4D97-AF65-F5344CB8AC3E}">
        <p14:creationId xmlns:p14="http://schemas.microsoft.com/office/powerpoint/2010/main" val="311772192"/>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87D6F-2001-B7E4-6229-E013393FE5E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DB604EF-DC47-AA2B-45AF-4CF805C30C02}"/>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Schedule-Button-Setting</a:t>
            </a:r>
            <a:endParaRPr lang="zh-CN" altLang="en-US" sz="3400">
              <a:solidFill>
                <a:srgbClr val="000000"/>
              </a:solidFill>
              <a:latin typeface="Aptos Display" panose="020B0004020202020204" pitchFamily="34" charset="0"/>
            </a:endParaRPr>
          </a:p>
        </p:txBody>
      </p:sp>
      <p:grpSp>
        <p:nvGrpSpPr>
          <p:cNvPr id="5" name="组合 4">
            <a:extLst>
              <a:ext uri="{FF2B5EF4-FFF2-40B4-BE49-F238E27FC236}">
                <a16:creationId xmlns:a16="http://schemas.microsoft.com/office/drawing/2014/main" id="{3B115673-A4B1-30CE-8FB3-D58DC11303AA}"/>
              </a:ext>
            </a:extLst>
          </p:cNvPr>
          <p:cNvGrpSpPr/>
          <p:nvPr/>
        </p:nvGrpSpPr>
        <p:grpSpPr>
          <a:xfrm>
            <a:off x="320182" y="2925764"/>
            <a:ext cx="7633661" cy="3689696"/>
            <a:chOff x="448941" y="2167257"/>
            <a:chExt cx="7040880" cy="3407120"/>
          </a:xfrm>
        </p:grpSpPr>
        <p:pic>
          <p:nvPicPr>
            <p:cNvPr id="69" name="Image 0" descr="shots\05-ps-personalize-columns.jpg">
              <a:extLst>
                <a:ext uri="{FF2B5EF4-FFF2-40B4-BE49-F238E27FC236}">
                  <a16:creationId xmlns:a16="http://schemas.microsoft.com/office/drawing/2014/main" id="{777B709B-5CCF-B93F-1429-E9669BF2FBAA}"/>
                </a:ext>
              </a:extLst>
            </p:cNvPr>
            <p:cNvPicPr>
              <a:picLocks noChangeAspect="1"/>
            </p:cNvPicPr>
            <p:nvPr/>
          </p:nvPicPr>
          <p:blipFill>
            <a:blip r:embed="rId2"/>
            <a:stretch>
              <a:fillRect/>
            </a:stretch>
          </p:blipFill>
          <p:spPr>
            <a:xfrm>
              <a:off x="448941" y="2167257"/>
              <a:ext cx="7040880" cy="3367768"/>
            </a:xfrm>
            <a:prstGeom prst="rect">
              <a:avLst/>
            </a:prstGeom>
          </p:spPr>
        </p:pic>
        <p:sp>
          <p:nvSpPr>
            <p:cNvPr id="71" name="Shape 4">
              <a:extLst>
                <a:ext uri="{FF2B5EF4-FFF2-40B4-BE49-F238E27FC236}">
                  <a16:creationId xmlns:a16="http://schemas.microsoft.com/office/drawing/2014/main" id="{08B3229E-9BE6-2FCD-2B41-434926E1D25E}"/>
                </a:ext>
              </a:extLst>
            </p:cNvPr>
            <p:cNvSpPr/>
            <p:nvPr/>
          </p:nvSpPr>
          <p:spPr>
            <a:xfrm>
              <a:off x="448941" y="2206609"/>
              <a:ext cx="7040880" cy="3367768"/>
            </a:xfrm>
            <a:prstGeom prst="rect">
              <a:avLst/>
            </a:prstGeom>
            <a:ln w="12700">
              <a:solidFill>
                <a:srgbClr val="AEBDD4"/>
              </a:solidFill>
              <a:prstDash val="solid"/>
            </a:ln>
          </p:spPr>
          <p:txBody>
            <a:bodyPr/>
            <a:lstStyle/>
            <a:p>
              <a:endParaRPr lang="zh-CN" altLang="en-US"/>
            </a:p>
          </p:txBody>
        </p:sp>
        <p:sp>
          <p:nvSpPr>
            <p:cNvPr id="73" name="Shape 5">
              <a:extLst>
                <a:ext uri="{FF2B5EF4-FFF2-40B4-BE49-F238E27FC236}">
                  <a16:creationId xmlns:a16="http://schemas.microsoft.com/office/drawing/2014/main" id="{9150EA51-190C-FFEE-604A-65DE8486A5EF}"/>
                </a:ext>
              </a:extLst>
            </p:cNvPr>
            <p:cNvSpPr/>
            <p:nvPr/>
          </p:nvSpPr>
          <p:spPr>
            <a:xfrm>
              <a:off x="2952111" y="2801377"/>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75" name="Text 6">
              <a:extLst>
                <a:ext uri="{FF2B5EF4-FFF2-40B4-BE49-F238E27FC236}">
                  <a16:creationId xmlns:a16="http://schemas.microsoft.com/office/drawing/2014/main" id="{498EA3B6-B2E1-01FC-3558-8975E2E284F4}"/>
                </a:ext>
              </a:extLst>
            </p:cNvPr>
            <p:cNvSpPr txBox="1"/>
            <p:nvPr/>
          </p:nvSpPr>
          <p:spPr>
            <a:xfrm>
              <a:off x="2952111" y="2801377"/>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77" name="Shape 7">
              <a:extLst>
                <a:ext uri="{FF2B5EF4-FFF2-40B4-BE49-F238E27FC236}">
                  <a16:creationId xmlns:a16="http://schemas.microsoft.com/office/drawing/2014/main" id="{94CE53C4-F6ED-F73A-1EBF-52124B1A850C}"/>
                </a:ext>
              </a:extLst>
            </p:cNvPr>
            <p:cNvSpPr/>
            <p:nvPr/>
          </p:nvSpPr>
          <p:spPr>
            <a:xfrm>
              <a:off x="4927868" y="2805868"/>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79" name="Text 8">
              <a:extLst>
                <a:ext uri="{FF2B5EF4-FFF2-40B4-BE49-F238E27FC236}">
                  <a16:creationId xmlns:a16="http://schemas.microsoft.com/office/drawing/2014/main" id="{D175AD3B-7793-5884-471E-48123BF2D1AA}"/>
                </a:ext>
              </a:extLst>
            </p:cNvPr>
            <p:cNvSpPr txBox="1"/>
            <p:nvPr/>
          </p:nvSpPr>
          <p:spPr>
            <a:xfrm>
              <a:off x="4927868" y="2805868"/>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2</a:t>
              </a:r>
              <a:endParaRPr lang="en-US" sz="900"/>
            </a:p>
          </p:txBody>
        </p:sp>
        <p:sp>
          <p:nvSpPr>
            <p:cNvPr id="81" name="Shape 9">
              <a:extLst>
                <a:ext uri="{FF2B5EF4-FFF2-40B4-BE49-F238E27FC236}">
                  <a16:creationId xmlns:a16="http://schemas.microsoft.com/office/drawing/2014/main" id="{40E9D743-A9C1-4D21-F737-3F4E3A235882}"/>
                </a:ext>
              </a:extLst>
            </p:cNvPr>
            <p:cNvSpPr/>
            <p:nvPr/>
          </p:nvSpPr>
          <p:spPr>
            <a:xfrm>
              <a:off x="2318971" y="3021405"/>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83" name="Text 10">
              <a:extLst>
                <a:ext uri="{FF2B5EF4-FFF2-40B4-BE49-F238E27FC236}">
                  <a16:creationId xmlns:a16="http://schemas.microsoft.com/office/drawing/2014/main" id="{36326643-4033-6AA7-0E1F-33C9AE7E799F}"/>
                </a:ext>
              </a:extLst>
            </p:cNvPr>
            <p:cNvSpPr txBox="1"/>
            <p:nvPr/>
          </p:nvSpPr>
          <p:spPr>
            <a:xfrm>
              <a:off x="2318971" y="3021405"/>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3</a:t>
              </a:r>
              <a:endParaRPr lang="en-US" sz="900"/>
            </a:p>
          </p:txBody>
        </p:sp>
        <p:sp>
          <p:nvSpPr>
            <p:cNvPr id="85" name="Shape 11">
              <a:extLst>
                <a:ext uri="{FF2B5EF4-FFF2-40B4-BE49-F238E27FC236}">
                  <a16:creationId xmlns:a16="http://schemas.microsoft.com/office/drawing/2014/main" id="{EF068094-983C-8120-523E-AA9B85B73075}"/>
                </a:ext>
              </a:extLst>
            </p:cNvPr>
            <p:cNvSpPr/>
            <p:nvPr/>
          </p:nvSpPr>
          <p:spPr>
            <a:xfrm>
              <a:off x="3971422" y="3021405"/>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87" name="Text 12">
              <a:extLst>
                <a:ext uri="{FF2B5EF4-FFF2-40B4-BE49-F238E27FC236}">
                  <a16:creationId xmlns:a16="http://schemas.microsoft.com/office/drawing/2014/main" id="{075528E3-9CAB-3FC4-FDFF-465099C80ED5}"/>
                </a:ext>
              </a:extLst>
            </p:cNvPr>
            <p:cNvSpPr txBox="1"/>
            <p:nvPr/>
          </p:nvSpPr>
          <p:spPr>
            <a:xfrm>
              <a:off x="3971422" y="3021405"/>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4</a:t>
              </a:r>
              <a:endParaRPr lang="en-US" sz="900"/>
            </a:p>
          </p:txBody>
        </p:sp>
        <p:sp>
          <p:nvSpPr>
            <p:cNvPr id="89" name="Shape 13">
              <a:extLst>
                <a:ext uri="{FF2B5EF4-FFF2-40B4-BE49-F238E27FC236}">
                  <a16:creationId xmlns:a16="http://schemas.microsoft.com/office/drawing/2014/main" id="{99BCE4E0-9AB2-3842-6D15-9FC847CD9139}"/>
                </a:ext>
              </a:extLst>
            </p:cNvPr>
            <p:cNvSpPr/>
            <p:nvPr/>
          </p:nvSpPr>
          <p:spPr>
            <a:xfrm>
              <a:off x="3513994" y="3938471"/>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91" name="Text 14">
              <a:extLst>
                <a:ext uri="{FF2B5EF4-FFF2-40B4-BE49-F238E27FC236}">
                  <a16:creationId xmlns:a16="http://schemas.microsoft.com/office/drawing/2014/main" id="{DCD5C408-D45F-D55E-FEF8-00E12DDAA9B6}"/>
                </a:ext>
              </a:extLst>
            </p:cNvPr>
            <p:cNvSpPr txBox="1"/>
            <p:nvPr/>
          </p:nvSpPr>
          <p:spPr>
            <a:xfrm>
              <a:off x="3513994" y="3938471"/>
              <a:ext cx="274320" cy="274320"/>
            </a:xfrm>
            <a:prstGeom prst="rect">
              <a:avLst/>
            </a:prstGeom>
            <a:noFill/>
            <a:ln/>
          </p:spPr>
          <p:txBody>
            <a:bodyPr wrap="square" lIns="0" tIns="0" rIns="0" bIns="0" rtlCol="0" anchor="ctr"/>
            <a:lstStyle/>
            <a:p>
              <a:pPr marL="0" indent="0" algn="ctr">
                <a:buNone/>
              </a:pPr>
              <a:r>
                <a:rPr lang="en-US" sz="900" b="1">
                  <a:latin typeface="Calibri" pitchFamily="34" charset="0"/>
                  <a:ea typeface="Calibri" pitchFamily="34" charset="-122"/>
                  <a:cs typeface="Calibri" pitchFamily="34" charset="-120"/>
                </a:rPr>
                <a:t>5</a:t>
              </a:r>
              <a:endParaRPr lang="en-US" sz="900"/>
            </a:p>
          </p:txBody>
        </p:sp>
        <p:sp>
          <p:nvSpPr>
            <p:cNvPr id="93" name="Shape 15">
              <a:extLst>
                <a:ext uri="{FF2B5EF4-FFF2-40B4-BE49-F238E27FC236}">
                  <a16:creationId xmlns:a16="http://schemas.microsoft.com/office/drawing/2014/main" id="{EBEC47E0-DD89-6B11-AAFA-C64B7E4453B4}"/>
                </a:ext>
              </a:extLst>
            </p:cNvPr>
            <p:cNvSpPr/>
            <p:nvPr/>
          </p:nvSpPr>
          <p:spPr>
            <a:xfrm>
              <a:off x="5221003" y="3467157"/>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98" name="Text 16">
              <a:extLst>
                <a:ext uri="{FF2B5EF4-FFF2-40B4-BE49-F238E27FC236}">
                  <a16:creationId xmlns:a16="http://schemas.microsoft.com/office/drawing/2014/main" id="{08B8EEA1-7D5D-A35B-662B-C02685640012}"/>
                </a:ext>
              </a:extLst>
            </p:cNvPr>
            <p:cNvSpPr txBox="1"/>
            <p:nvPr/>
          </p:nvSpPr>
          <p:spPr>
            <a:xfrm>
              <a:off x="5254276" y="3467157"/>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6</a:t>
              </a:r>
              <a:endParaRPr lang="en-US" sz="900"/>
            </a:p>
          </p:txBody>
        </p:sp>
        <p:sp>
          <p:nvSpPr>
            <p:cNvPr id="100" name="Shape 17">
              <a:extLst>
                <a:ext uri="{FF2B5EF4-FFF2-40B4-BE49-F238E27FC236}">
                  <a16:creationId xmlns:a16="http://schemas.microsoft.com/office/drawing/2014/main" id="{5E84E284-9BB3-E958-F47D-FB328FBC7591}"/>
                </a:ext>
              </a:extLst>
            </p:cNvPr>
            <p:cNvSpPr/>
            <p:nvPr/>
          </p:nvSpPr>
          <p:spPr>
            <a:xfrm>
              <a:off x="5376904" y="3883553"/>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102" name="Text 18">
              <a:extLst>
                <a:ext uri="{FF2B5EF4-FFF2-40B4-BE49-F238E27FC236}">
                  <a16:creationId xmlns:a16="http://schemas.microsoft.com/office/drawing/2014/main" id="{27DB2E92-AA02-E571-3B20-8E4486CD2E32}"/>
                </a:ext>
              </a:extLst>
            </p:cNvPr>
            <p:cNvSpPr txBox="1"/>
            <p:nvPr/>
          </p:nvSpPr>
          <p:spPr>
            <a:xfrm>
              <a:off x="5376904" y="3883553"/>
              <a:ext cx="274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7</a:t>
              </a:r>
              <a:endParaRPr lang="en-US" sz="900"/>
            </a:p>
          </p:txBody>
        </p:sp>
        <p:sp>
          <p:nvSpPr>
            <p:cNvPr id="104" name="Shape 19">
              <a:extLst>
                <a:ext uri="{FF2B5EF4-FFF2-40B4-BE49-F238E27FC236}">
                  <a16:creationId xmlns:a16="http://schemas.microsoft.com/office/drawing/2014/main" id="{50441DE1-4BDA-E1F4-63C6-3211428935FF}"/>
                </a:ext>
              </a:extLst>
            </p:cNvPr>
            <p:cNvSpPr/>
            <p:nvPr/>
          </p:nvSpPr>
          <p:spPr>
            <a:xfrm>
              <a:off x="2614972" y="4684136"/>
              <a:ext cx="274320" cy="274320"/>
            </a:xfrm>
            <a:prstGeom prst="ellipse">
              <a:avLst/>
            </a:prstGeom>
            <a:solidFill>
              <a:srgbClr val="D8232A"/>
            </a:solidFill>
            <a:ln w="15875">
              <a:solidFill>
                <a:srgbClr val="FFFFFF"/>
              </a:solidFill>
              <a:prstDash val="solid"/>
            </a:ln>
          </p:spPr>
          <p:txBody>
            <a:bodyPr/>
            <a:lstStyle/>
            <a:p>
              <a:endParaRPr lang="zh-CN" altLang="en-US"/>
            </a:p>
          </p:txBody>
        </p:sp>
        <p:sp>
          <p:nvSpPr>
            <p:cNvPr id="106" name="Text 20">
              <a:extLst>
                <a:ext uri="{FF2B5EF4-FFF2-40B4-BE49-F238E27FC236}">
                  <a16:creationId xmlns:a16="http://schemas.microsoft.com/office/drawing/2014/main" id="{19EE4BEA-0455-4A7F-5069-F5D116B1D1A5}"/>
                </a:ext>
              </a:extLst>
            </p:cNvPr>
            <p:cNvSpPr txBox="1"/>
            <p:nvPr/>
          </p:nvSpPr>
          <p:spPr>
            <a:xfrm>
              <a:off x="2614972" y="4691265"/>
              <a:ext cx="274320" cy="274320"/>
            </a:xfrm>
            <a:prstGeom prst="rect">
              <a:avLst/>
            </a:prstGeom>
            <a:noFill/>
            <a:ln/>
          </p:spPr>
          <p:txBody>
            <a:bodyPr wrap="square" lIns="0" tIns="0" rIns="0" bIns="0" rtlCol="0" anchor="ctr"/>
            <a:lstStyle/>
            <a:p>
              <a:pPr marL="0" indent="0" algn="ctr">
                <a:buNone/>
              </a:pPr>
              <a:r>
                <a:rPr lang="en-US" sz="900" b="1">
                  <a:solidFill>
                    <a:schemeClr val="bg1"/>
                  </a:solidFill>
                  <a:latin typeface="Calibri" pitchFamily="34" charset="0"/>
                  <a:ea typeface="Calibri" pitchFamily="34" charset="-122"/>
                  <a:cs typeface="Calibri" pitchFamily="34" charset="-120"/>
                </a:rPr>
                <a:t>8</a:t>
              </a:r>
              <a:endParaRPr lang="en-US" sz="900">
                <a:solidFill>
                  <a:schemeClr val="bg1"/>
                </a:solidFill>
              </a:endParaRPr>
            </a:p>
          </p:txBody>
        </p:sp>
      </p:grpSp>
      <p:sp>
        <p:nvSpPr>
          <p:cNvPr id="7" name="Title 10">
            <a:extLst>
              <a:ext uri="{FF2B5EF4-FFF2-40B4-BE49-F238E27FC236}">
                <a16:creationId xmlns:a16="http://schemas.microsoft.com/office/drawing/2014/main" id="{AA339A33-53AA-F007-0A03-1ED1F5FB3C6A}"/>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pic>
        <p:nvPicPr>
          <p:cNvPr id="9" name="图片 8">
            <a:extLst>
              <a:ext uri="{FF2B5EF4-FFF2-40B4-BE49-F238E27FC236}">
                <a16:creationId xmlns:a16="http://schemas.microsoft.com/office/drawing/2014/main" id="{6C5401B1-E728-676D-D81A-86C0C667B6F5}"/>
              </a:ext>
            </a:extLst>
          </p:cNvPr>
          <p:cNvPicPr>
            <a:picLocks noChangeAspect="1"/>
          </p:cNvPicPr>
          <p:nvPr/>
        </p:nvPicPr>
        <p:blipFill>
          <a:blip r:embed="rId3"/>
          <a:stretch>
            <a:fillRect/>
          </a:stretch>
        </p:blipFill>
        <p:spPr>
          <a:xfrm>
            <a:off x="1191915" y="1716524"/>
            <a:ext cx="7257332" cy="978039"/>
          </a:xfrm>
          <a:prstGeom prst="rect">
            <a:avLst/>
          </a:prstGeom>
        </p:spPr>
      </p:pic>
      <p:grpSp>
        <p:nvGrpSpPr>
          <p:cNvPr id="13" name="组合 12">
            <a:extLst>
              <a:ext uri="{FF2B5EF4-FFF2-40B4-BE49-F238E27FC236}">
                <a16:creationId xmlns:a16="http://schemas.microsoft.com/office/drawing/2014/main" id="{74BC0934-2A3E-CE48-FAF0-7F8A337E600F}"/>
              </a:ext>
            </a:extLst>
          </p:cNvPr>
          <p:cNvGrpSpPr/>
          <p:nvPr/>
        </p:nvGrpSpPr>
        <p:grpSpPr>
          <a:xfrm>
            <a:off x="8328960" y="2900636"/>
            <a:ext cx="3733495" cy="2721962"/>
            <a:chOff x="8328960" y="2900636"/>
            <a:chExt cx="3733495" cy="2721962"/>
          </a:xfrm>
        </p:grpSpPr>
        <p:sp>
          <p:nvSpPr>
            <p:cNvPr id="108" name="Shape 21">
              <a:extLst>
                <a:ext uri="{FF2B5EF4-FFF2-40B4-BE49-F238E27FC236}">
                  <a16:creationId xmlns:a16="http://schemas.microsoft.com/office/drawing/2014/main" id="{61E08D94-5187-8A41-27A2-6B733A4C5ECD}"/>
                </a:ext>
              </a:extLst>
            </p:cNvPr>
            <p:cNvSpPr/>
            <p:nvPr/>
          </p:nvSpPr>
          <p:spPr>
            <a:xfrm>
              <a:off x="8328960" y="2900636"/>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10" name="Text 22">
              <a:extLst>
                <a:ext uri="{FF2B5EF4-FFF2-40B4-BE49-F238E27FC236}">
                  <a16:creationId xmlns:a16="http://schemas.microsoft.com/office/drawing/2014/main" id="{10EAB578-78EA-E567-A5FE-2A635F919151}"/>
                </a:ext>
              </a:extLst>
            </p:cNvPr>
            <p:cNvSpPr txBox="1"/>
            <p:nvPr/>
          </p:nvSpPr>
          <p:spPr>
            <a:xfrm>
              <a:off x="8328960" y="2900636"/>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112" name="Text 23">
              <a:extLst>
                <a:ext uri="{FF2B5EF4-FFF2-40B4-BE49-F238E27FC236}">
                  <a16:creationId xmlns:a16="http://schemas.microsoft.com/office/drawing/2014/main" id="{11A244AF-B2FC-1BF4-33D2-9F834890B5D1}"/>
                </a:ext>
              </a:extLst>
            </p:cNvPr>
            <p:cNvSpPr txBox="1"/>
            <p:nvPr/>
          </p:nvSpPr>
          <p:spPr>
            <a:xfrm>
              <a:off x="8667288" y="2902012"/>
              <a:ext cx="3395167" cy="200112"/>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Configuration — pick a saved column set, or the defaults.</a:t>
              </a:r>
              <a:endParaRPr lang="en-US" sz="900"/>
            </a:p>
          </p:txBody>
        </p:sp>
        <p:sp>
          <p:nvSpPr>
            <p:cNvPr id="114" name="Shape 24">
              <a:extLst>
                <a:ext uri="{FF2B5EF4-FFF2-40B4-BE49-F238E27FC236}">
                  <a16:creationId xmlns:a16="http://schemas.microsoft.com/office/drawing/2014/main" id="{F6F73359-F583-9F0B-A40D-EA731D547A1F}"/>
                </a:ext>
              </a:extLst>
            </p:cNvPr>
            <p:cNvSpPr/>
            <p:nvPr/>
          </p:nvSpPr>
          <p:spPr>
            <a:xfrm>
              <a:off x="8328960" y="3245551"/>
              <a:ext cx="256032" cy="256032"/>
            </a:xfrm>
            <a:prstGeom prst="ellipse">
              <a:avLst/>
            </a:prstGeom>
            <a:solidFill>
              <a:srgbClr val="C00000"/>
            </a:solidFill>
            <a:ln w="15875">
              <a:solidFill>
                <a:srgbClr val="FFFFFF"/>
              </a:solidFill>
              <a:prstDash val="solid"/>
            </a:ln>
          </p:spPr>
          <p:txBody>
            <a:bodyPr/>
            <a:lstStyle/>
            <a:p>
              <a:endParaRPr lang="zh-CN" altLang="en-US"/>
            </a:p>
          </p:txBody>
        </p:sp>
        <p:sp>
          <p:nvSpPr>
            <p:cNvPr id="118" name="Text 26">
              <a:extLst>
                <a:ext uri="{FF2B5EF4-FFF2-40B4-BE49-F238E27FC236}">
                  <a16:creationId xmlns:a16="http://schemas.microsoft.com/office/drawing/2014/main" id="{991720F3-6685-8B59-B597-009A16FDA9D2}"/>
                </a:ext>
              </a:extLst>
            </p:cNvPr>
            <p:cNvSpPr txBox="1"/>
            <p:nvPr/>
          </p:nvSpPr>
          <p:spPr>
            <a:xfrm>
              <a:off x="8667288" y="3227852"/>
              <a:ext cx="3395167" cy="200112"/>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Save as — name the current set so you can reuse it.</a:t>
              </a:r>
              <a:endParaRPr lang="en-US" sz="900"/>
            </a:p>
          </p:txBody>
        </p:sp>
        <p:sp>
          <p:nvSpPr>
            <p:cNvPr id="120" name="Shape 27">
              <a:extLst>
                <a:ext uri="{FF2B5EF4-FFF2-40B4-BE49-F238E27FC236}">
                  <a16:creationId xmlns:a16="http://schemas.microsoft.com/office/drawing/2014/main" id="{2D01BF59-899F-592D-7F0E-BFC61A886549}"/>
                </a:ext>
              </a:extLst>
            </p:cNvPr>
            <p:cNvSpPr/>
            <p:nvPr/>
          </p:nvSpPr>
          <p:spPr>
            <a:xfrm>
              <a:off x="8328960" y="3600302"/>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22" name="Text 28">
              <a:extLst>
                <a:ext uri="{FF2B5EF4-FFF2-40B4-BE49-F238E27FC236}">
                  <a16:creationId xmlns:a16="http://schemas.microsoft.com/office/drawing/2014/main" id="{72391D56-129F-C865-FAC8-D36D4D175ACF}"/>
                </a:ext>
              </a:extLst>
            </p:cNvPr>
            <p:cNvSpPr txBox="1"/>
            <p:nvPr/>
          </p:nvSpPr>
          <p:spPr>
            <a:xfrm>
              <a:off x="8328960" y="3600302"/>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3</a:t>
              </a:r>
              <a:endParaRPr lang="en-US" sz="900"/>
            </a:p>
          </p:txBody>
        </p:sp>
        <p:sp>
          <p:nvSpPr>
            <p:cNvPr id="124" name="Text 29">
              <a:extLst>
                <a:ext uri="{FF2B5EF4-FFF2-40B4-BE49-F238E27FC236}">
                  <a16:creationId xmlns:a16="http://schemas.microsoft.com/office/drawing/2014/main" id="{CCD8964A-340D-FD03-A7B5-CE930E54A818}"/>
                </a:ext>
              </a:extLst>
            </p:cNvPr>
            <p:cNvSpPr txBox="1"/>
            <p:nvPr/>
          </p:nvSpPr>
          <p:spPr>
            <a:xfrm>
              <a:off x="8667288" y="3611510"/>
              <a:ext cx="3395167" cy="169448"/>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Available — fields not currently shown.</a:t>
              </a:r>
              <a:endParaRPr lang="en-US" sz="900"/>
            </a:p>
          </p:txBody>
        </p:sp>
        <p:sp>
          <p:nvSpPr>
            <p:cNvPr id="126" name="Shape 30">
              <a:extLst>
                <a:ext uri="{FF2B5EF4-FFF2-40B4-BE49-F238E27FC236}">
                  <a16:creationId xmlns:a16="http://schemas.microsoft.com/office/drawing/2014/main" id="{15D7355D-31A4-7CB1-CA82-800C1FD3DF7F}"/>
                </a:ext>
              </a:extLst>
            </p:cNvPr>
            <p:cNvSpPr/>
            <p:nvPr/>
          </p:nvSpPr>
          <p:spPr>
            <a:xfrm>
              <a:off x="8328960" y="3955049"/>
              <a:ext cx="256032" cy="256032"/>
            </a:xfrm>
            <a:prstGeom prst="ellipse">
              <a:avLst/>
            </a:prstGeom>
            <a:solidFill>
              <a:srgbClr val="C00000"/>
            </a:solidFill>
            <a:ln w="15875">
              <a:solidFill>
                <a:srgbClr val="FFFFFF"/>
              </a:solidFill>
              <a:prstDash val="solid"/>
            </a:ln>
          </p:spPr>
          <p:txBody>
            <a:bodyPr/>
            <a:lstStyle/>
            <a:p>
              <a:endParaRPr lang="zh-CN" altLang="en-US"/>
            </a:p>
          </p:txBody>
        </p:sp>
        <p:sp>
          <p:nvSpPr>
            <p:cNvPr id="128" name="Text 31">
              <a:extLst>
                <a:ext uri="{FF2B5EF4-FFF2-40B4-BE49-F238E27FC236}">
                  <a16:creationId xmlns:a16="http://schemas.microsoft.com/office/drawing/2014/main" id="{BCA46E4F-5E51-24FF-82D8-D16037770A61}"/>
                </a:ext>
              </a:extLst>
            </p:cNvPr>
            <p:cNvSpPr txBox="1"/>
            <p:nvPr/>
          </p:nvSpPr>
          <p:spPr>
            <a:xfrm>
              <a:off x="8328960" y="3956000"/>
              <a:ext cx="256032" cy="256032"/>
            </a:xfrm>
            <a:prstGeom prst="rect">
              <a:avLst/>
            </a:prstGeom>
            <a:noFill/>
            <a:ln/>
          </p:spPr>
          <p:txBody>
            <a:bodyPr wrap="square" lIns="0" tIns="0" rIns="0" bIns="0" rtlCol="0" anchor="ctr"/>
            <a:lstStyle/>
            <a:p>
              <a:pPr marL="0" indent="0" algn="ctr">
                <a:buNone/>
              </a:pPr>
              <a:r>
                <a:rPr lang="en-US" sz="900" b="1">
                  <a:solidFill>
                    <a:schemeClr val="bg1"/>
                  </a:solidFill>
                  <a:latin typeface="Calibri" pitchFamily="34" charset="0"/>
                  <a:ea typeface="Calibri" pitchFamily="34" charset="-122"/>
                  <a:cs typeface="Calibri" pitchFamily="34" charset="-120"/>
                </a:rPr>
                <a:t>4</a:t>
              </a:r>
              <a:endParaRPr lang="en-US" sz="900">
                <a:solidFill>
                  <a:schemeClr val="bg1"/>
                </a:solidFill>
              </a:endParaRPr>
            </a:p>
          </p:txBody>
        </p:sp>
        <p:sp>
          <p:nvSpPr>
            <p:cNvPr id="130" name="Text 32">
              <a:extLst>
                <a:ext uri="{FF2B5EF4-FFF2-40B4-BE49-F238E27FC236}">
                  <a16:creationId xmlns:a16="http://schemas.microsoft.com/office/drawing/2014/main" id="{9D58EB6F-DF3C-90F5-5DF4-C82453977F05}"/>
                </a:ext>
              </a:extLst>
            </p:cNvPr>
            <p:cNvSpPr txBox="1"/>
            <p:nvPr/>
          </p:nvSpPr>
          <p:spPr>
            <a:xfrm>
              <a:off x="8667288" y="3965681"/>
              <a:ext cx="3395167" cy="169448"/>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Selected — the columns on your list, in order.</a:t>
              </a:r>
              <a:endParaRPr lang="en-US" sz="900"/>
            </a:p>
          </p:txBody>
        </p:sp>
        <p:sp>
          <p:nvSpPr>
            <p:cNvPr id="132" name="Shape 33">
              <a:extLst>
                <a:ext uri="{FF2B5EF4-FFF2-40B4-BE49-F238E27FC236}">
                  <a16:creationId xmlns:a16="http://schemas.microsoft.com/office/drawing/2014/main" id="{703B06DB-3FB9-A3F0-110A-8687C42EA781}"/>
                </a:ext>
              </a:extLst>
            </p:cNvPr>
            <p:cNvSpPr/>
            <p:nvPr/>
          </p:nvSpPr>
          <p:spPr>
            <a:xfrm>
              <a:off x="8328960" y="4309799"/>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34" name="Text 34">
              <a:extLst>
                <a:ext uri="{FF2B5EF4-FFF2-40B4-BE49-F238E27FC236}">
                  <a16:creationId xmlns:a16="http://schemas.microsoft.com/office/drawing/2014/main" id="{2F53B317-3467-BE35-07DF-CAB0E5C6FD24}"/>
                </a:ext>
              </a:extLst>
            </p:cNvPr>
            <p:cNvSpPr txBox="1"/>
            <p:nvPr/>
          </p:nvSpPr>
          <p:spPr>
            <a:xfrm>
              <a:off x="8328960" y="4309799"/>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5</a:t>
              </a:r>
              <a:endParaRPr lang="en-US" sz="900"/>
            </a:p>
          </p:txBody>
        </p:sp>
        <p:sp>
          <p:nvSpPr>
            <p:cNvPr id="136" name="Text 35">
              <a:extLst>
                <a:ext uri="{FF2B5EF4-FFF2-40B4-BE49-F238E27FC236}">
                  <a16:creationId xmlns:a16="http://schemas.microsoft.com/office/drawing/2014/main" id="{4FC0E884-395D-B5D3-BC50-6B594111B3F4}"/>
                </a:ext>
              </a:extLst>
            </p:cNvPr>
            <p:cNvSpPr txBox="1"/>
            <p:nvPr/>
          </p:nvSpPr>
          <p:spPr>
            <a:xfrm>
              <a:off x="8667288" y="4311725"/>
              <a:ext cx="3395167" cy="178704"/>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Move fields between the two lists.</a:t>
              </a:r>
              <a:endParaRPr lang="en-US" sz="900"/>
            </a:p>
          </p:txBody>
        </p:sp>
        <p:sp>
          <p:nvSpPr>
            <p:cNvPr id="138" name="Shape 36">
              <a:extLst>
                <a:ext uri="{FF2B5EF4-FFF2-40B4-BE49-F238E27FC236}">
                  <a16:creationId xmlns:a16="http://schemas.microsoft.com/office/drawing/2014/main" id="{9F345AB8-A967-1106-0DF1-8DC015925760}"/>
                </a:ext>
              </a:extLst>
            </p:cNvPr>
            <p:cNvSpPr/>
            <p:nvPr/>
          </p:nvSpPr>
          <p:spPr>
            <a:xfrm>
              <a:off x="8328960" y="4644878"/>
              <a:ext cx="256032" cy="256032"/>
            </a:xfrm>
            <a:prstGeom prst="ellipse">
              <a:avLst/>
            </a:prstGeom>
            <a:solidFill>
              <a:srgbClr val="C00000"/>
            </a:solidFill>
            <a:ln w="15875">
              <a:solidFill>
                <a:srgbClr val="FFFFFF"/>
              </a:solidFill>
              <a:prstDash val="solid"/>
            </a:ln>
          </p:spPr>
          <p:txBody>
            <a:bodyPr/>
            <a:lstStyle/>
            <a:p>
              <a:endParaRPr lang="zh-CN" altLang="en-US"/>
            </a:p>
          </p:txBody>
        </p:sp>
        <p:sp>
          <p:nvSpPr>
            <p:cNvPr id="140" name="Text 37">
              <a:extLst>
                <a:ext uri="{FF2B5EF4-FFF2-40B4-BE49-F238E27FC236}">
                  <a16:creationId xmlns:a16="http://schemas.microsoft.com/office/drawing/2014/main" id="{666FC15A-EB00-D291-7576-9E3689E7F7E2}"/>
                </a:ext>
              </a:extLst>
            </p:cNvPr>
            <p:cNvSpPr txBox="1"/>
            <p:nvPr/>
          </p:nvSpPr>
          <p:spPr>
            <a:xfrm>
              <a:off x="8328960" y="4644877"/>
              <a:ext cx="256032" cy="256032"/>
            </a:xfrm>
            <a:prstGeom prst="rect">
              <a:avLst/>
            </a:prstGeom>
            <a:noFill/>
            <a:ln/>
          </p:spPr>
          <p:txBody>
            <a:bodyPr wrap="square" lIns="0" tIns="0" rIns="0" bIns="0" rtlCol="0" anchor="ctr"/>
            <a:lstStyle/>
            <a:p>
              <a:pPr marL="0" indent="0" algn="ctr">
                <a:buNone/>
              </a:pPr>
              <a:r>
                <a:rPr lang="en-US" sz="900" b="1">
                  <a:solidFill>
                    <a:schemeClr val="bg1"/>
                  </a:solidFill>
                  <a:latin typeface="Calibri" pitchFamily="34" charset="0"/>
                  <a:ea typeface="Calibri" pitchFamily="34" charset="-122"/>
                  <a:cs typeface="Calibri" pitchFamily="34" charset="-120"/>
                </a:rPr>
                <a:t>6</a:t>
              </a:r>
              <a:endParaRPr lang="en-US" sz="900">
                <a:solidFill>
                  <a:schemeClr val="bg1"/>
                </a:solidFill>
              </a:endParaRPr>
            </a:p>
          </p:txBody>
        </p:sp>
        <p:sp>
          <p:nvSpPr>
            <p:cNvPr id="142" name="Text 38">
              <a:extLst>
                <a:ext uri="{FF2B5EF4-FFF2-40B4-BE49-F238E27FC236}">
                  <a16:creationId xmlns:a16="http://schemas.microsoft.com/office/drawing/2014/main" id="{34AE34EF-1FDA-60B6-84FC-D0953EA4556E}"/>
                </a:ext>
              </a:extLst>
            </p:cNvPr>
            <p:cNvSpPr txBox="1"/>
            <p:nvPr/>
          </p:nvSpPr>
          <p:spPr>
            <a:xfrm>
              <a:off x="8667288" y="4657702"/>
              <a:ext cx="3395167" cy="178703"/>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Pin a column so it stays fixed on the left while scrolling.</a:t>
              </a:r>
              <a:endParaRPr lang="en-US" sz="900"/>
            </a:p>
          </p:txBody>
        </p:sp>
        <p:sp>
          <p:nvSpPr>
            <p:cNvPr id="144" name="Shape 39">
              <a:extLst>
                <a:ext uri="{FF2B5EF4-FFF2-40B4-BE49-F238E27FC236}">
                  <a16:creationId xmlns:a16="http://schemas.microsoft.com/office/drawing/2014/main" id="{8BB02A12-377D-3B09-ECB9-CC1A3D82E315}"/>
                </a:ext>
              </a:extLst>
            </p:cNvPr>
            <p:cNvSpPr/>
            <p:nvPr/>
          </p:nvSpPr>
          <p:spPr>
            <a:xfrm>
              <a:off x="8328960" y="5019289"/>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46" name="Text 40">
              <a:extLst>
                <a:ext uri="{FF2B5EF4-FFF2-40B4-BE49-F238E27FC236}">
                  <a16:creationId xmlns:a16="http://schemas.microsoft.com/office/drawing/2014/main" id="{B1C23FD8-0EF5-A92C-4B89-9C6C60F65DB9}"/>
                </a:ext>
              </a:extLst>
            </p:cNvPr>
            <p:cNvSpPr txBox="1"/>
            <p:nvPr/>
          </p:nvSpPr>
          <p:spPr>
            <a:xfrm>
              <a:off x="8328960" y="5019289"/>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7</a:t>
              </a:r>
              <a:endParaRPr lang="en-US" sz="900"/>
            </a:p>
          </p:txBody>
        </p:sp>
        <p:sp>
          <p:nvSpPr>
            <p:cNvPr id="148" name="Text 41">
              <a:extLst>
                <a:ext uri="{FF2B5EF4-FFF2-40B4-BE49-F238E27FC236}">
                  <a16:creationId xmlns:a16="http://schemas.microsoft.com/office/drawing/2014/main" id="{3703186D-B860-8579-6B33-572A687C989E}"/>
                </a:ext>
              </a:extLst>
            </p:cNvPr>
            <p:cNvSpPr txBox="1"/>
            <p:nvPr/>
          </p:nvSpPr>
          <p:spPr>
            <a:xfrm>
              <a:off x="8667288" y="5001001"/>
              <a:ext cx="3395167" cy="256032"/>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Reorder: to top, up, down, to bottom.</a:t>
              </a:r>
              <a:endParaRPr lang="en-US" sz="900"/>
            </a:p>
          </p:txBody>
        </p:sp>
        <p:sp>
          <p:nvSpPr>
            <p:cNvPr id="150" name="Shape 42">
              <a:extLst>
                <a:ext uri="{FF2B5EF4-FFF2-40B4-BE49-F238E27FC236}">
                  <a16:creationId xmlns:a16="http://schemas.microsoft.com/office/drawing/2014/main" id="{BD7B340C-37C9-9524-FFE5-3C8AC2C8B828}"/>
                </a:ext>
              </a:extLst>
            </p:cNvPr>
            <p:cNvSpPr/>
            <p:nvPr/>
          </p:nvSpPr>
          <p:spPr>
            <a:xfrm>
              <a:off x="8328960" y="5364206"/>
              <a:ext cx="256032" cy="256032"/>
            </a:xfrm>
            <a:prstGeom prst="ellipse">
              <a:avLst/>
            </a:prstGeom>
            <a:solidFill>
              <a:srgbClr val="C00000"/>
            </a:solidFill>
            <a:ln w="15875">
              <a:solidFill>
                <a:srgbClr val="FFFFFF"/>
              </a:solidFill>
              <a:prstDash val="solid"/>
            </a:ln>
          </p:spPr>
          <p:txBody>
            <a:bodyPr/>
            <a:lstStyle/>
            <a:p>
              <a:endParaRPr lang="zh-CN" altLang="en-US"/>
            </a:p>
          </p:txBody>
        </p:sp>
        <p:sp>
          <p:nvSpPr>
            <p:cNvPr id="152" name="Text 43">
              <a:extLst>
                <a:ext uri="{FF2B5EF4-FFF2-40B4-BE49-F238E27FC236}">
                  <a16:creationId xmlns:a16="http://schemas.microsoft.com/office/drawing/2014/main" id="{F7093BA3-49C0-04A6-C201-2E2419F8CC29}"/>
                </a:ext>
              </a:extLst>
            </p:cNvPr>
            <p:cNvSpPr txBox="1"/>
            <p:nvPr/>
          </p:nvSpPr>
          <p:spPr>
            <a:xfrm>
              <a:off x="8328960" y="5364210"/>
              <a:ext cx="256032" cy="256032"/>
            </a:xfrm>
            <a:prstGeom prst="rect">
              <a:avLst/>
            </a:prstGeom>
            <a:noFill/>
            <a:ln/>
          </p:spPr>
          <p:txBody>
            <a:bodyPr wrap="square" lIns="0" tIns="0" rIns="0" bIns="0" rtlCol="0" anchor="ctr"/>
            <a:lstStyle/>
            <a:p>
              <a:pPr marL="0" indent="0" algn="ctr">
                <a:buNone/>
              </a:pPr>
              <a:r>
                <a:rPr lang="en-US" sz="900" b="1">
                  <a:solidFill>
                    <a:schemeClr val="bg1"/>
                  </a:solidFill>
                  <a:latin typeface="Calibri" pitchFamily="34" charset="0"/>
                  <a:ea typeface="Calibri" pitchFamily="34" charset="-122"/>
                  <a:cs typeface="Calibri" pitchFamily="34" charset="-120"/>
                </a:rPr>
                <a:t>8</a:t>
              </a:r>
              <a:endParaRPr lang="en-US" sz="900">
                <a:solidFill>
                  <a:schemeClr val="bg1"/>
                </a:solidFill>
              </a:endParaRPr>
            </a:p>
          </p:txBody>
        </p:sp>
        <p:sp>
          <p:nvSpPr>
            <p:cNvPr id="116" name="Text 25">
              <a:extLst>
                <a:ext uri="{FF2B5EF4-FFF2-40B4-BE49-F238E27FC236}">
                  <a16:creationId xmlns:a16="http://schemas.microsoft.com/office/drawing/2014/main" id="{8829D75E-210A-4DF0-8E9F-2B46A05BD360}"/>
                </a:ext>
              </a:extLst>
            </p:cNvPr>
            <p:cNvSpPr txBox="1"/>
            <p:nvPr/>
          </p:nvSpPr>
          <p:spPr>
            <a:xfrm>
              <a:off x="8328960" y="3244003"/>
              <a:ext cx="256032" cy="256032"/>
            </a:xfrm>
            <a:prstGeom prst="rect">
              <a:avLst/>
            </a:prstGeom>
            <a:noFill/>
            <a:ln/>
          </p:spPr>
          <p:txBody>
            <a:bodyPr wrap="square" lIns="0" tIns="0" rIns="0" bIns="0" rtlCol="0" anchor="ctr"/>
            <a:lstStyle/>
            <a:p>
              <a:pPr marL="0" indent="0" algn="ctr">
                <a:buNone/>
              </a:pPr>
              <a:r>
                <a:rPr lang="en-US" sz="900" b="1">
                  <a:solidFill>
                    <a:schemeClr val="bg1"/>
                  </a:solidFill>
                  <a:latin typeface="Calibri" pitchFamily="34" charset="0"/>
                  <a:ea typeface="Calibri" pitchFamily="34" charset="-122"/>
                  <a:cs typeface="Calibri" pitchFamily="34" charset="-120"/>
                </a:rPr>
                <a:t>2</a:t>
              </a:r>
              <a:endParaRPr lang="en-US" sz="900">
                <a:solidFill>
                  <a:schemeClr val="bg1"/>
                </a:solidFill>
              </a:endParaRPr>
            </a:p>
          </p:txBody>
        </p:sp>
        <p:sp>
          <p:nvSpPr>
            <p:cNvPr id="12" name="Text 41">
              <a:extLst>
                <a:ext uri="{FF2B5EF4-FFF2-40B4-BE49-F238E27FC236}">
                  <a16:creationId xmlns:a16="http://schemas.microsoft.com/office/drawing/2014/main" id="{A9216DB1-0011-9051-B27B-74A6A9239C14}"/>
                </a:ext>
              </a:extLst>
            </p:cNvPr>
            <p:cNvSpPr txBox="1"/>
            <p:nvPr/>
          </p:nvSpPr>
          <p:spPr>
            <a:xfrm>
              <a:off x="8667288" y="5366566"/>
              <a:ext cx="3395167" cy="256032"/>
            </a:xfrm>
            <a:prstGeom prst="rect">
              <a:avLst/>
            </a:prstGeom>
            <a:noFill/>
            <a:ln/>
          </p:spPr>
          <p:txBody>
            <a:bodyPr wrap="square" lIns="0" tIns="0" rIns="0" bIns="0" rtlCol="0" anchor="ctr"/>
            <a:lstStyle/>
            <a:p>
              <a:pPr marL="0" indent="0">
                <a:lnSpc>
                  <a:spcPts val="1188"/>
                </a:lnSpc>
                <a:buNone/>
              </a:pPr>
              <a:r>
                <a:rPr lang="en-US" sz="900">
                  <a:solidFill>
                    <a:srgbClr val="1B2434"/>
                  </a:solidFill>
                  <a:latin typeface="Calibri" pitchFamily="34" charset="0"/>
                  <a:ea typeface="Calibri" pitchFamily="34" charset="-122"/>
                  <a:cs typeface="Calibri" pitchFamily="34" charset="-120"/>
                </a:rPr>
                <a:t>Reset the column default.</a:t>
              </a:r>
              <a:endParaRPr lang="en-US" sz="900"/>
            </a:p>
          </p:txBody>
        </p:sp>
      </p:grpSp>
    </p:spTree>
    <p:extLst>
      <p:ext uri="{BB962C8B-B14F-4D97-AF65-F5344CB8AC3E}">
        <p14:creationId xmlns:p14="http://schemas.microsoft.com/office/powerpoint/2010/main" val="3308752945"/>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4EDE-7180-3926-5BF0-F3D6A468743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0C5862F-AA8F-94E3-BDA5-1DA6220C7DB4}"/>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Schedule-Button-Full Screen</a:t>
            </a:r>
            <a:endParaRPr lang="zh-CN" altLang="en-US" sz="3400">
              <a:solidFill>
                <a:srgbClr val="000000"/>
              </a:solidFill>
              <a:latin typeface="Aptos Display" panose="020B0004020202020204" pitchFamily="34" charset="0"/>
            </a:endParaRPr>
          </a:p>
        </p:txBody>
      </p:sp>
      <p:pic>
        <p:nvPicPr>
          <p:cNvPr id="7" name="图片 6">
            <a:extLst>
              <a:ext uri="{FF2B5EF4-FFF2-40B4-BE49-F238E27FC236}">
                <a16:creationId xmlns:a16="http://schemas.microsoft.com/office/drawing/2014/main" id="{99A7AECD-6A76-8ED8-718A-2FE068F825B3}"/>
              </a:ext>
            </a:extLst>
          </p:cNvPr>
          <p:cNvPicPr>
            <a:picLocks noChangeAspect="1"/>
          </p:cNvPicPr>
          <p:nvPr/>
        </p:nvPicPr>
        <p:blipFill>
          <a:blip r:embed="rId2"/>
          <a:stretch>
            <a:fillRect/>
          </a:stretch>
        </p:blipFill>
        <p:spPr>
          <a:xfrm>
            <a:off x="320636" y="1823863"/>
            <a:ext cx="8843029" cy="725404"/>
          </a:xfrm>
          <a:prstGeom prst="rect">
            <a:avLst/>
          </a:prstGeom>
        </p:spPr>
      </p:pic>
      <p:pic>
        <p:nvPicPr>
          <p:cNvPr id="9" name="图片 8">
            <a:extLst>
              <a:ext uri="{FF2B5EF4-FFF2-40B4-BE49-F238E27FC236}">
                <a16:creationId xmlns:a16="http://schemas.microsoft.com/office/drawing/2014/main" id="{D09ED2EE-E437-2B28-F42D-6A5E0105DBBA}"/>
              </a:ext>
            </a:extLst>
          </p:cNvPr>
          <p:cNvPicPr>
            <a:picLocks noChangeAspect="1"/>
          </p:cNvPicPr>
          <p:nvPr/>
        </p:nvPicPr>
        <p:blipFill>
          <a:blip r:embed="rId3"/>
          <a:stretch>
            <a:fillRect/>
          </a:stretch>
        </p:blipFill>
        <p:spPr>
          <a:xfrm>
            <a:off x="898902" y="2847808"/>
            <a:ext cx="7686042" cy="3347632"/>
          </a:xfrm>
          <a:prstGeom prst="rect">
            <a:avLst/>
          </a:prstGeom>
        </p:spPr>
      </p:pic>
      <p:sp>
        <p:nvSpPr>
          <p:cNvPr id="12" name="Text 23">
            <a:extLst>
              <a:ext uri="{FF2B5EF4-FFF2-40B4-BE49-F238E27FC236}">
                <a16:creationId xmlns:a16="http://schemas.microsoft.com/office/drawing/2014/main" id="{929137B8-D656-A72B-D8C4-F9E1BDE69712}"/>
              </a:ext>
            </a:extLst>
          </p:cNvPr>
          <p:cNvSpPr txBox="1"/>
          <p:nvPr/>
        </p:nvSpPr>
        <p:spPr>
          <a:xfrm>
            <a:off x="9389805" y="1715183"/>
            <a:ext cx="2261421" cy="864877"/>
          </a:xfrm>
          <a:prstGeom prst="rect">
            <a:avLst/>
          </a:prstGeom>
          <a:noFill/>
          <a:ln/>
        </p:spPr>
        <p:txBody>
          <a:bodyPr wrap="square" lIns="50800" tIns="25400" rIns="50800" bIns="25400" rtlCol="0" anchor="ctr"/>
          <a:lstStyle/>
          <a:p>
            <a:pPr marL="0" indent="0">
              <a:lnSpc>
                <a:spcPts val="1450"/>
              </a:lnSpc>
              <a:buNone/>
            </a:pPr>
            <a:r>
              <a:rPr lang="en-US" sz="1200">
                <a:solidFill>
                  <a:srgbClr val="1B2434"/>
                </a:solidFill>
                <a:latin typeface="Aptos" panose="020B0004020202020204" pitchFamily="34" charset="0"/>
                <a:ea typeface="Calibri" pitchFamily="34" charset="-122"/>
                <a:cs typeface="Calibri" pitchFamily="34" charset="-120"/>
              </a:rPr>
              <a:t>Expands the table to the whole window and show many columns.</a:t>
            </a:r>
            <a:endParaRPr lang="en-US" sz="1200">
              <a:solidFill>
                <a:srgbClr val="1B2434"/>
              </a:solidFill>
              <a:latin typeface="Aptos" panose="020B0004020202020204" pitchFamily="34" charset="0"/>
            </a:endParaRPr>
          </a:p>
        </p:txBody>
      </p:sp>
      <p:sp>
        <p:nvSpPr>
          <p:cNvPr id="5" name="Title 10">
            <a:extLst>
              <a:ext uri="{FF2B5EF4-FFF2-40B4-BE49-F238E27FC236}">
                <a16:creationId xmlns:a16="http://schemas.microsoft.com/office/drawing/2014/main" id="{12C7D718-E7C3-7B7B-BE29-EF555063A7C3}"/>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2986688057"/>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B156E-C89E-BFF5-DCFF-1162683B2C9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092A97E-92B2-2D4F-E783-A4E9C0CCED37}"/>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Schedule-Button-Download</a:t>
            </a:r>
            <a:endParaRPr lang="zh-CN" altLang="en-US" sz="3400">
              <a:solidFill>
                <a:srgbClr val="000000"/>
              </a:solidFill>
              <a:latin typeface="Aptos Display" panose="020B0004020202020204" pitchFamily="34" charset="0"/>
            </a:endParaRPr>
          </a:p>
        </p:txBody>
      </p:sp>
      <p:pic>
        <p:nvPicPr>
          <p:cNvPr id="5" name="图片 4">
            <a:extLst>
              <a:ext uri="{FF2B5EF4-FFF2-40B4-BE49-F238E27FC236}">
                <a16:creationId xmlns:a16="http://schemas.microsoft.com/office/drawing/2014/main" id="{A1C4C94F-AF81-ECAB-E2AB-1F4F587636C6}"/>
              </a:ext>
            </a:extLst>
          </p:cNvPr>
          <p:cNvPicPr>
            <a:picLocks noChangeAspect="1"/>
          </p:cNvPicPr>
          <p:nvPr/>
        </p:nvPicPr>
        <p:blipFill>
          <a:blip r:embed="rId2"/>
          <a:stretch>
            <a:fillRect/>
          </a:stretch>
        </p:blipFill>
        <p:spPr>
          <a:xfrm>
            <a:off x="320183" y="1726462"/>
            <a:ext cx="9443250" cy="3566504"/>
          </a:xfrm>
          <a:prstGeom prst="rect">
            <a:avLst/>
          </a:prstGeom>
        </p:spPr>
      </p:pic>
      <p:sp>
        <p:nvSpPr>
          <p:cNvPr id="8" name="文本框 7">
            <a:extLst>
              <a:ext uri="{FF2B5EF4-FFF2-40B4-BE49-F238E27FC236}">
                <a16:creationId xmlns:a16="http://schemas.microsoft.com/office/drawing/2014/main" id="{8A77665E-E871-D93D-D7D4-CF568C3223FD}"/>
              </a:ext>
            </a:extLst>
          </p:cNvPr>
          <p:cNvSpPr txBox="1"/>
          <p:nvPr/>
        </p:nvSpPr>
        <p:spPr>
          <a:xfrm>
            <a:off x="9951181" y="1830786"/>
            <a:ext cx="2008524" cy="1007584"/>
          </a:xfrm>
          <a:prstGeom prst="rect">
            <a:avLst/>
          </a:prstGeom>
          <a:noFill/>
        </p:spPr>
        <p:txBody>
          <a:bodyPr wrap="square" lIns="50800" tIns="25400" rIns="50800" bIns="25400">
            <a:spAutoFit/>
          </a:bodyPr>
          <a:lstStyle/>
          <a:p>
            <a:pPr marL="0" indent="0">
              <a:lnSpc>
                <a:spcPts val="1450"/>
              </a:lnSpc>
              <a:buNone/>
            </a:pPr>
            <a:r>
              <a:rPr lang="en-US" altLang="zh-CN" sz="1200">
                <a:solidFill>
                  <a:srgbClr val="1B2434"/>
                </a:solidFill>
                <a:latin typeface="Aptos" panose="020B0004020202020204" pitchFamily="34" charset="0"/>
                <a:ea typeface="Calibri" pitchFamily="34" charset="-122"/>
                <a:cs typeface="Calibri" pitchFamily="34" charset="-120"/>
              </a:rPr>
              <a:t>Two choices: Download all data, or Download select data for just the rows you selected. Both download file is CSV.</a:t>
            </a:r>
            <a:endParaRPr lang="en-US" altLang="zh-CN" sz="1200">
              <a:solidFill>
                <a:srgbClr val="1B2434"/>
              </a:solidFill>
              <a:latin typeface="Aptos" panose="020B0004020202020204" pitchFamily="34" charset="0"/>
            </a:endParaRPr>
          </a:p>
        </p:txBody>
      </p:sp>
      <p:sp>
        <p:nvSpPr>
          <p:cNvPr id="6" name="Title 10">
            <a:extLst>
              <a:ext uri="{FF2B5EF4-FFF2-40B4-BE49-F238E27FC236}">
                <a16:creationId xmlns:a16="http://schemas.microsoft.com/office/drawing/2014/main" id="{DCEDF9BD-5DDB-C99F-12F8-232C23F591C5}"/>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1384387503"/>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6B41-3E61-F275-CFE6-D074F28BF9C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99A08DB-3A2F-4417-9FD0-E7838BD9DBC7}"/>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Schedule-Button-Recalculate Usage Data</a:t>
            </a:r>
            <a:endParaRPr lang="zh-CN" altLang="en-US" sz="3400">
              <a:solidFill>
                <a:srgbClr val="000000"/>
              </a:solidFill>
              <a:latin typeface="Aptos Display" panose="020B0004020202020204" pitchFamily="34" charset="0"/>
            </a:endParaRPr>
          </a:p>
        </p:txBody>
      </p:sp>
      <p:sp>
        <p:nvSpPr>
          <p:cNvPr id="9" name="文本框 8">
            <a:extLst>
              <a:ext uri="{FF2B5EF4-FFF2-40B4-BE49-F238E27FC236}">
                <a16:creationId xmlns:a16="http://schemas.microsoft.com/office/drawing/2014/main" id="{5632DB0D-AC96-CE59-7E6A-6C9673D350C5}"/>
              </a:ext>
            </a:extLst>
          </p:cNvPr>
          <p:cNvSpPr txBox="1"/>
          <p:nvPr/>
        </p:nvSpPr>
        <p:spPr>
          <a:xfrm>
            <a:off x="9439616" y="2479654"/>
            <a:ext cx="2120039" cy="3741665"/>
          </a:xfrm>
          <a:prstGeom prst="rect">
            <a:avLst/>
          </a:prstGeom>
          <a:noFill/>
        </p:spPr>
        <p:txBody>
          <a:bodyPr wrap="square" lIns="50800" tIns="25400" rIns="50800" bIns="25400">
            <a:spAutoFit/>
          </a:bodyPr>
          <a:lstStyle/>
          <a:p>
            <a:pPr marL="171450" indent="-171450">
              <a:lnSpc>
                <a:spcPts val="1450"/>
              </a:lnSpc>
              <a:buFont typeface="Wingdings" panose="05000000000000000000" pitchFamily="2" charset="2"/>
              <a:buChar char="u"/>
            </a:pPr>
            <a:r>
              <a:rPr lang="en-US" altLang="zh-CN" sz="1200">
                <a:solidFill>
                  <a:srgbClr val="1B2434"/>
                </a:solidFill>
                <a:latin typeface="Aptos" panose="020B0004020202020204" pitchFamily="34" charset="0"/>
              </a:rPr>
              <a:t> If the metering type is AZURE,BAAS, HYBCLOUD, POWER,STAAS,STORAGE. the usage data must receive from SOM-CC, then you can generate the invoice, otherwise, can't generate the invoice;</a:t>
            </a:r>
          </a:p>
          <a:p>
            <a:pPr marL="171450" indent="-171450">
              <a:lnSpc>
                <a:spcPts val="1450"/>
              </a:lnSpc>
              <a:buFont typeface="Wingdings" panose="05000000000000000000" pitchFamily="2" charset="2"/>
              <a:buChar char="u"/>
            </a:pPr>
            <a:r>
              <a:rPr lang="en-US" altLang="zh-CN" sz="1200">
                <a:solidFill>
                  <a:srgbClr val="1B2434"/>
                </a:solidFill>
                <a:latin typeface="Aptos" panose="020B0004020202020204" pitchFamily="34" charset="0"/>
              </a:rPr>
              <a:t>The received new usage amount = 1473.4 and update into the amount field, and the usage data receive flag = ‘X’;</a:t>
            </a:r>
          </a:p>
          <a:p>
            <a:pPr marL="171450" indent="-171450">
              <a:lnSpc>
                <a:spcPts val="1450"/>
              </a:lnSpc>
              <a:buFont typeface="Wingdings" panose="05000000000000000000" pitchFamily="2" charset="2"/>
              <a:buChar char="u"/>
            </a:pPr>
            <a:r>
              <a:rPr lang="en-US" altLang="zh-CN" sz="1200">
                <a:solidFill>
                  <a:srgbClr val="1B2434"/>
                </a:solidFill>
                <a:latin typeface="Aptos" panose="020B0004020202020204" pitchFamily="34" charset="0"/>
              </a:rPr>
              <a:t>As below, the payment schedule current term 2, not received from SOM-CC, so the amount is 0 and the usage data receive flag = blank.</a:t>
            </a:r>
          </a:p>
        </p:txBody>
      </p:sp>
      <p:sp>
        <p:nvSpPr>
          <p:cNvPr id="7" name="Title 10">
            <a:extLst>
              <a:ext uri="{FF2B5EF4-FFF2-40B4-BE49-F238E27FC236}">
                <a16:creationId xmlns:a16="http://schemas.microsoft.com/office/drawing/2014/main" id="{D614C1EC-1C0B-F25D-D66E-788E428C83B8}"/>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 </a:t>
            </a:r>
          </a:p>
          <a:p>
            <a:pPr algn="l" defTabSz="914126">
              <a:spcAft>
                <a:spcPct val="0"/>
              </a:spcAft>
              <a:defRPr/>
            </a:pPr>
            <a:r>
              <a:rPr lang="en-US" altLang="zh-CN" sz="1500">
                <a:solidFill>
                  <a:srgbClr val="1B2434"/>
                </a:solidFill>
                <a:latin typeface="Aptos" panose="020B0004020202020204" pitchFamily="34" charset="0"/>
              </a:rPr>
              <a:t>Notes: The “Recalculate Usage Date” is only for IAAS</a:t>
            </a:r>
            <a:r>
              <a:rPr lang="zh-CN" altLang="zh-CN" sz="1500">
                <a:solidFill>
                  <a:srgbClr val="1B2434"/>
                </a:solidFill>
                <a:latin typeface="Aptos" panose="020B0004020202020204" pitchFamily="34" charset="0"/>
              </a:rPr>
              <a:t>.</a:t>
            </a:r>
            <a:r>
              <a:rPr lang="en-US" altLang="zh-CN" sz="1500">
                <a:solidFill>
                  <a:srgbClr val="1B2434"/>
                </a:solidFill>
                <a:latin typeface="Aptos" panose="020B0004020202020204" pitchFamily="34" charset="0"/>
              </a:rPr>
              <a:t>cc</a:t>
            </a:r>
          </a:p>
        </p:txBody>
      </p:sp>
      <p:pic>
        <p:nvPicPr>
          <p:cNvPr id="5" name="图片 4">
            <a:extLst>
              <a:ext uri="{FF2B5EF4-FFF2-40B4-BE49-F238E27FC236}">
                <a16:creationId xmlns:a16="http://schemas.microsoft.com/office/drawing/2014/main" id="{0C4E01D9-9E0C-8B24-E77D-7689AB776D63}"/>
              </a:ext>
            </a:extLst>
          </p:cNvPr>
          <p:cNvPicPr>
            <a:picLocks noChangeAspect="1"/>
          </p:cNvPicPr>
          <p:nvPr/>
        </p:nvPicPr>
        <p:blipFill>
          <a:blip r:embed="rId2"/>
          <a:stretch>
            <a:fillRect/>
          </a:stretch>
        </p:blipFill>
        <p:spPr>
          <a:xfrm>
            <a:off x="231693" y="2391379"/>
            <a:ext cx="8760300" cy="4220670"/>
          </a:xfrm>
          <a:prstGeom prst="rect">
            <a:avLst/>
          </a:prstGeom>
        </p:spPr>
      </p:pic>
      <p:pic>
        <p:nvPicPr>
          <p:cNvPr id="12" name="图片 11">
            <a:extLst>
              <a:ext uri="{FF2B5EF4-FFF2-40B4-BE49-F238E27FC236}">
                <a16:creationId xmlns:a16="http://schemas.microsoft.com/office/drawing/2014/main" id="{FAEEDD7A-CA4E-DF45-DFD6-B0559D0E95D0}"/>
              </a:ext>
            </a:extLst>
          </p:cNvPr>
          <p:cNvPicPr>
            <a:picLocks noChangeAspect="1"/>
          </p:cNvPicPr>
          <p:nvPr/>
        </p:nvPicPr>
        <p:blipFill>
          <a:blip r:embed="rId3"/>
          <a:stretch>
            <a:fillRect/>
          </a:stretch>
        </p:blipFill>
        <p:spPr>
          <a:xfrm>
            <a:off x="6030245" y="1208214"/>
            <a:ext cx="2629235" cy="2396439"/>
          </a:xfrm>
          <a:prstGeom prst="rect">
            <a:avLst/>
          </a:prstGeom>
        </p:spPr>
      </p:pic>
    </p:spTree>
    <p:extLst>
      <p:ext uri="{BB962C8B-B14F-4D97-AF65-F5344CB8AC3E}">
        <p14:creationId xmlns:p14="http://schemas.microsoft.com/office/powerpoint/2010/main" val="2677203803"/>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AEAE1-C243-8EFE-CA15-430B0911B55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B7A5952-961F-3FFA-54B7-686C2EE72B17}"/>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 Button- Recalculate Usage Data</a:t>
            </a:r>
            <a:endParaRPr lang="zh-CN" altLang="en-US" sz="3400">
              <a:solidFill>
                <a:srgbClr val="000000"/>
              </a:solidFill>
              <a:latin typeface="Aptos Display" panose="020B0004020202020204" pitchFamily="34" charset="0"/>
            </a:endParaRPr>
          </a:p>
        </p:txBody>
      </p:sp>
      <p:pic>
        <p:nvPicPr>
          <p:cNvPr id="5" name="图片 4">
            <a:extLst>
              <a:ext uri="{FF2B5EF4-FFF2-40B4-BE49-F238E27FC236}">
                <a16:creationId xmlns:a16="http://schemas.microsoft.com/office/drawing/2014/main" id="{0C855939-4053-7327-54D8-27D0525B5F67}"/>
              </a:ext>
            </a:extLst>
          </p:cNvPr>
          <p:cNvPicPr>
            <a:picLocks noChangeAspect="1"/>
          </p:cNvPicPr>
          <p:nvPr/>
        </p:nvPicPr>
        <p:blipFill>
          <a:blip r:embed="rId2"/>
          <a:stretch>
            <a:fillRect/>
          </a:stretch>
        </p:blipFill>
        <p:spPr>
          <a:xfrm>
            <a:off x="750427" y="1559107"/>
            <a:ext cx="6671178" cy="1980506"/>
          </a:xfrm>
          <a:prstGeom prst="rect">
            <a:avLst/>
          </a:prstGeom>
        </p:spPr>
      </p:pic>
      <p:pic>
        <p:nvPicPr>
          <p:cNvPr id="8" name="图片 7">
            <a:extLst>
              <a:ext uri="{FF2B5EF4-FFF2-40B4-BE49-F238E27FC236}">
                <a16:creationId xmlns:a16="http://schemas.microsoft.com/office/drawing/2014/main" id="{FCE3F608-5CE7-E7F6-B56B-D348495B8936}"/>
              </a:ext>
            </a:extLst>
          </p:cNvPr>
          <p:cNvPicPr>
            <a:picLocks noChangeAspect="1"/>
          </p:cNvPicPr>
          <p:nvPr/>
        </p:nvPicPr>
        <p:blipFill>
          <a:blip r:embed="rId3"/>
          <a:stretch>
            <a:fillRect/>
          </a:stretch>
        </p:blipFill>
        <p:spPr>
          <a:xfrm>
            <a:off x="8232121" y="1559107"/>
            <a:ext cx="3442686" cy="1223703"/>
          </a:xfrm>
          <a:prstGeom prst="rect">
            <a:avLst/>
          </a:prstGeom>
        </p:spPr>
      </p:pic>
      <p:pic>
        <p:nvPicPr>
          <p:cNvPr id="12" name="图片 11">
            <a:extLst>
              <a:ext uri="{FF2B5EF4-FFF2-40B4-BE49-F238E27FC236}">
                <a16:creationId xmlns:a16="http://schemas.microsoft.com/office/drawing/2014/main" id="{C2CE49D0-F1C4-ACAB-8376-3BD214436B49}"/>
              </a:ext>
            </a:extLst>
          </p:cNvPr>
          <p:cNvPicPr>
            <a:picLocks noChangeAspect="1"/>
          </p:cNvPicPr>
          <p:nvPr/>
        </p:nvPicPr>
        <p:blipFill>
          <a:blip r:embed="rId4"/>
          <a:stretch>
            <a:fillRect/>
          </a:stretch>
        </p:blipFill>
        <p:spPr>
          <a:xfrm>
            <a:off x="193956" y="3741043"/>
            <a:ext cx="7784120" cy="2643810"/>
          </a:xfrm>
          <a:prstGeom prst="rect">
            <a:avLst/>
          </a:prstGeom>
        </p:spPr>
      </p:pic>
      <p:sp>
        <p:nvSpPr>
          <p:cNvPr id="14" name="Shape 5">
            <a:extLst>
              <a:ext uri="{FF2B5EF4-FFF2-40B4-BE49-F238E27FC236}">
                <a16:creationId xmlns:a16="http://schemas.microsoft.com/office/drawing/2014/main" id="{AEA1F624-8AC5-4815-79E7-8F24AC7293A8}"/>
              </a:ext>
            </a:extLst>
          </p:cNvPr>
          <p:cNvSpPr/>
          <p:nvPr/>
        </p:nvSpPr>
        <p:spPr>
          <a:xfrm>
            <a:off x="4995543" y="2119126"/>
            <a:ext cx="328045" cy="242988"/>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1</a:t>
            </a:r>
            <a:endParaRPr lang="zh-CN" altLang="en-US" sz="1200" b="1">
              <a:solidFill>
                <a:srgbClr val="FFFFFF"/>
              </a:solidFill>
              <a:latin typeface="Aptos" panose="020B0004020202020204" pitchFamily="34" charset="0"/>
            </a:endParaRPr>
          </a:p>
        </p:txBody>
      </p:sp>
      <p:sp>
        <p:nvSpPr>
          <p:cNvPr id="16" name="Shape 5">
            <a:extLst>
              <a:ext uri="{FF2B5EF4-FFF2-40B4-BE49-F238E27FC236}">
                <a16:creationId xmlns:a16="http://schemas.microsoft.com/office/drawing/2014/main" id="{C5689197-531B-6E59-7263-87CA66551CC6}"/>
              </a:ext>
            </a:extLst>
          </p:cNvPr>
          <p:cNvSpPr/>
          <p:nvPr/>
        </p:nvSpPr>
        <p:spPr>
          <a:xfrm>
            <a:off x="11063765" y="2049464"/>
            <a:ext cx="328045" cy="242988"/>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2</a:t>
            </a:r>
            <a:endParaRPr lang="zh-CN" altLang="en-US" sz="1200" b="1">
              <a:solidFill>
                <a:srgbClr val="FFFFFF"/>
              </a:solidFill>
              <a:latin typeface="Aptos" panose="020B0004020202020204" pitchFamily="34" charset="0"/>
            </a:endParaRPr>
          </a:p>
        </p:txBody>
      </p:sp>
      <p:sp>
        <p:nvSpPr>
          <p:cNvPr id="18" name="Shape 5">
            <a:extLst>
              <a:ext uri="{FF2B5EF4-FFF2-40B4-BE49-F238E27FC236}">
                <a16:creationId xmlns:a16="http://schemas.microsoft.com/office/drawing/2014/main" id="{BE3FE4FE-00B5-B6C3-7D87-EBA16DE9B9E6}"/>
              </a:ext>
            </a:extLst>
          </p:cNvPr>
          <p:cNvSpPr/>
          <p:nvPr/>
        </p:nvSpPr>
        <p:spPr>
          <a:xfrm>
            <a:off x="7086617" y="4419046"/>
            <a:ext cx="328045" cy="242988"/>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3</a:t>
            </a:r>
            <a:endParaRPr lang="zh-CN" altLang="en-US" sz="1200" b="1">
              <a:solidFill>
                <a:srgbClr val="FFFFFF"/>
              </a:solidFill>
              <a:latin typeface="Aptos" panose="020B0004020202020204" pitchFamily="34" charset="0"/>
            </a:endParaRPr>
          </a:p>
        </p:txBody>
      </p:sp>
      <p:sp>
        <p:nvSpPr>
          <p:cNvPr id="24" name="文本框 23">
            <a:extLst>
              <a:ext uri="{FF2B5EF4-FFF2-40B4-BE49-F238E27FC236}">
                <a16:creationId xmlns:a16="http://schemas.microsoft.com/office/drawing/2014/main" id="{A8DB7361-C81B-78F4-5261-0D9C9FBE5776}"/>
              </a:ext>
            </a:extLst>
          </p:cNvPr>
          <p:cNvSpPr txBox="1"/>
          <p:nvPr/>
        </p:nvSpPr>
        <p:spPr>
          <a:xfrm>
            <a:off x="8329929" y="3560642"/>
            <a:ext cx="3247069" cy="1625701"/>
          </a:xfrm>
          <a:prstGeom prst="rect">
            <a:avLst/>
          </a:prstGeom>
          <a:noFill/>
        </p:spPr>
        <p:txBody>
          <a:bodyPr wrap="square" lIns="50800" tIns="25400" rIns="50800" bIns="25400">
            <a:spAutoFit/>
          </a:bodyPr>
          <a:lstStyle/>
          <a:p>
            <a:pPr marL="171450" indent="-171450">
              <a:lnSpc>
                <a:spcPts val="1450"/>
              </a:lnSpc>
              <a:buFont typeface="Wingdings" panose="05000000000000000000" pitchFamily="2" charset="2"/>
              <a:buChar char="u"/>
            </a:pPr>
            <a:r>
              <a:rPr lang="en-US" altLang="zh-CN" sz="1200">
                <a:solidFill>
                  <a:srgbClr val="1B2434"/>
                </a:solidFill>
                <a:latin typeface="Aptos" panose="020B0004020202020204" pitchFamily="34" charset="0"/>
              </a:rPr>
              <a:t> If you find the usage amount is incorrect. You can Click the “Recalculate Usage Data” button, and manual receive the usage amount from SOM-CC.</a:t>
            </a:r>
          </a:p>
          <a:p>
            <a:pPr marL="171450" indent="-171450">
              <a:lnSpc>
                <a:spcPts val="1450"/>
              </a:lnSpc>
              <a:buFont typeface="Wingdings" panose="05000000000000000000" pitchFamily="2" charset="2"/>
              <a:buChar char="u"/>
            </a:pPr>
            <a:r>
              <a:rPr lang="en-US" altLang="zh-CN" sz="1200">
                <a:solidFill>
                  <a:srgbClr val="1B2434"/>
                </a:solidFill>
                <a:latin typeface="Aptos" panose="020B0004020202020204" pitchFamily="34" charset="0"/>
              </a:rPr>
              <a:t>And in screen           , you can check the new usage amount whether ok or not. if not yes, continue change the SOM-CC usage data and re-calculate. </a:t>
            </a:r>
          </a:p>
        </p:txBody>
      </p:sp>
      <p:sp>
        <p:nvSpPr>
          <p:cNvPr id="26" name="Shape 5">
            <a:extLst>
              <a:ext uri="{FF2B5EF4-FFF2-40B4-BE49-F238E27FC236}">
                <a16:creationId xmlns:a16="http://schemas.microsoft.com/office/drawing/2014/main" id="{962CC30F-0804-4501-4A1B-72B2D7BFD221}"/>
              </a:ext>
            </a:extLst>
          </p:cNvPr>
          <p:cNvSpPr/>
          <p:nvPr/>
        </p:nvSpPr>
        <p:spPr>
          <a:xfrm>
            <a:off x="9511621" y="4344751"/>
            <a:ext cx="328045" cy="242988"/>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3</a:t>
            </a:r>
            <a:endParaRPr lang="zh-CN" altLang="en-US" sz="1200" b="1">
              <a:solidFill>
                <a:srgbClr val="FFFFFF"/>
              </a:solidFill>
              <a:latin typeface="Aptos" panose="020B0004020202020204" pitchFamily="34" charset="0"/>
            </a:endParaRPr>
          </a:p>
        </p:txBody>
      </p:sp>
      <p:sp>
        <p:nvSpPr>
          <p:cNvPr id="13" name="Title 10">
            <a:extLst>
              <a:ext uri="{FF2B5EF4-FFF2-40B4-BE49-F238E27FC236}">
                <a16:creationId xmlns:a16="http://schemas.microsoft.com/office/drawing/2014/main" id="{A146CD0F-FC46-97F0-B0B2-D39EDE989C1A}"/>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 </a:t>
            </a:r>
          </a:p>
          <a:p>
            <a:pPr algn="l" defTabSz="914126">
              <a:spcAft>
                <a:spcPct val="0"/>
              </a:spcAft>
              <a:defRPr/>
            </a:pPr>
            <a:r>
              <a:rPr lang="en-US" altLang="zh-CN" sz="1500">
                <a:solidFill>
                  <a:srgbClr val="1B2434"/>
                </a:solidFill>
                <a:latin typeface="Aptos" panose="020B0004020202020204" pitchFamily="34" charset="0"/>
              </a:rPr>
              <a:t>Notes: The “Recalculate Usage Date” is only for IAAS</a:t>
            </a:r>
            <a:r>
              <a:rPr lang="zh-CN" altLang="zh-CN" sz="1500">
                <a:solidFill>
                  <a:srgbClr val="1B2434"/>
                </a:solidFill>
                <a:latin typeface="Aptos" panose="020B0004020202020204" pitchFamily="34" charset="0"/>
              </a:rPr>
              <a:t>.</a:t>
            </a:r>
            <a:r>
              <a:rPr lang="en-US" altLang="zh-CN" sz="1500">
                <a:solidFill>
                  <a:srgbClr val="1B2434"/>
                </a:solidFill>
                <a:latin typeface="Aptos" panose="020B0004020202020204" pitchFamily="34" charset="0"/>
              </a:rPr>
              <a:t>cc</a:t>
            </a:r>
          </a:p>
        </p:txBody>
      </p:sp>
    </p:spTree>
    <p:extLst>
      <p:ext uri="{BB962C8B-B14F-4D97-AF65-F5344CB8AC3E}">
        <p14:creationId xmlns:p14="http://schemas.microsoft.com/office/powerpoint/2010/main" val="641823992"/>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29120-A2DE-9C4B-88D9-274515ED43D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A57FC79-320C-6664-5D4D-B33322C93617}"/>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Schedule-Hyperlink</a:t>
            </a:r>
            <a:endParaRPr lang="zh-CN" altLang="en-US" sz="3400">
              <a:solidFill>
                <a:srgbClr val="000000"/>
              </a:solidFill>
              <a:latin typeface="Aptos Display" panose="020B0004020202020204" pitchFamily="34" charset="0"/>
            </a:endParaRPr>
          </a:p>
        </p:txBody>
      </p:sp>
      <p:sp>
        <p:nvSpPr>
          <p:cNvPr id="8" name="文本框 7">
            <a:extLst>
              <a:ext uri="{FF2B5EF4-FFF2-40B4-BE49-F238E27FC236}">
                <a16:creationId xmlns:a16="http://schemas.microsoft.com/office/drawing/2014/main" id="{D8C5CDD0-62B4-C400-B82B-0840B1F6A285}"/>
              </a:ext>
            </a:extLst>
          </p:cNvPr>
          <p:cNvSpPr txBox="1"/>
          <p:nvPr/>
        </p:nvSpPr>
        <p:spPr>
          <a:xfrm>
            <a:off x="9792929" y="1992332"/>
            <a:ext cx="2166776" cy="1431417"/>
          </a:xfrm>
          <a:prstGeom prst="rect">
            <a:avLst/>
          </a:prstGeom>
          <a:noFill/>
        </p:spPr>
        <p:txBody>
          <a:bodyPr wrap="square" lIns="50800" tIns="25400" rIns="50800" bIns="25400">
            <a:spAutoFit/>
          </a:bodyPr>
          <a:lstStyle>
            <a:defPPr>
              <a:defRPr lang="en-US"/>
            </a:defPPr>
            <a:lvl1pPr indent="0">
              <a:lnSpc>
                <a:spcPts val="1450"/>
              </a:lnSpc>
              <a:buNone/>
              <a:defRPr sz="1200" b="1">
                <a:latin typeface="Calibri" pitchFamily="34" charset="0"/>
                <a:ea typeface="Calibri" pitchFamily="34" charset="-122"/>
                <a:cs typeface="Calibri" pitchFamily="34" charset="-120"/>
              </a:defRPr>
            </a:lvl1pPr>
          </a:lstStyle>
          <a:p>
            <a:r>
              <a:rPr lang="zh-CN" altLang="zh-CN" b="0">
                <a:solidFill>
                  <a:srgbClr val="1B2434"/>
                </a:solidFill>
                <a:latin typeface="Aptos" panose="020B0004020202020204" pitchFamily="34" charset="0"/>
              </a:rPr>
              <a:t>You‘ll notice some fields are highlighted in green. These are actually hyperlinks. If you click on any of them, the system will directly take you to the corresponding function </a:t>
            </a:r>
            <a:r>
              <a:rPr lang="en-US" altLang="zh-CN" b="0">
                <a:solidFill>
                  <a:srgbClr val="1B2434"/>
                </a:solidFill>
                <a:latin typeface="Aptos" panose="020B0004020202020204" pitchFamily="34" charset="0"/>
              </a:rPr>
              <a:t>module.</a:t>
            </a:r>
          </a:p>
        </p:txBody>
      </p:sp>
      <p:sp>
        <p:nvSpPr>
          <p:cNvPr id="6" name="Title 10">
            <a:extLst>
              <a:ext uri="{FF2B5EF4-FFF2-40B4-BE49-F238E27FC236}">
                <a16:creationId xmlns:a16="http://schemas.microsoft.com/office/drawing/2014/main" id="{CFCCC68F-F55E-7EB7-B19A-AE6D6647EBB3}"/>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pic>
        <p:nvPicPr>
          <p:cNvPr id="4" name="图片 3">
            <a:extLst>
              <a:ext uri="{FF2B5EF4-FFF2-40B4-BE49-F238E27FC236}">
                <a16:creationId xmlns:a16="http://schemas.microsoft.com/office/drawing/2014/main" id="{E7F67DC4-8BA8-BD1F-B01A-3F5162D21AA6}"/>
              </a:ext>
            </a:extLst>
          </p:cNvPr>
          <p:cNvPicPr>
            <a:picLocks noChangeAspect="1"/>
          </p:cNvPicPr>
          <p:nvPr/>
        </p:nvPicPr>
        <p:blipFill>
          <a:blip r:embed="rId2"/>
          <a:stretch>
            <a:fillRect/>
          </a:stretch>
        </p:blipFill>
        <p:spPr>
          <a:xfrm>
            <a:off x="2179417" y="1783781"/>
            <a:ext cx="5541733" cy="2229682"/>
          </a:xfrm>
          <a:prstGeom prst="rect">
            <a:avLst/>
          </a:prstGeom>
        </p:spPr>
      </p:pic>
      <p:pic>
        <p:nvPicPr>
          <p:cNvPr id="9" name="图片 8">
            <a:extLst>
              <a:ext uri="{FF2B5EF4-FFF2-40B4-BE49-F238E27FC236}">
                <a16:creationId xmlns:a16="http://schemas.microsoft.com/office/drawing/2014/main" id="{E8677A49-6F98-B1AD-8BDB-12765E508F59}"/>
              </a:ext>
            </a:extLst>
          </p:cNvPr>
          <p:cNvPicPr>
            <a:picLocks noChangeAspect="1"/>
          </p:cNvPicPr>
          <p:nvPr/>
        </p:nvPicPr>
        <p:blipFill>
          <a:blip r:embed="rId3"/>
          <a:stretch>
            <a:fillRect/>
          </a:stretch>
        </p:blipFill>
        <p:spPr>
          <a:xfrm>
            <a:off x="330470" y="4202172"/>
            <a:ext cx="9337802" cy="2024406"/>
          </a:xfrm>
          <a:prstGeom prst="rect">
            <a:avLst/>
          </a:prstGeom>
        </p:spPr>
      </p:pic>
    </p:spTree>
    <p:extLst>
      <p:ext uri="{BB962C8B-B14F-4D97-AF65-F5344CB8AC3E}">
        <p14:creationId xmlns:p14="http://schemas.microsoft.com/office/powerpoint/2010/main" val="553086340"/>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F46BD-A8A8-3778-FCF9-5DAB347E0F3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C3C9AA0-8F0D-E72D-BBF0-2B341EC7B421}"/>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Schedule-Hyperlink</a:t>
            </a:r>
            <a:endParaRPr lang="zh-CN" altLang="en-US" sz="3400">
              <a:solidFill>
                <a:srgbClr val="000000"/>
              </a:solidFill>
              <a:latin typeface="Aptos Display" panose="020B0004020202020204" pitchFamily="34" charset="0"/>
            </a:endParaRPr>
          </a:p>
        </p:txBody>
      </p:sp>
      <p:sp>
        <p:nvSpPr>
          <p:cNvPr id="8" name="文本框 7">
            <a:extLst>
              <a:ext uri="{FF2B5EF4-FFF2-40B4-BE49-F238E27FC236}">
                <a16:creationId xmlns:a16="http://schemas.microsoft.com/office/drawing/2014/main" id="{288D5200-E43D-03A3-DBEF-0360F749A57F}"/>
              </a:ext>
            </a:extLst>
          </p:cNvPr>
          <p:cNvSpPr txBox="1"/>
          <p:nvPr/>
        </p:nvSpPr>
        <p:spPr>
          <a:xfrm>
            <a:off x="9449404" y="1972313"/>
            <a:ext cx="2422414" cy="815223"/>
          </a:xfrm>
          <a:prstGeom prst="rect">
            <a:avLst/>
          </a:prstGeom>
          <a:noFill/>
        </p:spPr>
        <p:txBody>
          <a:bodyPr wrap="square" lIns="50800" tIns="25400" rIns="50800" bIns="25400">
            <a:spAutoFit/>
          </a:bodyPr>
          <a:lstStyle>
            <a:defPPr>
              <a:defRPr lang="en-US"/>
            </a:defPPr>
            <a:lvl1pPr indent="0">
              <a:lnSpc>
                <a:spcPts val="1450"/>
              </a:lnSpc>
              <a:buNone/>
              <a:defRPr sz="1200" b="1">
                <a:latin typeface="Calibri" pitchFamily="34" charset="0"/>
                <a:ea typeface="Calibri" pitchFamily="34" charset="-122"/>
                <a:cs typeface="Calibri" pitchFamily="34" charset="-120"/>
              </a:defRPr>
            </a:lvl1pPr>
          </a:lstStyle>
          <a:p>
            <a:r>
              <a:rPr lang="en-US" altLang="zh-CN" b="0">
                <a:solidFill>
                  <a:srgbClr val="1B2434"/>
                </a:solidFill>
                <a:latin typeface="Aptos" panose="020B0004020202020204" pitchFamily="34" charset="0"/>
              </a:rPr>
              <a:t>Click the payment schedule No. and then go to payment schedule detail information tab, and display every field and value </a:t>
            </a:r>
          </a:p>
        </p:txBody>
      </p:sp>
      <p:sp>
        <p:nvSpPr>
          <p:cNvPr id="6" name="Title 10">
            <a:extLst>
              <a:ext uri="{FF2B5EF4-FFF2-40B4-BE49-F238E27FC236}">
                <a16:creationId xmlns:a16="http://schemas.microsoft.com/office/drawing/2014/main" id="{22D08D52-6BA9-2DE7-0CA6-2F0339872F1A}"/>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pic>
        <p:nvPicPr>
          <p:cNvPr id="5" name="图片 4">
            <a:extLst>
              <a:ext uri="{FF2B5EF4-FFF2-40B4-BE49-F238E27FC236}">
                <a16:creationId xmlns:a16="http://schemas.microsoft.com/office/drawing/2014/main" id="{220F24DE-0C48-2B55-B1F4-8717C045420D}"/>
              </a:ext>
            </a:extLst>
          </p:cNvPr>
          <p:cNvPicPr>
            <a:picLocks noChangeAspect="1"/>
          </p:cNvPicPr>
          <p:nvPr/>
        </p:nvPicPr>
        <p:blipFill>
          <a:blip r:embed="rId2"/>
          <a:stretch>
            <a:fillRect/>
          </a:stretch>
        </p:blipFill>
        <p:spPr>
          <a:xfrm>
            <a:off x="948016" y="2959510"/>
            <a:ext cx="7961442" cy="3529780"/>
          </a:xfrm>
          <a:prstGeom prst="rect">
            <a:avLst/>
          </a:prstGeom>
        </p:spPr>
      </p:pic>
      <p:pic>
        <p:nvPicPr>
          <p:cNvPr id="10" name="图片 9">
            <a:extLst>
              <a:ext uri="{FF2B5EF4-FFF2-40B4-BE49-F238E27FC236}">
                <a16:creationId xmlns:a16="http://schemas.microsoft.com/office/drawing/2014/main" id="{82157D64-1B12-624B-BBBA-5315CB630505}"/>
              </a:ext>
            </a:extLst>
          </p:cNvPr>
          <p:cNvPicPr>
            <a:picLocks noChangeAspect="1"/>
          </p:cNvPicPr>
          <p:nvPr/>
        </p:nvPicPr>
        <p:blipFill>
          <a:blip r:embed="rId3"/>
          <a:stretch>
            <a:fillRect/>
          </a:stretch>
        </p:blipFill>
        <p:spPr>
          <a:xfrm>
            <a:off x="6447636" y="1972313"/>
            <a:ext cx="2581795" cy="982977"/>
          </a:xfrm>
          <a:prstGeom prst="rect">
            <a:avLst/>
          </a:prstGeom>
        </p:spPr>
      </p:pic>
    </p:spTree>
    <p:extLst>
      <p:ext uri="{BB962C8B-B14F-4D97-AF65-F5344CB8AC3E}">
        <p14:creationId xmlns:p14="http://schemas.microsoft.com/office/powerpoint/2010/main" val="3106862911"/>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040C8-B52B-5C22-5063-0A67D9B34A1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6029648-F79D-0DB9-1F00-FA5EF3EBD807}"/>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Schedule-Hyperlink</a:t>
            </a:r>
            <a:endParaRPr lang="zh-CN" altLang="en-US" sz="3400">
              <a:solidFill>
                <a:srgbClr val="000000"/>
              </a:solidFill>
              <a:latin typeface="Aptos Display" panose="020B0004020202020204" pitchFamily="34" charset="0"/>
            </a:endParaRPr>
          </a:p>
        </p:txBody>
      </p:sp>
      <p:sp>
        <p:nvSpPr>
          <p:cNvPr id="8" name="文本框 7">
            <a:extLst>
              <a:ext uri="{FF2B5EF4-FFF2-40B4-BE49-F238E27FC236}">
                <a16:creationId xmlns:a16="http://schemas.microsoft.com/office/drawing/2014/main" id="{B5631544-B9B7-BA39-EC3A-7AB11500B4A0}"/>
              </a:ext>
            </a:extLst>
          </p:cNvPr>
          <p:cNvSpPr txBox="1"/>
          <p:nvPr/>
        </p:nvSpPr>
        <p:spPr>
          <a:xfrm>
            <a:off x="9449404" y="1946416"/>
            <a:ext cx="2422414" cy="815223"/>
          </a:xfrm>
          <a:prstGeom prst="rect">
            <a:avLst/>
          </a:prstGeom>
          <a:noFill/>
        </p:spPr>
        <p:txBody>
          <a:bodyPr wrap="square" lIns="50800" tIns="25400" rIns="50800" bIns="25400">
            <a:spAutoFit/>
          </a:bodyPr>
          <a:lstStyle>
            <a:defPPr>
              <a:defRPr lang="en-US"/>
            </a:defPPr>
            <a:lvl1pPr indent="0">
              <a:lnSpc>
                <a:spcPts val="1450"/>
              </a:lnSpc>
              <a:buNone/>
              <a:defRPr sz="1200" b="1">
                <a:latin typeface="Calibri" pitchFamily="34" charset="0"/>
                <a:ea typeface="Calibri" pitchFamily="34" charset="-122"/>
                <a:cs typeface="Calibri" pitchFamily="34" charset="-120"/>
              </a:defRPr>
            </a:lvl1pPr>
          </a:lstStyle>
          <a:p>
            <a:r>
              <a:rPr lang="en-US" altLang="zh-CN" b="0">
                <a:solidFill>
                  <a:srgbClr val="1B2434"/>
                </a:solidFill>
                <a:latin typeface="Aptos" panose="020B0004020202020204" pitchFamily="34" charset="0"/>
              </a:rPr>
              <a:t>Click the payment schedule No. and then go to “Change History” tab. And this tab display the change log of each field.</a:t>
            </a:r>
          </a:p>
        </p:txBody>
      </p:sp>
      <p:sp>
        <p:nvSpPr>
          <p:cNvPr id="6" name="Title 10">
            <a:extLst>
              <a:ext uri="{FF2B5EF4-FFF2-40B4-BE49-F238E27FC236}">
                <a16:creationId xmlns:a16="http://schemas.microsoft.com/office/drawing/2014/main" id="{EBE2AE0D-9505-DD06-5FB7-FEE3ECB483EC}"/>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pic>
        <p:nvPicPr>
          <p:cNvPr id="10" name="图片 9">
            <a:extLst>
              <a:ext uri="{FF2B5EF4-FFF2-40B4-BE49-F238E27FC236}">
                <a16:creationId xmlns:a16="http://schemas.microsoft.com/office/drawing/2014/main" id="{40F54192-8C70-6EA7-EF34-71A28A1CD977}"/>
              </a:ext>
            </a:extLst>
          </p:cNvPr>
          <p:cNvPicPr>
            <a:picLocks noChangeAspect="1"/>
          </p:cNvPicPr>
          <p:nvPr/>
        </p:nvPicPr>
        <p:blipFill>
          <a:blip r:embed="rId2"/>
          <a:stretch>
            <a:fillRect/>
          </a:stretch>
        </p:blipFill>
        <p:spPr>
          <a:xfrm>
            <a:off x="6501485" y="2069033"/>
            <a:ext cx="2581795" cy="982977"/>
          </a:xfrm>
          <a:prstGeom prst="rect">
            <a:avLst/>
          </a:prstGeom>
        </p:spPr>
      </p:pic>
      <p:pic>
        <p:nvPicPr>
          <p:cNvPr id="12" name="图片 11">
            <a:extLst>
              <a:ext uri="{FF2B5EF4-FFF2-40B4-BE49-F238E27FC236}">
                <a16:creationId xmlns:a16="http://schemas.microsoft.com/office/drawing/2014/main" id="{6D645DB0-B14C-BD0F-0BF2-F6062511144E}"/>
              </a:ext>
            </a:extLst>
          </p:cNvPr>
          <p:cNvPicPr>
            <a:picLocks noChangeAspect="1"/>
          </p:cNvPicPr>
          <p:nvPr/>
        </p:nvPicPr>
        <p:blipFill>
          <a:blip r:embed="rId3"/>
          <a:stretch>
            <a:fillRect/>
          </a:stretch>
        </p:blipFill>
        <p:spPr>
          <a:xfrm>
            <a:off x="462726" y="3052010"/>
            <a:ext cx="8859798" cy="2768687"/>
          </a:xfrm>
          <a:prstGeom prst="rect">
            <a:avLst/>
          </a:prstGeom>
        </p:spPr>
      </p:pic>
    </p:spTree>
    <p:extLst>
      <p:ext uri="{BB962C8B-B14F-4D97-AF65-F5344CB8AC3E}">
        <p14:creationId xmlns:p14="http://schemas.microsoft.com/office/powerpoint/2010/main" val="3517447"/>
      </p:ext>
    </p:ext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754EB-E782-28EA-2832-ACD17449E3B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0E1663E-594B-A71E-F3A6-46AD0C5D6739}"/>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Payment Schedule-Hyperlink</a:t>
            </a:r>
            <a:endParaRPr lang="zh-CN" altLang="en-US" sz="3400">
              <a:solidFill>
                <a:srgbClr val="000000"/>
              </a:solidFill>
              <a:latin typeface="Aptos Display" panose="020B0004020202020204" pitchFamily="34" charset="0"/>
            </a:endParaRPr>
          </a:p>
        </p:txBody>
      </p:sp>
      <p:sp>
        <p:nvSpPr>
          <p:cNvPr id="8" name="文本框 7">
            <a:extLst>
              <a:ext uri="{FF2B5EF4-FFF2-40B4-BE49-F238E27FC236}">
                <a16:creationId xmlns:a16="http://schemas.microsoft.com/office/drawing/2014/main" id="{C25F9C97-B0AC-4995-B4CD-30A35B999F79}"/>
              </a:ext>
            </a:extLst>
          </p:cNvPr>
          <p:cNvSpPr txBox="1"/>
          <p:nvPr/>
        </p:nvSpPr>
        <p:spPr>
          <a:xfrm>
            <a:off x="9449404" y="1946416"/>
            <a:ext cx="2422414" cy="815223"/>
          </a:xfrm>
          <a:prstGeom prst="rect">
            <a:avLst/>
          </a:prstGeom>
          <a:noFill/>
        </p:spPr>
        <p:txBody>
          <a:bodyPr wrap="square" lIns="50800" tIns="25400" rIns="50800" bIns="25400">
            <a:spAutoFit/>
          </a:bodyPr>
          <a:lstStyle>
            <a:defPPr>
              <a:defRPr lang="en-US"/>
            </a:defPPr>
            <a:lvl1pPr indent="0">
              <a:lnSpc>
                <a:spcPts val="1450"/>
              </a:lnSpc>
              <a:buNone/>
              <a:defRPr sz="1200" b="1">
                <a:latin typeface="Calibri" pitchFamily="34" charset="0"/>
                <a:ea typeface="Calibri" pitchFamily="34" charset="-122"/>
                <a:cs typeface="Calibri" pitchFamily="34" charset="-120"/>
              </a:defRPr>
            </a:lvl1pPr>
          </a:lstStyle>
          <a:p>
            <a:r>
              <a:rPr lang="en-US" altLang="zh-CN" b="0">
                <a:solidFill>
                  <a:srgbClr val="1B2434"/>
                </a:solidFill>
                <a:latin typeface="Aptos" panose="020B0004020202020204" pitchFamily="34" charset="0"/>
              </a:rPr>
              <a:t>Click the final invoice No. and then go to invoice document tab. you can check the invoice document detail.</a:t>
            </a:r>
          </a:p>
        </p:txBody>
      </p:sp>
      <p:sp>
        <p:nvSpPr>
          <p:cNvPr id="6" name="Title 10">
            <a:extLst>
              <a:ext uri="{FF2B5EF4-FFF2-40B4-BE49-F238E27FC236}">
                <a16:creationId xmlns:a16="http://schemas.microsoft.com/office/drawing/2014/main" id="{0E6F83A0-EB01-FADE-C608-C2B63C8FB549}"/>
              </a:ext>
            </a:extLst>
          </p:cNvPr>
          <p:cNvSpPr txBox="1">
            <a:spLocks/>
          </p:cNvSpPr>
          <p:nvPr/>
        </p:nvSpPr>
        <p:spPr>
          <a:xfrm>
            <a:off x="330200" y="889000"/>
            <a:ext cx="11303000" cy="828439"/>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a:t>
            </a:r>
            <a:r>
              <a:rPr lang="zh-CN" altLang="en-US"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Management-Payment Schedule</a:t>
            </a:r>
          </a:p>
          <a:p>
            <a:pPr algn="l" defTabSz="914126">
              <a:spcAft>
                <a:spcPct val="0"/>
              </a:spcAft>
              <a:defRPr/>
            </a:pPr>
            <a:r>
              <a:rPr lang="zh-CN" altLang="zh-CN" sz="1500">
                <a:solidFill>
                  <a:srgbClr val="1B2434"/>
                </a:solidFill>
                <a:latin typeface="Aptos" panose="020B0004020202020204" pitchFamily="34" charset="0"/>
              </a:rPr>
              <a:t>After the </a:t>
            </a:r>
            <a:r>
              <a:rPr lang="en-US" altLang="zh-CN" sz="1500">
                <a:solidFill>
                  <a:srgbClr val="1B2434"/>
                </a:solidFill>
                <a:latin typeface="Aptos" panose="020B0004020202020204" pitchFamily="34" charset="0"/>
              </a:rPr>
              <a:t>subscription order </a:t>
            </a:r>
            <a:r>
              <a:rPr lang="zh-CN" altLang="zh-CN" sz="1500">
                <a:solidFill>
                  <a:srgbClr val="1B2434"/>
                </a:solidFill>
                <a:latin typeface="Aptos" panose="020B0004020202020204" pitchFamily="34" charset="0"/>
              </a:rPr>
              <a:t>is created, the Payment Schedule is auto</a:t>
            </a:r>
            <a:r>
              <a:rPr lang="en-US" altLang="zh-CN" sz="1500">
                <a:solidFill>
                  <a:srgbClr val="1B2434"/>
                </a:solidFill>
                <a:latin typeface="Aptos" panose="020B0004020202020204" pitchFamily="34" charset="0"/>
              </a:rPr>
              <a:t> </a:t>
            </a:r>
            <a:r>
              <a:rPr lang="zh-CN" altLang="zh-CN" sz="1500">
                <a:solidFill>
                  <a:srgbClr val="1B2434"/>
                </a:solidFill>
                <a:latin typeface="Aptos" panose="020B0004020202020204" pitchFamily="34" charset="0"/>
              </a:rPr>
              <a:t>generated. The </a:t>
            </a:r>
            <a:r>
              <a:rPr lang="en-US" altLang="zh-CN" sz="1500">
                <a:solidFill>
                  <a:srgbClr val="1B2434"/>
                </a:solidFill>
                <a:latin typeface="Aptos" panose="020B0004020202020204" pitchFamily="34" charset="0"/>
              </a:rPr>
              <a:t>payment schedule  terms </a:t>
            </a:r>
            <a:r>
              <a:rPr lang="zh-CN" altLang="zh-CN" sz="1500">
                <a:solidFill>
                  <a:srgbClr val="1B2434"/>
                </a:solidFill>
                <a:latin typeface="Aptos" panose="020B0004020202020204" pitchFamily="34" charset="0"/>
              </a:rPr>
              <a:t>are </a:t>
            </a:r>
            <a:r>
              <a:rPr lang="en-US" altLang="zh-CN" sz="1500">
                <a:solidFill>
                  <a:srgbClr val="1B2434"/>
                </a:solidFill>
                <a:latin typeface="Aptos" panose="020B0004020202020204" pitchFamily="34" charset="0"/>
              </a:rPr>
              <a:t>auto </a:t>
            </a:r>
            <a:r>
              <a:rPr lang="zh-CN" altLang="zh-CN" sz="1500">
                <a:solidFill>
                  <a:srgbClr val="1B2434"/>
                </a:solidFill>
                <a:latin typeface="Aptos" panose="020B0004020202020204" pitchFamily="34" charset="0"/>
              </a:rPr>
              <a:t>calculated based on the </a:t>
            </a:r>
            <a:r>
              <a:rPr lang="en-US" altLang="zh-CN" sz="1500">
                <a:solidFill>
                  <a:srgbClr val="1B2434"/>
                </a:solidFill>
                <a:latin typeface="Aptos" panose="020B0004020202020204" pitchFamily="34" charset="0"/>
              </a:rPr>
              <a:t>subscription order detail information.</a:t>
            </a:r>
          </a:p>
          <a:p>
            <a:pPr algn="l" defTabSz="914126">
              <a:spcAft>
                <a:spcPct val="0"/>
              </a:spcAft>
              <a:defRPr/>
            </a:pPr>
            <a:r>
              <a:rPr lang="en-US" altLang="zh-CN" sz="1500">
                <a:solidFill>
                  <a:srgbClr val="1B2434"/>
                </a:solidFill>
                <a:latin typeface="Aptos" panose="020B0004020202020204" pitchFamily="34" charset="0"/>
              </a:rPr>
              <a:t>Notes: as below, all the buttons are shared by DAAS and IAAS</a:t>
            </a:r>
            <a:r>
              <a:rPr lang="zh-CN" altLang="zh-CN" sz="1500">
                <a:solidFill>
                  <a:srgbClr val="1B2434"/>
                </a:solidFill>
                <a:latin typeface="Aptos" panose="020B0004020202020204" pitchFamily="34" charset="0"/>
              </a:rPr>
              <a:t>.</a:t>
            </a:r>
            <a:endParaRPr lang="en-US" altLang="zh-CN" sz="1500">
              <a:solidFill>
                <a:srgbClr val="1B2434"/>
              </a:solidFill>
              <a:latin typeface="Aptos" panose="020B0004020202020204" pitchFamily="34" charset="0"/>
            </a:endParaRPr>
          </a:p>
        </p:txBody>
      </p:sp>
      <p:pic>
        <p:nvPicPr>
          <p:cNvPr id="4" name="图片 3">
            <a:extLst>
              <a:ext uri="{FF2B5EF4-FFF2-40B4-BE49-F238E27FC236}">
                <a16:creationId xmlns:a16="http://schemas.microsoft.com/office/drawing/2014/main" id="{9F0D6092-3196-7258-AD3C-F47B2D58BCE5}"/>
              </a:ext>
            </a:extLst>
          </p:cNvPr>
          <p:cNvPicPr>
            <a:picLocks noChangeAspect="1"/>
          </p:cNvPicPr>
          <p:nvPr/>
        </p:nvPicPr>
        <p:blipFill>
          <a:blip r:embed="rId2"/>
          <a:stretch>
            <a:fillRect/>
          </a:stretch>
        </p:blipFill>
        <p:spPr>
          <a:xfrm>
            <a:off x="1888469" y="1739587"/>
            <a:ext cx="5805231" cy="1689413"/>
          </a:xfrm>
          <a:prstGeom prst="rect">
            <a:avLst/>
          </a:prstGeom>
        </p:spPr>
      </p:pic>
      <p:pic>
        <p:nvPicPr>
          <p:cNvPr id="7" name="图片 6">
            <a:extLst>
              <a:ext uri="{FF2B5EF4-FFF2-40B4-BE49-F238E27FC236}">
                <a16:creationId xmlns:a16="http://schemas.microsoft.com/office/drawing/2014/main" id="{D58247EB-3ABA-91A0-6078-15AEAD4653BE}"/>
              </a:ext>
            </a:extLst>
          </p:cNvPr>
          <p:cNvPicPr>
            <a:picLocks noChangeAspect="1"/>
          </p:cNvPicPr>
          <p:nvPr/>
        </p:nvPicPr>
        <p:blipFill>
          <a:blip r:embed="rId3"/>
          <a:stretch>
            <a:fillRect/>
          </a:stretch>
        </p:blipFill>
        <p:spPr>
          <a:xfrm>
            <a:off x="1120679" y="3677267"/>
            <a:ext cx="7340808" cy="2910516"/>
          </a:xfrm>
          <a:prstGeom prst="rect">
            <a:avLst/>
          </a:prstGeom>
        </p:spPr>
      </p:pic>
    </p:spTree>
    <p:extLst>
      <p:ext uri="{BB962C8B-B14F-4D97-AF65-F5344CB8AC3E}">
        <p14:creationId xmlns:p14="http://schemas.microsoft.com/office/powerpoint/2010/main" val="216661092"/>
      </p:ext>
    </p:ext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2186B-E866-5A70-D12C-D0FE51B767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E18368-11B6-2126-691F-DE737F29E4D3}"/>
              </a:ext>
            </a:extLst>
          </p:cNvPr>
          <p:cNvSpPr>
            <a:spLocks noGrp="1"/>
          </p:cNvSpPr>
          <p:nvPr>
            <p:ph type="title"/>
          </p:nvPr>
        </p:nvSpPr>
        <p:spPr/>
        <p:txBody>
          <a:bodyPr/>
          <a:lstStyle/>
          <a:p>
            <a:r>
              <a:rPr lang="en-US" altLang="zh-CN"/>
              <a:t>Agenda</a:t>
            </a:r>
            <a:endParaRPr lang="zh-CN" altLang="en-US"/>
          </a:p>
        </p:txBody>
      </p:sp>
      <p:sp>
        <p:nvSpPr>
          <p:cNvPr id="5" name="文本占位符 1">
            <a:extLst>
              <a:ext uri="{FF2B5EF4-FFF2-40B4-BE49-F238E27FC236}">
                <a16:creationId xmlns:a16="http://schemas.microsoft.com/office/drawing/2014/main" id="{8E288E38-E375-9ADD-316D-C5A22C1FB107}"/>
              </a:ext>
            </a:extLst>
          </p:cNvPr>
          <p:cNvSpPr txBox="1">
            <a:spLocks noGrp="1"/>
          </p:cNvSpPr>
          <p:nvPr>
            <p:ph type="body" sz="quarter" idx="12"/>
          </p:nvPr>
        </p:nvSpPr>
        <p:spPr bwMode="white">
          <a:xfrm>
            <a:off x="488931" y="1844271"/>
            <a:ext cx="5528411" cy="2263889"/>
          </a:xfrm>
          <a:prstGeom prst="rect">
            <a:avLst/>
          </a:prstGeom>
        </p:spPr>
        <p:txBody>
          <a:bodyPr wrap="square" lIns="0" tIns="0" rIns="0" bIns="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2000">
                <a:solidFill>
                  <a:schemeClr val="tx1"/>
                </a:solidFill>
                <a:latin typeface="+mn-lt"/>
              </a:rPr>
              <a:t>Payment Schedule</a:t>
            </a:r>
          </a:p>
          <a:p>
            <a:pPr marL="342900" indent="-342900">
              <a:lnSpc>
                <a:spcPct val="150000"/>
              </a:lnSpc>
              <a:buFont typeface="+mj-lt"/>
              <a:buAutoNum type="arabicPeriod"/>
            </a:pPr>
            <a:r>
              <a:rPr lang="en-US" altLang="zh-CN" sz="2000">
                <a:solidFill>
                  <a:schemeClr val="tx1"/>
                </a:solidFill>
                <a:highlight>
                  <a:srgbClr val="00FF00"/>
                </a:highlight>
                <a:latin typeface="+mn-lt"/>
              </a:rPr>
              <a:t>Invoice Document</a:t>
            </a:r>
          </a:p>
          <a:p>
            <a:pPr marL="342900" indent="-342900">
              <a:lnSpc>
                <a:spcPct val="150000"/>
              </a:lnSpc>
              <a:buFont typeface="+mj-lt"/>
              <a:buAutoNum type="arabicPeriod"/>
            </a:pPr>
            <a:r>
              <a:rPr lang="en-US" altLang="zh-CN" sz="2000">
                <a:solidFill>
                  <a:schemeClr val="tx1"/>
                </a:solidFill>
                <a:latin typeface="+mn-lt"/>
                <a:cs typeface="Cascadia Code" panose="020B0609020000020004" pitchFamily="49" charset="0"/>
              </a:rPr>
              <a:t>Statement</a:t>
            </a:r>
          </a:p>
          <a:p>
            <a:pPr marL="342900" indent="-342900">
              <a:lnSpc>
                <a:spcPct val="150000"/>
              </a:lnSpc>
              <a:buFont typeface="+mj-lt"/>
              <a:buAutoNum type="arabicPeriod"/>
            </a:pPr>
            <a:r>
              <a:rPr lang="en-US" altLang="zh-CN" sz="2000">
                <a:solidFill>
                  <a:schemeClr val="tx1"/>
                </a:solidFill>
                <a:cs typeface="Cascadia Code" panose="020B0609020000020004" pitchFamily="49" charset="0"/>
              </a:rPr>
              <a:t>Central Billing Invoice</a:t>
            </a:r>
          </a:p>
          <a:p>
            <a:pPr marL="342900" indent="-342900">
              <a:lnSpc>
                <a:spcPct val="150000"/>
              </a:lnSpc>
              <a:buFont typeface="+mj-lt"/>
              <a:buAutoNum type="arabicPeriod"/>
            </a:pPr>
            <a:r>
              <a:rPr lang="en-US" altLang="zh-CN" sz="2000" kern="0">
                <a:solidFill>
                  <a:schemeClr val="tx1"/>
                </a:solidFill>
                <a:latin typeface="+mn-lt"/>
                <a:cs typeface="Cascadia Code" panose="020B0609020000020004" pitchFamily="49" charset="0"/>
              </a:rPr>
              <a:t>Invoice Reverse/Invoice Adjustment</a:t>
            </a:r>
          </a:p>
        </p:txBody>
      </p:sp>
    </p:spTree>
    <p:extLst>
      <p:ext uri="{BB962C8B-B14F-4D97-AF65-F5344CB8AC3E}">
        <p14:creationId xmlns:p14="http://schemas.microsoft.com/office/powerpoint/2010/main" val="1392824559"/>
      </p:ext>
    </p:ext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C2BA8-0D35-5957-D972-C8AD275E284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B6624FC-DA20-D476-8B45-D70F1A39F5BD}"/>
              </a:ext>
            </a:extLst>
          </p:cNvPr>
          <p:cNvSpPr>
            <a:spLocks noGrp="1"/>
          </p:cNvSpPr>
          <p:nvPr>
            <p:ph type="body" idx="10"/>
          </p:nvPr>
        </p:nvSpPr>
        <p:spPr/>
        <p:txBody>
          <a:bodyPr/>
          <a:lstStyle/>
          <a:p>
            <a:r>
              <a:rPr lang="zh-CN" altLang="zh-CN" b="0"/>
              <a:t>The Invoice Document Search page serves as a central hub in NexBill for searching, reviewing, and managing invoice documents. It supports flexible search criteria and provides easy access to statement document information needed for approvals.</a:t>
            </a:r>
            <a:endParaRPr lang="zh-CN" altLang="en-US"/>
          </a:p>
        </p:txBody>
      </p:sp>
      <p:sp>
        <p:nvSpPr>
          <p:cNvPr id="3" name="标题 2">
            <a:extLst>
              <a:ext uri="{FF2B5EF4-FFF2-40B4-BE49-F238E27FC236}">
                <a16:creationId xmlns:a16="http://schemas.microsoft.com/office/drawing/2014/main" id="{C1579DF0-C2D1-967C-91ED-E0A10ED8D546}"/>
              </a:ext>
            </a:extLst>
          </p:cNvPr>
          <p:cNvSpPr>
            <a:spLocks noGrp="1"/>
          </p:cNvSpPr>
          <p:nvPr>
            <p:ph type="title"/>
          </p:nvPr>
        </p:nvSpPr>
        <p:spPr/>
        <p:txBody>
          <a:bodyPr/>
          <a:lstStyle/>
          <a:p>
            <a:r>
              <a:rPr lang="en-US" altLang="zh-CN"/>
              <a:t>Invoice Document - Menu &amp; Path</a:t>
            </a:r>
            <a:endParaRPr lang="zh-CN" altLang="en-US"/>
          </a:p>
        </p:txBody>
      </p:sp>
      <p:sp>
        <p:nvSpPr>
          <p:cNvPr id="12" name="文本占位符 3">
            <a:extLst>
              <a:ext uri="{FF2B5EF4-FFF2-40B4-BE49-F238E27FC236}">
                <a16:creationId xmlns:a16="http://schemas.microsoft.com/office/drawing/2014/main" id="{B15514AC-1C7C-4BDB-41DB-0247BEA12076}"/>
              </a:ext>
            </a:extLst>
          </p:cNvPr>
          <p:cNvSpPr>
            <a:spLocks noGrp="1"/>
          </p:cNvSpPr>
          <p:nvPr>
            <p:ph type="body" idx="12"/>
          </p:nvPr>
        </p:nvSpPr>
        <p:spPr>
          <a:xfrm>
            <a:off x="8855675" y="1460613"/>
            <a:ext cx="3226581" cy="5072227"/>
          </a:xfrm>
        </p:spPr>
        <p:txBody>
          <a:bodyPr/>
          <a:lstStyle/>
          <a:p>
            <a:endParaRPr lang="zh-CN" altLang="en-US"/>
          </a:p>
        </p:txBody>
      </p:sp>
      <p:sp>
        <p:nvSpPr>
          <p:cNvPr id="13" name="TextBox 72">
            <a:extLst>
              <a:ext uri="{FF2B5EF4-FFF2-40B4-BE49-F238E27FC236}">
                <a16:creationId xmlns:a16="http://schemas.microsoft.com/office/drawing/2014/main" id="{A7F96971-62CA-C0EA-1286-947BE5F12A88}"/>
              </a:ext>
            </a:extLst>
          </p:cNvPr>
          <p:cNvSpPr txBox="1"/>
          <p:nvPr/>
        </p:nvSpPr>
        <p:spPr>
          <a:xfrm>
            <a:off x="9113973" y="1713912"/>
            <a:ext cx="2220826"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Invoice Document Menu</a:t>
            </a:r>
            <a:endParaRPr lang="id-ID" sz="1300" b="1">
              <a:solidFill>
                <a:schemeClr val="accent6">
                  <a:lumMod val="75000"/>
                  <a:lumOff val="25000"/>
                </a:schemeClr>
              </a:solidFill>
              <a:cs typeface="Lato Regular"/>
            </a:endParaRPr>
          </a:p>
        </p:txBody>
      </p:sp>
      <p:sp>
        <p:nvSpPr>
          <p:cNvPr id="14" name="TextBox 73">
            <a:extLst>
              <a:ext uri="{FF2B5EF4-FFF2-40B4-BE49-F238E27FC236}">
                <a16:creationId xmlns:a16="http://schemas.microsoft.com/office/drawing/2014/main" id="{60026BF5-4E6E-F95D-A514-E59FF99F09FF}"/>
              </a:ext>
            </a:extLst>
          </p:cNvPr>
          <p:cNvSpPr txBox="1"/>
          <p:nvPr/>
        </p:nvSpPr>
        <p:spPr>
          <a:xfrm>
            <a:off x="9111904" y="1974313"/>
            <a:ext cx="2982858" cy="1015663"/>
          </a:xfrm>
          <a:prstGeom prst="rect">
            <a:avLst/>
          </a:prstGeom>
          <a:noFill/>
        </p:spPr>
        <p:txBody>
          <a:bodyPr wrap="square" rtlCol="0">
            <a:spAutoFit/>
          </a:bodyPr>
          <a:lstStyle/>
          <a:p>
            <a:pPr fontAlgn="base"/>
            <a:r>
              <a:rPr lang="zh-CN" altLang="zh-CN" sz="1000">
                <a:cs typeface="Lato Light"/>
              </a:rPr>
              <a:t>Right-click the tree structure menu </a:t>
            </a:r>
            <a:r>
              <a:rPr lang="en-US" altLang="zh-CN" sz="1000">
                <a:cs typeface="Lato Light"/>
              </a:rPr>
              <a:t>or icon </a:t>
            </a:r>
            <a:r>
              <a:rPr lang="zh-CN" altLang="zh-CN" sz="1000">
                <a:cs typeface="Lato Light"/>
              </a:rPr>
              <a:t>on the left</a:t>
            </a:r>
            <a:r>
              <a:rPr lang="en-US" altLang="zh-CN" sz="1000">
                <a:cs typeface="Lato Light"/>
              </a:rPr>
              <a:t> navigator.</a:t>
            </a:r>
          </a:p>
          <a:p>
            <a:pPr fontAlgn="base"/>
            <a:endParaRPr lang="en-US" altLang="zh-CN" sz="1000">
              <a:cs typeface="Lato Light"/>
            </a:endParaRPr>
          </a:p>
          <a:p>
            <a:pPr fontAlgn="base"/>
            <a:r>
              <a:rPr lang="zh-CN" altLang="zh-CN" sz="1000">
                <a:cs typeface="Lato Light"/>
              </a:rPr>
              <a:t>Click</a:t>
            </a:r>
            <a:r>
              <a:rPr lang="zh-CN" altLang="zh-CN" sz="1000" b="1">
                <a:cs typeface="Lato Light"/>
              </a:rPr>
              <a:t> Invoice Management</a:t>
            </a:r>
            <a:r>
              <a:rPr lang="zh-CN" altLang="zh-CN" sz="1000">
                <a:cs typeface="Lato Light"/>
              </a:rPr>
              <a:t>, then click </a:t>
            </a:r>
            <a:r>
              <a:rPr lang="zh-CN" altLang="zh-CN" sz="1000" b="1">
                <a:cs typeface="Lato Light"/>
              </a:rPr>
              <a:t>Invoice Document </a:t>
            </a:r>
            <a:r>
              <a:rPr lang="zh-CN" altLang="zh-CN" sz="1000">
                <a:cs typeface="Lato Light"/>
              </a:rPr>
              <a:t>to access the invoice document search screen.</a:t>
            </a:r>
            <a:endParaRPr lang="en-US" altLang="zh-CN" sz="1000">
              <a:cs typeface="Lato Light"/>
            </a:endParaRPr>
          </a:p>
        </p:txBody>
      </p:sp>
      <p:sp>
        <p:nvSpPr>
          <p:cNvPr id="27" name="TextBox 82">
            <a:extLst>
              <a:ext uri="{FF2B5EF4-FFF2-40B4-BE49-F238E27FC236}">
                <a16:creationId xmlns:a16="http://schemas.microsoft.com/office/drawing/2014/main" id="{88CDFDC4-49C3-FEDF-DDB7-91464F78856C}"/>
              </a:ext>
            </a:extLst>
          </p:cNvPr>
          <p:cNvSpPr txBox="1"/>
          <p:nvPr/>
        </p:nvSpPr>
        <p:spPr>
          <a:xfrm>
            <a:off x="9096781" y="3298460"/>
            <a:ext cx="2422377"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Invoice Fields Definition</a:t>
            </a:r>
            <a:endParaRPr lang="id-ID" sz="1300" b="1">
              <a:solidFill>
                <a:schemeClr val="accent4">
                  <a:lumMod val="75000"/>
                  <a:lumOff val="25000"/>
                </a:schemeClr>
              </a:solidFill>
              <a:cs typeface="Lato Regular"/>
            </a:endParaRPr>
          </a:p>
        </p:txBody>
      </p:sp>
      <p:sp>
        <p:nvSpPr>
          <p:cNvPr id="28" name="TextBox 83">
            <a:extLst>
              <a:ext uri="{FF2B5EF4-FFF2-40B4-BE49-F238E27FC236}">
                <a16:creationId xmlns:a16="http://schemas.microsoft.com/office/drawing/2014/main" id="{CC8363A6-1617-ED61-13A1-8DED4CA5215B}"/>
              </a:ext>
            </a:extLst>
          </p:cNvPr>
          <p:cNvSpPr txBox="1"/>
          <p:nvPr/>
        </p:nvSpPr>
        <p:spPr>
          <a:xfrm>
            <a:off x="9109287" y="3559039"/>
            <a:ext cx="2972969" cy="1015663"/>
          </a:xfrm>
          <a:prstGeom prst="rect">
            <a:avLst/>
          </a:prstGeom>
          <a:noFill/>
        </p:spPr>
        <p:txBody>
          <a:bodyPr wrap="square" rtlCol="0">
            <a:spAutoFit/>
          </a:bodyPr>
          <a:lstStyle/>
          <a:p>
            <a:r>
              <a:rPr lang="zh-CN" altLang="zh-CN" sz="1000">
                <a:cs typeface="Lato Light"/>
              </a:rPr>
              <a:t>If </a:t>
            </a:r>
            <a:r>
              <a:rPr lang="en-US" altLang="zh-CN" sz="1000">
                <a:cs typeface="Lato Light"/>
              </a:rPr>
              <a:t>user </a:t>
            </a:r>
            <a:r>
              <a:rPr lang="zh-CN" altLang="zh-CN" sz="1000">
                <a:cs typeface="Lato Light"/>
              </a:rPr>
              <a:t>need more information, click the attachment to view the field structure for the invoice header and items. </a:t>
            </a:r>
            <a:endParaRPr lang="en-US" altLang="zh-CN" sz="1000">
              <a:cs typeface="Lato Light"/>
            </a:endParaRPr>
          </a:p>
          <a:p>
            <a:endParaRPr lang="en-US" altLang="zh-CN" sz="1000">
              <a:cs typeface="Lato Light"/>
            </a:endParaRPr>
          </a:p>
          <a:p>
            <a:r>
              <a:rPr lang="zh-CN" altLang="zh-CN" sz="1000">
                <a:cs typeface="Lato Light"/>
              </a:rPr>
              <a:t>It includes descriptions of all fields and example values for the most important ones.</a:t>
            </a:r>
            <a:endParaRPr lang="en-US" sz="1000">
              <a:cs typeface="Lato Light"/>
            </a:endParaRPr>
          </a:p>
        </p:txBody>
      </p:sp>
      <p:sp>
        <p:nvSpPr>
          <p:cNvPr id="33" name="Oval 111">
            <a:extLst>
              <a:ext uri="{FF2B5EF4-FFF2-40B4-BE49-F238E27FC236}">
                <a16:creationId xmlns:a16="http://schemas.microsoft.com/office/drawing/2014/main" id="{4DC60003-CF32-21B9-1E96-A96536E35FA4}"/>
              </a:ext>
            </a:extLst>
          </p:cNvPr>
          <p:cNvSpPr/>
          <p:nvPr/>
        </p:nvSpPr>
        <p:spPr>
          <a:xfrm>
            <a:off x="8868181" y="178220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34" name="Oval 112">
            <a:extLst>
              <a:ext uri="{FF2B5EF4-FFF2-40B4-BE49-F238E27FC236}">
                <a16:creationId xmlns:a16="http://schemas.microsoft.com/office/drawing/2014/main" id="{3499C9FF-2BF3-3767-911D-F23BDD328075}"/>
              </a:ext>
            </a:extLst>
          </p:cNvPr>
          <p:cNvSpPr/>
          <p:nvPr/>
        </p:nvSpPr>
        <p:spPr>
          <a:xfrm>
            <a:off x="8868181" y="333043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6" name="图片 5">
            <a:extLst>
              <a:ext uri="{FF2B5EF4-FFF2-40B4-BE49-F238E27FC236}">
                <a16:creationId xmlns:a16="http://schemas.microsoft.com/office/drawing/2014/main" id="{C7A37D2A-F631-19FE-5B81-7E2F2694A21C}"/>
              </a:ext>
            </a:extLst>
          </p:cNvPr>
          <p:cNvPicPr>
            <a:picLocks noChangeAspect="1"/>
          </p:cNvPicPr>
          <p:nvPr/>
        </p:nvPicPr>
        <p:blipFill>
          <a:blip r:embed="rId2"/>
          <a:stretch>
            <a:fillRect/>
          </a:stretch>
        </p:blipFill>
        <p:spPr>
          <a:xfrm>
            <a:off x="221893" y="1461157"/>
            <a:ext cx="8516754" cy="3861938"/>
          </a:xfrm>
          <a:prstGeom prst="rect">
            <a:avLst/>
          </a:prstGeom>
        </p:spPr>
      </p:pic>
      <p:graphicFrame>
        <p:nvGraphicFramePr>
          <p:cNvPr id="11" name="对象 10">
            <a:extLst>
              <a:ext uri="{FF2B5EF4-FFF2-40B4-BE49-F238E27FC236}">
                <a16:creationId xmlns:a16="http://schemas.microsoft.com/office/drawing/2014/main" id="{8772CD83-2000-4678-1D85-A84D9FDA9470}"/>
              </a:ext>
            </a:extLst>
          </p:cNvPr>
          <p:cNvGraphicFramePr>
            <a:graphicFrameLocks noChangeAspect="1"/>
          </p:cNvGraphicFramePr>
          <p:nvPr>
            <p:extLst>
              <p:ext uri="{D42A27DB-BD31-4B8C-83A1-F6EECF244321}">
                <p14:modId xmlns:p14="http://schemas.microsoft.com/office/powerpoint/2010/main" val="3597631284"/>
              </p:ext>
            </p:extLst>
          </p:nvPr>
        </p:nvGraphicFramePr>
        <p:xfrm>
          <a:off x="7724775" y="5459413"/>
          <a:ext cx="855663" cy="739775"/>
        </p:xfrm>
        <a:graphic>
          <a:graphicData uri="http://schemas.openxmlformats.org/presentationml/2006/ole">
            <mc:AlternateContent xmlns:mc="http://schemas.openxmlformats.org/markup-compatibility/2006">
              <mc:Choice xmlns:v="urn:schemas-microsoft-com:vml" Requires="v">
                <p:oleObj name="Worksheet" showAsIcon="1" r:id="rId3" imgW="774000" imgH="669240" progId="Excel.Sheet.12">
                  <p:embed/>
                </p:oleObj>
              </mc:Choice>
              <mc:Fallback>
                <p:oleObj name="Worksheet" showAsIcon="1" r:id="rId3" imgW="774000" imgH="669240" progId="Excel.Sheet.12">
                  <p:embed/>
                  <p:pic>
                    <p:nvPicPr>
                      <p:cNvPr id="11" name="对象 10">
                        <a:extLst>
                          <a:ext uri="{FF2B5EF4-FFF2-40B4-BE49-F238E27FC236}">
                            <a16:creationId xmlns:a16="http://schemas.microsoft.com/office/drawing/2014/main" id="{8772CD83-2000-4678-1D85-A84D9FDA9470}"/>
                          </a:ext>
                        </a:extLst>
                      </p:cNvPr>
                      <p:cNvPicPr/>
                      <p:nvPr/>
                    </p:nvPicPr>
                    <p:blipFill>
                      <a:blip r:embed="rId4"/>
                      <a:stretch>
                        <a:fillRect/>
                      </a:stretch>
                    </p:blipFill>
                    <p:spPr>
                      <a:xfrm>
                        <a:off x="7724775" y="5459413"/>
                        <a:ext cx="855663" cy="739775"/>
                      </a:xfrm>
                      <a:prstGeom prst="rect">
                        <a:avLst/>
                      </a:prstGeom>
                    </p:spPr>
                  </p:pic>
                </p:oleObj>
              </mc:Fallback>
            </mc:AlternateContent>
          </a:graphicData>
        </a:graphic>
      </p:graphicFrame>
      <p:sp>
        <p:nvSpPr>
          <p:cNvPr id="15" name="Oval 111">
            <a:extLst>
              <a:ext uri="{FF2B5EF4-FFF2-40B4-BE49-F238E27FC236}">
                <a16:creationId xmlns:a16="http://schemas.microsoft.com/office/drawing/2014/main" id="{E7687785-5A76-F051-D4B9-8B0C0E2B55EF}"/>
              </a:ext>
            </a:extLst>
          </p:cNvPr>
          <p:cNvSpPr/>
          <p:nvPr/>
        </p:nvSpPr>
        <p:spPr>
          <a:xfrm>
            <a:off x="327294" y="312385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6" name="Oval 112">
            <a:extLst>
              <a:ext uri="{FF2B5EF4-FFF2-40B4-BE49-F238E27FC236}">
                <a16:creationId xmlns:a16="http://schemas.microsoft.com/office/drawing/2014/main" id="{2863E308-5E15-38EF-2E86-24DE157FFF1E}"/>
              </a:ext>
            </a:extLst>
          </p:cNvPr>
          <p:cNvSpPr/>
          <p:nvPr/>
        </p:nvSpPr>
        <p:spPr>
          <a:xfrm>
            <a:off x="7668027" y="5224542"/>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4157497273"/>
      </p:ext>
    </p:ext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CFCED-6995-0205-68C6-5B7CF135964D}"/>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B3D1AD1E-0CDD-F844-D210-7152487E0A85}"/>
              </a:ext>
            </a:extLst>
          </p:cNvPr>
          <p:cNvSpPr>
            <a:spLocks noGrp="1"/>
          </p:cNvSpPr>
          <p:nvPr>
            <p:ph type="body" idx="10"/>
          </p:nvPr>
        </p:nvSpPr>
        <p:spPr/>
        <p:txBody>
          <a:bodyPr/>
          <a:lstStyle/>
          <a:p>
            <a:r>
              <a:rPr lang="zh-CN" altLang="zh-CN" b="0"/>
              <a:t>The Invoice Document Search page serves as a central hub in NexBill for searching, reviewing, and managing invoice documents. It supports flexible search criteria and provides easy access to statement document information needed for approvals.</a:t>
            </a:r>
            <a:endParaRPr lang="zh-CN" altLang="en-US"/>
          </a:p>
        </p:txBody>
      </p:sp>
      <p:sp>
        <p:nvSpPr>
          <p:cNvPr id="3" name="标题 2">
            <a:extLst>
              <a:ext uri="{FF2B5EF4-FFF2-40B4-BE49-F238E27FC236}">
                <a16:creationId xmlns:a16="http://schemas.microsoft.com/office/drawing/2014/main" id="{30F94466-02F5-6238-9835-2758993886E7}"/>
              </a:ext>
            </a:extLst>
          </p:cNvPr>
          <p:cNvSpPr>
            <a:spLocks noGrp="1"/>
          </p:cNvSpPr>
          <p:nvPr>
            <p:ph type="title"/>
          </p:nvPr>
        </p:nvSpPr>
        <p:spPr/>
        <p:txBody>
          <a:bodyPr/>
          <a:lstStyle/>
          <a:p>
            <a:r>
              <a:rPr lang="en-US" altLang="zh-CN"/>
              <a:t>Invoice Document - Search &amp; Result</a:t>
            </a:r>
            <a:endParaRPr lang="zh-CN" altLang="en-US"/>
          </a:p>
        </p:txBody>
      </p:sp>
      <p:sp>
        <p:nvSpPr>
          <p:cNvPr id="12" name="文本占位符 3">
            <a:extLst>
              <a:ext uri="{FF2B5EF4-FFF2-40B4-BE49-F238E27FC236}">
                <a16:creationId xmlns:a16="http://schemas.microsoft.com/office/drawing/2014/main" id="{06898CA4-9176-AEA3-2CFB-84B285C69B50}"/>
              </a:ext>
            </a:extLst>
          </p:cNvPr>
          <p:cNvSpPr>
            <a:spLocks noGrp="1"/>
          </p:cNvSpPr>
          <p:nvPr>
            <p:ph type="body" idx="12"/>
          </p:nvPr>
        </p:nvSpPr>
        <p:spPr>
          <a:xfrm>
            <a:off x="8836821" y="1413478"/>
            <a:ext cx="3226581" cy="5072227"/>
          </a:xfrm>
        </p:spPr>
        <p:txBody>
          <a:bodyPr/>
          <a:lstStyle/>
          <a:p>
            <a:endParaRPr lang="zh-CN" altLang="en-US"/>
          </a:p>
        </p:txBody>
      </p:sp>
      <p:sp>
        <p:nvSpPr>
          <p:cNvPr id="13" name="TextBox 72">
            <a:extLst>
              <a:ext uri="{FF2B5EF4-FFF2-40B4-BE49-F238E27FC236}">
                <a16:creationId xmlns:a16="http://schemas.microsoft.com/office/drawing/2014/main" id="{1D363969-5318-6DA9-B484-D7E177E2F0B7}"/>
              </a:ext>
            </a:extLst>
          </p:cNvPr>
          <p:cNvSpPr txBox="1"/>
          <p:nvPr/>
        </p:nvSpPr>
        <p:spPr>
          <a:xfrm>
            <a:off x="9095119" y="1666777"/>
            <a:ext cx="2220826"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Search Invoice Document</a:t>
            </a:r>
            <a:endParaRPr lang="id-ID" sz="1300" b="1">
              <a:solidFill>
                <a:schemeClr val="accent6">
                  <a:lumMod val="75000"/>
                  <a:lumOff val="25000"/>
                </a:schemeClr>
              </a:solidFill>
              <a:cs typeface="Lato Regular"/>
            </a:endParaRPr>
          </a:p>
        </p:txBody>
      </p:sp>
      <p:sp>
        <p:nvSpPr>
          <p:cNvPr id="14" name="TextBox 73">
            <a:extLst>
              <a:ext uri="{FF2B5EF4-FFF2-40B4-BE49-F238E27FC236}">
                <a16:creationId xmlns:a16="http://schemas.microsoft.com/office/drawing/2014/main" id="{D03B4373-91CC-07FC-C484-1E861B1653BA}"/>
              </a:ext>
            </a:extLst>
          </p:cNvPr>
          <p:cNvSpPr txBox="1"/>
          <p:nvPr/>
        </p:nvSpPr>
        <p:spPr>
          <a:xfrm>
            <a:off x="9093050" y="1927178"/>
            <a:ext cx="2982858" cy="2862322"/>
          </a:xfrm>
          <a:prstGeom prst="rect">
            <a:avLst/>
          </a:prstGeom>
          <a:noFill/>
        </p:spPr>
        <p:txBody>
          <a:bodyPr wrap="square" rtlCol="0">
            <a:spAutoFit/>
          </a:bodyPr>
          <a:lstStyle/>
          <a:p>
            <a:pPr fontAlgn="base"/>
            <a:r>
              <a:rPr lang="en-US" altLang="zh-CN" sz="1000">
                <a:cs typeface="Lato Light"/>
              </a:rPr>
              <a:t>Users can search Invoice Document using one or more search criteria.​</a:t>
            </a:r>
          </a:p>
          <a:p>
            <a:pPr fontAlgn="base"/>
            <a:r>
              <a:rPr lang="en-US" altLang="zh-CN" sz="1000">
                <a:cs typeface="Lato Light"/>
              </a:rPr>
              <a:t>​</a:t>
            </a:r>
          </a:p>
          <a:p>
            <a:pPr fontAlgn="base"/>
            <a:r>
              <a:rPr lang="en-US" altLang="zh-CN" sz="1000">
                <a:cs typeface="Lato Light"/>
              </a:rPr>
              <a:t>Users can add additional search conditions by clicking the "+" icon and remove conditions by clicking the "×" icon.​</a:t>
            </a:r>
          </a:p>
          <a:p>
            <a:pPr fontAlgn="base"/>
            <a:r>
              <a:rPr lang="en-US" altLang="zh-CN" sz="1000">
                <a:cs typeface="Lato Light"/>
              </a:rPr>
              <a:t>​</a:t>
            </a:r>
          </a:p>
          <a:p>
            <a:pPr fontAlgn="base"/>
            <a:r>
              <a:rPr lang="en-US" altLang="zh-CN" sz="1000" b="1">
                <a:cs typeface="Lato Light"/>
              </a:rPr>
              <a:t>Save Search &amp; My Searches​</a:t>
            </a:r>
          </a:p>
          <a:p>
            <a:pPr fontAlgn="base"/>
            <a:r>
              <a:rPr lang="en-US" altLang="zh-CN" sz="1000">
                <a:cs typeface="Lato Light"/>
              </a:rPr>
              <a:t>Users can enter a search name and click Save.​</a:t>
            </a:r>
          </a:p>
          <a:p>
            <a:pPr fontAlgn="base"/>
            <a:r>
              <a:rPr lang="en-US" altLang="zh-CN" sz="1000">
                <a:cs typeface="Lato Light"/>
              </a:rPr>
              <a:t>The current search conditions are saved as are usable search template.​</a:t>
            </a:r>
          </a:p>
          <a:p>
            <a:pPr fontAlgn="base"/>
            <a:r>
              <a:rPr lang="en-US" altLang="zh-CN" sz="1000">
                <a:cs typeface="Lato Light"/>
              </a:rPr>
              <a:t>Users can quickly reload saved search criteria without re-entering conditions by My Searches.​</a:t>
            </a:r>
          </a:p>
          <a:p>
            <a:pPr fontAlgn="base"/>
            <a:r>
              <a:rPr lang="en-US" altLang="zh-CN" sz="1000">
                <a:cs typeface="Lato Light"/>
              </a:rPr>
              <a:t>​</a:t>
            </a:r>
          </a:p>
          <a:p>
            <a:pPr fontAlgn="base"/>
            <a:r>
              <a:rPr lang="en-US" altLang="zh-CN" sz="1000" b="1">
                <a:cs typeface="Lato Light"/>
              </a:rPr>
              <a:t>Clear​</a:t>
            </a:r>
          </a:p>
          <a:p>
            <a:pPr fontAlgn="base"/>
            <a:r>
              <a:rPr lang="en-US" altLang="zh-CN" sz="1000">
                <a:cs typeface="Lato Light"/>
              </a:rPr>
              <a:t>The Clear button clears all entered filter values and conditions, clears the current search results displayed in the result list. ​</a:t>
            </a:r>
          </a:p>
        </p:txBody>
      </p:sp>
      <p:sp>
        <p:nvSpPr>
          <p:cNvPr id="27" name="TextBox 82">
            <a:extLst>
              <a:ext uri="{FF2B5EF4-FFF2-40B4-BE49-F238E27FC236}">
                <a16:creationId xmlns:a16="http://schemas.microsoft.com/office/drawing/2014/main" id="{28154C2D-023C-2C5C-4C4E-D2E814ECEEF5}"/>
              </a:ext>
            </a:extLst>
          </p:cNvPr>
          <p:cNvSpPr txBox="1"/>
          <p:nvPr/>
        </p:nvSpPr>
        <p:spPr>
          <a:xfrm>
            <a:off x="9077927" y="4861050"/>
            <a:ext cx="2422377"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Retry</a:t>
            </a:r>
            <a:endParaRPr lang="id-ID" sz="1300" b="1">
              <a:solidFill>
                <a:schemeClr val="accent4">
                  <a:lumMod val="75000"/>
                  <a:lumOff val="25000"/>
                </a:schemeClr>
              </a:solidFill>
              <a:cs typeface="Lato Regular"/>
            </a:endParaRPr>
          </a:p>
        </p:txBody>
      </p:sp>
      <p:sp>
        <p:nvSpPr>
          <p:cNvPr id="28" name="TextBox 83">
            <a:extLst>
              <a:ext uri="{FF2B5EF4-FFF2-40B4-BE49-F238E27FC236}">
                <a16:creationId xmlns:a16="http://schemas.microsoft.com/office/drawing/2014/main" id="{47C1D7E9-45DA-E834-1829-F5CD50B3EA33}"/>
              </a:ext>
            </a:extLst>
          </p:cNvPr>
          <p:cNvSpPr txBox="1"/>
          <p:nvPr/>
        </p:nvSpPr>
        <p:spPr>
          <a:xfrm>
            <a:off x="9090433" y="5121629"/>
            <a:ext cx="2972969" cy="707886"/>
          </a:xfrm>
          <a:prstGeom prst="rect">
            <a:avLst/>
          </a:prstGeom>
          <a:noFill/>
        </p:spPr>
        <p:txBody>
          <a:bodyPr wrap="square" rtlCol="0">
            <a:spAutoFit/>
          </a:bodyPr>
          <a:lstStyle/>
          <a:p>
            <a:r>
              <a:rPr lang="zh-CN" altLang="zh-CN" sz="1000">
                <a:cs typeface="Lato Light"/>
              </a:rPr>
              <a:t>After resolving the underlying issues, select one or more invoices and click Retry.</a:t>
            </a:r>
            <a:endParaRPr lang="en-US" altLang="zh-CN" sz="1000">
              <a:cs typeface="Lato Light"/>
            </a:endParaRPr>
          </a:p>
          <a:p>
            <a:r>
              <a:rPr lang="zh-CN" altLang="zh-CN" sz="1000">
                <a:cs typeface="Lato Light"/>
              </a:rPr>
              <a:t>Users can correct errors by clicking the Retry button.</a:t>
            </a:r>
            <a:endParaRPr lang="en-US" sz="1000">
              <a:cs typeface="Lato Light"/>
            </a:endParaRPr>
          </a:p>
        </p:txBody>
      </p:sp>
      <p:sp>
        <p:nvSpPr>
          <p:cNvPr id="33" name="Oval 111">
            <a:extLst>
              <a:ext uri="{FF2B5EF4-FFF2-40B4-BE49-F238E27FC236}">
                <a16:creationId xmlns:a16="http://schemas.microsoft.com/office/drawing/2014/main" id="{0B546513-8369-2695-E3F3-BABDFCFA6D34}"/>
              </a:ext>
            </a:extLst>
          </p:cNvPr>
          <p:cNvSpPr/>
          <p:nvPr/>
        </p:nvSpPr>
        <p:spPr>
          <a:xfrm>
            <a:off x="8849327" y="173506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34" name="Oval 112">
            <a:extLst>
              <a:ext uri="{FF2B5EF4-FFF2-40B4-BE49-F238E27FC236}">
                <a16:creationId xmlns:a16="http://schemas.microsoft.com/office/drawing/2014/main" id="{0AB7C0EF-116B-6CF7-1CB9-21D9A08E0CE6}"/>
              </a:ext>
            </a:extLst>
          </p:cNvPr>
          <p:cNvSpPr/>
          <p:nvPr/>
        </p:nvSpPr>
        <p:spPr>
          <a:xfrm>
            <a:off x="8849327" y="489302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5" name="文本框 4">
            <a:extLst>
              <a:ext uri="{FF2B5EF4-FFF2-40B4-BE49-F238E27FC236}">
                <a16:creationId xmlns:a16="http://schemas.microsoft.com/office/drawing/2014/main" id="{D1876AFA-B892-DA94-190B-98418DC96949}"/>
              </a:ext>
            </a:extLst>
          </p:cNvPr>
          <p:cNvSpPr txBox="1"/>
          <p:nvPr/>
        </p:nvSpPr>
        <p:spPr>
          <a:xfrm>
            <a:off x="9090433" y="5890039"/>
            <a:ext cx="2972969" cy="553998"/>
          </a:xfrm>
          <a:prstGeom prst="rect">
            <a:avLst/>
          </a:prstGeom>
          <a:noFill/>
        </p:spPr>
        <p:txBody>
          <a:bodyPr wrap="square">
            <a:spAutoFit/>
          </a:bodyPr>
          <a:lstStyle/>
          <a:p>
            <a:r>
              <a:rPr lang="zh-CN" altLang="zh-CN" sz="1000">
                <a:cs typeface="Lato Light"/>
              </a:rPr>
              <a:t>On the result list, the invoice number is displayed as a clickable hyperlink. Click it to open the corresponding invoice detail page.</a:t>
            </a:r>
            <a:endParaRPr lang="en-US" altLang="zh-CN" sz="1000">
              <a:cs typeface="Lato Light"/>
            </a:endParaRPr>
          </a:p>
        </p:txBody>
      </p:sp>
      <p:pic>
        <p:nvPicPr>
          <p:cNvPr id="6" name="图片 5">
            <a:extLst>
              <a:ext uri="{FF2B5EF4-FFF2-40B4-BE49-F238E27FC236}">
                <a16:creationId xmlns:a16="http://schemas.microsoft.com/office/drawing/2014/main" id="{30123E3D-F1D4-C23C-1EF3-5215CBA2D615}"/>
              </a:ext>
            </a:extLst>
          </p:cNvPr>
          <p:cNvPicPr>
            <a:picLocks noChangeAspect="1"/>
          </p:cNvPicPr>
          <p:nvPr/>
        </p:nvPicPr>
        <p:blipFill>
          <a:blip r:embed="rId3"/>
          <a:stretch>
            <a:fillRect/>
          </a:stretch>
        </p:blipFill>
        <p:spPr>
          <a:xfrm>
            <a:off x="198819" y="1442304"/>
            <a:ext cx="8601956" cy="3794981"/>
          </a:xfrm>
          <a:prstGeom prst="rect">
            <a:avLst/>
          </a:prstGeom>
        </p:spPr>
      </p:pic>
      <p:sp>
        <p:nvSpPr>
          <p:cNvPr id="9" name="Oval 111">
            <a:extLst>
              <a:ext uri="{FF2B5EF4-FFF2-40B4-BE49-F238E27FC236}">
                <a16:creationId xmlns:a16="http://schemas.microsoft.com/office/drawing/2014/main" id="{A1CA4ECC-DA04-CDC2-E3D2-9E4927A057C9}"/>
              </a:ext>
            </a:extLst>
          </p:cNvPr>
          <p:cNvSpPr/>
          <p:nvPr/>
        </p:nvSpPr>
        <p:spPr>
          <a:xfrm>
            <a:off x="121137" y="142879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1" name="Oval 112">
            <a:extLst>
              <a:ext uri="{FF2B5EF4-FFF2-40B4-BE49-F238E27FC236}">
                <a16:creationId xmlns:a16="http://schemas.microsoft.com/office/drawing/2014/main" id="{AFBA4462-8AFB-FAC7-AAE2-74647BA511CB}"/>
              </a:ext>
            </a:extLst>
          </p:cNvPr>
          <p:cNvSpPr/>
          <p:nvPr/>
        </p:nvSpPr>
        <p:spPr>
          <a:xfrm>
            <a:off x="6163375" y="360470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902614431"/>
      </p:ext>
    </p:ext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31A5E-F388-F8D0-D074-14521A3AE15F}"/>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D30708D-C062-4EF1-BE47-48DE3BE6F986}"/>
              </a:ext>
            </a:extLst>
          </p:cNvPr>
          <p:cNvSpPr>
            <a:spLocks noGrp="1"/>
          </p:cNvSpPr>
          <p:nvPr>
            <p:ph type="body" idx="10"/>
          </p:nvPr>
        </p:nvSpPr>
        <p:spPr/>
        <p:txBody>
          <a:bodyPr/>
          <a:lstStyle/>
          <a:p>
            <a:r>
              <a:rPr lang="zh-CN" altLang="zh-CN" b="0"/>
              <a:t>The Invoice Document Search page serves as a central hub in NexBill for searching, reviewing, and managing invoice documents. It supports flexible search criteria and provides easy access to statement document information needed for approvals.</a:t>
            </a:r>
            <a:endParaRPr lang="zh-CN" altLang="en-US"/>
          </a:p>
          <a:p>
            <a:endParaRPr lang="zh-CN" altLang="en-US"/>
          </a:p>
        </p:txBody>
      </p:sp>
      <p:sp>
        <p:nvSpPr>
          <p:cNvPr id="3" name="标题 2">
            <a:extLst>
              <a:ext uri="{FF2B5EF4-FFF2-40B4-BE49-F238E27FC236}">
                <a16:creationId xmlns:a16="http://schemas.microsoft.com/office/drawing/2014/main" id="{171B1E67-0395-46CE-3C07-E3EC71184FA1}"/>
              </a:ext>
            </a:extLst>
          </p:cNvPr>
          <p:cNvSpPr>
            <a:spLocks noGrp="1"/>
          </p:cNvSpPr>
          <p:nvPr>
            <p:ph type="title"/>
          </p:nvPr>
        </p:nvSpPr>
        <p:spPr/>
        <p:txBody>
          <a:bodyPr/>
          <a:lstStyle/>
          <a:p>
            <a:r>
              <a:rPr lang="en-US" altLang="zh-CN"/>
              <a:t>Invoice Document - Search &amp; Result</a:t>
            </a:r>
            <a:endParaRPr lang="zh-CN" altLang="en-US"/>
          </a:p>
        </p:txBody>
      </p:sp>
      <p:sp>
        <p:nvSpPr>
          <p:cNvPr id="12" name="文本占位符 3">
            <a:extLst>
              <a:ext uri="{FF2B5EF4-FFF2-40B4-BE49-F238E27FC236}">
                <a16:creationId xmlns:a16="http://schemas.microsoft.com/office/drawing/2014/main" id="{32F3524B-8F42-7E73-22E5-41CB930E0520}"/>
              </a:ext>
            </a:extLst>
          </p:cNvPr>
          <p:cNvSpPr>
            <a:spLocks noGrp="1"/>
          </p:cNvSpPr>
          <p:nvPr>
            <p:ph type="body" idx="12"/>
          </p:nvPr>
        </p:nvSpPr>
        <p:spPr>
          <a:xfrm>
            <a:off x="8028274" y="1356916"/>
            <a:ext cx="4025870" cy="5072227"/>
          </a:xfrm>
        </p:spPr>
        <p:txBody>
          <a:bodyPr/>
          <a:lstStyle/>
          <a:p>
            <a:endParaRPr lang="zh-CN" altLang="en-US"/>
          </a:p>
        </p:txBody>
      </p:sp>
      <p:sp>
        <p:nvSpPr>
          <p:cNvPr id="38" name="Oval 113">
            <a:extLst>
              <a:ext uri="{FF2B5EF4-FFF2-40B4-BE49-F238E27FC236}">
                <a16:creationId xmlns:a16="http://schemas.microsoft.com/office/drawing/2014/main" id="{93C6D05A-1D3D-FE67-74C2-C89430097079}"/>
              </a:ext>
            </a:extLst>
          </p:cNvPr>
          <p:cNvSpPr/>
          <p:nvPr/>
        </p:nvSpPr>
        <p:spPr>
          <a:xfrm>
            <a:off x="8028274" y="1595143"/>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5" name="TextBox 83">
            <a:extLst>
              <a:ext uri="{FF2B5EF4-FFF2-40B4-BE49-F238E27FC236}">
                <a16:creationId xmlns:a16="http://schemas.microsoft.com/office/drawing/2014/main" id="{231C77AA-00D6-32F8-BF4F-D15C0FFD150C}"/>
              </a:ext>
            </a:extLst>
          </p:cNvPr>
          <p:cNvSpPr txBox="1"/>
          <p:nvPr/>
        </p:nvSpPr>
        <p:spPr>
          <a:xfrm>
            <a:off x="8232857" y="1852480"/>
            <a:ext cx="3841587" cy="455509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cs typeface="Lato Light"/>
              </a:rPr>
              <a:t>Settings</a:t>
            </a:r>
            <a:endParaRPr lang="en-US" sz="1000">
              <a:cs typeface="Lato Light"/>
            </a:endParaRPr>
          </a:p>
          <a:p>
            <a:r>
              <a:rPr lang="en-US" sz="1000">
                <a:cs typeface="Lato Light"/>
              </a:rPr>
              <a:t>The Settings function allows users to personalize the result list layout.</a:t>
            </a:r>
          </a:p>
          <a:p>
            <a:r>
              <a:rPr lang="en-US" sz="1000">
                <a:cs typeface="Lato Light"/>
              </a:rPr>
              <a:t>Select which fields are displayed in the search results from Available list.</a:t>
            </a:r>
          </a:p>
          <a:p>
            <a:endParaRPr lang="en-US" sz="1000">
              <a:cs typeface="Lato Light"/>
            </a:endParaRPr>
          </a:p>
          <a:p>
            <a:r>
              <a:rPr lang="en-US" sz="1000">
                <a:cs typeface="Lato Light"/>
              </a:rPr>
              <a:t>Save the selected field layout as a </a:t>
            </a:r>
            <a:r>
              <a:rPr lang="en-US" sz="1000" b="1">
                <a:cs typeface="Lato Light"/>
              </a:rPr>
              <a:t>configuration</a:t>
            </a:r>
            <a:r>
              <a:rPr lang="en-US" sz="1000">
                <a:cs typeface="Lato Light"/>
              </a:rPr>
              <a:t>.</a:t>
            </a:r>
          </a:p>
          <a:p>
            <a:r>
              <a:rPr lang="en-US" sz="1000">
                <a:cs typeface="Lato Light"/>
              </a:rPr>
              <a:t>Reuse saved configurations in future sessions without reselecting columns.</a:t>
            </a:r>
          </a:p>
          <a:p>
            <a:r>
              <a:rPr lang="en-US" sz="1000">
                <a:cs typeface="Lato Light"/>
              </a:rPr>
              <a:t>This helps users tailor the result view to their business needs.</a:t>
            </a:r>
          </a:p>
          <a:p>
            <a:endParaRPr lang="en-US" sz="1000">
              <a:cs typeface="Lato Light"/>
            </a:endParaRPr>
          </a:p>
          <a:p>
            <a:r>
              <a:rPr lang="en-US" sz="1000" b="1">
                <a:cs typeface="Lato Light"/>
              </a:rPr>
              <a:t>Pagination</a:t>
            </a:r>
            <a:endParaRPr lang="en-US" sz="1000">
              <a:cs typeface="Lato Light"/>
            </a:endParaRPr>
          </a:p>
          <a:p>
            <a:r>
              <a:rPr lang="en-US" sz="1000">
                <a:cs typeface="Lato Light"/>
              </a:rPr>
              <a:t>By default, 20 records are displayed per page.</a:t>
            </a:r>
          </a:p>
          <a:p>
            <a:r>
              <a:rPr lang="en-US" altLang="zh-CN" sz="1000">
                <a:cs typeface="Lato Light"/>
              </a:rPr>
              <a:t>Users can change the number of records displayed per page using the </a:t>
            </a:r>
            <a:r>
              <a:rPr lang="en-US" altLang="zh-CN" sz="1000" b="1">
                <a:cs typeface="Lato Light"/>
              </a:rPr>
              <a:t>Rows per page </a:t>
            </a:r>
            <a:r>
              <a:rPr lang="en-US" altLang="zh-CN" sz="1000">
                <a:cs typeface="Lato Light"/>
              </a:rPr>
              <a:t>selector.</a:t>
            </a:r>
          </a:p>
          <a:p>
            <a:r>
              <a:rPr lang="en-US" sz="1000">
                <a:cs typeface="Lato Light"/>
              </a:rPr>
              <a:t>Users can navigate between pages using the page navigation controls.</a:t>
            </a:r>
          </a:p>
          <a:p>
            <a:endParaRPr lang="en-US" sz="1000">
              <a:cs typeface="Lato Light"/>
            </a:endParaRPr>
          </a:p>
          <a:p>
            <a:r>
              <a:rPr lang="en-US" sz="1000" b="1">
                <a:cs typeface="Lato Light"/>
              </a:rPr>
              <a:t>Full Screen</a:t>
            </a:r>
            <a:endParaRPr lang="en-US" sz="1000">
              <a:cs typeface="Lato Light"/>
            </a:endParaRPr>
          </a:p>
          <a:p>
            <a:r>
              <a:rPr lang="en-US" sz="1000">
                <a:cs typeface="Lato Light"/>
              </a:rPr>
              <a:t>Expands the result list to full-screen mode for improved visibility and analysis of product master records.</a:t>
            </a:r>
          </a:p>
          <a:p>
            <a:endParaRPr lang="en-US" sz="1000">
              <a:cs typeface="Lato Light"/>
            </a:endParaRPr>
          </a:p>
          <a:p>
            <a:r>
              <a:rPr lang="en-US" sz="1000" b="1">
                <a:cs typeface="Lato Light"/>
              </a:rPr>
              <a:t>Download</a:t>
            </a:r>
            <a:endParaRPr lang="en-US" sz="1000">
              <a:cs typeface="Lato Light"/>
            </a:endParaRPr>
          </a:p>
          <a:p>
            <a:r>
              <a:rPr lang="en-US" sz="1000">
                <a:cs typeface="Lato Light"/>
              </a:rPr>
              <a:t>Exports account master search results for offline analysis and reporting. Available Options:</a:t>
            </a:r>
          </a:p>
          <a:p>
            <a:r>
              <a:rPr lang="en-US" sz="1000" b="1">
                <a:cs typeface="Lato Light"/>
              </a:rPr>
              <a:t>Download All Data</a:t>
            </a:r>
            <a:r>
              <a:rPr lang="en-US" sz="1000">
                <a:cs typeface="Lato Light"/>
              </a:rPr>
              <a:t>: Exports all records returned by the current search criteria.</a:t>
            </a:r>
          </a:p>
          <a:p>
            <a:r>
              <a:rPr lang="en-US" sz="1000" b="1">
                <a:cs typeface="Lato Light"/>
              </a:rPr>
              <a:t>Download Selected Data</a:t>
            </a:r>
            <a:r>
              <a:rPr lang="en-US" sz="1000">
                <a:cs typeface="Lato Light"/>
              </a:rPr>
              <a:t>: Exports only the records selected in the result list.</a:t>
            </a:r>
          </a:p>
        </p:txBody>
      </p:sp>
      <p:sp>
        <p:nvSpPr>
          <p:cNvPr id="16" name="TextBox 92">
            <a:extLst>
              <a:ext uri="{FF2B5EF4-FFF2-40B4-BE49-F238E27FC236}">
                <a16:creationId xmlns:a16="http://schemas.microsoft.com/office/drawing/2014/main" id="{E662D590-7025-BC14-CFC6-5B8E27398ADB}"/>
              </a:ext>
            </a:extLst>
          </p:cNvPr>
          <p:cNvSpPr txBox="1"/>
          <p:nvPr/>
        </p:nvSpPr>
        <p:spPr>
          <a:xfrm>
            <a:off x="8232857" y="1559443"/>
            <a:ext cx="1839512" cy="2923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300" b="1">
                <a:cs typeface="Lato Regular"/>
              </a:rPr>
              <a:t>Buttons</a:t>
            </a:r>
            <a:endParaRPr lang="en-US" sz="1300" b="1">
              <a:cs typeface="Lato Regular"/>
            </a:endParaRPr>
          </a:p>
        </p:txBody>
      </p:sp>
      <p:pic>
        <p:nvPicPr>
          <p:cNvPr id="5" name="图片 4">
            <a:extLst>
              <a:ext uri="{FF2B5EF4-FFF2-40B4-BE49-F238E27FC236}">
                <a16:creationId xmlns:a16="http://schemas.microsoft.com/office/drawing/2014/main" id="{9172FA79-7DB7-3397-D389-16A53D21AE85}"/>
              </a:ext>
            </a:extLst>
          </p:cNvPr>
          <p:cNvPicPr>
            <a:picLocks noChangeAspect="1"/>
          </p:cNvPicPr>
          <p:nvPr/>
        </p:nvPicPr>
        <p:blipFill>
          <a:blip r:embed="rId2"/>
          <a:stretch>
            <a:fillRect/>
          </a:stretch>
        </p:blipFill>
        <p:spPr>
          <a:xfrm>
            <a:off x="299883" y="1360409"/>
            <a:ext cx="7694543" cy="3401797"/>
          </a:xfrm>
          <a:prstGeom prst="rect">
            <a:avLst/>
          </a:prstGeom>
        </p:spPr>
      </p:pic>
      <p:sp>
        <p:nvSpPr>
          <p:cNvPr id="6" name="Oval 113">
            <a:extLst>
              <a:ext uri="{FF2B5EF4-FFF2-40B4-BE49-F238E27FC236}">
                <a16:creationId xmlns:a16="http://schemas.microsoft.com/office/drawing/2014/main" id="{0A858EB4-8ED0-48C8-3C6F-77F71910D581}"/>
              </a:ext>
            </a:extLst>
          </p:cNvPr>
          <p:cNvSpPr/>
          <p:nvPr/>
        </p:nvSpPr>
        <p:spPr>
          <a:xfrm>
            <a:off x="5965036" y="3247660"/>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8" name="图片 7">
            <a:extLst>
              <a:ext uri="{FF2B5EF4-FFF2-40B4-BE49-F238E27FC236}">
                <a16:creationId xmlns:a16="http://schemas.microsoft.com/office/drawing/2014/main" id="{0DE4CBD1-0B3C-8F5A-3EA6-B79EA8B07C42}"/>
              </a:ext>
            </a:extLst>
          </p:cNvPr>
          <p:cNvPicPr>
            <a:picLocks noChangeAspect="1"/>
          </p:cNvPicPr>
          <p:nvPr/>
        </p:nvPicPr>
        <p:blipFill>
          <a:blip r:embed="rId3"/>
          <a:stretch>
            <a:fillRect/>
          </a:stretch>
        </p:blipFill>
        <p:spPr>
          <a:xfrm>
            <a:off x="2253006" y="3485786"/>
            <a:ext cx="3712030" cy="2943357"/>
          </a:xfrm>
          <a:prstGeom prst="rect">
            <a:avLst/>
          </a:prstGeom>
        </p:spPr>
      </p:pic>
    </p:spTree>
    <p:extLst>
      <p:ext uri="{BB962C8B-B14F-4D97-AF65-F5344CB8AC3E}">
        <p14:creationId xmlns:p14="http://schemas.microsoft.com/office/powerpoint/2010/main" val="2492493061"/>
      </p:ext>
    </p:extLst>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6A86A-B28A-6873-220F-3493292297D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7444D32-8BFA-2544-FE5A-B45EA7C985F0}"/>
              </a:ext>
            </a:extLst>
          </p:cNvPr>
          <p:cNvSpPr>
            <a:spLocks noGrp="1"/>
          </p:cNvSpPr>
          <p:nvPr>
            <p:ph type="body" idx="10"/>
          </p:nvPr>
        </p:nvSpPr>
        <p:spPr/>
        <p:txBody>
          <a:bodyPr/>
          <a:lstStyle/>
          <a:p>
            <a:r>
              <a:rPr lang="zh-CN" altLang="zh-CN" b="0"/>
              <a:t>The Invoice Document Search page serves as a central hub in NexBill for searching, reviewing, and managing invoice documents. It supports flexible search criteria and provides easy access to statement document information needed for approvals.</a:t>
            </a:r>
            <a:endParaRPr lang="zh-CN" altLang="en-US"/>
          </a:p>
          <a:p>
            <a:endParaRPr lang="zh-CN" altLang="en-US"/>
          </a:p>
        </p:txBody>
      </p:sp>
      <p:sp>
        <p:nvSpPr>
          <p:cNvPr id="3" name="标题 2">
            <a:extLst>
              <a:ext uri="{FF2B5EF4-FFF2-40B4-BE49-F238E27FC236}">
                <a16:creationId xmlns:a16="http://schemas.microsoft.com/office/drawing/2014/main" id="{511D1ED5-1349-3C01-83E3-C1228C02C03D}"/>
              </a:ext>
            </a:extLst>
          </p:cNvPr>
          <p:cNvSpPr>
            <a:spLocks noGrp="1"/>
          </p:cNvSpPr>
          <p:nvPr>
            <p:ph type="title"/>
          </p:nvPr>
        </p:nvSpPr>
        <p:spPr/>
        <p:txBody>
          <a:bodyPr/>
          <a:lstStyle/>
          <a:p>
            <a:r>
              <a:rPr lang="en-US" altLang="zh-CN"/>
              <a:t>Invoice Document - Search &amp; Result</a:t>
            </a:r>
            <a:endParaRPr lang="zh-CN" altLang="en-US"/>
          </a:p>
        </p:txBody>
      </p:sp>
      <p:sp>
        <p:nvSpPr>
          <p:cNvPr id="12" name="文本占位符 3">
            <a:extLst>
              <a:ext uri="{FF2B5EF4-FFF2-40B4-BE49-F238E27FC236}">
                <a16:creationId xmlns:a16="http://schemas.microsoft.com/office/drawing/2014/main" id="{536FCE93-4DB7-F48D-32AB-09C55AA29A76}"/>
              </a:ext>
            </a:extLst>
          </p:cNvPr>
          <p:cNvSpPr>
            <a:spLocks noGrp="1"/>
          </p:cNvSpPr>
          <p:nvPr>
            <p:ph type="body" idx="12"/>
          </p:nvPr>
        </p:nvSpPr>
        <p:spPr>
          <a:xfrm>
            <a:off x="8028274" y="1356916"/>
            <a:ext cx="4025870" cy="5072227"/>
          </a:xfrm>
        </p:spPr>
        <p:txBody>
          <a:bodyPr/>
          <a:lstStyle/>
          <a:p>
            <a:endParaRPr lang="zh-CN" altLang="en-US"/>
          </a:p>
        </p:txBody>
      </p:sp>
      <p:sp>
        <p:nvSpPr>
          <p:cNvPr id="15" name="TextBox 83">
            <a:extLst>
              <a:ext uri="{FF2B5EF4-FFF2-40B4-BE49-F238E27FC236}">
                <a16:creationId xmlns:a16="http://schemas.microsoft.com/office/drawing/2014/main" id="{6799C546-C655-86F5-10CA-19B6AAE86CE0}"/>
              </a:ext>
            </a:extLst>
          </p:cNvPr>
          <p:cNvSpPr txBox="1"/>
          <p:nvPr/>
        </p:nvSpPr>
        <p:spPr>
          <a:xfrm>
            <a:off x="8232857" y="1852480"/>
            <a:ext cx="3841587" cy="17851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latin typeface="Aptos" panose="020B0004020202020204" pitchFamily="34" charset="0"/>
              </a:rPr>
              <a:t>Clicking the question mark icon displays the complete list of codes for the </a:t>
            </a:r>
            <a:r>
              <a:rPr lang="zh-CN" altLang="zh-CN" sz="1000" b="1">
                <a:latin typeface="Aptos" panose="020B0004020202020204" pitchFamily="34" charset="0"/>
              </a:rPr>
              <a:t>Status Type </a:t>
            </a:r>
            <a:r>
              <a:rPr lang="zh-CN" altLang="zh-CN" sz="1000">
                <a:latin typeface="Aptos" panose="020B0004020202020204" pitchFamily="34" charset="0"/>
              </a:rPr>
              <a:t>field, along with their label descriptions.</a:t>
            </a:r>
            <a:endParaRPr lang="en-US" altLang="zh-CN" sz="1000">
              <a:latin typeface="Aptos" panose="020B0004020202020204" pitchFamily="34" charset="0"/>
            </a:endParaRPr>
          </a:p>
          <a:p>
            <a:endParaRPr lang="en-US" sz="1000">
              <a:latin typeface="Aptos" panose="020B0004020202020204" pitchFamily="34" charset="0"/>
            </a:endParaRPr>
          </a:p>
          <a:p>
            <a:r>
              <a:rPr lang="zh-CN" altLang="zh-CN" sz="1000" b="1">
                <a:latin typeface="Aptos" panose="020B0004020202020204" pitchFamily="34" charset="0"/>
              </a:rPr>
              <a:t>Status Type</a:t>
            </a:r>
          </a:p>
          <a:p>
            <a:r>
              <a:rPr lang="zh-CN" altLang="zh-CN" sz="1000">
                <a:latin typeface="Aptos" panose="020B0004020202020204" pitchFamily="34" charset="0"/>
              </a:rPr>
              <a:t>Active dictionary entries available.</a:t>
            </a:r>
          </a:p>
          <a:p>
            <a:r>
              <a:rPr lang="zh-CN" altLang="zh-CN" sz="1000" b="1">
                <a:latin typeface="Aptos" panose="020B0004020202020204" pitchFamily="34" charset="0"/>
              </a:rPr>
              <a:t>Code</a:t>
            </a:r>
            <a:r>
              <a:rPr lang="en-US" altLang="zh-CN" sz="1000" b="1">
                <a:latin typeface="Aptos" panose="020B0004020202020204" pitchFamily="34" charset="0"/>
              </a:rPr>
              <a:t> </a:t>
            </a:r>
            <a:r>
              <a:rPr lang="en-US" altLang="zh-CN" sz="1000">
                <a:latin typeface="Aptos" panose="020B0004020202020204" pitchFamily="34" charset="0"/>
              </a:rPr>
              <a:t>	</a:t>
            </a:r>
            <a:r>
              <a:rPr lang="zh-CN" altLang="zh-CN" sz="1000" b="1">
                <a:latin typeface="Aptos" panose="020B0004020202020204" pitchFamily="34" charset="0"/>
              </a:rPr>
              <a:t>Label</a:t>
            </a:r>
          </a:p>
          <a:p>
            <a:r>
              <a:rPr lang="zh-CN" altLang="zh-CN" sz="1000">
                <a:latin typeface="Aptos" panose="020B0004020202020204" pitchFamily="34" charset="0"/>
              </a:rPr>
              <a:t>I</a:t>
            </a:r>
            <a:r>
              <a:rPr lang="en-US" altLang="zh-CN" sz="1000">
                <a:latin typeface="Aptos" panose="020B0004020202020204" pitchFamily="34" charset="0"/>
              </a:rPr>
              <a:t>	</a:t>
            </a:r>
            <a:r>
              <a:rPr lang="zh-CN" altLang="zh-CN" sz="1000">
                <a:latin typeface="Aptos" panose="020B0004020202020204" pitchFamily="34" charset="0"/>
              </a:rPr>
              <a:t>In Process</a:t>
            </a:r>
          </a:p>
          <a:p>
            <a:r>
              <a:rPr lang="zh-CN" altLang="zh-CN" sz="1000">
                <a:latin typeface="Aptos" panose="020B0004020202020204" pitchFamily="34" charset="0"/>
              </a:rPr>
              <a:t>E</a:t>
            </a:r>
            <a:r>
              <a:rPr lang="en-US" altLang="zh-CN" sz="1000">
                <a:latin typeface="Aptos" panose="020B0004020202020204" pitchFamily="34" charset="0"/>
              </a:rPr>
              <a:t>	</a:t>
            </a:r>
            <a:r>
              <a:rPr lang="zh-CN" altLang="zh-CN" sz="1000">
                <a:latin typeface="Aptos" panose="020B0004020202020204" pitchFamily="34" charset="0"/>
              </a:rPr>
              <a:t>Error</a:t>
            </a:r>
          </a:p>
          <a:p>
            <a:r>
              <a:rPr lang="zh-CN" altLang="zh-CN" sz="1000">
                <a:latin typeface="Aptos" panose="020B0004020202020204" pitchFamily="34" charset="0"/>
              </a:rPr>
              <a:t>S</a:t>
            </a:r>
            <a:r>
              <a:rPr lang="en-US" altLang="zh-CN" sz="1000">
                <a:latin typeface="Aptos" panose="020B0004020202020204" pitchFamily="34" charset="0"/>
              </a:rPr>
              <a:t>	</a:t>
            </a:r>
            <a:r>
              <a:rPr lang="zh-CN" altLang="zh-CN" sz="1000">
                <a:latin typeface="Aptos" panose="020B0004020202020204" pitchFamily="34" charset="0"/>
              </a:rPr>
              <a:t>Success</a:t>
            </a:r>
          </a:p>
          <a:p>
            <a:r>
              <a:rPr lang="zh-CN" altLang="zh-CN" sz="1000">
                <a:latin typeface="Aptos" panose="020B0004020202020204" pitchFamily="34" charset="0"/>
              </a:rPr>
              <a:t>W</a:t>
            </a:r>
            <a:r>
              <a:rPr lang="en-US" altLang="zh-CN" sz="1000">
                <a:latin typeface="Aptos" panose="020B0004020202020204" pitchFamily="34" charset="0"/>
              </a:rPr>
              <a:t>	</a:t>
            </a:r>
            <a:r>
              <a:rPr lang="zh-CN" altLang="zh-CN" sz="1000">
                <a:latin typeface="Aptos" panose="020B0004020202020204" pitchFamily="34" charset="0"/>
              </a:rPr>
              <a:t>Warning</a:t>
            </a:r>
          </a:p>
          <a:p>
            <a:endParaRPr lang="en-US" sz="1000">
              <a:latin typeface="Aptos" panose="020B0004020202020204" pitchFamily="34" charset="0"/>
            </a:endParaRPr>
          </a:p>
        </p:txBody>
      </p:sp>
      <p:pic>
        <p:nvPicPr>
          <p:cNvPr id="7" name="图片 6">
            <a:extLst>
              <a:ext uri="{FF2B5EF4-FFF2-40B4-BE49-F238E27FC236}">
                <a16:creationId xmlns:a16="http://schemas.microsoft.com/office/drawing/2014/main" id="{9E140596-FE7B-3F6E-5BA8-5539AE18C1B5}"/>
              </a:ext>
            </a:extLst>
          </p:cNvPr>
          <p:cNvPicPr>
            <a:picLocks noChangeAspect="1"/>
          </p:cNvPicPr>
          <p:nvPr/>
        </p:nvPicPr>
        <p:blipFill>
          <a:blip r:embed="rId2"/>
          <a:stretch>
            <a:fillRect/>
          </a:stretch>
        </p:blipFill>
        <p:spPr>
          <a:xfrm>
            <a:off x="414450" y="1356916"/>
            <a:ext cx="7070432" cy="5245549"/>
          </a:xfrm>
          <a:prstGeom prst="rect">
            <a:avLst/>
          </a:prstGeom>
        </p:spPr>
      </p:pic>
      <p:sp>
        <p:nvSpPr>
          <p:cNvPr id="10" name="TextBox 97">
            <a:extLst>
              <a:ext uri="{FF2B5EF4-FFF2-40B4-BE49-F238E27FC236}">
                <a16:creationId xmlns:a16="http://schemas.microsoft.com/office/drawing/2014/main" id="{91E1CD2A-F37D-0E9D-E20F-8DEC7375AFAC}"/>
              </a:ext>
            </a:extLst>
          </p:cNvPr>
          <p:cNvSpPr txBox="1"/>
          <p:nvPr/>
        </p:nvSpPr>
        <p:spPr>
          <a:xfrm>
            <a:off x="8318563" y="1596928"/>
            <a:ext cx="1897289" cy="292388"/>
          </a:xfrm>
          <a:prstGeom prst="rect">
            <a:avLst/>
          </a:prstGeom>
          <a:noFill/>
        </p:spPr>
        <p:txBody>
          <a:bodyPr wrap="square" rtlCol="0">
            <a:spAutoFit/>
          </a:bodyPr>
          <a:lstStyle/>
          <a:p>
            <a:r>
              <a:rPr lang="en-US" sz="1300" b="1">
                <a:solidFill>
                  <a:schemeClr val="tx2"/>
                </a:solidFill>
                <a:cs typeface="Lato Regular"/>
              </a:rPr>
              <a:t>Status Type</a:t>
            </a:r>
            <a:endParaRPr lang="id-ID" sz="1300" b="1">
              <a:solidFill>
                <a:schemeClr val="tx2"/>
              </a:solidFill>
              <a:cs typeface="Lato Regular"/>
            </a:endParaRPr>
          </a:p>
        </p:txBody>
      </p:sp>
      <p:sp>
        <p:nvSpPr>
          <p:cNvPr id="13" name="Oval 114">
            <a:extLst>
              <a:ext uri="{FF2B5EF4-FFF2-40B4-BE49-F238E27FC236}">
                <a16:creationId xmlns:a16="http://schemas.microsoft.com/office/drawing/2014/main" id="{8E79F195-D529-85E8-F6A6-8393BE3423CF}"/>
              </a:ext>
            </a:extLst>
          </p:cNvPr>
          <p:cNvSpPr/>
          <p:nvPr/>
        </p:nvSpPr>
        <p:spPr>
          <a:xfrm>
            <a:off x="8067980" y="160545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17" name="Oval 114">
            <a:extLst>
              <a:ext uri="{FF2B5EF4-FFF2-40B4-BE49-F238E27FC236}">
                <a16:creationId xmlns:a16="http://schemas.microsoft.com/office/drawing/2014/main" id="{1698E007-93CB-E88F-8A65-96EF1A40380F}"/>
              </a:ext>
            </a:extLst>
          </p:cNvPr>
          <p:cNvSpPr/>
          <p:nvPr/>
        </p:nvSpPr>
        <p:spPr>
          <a:xfrm>
            <a:off x="1301106" y="5272484"/>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Tree>
    <p:extLst>
      <p:ext uri="{BB962C8B-B14F-4D97-AF65-F5344CB8AC3E}">
        <p14:creationId xmlns:p14="http://schemas.microsoft.com/office/powerpoint/2010/main" val="2239045379"/>
      </p:ext>
    </p:extLst>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43A7-27A0-EB9B-46BE-DC104BE3382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14678D6-7B86-47A0-8054-943FEA722BA2}"/>
              </a:ext>
            </a:extLst>
          </p:cNvPr>
          <p:cNvSpPr>
            <a:spLocks noGrp="1"/>
          </p:cNvSpPr>
          <p:nvPr>
            <p:ph type="body" idx="10"/>
          </p:nvPr>
        </p:nvSpPr>
        <p:spPr/>
        <p:txBody>
          <a:bodyPr/>
          <a:lstStyle/>
          <a:p>
            <a:r>
              <a:rPr lang="zh-CN" altLang="zh-CN" b="0"/>
              <a:t>The Invoice Document Detail page provides comprehensive information about the invoice document, including invoice details, customer and organizational data, </a:t>
            </a:r>
            <a:r>
              <a:rPr lang="en-US" altLang="zh-CN" b="0"/>
              <a:t>invoice</a:t>
            </a:r>
            <a:r>
              <a:rPr lang="zh-CN" altLang="zh-CN" b="0"/>
              <a:t> items, </a:t>
            </a:r>
            <a:r>
              <a:rPr lang="en-US" altLang="zh-CN" b="0"/>
              <a:t>BIT, </a:t>
            </a:r>
            <a:r>
              <a:rPr lang="zh-CN" altLang="zh-CN" b="0"/>
              <a:t>payment schedule, </a:t>
            </a:r>
            <a:r>
              <a:rPr lang="en-US" altLang="zh-CN" b="0"/>
              <a:t>subscription order and </a:t>
            </a:r>
            <a:r>
              <a:rPr lang="zh-CN" altLang="zh-CN" b="0"/>
              <a:t>linked final invoices, statements, and historical change records.</a:t>
            </a:r>
            <a:endParaRPr lang="zh-CN" altLang="en-US"/>
          </a:p>
        </p:txBody>
      </p:sp>
      <p:sp>
        <p:nvSpPr>
          <p:cNvPr id="3" name="标题 2">
            <a:extLst>
              <a:ext uri="{FF2B5EF4-FFF2-40B4-BE49-F238E27FC236}">
                <a16:creationId xmlns:a16="http://schemas.microsoft.com/office/drawing/2014/main" id="{894D8F8C-C14C-B232-0C75-7ADEFDCE212A}"/>
              </a:ext>
            </a:extLst>
          </p:cNvPr>
          <p:cNvSpPr>
            <a:spLocks noGrp="1"/>
          </p:cNvSpPr>
          <p:nvPr>
            <p:ph type="title"/>
          </p:nvPr>
        </p:nvSpPr>
        <p:spPr/>
        <p:txBody>
          <a:bodyPr/>
          <a:lstStyle/>
          <a:p>
            <a:r>
              <a:rPr lang="en-US" altLang="zh-CN"/>
              <a:t>Invoice Document - Detail</a:t>
            </a:r>
            <a:endParaRPr lang="zh-CN" altLang="en-US"/>
          </a:p>
        </p:txBody>
      </p:sp>
      <p:sp>
        <p:nvSpPr>
          <p:cNvPr id="4" name="文本占位符 3">
            <a:extLst>
              <a:ext uri="{FF2B5EF4-FFF2-40B4-BE49-F238E27FC236}">
                <a16:creationId xmlns:a16="http://schemas.microsoft.com/office/drawing/2014/main" id="{54B99F81-19FB-B36A-E552-147D543780E7}"/>
              </a:ext>
            </a:extLst>
          </p:cNvPr>
          <p:cNvSpPr>
            <a:spLocks noGrp="1"/>
          </p:cNvSpPr>
          <p:nvPr>
            <p:ph type="body" idx="12"/>
          </p:nvPr>
        </p:nvSpPr>
        <p:spPr>
          <a:xfrm>
            <a:off x="8198313" y="1192639"/>
            <a:ext cx="3852705" cy="5453002"/>
          </a:xfrm>
        </p:spPr>
        <p:txBody>
          <a:bodyPr/>
          <a:lstStyle/>
          <a:p>
            <a:endParaRPr lang="zh-CN" altLang="en-US"/>
          </a:p>
        </p:txBody>
      </p:sp>
      <p:sp>
        <p:nvSpPr>
          <p:cNvPr id="15" name="TextBox 72">
            <a:extLst>
              <a:ext uri="{FF2B5EF4-FFF2-40B4-BE49-F238E27FC236}">
                <a16:creationId xmlns:a16="http://schemas.microsoft.com/office/drawing/2014/main" id="{2C33CF81-D841-E675-2288-4631103BCC00}"/>
              </a:ext>
            </a:extLst>
          </p:cNvPr>
          <p:cNvSpPr txBox="1"/>
          <p:nvPr/>
        </p:nvSpPr>
        <p:spPr>
          <a:xfrm>
            <a:off x="8463325" y="1368482"/>
            <a:ext cx="1931639"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Header</a:t>
            </a:r>
            <a:endParaRPr lang="id-ID" sz="1300" b="1">
              <a:solidFill>
                <a:schemeClr val="accent6">
                  <a:lumMod val="75000"/>
                  <a:lumOff val="25000"/>
                </a:schemeClr>
              </a:solidFill>
              <a:cs typeface="Lato Regular"/>
            </a:endParaRPr>
          </a:p>
        </p:txBody>
      </p:sp>
      <p:sp>
        <p:nvSpPr>
          <p:cNvPr id="16" name="TextBox 73">
            <a:extLst>
              <a:ext uri="{FF2B5EF4-FFF2-40B4-BE49-F238E27FC236}">
                <a16:creationId xmlns:a16="http://schemas.microsoft.com/office/drawing/2014/main" id="{96E50208-43FF-0C4F-BFCD-F3090C17A5D5}"/>
              </a:ext>
            </a:extLst>
          </p:cNvPr>
          <p:cNvSpPr txBox="1"/>
          <p:nvPr/>
        </p:nvSpPr>
        <p:spPr>
          <a:xfrm>
            <a:off x="8213604" y="1628883"/>
            <a:ext cx="3852705" cy="5016758"/>
          </a:xfrm>
          <a:prstGeom prst="rect">
            <a:avLst/>
          </a:prstGeom>
          <a:noFill/>
        </p:spPr>
        <p:txBody>
          <a:bodyPr wrap="square" rtlCol="0">
            <a:spAutoFit/>
          </a:bodyPr>
          <a:lstStyle/>
          <a:p>
            <a:r>
              <a:rPr lang="zh-CN" altLang="zh-CN" sz="1000"/>
              <a:t>The Header Information tab displays the invoice header details, which include the following sections:</a:t>
            </a:r>
            <a:endParaRPr lang="en-US" altLang="zh-CN" sz="1000"/>
          </a:p>
          <a:p>
            <a:r>
              <a:rPr lang="zh-CN" altLang="zh-CN" sz="1000" b="1"/>
              <a:t>General Information</a:t>
            </a:r>
            <a:endParaRPr lang="en-US" altLang="zh-CN" sz="1000" b="1"/>
          </a:p>
          <a:p>
            <a:r>
              <a:rPr lang="en-US" altLang="zh-CN" sz="1000"/>
              <a:t>Including </a:t>
            </a:r>
            <a:r>
              <a:rPr lang="zh-CN" altLang="zh-CN" sz="1000"/>
              <a:t>Organization</a:t>
            </a:r>
            <a:r>
              <a:rPr lang="en-US" altLang="zh-CN" sz="1000"/>
              <a:t> structure, </a:t>
            </a:r>
            <a:r>
              <a:rPr lang="zh-CN" altLang="zh-CN" sz="1000"/>
              <a:t>EaaS Category</a:t>
            </a:r>
            <a:r>
              <a:rPr lang="en-US" altLang="zh-CN" sz="1000"/>
              <a:t>, total amount, </a:t>
            </a:r>
            <a:r>
              <a:rPr lang="zh-CN" altLang="zh-CN" sz="1000"/>
              <a:t>Currency</a:t>
            </a:r>
            <a:r>
              <a:rPr lang="en-US" altLang="zh-CN" sz="1000"/>
              <a:t>, </a:t>
            </a:r>
            <a:r>
              <a:rPr lang="zh-CN" altLang="zh-CN" sz="1000"/>
              <a:t>Reversed Flag</a:t>
            </a:r>
            <a:r>
              <a:rPr lang="en-US" altLang="zh-CN" sz="1000"/>
              <a:t>, etc.</a:t>
            </a:r>
          </a:p>
          <a:p>
            <a:endParaRPr lang="zh-CN" altLang="zh-CN" sz="1000"/>
          </a:p>
          <a:p>
            <a:r>
              <a:rPr lang="zh-CN" altLang="zh-CN" sz="1000" b="1"/>
              <a:t>Posting Information</a:t>
            </a:r>
            <a:endParaRPr lang="en-US" altLang="zh-CN" sz="1000" b="1"/>
          </a:p>
          <a:p>
            <a:r>
              <a:rPr lang="zh-CN" altLang="zh-CN" sz="1000"/>
              <a:t>Company Code</a:t>
            </a:r>
            <a:r>
              <a:rPr lang="en-US" altLang="zh-CN" sz="1000"/>
              <a:t>, </a:t>
            </a:r>
            <a:r>
              <a:rPr lang="zh-CN" altLang="zh-CN" sz="1000"/>
              <a:t>Business Place</a:t>
            </a:r>
            <a:r>
              <a:rPr lang="en-US" altLang="zh-CN" sz="1000"/>
              <a:t>,</a:t>
            </a:r>
            <a:r>
              <a:rPr lang="zh-CN" altLang="zh-CN" sz="1000"/>
              <a:t> </a:t>
            </a:r>
            <a:r>
              <a:rPr lang="en-US" altLang="zh-CN" sz="1000"/>
              <a:t>After FA document created, link to FA document and posted flag. </a:t>
            </a:r>
            <a:r>
              <a:rPr lang="zh-CN" altLang="zh-CN" sz="1000"/>
              <a:t>Exchange Rate</a:t>
            </a:r>
            <a:r>
              <a:rPr lang="en-US" altLang="zh-CN" sz="1000"/>
              <a:t>, </a:t>
            </a:r>
            <a:r>
              <a:rPr lang="zh-CN" altLang="zh-CN" sz="1000"/>
              <a:t>Local Total Amount</a:t>
            </a:r>
            <a:r>
              <a:rPr lang="en-US" altLang="zh-CN" sz="1000"/>
              <a:t> and </a:t>
            </a:r>
            <a:r>
              <a:rPr lang="zh-CN" altLang="zh-CN" sz="1000"/>
              <a:t>Local Country Currency</a:t>
            </a:r>
            <a:r>
              <a:rPr lang="en-US" altLang="zh-CN" sz="1000"/>
              <a:t>.</a:t>
            </a:r>
          </a:p>
          <a:p>
            <a:endParaRPr lang="zh-CN" altLang="zh-CN" sz="1000"/>
          </a:p>
          <a:p>
            <a:r>
              <a:rPr lang="zh-CN" altLang="zh-CN" sz="1000" b="1"/>
              <a:t>Invoicing Period</a:t>
            </a:r>
            <a:endParaRPr lang="en-US" altLang="zh-CN" sz="1000" b="1"/>
          </a:p>
          <a:p>
            <a:r>
              <a:rPr lang="en-US" altLang="zh-CN" sz="1000"/>
              <a:t>It shows the b</a:t>
            </a:r>
            <a:r>
              <a:rPr lang="zh-CN" altLang="zh-CN" sz="1000"/>
              <a:t>illing </a:t>
            </a:r>
            <a:r>
              <a:rPr lang="en-US" altLang="zh-CN" sz="1000"/>
              <a:t>c</a:t>
            </a:r>
            <a:r>
              <a:rPr lang="zh-CN" altLang="zh-CN" sz="1000"/>
              <a:t>ycle</a:t>
            </a:r>
            <a:r>
              <a:rPr lang="en-US" altLang="zh-CN" sz="1000"/>
              <a:t> and charge from/to date.</a:t>
            </a:r>
          </a:p>
          <a:p>
            <a:endParaRPr lang="zh-CN" altLang="zh-CN" sz="1000" b="1"/>
          </a:p>
          <a:p>
            <a:r>
              <a:rPr lang="zh-CN" altLang="zh-CN" sz="1000" b="1"/>
              <a:t>Payment Data</a:t>
            </a:r>
            <a:endParaRPr lang="en-US" altLang="zh-CN" sz="1000" b="1"/>
          </a:p>
          <a:p>
            <a:r>
              <a:rPr lang="en-US" altLang="zh-CN" sz="1000"/>
              <a:t>Display the payment term and due date.</a:t>
            </a:r>
          </a:p>
          <a:p>
            <a:endParaRPr lang="zh-CN" altLang="zh-CN" sz="1000"/>
          </a:p>
          <a:p>
            <a:r>
              <a:rPr lang="zh-CN" altLang="zh-CN" sz="1000" b="1"/>
              <a:t>Official Document</a:t>
            </a:r>
            <a:endParaRPr lang="en-US" altLang="zh-CN" sz="1000" b="1"/>
          </a:p>
          <a:p>
            <a:r>
              <a:rPr lang="zh-CN" altLang="zh-CN" sz="1000"/>
              <a:t>It shows the official document number generated upon final invoice creation.</a:t>
            </a:r>
            <a:endParaRPr lang="en-US" altLang="zh-CN" sz="1000"/>
          </a:p>
          <a:p>
            <a:endParaRPr lang="zh-CN" altLang="zh-CN" sz="1000" b="1"/>
          </a:p>
          <a:p>
            <a:r>
              <a:rPr lang="zh-CN" altLang="zh-CN" sz="1000" b="1"/>
              <a:t>Tax Related Data</a:t>
            </a:r>
            <a:endParaRPr lang="en-US" altLang="zh-CN" sz="1000" b="1"/>
          </a:p>
          <a:p>
            <a:r>
              <a:rPr lang="en-US" altLang="zh-CN" sz="1000"/>
              <a:t>Display the </a:t>
            </a:r>
            <a:r>
              <a:rPr lang="zh-CN" altLang="zh-CN" sz="1000"/>
              <a:t>Call LGTP status and </a:t>
            </a:r>
            <a:r>
              <a:rPr lang="en-US" altLang="zh-CN" sz="1000"/>
              <a:t>LGTP Number, date and </a:t>
            </a:r>
            <a:r>
              <a:rPr lang="zh-CN" altLang="zh-CN" sz="1000"/>
              <a:t>Customer</a:t>
            </a:r>
            <a:r>
              <a:rPr lang="en-US" altLang="zh-CN" sz="1000"/>
              <a:t>/Seller</a:t>
            </a:r>
            <a:r>
              <a:rPr lang="zh-CN" altLang="zh-CN" sz="1000"/>
              <a:t> Vat No </a:t>
            </a:r>
            <a:r>
              <a:rPr lang="en-US" altLang="zh-CN" sz="1000"/>
              <a:t>information.</a:t>
            </a:r>
          </a:p>
          <a:p>
            <a:endParaRPr lang="en-US" altLang="zh-CN" sz="1000"/>
          </a:p>
          <a:p>
            <a:r>
              <a:rPr lang="zh-CN" altLang="zh-CN" sz="1000" b="1"/>
              <a:t>Others</a:t>
            </a:r>
            <a:endParaRPr lang="en-US" altLang="zh-CN" sz="1000" b="1"/>
          </a:p>
          <a:p>
            <a:r>
              <a:rPr lang="zh-CN" altLang="zh-CN" sz="1000"/>
              <a:t>Customer</a:t>
            </a:r>
            <a:r>
              <a:rPr lang="en-US" altLang="zh-CN" sz="1000"/>
              <a:t>/Original</a:t>
            </a:r>
            <a:r>
              <a:rPr lang="zh-CN" altLang="zh-CN" sz="1000"/>
              <a:t> Invoice Number</a:t>
            </a:r>
            <a:r>
              <a:rPr lang="en-US" altLang="zh-CN" sz="1000"/>
              <a:t>, </a:t>
            </a:r>
            <a:r>
              <a:rPr lang="zh-CN" altLang="zh-CN" sz="1000"/>
              <a:t>End Client</a:t>
            </a:r>
            <a:r>
              <a:rPr lang="en-US" altLang="zh-CN" sz="1000"/>
              <a:t> ID/Name and other key information related to this invoice.</a:t>
            </a:r>
            <a:endParaRPr lang="zh-CN" altLang="zh-CN" sz="1000"/>
          </a:p>
          <a:p>
            <a:endParaRPr lang="en-US" altLang="zh-CN" sz="1000"/>
          </a:p>
          <a:p>
            <a:r>
              <a:rPr lang="zh-CN" altLang="zh-CN" sz="1000" b="1"/>
              <a:t>Administrative Data</a:t>
            </a:r>
            <a:endParaRPr lang="en-US" altLang="zh-CN" sz="1000" b="1"/>
          </a:p>
          <a:p>
            <a:r>
              <a:rPr lang="zh-CN" altLang="zh-CN" sz="1000"/>
              <a:t>It shows </a:t>
            </a:r>
            <a:r>
              <a:rPr lang="en-US" altLang="zh-CN" sz="1000"/>
              <a:t>created by and created at.</a:t>
            </a:r>
          </a:p>
        </p:txBody>
      </p:sp>
      <p:sp>
        <p:nvSpPr>
          <p:cNvPr id="23" name="Oval 111">
            <a:extLst>
              <a:ext uri="{FF2B5EF4-FFF2-40B4-BE49-F238E27FC236}">
                <a16:creationId xmlns:a16="http://schemas.microsoft.com/office/drawing/2014/main" id="{BD6E9DAC-05DC-2584-6617-7ACD6DFCA809}"/>
              </a:ext>
            </a:extLst>
          </p:cNvPr>
          <p:cNvSpPr/>
          <p:nvPr/>
        </p:nvSpPr>
        <p:spPr>
          <a:xfrm>
            <a:off x="8217533" y="143677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7" name="图片 6">
            <a:extLst>
              <a:ext uri="{FF2B5EF4-FFF2-40B4-BE49-F238E27FC236}">
                <a16:creationId xmlns:a16="http://schemas.microsoft.com/office/drawing/2014/main" id="{0CAAA1DA-B612-6257-5CEF-A6A3EEF1C761}"/>
              </a:ext>
            </a:extLst>
          </p:cNvPr>
          <p:cNvPicPr>
            <a:picLocks noChangeAspect="1"/>
          </p:cNvPicPr>
          <p:nvPr/>
        </p:nvPicPr>
        <p:blipFill>
          <a:blip r:embed="rId2"/>
          <a:stretch>
            <a:fillRect/>
          </a:stretch>
        </p:blipFill>
        <p:spPr>
          <a:xfrm>
            <a:off x="315611" y="1255098"/>
            <a:ext cx="7816156" cy="3194353"/>
          </a:xfrm>
          <a:prstGeom prst="rect">
            <a:avLst/>
          </a:prstGeom>
        </p:spPr>
      </p:pic>
      <p:pic>
        <p:nvPicPr>
          <p:cNvPr id="12" name="图片 11">
            <a:extLst>
              <a:ext uri="{FF2B5EF4-FFF2-40B4-BE49-F238E27FC236}">
                <a16:creationId xmlns:a16="http://schemas.microsoft.com/office/drawing/2014/main" id="{2CA76898-2861-8AD5-5A4F-4371C4B6DDA7}"/>
              </a:ext>
            </a:extLst>
          </p:cNvPr>
          <p:cNvPicPr>
            <a:picLocks noChangeAspect="1"/>
          </p:cNvPicPr>
          <p:nvPr/>
        </p:nvPicPr>
        <p:blipFill>
          <a:blip r:embed="rId3"/>
          <a:stretch>
            <a:fillRect/>
          </a:stretch>
        </p:blipFill>
        <p:spPr>
          <a:xfrm>
            <a:off x="1400174" y="3700996"/>
            <a:ext cx="5795861" cy="2530122"/>
          </a:xfrm>
          <a:prstGeom prst="rect">
            <a:avLst/>
          </a:prstGeom>
        </p:spPr>
      </p:pic>
      <p:pic>
        <p:nvPicPr>
          <p:cNvPr id="14" name="图片 13">
            <a:extLst>
              <a:ext uri="{FF2B5EF4-FFF2-40B4-BE49-F238E27FC236}">
                <a16:creationId xmlns:a16="http://schemas.microsoft.com/office/drawing/2014/main" id="{EBE8AD94-2174-25E3-50A3-BD5222098E04}"/>
              </a:ext>
            </a:extLst>
          </p:cNvPr>
          <p:cNvPicPr>
            <a:picLocks noChangeAspect="1"/>
          </p:cNvPicPr>
          <p:nvPr/>
        </p:nvPicPr>
        <p:blipFill>
          <a:blip r:embed="rId4"/>
          <a:stretch>
            <a:fillRect/>
          </a:stretch>
        </p:blipFill>
        <p:spPr>
          <a:xfrm>
            <a:off x="2969151" y="4784307"/>
            <a:ext cx="5156756" cy="1995015"/>
          </a:xfrm>
          <a:prstGeom prst="rect">
            <a:avLst/>
          </a:prstGeom>
        </p:spPr>
      </p:pic>
      <p:sp>
        <p:nvSpPr>
          <p:cNvPr id="17" name="Oval 111">
            <a:extLst>
              <a:ext uri="{FF2B5EF4-FFF2-40B4-BE49-F238E27FC236}">
                <a16:creationId xmlns:a16="http://schemas.microsoft.com/office/drawing/2014/main" id="{A16B468D-7F9C-1469-1523-BFF62BF99784}"/>
              </a:ext>
            </a:extLst>
          </p:cNvPr>
          <p:cNvSpPr/>
          <p:nvPr/>
        </p:nvSpPr>
        <p:spPr>
          <a:xfrm>
            <a:off x="240195" y="2493751"/>
            <a:ext cx="214928" cy="213114"/>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2526397456"/>
      </p:ext>
    </p:extLst>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0D7A-5594-582A-B5B4-AC7E32AB19EE}"/>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3A8A2F3-1576-5145-A0C1-84F7C5A5A625}"/>
              </a:ext>
            </a:extLst>
          </p:cNvPr>
          <p:cNvSpPr>
            <a:spLocks noGrp="1"/>
          </p:cNvSpPr>
          <p:nvPr>
            <p:ph type="body" idx="10"/>
          </p:nvPr>
        </p:nvSpPr>
        <p:spPr/>
        <p:txBody>
          <a:bodyPr/>
          <a:lstStyle/>
          <a:p>
            <a:r>
              <a:rPr lang="zh-CN" altLang="zh-CN" b="0"/>
              <a:t>The Invoice Document Detail page provides comprehensive information about the invoice document, including invoice details, customer and organizational data, </a:t>
            </a:r>
            <a:r>
              <a:rPr lang="en-US" altLang="zh-CN" b="0"/>
              <a:t>invoice</a:t>
            </a:r>
            <a:r>
              <a:rPr lang="zh-CN" altLang="zh-CN" b="0"/>
              <a:t> items, </a:t>
            </a:r>
            <a:r>
              <a:rPr lang="en-US" altLang="zh-CN" b="0"/>
              <a:t>BIT, </a:t>
            </a:r>
            <a:r>
              <a:rPr lang="zh-CN" altLang="zh-CN" b="0"/>
              <a:t>payment schedule, </a:t>
            </a:r>
            <a:r>
              <a:rPr lang="en-US" altLang="zh-CN" b="0"/>
              <a:t>subscription order and </a:t>
            </a:r>
            <a:r>
              <a:rPr lang="zh-CN" altLang="zh-CN" b="0"/>
              <a:t>linked final invoices, statements, and historical change records.</a:t>
            </a:r>
            <a:endParaRPr lang="zh-CN" altLang="en-US"/>
          </a:p>
        </p:txBody>
      </p:sp>
      <p:sp>
        <p:nvSpPr>
          <p:cNvPr id="3" name="标题 2">
            <a:extLst>
              <a:ext uri="{FF2B5EF4-FFF2-40B4-BE49-F238E27FC236}">
                <a16:creationId xmlns:a16="http://schemas.microsoft.com/office/drawing/2014/main" id="{867A60B0-83F6-371E-A27B-E2653F82A066}"/>
              </a:ext>
            </a:extLst>
          </p:cNvPr>
          <p:cNvSpPr>
            <a:spLocks noGrp="1"/>
          </p:cNvSpPr>
          <p:nvPr>
            <p:ph type="title"/>
          </p:nvPr>
        </p:nvSpPr>
        <p:spPr/>
        <p:txBody>
          <a:bodyPr/>
          <a:lstStyle/>
          <a:p>
            <a:r>
              <a:rPr lang="en-US" altLang="zh-CN"/>
              <a:t>Invoice Document - Detail</a:t>
            </a:r>
            <a:endParaRPr lang="zh-CN" altLang="en-US"/>
          </a:p>
        </p:txBody>
      </p:sp>
      <p:sp>
        <p:nvSpPr>
          <p:cNvPr id="4" name="文本占位符 3">
            <a:extLst>
              <a:ext uri="{FF2B5EF4-FFF2-40B4-BE49-F238E27FC236}">
                <a16:creationId xmlns:a16="http://schemas.microsoft.com/office/drawing/2014/main" id="{E7E7779F-4C7C-8D66-D1BE-63B200DD5C19}"/>
              </a:ext>
            </a:extLst>
          </p:cNvPr>
          <p:cNvSpPr>
            <a:spLocks noGrp="1"/>
          </p:cNvSpPr>
          <p:nvPr>
            <p:ph type="body" idx="12"/>
          </p:nvPr>
        </p:nvSpPr>
        <p:spPr>
          <a:xfrm>
            <a:off x="8198313" y="1192639"/>
            <a:ext cx="3852705" cy="5453002"/>
          </a:xfrm>
        </p:spPr>
        <p:txBody>
          <a:bodyPr/>
          <a:lstStyle/>
          <a:p>
            <a:endParaRPr lang="zh-CN" altLang="en-US"/>
          </a:p>
        </p:txBody>
      </p:sp>
      <p:sp>
        <p:nvSpPr>
          <p:cNvPr id="15" name="TextBox 72">
            <a:extLst>
              <a:ext uri="{FF2B5EF4-FFF2-40B4-BE49-F238E27FC236}">
                <a16:creationId xmlns:a16="http://schemas.microsoft.com/office/drawing/2014/main" id="{E2544F01-431C-8912-63B5-37F1B4243827}"/>
              </a:ext>
            </a:extLst>
          </p:cNvPr>
          <p:cNvSpPr txBox="1"/>
          <p:nvPr/>
        </p:nvSpPr>
        <p:spPr>
          <a:xfrm>
            <a:off x="8463325" y="1377909"/>
            <a:ext cx="2302085"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Header – Tax Related Data</a:t>
            </a:r>
            <a:endParaRPr lang="id-ID" sz="1300" b="1">
              <a:solidFill>
                <a:schemeClr val="accent6">
                  <a:lumMod val="75000"/>
                  <a:lumOff val="25000"/>
                </a:schemeClr>
              </a:solidFill>
              <a:cs typeface="Lato Regular"/>
            </a:endParaRPr>
          </a:p>
        </p:txBody>
      </p:sp>
      <p:sp>
        <p:nvSpPr>
          <p:cNvPr id="16" name="TextBox 73">
            <a:extLst>
              <a:ext uri="{FF2B5EF4-FFF2-40B4-BE49-F238E27FC236}">
                <a16:creationId xmlns:a16="http://schemas.microsoft.com/office/drawing/2014/main" id="{577DC904-4D5D-588A-8D7B-E3E06E279D9B}"/>
              </a:ext>
            </a:extLst>
          </p:cNvPr>
          <p:cNvSpPr txBox="1"/>
          <p:nvPr/>
        </p:nvSpPr>
        <p:spPr>
          <a:xfrm>
            <a:off x="8213604" y="1628883"/>
            <a:ext cx="3852705" cy="1323439"/>
          </a:xfrm>
          <a:prstGeom prst="rect">
            <a:avLst/>
          </a:prstGeom>
          <a:noFill/>
        </p:spPr>
        <p:txBody>
          <a:bodyPr wrap="square" rtlCol="0">
            <a:spAutoFit/>
          </a:bodyPr>
          <a:lstStyle/>
          <a:p>
            <a:r>
              <a:rPr lang="en-US" altLang="zh-CN" sz="1000" b="1">
                <a:latin typeface="Aptos" panose="020B0004020202020204" pitchFamily="34" charset="0"/>
              </a:rPr>
              <a:t>LGTP </a:t>
            </a:r>
            <a:r>
              <a:rPr lang="zh-CN" altLang="zh-CN" sz="1000" b="1">
                <a:latin typeface="Aptos" panose="020B0004020202020204" pitchFamily="34" charset="0"/>
              </a:rPr>
              <a:t>Status </a:t>
            </a:r>
            <a:endParaRPr lang="en-US" altLang="zh-CN" sz="1000" b="1">
              <a:latin typeface="Aptos" panose="020B0004020202020204" pitchFamily="34" charset="0"/>
            </a:endParaRPr>
          </a:p>
          <a:p>
            <a:r>
              <a:rPr lang="zh-CN" altLang="zh-CN" sz="1000">
                <a:latin typeface="Aptos" panose="020B0004020202020204" pitchFamily="34" charset="0"/>
              </a:rPr>
              <a:t>Active dictionary entries available.</a:t>
            </a:r>
          </a:p>
          <a:p>
            <a:r>
              <a:rPr lang="zh-CN" altLang="zh-CN" sz="1000" b="1">
                <a:latin typeface="Aptos" panose="020B0004020202020204" pitchFamily="34" charset="0"/>
              </a:rPr>
              <a:t>Code</a:t>
            </a:r>
            <a:r>
              <a:rPr lang="en-US" altLang="zh-CN" sz="1000" b="1">
                <a:latin typeface="Aptos" panose="020B0004020202020204" pitchFamily="34" charset="0"/>
              </a:rPr>
              <a:t> </a:t>
            </a:r>
            <a:r>
              <a:rPr lang="en-US" altLang="zh-CN" sz="1000">
                <a:latin typeface="Aptos" panose="020B0004020202020204" pitchFamily="34" charset="0"/>
              </a:rPr>
              <a:t>	</a:t>
            </a:r>
            <a:r>
              <a:rPr lang="zh-CN" altLang="zh-CN" sz="1000" b="1">
                <a:latin typeface="Aptos" panose="020B0004020202020204" pitchFamily="34" charset="0"/>
              </a:rPr>
              <a:t>Label</a:t>
            </a:r>
          </a:p>
          <a:p>
            <a:r>
              <a:rPr lang="zh-CN" altLang="zh-CN" sz="1000"/>
              <a:t>PS </a:t>
            </a:r>
            <a:r>
              <a:rPr lang="en-US" altLang="zh-CN" sz="1000"/>
              <a:t>	</a:t>
            </a:r>
            <a:r>
              <a:rPr lang="zh-CN" altLang="zh-CN" sz="1000"/>
              <a:t>Pre-invoice tax call: Success</a:t>
            </a:r>
          </a:p>
          <a:p>
            <a:r>
              <a:rPr lang="zh-CN" altLang="zh-CN" sz="1000"/>
              <a:t>PE </a:t>
            </a:r>
            <a:r>
              <a:rPr lang="en-US" altLang="zh-CN" sz="1000"/>
              <a:t>	</a:t>
            </a:r>
            <a:r>
              <a:rPr lang="zh-CN" altLang="zh-CN" sz="1000"/>
              <a:t>Pre-invoice tax call: Fail</a:t>
            </a:r>
          </a:p>
          <a:p>
            <a:r>
              <a:rPr lang="zh-CN" altLang="zh-CN" sz="1000"/>
              <a:t>FS </a:t>
            </a:r>
            <a:r>
              <a:rPr lang="en-US" altLang="zh-CN" sz="1000"/>
              <a:t>	</a:t>
            </a:r>
            <a:r>
              <a:rPr lang="zh-CN" altLang="zh-CN" sz="1000"/>
              <a:t>Final-invoice tax call: Success</a:t>
            </a:r>
          </a:p>
          <a:p>
            <a:r>
              <a:rPr lang="zh-CN" altLang="zh-CN" sz="1000"/>
              <a:t>FE </a:t>
            </a:r>
            <a:r>
              <a:rPr lang="en-US" altLang="zh-CN" sz="1000"/>
              <a:t>	</a:t>
            </a:r>
            <a:r>
              <a:rPr lang="zh-CN" altLang="zh-CN" sz="1000"/>
              <a:t>Final-invoice tax call: Fail</a:t>
            </a:r>
          </a:p>
          <a:p>
            <a:endParaRPr lang="en-US" altLang="zh-CN" sz="1000"/>
          </a:p>
        </p:txBody>
      </p:sp>
      <p:sp>
        <p:nvSpPr>
          <p:cNvPr id="23" name="Oval 111">
            <a:extLst>
              <a:ext uri="{FF2B5EF4-FFF2-40B4-BE49-F238E27FC236}">
                <a16:creationId xmlns:a16="http://schemas.microsoft.com/office/drawing/2014/main" id="{F1A53C6C-9BB1-19F0-1E1F-0650EA4FCBBE}"/>
              </a:ext>
            </a:extLst>
          </p:cNvPr>
          <p:cNvSpPr/>
          <p:nvPr/>
        </p:nvSpPr>
        <p:spPr>
          <a:xfrm>
            <a:off x="8217533" y="143677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7" name="图片 6">
            <a:extLst>
              <a:ext uri="{FF2B5EF4-FFF2-40B4-BE49-F238E27FC236}">
                <a16:creationId xmlns:a16="http://schemas.microsoft.com/office/drawing/2014/main" id="{4B50EA5E-B3D4-D0F9-8145-CAD5DB663497}"/>
              </a:ext>
            </a:extLst>
          </p:cNvPr>
          <p:cNvPicPr>
            <a:picLocks noChangeAspect="1"/>
          </p:cNvPicPr>
          <p:nvPr/>
        </p:nvPicPr>
        <p:blipFill>
          <a:blip r:embed="rId2"/>
          <a:stretch>
            <a:fillRect/>
          </a:stretch>
        </p:blipFill>
        <p:spPr>
          <a:xfrm>
            <a:off x="315611" y="1264525"/>
            <a:ext cx="7816156" cy="3194353"/>
          </a:xfrm>
          <a:prstGeom prst="rect">
            <a:avLst/>
          </a:prstGeom>
        </p:spPr>
      </p:pic>
      <p:sp>
        <p:nvSpPr>
          <p:cNvPr id="17" name="Oval 111">
            <a:extLst>
              <a:ext uri="{FF2B5EF4-FFF2-40B4-BE49-F238E27FC236}">
                <a16:creationId xmlns:a16="http://schemas.microsoft.com/office/drawing/2014/main" id="{8D0F77F8-8DE9-B619-75D5-CEB81F217463}"/>
              </a:ext>
            </a:extLst>
          </p:cNvPr>
          <p:cNvSpPr/>
          <p:nvPr/>
        </p:nvSpPr>
        <p:spPr>
          <a:xfrm>
            <a:off x="240195" y="2493751"/>
            <a:ext cx="214928" cy="213114"/>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6" name="图片 5">
            <a:extLst>
              <a:ext uri="{FF2B5EF4-FFF2-40B4-BE49-F238E27FC236}">
                <a16:creationId xmlns:a16="http://schemas.microsoft.com/office/drawing/2014/main" id="{52A859FA-1D88-CB90-76E4-2F4125A008B6}"/>
              </a:ext>
            </a:extLst>
          </p:cNvPr>
          <p:cNvPicPr>
            <a:picLocks noChangeAspect="1"/>
          </p:cNvPicPr>
          <p:nvPr/>
        </p:nvPicPr>
        <p:blipFill>
          <a:blip r:embed="rId3"/>
          <a:stretch>
            <a:fillRect/>
          </a:stretch>
        </p:blipFill>
        <p:spPr>
          <a:xfrm>
            <a:off x="338233" y="3683719"/>
            <a:ext cx="7816156" cy="1706977"/>
          </a:xfrm>
          <a:prstGeom prst="rect">
            <a:avLst/>
          </a:prstGeom>
        </p:spPr>
      </p:pic>
    </p:spTree>
    <p:extLst>
      <p:ext uri="{BB962C8B-B14F-4D97-AF65-F5344CB8AC3E}">
        <p14:creationId xmlns:p14="http://schemas.microsoft.com/office/powerpoint/2010/main" val="2917932558"/>
      </p:ext>
    </p:extLst>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B059-C891-BE5E-5D9C-49C69A57A04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414E2EE-0E36-DAE1-1512-782A532DD55C}"/>
              </a:ext>
            </a:extLst>
          </p:cNvPr>
          <p:cNvSpPr>
            <a:spLocks noGrp="1"/>
          </p:cNvSpPr>
          <p:nvPr>
            <p:ph type="body" idx="10"/>
          </p:nvPr>
        </p:nvSpPr>
        <p:spPr/>
        <p:txBody>
          <a:bodyPr/>
          <a:lstStyle/>
          <a:p>
            <a:r>
              <a:rPr lang="zh-CN" altLang="zh-CN" b="0"/>
              <a:t>The Invoice Document Detail page provides comprehensive information about the invoice document, including invoice details, customer and organizational data, </a:t>
            </a:r>
            <a:r>
              <a:rPr lang="en-US" altLang="zh-CN" b="0"/>
              <a:t>invoice</a:t>
            </a:r>
            <a:r>
              <a:rPr lang="zh-CN" altLang="zh-CN" b="0"/>
              <a:t> items, </a:t>
            </a:r>
            <a:r>
              <a:rPr lang="en-US" altLang="zh-CN" b="0"/>
              <a:t>BIT, </a:t>
            </a:r>
            <a:r>
              <a:rPr lang="zh-CN" altLang="zh-CN" b="0"/>
              <a:t>payment schedule, </a:t>
            </a:r>
            <a:r>
              <a:rPr lang="en-US" altLang="zh-CN" b="0"/>
              <a:t>subscription order and </a:t>
            </a:r>
            <a:r>
              <a:rPr lang="zh-CN" altLang="zh-CN" b="0"/>
              <a:t>linked final invoices, statements, and historical change records.</a:t>
            </a:r>
            <a:endParaRPr lang="zh-CN" altLang="en-US"/>
          </a:p>
          <a:p>
            <a:endParaRPr lang="zh-CN" altLang="en-US"/>
          </a:p>
        </p:txBody>
      </p:sp>
      <p:sp>
        <p:nvSpPr>
          <p:cNvPr id="3" name="标题 2">
            <a:extLst>
              <a:ext uri="{FF2B5EF4-FFF2-40B4-BE49-F238E27FC236}">
                <a16:creationId xmlns:a16="http://schemas.microsoft.com/office/drawing/2014/main" id="{78FC3790-E9CB-A1DA-1826-DB1C819DF4C1}"/>
              </a:ext>
            </a:extLst>
          </p:cNvPr>
          <p:cNvSpPr>
            <a:spLocks noGrp="1"/>
          </p:cNvSpPr>
          <p:nvPr>
            <p:ph type="title"/>
          </p:nvPr>
        </p:nvSpPr>
        <p:spPr/>
        <p:txBody>
          <a:bodyPr/>
          <a:lstStyle/>
          <a:p>
            <a:r>
              <a:rPr lang="en-US" altLang="zh-CN"/>
              <a:t>Invoice Document - Detail</a:t>
            </a:r>
            <a:endParaRPr lang="zh-CN" altLang="en-US"/>
          </a:p>
        </p:txBody>
      </p:sp>
      <p:sp>
        <p:nvSpPr>
          <p:cNvPr id="4" name="文本占位符 3">
            <a:extLst>
              <a:ext uri="{FF2B5EF4-FFF2-40B4-BE49-F238E27FC236}">
                <a16:creationId xmlns:a16="http://schemas.microsoft.com/office/drawing/2014/main" id="{99AE0D33-3010-DF4A-5CB9-ECAFA7313DDC}"/>
              </a:ext>
            </a:extLst>
          </p:cNvPr>
          <p:cNvSpPr>
            <a:spLocks noGrp="1"/>
          </p:cNvSpPr>
          <p:nvPr>
            <p:ph type="body" idx="12"/>
          </p:nvPr>
        </p:nvSpPr>
        <p:spPr>
          <a:xfrm>
            <a:off x="8855675" y="1375770"/>
            <a:ext cx="3226581" cy="5251341"/>
          </a:xfrm>
        </p:spPr>
        <p:txBody>
          <a:bodyPr/>
          <a:lstStyle/>
          <a:p>
            <a:endParaRPr lang="zh-CN" altLang="en-US"/>
          </a:p>
        </p:txBody>
      </p:sp>
      <p:sp>
        <p:nvSpPr>
          <p:cNvPr id="17" name="TextBox 82">
            <a:extLst>
              <a:ext uri="{FF2B5EF4-FFF2-40B4-BE49-F238E27FC236}">
                <a16:creationId xmlns:a16="http://schemas.microsoft.com/office/drawing/2014/main" id="{DC90321B-63F6-A511-3C77-749BDC6AECFC}"/>
              </a:ext>
            </a:extLst>
          </p:cNvPr>
          <p:cNvSpPr txBox="1"/>
          <p:nvPr/>
        </p:nvSpPr>
        <p:spPr>
          <a:xfrm>
            <a:off x="9128672" y="1632089"/>
            <a:ext cx="1939214" cy="292388"/>
          </a:xfrm>
          <a:prstGeom prst="rect">
            <a:avLst/>
          </a:prstGeom>
          <a:noFill/>
        </p:spPr>
        <p:txBody>
          <a:bodyPr wrap="square" rtlCol="0">
            <a:spAutoFit/>
          </a:bodyPr>
          <a:lstStyle/>
          <a:p>
            <a:r>
              <a:rPr lang="en-US" sz="1300" b="1">
                <a:solidFill>
                  <a:srgbClr val="126C36"/>
                </a:solidFill>
                <a:cs typeface="Lato Regular"/>
              </a:rPr>
              <a:t>Items</a:t>
            </a:r>
            <a:endParaRPr lang="id-ID" sz="1300" b="1">
              <a:solidFill>
                <a:srgbClr val="126C36"/>
              </a:solidFill>
              <a:cs typeface="Lato Regular"/>
            </a:endParaRPr>
          </a:p>
        </p:txBody>
      </p:sp>
      <p:sp>
        <p:nvSpPr>
          <p:cNvPr id="18" name="TextBox 83">
            <a:extLst>
              <a:ext uri="{FF2B5EF4-FFF2-40B4-BE49-F238E27FC236}">
                <a16:creationId xmlns:a16="http://schemas.microsoft.com/office/drawing/2014/main" id="{8BAC655C-CC7C-2D1C-2BC9-24C55487D2A3}"/>
              </a:ext>
            </a:extLst>
          </p:cNvPr>
          <p:cNvSpPr txBox="1"/>
          <p:nvPr/>
        </p:nvSpPr>
        <p:spPr>
          <a:xfrm>
            <a:off x="9141178" y="1878684"/>
            <a:ext cx="2941078" cy="2092881"/>
          </a:xfrm>
          <a:prstGeom prst="rect">
            <a:avLst/>
          </a:prstGeom>
          <a:noFill/>
        </p:spPr>
        <p:txBody>
          <a:bodyPr wrap="square" rtlCol="0">
            <a:spAutoFit/>
          </a:bodyPr>
          <a:lstStyle/>
          <a:p>
            <a:r>
              <a:rPr lang="en-US" altLang="zh-CN" sz="1000">
                <a:cs typeface="Lato Light"/>
              </a:rPr>
              <a:t>List the </a:t>
            </a:r>
            <a:r>
              <a:rPr lang="zh-CN" altLang="zh-CN" sz="1000">
                <a:cs typeface="Lato Light"/>
              </a:rPr>
              <a:t>Invoicing Document Items</a:t>
            </a:r>
            <a:r>
              <a:rPr lang="en-US" sz="1000">
                <a:cs typeface="Lato Light"/>
              </a:rPr>
              <a:t>. </a:t>
            </a:r>
            <a:r>
              <a:rPr lang="en-US" sz="1000" err="1">
                <a:cs typeface="Lato Light"/>
              </a:rPr>
              <a:t>Eaas</a:t>
            </a:r>
            <a:r>
              <a:rPr lang="en-US" sz="1000">
                <a:cs typeface="Lato Light"/>
              </a:rPr>
              <a:t> items and tax items.</a:t>
            </a:r>
          </a:p>
          <a:p>
            <a:endParaRPr lang="en-US" sz="1000">
              <a:cs typeface="Lato Light"/>
            </a:endParaRPr>
          </a:p>
          <a:p>
            <a:r>
              <a:rPr lang="en-US" altLang="zh-CN" sz="1000"/>
              <a:t>User can </a:t>
            </a:r>
            <a:r>
              <a:rPr lang="zh-CN" altLang="zh-CN" sz="1000"/>
              <a:t>check the bundle structure, quantity, and amount.</a:t>
            </a:r>
            <a:endParaRPr lang="en-US" altLang="zh-CN" sz="1000"/>
          </a:p>
          <a:p>
            <a:endParaRPr lang="zh-CN" altLang="zh-CN" sz="1000"/>
          </a:p>
          <a:p>
            <a:r>
              <a:rPr lang="zh-CN" altLang="zh-CN" sz="1000"/>
              <a:t>Check </a:t>
            </a:r>
            <a:r>
              <a:rPr lang="en-US" altLang="zh-CN" sz="1000"/>
              <a:t>the </a:t>
            </a:r>
            <a:r>
              <a:rPr lang="zh-CN" altLang="zh-CN" sz="1000"/>
              <a:t>fields Main/Sub account key, Tranche ID, and First Bill Indicato</a:t>
            </a:r>
            <a:r>
              <a:rPr lang="en-US" altLang="zh-CN" sz="1000"/>
              <a:t>r, </a:t>
            </a:r>
            <a:r>
              <a:rPr lang="zh-CN" altLang="zh-CN" sz="1000"/>
              <a:t>Profit Center.</a:t>
            </a:r>
            <a:endParaRPr lang="en-US" altLang="zh-CN" sz="1000"/>
          </a:p>
          <a:p>
            <a:endParaRPr lang="zh-CN" altLang="zh-CN" sz="1000"/>
          </a:p>
          <a:p>
            <a:r>
              <a:rPr lang="zh-CN" altLang="zh-CN" sz="1000"/>
              <a:t>Tax</a:t>
            </a:r>
            <a:r>
              <a:rPr lang="en-US" altLang="zh-CN" sz="1000"/>
              <a:t> item</a:t>
            </a:r>
            <a:r>
              <a:rPr lang="zh-CN" altLang="zh-CN" sz="1000"/>
              <a:t> lines can correctly retrieve and display the tax amount and related fields returned by LGTP; multi-level taxes are displayed in the corresponding tax group on tax lines. </a:t>
            </a:r>
            <a:endParaRPr lang="en-US" sz="1000">
              <a:cs typeface="Lato Light"/>
            </a:endParaRPr>
          </a:p>
        </p:txBody>
      </p:sp>
      <p:sp>
        <p:nvSpPr>
          <p:cNvPr id="19" name="TextBox 92">
            <a:extLst>
              <a:ext uri="{FF2B5EF4-FFF2-40B4-BE49-F238E27FC236}">
                <a16:creationId xmlns:a16="http://schemas.microsoft.com/office/drawing/2014/main" id="{32866EE6-6B64-3AF7-9310-43F1633EEB5B}"/>
              </a:ext>
            </a:extLst>
          </p:cNvPr>
          <p:cNvSpPr txBox="1"/>
          <p:nvPr/>
        </p:nvSpPr>
        <p:spPr>
          <a:xfrm>
            <a:off x="9141178" y="4219537"/>
            <a:ext cx="1839512" cy="292388"/>
          </a:xfrm>
          <a:prstGeom prst="rect">
            <a:avLst/>
          </a:prstGeom>
          <a:noFill/>
        </p:spPr>
        <p:txBody>
          <a:bodyPr wrap="square" rtlCol="0">
            <a:spAutoFit/>
          </a:bodyPr>
          <a:lstStyle/>
          <a:p>
            <a:r>
              <a:rPr lang="en-US" sz="1300" b="1">
                <a:solidFill>
                  <a:schemeClr val="accent4">
                    <a:lumMod val="75000"/>
                    <a:lumOff val="25000"/>
                  </a:schemeClr>
                </a:solidFill>
                <a:cs typeface="Lato Regular"/>
              </a:rPr>
              <a:t>Parties Involved</a:t>
            </a:r>
            <a:endParaRPr lang="id-ID" sz="1300" b="1">
              <a:solidFill>
                <a:schemeClr val="accent4">
                  <a:lumMod val="75000"/>
                  <a:lumOff val="25000"/>
                </a:schemeClr>
              </a:solidFill>
              <a:cs typeface="Lato Regular"/>
            </a:endParaRPr>
          </a:p>
        </p:txBody>
      </p:sp>
      <p:sp>
        <p:nvSpPr>
          <p:cNvPr id="20" name="TextBox 93">
            <a:extLst>
              <a:ext uri="{FF2B5EF4-FFF2-40B4-BE49-F238E27FC236}">
                <a16:creationId xmlns:a16="http://schemas.microsoft.com/office/drawing/2014/main" id="{8083C34E-5320-6DE1-9588-08A0FF33BDCA}"/>
              </a:ext>
            </a:extLst>
          </p:cNvPr>
          <p:cNvSpPr txBox="1"/>
          <p:nvPr/>
        </p:nvSpPr>
        <p:spPr>
          <a:xfrm>
            <a:off x="9141178" y="4489729"/>
            <a:ext cx="2941078" cy="400110"/>
          </a:xfrm>
          <a:prstGeom prst="rect">
            <a:avLst/>
          </a:prstGeom>
          <a:noFill/>
        </p:spPr>
        <p:txBody>
          <a:bodyPr wrap="square" rtlCol="0">
            <a:spAutoFit/>
          </a:bodyPr>
          <a:lstStyle/>
          <a:p>
            <a:r>
              <a:rPr lang="en-US" altLang="zh-CN" sz="1000"/>
              <a:t>Detail </a:t>
            </a:r>
            <a:r>
              <a:rPr lang="zh-CN" altLang="zh-CN" sz="1000"/>
              <a:t>Sold-to, Ship-to, Payer, Bill-to partners </a:t>
            </a:r>
            <a:r>
              <a:rPr lang="en-US" altLang="zh-CN" sz="1000"/>
              <a:t>Name, </a:t>
            </a:r>
            <a:r>
              <a:rPr lang="zh-CN" altLang="zh-CN" sz="1000"/>
              <a:t>addresse</a:t>
            </a:r>
            <a:r>
              <a:rPr lang="en-US" altLang="zh-CN" sz="1000"/>
              <a:t> information</a:t>
            </a:r>
            <a:r>
              <a:rPr lang="pt-BR" sz="1000">
                <a:cs typeface="Lato Light"/>
              </a:rPr>
              <a:t>.</a:t>
            </a:r>
            <a:endParaRPr lang="en-US" sz="1000" b="1">
              <a:cs typeface="Lato Light"/>
            </a:endParaRPr>
          </a:p>
        </p:txBody>
      </p:sp>
      <p:sp>
        <p:nvSpPr>
          <p:cNvPr id="21" name="TextBox 97">
            <a:extLst>
              <a:ext uri="{FF2B5EF4-FFF2-40B4-BE49-F238E27FC236}">
                <a16:creationId xmlns:a16="http://schemas.microsoft.com/office/drawing/2014/main" id="{B67DF2E2-D4A5-C192-B822-05616B8C938A}"/>
              </a:ext>
            </a:extLst>
          </p:cNvPr>
          <p:cNvSpPr txBox="1"/>
          <p:nvPr/>
        </p:nvSpPr>
        <p:spPr>
          <a:xfrm>
            <a:off x="9148125" y="5103698"/>
            <a:ext cx="1897289" cy="292388"/>
          </a:xfrm>
          <a:prstGeom prst="rect">
            <a:avLst/>
          </a:prstGeom>
          <a:noFill/>
        </p:spPr>
        <p:txBody>
          <a:bodyPr wrap="square" rtlCol="0">
            <a:spAutoFit/>
          </a:bodyPr>
          <a:lstStyle/>
          <a:p>
            <a:r>
              <a:rPr lang="en-US" sz="1300" b="1">
                <a:solidFill>
                  <a:schemeClr val="tx2"/>
                </a:solidFill>
                <a:cs typeface="Lato Regular"/>
              </a:rPr>
              <a:t>References</a:t>
            </a:r>
            <a:endParaRPr lang="id-ID" sz="1300" b="1">
              <a:solidFill>
                <a:schemeClr val="tx2"/>
              </a:solidFill>
              <a:cs typeface="Lato Regular"/>
            </a:endParaRPr>
          </a:p>
        </p:txBody>
      </p:sp>
      <p:sp>
        <p:nvSpPr>
          <p:cNvPr id="22" name="TextBox 98">
            <a:extLst>
              <a:ext uri="{FF2B5EF4-FFF2-40B4-BE49-F238E27FC236}">
                <a16:creationId xmlns:a16="http://schemas.microsoft.com/office/drawing/2014/main" id="{2F3449FA-5F0F-8B0D-E95F-2509AAE0F712}"/>
              </a:ext>
            </a:extLst>
          </p:cNvPr>
          <p:cNvSpPr txBox="1"/>
          <p:nvPr/>
        </p:nvSpPr>
        <p:spPr>
          <a:xfrm>
            <a:off x="9155290" y="5353649"/>
            <a:ext cx="2926966" cy="1015663"/>
          </a:xfrm>
          <a:prstGeom prst="rect">
            <a:avLst/>
          </a:prstGeom>
          <a:noFill/>
        </p:spPr>
        <p:txBody>
          <a:bodyPr wrap="square" rtlCol="0">
            <a:spAutoFit/>
          </a:bodyPr>
          <a:lstStyle/>
          <a:p>
            <a:r>
              <a:rPr lang="zh-CN" altLang="zh-CN" sz="1000"/>
              <a:t>Upon generation of the FA document, its document type and document number is displayed.</a:t>
            </a:r>
            <a:endParaRPr lang="en-US" altLang="zh-CN" sz="1000"/>
          </a:p>
          <a:p>
            <a:r>
              <a:rPr lang="en-US" altLang="zh-CN" sz="1000"/>
              <a:t>The Document Number is displayed as a clickable hyperlink. click it to open the corresponding FA Document detail page.</a:t>
            </a:r>
            <a:r>
              <a:rPr lang="zh-CN" altLang="zh-CN" sz="1000"/>
              <a:t>​</a:t>
            </a:r>
            <a:endParaRPr lang="en-US" altLang="zh-CN" sz="1000"/>
          </a:p>
        </p:txBody>
      </p:sp>
      <p:sp>
        <p:nvSpPr>
          <p:cNvPr id="24" name="Oval 112">
            <a:extLst>
              <a:ext uri="{FF2B5EF4-FFF2-40B4-BE49-F238E27FC236}">
                <a16:creationId xmlns:a16="http://schemas.microsoft.com/office/drawing/2014/main" id="{C49A1E42-5A41-5980-1BAC-1D00882F01E6}"/>
              </a:ext>
            </a:extLst>
          </p:cNvPr>
          <p:cNvSpPr/>
          <p:nvPr/>
        </p:nvSpPr>
        <p:spPr>
          <a:xfrm>
            <a:off x="8900072" y="165008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5" name="Oval 113">
            <a:extLst>
              <a:ext uri="{FF2B5EF4-FFF2-40B4-BE49-F238E27FC236}">
                <a16:creationId xmlns:a16="http://schemas.microsoft.com/office/drawing/2014/main" id="{177F9012-930A-8BA0-62F7-64D31C24931E}"/>
              </a:ext>
            </a:extLst>
          </p:cNvPr>
          <p:cNvSpPr/>
          <p:nvPr/>
        </p:nvSpPr>
        <p:spPr>
          <a:xfrm>
            <a:off x="8900072" y="4250404"/>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26" name="Oval 114">
            <a:extLst>
              <a:ext uri="{FF2B5EF4-FFF2-40B4-BE49-F238E27FC236}">
                <a16:creationId xmlns:a16="http://schemas.microsoft.com/office/drawing/2014/main" id="{C29C1DE8-4E73-8F71-7F85-9E9A001CDD8C}"/>
              </a:ext>
            </a:extLst>
          </p:cNvPr>
          <p:cNvSpPr/>
          <p:nvPr/>
        </p:nvSpPr>
        <p:spPr>
          <a:xfrm>
            <a:off x="8897542" y="511222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13" name="图片 12">
            <a:extLst>
              <a:ext uri="{FF2B5EF4-FFF2-40B4-BE49-F238E27FC236}">
                <a16:creationId xmlns:a16="http://schemas.microsoft.com/office/drawing/2014/main" id="{90B9E551-6E82-9549-8684-77F0471041AB}"/>
              </a:ext>
            </a:extLst>
          </p:cNvPr>
          <p:cNvPicPr>
            <a:picLocks noChangeAspect="1"/>
          </p:cNvPicPr>
          <p:nvPr/>
        </p:nvPicPr>
        <p:blipFill>
          <a:blip r:embed="rId2"/>
          <a:stretch>
            <a:fillRect/>
          </a:stretch>
        </p:blipFill>
        <p:spPr>
          <a:xfrm>
            <a:off x="250517" y="1455662"/>
            <a:ext cx="8590437" cy="2794741"/>
          </a:xfrm>
          <a:prstGeom prst="rect">
            <a:avLst/>
          </a:prstGeom>
        </p:spPr>
      </p:pic>
      <p:sp>
        <p:nvSpPr>
          <p:cNvPr id="30" name="Oval 112">
            <a:extLst>
              <a:ext uri="{FF2B5EF4-FFF2-40B4-BE49-F238E27FC236}">
                <a16:creationId xmlns:a16="http://schemas.microsoft.com/office/drawing/2014/main" id="{DBCFE932-A24A-612A-B26D-B653EC70A705}"/>
              </a:ext>
            </a:extLst>
          </p:cNvPr>
          <p:cNvSpPr/>
          <p:nvPr/>
        </p:nvSpPr>
        <p:spPr>
          <a:xfrm>
            <a:off x="605463" y="135402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6" name="图片 5">
            <a:extLst>
              <a:ext uri="{FF2B5EF4-FFF2-40B4-BE49-F238E27FC236}">
                <a16:creationId xmlns:a16="http://schemas.microsoft.com/office/drawing/2014/main" id="{D4FB49E4-58DC-22CE-D0D8-722B33D6A2CD}"/>
              </a:ext>
            </a:extLst>
          </p:cNvPr>
          <p:cNvPicPr>
            <a:picLocks noChangeAspect="1"/>
          </p:cNvPicPr>
          <p:nvPr/>
        </p:nvPicPr>
        <p:blipFill>
          <a:blip r:embed="rId3"/>
          <a:stretch>
            <a:fillRect/>
          </a:stretch>
        </p:blipFill>
        <p:spPr>
          <a:xfrm>
            <a:off x="444910" y="3971827"/>
            <a:ext cx="8303164" cy="1443323"/>
          </a:xfrm>
          <a:prstGeom prst="rect">
            <a:avLst/>
          </a:prstGeom>
        </p:spPr>
      </p:pic>
      <p:sp>
        <p:nvSpPr>
          <p:cNvPr id="7" name="Oval 113">
            <a:extLst>
              <a:ext uri="{FF2B5EF4-FFF2-40B4-BE49-F238E27FC236}">
                <a16:creationId xmlns:a16="http://schemas.microsoft.com/office/drawing/2014/main" id="{9E484DE6-E3ED-C76B-850F-EDECEFF7164C}"/>
              </a:ext>
            </a:extLst>
          </p:cNvPr>
          <p:cNvSpPr/>
          <p:nvPr/>
        </p:nvSpPr>
        <p:spPr>
          <a:xfrm>
            <a:off x="1136607" y="3800475"/>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9" name="图片 8">
            <a:extLst>
              <a:ext uri="{FF2B5EF4-FFF2-40B4-BE49-F238E27FC236}">
                <a16:creationId xmlns:a16="http://schemas.microsoft.com/office/drawing/2014/main" id="{42274119-4D96-7388-008F-A42722D40261}"/>
              </a:ext>
            </a:extLst>
          </p:cNvPr>
          <p:cNvPicPr>
            <a:picLocks noChangeAspect="1"/>
          </p:cNvPicPr>
          <p:nvPr/>
        </p:nvPicPr>
        <p:blipFill>
          <a:blip r:embed="rId4"/>
          <a:stretch>
            <a:fillRect/>
          </a:stretch>
        </p:blipFill>
        <p:spPr>
          <a:xfrm>
            <a:off x="320181" y="5298810"/>
            <a:ext cx="8513512" cy="1163956"/>
          </a:xfrm>
          <a:prstGeom prst="rect">
            <a:avLst/>
          </a:prstGeom>
        </p:spPr>
      </p:pic>
      <p:sp>
        <p:nvSpPr>
          <p:cNvPr id="11" name="Oval 114">
            <a:extLst>
              <a:ext uri="{FF2B5EF4-FFF2-40B4-BE49-F238E27FC236}">
                <a16:creationId xmlns:a16="http://schemas.microsoft.com/office/drawing/2014/main" id="{05118F7E-1512-3E15-5E64-B953D8A2B1DF}"/>
              </a:ext>
            </a:extLst>
          </p:cNvPr>
          <p:cNvSpPr/>
          <p:nvPr/>
        </p:nvSpPr>
        <p:spPr>
          <a:xfrm>
            <a:off x="1982294" y="5225057"/>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Tree>
    <p:extLst>
      <p:ext uri="{BB962C8B-B14F-4D97-AF65-F5344CB8AC3E}">
        <p14:creationId xmlns:p14="http://schemas.microsoft.com/office/powerpoint/2010/main" val="1669163220"/>
      </p:ext>
    </p:ext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C3DF-1346-E4C8-6F1D-FBE69639AD1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857BAC8-6E5B-B03E-BE77-98BE7473B360}"/>
              </a:ext>
            </a:extLst>
          </p:cNvPr>
          <p:cNvSpPr>
            <a:spLocks noGrp="1"/>
          </p:cNvSpPr>
          <p:nvPr>
            <p:ph type="body" idx="10"/>
          </p:nvPr>
        </p:nvSpPr>
        <p:spPr/>
        <p:txBody>
          <a:bodyPr/>
          <a:lstStyle/>
          <a:p>
            <a:r>
              <a:rPr lang="zh-CN" altLang="zh-CN" b="0"/>
              <a:t>The Invoice Document Detail page provides comprehensive information about the invoice document, including invoice details, customer and organizational data, </a:t>
            </a:r>
            <a:r>
              <a:rPr lang="en-US" altLang="zh-CN" b="0"/>
              <a:t>invoice</a:t>
            </a:r>
            <a:r>
              <a:rPr lang="zh-CN" altLang="zh-CN" b="0"/>
              <a:t> items, </a:t>
            </a:r>
            <a:r>
              <a:rPr lang="en-US" altLang="zh-CN" b="0"/>
              <a:t>BIT, </a:t>
            </a:r>
            <a:r>
              <a:rPr lang="zh-CN" altLang="zh-CN" b="0"/>
              <a:t>payment schedule, </a:t>
            </a:r>
            <a:r>
              <a:rPr lang="en-US" altLang="zh-CN" b="0"/>
              <a:t>subscription order and </a:t>
            </a:r>
            <a:r>
              <a:rPr lang="zh-CN" altLang="zh-CN" b="0"/>
              <a:t>linked final invoices, statements, and historical change records.</a:t>
            </a:r>
            <a:endParaRPr lang="zh-CN" altLang="en-US"/>
          </a:p>
          <a:p>
            <a:endParaRPr lang="zh-CN" altLang="en-US"/>
          </a:p>
        </p:txBody>
      </p:sp>
      <p:sp>
        <p:nvSpPr>
          <p:cNvPr id="3" name="标题 2">
            <a:extLst>
              <a:ext uri="{FF2B5EF4-FFF2-40B4-BE49-F238E27FC236}">
                <a16:creationId xmlns:a16="http://schemas.microsoft.com/office/drawing/2014/main" id="{47F1C22F-927B-A537-9AFC-1B900303319C}"/>
              </a:ext>
            </a:extLst>
          </p:cNvPr>
          <p:cNvSpPr>
            <a:spLocks noGrp="1"/>
          </p:cNvSpPr>
          <p:nvPr>
            <p:ph type="title"/>
          </p:nvPr>
        </p:nvSpPr>
        <p:spPr/>
        <p:txBody>
          <a:bodyPr/>
          <a:lstStyle/>
          <a:p>
            <a:r>
              <a:rPr lang="en-US" altLang="zh-CN"/>
              <a:t>Invoice Document - Detail</a:t>
            </a:r>
            <a:endParaRPr lang="zh-CN" altLang="en-US"/>
          </a:p>
        </p:txBody>
      </p:sp>
      <p:sp>
        <p:nvSpPr>
          <p:cNvPr id="4" name="文本占位符 3">
            <a:extLst>
              <a:ext uri="{FF2B5EF4-FFF2-40B4-BE49-F238E27FC236}">
                <a16:creationId xmlns:a16="http://schemas.microsoft.com/office/drawing/2014/main" id="{42423A8A-7EE6-E181-55DF-6802BF286388}"/>
              </a:ext>
            </a:extLst>
          </p:cNvPr>
          <p:cNvSpPr>
            <a:spLocks noGrp="1"/>
          </p:cNvSpPr>
          <p:nvPr>
            <p:ph type="body" idx="12"/>
          </p:nvPr>
        </p:nvSpPr>
        <p:spPr>
          <a:xfrm>
            <a:off x="8846248" y="1413479"/>
            <a:ext cx="3226581" cy="5030882"/>
          </a:xfrm>
        </p:spPr>
        <p:txBody>
          <a:bodyPr/>
          <a:lstStyle/>
          <a:p>
            <a:endParaRPr lang="zh-CN" altLang="en-US"/>
          </a:p>
        </p:txBody>
      </p:sp>
      <p:pic>
        <p:nvPicPr>
          <p:cNvPr id="6" name="图片 5">
            <a:extLst>
              <a:ext uri="{FF2B5EF4-FFF2-40B4-BE49-F238E27FC236}">
                <a16:creationId xmlns:a16="http://schemas.microsoft.com/office/drawing/2014/main" id="{F00D657A-7BC1-CF15-3143-24660395AC28}"/>
              </a:ext>
            </a:extLst>
          </p:cNvPr>
          <p:cNvPicPr>
            <a:picLocks noChangeAspect="1"/>
          </p:cNvPicPr>
          <p:nvPr/>
        </p:nvPicPr>
        <p:blipFill>
          <a:blip r:embed="rId2"/>
          <a:stretch>
            <a:fillRect/>
          </a:stretch>
        </p:blipFill>
        <p:spPr>
          <a:xfrm>
            <a:off x="324038" y="1554884"/>
            <a:ext cx="8502133" cy="2357240"/>
          </a:xfrm>
          <a:prstGeom prst="rect">
            <a:avLst/>
          </a:prstGeom>
        </p:spPr>
      </p:pic>
      <p:pic>
        <p:nvPicPr>
          <p:cNvPr id="10" name="图片 9">
            <a:extLst>
              <a:ext uri="{FF2B5EF4-FFF2-40B4-BE49-F238E27FC236}">
                <a16:creationId xmlns:a16="http://schemas.microsoft.com/office/drawing/2014/main" id="{4CB8A5C8-81AA-7F2A-7B80-C25BE46AA1B2}"/>
              </a:ext>
            </a:extLst>
          </p:cNvPr>
          <p:cNvPicPr>
            <a:picLocks noChangeAspect="1"/>
          </p:cNvPicPr>
          <p:nvPr/>
        </p:nvPicPr>
        <p:blipFill>
          <a:blip r:embed="rId3"/>
          <a:stretch>
            <a:fillRect/>
          </a:stretch>
        </p:blipFill>
        <p:spPr>
          <a:xfrm>
            <a:off x="340038" y="4904176"/>
            <a:ext cx="8482278" cy="1569193"/>
          </a:xfrm>
          <a:prstGeom prst="rect">
            <a:avLst/>
          </a:prstGeom>
        </p:spPr>
      </p:pic>
      <p:sp>
        <p:nvSpPr>
          <p:cNvPr id="12" name="TextBox 93">
            <a:extLst>
              <a:ext uri="{FF2B5EF4-FFF2-40B4-BE49-F238E27FC236}">
                <a16:creationId xmlns:a16="http://schemas.microsoft.com/office/drawing/2014/main" id="{954F5703-C6E5-7F8D-0E46-36669482CE26}"/>
              </a:ext>
            </a:extLst>
          </p:cNvPr>
          <p:cNvSpPr txBox="1"/>
          <p:nvPr/>
        </p:nvSpPr>
        <p:spPr>
          <a:xfrm>
            <a:off x="9148336" y="1927322"/>
            <a:ext cx="2922280"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cs typeface="Lato Light"/>
              </a:rPr>
              <a:t>The Billable Items tab displays all billable items that are linked to or grouped under invoice items. </a:t>
            </a:r>
            <a:endParaRPr lang="en-US" altLang="zh-CN" sz="1000">
              <a:cs typeface="Lato Light"/>
            </a:endParaRPr>
          </a:p>
          <a:p>
            <a:endParaRPr lang="en-US" altLang="zh-CN" sz="1000">
              <a:cs typeface="Lato Light"/>
            </a:endParaRPr>
          </a:p>
          <a:p>
            <a:r>
              <a:rPr lang="zh-CN" altLang="zh-CN" sz="1000">
                <a:cs typeface="Lato Light"/>
              </a:rPr>
              <a:t>The displayed information includes the billable item type, quantity and amount, subscription order ID and item, payment schedule ID and item, and EPR ID and item.</a:t>
            </a:r>
            <a:endParaRPr lang="en-US" sz="1000">
              <a:cs typeface="Lato Light"/>
            </a:endParaRPr>
          </a:p>
        </p:txBody>
      </p:sp>
      <p:sp>
        <p:nvSpPr>
          <p:cNvPr id="14" name="TextBox 92">
            <a:extLst>
              <a:ext uri="{FF2B5EF4-FFF2-40B4-BE49-F238E27FC236}">
                <a16:creationId xmlns:a16="http://schemas.microsoft.com/office/drawing/2014/main" id="{E8213640-25A4-2FCC-76F2-1C95C8030489}"/>
              </a:ext>
            </a:extLst>
          </p:cNvPr>
          <p:cNvSpPr txBox="1"/>
          <p:nvPr/>
        </p:nvSpPr>
        <p:spPr>
          <a:xfrm>
            <a:off x="9150549" y="1640006"/>
            <a:ext cx="1839512" cy="2923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b="1">
                <a:solidFill>
                  <a:srgbClr val="57D3FF"/>
                </a:solidFill>
                <a:cs typeface="Lato Regular"/>
              </a:rPr>
              <a:t>Billable Items</a:t>
            </a:r>
          </a:p>
        </p:txBody>
      </p:sp>
      <p:sp>
        <p:nvSpPr>
          <p:cNvPr id="28" name="Oval 113">
            <a:extLst>
              <a:ext uri="{FF2B5EF4-FFF2-40B4-BE49-F238E27FC236}">
                <a16:creationId xmlns:a16="http://schemas.microsoft.com/office/drawing/2014/main" id="{AA2C5B9C-9634-20AD-B3C3-05240E5B465C}"/>
              </a:ext>
            </a:extLst>
          </p:cNvPr>
          <p:cNvSpPr/>
          <p:nvPr/>
        </p:nvSpPr>
        <p:spPr>
          <a:xfrm>
            <a:off x="8909443" y="1670873"/>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5</a:t>
            </a:r>
          </a:p>
        </p:txBody>
      </p:sp>
      <p:sp>
        <p:nvSpPr>
          <p:cNvPr id="30" name="TextBox 92">
            <a:extLst>
              <a:ext uri="{FF2B5EF4-FFF2-40B4-BE49-F238E27FC236}">
                <a16:creationId xmlns:a16="http://schemas.microsoft.com/office/drawing/2014/main" id="{21119388-EFD0-85C4-42EC-7D8B726E52F0}"/>
              </a:ext>
            </a:extLst>
          </p:cNvPr>
          <p:cNvSpPr txBox="1"/>
          <p:nvPr/>
        </p:nvSpPr>
        <p:spPr>
          <a:xfrm>
            <a:off x="9150549" y="3359518"/>
            <a:ext cx="1839512" cy="2923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b="1">
                <a:solidFill>
                  <a:srgbClr val="7030A0"/>
                </a:solidFill>
                <a:cs typeface="Lato Regular"/>
              </a:rPr>
              <a:t>Validation Log</a:t>
            </a:r>
          </a:p>
        </p:txBody>
      </p:sp>
      <p:sp>
        <p:nvSpPr>
          <p:cNvPr id="31" name="TextBox 93">
            <a:extLst>
              <a:ext uri="{FF2B5EF4-FFF2-40B4-BE49-F238E27FC236}">
                <a16:creationId xmlns:a16="http://schemas.microsoft.com/office/drawing/2014/main" id="{85FDC10C-69E9-F370-69D9-1964E9A0C867}"/>
              </a:ext>
            </a:extLst>
          </p:cNvPr>
          <p:cNvSpPr txBox="1"/>
          <p:nvPr/>
        </p:nvSpPr>
        <p:spPr>
          <a:xfrm>
            <a:off x="9150549" y="3629710"/>
            <a:ext cx="2922280"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cs typeface="Lato Light"/>
              </a:rPr>
              <a:t>The Validation Log tab provides the error code and corresponding error message, enabling users to diagnose and correct errors effectively. </a:t>
            </a:r>
            <a:endParaRPr lang="en-US" altLang="zh-CN" sz="1000">
              <a:cs typeface="Lato Light"/>
            </a:endParaRPr>
          </a:p>
          <a:p>
            <a:endParaRPr lang="en-US" altLang="zh-CN" sz="1000">
              <a:cs typeface="Lato Light"/>
            </a:endParaRPr>
          </a:p>
          <a:p>
            <a:r>
              <a:rPr lang="zh-CN" altLang="zh-CN" sz="1000">
                <a:cs typeface="Lato Light"/>
              </a:rPr>
              <a:t>After correction, the resolution status can be tracked through the Resolved and Resolved By fields.</a:t>
            </a:r>
            <a:endParaRPr lang="en-US" altLang="zh-CN" sz="1000">
              <a:cs typeface="Lato Light"/>
            </a:endParaRPr>
          </a:p>
        </p:txBody>
      </p:sp>
      <p:sp>
        <p:nvSpPr>
          <p:cNvPr id="32" name="Oval 113">
            <a:extLst>
              <a:ext uri="{FF2B5EF4-FFF2-40B4-BE49-F238E27FC236}">
                <a16:creationId xmlns:a16="http://schemas.microsoft.com/office/drawing/2014/main" id="{754EA889-80BF-9774-FFCA-C9634322A438}"/>
              </a:ext>
            </a:extLst>
          </p:cNvPr>
          <p:cNvSpPr/>
          <p:nvPr/>
        </p:nvSpPr>
        <p:spPr>
          <a:xfrm>
            <a:off x="8909443" y="3390385"/>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6</a:t>
            </a:r>
          </a:p>
        </p:txBody>
      </p:sp>
      <p:sp>
        <p:nvSpPr>
          <p:cNvPr id="33" name="TextBox 92">
            <a:extLst>
              <a:ext uri="{FF2B5EF4-FFF2-40B4-BE49-F238E27FC236}">
                <a16:creationId xmlns:a16="http://schemas.microsoft.com/office/drawing/2014/main" id="{B7BD63FA-0CB5-83AA-DB52-A61AF753B9D6}"/>
              </a:ext>
            </a:extLst>
          </p:cNvPr>
          <p:cNvSpPr txBox="1"/>
          <p:nvPr/>
        </p:nvSpPr>
        <p:spPr>
          <a:xfrm>
            <a:off x="9178773" y="5008003"/>
            <a:ext cx="2631007" cy="2923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b="1">
                <a:solidFill>
                  <a:srgbClr val="0070C0"/>
                </a:solidFill>
                <a:cs typeface="Lato Regular"/>
              </a:rPr>
              <a:t>Change History</a:t>
            </a:r>
          </a:p>
        </p:txBody>
      </p:sp>
      <p:sp>
        <p:nvSpPr>
          <p:cNvPr id="34" name="Oval 113">
            <a:extLst>
              <a:ext uri="{FF2B5EF4-FFF2-40B4-BE49-F238E27FC236}">
                <a16:creationId xmlns:a16="http://schemas.microsoft.com/office/drawing/2014/main" id="{EF75C3D5-4569-8C3A-DB47-B66E2738894E}"/>
              </a:ext>
            </a:extLst>
          </p:cNvPr>
          <p:cNvSpPr/>
          <p:nvPr/>
        </p:nvSpPr>
        <p:spPr>
          <a:xfrm>
            <a:off x="8937668" y="5038870"/>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bg1"/>
                </a:solidFill>
              </a:rPr>
              <a:t>7</a:t>
            </a:r>
          </a:p>
        </p:txBody>
      </p:sp>
      <p:sp>
        <p:nvSpPr>
          <p:cNvPr id="35" name="TextBox 93">
            <a:extLst>
              <a:ext uri="{FF2B5EF4-FFF2-40B4-BE49-F238E27FC236}">
                <a16:creationId xmlns:a16="http://schemas.microsoft.com/office/drawing/2014/main" id="{0E08406D-6285-B6F5-363E-7A37D1BAED08}"/>
              </a:ext>
            </a:extLst>
          </p:cNvPr>
          <p:cNvSpPr txBox="1"/>
          <p:nvPr/>
        </p:nvSpPr>
        <p:spPr>
          <a:xfrm>
            <a:off x="9201886" y="5270218"/>
            <a:ext cx="2870943" cy="101566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cs typeface="Lato Light"/>
              </a:rPr>
              <a:t>This tab displays the creation and change history of the invoice, including who made the changes and when they were made. </a:t>
            </a:r>
            <a:endParaRPr lang="en-US" altLang="zh-CN" sz="1000">
              <a:cs typeface="Lato Light"/>
            </a:endParaRPr>
          </a:p>
          <a:p>
            <a:endParaRPr lang="en-US" altLang="zh-CN" sz="1000">
              <a:cs typeface="Lato Light"/>
            </a:endParaRPr>
          </a:p>
          <a:p>
            <a:r>
              <a:rPr lang="zh-CN" altLang="zh-CN" sz="1000">
                <a:cs typeface="Lato Light"/>
              </a:rPr>
              <a:t>It also lists the changed fields, showing the old value and the new value for each.</a:t>
            </a:r>
            <a:endParaRPr lang="en-US" altLang="zh-CN" sz="1000">
              <a:cs typeface="Lato Light"/>
            </a:endParaRPr>
          </a:p>
        </p:txBody>
      </p:sp>
      <p:sp>
        <p:nvSpPr>
          <p:cNvPr id="37" name="Oval 113">
            <a:extLst>
              <a:ext uri="{FF2B5EF4-FFF2-40B4-BE49-F238E27FC236}">
                <a16:creationId xmlns:a16="http://schemas.microsoft.com/office/drawing/2014/main" id="{408897D1-2982-1AF3-E1B9-42159753ACF2}"/>
              </a:ext>
            </a:extLst>
          </p:cNvPr>
          <p:cNvSpPr/>
          <p:nvPr/>
        </p:nvSpPr>
        <p:spPr>
          <a:xfrm>
            <a:off x="2624119" y="1431278"/>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5</a:t>
            </a:r>
          </a:p>
        </p:txBody>
      </p:sp>
      <p:pic>
        <p:nvPicPr>
          <p:cNvPr id="7" name="图片 6">
            <a:extLst>
              <a:ext uri="{FF2B5EF4-FFF2-40B4-BE49-F238E27FC236}">
                <a16:creationId xmlns:a16="http://schemas.microsoft.com/office/drawing/2014/main" id="{808217AA-2D13-1265-FD74-AB64DEBE4F2D}"/>
              </a:ext>
            </a:extLst>
          </p:cNvPr>
          <p:cNvPicPr>
            <a:picLocks noChangeAspect="1"/>
          </p:cNvPicPr>
          <p:nvPr/>
        </p:nvPicPr>
        <p:blipFill>
          <a:blip r:embed="rId4"/>
          <a:stretch>
            <a:fillRect/>
          </a:stretch>
        </p:blipFill>
        <p:spPr>
          <a:xfrm>
            <a:off x="320183" y="3115172"/>
            <a:ext cx="8502133" cy="1727448"/>
          </a:xfrm>
          <a:prstGeom prst="rect">
            <a:avLst/>
          </a:prstGeom>
        </p:spPr>
      </p:pic>
      <p:sp>
        <p:nvSpPr>
          <p:cNvPr id="11" name="Oval 113">
            <a:extLst>
              <a:ext uri="{FF2B5EF4-FFF2-40B4-BE49-F238E27FC236}">
                <a16:creationId xmlns:a16="http://schemas.microsoft.com/office/drawing/2014/main" id="{5C3E5975-617A-3E65-1A91-671DEB7B4009}"/>
              </a:ext>
            </a:extLst>
          </p:cNvPr>
          <p:cNvSpPr/>
          <p:nvPr/>
        </p:nvSpPr>
        <p:spPr>
          <a:xfrm>
            <a:off x="3005021" y="3017930"/>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6</a:t>
            </a:r>
          </a:p>
        </p:txBody>
      </p:sp>
      <p:sp>
        <p:nvSpPr>
          <p:cNvPr id="17" name="Oval 113">
            <a:extLst>
              <a:ext uri="{FF2B5EF4-FFF2-40B4-BE49-F238E27FC236}">
                <a16:creationId xmlns:a16="http://schemas.microsoft.com/office/drawing/2014/main" id="{F87DD100-FCBA-F4E0-70D4-6B8B3956DDE0}"/>
              </a:ext>
            </a:extLst>
          </p:cNvPr>
          <p:cNvSpPr/>
          <p:nvPr/>
        </p:nvSpPr>
        <p:spPr>
          <a:xfrm>
            <a:off x="4175658" y="4801235"/>
            <a:ext cx="228600" cy="228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bg1"/>
                </a:solidFill>
              </a:rPr>
              <a:t>7</a:t>
            </a:r>
          </a:p>
        </p:txBody>
      </p:sp>
    </p:spTree>
    <p:extLst>
      <p:ext uri="{BB962C8B-B14F-4D97-AF65-F5344CB8AC3E}">
        <p14:creationId xmlns:p14="http://schemas.microsoft.com/office/powerpoint/2010/main" val="212122111"/>
      </p:ext>
    </p:extLst>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1EB4-7A68-6AC7-4926-32A883F11B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7A3DD1-35E9-4858-BFD3-DA99A62C5557}"/>
              </a:ext>
            </a:extLst>
          </p:cNvPr>
          <p:cNvSpPr>
            <a:spLocks noGrp="1"/>
          </p:cNvSpPr>
          <p:nvPr>
            <p:ph type="title"/>
          </p:nvPr>
        </p:nvSpPr>
        <p:spPr/>
        <p:txBody>
          <a:bodyPr/>
          <a:lstStyle/>
          <a:p>
            <a:r>
              <a:rPr lang="en-US" altLang="zh-CN"/>
              <a:t>Agenda</a:t>
            </a:r>
            <a:endParaRPr lang="zh-CN" altLang="en-US"/>
          </a:p>
        </p:txBody>
      </p:sp>
      <p:sp>
        <p:nvSpPr>
          <p:cNvPr id="5" name="文本占位符 1">
            <a:extLst>
              <a:ext uri="{FF2B5EF4-FFF2-40B4-BE49-F238E27FC236}">
                <a16:creationId xmlns:a16="http://schemas.microsoft.com/office/drawing/2014/main" id="{ECA1A437-0237-BAF1-B332-6448BEC6DBEF}"/>
              </a:ext>
            </a:extLst>
          </p:cNvPr>
          <p:cNvSpPr txBox="1">
            <a:spLocks noGrp="1"/>
          </p:cNvSpPr>
          <p:nvPr>
            <p:ph type="body" sz="quarter" idx="12"/>
          </p:nvPr>
        </p:nvSpPr>
        <p:spPr bwMode="white">
          <a:xfrm>
            <a:off x="488931" y="1844271"/>
            <a:ext cx="5528411" cy="2263889"/>
          </a:xfrm>
          <a:prstGeom prst="rect">
            <a:avLst/>
          </a:prstGeom>
        </p:spPr>
        <p:txBody>
          <a:bodyPr wrap="square" lIns="0" tIns="0" rIns="0" bIns="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2000">
                <a:solidFill>
                  <a:schemeClr val="tx1"/>
                </a:solidFill>
                <a:latin typeface="+mn-lt"/>
              </a:rPr>
              <a:t>Payment Schedule</a:t>
            </a:r>
          </a:p>
          <a:p>
            <a:pPr marL="342900" indent="-342900">
              <a:lnSpc>
                <a:spcPct val="150000"/>
              </a:lnSpc>
              <a:buFont typeface="+mj-lt"/>
              <a:buAutoNum type="arabicPeriod"/>
            </a:pPr>
            <a:r>
              <a:rPr lang="en-US" altLang="zh-CN" sz="2000">
                <a:solidFill>
                  <a:schemeClr val="tx1"/>
                </a:solidFill>
              </a:rPr>
              <a:t>Invoice Document</a:t>
            </a:r>
          </a:p>
          <a:p>
            <a:pPr marL="342900" indent="-342900">
              <a:lnSpc>
                <a:spcPct val="150000"/>
              </a:lnSpc>
              <a:buFont typeface="+mj-lt"/>
              <a:buAutoNum type="arabicPeriod"/>
            </a:pPr>
            <a:r>
              <a:rPr lang="en-US" altLang="zh-CN" sz="2000">
                <a:solidFill>
                  <a:schemeClr val="tx1"/>
                </a:solidFill>
                <a:highlight>
                  <a:srgbClr val="00FF00"/>
                </a:highlight>
                <a:latin typeface="+mn-lt"/>
              </a:rPr>
              <a:t>Statement</a:t>
            </a:r>
          </a:p>
          <a:p>
            <a:pPr marL="342900" indent="-342900">
              <a:lnSpc>
                <a:spcPct val="150000"/>
              </a:lnSpc>
              <a:buFont typeface="+mj-lt"/>
              <a:buAutoNum type="arabicPeriod"/>
            </a:pPr>
            <a:r>
              <a:rPr lang="en-US" altLang="zh-CN" sz="2000">
                <a:solidFill>
                  <a:schemeClr val="tx1"/>
                </a:solidFill>
                <a:cs typeface="Cascadia Code" panose="020B0609020000020004" pitchFamily="49" charset="0"/>
              </a:rPr>
              <a:t>Central Billing Invoice</a:t>
            </a:r>
          </a:p>
          <a:p>
            <a:pPr marL="342900" indent="-342900">
              <a:lnSpc>
                <a:spcPct val="150000"/>
              </a:lnSpc>
              <a:buFont typeface="+mj-lt"/>
              <a:buAutoNum type="arabicPeriod"/>
            </a:pPr>
            <a:r>
              <a:rPr lang="en-US" altLang="zh-CN" sz="2000" kern="0">
                <a:solidFill>
                  <a:schemeClr val="tx1"/>
                </a:solidFill>
                <a:latin typeface="+mn-lt"/>
                <a:cs typeface="Cascadia Code" panose="020B0609020000020004" pitchFamily="49" charset="0"/>
              </a:rPr>
              <a:t>Invoice Reverse/Invoice Adjustment</a:t>
            </a:r>
          </a:p>
        </p:txBody>
      </p:sp>
    </p:spTree>
    <p:extLst>
      <p:ext uri="{BB962C8B-B14F-4D97-AF65-F5344CB8AC3E}">
        <p14:creationId xmlns:p14="http://schemas.microsoft.com/office/powerpoint/2010/main" val="2742005215"/>
      </p:ext>
    </p:ext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E9A84-BFC4-0223-B3DA-59D2496DB14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8FD45DC-B428-E1D6-3402-90FBB5027F43}"/>
              </a:ext>
            </a:extLst>
          </p:cNvPr>
          <p:cNvSpPr>
            <a:spLocks noGrp="1"/>
          </p:cNvSpPr>
          <p:nvPr>
            <p:ph type="body" idx="10"/>
          </p:nvPr>
        </p:nvSpPr>
        <p:spPr/>
        <p:txBody>
          <a:bodyPr/>
          <a:lstStyle/>
          <a:p>
            <a:r>
              <a:rPr lang="zh-CN" altLang="zh-CN" b="0"/>
              <a:t>The Statement Search page serves as a central hub in NexBill for searching, reviewing, and managing statement documents. It supports flexible search criteria and provides quick access to essential actions, including </a:t>
            </a:r>
            <a:r>
              <a:rPr lang="en-US" altLang="zh-CN" b="0"/>
              <a:t>linking to statement and download the result list</a:t>
            </a:r>
            <a:r>
              <a:rPr lang="zh-CN" altLang="zh-CN" b="0"/>
              <a:t>.</a:t>
            </a:r>
            <a:endParaRPr lang="zh-CN" altLang="en-US"/>
          </a:p>
        </p:txBody>
      </p:sp>
      <p:sp>
        <p:nvSpPr>
          <p:cNvPr id="3" name="标题 2">
            <a:extLst>
              <a:ext uri="{FF2B5EF4-FFF2-40B4-BE49-F238E27FC236}">
                <a16:creationId xmlns:a16="http://schemas.microsoft.com/office/drawing/2014/main" id="{87C036E7-7F01-F99C-1A73-B6A8FCFD1536}"/>
              </a:ext>
            </a:extLst>
          </p:cNvPr>
          <p:cNvSpPr>
            <a:spLocks noGrp="1"/>
          </p:cNvSpPr>
          <p:nvPr>
            <p:ph type="title"/>
          </p:nvPr>
        </p:nvSpPr>
        <p:spPr/>
        <p:txBody>
          <a:bodyPr/>
          <a:lstStyle/>
          <a:p>
            <a:r>
              <a:rPr lang="en-US" altLang="zh-CN"/>
              <a:t>Statement - Menu &amp; Path</a:t>
            </a:r>
            <a:endParaRPr lang="zh-CN" altLang="en-US"/>
          </a:p>
        </p:txBody>
      </p:sp>
      <p:sp>
        <p:nvSpPr>
          <p:cNvPr id="12" name="文本占位符 3">
            <a:extLst>
              <a:ext uri="{FF2B5EF4-FFF2-40B4-BE49-F238E27FC236}">
                <a16:creationId xmlns:a16="http://schemas.microsoft.com/office/drawing/2014/main" id="{21E29BC4-E0FF-0B13-A080-D2D908BCA7D9}"/>
              </a:ext>
            </a:extLst>
          </p:cNvPr>
          <p:cNvSpPr>
            <a:spLocks noGrp="1"/>
          </p:cNvSpPr>
          <p:nvPr>
            <p:ph type="body" idx="12"/>
          </p:nvPr>
        </p:nvSpPr>
        <p:spPr>
          <a:xfrm>
            <a:off x="8865101" y="1554883"/>
            <a:ext cx="3226581" cy="5072227"/>
          </a:xfrm>
        </p:spPr>
        <p:txBody>
          <a:bodyPr/>
          <a:lstStyle/>
          <a:p>
            <a:endParaRPr lang="zh-CN" altLang="en-US"/>
          </a:p>
        </p:txBody>
      </p:sp>
      <p:sp>
        <p:nvSpPr>
          <p:cNvPr id="13" name="TextBox 72">
            <a:extLst>
              <a:ext uri="{FF2B5EF4-FFF2-40B4-BE49-F238E27FC236}">
                <a16:creationId xmlns:a16="http://schemas.microsoft.com/office/drawing/2014/main" id="{8E4BCA72-D3B3-BFDC-A698-904BB058F637}"/>
              </a:ext>
            </a:extLst>
          </p:cNvPr>
          <p:cNvSpPr txBox="1"/>
          <p:nvPr/>
        </p:nvSpPr>
        <p:spPr>
          <a:xfrm>
            <a:off x="9123399" y="1808182"/>
            <a:ext cx="2220826"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Statement Menu</a:t>
            </a:r>
            <a:endParaRPr lang="id-ID" sz="1300" b="1">
              <a:solidFill>
                <a:schemeClr val="accent6">
                  <a:lumMod val="75000"/>
                  <a:lumOff val="25000"/>
                </a:schemeClr>
              </a:solidFill>
              <a:cs typeface="Lato Regular"/>
            </a:endParaRPr>
          </a:p>
        </p:txBody>
      </p:sp>
      <p:sp>
        <p:nvSpPr>
          <p:cNvPr id="14" name="TextBox 73">
            <a:extLst>
              <a:ext uri="{FF2B5EF4-FFF2-40B4-BE49-F238E27FC236}">
                <a16:creationId xmlns:a16="http://schemas.microsoft.com/office/drawing/2014/main" id="{14B64217-91A8-7D71-AEA4-349A02712CE3}"/>
              </a:ext>
            </a:extLst>
          </p:cNvPr>
          <p:cNvSpPr txBox="1"/>
          <p:nvPr/>
        </p:nvSpPr>
        <p:spPr>
          <a:xfrm>
            <a:off x="9121330" y="2068583"/>
            <a:ext cx="2982858" cy="861774"/>
          </a:xfrm>
          <a:prstGeom prst="rect">
            <a:avLst/>
          </a:prstGeom>
          <a:noFill/>
        </p:spPr>
        <p:txBody>
          <a:bodyPr wrap="square" rtlCol="0">
            <a:spAutoFit/>
          </a:bodyPr>
          <a:lstStyle/>
          <a:p>
            <a:pPr fontAlgn="base"/>
            <a:r>
              <a:rPr lang="zh-CN" altLang="zh-CN" sz="1000">
                <a:cs typeface="Lato Light"/>
              </a:rPr>
              <a:t>Right-click the tree structure menu </a:t>
            </a:r>
            <a:r>
              <a:rPr lang="en-US" altLang="zh-CN" sz="1000">
                <a:cs typeface="Lato Light"/>
              </a:rPr>
              <a:t>or icon </a:t>
            </a:r>
            <a:r>
              <a:rPr lang="zh-CN" altLang="zh-CN" sz="1000">
                <a:cs typeface="Lato Light"/>
              </a:rPr>
              <a:t>on the left</a:t>
            </a:r>
            <a:r>
              <a:rPr lang="en-US" altLang="zh-CN" sz="1000">
                <a:cs typeface="Lato Light"/>
              </a:rPr>
              <a:t>.</a:t>
            </a:r>
          </a:p>
          <a:p>
            <a:pPr fontAlgn="base"/>
            <a:endParaRPr lang="en-US" altLang="zh-CN" sz="1000">
              <a:cs typeface="Lato Light"/>
            </a:endParaRPr>
          </a:p>
          <a:p>
            <a:pPr fontAlgn="base"/>
            <a:r>
              <a:rPr lang="zh-CN" altLang="zh-CN" sz="1000">
                <a:cs typeface="Lato Light"/>
              </a:rPr>
              <a:t>Click Invoice Management, then click </a:t>
            </a:r>
            <a:r>
              <a:rPr lang="en-US" altLang="zh-CN" sz="1000">
                <a:cs typeface="Lato Light"/>
              </a:rPr>
              <a:t>Statement</a:t>
            </a:r>
            <a:r>
              <a:rPr lang="zh-CN" altLang="zh-CN" sz="1000">
                <a:cs typeface="Lato Light"/>
              </a:rPr>
              <a:t> to access the </a:t>
            </a:r>
            <a:r>
              <a:rPr lang="en-US" altLang="zh-CN" sz="1000">
                <a:cs typeface="Lato Light"/>
              </a:rPr>
              <a:t>statement </a:t>
            </a:r>
            <a:r>
              <a:rPr lang="zh-CN" altLang="zh-CN" sz="1000">
                <a:cs typeface="Lato Light"/>
              </a:rPr>
              <a:t>search screen.</a:t>
            </a:r>
            <a:endParaRPr lang="en-US" altLang="zh-CN" sz="1000">
              <a:cs typeface="Lato Light"/>
            </a:endParaRPr>
          </a:p>
        </p:txBody>
      </p:sp>
      <p:sp>
        <p:nvSpPr>
          <p:cNvPr id="27" name="TextBox 82">
            <a:extLst>
              <a:ext uri="{FF2B5EF4-FFF2-40B4-BE49-F238E27FC236}">
                <a16:creationId xmlns:a16="http://schemas.microsoft.com/office/drawing/2014/main" id="{17476658-0D9D-A451-9E74-49EEC19BC697}"/>
              </a:ext>
            </a:extLst>
          </p:cNvPr>
          <p:cNvSpPr txBox="1"/>
          <p:nvPr/>
        </p:nvSpPr>
        <p:spPr>
          <a:xfrm>
            <a:off x="9106207" y="3392730"/>
            <a:ext cx="2422377"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Statement Fields Definition</a:t>
            </a:r>
            <a:endParaRPr lang="id-ID" sz="1300" b="1">
              <a:solidFill>
                <a:schemeClr val="accent4">
                  <a:lumMod val="75000"/>
                  <a:lumOff val="25000"/>
                </a:schemeClr>
              </a:solidFill>
              <a:cs typeface="Lato Regular"/>
            </a:endParaRPr>
          </a:p>
        </p:txBody>
      </p:sp>
      <p:sp>
        <p:nvSpPr>
          <p:cNvPr id="28" name="TextBox 83">
            <a:extLst>
              <a:ext uri="{FF2B5EF4-FFF2-40B4-BE49-F238E27FC236}">
                <a16:creationId xmlns:a16="http://schemas.microsoft.com/office/drawing/2014/main" id="{050D6278-A82A-FEBD-ADB5-035FBF5E45A9}"/>
              </a:ext>
            </a:extLst>
          </p:cNvPr>
          <p:cNvSpPr txBox="1"/>
          <p:nvPr/>
        </p:nvSpPr>
        <p:spPr>
          <a:xfrm>
            <a:off x="9118713" y="3653309"/>
            <a:ext cx="2972969" cy="1015663"/>
          </a:xfrm>
          <a:prstGeom prst="rect">
            <a:avLst/>
          </a:prstGeom>
          <a:noFill/>
        </p:spPr>
        <p:txBody>
          <a:bodyPr wrap="square" rtlCol="0">
            <a:spAutoFit/>
          </a:bodyPr>
          <a:lstStyle/>
          <a:p>
            <a:r>
              <a:rPr lang="zh-CN" altLang="zh-CN" sz="1000">
                <a:cs typeface="Lato Light"/>
              </a:rPr>
              <a:t>If </a:t>
            </a:r>
            <a:r>
              <a:rPr lang="en-US" altLang="zh-CN" sz="1000">
                <a:cs typeface="Lato Light"/>
              </a:rPr>
              <a:t>user </a:t>
            </a:r>
            <a:r>
              <a:rPr lang="zh-CN" altLang="zh-CN" sz="1000">
                <a:cs typeface="Lato Light"/>
              </a:rPr>
              <a:t>need more information, click the attachment to view the field structure for the </a:t>
            </a:r>
            <a:r>
              <a:rPr lang="en-US" altLang="zh-CN" sz="1000">
                <a:cs typeface="Lato Light"/>
              </a:rPr>
              <a:t>Statement from line number 120 to 133</a:t>
            </a:r>
            <a:r>
              <a:rPr lang="zh-CN" altLang="zh-CN" sz="1000">
                <a:cs typeface="Lato Light"/>
              </a:rPr>
              <a:t>. </a:t>
            </a:r>
            <a:endParaRPr lang="en-US" altLang="zh-CN" sz="1000">
              <a:cs typeface="Lato Light"/>
            </a:endParaRPr>
          </a:p>
          <a:p>
            <a:endParaRPr lang="en-US" altLang="zh-CN" sz="1000">
              <a:cs typeface="Lato Light"/>
            </a:endParaRPr>
          </a:p>
          <a:p>
            <a:r>
              <a:rPr lang="zh-CN" altLang="zh-CN" sz="1000">
                <a:cs typeface="Lato Light"/>
              </a:rPr>
              <a:t>It includes descriptions of all fields and example values for the most important ones.</a:t>
            </a:r>
            <a:endParaRPr lang="en-US" sz="1000">
              <a:cs typeface="Lato Light"/>
            </a:endParaRPr>
          </a:p>
        </p:txBody>
      </p:sp>
      <p:sp>
        <p:nvSpPr>
          <p:cNvPr id="33" name="Oval 111">
            <a:extLst>
              <a:ext uri="{FF2B5EF4-FFF2-40B4-BE49-F238E27FC236}">
                <a16:creationId xmlns:a16="http://schemas.microsoft.com/office/drawing/2014/main" id="{BFABF8E1-35B8-D177-F2B4-4C8FE07A60C2}"/>
              </a:ext>
            </a:extLst>
          </p:cNvPr>
          <p:cNvSpPr/>
          <p:nvPr/>
        </p:nvSpPr>
        <p:spPr>
          <a:xfrm>
            <a:off x="8877607" y="187647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34" name="Oval 112">
            <a:extLst>
              <a:ext uri="{FF2B5EF4-FFF2-40B4-BE49-F238E27FC236}">
                <a16:creationId xmlns:a16="http://schemas.microsoft.com/office/drawing/2014/main" id="{C2B5749E-6D6F-1F54-08A2-4FB613974980}"/>
              </a:ext>
            </a:extLst>
          </p:cNvPr>
          <p:cNvSpPr/>
          <p:nvPr/>
        </p:nvSpPr>
        <p:spPr>
          <a:xfrm>
            <a:off x="8877607" y="342470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graphicFrame>
        <p:nvGraphicFramePr>
          <p:cNvPr id="11" name="对象 10">
            <a:extLst>
              <a:ext uri="{FF2B5EF4-FFF2-40B4-BE49-F238E27FC236}">
                <a16:creationId xmlns:a16="http://schemas.microsoft.com/office/drawing/2014/main" id="{65D5E321-0A45-EE16-3D63-EE386BE5DB1F}"/>
              </a:ext>
            </a:extLst>
          </p:cNvPr>
          <p:cNvGraphicFramePr>
            <a:graphicFrameLocks noChangeAspect="1"/>
          </p:cNvGraphicFramePr>
          <p:nvPr/>
        </p:nvGraphicFramePr>
        <p:xfrm>
          <a:off x="7648575" y="5393051"/>
          <a:ext cx="1009650" cy="874680"/>
        </p:xfrm>
        <a:graphic>
          <a:graphicData uri="http://schemas.openxmlformats.org/presentationml/2006/ole">
            <mc:AlternateContent xmlns:mc="http://schemas.openxmlformats.org/markup-compatibility/2006">
              <mc:Choice xmlns:v="urn:schemas-microsoft-com:vml" Requires="v">
                <p:oleObj name="Worksheet" showAsIcon="1" r:id="rId2" imgW="914400" imgH="792685" progId="Excel.Sheet.12">
                  <p:embed/>
                </p:oleObj>
              </mc:Choice>
              <mc:Fallback>
                <p:oleObj name="Worksheet" showAsIcon="1" r:id="rId2" imgW="914400" imgH="792685" progId="Excel.Sheet.12">
                  <p:embed/>
                  <p:pic>
                    <p:nvPicPr>
                      <p:cNvPr id="11" name="对象 10">
                        <a:extLst>
                          <a:ext uri="{FF2B5EF4-FFF2-40B4-BE49-F238E27FC236}">
                            <a16:creationId xmlns:a16="http://schemas.microsoft.com/office/drawing/2014/main" id="{65D5E321-0A45-EE16-3D63-EE386BE5DB1F}"/>
                          </a:ext>
                        </a:extLst>
                      </p:cNvPr>
                      <p:cNvPicPr/>
                      <p:nvPr/>
                    </p:nvPicPr>
                    <p:blipFill>
                      <a:blip r:embed="rId3"/>
                      <a:stretch>
                        <a:fillRect/>
                      </a:stretch>
                    </p:blipFill>
                    <p:spPr>
                      <a:xfrm>
                        <a:off x="7648575" y="5393051"/>
                        <a:ext cx="1009650" cy="874680"/>
                      </a:xfrm>
                      <a:prstGeom prst="rect">
                        <a:avLst/>
                      </a:prstGeom>
                    </p:spPr>
                  </p:pic>
                </p:oleObj>
              </mc:Fallback>
            </mc:AlternateContent>
          </a:graphicData>
        </a:graphic>
      </p:graphicFrame>
      <p:sp>
        <p:nvSpPr>
          <p:cNvPr id="16" name="Oval 112">
            <a:extLst>
              <a:ext uri="{FF2B5EF4-FFF2-40B4-BE49-F238E27FC236}">
                <a16:creationId xmlns:a16="http://schemas.microsoft.com/office/drawing/2014/main" id="{3CD57E07-A72D-1239-E0BA-9D7E888FB3AB}"/>
              </a:ext>
            </a:extLst>
          </p:cNvPr>
          <p:cNvSpPr/>
          <p:nvPr/>
        </p:nvSpPr>
        <p:spPr>
          <a:xfrm>
            <a:off x="7602042" y="528110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5" name="图片 4">
            <a:extLst>
              <a:ext uri="{FF2B5EF4-FFF2-40B4-BE49-F238E27FC236}">
                <a16:creationId xmlns:a16="http://schemas.microsoft.com/office/drawing/2014/main" id="{EA286777-2A73-463B-C16B-9BBCFF1DA75D}"/>
              </a:ext>
            </a:extLst>
          </p:cNvPr>
          <p:cNvPicPr>
            <a:picLocks noChangeAspect="1"/>
          </p:cNvPicPr>
          <p:nvPr/>
        </p:nvPicPr>
        <p:blipFill>
          <a:blip r:embed="rId4"/>
          <a:stretch>
            <a:fillRect/>
          </a:stretch>
        </p:blipFill>
        <p:spPr>
          <a:xfrm>
            <a:off x="372161" y="1510861"/>
            <a:ext cx="8431886" cy="3466492"/>
          </a:xfrm>
          <a:prstGeom prst="rect">
            <a:avLst/>
          </a:prstGeom>
        </p:spPr>
      </p:pic>
      <p:sp>
        <p:nvSpPr>
          <p:cNvPr id="7" name="Oval 111">
            <a:extLst>
              <a:ext uri="{FF2B5EF4-FFF2-40B4-BE49-F238E27FC236}">
                <a16:creationId xmlns:a16="http://schemas.microsoft.com/office/drawing/2014/main" id="{41F53317-39F7-713D-5855-D2A7D5827E04}"/>
              </a:ext>
            </a:extLst>
          </p:cNvPr>
          <p:cNvSpPr/>
          <p:nvPr/>
        </p:nvSpPr>
        <p:spPr>
          <a:xfrm>
            <a:off x="485285" y="317258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321689166"/>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8B34C-3129-AD3A-0972-C621587F3F3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3BCD259-EA71-49A7-4D3F-DFC2856AA13B}"/>
              </a:ext>
            </a:extLst>
          </p:cNvPr>
          <p:cNvSpPr>
            <a:spLocks noGrp="1"/>
          </p:cNvSpPr>
          <p:nvPr>
            <p:ph type="body" idx="10"/>
          </p:nvPr>
        </p:nvSpPr>
        <p:spPr/>
        <p:txBody>
          <a:bodyPr/>
          <a:lstStyle/>
          <a:p>
            <a:r>
              <a:rPr lang="zh-CN" altLang="zh-CN" b="0"/>
              <a:t>The Statement Search page serves as a central hub in NexBill for searching, reviewing, and managing statement documents. It supports flexible search criteria and provides quick access to essential actions, including </a:t>
            </a:r>
            <a:r>
              <a:rPr lang="en-US" altLang="zh-CN" b="0"/>
              <a:t>linking to statement and download the result list</a:t>
            </a:r>
            <a:r>
              <a:rPr lang="zh-CN" altLang="zh-CN" b="0"/>
              <a:t>.</a:t>
            </a:r>
            <a:endParaRPr lang="zh-CN" altLang="en-US"/>
          </a:p>
        </p:txBody>
      </p:sp>
      <p:sp>
        <p:nvSpPr>
          <p:cNvPr id="3" name="标题 2">
            <a:extLst>
              <a:ext uri="{FF2B5EF4-FFF2-40B4-BE49-F238E27FC236}">
                <a16:creationId xmlns:a16="http://schemas.microsoft.com/office/drawing/2014/main" id="{3338B44B-0D51-69C4-055C-9E8A02E5EA74}"/>
              </a:ext>
            </a:extLst>
          </p:cNvPr>
          <p:cNvSpPr>
            <a:spLocks noGrp="1"/>
          </p:cNvSpPr>
          <p:nvPr>
            <p:ph type="title"/>
          </p:nvPr>
        </p:nvSpPr>
        <p:spPr/>
        <p:txBody>
          <a:bodyPr/>
          <a:lstStyle/>
          <a:p>
            <a:r>
              <a:rPr lang="en-US" altLang="zh-CN"/>
              <a:t>Statement - Search &amp; Result</a:t>
            </a:r>
            <a:endParaRPr lang="zh-CN" altLang="en-US"/>
          </a:p>
        </p:txBody>
      </p:sp>
      <p:sp>
        <p:nvSpPr>
          <p:cNvPr id="6" name="文本占位符 3">
            <a:extLst>
              <a:ext uri="{FF2B5EF4-FFF2-40B4-BE49-F238E27FC236}">
                <a16:creationId xmlns:a16="http://schemas.microsoft.com/office/drawing/2014/main" id="{B13F1BAB-0DBE-D418-6B82-276312B3A954}"/>
              </a:ext>
            </a:extLst>
          </p:cNvPr>
          <p:cNvSpPr>
            <a:spLocks noGrp="1"/>
          </p:cNvSpPr>
          <p:nvPr>
            <p:ph type="body" idx="12"/>
          </p:nvPr>
        </p:nvSpPr>
        <p:spPr>
          <a:xfrm>
            <a:off x="8855675" y="1554883"/>
            <a:ext cx="3226581" cy="5072227"/>
          </a:xfrm>
        </p:spPr>
        <p:txBody>
          <a:bodyPr/>
          <a:lstStyle/>
          <a:p>
            <a:endParaRPr lang="zh-CN" altLang="en-US"/>
          </a:p>
        </p:txBody>
      </p:sp>
      <p:sp>
        <p:nvSpPr>
          <p:cNvPr id="7" name="TextBox 72">
            <a:extLst>
              <a:ext uri="{FF2B5EF4-FFF2-40B4-BE49-F238E27FC236}">
                <a16:creationId xmlns:a16="http://schemas.microsoft.com/office/drawing/2014/main" id="{916266F0-EEA3-8A32-9C3D-AB8FE86AC569}"/>
              </a:ext>
            </a:extLst>
          </p:cNvPr>
          <p:cNvSpPr txBox="1"/>
          <p:nvPr/>
        </p:nvSpPr>
        <p:spPr>
          <a:xfrm>
            <a:off x="9113972" y="1808182"/>
            <a:ext cx="2392679"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Search Statement Document</a:t>
            </a:r>
            <a:endParaRPr lang="id-ID" sz="1300" b="1">
              <a:solidFill>
                <a:schemeClr val="accent6">
                  <a:lumMod val="75000"/>
                  <a:lumOff val="25000"/>
                </a:schemeClr>
              </a:solidFill>
              <a:cs typeface="Lato Regular"/>
            </a:endParaRPr>
          </a:p>
        </p:txBody>
      </p:sp>
      <p:sp>
        <p:nvSpPr>
          <p:cNvPr id="8" name="TextBox 73">
            <a:extLst>
              <a:ext uri="{FF2B5EF4-FFF2-40B4-BE49-F238E27FC236}">
                <a16:creationId xmlns:a16="http://schemas.microsoft.com/office/drawing/2014/main" id="{9E46E27E-5A36-C560-8383-DB27AAADDA67}"/>
              </a:ext>
            </a:extLst>
          </p:cNvPr>
          <p:cNvSpPr txBox="1"/>
          <p:nvPr/>
        </p:nvSpPr>
        <p:spPr>
          <a:xfrm>
            <a:off x="9111904" y="2068583"/>
            <a:ext cx="2520438" cy="1169551"/>
          </a:xfrm>
          <a:prstGeom prst="rect">
            <a:avLst/>
          </a:prstGeom>
          <a:noFill/>
        </p:spPr>
        <p:txBody>
          <a:bodyPr wrap="square" rtlCol="0">
            <a:spAutoFit/>
          </a:bodyPr>
          <a:lstStyle/>
          <a:p>
            <a:pPr fontAlgn="base"/>
            <a:r>
              <a:rPr lang="en-US" altLang="zh-CN" sz="1000">
                <a:cs typeface="Lato Light"/>
              </a:rPr>
              <a:t>Users can search Statement using one or more search criteria.​</a:t>
            </a:r>
          </a:p>
          <a:p>
            <a:pPr fontAlgn="base"/>
            <a:r>
              <a:rPr lang="en-US" altLang="zh-CN" sz="1000">
                <a:cs typeface="Lato Light"/>
              </a:rPr>
              <a:t>​</a:t>
            </a:r>
          </a:p>
          <a:p>
            <a:pPr fontAlgn="base"/>
            <a:r>
              <a:rPr lang="en-US" altLang="zh-CN" sz="1000">
                <a:cs typeface="Lato Light"/>
              </a:rPr>
              <a:t>Users can add additional search conditions by clicking the "+" icon and remove conditions by clicking the "×" icon.​</a:t>
            </a:r>
          </a:p>
        </p:txBody>
      </p:sp>
      <p:sp>
        <p:nvSpPr>
          <p:cNvPr id="10" name="TextBox 82">
            <a:extLst>
              <a:ext uri="{FF2B5EF4-FFF2-40B4-BE49-F238E27FC236}">
                <a16:creationId xmlns:a16="http://schemas.microsoft.com/office/drawing/2014/main" id="{8EFB88E7-4713-5DB4-E125-6AA355C41219}"/>
              </a:ext>
            </a:extLst>
          </p:cNvPr>
          <p:cNvSpPr txBox="1"/>
          <p:nvPr/>
        </p:nvSpPr>
        <p:spPr>
          <a:xfrm>
            <a:off x="9096781" y="4173780"/>
            <a:ext cx="2422377"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Full Screen</a:t>
            </a:r>
            <a:endParaRPr lang="id-ID" altLang="zh-CN" sz="1300" b="1">
              <a:solidFill>
                <a:schemeClr val="accent4">
                  <a:lumMod val="75000"/>
                  <a:lumOff val="25000"/>
                </a:schemeClr>
              </a:solidFill>
              <a:cs typeface="Lato Regular"/>
            </a:endParaRPr>
          </a:p>
        </p:txBody>
      </p:sp>
      <p:sp>
        <p:nvSpPr>
          <p:cNvPr id="11" name="TextBox 83">
            <a:extLst>
              <a:ext uri="{FF2B5EF4-FFF2-40B4-BE49-F238E27FC236}">
                <a16:creationId xmlns:a16="http://schemas.microsoft.com/office/drawing/2014/main" id="{C408E459-DAAB-7E34-19A3-1995A9E1BDC1}"/>
              </a:ext>
            </a:extLst>
          </p:cNvPr>
          <p:cNvSpPr txBox="1"/>
          <p:nvPr/>
        </p:nvSpPr>
        <p:spPr>
          <a:xfrm>
            <a:off x="9109287" y="4434359"/>
            <a:ext cx="2668209" cy="246221"/>
          </a:xfrm>
          <a:prstGeom prst="rect">
            <a:avLst/>
          </a:prstGeom>
          <a:noFill/>
        </p:spPr>
        <p:txBody>
          <a:bodyPr wrap="square" rtlCol="0">
            <a:spAutoFit/>
          </a:bodyPr>
          <a:lstStyle/>
          <a:p>
            <a:r>
              <a:rPr lang="zh-CN" altLang="zh-CN" sz="1000">
                <a:cs typeface="Lato Light"/>
              </a:rPr>
              <a:t>View the </a:t>
            </a:r>
            <a:r>
              <a:rPr lang="en-US" altLang="zh-CN" sz="1000">
                <a:cs typeface="Lato Light"/>
              </a:rPr>
              <a:t>Statement</a:t>
            </a:r>
            <a:r>
              <a:rPr lang="zh-CN" altLang="zh-CN" sz="1000">
                <a:cs typeface="Lato Light"/>
              </a:rPr>
              <a:t> list in full-screen mode.</a:t>
            </a:r>
            <a:endParaRPr lang="en-US" altLang="zh-CN" sz="1000">
              <a:cs typeface="Lato Light"/>
            </a:endParaRPr>
          </a:p>
        </p:txBody>
      </p:sp>
      <p:sp>
        <p:nvSpPr>
          <p:cNvPr id="15" name="TextBox 92">
            <a:extLst>
              <a:ext uri="{FF2B5EF4-FFF2-40B4-BE49-F238E27FC236}">
                <a16:creationId xmlns:a16="http://schemas.microsoft.com/office/drawing/2014/main" id="{E2612BD0-65C7-31F5-C38F-CF192BDFE2A9}"/>
              </a:ext>
            </a:extLst>
          </p:cNvPr>
          <p:cNvSpPr txBox="1"/>
          <p:nvPr/>
        </p:nvSpPr>
        <p:spPr>
          <a:xfrm>
            <a:off x="9096781" y="5048368"/>
            <a:ext cx="1839512" cy="292388"/>
          </a:xfrm>
          <a:prstGeom prst="rect">
            <a:avLst/>
          </a:prstGeom>
          <a:noFill/>
        </p:spPr>
        <p:txBody>
          <a:bodyPr wrap="square" rtlCol="0">
            <a:spAutoFit/>
          </a:bodyPr>
          <a:lstStyle/>
          <a:p>
            <a:r>
              <a:rPr lang="en-US" altLang="zh-CN" sz="1300" b="1">
                <a:solidFill>
                  <a:schemeClr val="tx2"/>
                </a:solidFill>
                <a:cs typeface="Lato Regular"/>
              </a:rPr>
              <a:t>Download</a:t>
            </a:r>
            <a:endParaRPr lang="id-ID" altLang="zh-CN" sz="1300" b="1">
              <a:solidFill>
                <a:schemeClr val="tx2"/>
              </a:solidFill>
              <a:cs typeface="Lato Regular"/>
            </a:endParaRPr>
          </a:p>
        </p:txBody>
      </p:sp>
      <p:sp>
        <p:nvSpPr>
          <p:cNvPr id="18" name="TextBox 98">
            <a:extLst>
              <a:ext uri="{FF2B5EF4-FFF2-40B4-BE49-F238E27FC236}">
                <a16:creationId xmlns:a16="http://schemas.microsoft.com/office/drawing/2014/main" id="{FBBB29CA-46B0-B959-A6DB-0B830A8ACA8E}"/>
              </a:ext>
            </a:extLst>
          </p:cNvPr>
          <p:cNvSpPr txBox="1"/>
          <p:nvPr/>
        </p:nvSpPr>
        <p:spPr>
          <a:xfrm>
            <a:off x="9109286" y="5346534"/>
            <a:ext cx="2668209" cy="400110"/>
          </a:xfrm>
          <a:prstGeom prst="rect">
            <a:avLst/>
          </a:prstGeom>
          <a:noFill/>
        </p:spPr>
        <p:txBody>
          <a:bodyPr wrap="square" rtlCol="0">
            <a:spAutoFit/>
          </a:bodyPr>
          <a:lstStyle/>
          <a:p>
            <a:r>
              <a:rPr lang="zh-CN" altLang="zh-CN" sz="1000">
                <a:cs typeface="Lato Light"/>
              </a:rPr>
              <a:t>Download selected </a:t>
            </a:r>
            <a:r>
              <a:rPr lang="en-US" altLang="zh-CN" sz="1000">
                <a:cs typeface="Lato Light"/>
              </a:rPr>
              <a:t>Statement</a:t>
            </a:r>
            <a:r>
              <a:rPr lang="zh-CN" altLang="zh-CN" sz="1000">
                <a:cs typeface="Lato Light"/>
              </a:rPr>
              <a:t>s or all results</a:t>
            </a:r>
            <a:r>
              <a:rPr lang="en-US" altLang="zh-CN" sz="1000">
                <a:cs typeface="Lato Light"/>
              </a:rPr>
              <a:t> to local</a:t>
            </a:r>
            <a:r>
              <a:rPr lang="zh-CN" altLang="zh-CN" sz="1000">
                <a:cs typeface="Lato Light"/>
              </a:rPr>
              <a:t>.</a:t>
            </a:r>
            <a:endParaRPr lang="en-US" sz="1000">
              <a:cs typeface="Lato Light"/>
            </a:endParaRPr>
          </a:p>
        </p:txBody>
      </p:sp>
      <p:sp>
        <p:nvSpPr>
          <p:cNvPr id="19" name="Oval 111">
            <a:extLst>
              <a:ext uri="{FF2B5EF4-FFF2-40B4-BE49-F238E27FC236}">
                <a16:creationId xmlns:a16="http://schemas.microsoft.com/office/drawing/2014/main" id="{B957FD82-9B73-767D-D8D3-23DCDBF9EB9C}"/>
              </a:ext>
            </a:extLst>
          </p:cNvPr>
          <p:cNvSpPr/>
          <p:nvPr/>
        </p:nvSpPr>
        <p:spPr>
          <a:xfrm>
            <a:off x="8868181" y="187647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0" name="Oval 112">
            <a:extLst>
              <a:ext uri="{FF2B5EF4-FFF2-40B4-BE49-F238E27FC236}">
                <a16:creationId xmlns:a16="http://schemas.microsoft.com/office/drawing/2014/main" id="{DB74E5D7-0CF5-ADEC-DA22-05E408F928BA}"/>
              </a:ext>
            </a:extLst>
          </p:cNvPr>
          <p:cNvSpPr/>
          <p:nvPr/>
        </p:nvSpPr>
        <p:spPr>
          <a:xfrm>
            <a:off x="8868181" y="420575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1" name="Oval 113">
            <a:extLst>
              <a:ext uri="{FF2B5EF4-FFF2-40B4-BE49-F238E27FC236}">
                <a16:creationId xmlns:a16="http://schemas.microsoft.com/office/drawing/2014/main" id="{A11220AD-9A11-6F15-63D0-E3FD77A5BAD4}"/>
              </a:ext>
            </a:extLst>
          </p:cNvPr>
          <p:cNvSpPr/>
          <p:nvPr/>
        </p:nvSpPr>
        <p:spPr>
          <a:xfrm>
            <a:off x="8855675" y="5079235"/>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7" name="文本框 16">
            <a:extLst>
              <a:ext uri="{FF2B5EF4-FFF2-40B4-BE49-F238E27FC236}">
                <a16:creationId xmlns:a16="http://schemas.microsoft.com/office/drawing/2014/main" id="{68C802D4-E7D0-E5F2-AFA6-62578ED209A4}"/>
              </a:ext>
            </a:extLst>
          </p:cNvPr>
          <p:cNvSpPr txBox="1"/>
          <p:nvPr/>
        </p:nvSpPr>
        <p:spPr>
          <a:xfrm>
            <a:off x="9109173" y="3362049"/>
            <a:ext cx="2972970" cy="553998"/>
          </a:xfrm>
          <a:prstGeom prst="rect">
            <a:avLst/>
          </a:prstGeom>
          <a:noFill/>
        </p:spPr>
        <p:txBody>
          <a:bodyPr wrap="square">
            <a:spAutoFit/>
          </a:bodyPr>
          <a:lstStyle/>
          <a:p>
            <a:r>
              <a:rPr lang="zh-CN" altLang="zh-CN" sz="1000">
                <a:cs typeface="Lato Light"/>
              </a:rPr>
              <a:t>On the result list, the </a:t>
            </a:r>
            <a:r>
              <a:rPr lang="en-US" altLang="zh-CN" sz="1000">
                <a:cs typeface="Lato Light"/>
              </a:rPr>
              <a:t>Statement</a:t>
            </a:r>
            <a:r>
              <a:rPr lang="zh-CN" altLang="zh-CN" sz="1000">
                <a:cs typeface="Lato Light"/>
              </a:rPr>
              <a:t> number is displayed as a clickable hyperlink. Cinvoiclick it to open the corresponding </a:t>
            </a:r>
            <a:r>
              <a:rPr lang="en-US" altLang="zh-CN" sz="1000">
                <a:cs typeface="Lato Light"/>
              </a:rPr>
              <a:t>statement</a:t>
            </a:r>
            <a:r>
              <a:rPr lang="zh-CN" altLang="zh-CN" sz="1000">
                <a:cs typeface="Lato Light"/>
              </a:rPr>
              <a:t> detail page.</a:t>
            </a:r>
            <a:endParaRPr lang="en-US" altLang="zh-CN" sz="1000">
              <a:cs typeface="Lato Light"/>
            </a:endParaRPr>
          </a:p>
        </p:txBody>
      </p:sp>
      <p:pic>
        <p:nvPicPr>
          <p:cNvPr id="14" name="图片 13">
            <a:extLst>
              <a:ext uri="{FF2B5EF4-FFF2-40B4-BE49-F238E27FC236}">
                <a16:creationId xmlns:a16="http://schemas.microsoft.com/office/drawing/2014/main" id="{22285DAB-8D08-036D-F6B0-B5B046442661}"/>
              </a:ext>
            </a:extLst>
          </p:cNvPr>
          <p:cNvPicPr>
            <a:picLocks noChangeAspect="1"/>
          </p:cNvPicPr>
          <p:nvPr/>
        </p:nvPicPr>
        <p:blipFill>
          <a:blip r:embed="rId2"/>
          <a:stretch>
            <a:fillRect/>
          </a:stretch>
        </p:blipFill>
        <p:spPr>
          <a:xfrm>
            <a:off x="182655" y="1420564"/>
            <a:ext cx="8571207" cy="4517194"/>
          </a:xfrm>
          <a:prstGeom prst="rect">
            <a:avLst/>
          </a:prstGeom>
        </p:spPr>
      </p:pic>
      <p:sp>
        <p:nvSpPr>
          <p:cNvPr id="16" name="Oval 111">
            <a:extLst>
              <a:ext uri="{FF2B5EF4-FFF2-40B4-BE49-F238E27FC236}">
                <a16:creationId xmlns:a16="http://schemas.microsoft.com/office/drawing/2014/main" id="{CD65772D-884E-88B3-71EF-816CF101584D}"/>
              </a:ext>
            </a:extLst>
          </p:cNvPr>
          <p:cNvSpPr/>
          <p:nvPr/>
        </p:nvSpPr>
        <p:spPr>
          <a:xfrm>
            <a:off x="126093" y="148653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2" name="Oval 112">
            <a:extLst>
              <a:ext uri="{FF2B5EF4-FFF2-40B4-BE49-F238E27FC236}">
                <a16:creationId xmlns:a16="http://schemas.microsoft.com/office/drawing/2014/main" id="{373BE39A-08BF-2E72-EEEB-88D7C1C384F4}"/>
              </a:ext>
            </a:extLst>
          </p:cNvPr>
          <p:cNvSpPr/>
          <p:nvPr/>
        </p:nvSpPr>
        <p:spPr>
          <a:xfrm>
            <a:off x="7097217" y="3425003"/>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3" name="Oval 113">
            <a:extLst>
              <a:ext uri="{FF2B5EF4-FFF2-40B4-BE49-F238E27FC236}">
                <a16:creationId xmlns:a16="http://schemas.microsoft.com/office/drawing/2014/main" id="{A1062D31-1272-4E16-C5FB-2DEA92B6E6DB}"/>
              </a:ext>
            </a:extLst>
          </p:cNvPr>
          <p:cNvSpPr/>
          <p:nvPr/>
        </p:nvSpPr>
        <p:spPr>
          <a:xfrm>
            <a:off x="7808806" y="3412948"/>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2736197931"/>
      </p:ext>
    </p:extLst>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E2FD-BB34-8C0B-66FF-C2648857968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AA94672-84A7-AB2F-4E20-3219927D8569}"/>
              </a:ext>
            </a:extLst>
          </p:cNvPr>
          <p:cNvSpPr>
            <a:spLocks noGrp="1"/>
          </p:cNvSpPr>
          <p:nvPr>
            <p:ph type="body" idx="10"/>
          </p:nvPr>
        </p:nvSpPr>
        <p:spPr/>
        <p:txBody>
          <a:bodyPr/>
          <a:lstStyle/>
          <a:p>
            <a:r>
              <a:rPr lang="zh-CN" altLang="zh-CN" b="0"/>
              <a:t>The Statement Search page serves as a central hub in NexBill for searching, reviewing, and managing statement documents. It supports flexible search criteria and provides quick access to essential actions, including </a:t>
            </a:r>
            <a:r>
              <a:rPr lang="en-US" altLang="zh-CN" b="0"/>
              <a:t>linking to statement and download the result list</a:t>
            </a:r>
            <a:r>
              <a:rPr lang="zh-CN" altLang="zh-CN" b="0"/>
              <a:t>.</a:t>
            </a:r>
            <a:endParaRPr lang="zh-CN" altLang="en-US"/>
          </a:p>
        </p:txBody>
      </p:sp>
      <p:sp>
        <p:nvSpPr>
          <p:cNvPr id="3" name="标题 2">
            <a:extLst>
              <a:ext uri="{FF2B5EF4-FFF2-40B4-BE49-F238E27FC236}">
                <a16:creationId xmlns:a16="http://schemas.microsoft.com/office/drawing/2014/main" id="{F01E7F16-CA5E-3258-5D49-1EAD33E6BEC6}"/>
              </a:ext>
            </a:extLst>
          </p:cNvPr>
          <p:cNvSpPr>
            <a:spLocks noGrp="1"/>
          </p:cNvSpPr>
          <p:nvPr>
            <p:ph type="title"/>
          </p:nvPr>
        </p:nvSpPr>
        <p:spPr/>
        <p:txBody>
          <a:bodyPr/>
          <a:lstStyle/>
          <a:p>
            <a:r>
              <a:rPr lang="en-US" altLang="zh-CN"/>
              <a:t>Statement - Search &amp; Result</a:t>
            </a:r>
            <a:endParaRPr lang="zh-CN" altLang="en-US"/>
          </a:p>
        </p:txBody>
      </p:sp>
      <p:sp>
        <p:nvSpPr>
          <p:cNvPr id="6" name="文本占位符 3">
            <a:extLst>
              <a:ext uri="{FF2B5EF4-FFF2-40B4-BE49-F238E27FC236}">
                <a16:creationId xmlns:a16="http://schemas.microsoft.com/office/drawing/2014/main" id="{16635605-7511-A94D-248D-91F5BFA2D013}"/>
              </a:ext>
            </a:extLst>
          </p:cNvPr>
          <p:cNvSpPr>
            <a:spLocks noGrp="1"/>
          </p:cNvSpPr>
          <p:nvPr>
            <p:ph type="body" idx="12"/>
          </p:nvPr>
        </p:nvSpPr>
        <p:spPr>
          <a:xfrm>
            <a:off x="7993930" y="1554883"/>
            <a:ext cx="3965775" cy="5072227"/>
          </a:xfrm>
        </p:spPr>
        <p:txBody>
          <a:bodyPr/>
          <a:lstStyle/>
          <a:p>
            <a:endParaRPr lang="zh-CN" altLang="en-US"/>
          </a:p>
        </p:txBody>
      </p:sp>
      <p:sp>
        <p:nvSpPr>
          <p:cNvPr id="5" name="TextBox 83">
            <a:extLst>
              <a:ext uri="{FF2B5EF4-FFF2-40B4-BE49-F238E27FC236}">
                <a16:creationId xmlns:a16="http://schemas.microsoft.com/office/drawing/2014/main" id="{6BE06094-C965-BBAF-27E3-719F493F0078}"/>
              </a:ext>
            </a:extLst>
          </p:cNvPr>
          <p:cNvSpPr txBox="1"/>
          <p:nvPr/>
        </p:nvSpPr>
        <p:spPr>
          <a:xfrm>
            <a:off x="8232858" y="2088153"/>
            <a:ext cx="3726848" cy="193899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latin typeface="Aptos" panose="020B0004020202020204" pitchFamily="34" charset="0"/>
              </a:rPr>
              <a:t>Clicking the question mark icon displays the complete list of codes for the </a:t>
            </a:r>
            <a:r>
              <a:rPr lang="zh-CN" altLang="zh-CN" sz="1000" b="1">
                <a:latin typeface="Aptos" panose="020B0004020202020204" pitchFamily="34" charset="0"/>
              </a:rPr>
              <a:t>Latest Send Status</a:t>
            </a:r>
            <a:r>
              <a:rPr lang="en-US" altLang="zh-CN" sz="1000">
                <a:latin typeface="Aptos" panose="020B0004020202020204" pitchFamily="34" charset="0"/>
              </a:rPr>
              <a:t> </a:t>
            </a:r>
            <a:r>
              <a:rPr lang="zh-CN" altLang="zh-CN" sz="1000">
                <a:latin typeface="Aptos" panose="020B0004020202020204" pitchFamily="34" charset="0"/>
              </a:rPr>
              <a:t>field, along with their label descriptions.</a:t>
            </a:r>
            <a:endParaRPr lang="en-US" altLang="zh-CN" sz="1000">
              <a:latin typeface="Aptos" panose="020B0004020202020204" pitchFamily="34" charset="0"/>
            </a:endParaRPr>
          </a:p>
          <a:p>
            <a:endParaRPr lang="en-US" sz="1000">
              <a:latin typeface="Aptos" panose="020B0004020202020204" pitchFamily="34" charset="0"/>
            </a:endParaRPr>
          </a:p>
          <a:p>
            <a:r>
              <a:rPr lang="zh-CN" altLang="zh-CN" sz="1000" b="1">
                <a:latin typeface="Aptos" panose="020B0004020202020204" pitchFamily="34" charset="0"/>
              </a:rPr>
              <a:t>Latest Send Status</a:t>
            </a:r>
            <a:endParaRPr lang="en-US" altLang="zh-CN" sz="1000" b="1">
              <a:latin typeface="Aptos" panose="020B0004020202020204" pitchFamily="34" charset="0"/>
            </a:endParaRPr>
          </a:p>
          <a:p>
            <a:r>
              <a:rPr lang="zh-CN" altLang="zh-CN" sz="1000">
                <a:latin typeface="Aptos" panose="020B0004020202020204" pitchFamily="34" charset="0"/>
              </a:rPr>
              <a:t>Active dictionary entries available.</a:t>
            </a:r>
          </a:p>
          <a:p>
            <a:r>
              <a:rPr lang="zh-CN" altLang="zh-CN" sz="1000" b="1">
                <a:latin typeface="Aptos" panose="020B0004020202020204" pitchFamily="34" charset="0"/>
              </a:rPr>
              <a:t>Code</a:t>
            </a:r>
            <a:r>
              <a:rPr lang="en-US" altLang="zh-CN" sz="1000" b="1">
                <a:latin typeface="Aptos" panose="020B0004020202020204" pitchFamily="34" charset="0"/>
              </a:rPr>
              <a:t> </a:t>
            </a:r>
            <a:r>
              <a:rPr lang="en-US" altLang="zh-CN" sz="1000">
                <a:latin typeface="Aptos" panose="020B0004020202020204" pitchFamily="34" charset="0"/>
              </a:rPr>
              <a:t>	</a:t>
            </a:r>
            <a:r>
              <a:rPr lang="zh-CN" altLang="zh-CN" sz="1000" b="1">
                <a:latin typeface="Aptos" panose="020B0004020202020204" pitchFamily="34" charset="0"/>
              </a:rPr>
              <a:t>Label</a:t>
            </a:r>
          </a:p>
          <a:p>
            <a:r>
              <a:rPr lang="zh-CN" altLang="zh-CN" sz="1000">
                <a:latin typeface="Aptos" panose="020B0004020202020204" pitchFamily="34" charset="0"/>
              </a:rPr>
              <a:t>00</a:t>
            </a:r>
            <a:r>
              <a:rPr lang="en-US" altLang="zh-CN" sz="1000">
                <a:latin typeface="Aptos" panose="020B0004020202020204" pitchFamily="34" charset="0"/>
              </a:rPr>
              <a:t>	</a:t>
            </a:r>
            <a:r>
              <a:rPr lang="zh-CN" altLang="zh-CN" sz="1000">
                <a:latin typeface="Aptos" panose="020B0004020202020204" pitchFamily="34" charset="0"/>
              </a:rPr>
              <a:t>Initial</a:t>
            </a:r>
          </a:p>
          <a:p>
            <a:r>
              <a:rPr lang="zh-CN" altLang="zh-CN" sz="1000">
                <a:latin typeface="Aptos" panose="020B0004020202020204" pitchFamily="34" charset="0"/>
              </a:rPr>
              <a:t>01</a:t>
            </a:r>
            <a:r>
              <a:rPr lang="en-US" altLang="zh-CN" sz="1000">
                <a:latin typeface="Aptos" panose="020B0004020202020204" pitchFamily="34" charset="0"/>
              </a:rPr>
              <a:t>	</a:t>
            </a:r>
            <a:r>
              <a:rPr lang="zh-CN" altLang="zh-CN" sz="1000">
                <a:latin typeface="Aptos" panose="020B0004020202020204" pitchFamily="34" charset="0"/>
              </a:rPr>
              <a:t>Successfully sent</a:t>
            </a:r>
          </a:p>
          <a:p>
            <a:r>
              <a:rPr lang="zh-CN" altLang="zh-CN" sz="1000">
                <a:latin typeface="Aptos" panose="020B0004020202020204" pitchFamily="34" charset="0"/>
              </a:rPr>
              <a:t>02</a:t>
            </a:r>
            <a:r>
              <a:rPr lang="en-US" altLang="zh-CN" sz="1000">
                <a:latin typeface="Aptos" panose="020B0004020202020204" pitchFamily="34" charset="0"/>
              </a:rPr>
              <a:t>	</a:t>
            </a:r>
            <a:r>
              <a:rPr lang="zh-CN" altLang="zh-CN" sz="1000">
                <a:latin typeface="Aptos" panose="020B0004020202020204" pitchFamily="34" charset="0"/>
              </a:rPr>
              <a:t>Fail (system)</a:t>
            </a:r>
          </a:p>
          <a:p>
            <a:r>
              <a:rPr lang="zh-CN" altLang="zh-CN" sz="1000">
                <a:latin typeface="Aptos" panose="020B0004020202020204" pitchFamily="34" charset="0"/>
              </a:rPr>
              <a:t>03</a:t>
            </a:r>
            <a:r>
              <a:rPr lang="en-US" altLang="zh-CN" sz="1000">
                <a:latin typeface="Aptos" panose="020B0004020202020204" pitchFamily="34" charset="0"/>
              </a:rPr>
              <a:t>	</a:t>
            </a:r>
            <a:r>
              <a:rPr lang="zh-CN" altLang="zh-CN" sz="1000">
                <a:latin typeface="Aptos" panose="020B0004020202020204" pitchFamily="34" charset="0"/>
              </a:rPr>
              <a:t>Except (business)</a:t>
            </a:r>
          </a:p>
          <a:p>
            <a:endParaRPr lang="en-US" sz="1000">
              <a:latin typeface="Aptos" panose="020B0004020202020204" pitchFamily="34" charset="0"/>
            </a:endParaRPr>
          </a:p>
        </p:txBody>
      </p:sp>
      <p:sp>
        <p:nvSpPr>
          <p:cNvPr id="24" name="TextBox 97">
            <a:extLst>
              <a:ext uri="{FF2B5EF4-FFF2-40B4-BE49-F238E27FC236}">
                <a16:creationId xmlns:a16="http://schemas.microsoft.com/office/drawing/2014/main" id="{057732C3-FFDD-C5E8-F4D5-6AC7381D1FF0}"/>
              </a:ext>
            </a:extLst>
          </p:cNvPr>
          <p:cNvSpPr txBox="1"/>
          <p:nvPr/>
        </p:nvSpPr>
        <p:spPr>
          <a:xfrm>
            <a:off x="8318563" y="1832601"/>
            <a:ext cx="1897289" cy="292388"/>
          </a:xfrm>
          <a:prstGeom prst="rect">
            <a:avLst/>
          </a:prstGeom>
          <a:noFill/>
        </p:spPr>
        <p:txBody>
          <a:bodyPr wrap="square" rtlCol="0">
            <a:spAutoFit/>
          </a:bodyPr>
          <a:lstStyle/>
          <a:p>
            <a:r>
              <a:rPr lang="zh-CN" altLang="zh-CN" sz="1300" b="1">
                <a:solidFill>
                  <a:schemeClr val="tx2"/>
                </a:solidFill>
                <a:cs typeface="Lato Regular"/>
              </a:rPr>
              <a:t>Latest Send Status</a:t>
            </a:r>
            <a:endParaRPr lang="id-ID" sz="1300" b="1">
              <a:solidFill>
                <a:schemeClr val="tx2"/>
              </a:solidFill>
              <a:cs typeface="Lato Regular"/>
            </a:endParaRPr>
          </a:p>
        </p:txBody>
      </p:sp>
      <p:sp>
        <p:nvSpPr>
          <p:cNvPr id="26" name="Oval 114">
            <a:extLst>
              <a:ext uri="{FF2B5EF4-FFF2-40B4-BE49-F238E27FC236}">
                <a16:creationId xmlns:a16="http://schemas.microsoft.com/office/drawing/2014/main" id="{00542898-8C06-13E8-9E0E-04B1C762D314}"/>
              </a:ext>
            </a:extLst>
          </p:cNvPr>
          <p:cNvSpPr/>
          <p:nvPr/>
        </p:nvSpPr>
        <p:spPr>
          <a:xfrm>
            <a:off x="8067980" y="1841130"/>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30" name="图片 29">
            <a:extLst>
              <a:ext uri="{FF2B5EF4-FFF2-40B4-BE49-F238E27FC236}">
                <a16:creationId xmlns:a16="http://schemas.microsoft.com/office/drawing/2014/main" id="{1C156856-BFFA-DFA0-5041-8CBEC920DAF2}"/>
              </a:ext>
            </a:extLst>
          </p:cNvPr>
          <p:cNvPicPr>
            <a:picLocks noChangeAspect="1"/>
          </p:cNvPicPr>
          <p:nvPr/>
        </p:nvPicPr>
        <p:blipFill>
          <a:blip r:embed="rId2"/>
          <a:stretch>
            <a:fillRect/>
          </a:stretch>
        </p:blipFill>
        <p:spPr>
          <a:xfrm>
            <a:off x="320182" y="1356916"/>
            <a:ext cx="6972904" cy="5014395"/>
          </a:xfrm>
          <a:prstGeom prst="rect">
            <a:avLst/>
          </a:prstGeom>
        </p:spPr>
      </p:pic>
      <p:sp>
        <p:nvSpPr>
          <p:cNvPr id="32" name="Oval 114">
            <a:extLst>
              <a:ext uri="{FF2B5EF4-FFF2-40B4-BE49-F238E27FC236}">
                <a16:creationId xmlns:a16="http://schemas.microsoft.com/office/drawing/2014/main" id="{2155F437-8D08-DDA1-FD93-CC2822052C13}"/>
              </a:ext>
            </a:extLst>
          </p:cNvPr>
          <p:cNvSpPr/>
          <p:nvPr/>
        </p:nvSpPr>
        <p:spPr>
          <a:xfrm>
            <a:off x="1433081" y="4574900"/>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Tree>
    <p:extLst>
      <p:ext uri="{BB962C8B-B14F-4D97-AF65-F5344CB8AC3E}">
        <p14:creationId xmlns:p14="http://schemas.microsoft.com/office/powerpoint/2010/main" val="307088396"/>
      </p:ext>
    </p:ext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0671D-50AD-300E-FDE3-C580E8DCBEA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E24C0EC-F1D1-453C-E0EF-BE919AB9512E}"/>
              </a:ext>
            </a:extLst>
          </p:cNvPr>
          <p:cNvSpPr>
            <a:spLocks noGrp="1"/>
          </p:cNvSpPr>
          <p:nvPr>
            <p:ph type="body" idx="10"/>
          </p:nvPr>
        </p:nvSpPr>
        <p:spPr/>
        <p:txBody>
          <a:bodyPr/>
          <a:lstStyle/>
          <a:p>
            <a:r>
              <a:rPr lang="zh-CN" altLang="zh-CN" b="0"/>
              <a:t>The Statement Search page serves as a central hub in NexBill for searching, reviewing, and managing statement documents. It supports flexible search criteria and provides quick access to essential actions, including </a:t>
            </a:r>
            <a:r>
              <a:rPr lang="en-US" altLang="zh-CN" b="0"/>
              <a:t>linking to statement and download the result list</a:t>
            </a:r>
            <a:r>
              <a:rPr lang="zh-CN" altLang="zh-CN" b="0"/>
              <a:t>.</a:t>
            </a:r>
            <a:endParaRPr lang="zh-CN" altLang="en-US"/>
          </a:p>
        </p:txBody>
      </p:sp>
      <p:sp>
        <p:nvSpPr>
          <p:cNvPr id="3" name="标题 2">
            <a:extLst>
              <a:ext uri="{FF2B5EF4-FFF2-40B4-BE49-F238E27FC236}">
                <a16:creationId xmlns:a16="http://schemas.microsoft.com/office/drawing/2014/main" id="{B8223734-1DA2-9B40-E914-A501AFA2C4A4}"/>
              </a:ext>
            </a:extLst>
          </p:cNvPr>
          <p:cNvSpPr>
            <a:spLocks noGrp="1"/>
          </p:cNvSpPr>
          <p:nvPr>
            <p:ph type="title"/>
          </p:nvPr>
        </p:nvSpPr>
        <p:spPr/>
        <p:txBody>
          <a:bodyPr/>
          <a:lstStyle/>
          <a:p>
            <a:r>
              <a:rPr lang="en-US" altLang="zh-CN"/>
              <a:t>Statement - Search &amp; Result</a:t>
            </a:r>
            <a:endParaRPr lang="zh-CN" altLang="en-US"/>
          </a:p>
        </p:txBody>
      </p:sp>
      <p:sp>
        <p:nvSpPr>
          <p:cNvPr id="6" name="文本占位符 3">
            <a:extLst>
              <a:ext uri="{FF2B5EF4-FFF2-40B4-BE49-F238E27FC236}">
                <a16:creationId xmlns:a16="http://schemas.microsoft.com/office/drawing/2014/main" id="{A166933B-087A-7DF8-D903-9E7E42D975CA}"/>
              </a:ext>
            </a:extLst>
          </p:cNvPr>
          <p:cNvSpPr>
            <a:spLocks noGrp="1"/>
          </p:cNvSpPr>
          <p:nvPr>
            <p:ph type="body" idx="12"/>
          </p:nvPr>
        </p:nvSpPr>
        <p:spPr>
          <a:xfrm>
            <a:off x="7993930" y="1554883"/>
            <a:ext cx="3965775" cy="5072227"/>
          </a:xfrm>
        </p:spPr>
        <p:txBody>
          <a:bodyPr/>
          <a:lstStyle/>
          <a:p>
            <a:endParaRPr lang="zh-CN" altLang="en-US"/>
          </a:p>
        </p:txBody>
      </p:sp>
      <p:sp>
        <p:nvSpPr>
          <p:cNvPr id="5" name="TextBox 83">
            <a:extLst>
              <a:ext uri="{FF2B5EF4-FFF2-40B4-BE49-F238E27FC236}">
                <a16:creationId xmlns:a16="http://schemas.microsoft.com/office/drawing/2014/main" id="{8AB8E8C8-B05C-1B02-9389-4E35C999E6D6}"/>
              </a:ext>
            </a:extLst>
          </p:cNvPr>
          <p:cNvSpPr txBox="1"/>
          <p:nvPr/>
        </p:nvSpPr>
        <p:spPr>
          <a:xfrm>
            <a:off x="8232858" y="2088153"/>
            <a:ext cx="3726848" cy="209288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latin typeface="Aptos" panose="020B0004020202020204" pitchFamily="34" charset="0"/>
              </a:rPr>
              <a:t>Clicking the question mark icon displays the complete list of codes for the </a:t>
            </a:r>
            <a:r>
              <a:rPr lang="zh-CN" altLang="zh-CN" sz="1000" b="1">
                <a:latin typeface="Aptos" panose="020B0004020202020204" pitchFamily="34" charset="0"/>
              </a:rPr>
              <a:t>Approve Status</a:t>
            </a:r>
            <a:r>
              <a:rPr lang="en-US" altLang="zh-CN" sz="1000" b="1">
                <a:latin typeface="Aptos" panose="020B0004020202020204" pitchFamily="34" charset="0"/>
              </a:rPr>
              <a:t> </a:t>
            </a:r>
            <a:r>
              <a:rPr lang="zh-CN" altLang="zh-CN" sz="1000">
                <a:latin typeface="Aptos" panose="020B0004020202020204" pitchFamily="34" charset="0"/>
              </a:rPr>
              <a:t>field, along with their label descriptions.</a:t>
            </a:r>
            <a:endParaRPr lang="en-US" altLang="zh-CN" sz="1000">
              <a:latin typeface="Aptos" panose="020B0004020202020204" pitchFamily="34" charset="0"/>
            </a:endParaRPr>
          </a:p>
          <a:p>
            <a:endParaRPr lang="en-US" sz="1000">
              <a:latin typeface="Aptos" panose="020B0004020202020204" pitchFamily="34" charset="0"/>
            </a:endParaRPr>
          </a:p>
          <a:p>
            <a:r>
              <a:rPr lang="zh-CN" altLang="zh-CN" sz="1000" b="1">
                <a:latin typeface="Aptos" panose="020B0004020202020204" pitchFamily="34" charset="0"/>
              </a:rPr>
              <a:t>Approve Status</a:t>
            </a:r>
            <a:endParaRPr lang="en-US" altLang="zh-CN" sz="1000" b="1">
              <a:latin typeface="Aptos" panose="020B0004020202020204" pitchFamily="34" charset="0"/>
            </a:endParaRPr>
          </a:p>
          <a:p>
            <a:r>
              <a:rPr lang="zh-CN" altLang="zh-CN" sz="1000">
                <a:latin typeface="Aptos" panose="020B0004020202020204" pitchFamily="34" charset="0"/>
              </a:rPr>
              <a:t>Active dictionary entries available.</a:t>
            </a:r>
          </a:p>
          <a:p>
            <a:r>
              <a:rPr lang="zh-CN" altLang="zh-CN" sz="1000" b="1">
                <a:latin typeface="Aptos" panose="020B0004020202020204" pitchFamily="34" charset="0"/>
              </a:rPr>
              <a:t>Code</a:t>
            </a:r>
            <a:r>
              <a:rPr lang="en-US" altLang="zh-CN" sz="1000" b="1">
                <a:latin typeface="Aptos" panose="020B0004020202020204" pitchFamily="34" charset="0"/>
              </a:rPr>
              <a:t> </a:t>
            </a:r>
            <a:r>
              <a:rPr lang="en-US" altLang="zh-CN" sz="1000">
                <a:latin typeface="Aptos" panose="020B0004020202020204" pitchFamily="34" charset="0"/>
              </a:rPr>
              <a:t>	</a:t>
            </a:r>
            <a:r>
              <a:rPr lang="zh-CN" altLang="zh-CN" sz="1000" b="1">
                <a:latin typeface="Aptos" panose="020B0004020202020204" pitchFamily="34" charset="0"/>
              </a:rPr>
              <a:t>Label</a:t>
            </a:r>
          </a:p>
          <a:p>
            <a:r>
              <a:rPr lang="zh-CN" altLang="zh-CN" sz="1000">
                <a:latin typeface="Aptos" panose="020B0004020202020204" pitchFamily="34" charset="0"/>
              </a:rPr>
              <a:t>A</a:t>
            </a:r>
            <a:r>
              <a:rPr lang="en-US" altLang="zh-CN" sz="1000">
                <a:latin typeface="Aptos" panose="020B0004020202020204" pitchFamily="34" charset="0"/>
              </a:rPr>
              <a:t>	</a:t>
            </a:r>
            <a:r>
              <a:rPr lang="zh-CN" altLang="zh-CN" sz="1000">
                <a:latin typeface="Aptos" panose="020B0004020202020204" pitchFamily="34" charset="0"/>
              </a:rPr>
              <a:t>Approved</a:t>
            </a:r>
          </a:p>
          <a:p>
            <a:r>
              <a:rPr lang="zh-CN" altLang="zh-CN" sz="1000">
                <a:latin typeface="Aptos" panose="020B0004020202020204" pitchFamily="34" charset="0"/>
              </a:rPr>
              <a:t>R</a:t>
            </a:r>
            <a:r>
              <a:rPr lang="en-US" altLang="zh-CN" sz="1000">
                <a:latin typeface="Aptos" panose="020B0004020202020204" pitchFamily="34" charset="0"/>
              </a:rPr>
              <a:t>	</a:t>
            </a:r>
            <a:r>
              <a:rPr lang="zh-CN" altLang="zh-CN" sz="1000">
                <a:latin typeface="Aptos" panose="020B0004020202020204" pitchFamily="34" charset="0"/>
              </a:rPr>
              <a:t>Rejected</a:t>
            </a:r>
          </a:p>
          <a:p>
            <a:r>
              <a:rPr lang="zh-CN" altLang="zh-CN" sz="1000">
                <a:latin typeface="Aptos" panose="020B0004020202020204" pitchFamily="34" charset="0"/>
              </a:rPr>
              <a:t>N</a:t>
            </a:r>
            <a:r>
              <a:rPr lang="en-US" altLang="zh-CN" sz="1000">
                <a:latin typeface="Aptos" panose="020B0004020202020204" pitchFamily="34" charset="0"/>
              </a:rPr>
              <a:t>	</a:t>
            </a:r>
            <a:r>
              <a:rPr lang="zh-CN" altLang="zh-CN" sz="1000">
                <a:latin typeface="Aptos" panose="020B0004020202020204" pitchFamily="34" charset="0"/>
              </a:rPr>
              <a:t>Rejected and Unlocked</a:t>
            </a:r>
          </a:p>
          <a:p>
            <a:r>
              <a:rPr lang="zh-CN" altLang="zh-CN" sz="1000">
                <a:latin typeface="Aptos" panose="020B0004020202020204" pitchFamily="34" charset="0"/>
              </a:rPr>
              <a:t>E</a:t>
            </a:r>
            <a:r>
              <a:rPr lang="en-US" altLang="zh-CN" sz="1000">
                <a:latin typeface="Aptos" panose="020B0004020202020204" pitchFamily="34" charset="0"/>
              </a:rPr>
              <a:t>	</a:t>
            </a:r>
            <a:r>
              <a:rPr lang="zh-CN" altLang="zh-CN" sz="1000">
                <a:latin typeface="Aptos" panose="020B0004020202020204" pitchFamily="34" charset="0"/>
              </a:rPr>
              <a:t>not complete, need post processing</a:t>
            </a:r>
          </a:p>
          <a:p>
            <a:r>
              <a:rPr lang="zh-CN" altLang="zh-CN" sz="1000">
                <a:latin typeface="Aptos" panose="020B0004020202020204" pitchFamily="34" charset="0"/>
              </a:rPr>
              <a:t>W</a:t>
            </a:r>
            <a:r>
              <a:rPr lang="en-US" altLang="zh-CN" sz="1000">
                <a:latin typeface="Aptos" panose="020B0004020202020204" pitchFamily="34" charset="0"/>
              </a:rPr>
              <a:t>	</a:t>
            </a:r>
            <a:r>
              <a:rPr lang="zh-CN" altLang="zh-CN" sz="1000">
                <a:latin typeface="Aptos" panose="020B0004020202020204" pitchFamily="34" charset="0"/>
              </a:rPr>
              <a:t>Wait for process</a:t>
            </a:r>
          </a:p>
          <a:p>
            <a:endParaRPr lang="en-US" sz="1000">
              <a:latin typeface="Aptos" panose="020B0004020202020204" pitchFamily="34" charset="0"/>
            </a:endParaRPr>
          </a:p>
        </p:txBody>
      </p:sp>
      <p:sp>
        <p:nvSpPr>
          <p:cNvPr id="7" name="TextBox 92">
            <a:extLst>
              <a:ext uri="{FF2B5EF4-FFF2-40B4-BE49-F238E27FC236}">
                <a16:creationId xmlns:a16="http://schemas.microsoft.com/office/drawing/2014/main" id="{F056EA0D-EF99-8D5A-C384-4E05440AEE6D}"/>
              </a:ext>
            </a:extLst>
          </p:cNvPr>
          <p:cNvSpPr txBox="1"/>
          <p:nvPr/>
        </p:nvSpPr>
        <p:spPr>
          <a:xfrm>
            <a:off x="8308427" y="1798914"/>
            <a:ext cx="1839512" cy="292388"/>
          </a:xfrm>
          <a:prstGeom prst="rect">
            <a:avLst/>
          </a:prstGeom>
          <a:noFill/>
        </p:spPr>
        <p:txBody>
          <a:bodyPr wrap="square" rtlCol="0">
            <a:spAutoFit/>
          </a:bodyPr>
          <a:lstStyle/>
          <a:p>
            <a:r>
              <a:rPr lang="zh-CN" altLang="zh-CN" sz="1300" b="1">
                <a:solidFill>
                  <a:srgbClr val="57D3FF"/>
                </a:solidFill>
                <a:cs typeface="Lato Regular"/>
              </a:rPr>
              <a:t>Approve Status</a:t>
            </a:r>
            <a:endParaRPr lang="id-ID" altLang="zh-CN" sz="1300" b="1">
              <a:solidFill>
                <a:srgbClr val="57D3FF"/>
              </a:solidFill>
              <a:cs typeface="Lato Regular"/>
            </a:endParaRPr>
          </a:p>
        </p:txBody>
      </p:sp>
      <p:sp>
        <p:nvSpPr>
          <p:cNvPr id="9" name="Oval 113">
            <a:extLst>
              <a:ext uri="{FF2B5EF4-FFF2-40B4-BE49-F238E27FC236}">
                <a16:creationId xmlns:a16="http://schemas.microsoft.com/office/drawing/2014/main" id="{82A313C9-C3D4-EDFD-24C5-60427AE30218}"/>
              </a:ext>
            </a:extLst>
          </p:cNvPr>
          <p:cNvSpPr/>
          <p:nvPr/>
        </p:nvSpPr>
        <p:spPr>
          <a:xfrm>
            <a:off x="8067321" y="1829781"/>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pic>
        <p:nvPicPr>
          <p:cNvPr id="11" name="图片 10">
            <a:extLst>
              <a:ext uri="{FF2B5EF4-FFF2-40B4-BE49-F238E27FC236}">
                <a16:creationId xmlns:a16="http://schemas.microsoft.com/office/drawing/2014/main" id="{0DBF44BB-76B5-B3D2-53C1-530F33612C6D}"/>
              </a:ext>
            </a:extLst>
          </p:cNvPr>
          <p:cNvPicPr>
            <a:picLocks noChangeAspect="1"/>
          </p:cNvPicPr>
          <p:nvPr/>
        </p:nvPicPr>
        <p:blipFill>
          <a:blip r:embed="rId2"/>
          <a:stretch>
            <a:fillRect/>
          </a:stretch>
        </p:blipFill>
        <p:spPr>
          <a:xfrm>
            <a:off x="320182" y="1648237"/>
            <a:ext cx="6793899" cy="4648868"/>
          </a:xfrm>
          <a:prstGeom prst="rect">
            <a:avLst/>
          </a:prstGeom>
        </p:spPr>
      </p:pic>
      <p:sp>
        <p:nvSpPr>
          <p:cNvPr id="13" name="Oval 113">
            <a:extLst>
              <a:ext uri="{FF2B5EF4-FFF2-40B4-BE49-F238E27FC236}">
                <a16:creationId xmlns:a16="http://schemas.microsoft.com/office/drawing/2014/main" id="{BFF3FC67-9DB2-C683-1738-54694DDAB1DE}"/>
              </a:ext>
            </a:extLst>
          </p:cNvPr>
          <p:cNvSpPr/>
          <p:nvPr/>
        </p:nvSpPr>
        <p:spPr>
          <a:xfrm>
            <a:off x="1404146" y="4725379"/>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Tree>
    <p:extLst>
      <p:ext uri="{BB962C8B-B14F-4D97-AF65-F5344CB8AC3E}">
        <p14:creationId xmlns:p14="http://schemas.microsoft.com/office/powerpoint/2010/main" val="128656154"/>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F0357-EDB8-0966-D1D7-3F31DD5A207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DDA7A02A-F594-B83C-0AB4-F25A6677F81E}"/>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54E29CD1-886A-DCEE-EE24-CEDC1221BB78}"/>
              </a:ext>
            </a:extLst>
          </p:cNvPr>
          <p:cNvSpPr>
            <a:spLocks noGrp="1"/>
          </p:cNvSpPr>
          <p:nvPr>
            <p:ph type="title"/>
          </p:nvPr>
        </p:nvSpPr>
        <p:spPr/>
        <p:txBody>
          <a:bodyPr/>
          <a:lstStyle/>
          <a:p>
            <a:r>
              <a:rPr lang="en-US" altLang="zh-CN"/>
              <a:t>Statement - Detail</a:t>
            </a:r>
            <a:endParaRPr lang="zh-CN" altLang="en-US"/>
          </a:p>
        </p:txBody>
      </p:sp>
      <p:sp>
        <p:nvSpPr>
          <p:cNvPr id="4" name="文本占位符 3">
            <a:extLst>
              <a:ext uri="{FF2B5EF4-FFF2-40B4-BE49-F238E27FC236}">
                <a16:creationId xmlns:a16="http://schemas.microsoft.com/office/drawing/2014/main" id="{3342579B-1123-1814-52AC-C943CC96DE89}"/>
              </a:ext>
            </a:extLst>
          </p:cNvPr>
          <p:cNvSpPr>
            <a:spLocks noGrp="1"/>
          </p:cNvSpPr>
          <p:nvPr>
            <p:ph type="body" idx="12"/>
          </p:nvPr>
        </p:nvSpPr>
        <p:spPr>
          <a:xfrm>
            <a:off x="8874527" y="1554884"/>
            <a:ext cx="3226581" cy="4813690"/>
          </a:xfrm>
        </p:spPr>
        <p:txBody>
          <a:bodyPr/>
          <a:lstStyle/>
          <a:p>
            <a:endParaRPr lang="zh-CN" altLang="en-US"/>
          </a:p>
        </p:txBody>
      </p:sp>
      <p:sp>
        <p:nvSpPr>
          <p:cNvPr id="15" name="TextBox 72">
            <a:extLst>
              <a:ext uri="{FF2B5EF4-FFF2-40B4-BE49-F238E27FC236}">
                <a16:creationId xmlns:a16="http://schemas.microsoft.com/office/drawing/2014/main" id="{19173A2E-9CA4-28E3-462A-57B1760338C6}"/>
              </a:ext>
            </a:extLst>
          </p:cNvPr>
          <p:cNvSpPr txBox="1"/>
          <p:nvPr/>
        </p:nvSpPr>
        <p:spPr>
          <a:xfrm>
            <a:off x="9151481" y="1797401"/>
            <a:ext cx="1931639"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Statement</a:t>
            </a:r>
            <a:endParaRPr lang="id-ID" sz="1300" b="1">
              <a:solidFill>
                <a:schemeClr val="accent6">
                  <a:lumMod val="75000"/>
                  <a:lumOff val="25000"/>
                </a:schemeClr>
              </a:solidFill>
              <a:cs typeface="Lato Regular"/>
            </a:endParaRPr>
          </a:p>
        </p:txBody>
      </p:sp>
      <p:sp>
        <p:nvSpPr>
          <p:cNvPr id="16" name="TextBox 73">
            <a:extLst>
              <a:ext uri="{FF2B5EF4-FFF2-40B4-BE49-F238E27FC236}">
                <a16:creationId xmlns:a16="http://schemas.microsoft.com/office/drawing/2014/main" id="{44D03B67-614E-007F-C4E5-FF693338C864}"/>
              </a:ext>
            </a:extLst>
          </p:cNvPr>
          <p:cNvSpPr txBox="1"/>
          <p:nvPr/>
        </p:nvSpPr>
        <p:spPr>
          <a:xfrm>
            <a:off x="9149411" y="2057802"/>
            <a:ext cx="2922280" cy="707886"/>
          </a:xfrm>
          <a:prstGeom prst="rect">
            <a:avLst/>
          </a:prstGeom>
          <a:noFill/>
        </p:spPr>
        <p:txBody>
          <a:bodyPr wrap="square" rtlCol="0">
            <a:spAutoFit/>
          </a:bodyPr>
          <a:lstStyle/>
          <a:p>
            <a:r>
              <a:rPr lang="zh-CN" altLang="zh-CN" sz="1000">
                <a:cs typeface="Lato Light"/>
              </a:rPr>
              <a:t>The Statement tab displays key general information, such as the statement number, company code, period and date, partner function, payment terms, status, and any remarks.</a:t>
            </a:r>
            <a:endParaRPr lang="en-US" altLang="zh-CN" sz="1000">
              <a:cs typeface="Lato Light"/>
            </a:endParaRPr>
          </a:p>
        </p:txBody>
      </p:sp>
      <p:sp>
        <p:nvSpPr>
          <p:cNvPr id="23" name="Oval 111">
            <a:extLst>
              <a:ext uri="{FF2B5EF4-FFF2-40B4-BE49-F238E27FC236}">
                <a16:creationId xmlns:a16="http://schemas.microsoft.com/office/drawing/2014/main" id="{3EF09370-BEDD-0D2F-3AA0-FEA5E696D8F1}"/>
              </a:ext>
            </a:extLst>
          </p:cNvPr>
          <p:cNvSpPr/>
          <p:nvPr/>
        </p:nvSpPr>
        <p:spPr>
          <a:xfrm>
            <a:off x="8905689" y="186568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5" name="TextBox 82">
            <a:extLst>
              <a:ext uri="{FF2B5EF4-FFF2-40B4-BE49-F238E27FC236}">
                <a16:creationId xmlns:a16="http://schemas.microsoft.com/office/drawing/2014/main" id="{5A048678-4217-0324-1725-129A86BF6B53}"/>
              </a:ext>
            </a:extLst>
          </p:cNvPr>
          <p:cNvSpPr txBox="1"/>
          <p:nvPr/>
        </p:nvSpPr>
        <p:spPr>
          <a:xfrm>
            <a:off x="9125158" y="2849805"/>
            <a:ext cx="2422377" cy="292388"/>
          </a:xfrm>
          <a:prstGeom prst="rect">
            <a:avLst/>
          </a:prstGeom>
          <a:noFill/>
        </p:spPr>
        <p:txBody>
          <a:bodyPr wrap="square" rtlCol="0">
            <a:spAutoFit/>
          </a:bodyPr>
          <a:lstStyle/>
          <a:p>
            <a:r>
              <a:rPr lang="zh-CN" altLang="zh-CN" sz="1300" b="1">
                <a:solidFill>
                  <a:schemeClr val="accent4">
                    <a:lumMod val="75000"/>
                    <a:lumOff val="25000"/>
                  </a:schemeClr>
                </a:solidFill>
                <a:cs typeface="Lato Regular"/>
              </a:rPr>
              <a:t>Validation Log </a:t>
            </a:r>
            <a:endParaRPr lang="id-ID" sz="1300" b="1">
              <a:solidFill>
                <a:schemeClr val="accent4">
                  <a:lumMod val="75000"/>
                  <a:lumOff val="25000"/>
                </a:schemeClr>
              </a:solidFill>
              <a:cs typeface="Lato Regular"/>
            </a:endParaRPr>
          </a:p>
        </p:txBody>
      </p:sp>
      <p:sp>
        <p:nvSpPr>
          <p:cNvPr id="6" name="Oval 112">
            <a:extLst>
              <a:ext uri="{FF2B5EF4-FFF2-40B4-BE49-F238E27FC236}">
                <a16:creationId xmlns:a16="http://schemas.microsoft.com/office/drawing/2014/main" id="{505E37A6-CF1F-29EC-0185-CE914A419371}"/>
              </a:ext>
            </a:extLst>
          </p:cNvPr>
          <p:cNvSpPr/>
          <p:nvPr/>
        </p:nvSpPr>
        <p:spPr>
          <a:xfrm>
            <a:off x="8896558" y="288178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13" name="TextBox 93">
            <a:extLst>
              <a:ext uri="{FF2B5EF4-FFF2-40B4-BE49-F238E27FC236}">
                <a16:creationId xmlns:a16="http://schemas.microsoft.com/office/drawing/2014/main" id="{0E63EDB3-5A56-016F-34AB-D0DA1B4BFD30}"/>
              </a:ext>
            </a:extLst>
          </p:cNvPr>
          <p:cNvSpPr txBox="1"/>
          <p:nvPr/>
        </p:nvSpPr>
        <p:spPr>
          <a:xfrm>
            <a:off x="9188353" y="3181055"/>
            <a:ext cx="2922280" cy="17851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cs typeface="Lato Light"/>
              </a:rPr>
              <a:t>The Validation Log tab provides the error code and corresponding error message, enabling users to diagnose and correct errors effectively. </a:t>
            </a:r>
            <a:endParaRPr lang="en-US" altLang="zh-CN" sz="1000">
              <a:cs typeface="Lato Light"/>
            </a:endParaRPr>
          </a:p>
          <a:p>
            <a:endParaRPr lang="en-US" altLang="zh-CN" sz="1000">
              <a:cs typeface="Lato Light"/>
            </a:endParaRPr>
          </a:p>
          <a:p>
            <a:r>
              <a:rPr lang="zh-CN" altLang="zh-CN" sz="1000">
                <a:cs typeface="Lato Light"/>
              </a:rPr>
              <a:t>Clicking the Retry button to correct errors will resolve the issues for all invoices associated with this statement.</a:t>
            </a:r>
            <a:endParaRPr lang="en-US" altLang="zh-CN" sz="1000">
              <a:cs typeface="Lato Light"/>
            </a:endParaRPr>
          </a:p>
          <a:p>
            <a:endParaRPr lang="en-US" altLang="zh-CN" sz="1000">
              <a:cs typeface="Lato Light"/>
            </a:endParaRPr>
          </a:p>
          <a:p>
            <a:r>
              <a:rPr lang="zh-CN" altLang="zh-CN" sz="1000">
                <a:cs typeface="Lato Light"/>
              </a:rPr>
              <a:t>After correction, the resolution status can be tracked through the Resolved and Resolved By fields.</a:t>
            </a:r>
            <a:endParaRPr lang="en-US" altLang="zh-CN" sz="1000">
              <a:cs typeface="Lato Light"/>
            </a:endParaRPr>
          </a:p>
        </p:txBody>
      </p:sp>
      <p:pic>
        <p:nvPicPr>
          <p:cNvPr id="11" name="图片 10">
            <a:extLst>
              <a:ext uri="{FF2B5EF4-FFF2-40B4-BE49-F238E27FC236}">
                <a16:creationId xmlns:a16="http://schemas.microsoft.com/office/drawing/2014/main" id="{29B6EAA4-EFF2-C2F7-B3F1-BF06F87E2C45}"/>
              </a:ext>
            </a:extLst>
          </p:cNvPr>
          <p:cNvPicPr>
            <a:picLocks noChangeAspect="1"/>
          </p:cNvPicPr>
          <p:nvPr/>
        </p:nvPicPr>
        <p:blipFill>
          <a:blip r:embed="rId2"/>
          <a:stretch>
            <a:fillRect/>
          </a:stretch>
        </p:blipFill>
        <p:spPr>
          <a:xfrm>
            <a:off x="287398" y="1470041"/>
            <a:ext cx="8557712" cy="3846108"/>
          </a:xfrm>
          <a:prstGeom prst="rect">
            <a:avLst/>
          </a:prstGeom>
        </p:spPr>
      </p:pic>
      <p:pic>
        <p:nvPicPr>
          <p:cNvPr id="14" name="图片 13">
            <a:extLst>
              <a:ext uri="{FF2B5EF4-FFF2-40B4-BE49-F238E27FC236}">
                <a16:creationId xmlns:a16="http://schemas.microsoft.com/office/drawing/2014/main" id="{E36CCE33-90F8-36CC-07DF-19E57FA53642}"/>
              </a:ext>
            </a:extLst>
          </p:cNvPr>
          <p:cNvPicPr>
            <a:picLocks noChangeAspect="1"/>
          </p:cNvPicPr>
          <p:nvPr/>
        </p:nvPicPr>
        <p:blipFill>
          <a:blip r:embed="rId3"/>
          <a:stretch>
            <a:fillRect/>
          </a:stretch>
        </p:blipFill>
        <p:spPr>
          <a:xfrm>
            <a:off x="296757" y="4800340"/>
            <a:ext cx="8541616" cy="1723008"/>
          </a:xfrm>
          <a:prstGeom prst="rect">
            <a:avLst/>
          </a:prstGeom>
        </p:spPr>
      </p:pic>
      <p:sp>
        <p:nvSpPr>
          <p:cNvPr id="19" name="Oval 111">
            <a:extLst>
              <a:ext uri="{FF2B5EF4-FFF2-40B4-BE49-F238E27FC236}">
                <a16:creationId xmlns:a16="http://schemas.microsoft.com/office/drawing/2014/main" id="{5AC74EF0-9FDF-C973-2AC3-F6791CE0F72A}"/>
              </a:ext>
            </a:extLst>
          </p:cNvPr>
          <p:cNvSpPr/>
          <p:nvPr/>
        </p:nvSpPr>
        <p:spPr>
          <a:xfrm>
            <a:off x="201311" y="212565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1" name="Oval 112">
            <a:extLst>
              <a:ext uri="{FF2B5EF4-FFF2-40B4-BE49-F238E27FC236}">
                <a16:creationId xmlns:a16="http://schemas.microsoft.com/office/drawing/2014/main" id="{A2547C82-ACA5-0766-CEC3-A03FC543F31B}"/>
              </a:ext>
            </a:extLst>
          </p:cNvPr>
          <p:cNvSpPr/>
          <p:nvPr/>
        </p:nvSpPr>
        <p:spPr>
          <a:xfrm>
            <a:off x="708098" y="466570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816379408"/>
      </p:ext>
    </p:ext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CD271-773A-020B-B9AF-184698FD88D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B3E160F-4E84-B069-C3AB-695F79981E0A}"/>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B9E33DD3-EFFF-005E-7E0F-FCEBCAE14615}"/>
              </a:ext>
            </a:extLst>
          </p:cNvPr>
          <p:cNvSpPr>
            <a:spLocks noGrp="1"/>
          </p:cNvSpPr>
          <p:nvPr>
            <p:ph type="title"/>
          </p:nvPr>
        </p:nvSpPr>
        <p:spPr/>
        <p:txBody>
          <a:bodyPr/>
          <a:lstStyle/>
          <a:p>
            <a:r>
              <a:rPr lang="en-US" altLang="zh-CN"/>
              <a:t>Statement - Detail</a:t>
            </a:r>
            <a:endParaRPr lang="zh-CN" altLang="en-US"/>
          </a:p>
        </p:txBody>
      </p:sp>
      <p:sp>
        <p:nvSpPr>
          <p:cNvPr id="4" name="文本占位符 3">
            <a:extLst>
              <a:ext uri="{FF2B5EF4-FFF2-40B4-BE49-F238E27FC236}">
                <a16:creationId xmlns:a16="http://schemas.microsoft.com/office/drawing/2014/main" id="{46C29FF3-5161-8BA4-8726-F40B1C10EF75}"/>
              </a:ext>
            </a:extLst>
          </p:cNvPr>
          <p:cNvSpPr>
            <a:spLocks noGrp="1"/>
          </p:cNvSpPr>
          <p:nvPr>
            <p:ph type="body" idx="12"/>
          </p:nvPr>
        </p:nvSpPr>
        <p:spPr>
          <a:xfrm>
            <a:off x="8883956" y="1554884"/>
            <a:ext cx="3226581" cy="4813690"/>
          </a:xfrm>
        </p:spPr>
        <p:txBody>
          <a:bodyPr/>
          <a:lstStyle/>
          <a:p>
            <a:endParaRPr lang="zh-CN" altLang="en-US"/>
          </a:p>
        </p:txBody>
      </p:sp>
      <p:pic>
        <p:nvPicPr>
          <p:cNvPr id="6" name="图片 5">
            <a:extLst>
              <a:ext uri="{FF2B5EF4-FFF2-40B4-BE49-F238E27FC236}">
                <a16:creationId xmlns:a16="http://schemas.microsoft.com/office/drawing/2014/main" id="{805279D2-0754-E4EE-1DE0-5AC2AA55FC6A}"/>
              </a:ext>
            </a:extLst>
          </p:cNvPr>
          <p:cNvPicPr>
            <a:picLocks noChangeAspect="1"/>
          </p:cNvPicPr>
          <p:nvPr/>
        </p:nvPicPr>
        <p:blipFill>
          <a:blip r:embed="rId2"/>
          <a:stretch>
            <a:fillRect/>
          </a:stretch>
        </p:blipFill>
        <p:spPr>
          <a:xfrm>
            <a:off x="354778" y="1554884"/>
            <a:ext cx="8507196" cy="2273475"/>
          </a:xfrm>
          <a:prstGeom prst="rect">
            <a:avLst/>
          </a:prstGeom>
        </p:spPr>
      </p:pic>
      <p:pic>
        <p:nvPicPr>
          <p:cNvPr id="11" name="图片 10">
            <a:extLst>
              <a:ext uri="{FF2B5EF4-FFF2-40B4-BE49-F238E27FC236}">
                <a16:creationId xmlns:a16="http://schemas.microsoft.com/office/drawing/2014/main" id="{CC1BD116-6386-BB49-1BA4-93B0E42DCA18}"/>
              </a:ext>
            </a:extLst>
          </p:cNvPr>
          <p:cNvPicPr>
            <a:picLocks noChangeAspect="1"/>
          </p:cNvPicPr>
          <p:nvPr/>
        </p:nvPicPr>
        <p:blipFill>
          <a:blip r:embed="rId3"/>
          <a:stretch>
            <a:fillRect/>
          </a:stretch>
        </p:blipFill>
        <p:spPr>
          <a:xfrm>
            <a:off x="2634342" y="3773082"/>
            <a:ext cx="6183729" cy="2854029"/>
          </a:xfrm>
          <a:prstGeom prst="rect">
            <a:avLst/>
          </a:prstGeom>
        </p:spPr>
      </p:pic>
      <p:sp>
        <p:nvSpPr>
          <p:cNvPr id="5" name="TextBox 92">
            <a:extLst>
              <a:ext uri="{FF2B5EF4-FFF2-40B4-BE49-F238E27FC236}">
                <a16:creationId xmlns:a16="http://schemas.microsoft.com/office/drawing/2014/main" id="{9F2037E5-2D99-3520-F32F-B1220658DDF4}"/>
              </a:ext>
            </a:extLst>
          </p:cNvPr>
          <p:cNvSpPr txBox="1"/>
          <p:nvPr/>
        </p:nvSpPr>
        <p:spPr>
          <a:xfrm>
            <a:off x="9169459" y="1760225"/>
            <a:ext cx="2458998" cy="292388"/>
          </a:xfrm>
          <a:prstGeom prst="rect">
            <a:avLst/>
          </a:prstGeom>
          <a:noFill/>
        </p:spPr>
        <p:txBody>
          <a:bodyPr wrap="square" rtlCol="0">
            <a:spAutoFit/>
          </a:bodyPr>
          <a:lstStyle/>
          <a:p>
            <a:r>
              <a:rPr lang="zh-CN" altLang="zh-CN" sz="1300" b="1">
                <a:solidFill>
                  <a:schemeClr val="accent4">
                    <a:lumMod val="75000"/>
                    <a:lumOff val="25000"/>
                  </a:schemeClr>
                </a:solidFill>
                <a:cs typeface="Lato Regular"/>
              </a:rPr>
              <a:t>Approver</a:t>
            </a:r>
            <a:r>
              <a:rPr lang="en-US" altLang="zh-CN" sz="1300" b="1">
                <a:solidFill>
                  <a:schemeClr val="accent4">
                    <a:lumMod val="75000"/>
                    <a:lumOff val="25000"/>
                  </a:schemeClr>
                </a:solidFill>
                <a:cs typeface="Lato Regular"/>
              </a:rPr>
              <a:t> and </a:t>
            </a:r>
            <a:r>
              <a:rPr lang="zh-CN" altLang="zh-CN" sz="1300" b="1">
                <a:solidFill>
                  <a:schemeClr val="accent4">
                    <a:lumMod val="75000"/>
                    <a:lumOff val="25000"/>
                  </a:schemeClr>
                </a:solidFill>
                <a:cs typeface="Lato Regular"/>
              </a:rPr>
              <a:t>Customer Email</a:t>
            </a:r>
            <a:endParaRPr lang="id-ID" sz="1300" b="1">
              <a:solidFill>
                <a:schemeClr val="accent4">
                  <a:lumMod val="75000"/>
                  <a:lumOff val="25000"/>
                </a:schemeClr>
              </a:solidFill>
              <a:cs typeface="Lato Regular"/>
            </a:endParaRPr>
          </a:p>
        </p:txBody>
      </p:sp>
      <p:sp>
        <p:nvSpPr>
          <p:cNvPr id="7" name="TextBox 93">
            <a:extLst>
              <a:ext uri="{FF2B5EF4-FFF2-40B4-BE49-F238E27FC236}">
                <a16:creationId xmlns:a16="http://schemas.microsoft.com/office/drawing/2014/main" id="{731744C1-9DDF-1DAC-D592-349E4D273B25}"/>
              </a:ext>
            </a:extLst>
          </p:cNvPr>
          <p:cNvSpPr txBox="1"/>
          <p:nvPr/>
        </p:nvSpPr>
        <p:spPr>
          <a:xfrm>
            <a:off x="9169459" y="2030417"/>
            <a:ext cx="2941078" cy="553998"/>
          </a:xfrm>
          <a:prstGeom prst="rect">
            <a:avLst/>
          </a:prstGeom>
          <a:noFill/>
        </p:spPr>
        <p:txBody>
          <a:bodyPr wrap="square" rtlCol="0">
            <a:spAutoFit/>
          </a:bodyPr>
          <a:lstStyle/>
          <a:p>
            <a:r>
              <a:rPr lang="zh-CN" altLang="zh-CN" sz="1000">
                <a:cs typeface="Lato Light"/>
              </a:rPr>
              <a:t>Users can view the approver's and customer's email addresses listed here, enabling them to send emails directly to both parties.</a:t>
            </a:r>
            <a:endParaRPr lang="en-US" sz="1000">
              <a:cs typeface="Lato Light"/>
            </a:endParaRPr>
          </a:p>
        </p:txBody>
      </p:sp>
      <p:sp>
        <p:nvSpPr>
          <p:cNvPr id="8" name="TextBox 97">
            <a:extLst>
              <a:ext uri="{FF2B5EF4-FFF2-40B4-BE49-F238E27FC236}">
                <a16:creationId xmlns:a16="http://schemas.microsoft.com/office/drawing/2014/main" id="{46426399-B152-C3DD-39EA-2D65F1861996}"/>
              </a:ext>
            </a:extLst>
          </p:cNvPr>
          <p:cNvSpPr txBox="1"/>
          <p:nvPr/>
        </p:nvSpPr>
        <p:spPr>
          <a:xfrm>
            <a:off x="9195260" y="2739440"/>
            <a:ext cx="2156972" cy="292388"/>
          </a:xfrm>
          <a:prstGeom prst="rect">
            <a:avLst/>
          </a:prstGeom>
          <a:noFill/>
        </p:spPr>
        <p:txBody>
          <a:bodyPr wrap="square" rtlCol="0">
            <a:spAutoFit/>
          </a:bodyPr>
          <a:lstStyle/>
          <a:p>
            <a:r>
              <a:rPr lang="en-US" sz="1300" b="1">
                <a:solidFill>
                  <a:schemeClr val="tx2"/>
                </a:solidFill>
                <a:cs typeface="Lato Regular"/>
              </a:rPr>
              <a:t>Customer Invoice Profile</a:t>
            </a:r>
            <a:endParaRPr lang="id-ID" sz="1300" b="1">
              <a:solidFill>
                <a:schemeClr val="tx2"/>
              </a:solidFill>
              <a:cs typeface="Lato Regular"/>
            </a:endParaRPr>
          </a:p>
        </p:txBody>
      </p:sp>
      <p:sp>
        <p:nvSpPr>
          <p:cNvPr id="10" name="TextBox 98">
            <a:extLst>
              <a:ext uri="{FF2B5EF4-FFF2-40B4-BE49-F238E27FC236}">
                <a16:creationId xmlns:a16="http://schemas.microsoft.com/office/drawing/2014/main" id="{148C4C9D-69B8-835E-F99C-3C8D8703EF7D}"/>
              </a:ext>
            </a:extLst>
          </p:cNvPr>
          <p:cNvSpPr txBox="1"/>
          <p:nvPr/>
        </p:nvSpPr>
        <p:spPr>
          <a:xfrm>
            <a:off x="9183571" y="2989391"/>
            <a:ext cx="2926966" cy="1015663"/>
          </a:xfrm>
          <a:prstGeom prst="rect">
            <a:avLst/>
          </a:prstGeom>
          <a:noFill/>
        </p:spPr>
        <p:txBody>
          <a:bodyPr wrap="square" rtlCol="0">
            <a:spAutoFit/>
          </a:bodyPr>
          <a:lstStyle/>
          <a:p>
            <a:r>
              <a:rPr lang="zh-CN" altLang="zh-CN" sz="1000">
                <a:cs typeface="Lato Light"/>
              </a:rPr>
              <a:t>Navigate to Master Data &gt; Account Master, then go to the Customer Invoice Profile tab. </a:t>
            </a:r>
            <a:endParaRPr lang="en-US" altLang="zh-CN" sz="1000">
              <a:cs typeface="Lato Light"/>
            </a:endParaRPr>
          </a:p>
          <a:p>
            <a:endParaRPr lang="en-US" altLang="zh-CN" sz="1000">
              <a:cs typeface="Lato Light"/>
            </a:endParaRPr>
          </a:p>
          <a:p>
            <a:r>
              <a:rPr lang="zh-CN" altLang="zh-CN" sz="1000">
                <a:cs typeface="Lato Light"/>
              </a:rPr>
              <a:t>From there, users can view both the approver email address and the customer email address, which are synced from ServiceNow.</a:t>
            </a:r>
            <a:endParaRPr lang="en-US" altLang="zh-CN" sz="1000">
              <a:cs typeface="Lato Light"/>
            </a:endParaRPr>
          </a:p>
        </p:txBody>
      </p:sp>
      <p:sp>
        <p:nvSpPr>
          <p:cNvPr id="12" name="Oval 113">
            <a:extLst>
              <a:ext uri="{FF2B5EF4-FFF2-40B4-BE49-F238E27FC236}">
                <a16:creationId xmlns:a16="http://schemas.microsoft.com/office/drawing/2014/main" id="{D4EDEBA4-A31C-5613-1509-DDFD6C1D67DE}"/>
              </a:ext>
            </a:extLst>
          </p:cNvPr>
          <p:cNvSpPr/>
          <p:nvPr/>
        </p:nvSpPr>
        <p:spPr>
          <a:xfrm>
            <a:off x="8928353" y="1791092"/>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13" name="Oval 114">
            <a:extLst>
              <a:ext uri="{FF2B5EF4-FFF2-40B4-BE49-F238E27FC236}">
                <a16:creationId xmlns:a16="http://schemas.microsoft.com/office/drawing/2014/main" id="{7C4CFF69-EC09-4D46-B9F3-D9A5C02CFE08}"/>
              </a:ext>
            </a:extLst>
          </p:cNvPr>
          <p:cNvSpPr/>
          <p:nvPr/>
        </p:nvSpPr>
        <p:spPr>
          <a:xfrm>
            <a:off x="8944677" y="2747969"/>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17" name="TextBox 93">
            <a:extLst>
              <a:ext uri="{FF2B5EF4-FFF2-40B4-BE49-F238E27FC236}">
                <a16:creationId xmlns:a16="http://schemas.microsoft.com/office/drawing/2014/main" id="{21567173-8721-6CB7-DFF8-A53DCBD63C53}"/>
              </a:ext>
            </a:extLst>
          </p:cNvPr>
          <p:cNvSpPr txBox="1"/>
          <p:nvPr/>
        </p:nvSpPr>
        <p:spPr>
          <a:xfrm>
            <a:off x="9186044" y="4541499"/>
            <a:ext cx="2922280" cy="86177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000">
                <a:cs typeface="Lato Light"/>
              </a:rPr>
              <a:t>This section displays all invoices grouped under a single statement. </a:t>
            </a:r>
            <a:endParaRPr lang="en-US" altLang="zh-CN" sz="1000">
              <a:cs typeface="Lato Light"/>
            </a:endParaRPr>
          </a:p>
          <a:p>
            <a:endParaRPr lang="en-US" altLang="zh-CN" sz="1000">
              <a:cs typeface="Lato Light"/>
            </a:endParaRPr>
          </a:p>
          <a:p>
            <a:r>
              <a:rPr lang="zh-CN" altLang="zh-CN" sz="1000">
                <a:cs typeface="Lato Light"/>
              </a:rPr>
              <a:t>Each invoice number is a clickable hyperlink that opens its corresponding document detail page.</a:t>
            </a:r>
            <a:endParaRPr lang="en-US" altLang="zh-CN" sz="1000">
              <a:cs typeface="Lato Light"/>
            </a:endParaRPr>
          </a:p>
        </p:txBody>
      </p:sp>
      <p:sp>
        <p:nvSpPr>
          <p:cNvPr id="19" name="TextBox 92">
            <a:extLst>
              <a:ext uri="{FF2B5EF4-FFF2-40B4-BE49-F238E27FC236}">
                <a16:creationId xmlns:a16="http://schemas.microsoft.com/office/drawing/2014/main" id="{3D757D52-C927-7AFA-A27C-8538CE053C0D}"/>
              </a:ext>
            </a:extLst>
          </p:cNvPr>
          <p:cNvSpPr txBox="1"/>
          <p:nvPr/>
        </p:nvSpPr>
        <p:spPr>
          <a:xfrm>
            <a:off x="9188257" y="4254183"/>
            <a:ext cx="1839512" cy="2923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1300" b="1">
                <a:solidFill>
                  <a:srgbClr val="57D3FF"/>
                </a:solidFill>
                <a:cs typeface="Lato Regular"/>
              </a:rPr>
              <a:t>Billing Summary</a:t>
            </a:r>
            <a:endParaRPr lang="en-US" sz="1300" b="1">
              <a:solidFill>
                <a:srgbClr val="57D3FF"/>
              </a:solidFill>
              <a:cs typeface="Lato Regular"/>
            </a:endParaRPr>
          </a:p>
        </p:txBody>
      </p:sp>
      <p:sp>
        <p:nvSpPr>
          <p:cNvPr id="21" name="Oval 113">
            <a:extLst>
              <a:ext uri="{FF2B5EF4-FFF2-40B4-BE49-F238E27FC236}">
                <a16:creationId xmlns:a16="http://schemas.microsoft.com/office/drawing/2014/main" id="{E640DB08-F1B0-1C72-28C7-FF4A1431DEF1}"/>
              </a:ext>
            </a:extLst>
          </p:cNvPr>
          <p:cNvSpPr/>
          <p:nvPr/>
        </p:nvSpPr>
        <p:spPr>
          <a:xfrm>
            <a:off x="8947151" y="4285050"/>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5</a:t>
            </a:r>
          </a:p>
        </p:txBody>
      </p:sp>
      <p:sp>
        <p:nvSpPr>
          <p:cNvPr id="22" name="Oval 113">
            <a:extLst>
              <a:ext uri="{FF2B5EF4-FFF2-40B4-BE49-F238E27FC236}">
                <a16:creationId xmlns:a16="http://schemas.microsoft.com/office/drawing/2014/main" id="{4C2E9641-08B6-06A1-8805-A7C0CB7A82F8}"/>
              </a:ext>
            </a:extLst>
          </p:cNvPr>
          <p:cNvSpPr/>
          <p:nvPr/>
        </p:nvSpPr>
        <p:spPr>
          <a:xfrm>
            <a:off x="185971" y="1400567"/>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24" name="Oval 114">
            <a:extLst>
              <a:ext uri="{FF2B5EF4-FFF2-40B4-BE49-F238E27FC236}">
                <a16:creationId xmlns:a16="http://schemas.microsoft.com/office/drawing/2014/main" id="{2D3EEE6B-019B-BAF0-C4CA-922A269F3826}"/>
              </a:ext>
            </a:extLst>
          </p:cNvPr>
          <p:cNvSpPr/>
          <p:nvPr/>
        </p:nvSpPr>
        <p:spPr>
          <a:xfrm>
            <a:off x="5535315" y="4215603"/>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sp>
        <p:nvSpPr>
          <p:cNvPr id="26" name="Oval 113">
            <a:extLst>
              <a:ext uri="{FF2B5EF4-FFF2-40B4-BE49-F238E27FC236}">
                <a16:creationId xmlns:a16="http://schemas.microsoft.com/office/drawing/2014/main" id="{E8F280C0-C5D7-1296-3AF5-B282D426AEA5}"/>
              </a:ext>
            </a:extLst>
          </p:cNvPr>
          <p:cNvSpPr/>
          <p:nvPr/>
        </p:nvSpPr>
        <p:spPr>
          <a:xfrm>
            <a:off x="204573" y="2697711"/>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5</a:t>
            </a:r>
          </a:p>
        </p:txBody>
      </p:sp>
    </p:spTree>
    <p:extLst>
      <p:ext uri="{BB962C8B-B14F-4D97-AF65-F5344CB8AC3E}">
        <p14:creationId xmlns:p14="http://schemas.microsoft.com/office/powerpoint/2010/main" val="2000649994"/>
      </p:ext>
    </p:ext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47CB0-56A0-EE55-09FA-BD4AC72A107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C490495-FA7C-A275-8AFA-73F705F56667}"/>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D19B2739-171B-7B37-1EA2-2DF552C2B6AF}"/>
              </a:ext>
            </a:extLst>
          </p:cNvPr>
          <p:cNvSpPr>
            <a:spLocks noGrp="1"/>
          </p:cNvSpPr>
          <p:nvPr>
            <p:ph type="title"/>
          </p:nvPr>
        </p:nvSpPr>
        <p:spPr/>
        <p:txBody>
          <a:bodyPr/>
          <a:lstStyle/>
          <a:p>
            <a:r>
              <a:rPr lang="en-US" altLang="zh-CN"/>
              <a:t>Statement – Add Remark on Statement Level</a:t>
            </a:r>
            <a:endParaRPr lang="zh-CN" altLang="en-US"/>
          </a:p>
        </p:txBody>
      </p:sp>
      <p:sp>
        <p:nvSpPr>
          <p:cNvPr id="4" name="文本占位符 3">
            <a:extLst>
              <a:ext uri="{FF2B5EF4-FFF2-40B4-BE49-F238E27FC236}">
                <a16:creationId xmlns:a16="http://schemas.microsoft.com/office/drawing/2014/main" id="{395D6C84-CBE0-C73F-7217-E69A0C61452D}"/>
              </a:ext>
            </a:extLst>
          </p:cNvPr>
          <p:cNvSpPr>
            <a:spLocks noGrp="1"/>
          </p:cNvSpPr>
          <p:nvPr>
            <p:ph type="body" idx="12"/>
          </p:nvPr>
        </p:nvSpPr>
        <p:spPr>
          <a:xfrm>
            <a:off x="8817967" y="1554884"/>
            <a:ext cx="3226581" cy="4813690"/>
          </a:xfrm>
        </p:spPr>
        <p:txBody>
          <a:bodyPr/>
          <a:lstStyle/>
          <a:p>
            <a:endParaRPr lang="zh-CN" altLang="en-US"/>
          </a:p>
        </p:txBody>
      </p:sp>
      <p:sp>
        <p:nvSpPr>
          <p:cNvPr id="15" name="TextBox 72">
            <a:extLst>
              <a:ext uri="{FF2B5EF4-FFF2-40B4-BE49-F238E27FC236}">
                <a16:creationId xmlns:a16="http://schemas.microsoft.com/office/drawing/2014/main" id="{462E3BA7-8E2F-AB72-AEDC-119D7A00AA07}"/>
              </a:ext>
            </a:extLst>
          </p:cNvPr>
          <p:cNvSpPr txBox="1"/>
          <p:nvPr/>
        </p:nvSpPr>
        <p:spPr>
          <a:xfrm>
            <a:off x="9152855" y="1797401"/>
            <a:ext cx="2267522"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Add Remark on Statement</a:t>
            </a:r>
            <a:endParaRPr lang="id-ID" sz="1300" b="1">
              <a:solidFill>
                <a:schemeClr val="accent6">
                  <a:lumMod val="75000"/>
                  <a:lumOff val="25000"/>
                </a:schemeClr>
              </a:solidFill>
              <a:cs typeface="Lato Regular"/>
            </a:endParaRPr>
          </a:p>
        </p:txBody>
      </p:sp>
      <p:sp>
        <p:nvSpPr>
          <p:cNvPr id="16" name="TextBox 73">
            <a:extLst>
              <a:ext uri="{FF2B5EF4-FFF2-40B4-BE49-F238E27FC236}">
                <a16:creationId xmlns:a16="http://schemas.microsoft.com/office/drawing/2014/main" id="{4215A877-5194-8542-A1E7-6322B07EDFE7}"/>
              </a:ext>
            </a:extLst>
          </p:cNvPr>
          <p:cNvSpPr txBox="1"/>
          <p:nvPr/>
        </p:nvSpPr>
        <p:spPr>
          <a:xfrm>
            <a:off x="8907062" y="2057802"/>
            <a:ext cx="3137485" cy="1785104"/>
          </a:xfrm>
          <a:prstGeom prst="rect">
            <a:avLst/>
          </a:prstGeom>
          <a:noFill/>
        </p:spPr>
        <p:txBody>
          <a:bodyPr wrap="square" rtlCol="0">
            <a:spAutoFit/>
          </a:bodyPr>
          <a:lstStyle/>
          <a:p>
            <a:r>
              <a:rPr lang="zh-CN" altLang="zh-CN" sz="1000">
                <a:cs typeface="Lato Light"/>
              </a:rPr>
              <a:t>To add a remark to a statement, navigate to the </a:t>
            </a:r>
            <a:r>
              <a:rPr lang="zh-CN" altLang="zh-CN" sz="1000" b="1">
                <a:cs typeface="Lato Light"/>
              </a:rPr>
              <a:t>Statement </a:t>
            </a:r>
            <a:r>
              <a:rPr lang="zh-CN" altLang="zh-CN" sz="1000">
                <a:cs typeface="Lato Light"/>
              </a:rPr>
              <a:t>tab and click the </a:t>
            </a:r>
            <a:r>
              <a:rPr lang="zh-CN" altLang="zh-CN" sz="1000" b="1">
                <a:cs typeface="Lato Light"/>
              </a:rPr>
              <a:t>Add Remark</a:t>
            </a:r>
            <a:r>
              <a:rPr lang="zh-CN" altLang="zh-CN" sz="1000">
                <a:cs typeface="Lato Light"/>
              </a:rPr>
              <a:t> button. </a:t>
            </a:r>
            <a:endParaRPr lang="en-US" altLang="zh-CN" sz="1000">
              <a:cs typeface="Lato Light"/>
            </a:endParaRPr>
          </a:p>
          <a:p>
            <a:endParaRPr lang="en-US" altLang="zh-CN" sz="1000">
              <a:cs typeface="Lato Light"/>
            </a:endParaRPr>
          </a:p>
          <a:p>
            <a:r>
              <a:rPr lang="zh-CN" altLang="zh-CN" sz="1000">
                <a:cs typeface="Lato Light"/>
              </a:rPr>
              <a:t>In the pop-up window that appears, type your remark and click </a:t>
            </a:r>
            <a:r>
              <a:rPr lang="zh-CN" altLang="zh-CN" sz="1000" b="1">
                <a:cs typeface="Lato Light"/>
              </a:rPr>
              <a:t>Save</a:t>
            </a:r>
            <a:r>
              <a:rPr lang="zh-CN" altLang="zh-CN" sz="1000">
                <a:cs typeface="Lato Light"/>
              </a:rPr>
              <a:t>. </a:t>
            </a:r>
            <a:endParaRPr lang="en-US" altLang="zh-CN" sz="1000">
              <a:cs typeface="Lato Light"/>
            </a:endParaRPr>
          </a:p>
          <a:p>
            <a:endParaRPr lang="en-US" altLang="zh-CN" sz="1000">
              <a:cs typeface="Lato Light"/>
            </a:endParaRPr>
          </a:p>
          <a:p>
            <a:r>
              <a:rPr lang="zh-CN" altLang="zh-CN" sz="1000">
                <a:cs typeface="Lato Light"/>
              </a:rPr>
              <a:t>Note that the remark will only be saved to the current statement.</a:t>
            </a:r>
            <a:endParaRPr lang="en-US" altLang="zh-CN" sz="1000">
              <a:cs typeface="Lato Light"/>
            </a:endParaRPr>
          </a:p>
          <a:p>
            <a:endParaRPr lang="en-US" altLang="zh-CN" sz="1000">
              <a:cs typeface="Lato Light"/>
            </a:endParaRPr>
          </a:p>
          <a:p>
            <a:r>
              <a:rPr lang="zh-CN" altLang="zh-CN" sz="1000">
                <a:cs typeface="Lato Light"/>
              </a:rPr>
              <a:t>The added remark can then be verified on the printed PDF of the statement.</a:t>
            </a:r>
            <a:endParaRPr lang="en-US" altLang="zh-CN" sz="1000">
              <a:cs typeface="Lato Light"/>
            </a:endParaRPr>
          </a:p>
        </p:txBody>
      </p:sp>
      <p:sp>
        <p:nvSpPr>
          <p:cNvPr id="23" name="Oval 111">
            <a:extLst>
              <a:ext uri="{FF2B5EF4-FFF2-40B4-BE49-F238E27FC236}">
                <a16:creationId xmlns:a16="http://schemas.microsoft.com/office/drawing/2014/main" id="{3A869DD9-3634-F0E9-C91B-31A39F6B382A}"/>
              </a:ext>
            </a:extLst>
          </p:cNvPr>
          <p:cNvSpPr/>
          <p:nvPr/>
        </p:nvSpPr>
        <p:spPr>
          <a:xfrm>
            <a:off x="8907063" y="186568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7" name="图片 6">
            <a:extLst>
              <a:ext uri="{FF2B5EF4-FFF2-40B4-BE49-F238E27FC236}">
                <a16:creationId xmlns:a16="http://schemas.microsoft.com/office/drawing/2014/main" id="{EA02D5B6-A394-3FCD-A7C6-6BBA3BE729E1}"/>
              </a:ext>
            </a:extLst>
          </p:cNvPr>
          <p:cNvPicPr>
            <a:picLocks noChangeAspect="1"/>
          </p:cNvPicPr>
          <p:nvPr/>
        </p:nvPicPr>
        <p:blipFill>
          <a:blip r:embed="rId2"/>
          <a:stretch>
            <a:fillRect/>
          </a:stretch>
        </p:blipFill>
        <p:spPr>
          <a:xfrm>
            <a:off x="233285" y="1554884"/>
            <a:ext cx="8495935" cy="3334808"/>
          </a:xfrm>
          <a:prstGeom prst="rect">
            <a:avLst/>
          </a:prstGeom>
        </p:spPr>
      </p:pic>
      <p:sp>
        <p:nvSpPr>
          <p:cNvPr id="11" name="Oval 111">
            <a:extLst>
              <a:ext uri="{FF2B5EF4-FFF2-40B4-BE49-F238E27FC236}">
                <a16:creationId xmlns:a16="http://schemas.microsoft.com/office/drawing/2014/main" id="{5EDA321C-64FF-5AE1-31DB-847FFAAF0551}"/>
              </a:ext>
            </a:extLst>
          </p:cNvPr>
          <p:cNvSpPr/>
          <p:nvPr/>
        </p:nvSpPr>
        <p:spPr>
          <a:xfrm>
            <a:off x="7753558" y="3936674"/>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19" name="图片 18">
            <a:extLst>
              <a:ext uri="{FF2B5EF4-FFF2-40B4-BE49-F238E27FC236}">
                <a16:creationId xmlns:a16="http://schemas.microsoft.com/office/drawing/2014/main" id="{6501FB96-D83E-FF99-F569-3BDC39C3707E}"/>
              </a:ext>
            </a:extLst>
          </p:cNvPr>
          <p:cNvPicPr>
            <a:picLocks noChangeAspect="1"/>
          </p:cNvPicPr>
          <p:nvPr/>
        </p:nvPicPr>
        <p:blipFill>
          <a:blip r:embed="rId3"/>
          <a:stretch>
            <a:fillRect/>
          </a:stretch>
        </p:blipFill>
        <p:spPr>
          <a:xfrm>
            <a:off x="4690617" y="4355857"/>
            <a:ext cx="4038603" cy="2482343"/>
          </a:xfrm>
          <a:prstGeom prst="rect">
            <a:avLst/>
          </a:prstGeom>
        </p:spPr>
      </p:pic>
      <p:pic>
        <p:nvPicPr>
          <p:cNvPr id="21" name="图片 20">
            <a:extLst>
              <a:ext uri="{FF2B5EF4-FFF2-40B4-BE49-F238E27FC236}">
                <a16:creationId xmlns:a16="http://schemas.microsoft.com/office/drawing/2014/main" id="{41633EC9-AA06-8D8D-798C-D41501DFE901}"/>
              </a:ext>
            </a:extLst>
          </p:cNvPr>
          <p:cNvPicPr>
            <a:picLocks noChangeAspect="1"/>
          </p:cNvPicPr>
          <p:nvPr/>
        </p:nvPicPr>
        <p:blipFill>
          <a:blip r:embed="rId4"/>
          <a:stretch>
            <a:fillRect/>
          </a:stretch>
        </p:blipFill>
        <p:spPr>
          <a:xfrm>
            <a:off x="164360" y="4593294"/>
            <a:ext cx="4595182" cy="1849232"/>
          </a:xfrm>
          <a:prstGeom prst="rect">
            <a:avLst/>
          </a:prstGeom>
        </p:spPr>
      </p:pic>
      <p:sp>
        <p:nvSpPr>
          <p:cNvPr id="24" name="Oval 111">
            <a:extLst>
              <a:ext uri="{FF2B5EF4-FFF2-40B4-BE49-F238E27FC236}">
                <a16:creationId xmlns:a16="http://schemas.microsoft.com/office/drawing/2014/main" id="{0CE8A67F-AD4B-D95B-5737-0240CDC67018}"/>
              </a:ext>
            </a:extLst>
          </p:cNvPr>
          <p:cNvSpPr/>
          <p:nvPr/>
        </p:nvSpPr>
        <p:spPr>
          <a:xfrm>
            <a:off x="4811570" y="469980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26" name="Oval 111">
            <a:extLst>
              <a:ext uri="{FF2B5EF4-FFF2-40B4-BE49-F238E27FC236}">
                <a16:creationId xmlns:a16="http://schemas.microsoft.com/office/drawing/2014/main" id="{3523AF51-4C77-0F7B-C33F-D53F19FD7F46}"/>
              </a:ext>
            </a:extLst>
          </p:cNvPr>
          <p:cNvSpPr/>
          <p:nvPr/>
        </p:nvSpPr>
        <p:spPr>
          <a:xfrm>
            <a:off x="110732" y="595524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4068005838"/>
      </p:ext>
    </p:extLst>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C505-4AAF-F0B8-9310-A8451E82DB5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BAFFDD4-708F-445B-0FBF-20B8EB2BA213}"/>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85EC1BF1-E825-4905-D0A0-378EBCBE4069}"/>
              </a:ext>
            </a:extLst>
          </p:cNvPr>
          <p:cNvSpPr>
            <a:spLocks noGrp="1"/>
          </p:cNvSpPr>
          <p:nvPr>
            <p:ph type="title"/>
          </p:nvPr>
        </p:nvSpPr>
        <p:spPr/>
        <p:txBody>
          <a:bodyPr/>
          <a:lstStyle/>
          <a:p>
            <a:r>
              <a:rPr lang="en-US" altLang="zh-CN"/>
              <a:t>Statement – Add Remark on Invoice Level</a:t>
            </a:r>
            <a:endParaRPr lang="zh-CN" altLang="en-US"/>
          </a:p>
        </p:txBody>
      </p:sp>
      <p:sp>
        <p:nvSpPr>
          <p:cNvPr id="4" name="文本占位符 3">
            <a:extLst>
              <a:ext uri="{FF2B5EF4-FFF2-40B4-BE49-F238E27FC236}">
                <a16:creationId xmlns:a16="http://schemas.microsoft.com/office/drawing/2014/main" id="{C5D97460-E188-1F02-9A35-DFA93A15ECCE}"/>
              </a:ext>
            </a:extLst>
          </p:cNvPr>
          <p:cNvSpPr>
            <a:spLocks noGrp="1"/>
          </p:cNvSpPr>
          <p:nvPr>
            <p:ph type="body" idx="12"/>
          </p:nvPr>
        </p:nvSpPr>
        <p:spPr>
          <a:xfrm>
            <a:off x="8846248" y="1554884"/>
            <a:ext cx="3226581" cy="4813690"/>
          </a:xfrm>
        </p:spPr>
        <p:txBody>
          <a:bodyPr/>
          <a:lstStyle/>
          <a:p>
            <a:endParaRPr lang="zh-CN" altLang="en-US"/>
          </a:p>
        </p:txBody>
      </p:sp>
      <p:sp>
        <p:nvSpPr>
          <p:cNvPr id="16" name="TextBox 73">
            <a:extLst>
              <a:ext uri="{FF2B5EF4-FFF2-40B4-BE49-F238E27FC236}">
                <a16:creationId xmlns:a16="http://schemas.microsoft.com/office/drawing/2014/main" id="{52037CD5-F409-EA57-5595-E697BC1D9B3F}"/>
              </a:ext>
            </a:extLst>
          </p:cNvPr>
          <p:cNvSpPr txBox="1"/>
          <p:nvPr/>
        </p:nvSpPr>
        <p:spPr>
          <a:xfrm>
            <a:off x="8937963" y="2057802"/>
            <a:ext cx="3134865" cy="2246769"/>
          </a:xfrm>
          <a:prstGeom prst="rect">
            <a:avLst/>
          </a:prstGeom>
          <a:noFill/>
        </p:spPr>
        <p:txBody>
          <a:bodyPr wrap="square" rtlCol="0">
            <a:spAutoFit/>
          </a:bodyPr>
          <a:lstStyle/>
          <a:p>
            <a:r>
              <a:rPr lang="zh-CN" altLang="zh-CN" sz="1000">
                <a:cs typeface="Lato Light"/>
              </a:rPr>
              <a:t>To add a remark to the invoices linked to this statement, follow these steps:</a:t>
            </a:r>
            <a:endParaRPr lang="en-US" altLang="zh-CN" sz="1000">
              <a:cs typeface="Lato Light"/>
            </a:endParaRPr>
          </a:p>
          <a:p>
            <a:endParaRPr lang="zh-CN" altLang="zh-CN" sz="1000">
              <a:cs typeface="Lato Light"/>
            </a:endParaRPr>
          </a:p>
          <a:p>
            <a:pPr lvl="0"/>
            <a:r>
              <a:rPr lang="en-US" altLang="zh-CN" sz="1000">
                <a:cs typeface="Lato Light"/>
              </a:rPr>
              <a:t>1. </a:t>
            </a:r>
            <a:r>
              <a:rPr lang="zh-CN" altLang="zh-CN" sz="1000">
                <a:cs typeface="Lato Light"/>
              </a:rPr>
              <a:t>Go to the </a:t>
            </a:r>
            <a:r>
              <a:rPr lang="zh-CN" altLang="zh-CN" sz="1000" b="1">
                <a:cs typeface="Lato Light"/>
              </a:rPr>
              <a:t>Billing Summary </a:t>
            </a:r>
            <a:r>
              <a:rPr lang="zh-CN" altLang="zh-CN" sz="1000">
                <a:cs typeface="Lato Light"/>
              </a:rPr>
              <a:t>and click the </a:t>
            </a:r>
            <a:r>
              <a:rPr lang="zh-CN" altLang="zh-CN" sz="1000" b="1">
                <a:cs typeface="Lato Light"/>
              </a:rPr>
              <a:t>Add Remark</a:t>
            </a:r>
            <a:r>
              <a:rPr lang="zh-CN" altLang="zh-CN" sz="1000">
                <a:cs typeface="Lato Light"/>
              </a:rPr>
              <a:t> button.</a:t>
            </a:r>
            <a:endParaRPr lang="en-US" altLang="zh-CN" sz="1000">
              <a:cs typeface="Lato Light"/>
            </a:endParaRPr>
          </a:p>
          <a:p>
            <a:pPr lvl="0"/>
            <a:endParaRPr lang="zh-CN" altLang="zh-CN" sz="1000">
              <a:cs typeface="Lato Light"/>
            </a:endParaRPr>
          </a:p>
          <a:p>
            <a:pPr lvl="0"/>
            <a:r>
              <a:rPr lang="en-US" altLang="zh-CN" sz="1000">
                <a:cs typeface="Lato Light"/>
              </a:rPr>
              <a:t>2. </a:t>
            </a:r>
            <a:r>
              <a:rPr lang="zh-CN" altLang="zh-CN" sz="1000">
                <a:cs typeface="Lato Light"/>
              </a:rPr>
              <a:t>In the pop-up window, </a:t>
            </a:r>
            <a:r>
              <a:rPr lang="en-US" altLang="zh-CN" sz="1000">
                <a:cs typeface="Lato Light"/>
              </a:rPr>
              <a:t>input</a:t>
            </a:r>
            <a:r>
              <a:rPr lang="zh-CN" altLang="zh-CN" sz="1000">
                <a:cs typeface="Lato Light"/>
              </a:rPr>
              <a:t> your remark.</a:t>
            </a:r>
            <a:endParaRPr lang="en-US" altLang="zh-CN" sz="1000">
              <a:cs typeface="Lato Light"/>
            </a:endParaRPr>
          </a:p>
          <a:p>
            <a:pPr lvl="0"/>
            <a:endParaRPr lang="zh-CN" altLang="zh-CN" sz="1000">
              <a:cs typeface="Lato Light"/>
            </a:endParaRPr>
          </a:p>
          <a:p>
            <a:pPr lvl="0"/>
            <a:r>
              <a:rPr lang="en-US" altLang="zh-CN" sz="1000">
                <a:cs typeface="Lato Light"/>
              </a:rPr>
              <a:t>3. </a:t>
            </a:r>
            <a:r>
              <a:rPr lang="zh-CN" altLang="zh-CN" sz="1000">
                <a:cs typeface="Lato Light"/>
              </a:rPr>
              <a:t>Click </a:t>
            </a:r>
            <a:r>
              <a:rPr lang="zh-CN" altLang="zh-CN" sz="1000" b="1">
                <a:cs typeface="Lato Light"/>
              </a:rPr>
              <a:t>Apply Selected </a:t>
            </a:r>
            <a:r>
              <a:rPr lang="zh-CN" altLang="zh-CN" sz="1000">
                <a:cs typeface="Lato Light"/>
              </a:rPr>
              <a:t>to save the remark to the selected invoices, or click </a:t>
            </a:r>
            <a:r>
              <a:rPr lang="zh-CN" altLang="zh-CN" sz="1000" b="1">
                <a:cs typeface="Lato Light"/>
              </a:rPr>
              <a:t>Apply All </a:t>
            </a:r>
            <a:r>
              <a:rPr lang="zh-CN" altLang="zh-CN" sz="1000">
                <a:cs typeface="Lato Light"/>
              </a:rPr>
              <a:t>to save it to all invoices associated with this statement.</a:t>
            </a:r>
            <a:endParaRPr lang="en-US" altLang="zh-CN" sz="1000">
              <a:cs typeface="Lato Light"/>
            </a:endParaRPr>
          </a:p>
          <a:p>
            <a:pPr lvl="0"/>
            <a:endParaRPr lang="en-US" altLang="zh-CN" sz="1000">
              <a:cs typeface="Lato Light"/>
            </a:endParaRPr>
          </a:p>
          <a:p>
            <a:pPr lvl="0"/>
            <a:r>
              <a:rPr lang="zh-CN" altLang="zh-CN" sz="1000">
                <a:cs typeface="Lato Light"/>
              </a:rPr>
              <a:t>The remark added to the invoice can be verified in the Invoice </a:t>
            </a:r>
            <a:r>
              <a:rPr lang="zh-CN" altLang="zh-CN" sz="1000" b="1">
                <a:cs typeface="Lato Light"/>
              </a:rPr>
              <a:t>Header </a:t>
            </a:r>
            <a:r>
              <a:rPr lang="zh-CN" altLang="zh-CN" sz="1000">
                <a:cs typeface="Lato Light"/>
              </a:rPr>
              <a:t>tab.</a:t>
            </a:r>
          </a:p>
        </p:txBody>
      </p:sp>
      <p:pic>
        <p:nvPicPr>
          <p:cNvPr id="9" name="图片 8">
            <a:extLst>
              <a:ext uri="{FF2B5EF4-FFF2-40B4-BE49-F238E27FC236}">
                <a16:creationId xmlns:a16="http://schemas.microsoft.com/office/drawing/2014/main" id="{C3EDD953-BFF0-54BD-F32B-E1F7B972FDE3}"/>
              </a:ext>
            </a:extLst>
          </p:cNvPr>
          <p:cNvPicPr>
            <a:picLocks noChangeAspect="1"/>
          </p:cNvPicPr>
          <p:nvPr/>
        </p:nvPicPr>
        <p:blipFill>
          <a:blip r:embed="rId2"/>
          <a:stretch>
            <a:fillRect/>
          </a:stretch>
        </p:blipFill>
        <p:spPr>
          <a:xfrm>
            <a:off x="211125" y="1554884"/>
            <a:ext cx="8609438" cy="1329718"/>
          </a:xfrm>
          <a:prstGeom prst="rect">
            <a:avLst/>
          </a:prstGeom>
        </p:spPr>
      </p:pic>
      <p:sp>
        <p:nvSpPr>
          <p:cNvPr id="5" name="TextBox 82">
            <a:extLst>
              <a:ext uri="{FF2B5EF4-FFF2-40B4-BE49-F238E27FC236}">
                <a16:creationId xmlns:a16="http://schemas.microsoft.com/office/drawing/2014/main" id="{952F1853-18A5-C816-B521-6D980C054051}"/>
              </a:ext>
            </a:extLst>
          </p:cNvPr>
          <p:cNvSpPr txBox="1"/>
          <p:nvPr/>
        </p:nvSpPr>
        <p:spPr>
          <a:xfrm>
            <a:off x="9096879" y="1792530"/>
            <a:ext cx="2422377" cy="292388"/>
          </a:xfrm>
          <a:prstGeom prst="rect">
            <a:avLst/>
          </a:prstGeom>
          <a:noFill/>
        </p:spPr>
        <p:txBody>
          <a:bodyPr wrap="square" rtlCol="0">
            <a:spAutoFit/>
          </a:bodyPr>
          <a:lstStyle/>
          <a:p>
            <a:r>
              <a:rPr lang="en-US" altLang="zh-CN" sz="1300" b="1">
                <a:solidFill>
                  <a:schemeClr val="accent4">
                    <a:lumMod val="75000"/>
                    <a:lumOff val="25000"/>
                  </a:schemeClr>
                </a:solidFill>
                <a:cs typeface="Lato Regular"/>
              </a:rPr>
              <a:t>Add Remark on Invoice level</a:t>
            </a:r>
            <a:endParaRPr lang="id-ID" sz="1300" b="1">
              <a:solidFill>
                <a:schemeClr val="accent4">
                  <a:lumMod val="75000"/>
                  <a:lumOff val="25000"/>
                </a:schemeClr>
              </a:solidFill>
              <a:cs typeface="Lato Regular"/>
            </a:endParaRPr>
          </a:p>
        </p:txBody>
      </p:sp>
      <p:sp>
        <p:nvSpPr>
          <p:cNvPr id="6" name="Oval 112">
            <a:extLst>
              <a:ext uri="{FF2B5EF4-FFF2-40B4-BE49-F238E27FC236}">
                <a16:creationId xmlns:a16="http://schemas.microsoft.com/office/drawing/2014/main" id="{6ACE617F-0A9D-5A2A-DF87-18D4AB04A225}"/>
              </a:ext>
            </a:extLst>
          </p:cNvPr>
          <p:cNvSpPr/>
          <p:nvPr/>
        </p:nvSpPr>
        <p:spPr>
          <a:xfrm>
            <a:off x="8868279" y="182450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7" name="Oval 112">
            <a:extLst>
              <a:ext uri="{FF2B5EF4-FFF2-40B4-BE49-F238E27FC236}">
                <a16:creationId xmlns:a16="http://schemas.microsoft.com/office/drawing/2014/main" id="{B356B4EF-2E99-BB07-DA56-9D42AB9456DD}"/>
              </a:ext>
            </a:extLst>
          </p:cNvPr>
          <p:cNvSpPr/>
          <p:nvPr/>
        </p:nvSpPr>
        <p:spPr>
          <a:xfrm>
            <a:off x="7248636" y="1540820"/>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10" name="图片 9">
            <a:extLst>
              <a:ext uri="{FF2B5EF4-FFF2-40B4-BE49-F238E27FC236}">
                <a16:creationId xmlns:a16="http://schemas.microsoft.com/office/drawing/2014/main" id="{AD041625-7F92-F815-7D52-CF88E8B557AB}"/>
              </a:ext>
            </a:extLst>
          </p:cNvPr>
          <p:cNvPicPr>
            <a:picLocks noChangeAspect="1"/>
          </p:cNvPicPr>
          <p:nvPr/>
        </p:nvPicPr>
        <p:blipFill>
          <a:blip r:embed="rId3"/>
          <a:stretch>
            <a:fillRect/>
          </a:stretch>
        </p:blipFill>
        <p:spPr>
          <a:xfrm>
            <a:off x="211125" y="4078850"/>
            <a:ext cx="8589266" cy="2289724"/>
          </a:xfrm>
          <a:prstGeom prst="rect">
            <a:avLst/>
          </a:prstGeom>
        </p:spPr>
      </p:pic>
      <p:sp>
        <p:nvSpPr>
          <p:cNvPr id="18" name="Oval 112">
            <a:extLst>
              <a:ext uri="{FF2B5EF4-FFF2-40B4-BE49-F238E27FC236}">
                <a16:creationId xmlns:a16="http://schemas.microsoft.com/office/drawing/2014/main" id="{5CE9747A-FE9A-874C-A009-F3C20F830A58}"/>
              </a:ext>
            </a:extLst>
          </p:cNvPr>
          <p:cNvSpPr/>
          <p:nvPr/>
        </p:nvSpPr>
        <p:spPr>
          <a:xfrm>
            <a:off x="191106" y="4758501"/>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20" name="图片 19">
            <a:extLst>
              <a:ext uri="{FF2B5EF4-FFF2-40B4-BE49-F238E27FC236}">
                <a16:creationId xmlns:a16="http://schemas.microsoft.com/office/drawing/2014/main" id="{5948700D-7797-E1E5-5A96-6472A5D7D6CF}"/>
              </a:ext>
            </a:extLst>
          </p:cNvPr>
          <p:cNvPicPr>
            <a:picLocks noChangeAspect="1"/>
          </p:cNvPicPr>
          <p:nvPr/>
        </p:nvPicPr>
        <p:blipFill>
          <a:blip r:embed="rId4"/>
          <a:stretch>
            <a:fillRect/>
          </a:stretch>
        </p:blipFill>
        <p:spPr>
          <a:xfrm>
            <a:off x="4696623" y="2963668"/>
            <a:ext cx="4103767" cy="2499414"/>
          </a:xfrm>
          <a:prstGeom prst="rect">
            <a:avLst/>
          </a:prstGeom>
        </p:spPr>
      </p:pic>
      <p:sp>
        <p:nvSpPr>
          <p:cNvPr id="22" name="Oval 112">
            <a:extLst>
              <a:ext uri="{FF2B5EF4-FFF2-40B4-BE49-F238E27FC236}">
                <a16:creationId xmlns:a16="http://schemas.microsoft.com/office/drawing/2014/main" id="{7F099B56-24E9-71B1-7165-F5BB292C0039}"/>
              </a:ext>
            </a:extLst>
          </p:cNvPr>
          <p:cNvSpPr/>
          <p:nvPr/>
        </p:nvSpPr>
        <p:spPr>
          <a:xfrm>
            <a:off x="4667263" y="3333485"/>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2296738455"/>
      </p:ext>
    </p:ext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CE94B-31EE-C91B-76E2-2E19CC446E2E}"/>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77A65C8-9347-3300-B56F-506F357B40BC}"/>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E861E3FC-40BF-9743-4507-C5BE9932F8D7}"/>
              </a:ext>
            </a:extLst>
          </p:cNvPr>
          <p:cNvSpPr>
            <a:spLocks noGrp="1"/>
          </p:cNvSpPr>
          <p:nvPr>
            <p:ph type="title"/>
          </p:nvPr>
        </p:nvSpPr>
        <p:spPr/>
        <p:txBody>
          <a:bodyPr/>
          <a:lstStyle/>
          <a:p>
            <a:r>
              <a:rPr lang="en-US" altLang="zh-CN"/>
              <a:t>Statement – Retry to correct errors</a:t>
            </a:r>
            <a:endParaRPr lang="zh-CN" altLang="en-US"/>
          </a:p>
        </p:txBody>
      </p:sp>
      <p:sp>
        <p:nvSpPr>
          <p:cNvPr id="4" name="文本占位符 3">
            <a:extLst>
              <a:ext uri="{FF2B5EF4-FFF2-40B4-BE49-F238E27FC236}">
                <a16:creationId xmlns:a16="http://schemas.microsoft.com/office/drawing/2014/main" id="{E359E53B-8CC2-CCE0-622A-2CF210478393}"/>
              </a:ext>
            </a:extLst>
          </p:cNvPr>
          <p:cNvSpPr>
            <a:spLocks noGrp="1"/>
          </p:cNvSpPr>
          <p:nvPr>
            <p:ph type="body" idx="12"/>
          </p:nvPr>
        </p:nvSpPr>
        <p:spPr>
          <a:xfrm>
            <a:off x="8846248" y="1554884"/>
            <a:ext cx="3226581" cy="4813690"/>
          </a:xfrm>
        </p:spPr>
        <p:txBody>
          <a:bodyPr/>
          <a:lstStyle/>
          <a:p>
            <a:endParaRPr lang="zh-CN" altLang="en-US"/>
          </a:p>
        </p:txBody>
      </p:sp>
      <p:sp>
        <p:nvSpPr>
          <p:cNvPr id="15" name="TextBox 72">
            <a:extLst>
              <a:ext uri="{FF2B5EF4-FFF2-40B4-BE49-F238E27FC236}">
                <a16:creationId xmlns:a16="http://schemas.microsoft.com/office/drawing/2014/main" id="{59F3BA92-48D6-BAD4-9E00-F8030827BD1D}"/>
              </a:ext>
            </a:extLst>
          </p:cNvPr>
          <p:cNvSpPr txBox="1"/>
          <p:nvPr/>
        </p:nvSpPr>
        <p:spPr>
          <a:xfrm>
            <a:off x="9256552" y="1797401"/>
            <a:ext cx="1931639"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Retry</a:t>
            </a:r>
            <a:endParaRPr lang="id-ID" sz="1300" b="1">
              <a:solidFill>
                <a:schemeClr val="accent6">
                  <a:lumMod val="75000"/>
                  <a:lumOff val="25000"/>
                </a:schemeClr>
              </a:solidFill>
              <a:cs typeface="Lato Regular"/>
            </a:endParaRPr>
          </a:p>
        </p:txBody>
      </p:sp>
      <p:sp>
        <p:nvSpPr>
          <p:cNvPr id="16" name="TextBox 73">
            <a:extLst>
              <a:ext uri="{FF2B5EF4-FFF2-40B4-BE49-F238E27FC236}">
                <a16:creationId xmlns:a16="http://schemas.microsoft.com/office/drawing/2014/main" id="{C82E0B3E-8948-448E-22D4-5C97409B16F3}"/>
              </a:ext>
            </a:extLst>
          </p:cNvPr>
          <p:cNvSpPr txBox="1"/>
          <p:nvPr/>
        </p:nvSpPr>
        <p:spPr>
          <a:xfrm>
            <a:off x="9010760" y="2057802"/>
            <a:ext cx="3062069" cy="1169551"/>
          </a:xfrm>
          <a:prstGeom prst="rect">
            <a:avLst/>
          </a:prstGeom>
          <a:noFill/>
        </p:spPr>
        <p:txBody>
          <a:bodyPr wrap="square" rtlCol="0">
            <a:spAutoFit/>
          </a:bodyPr>
          <a:lstStyle/>
          <a:p>
            <a:r>
              <a:rPr lang="zh-CN" altLang="zh-CN" sz="1000">
                <a:cs typeface="Lato Light"/>
              </a:rPr>
              <a:t>Users can correct errors by clicking the Retry button</a:t>
            </a:r>
            <a:r>
              <a:rPr lang="en-US" altLang="zh-CN" sz="1000">
                <a:cs typeface="Lato Light"/>
              </a:rPr>
              <a:t> a</a:t>
            </a:r>
            <a:r>
              <a:rPr lang="zh-CN" altLang="zh-CN" sz="1000">
                <a:cs typeface="Lato Light"/>
              </a:rPr>
              <a:t>fter resolving the underlying issues</a:t>
            </a:r>
            <a:r>
              <a:rPr lang="en-US" altLang="zh-CN" sz="1000">
                <a:cs typeface="Lato Light"/>
              </a:rPr>
              <a:t> of this statement</a:t>
            </a:r>
            <a:r>
              <a:rPr lang="zh-CN" altLang="zh-CN" sz="1000">
                <a:cs typeface="Lato Light"/>
              </a:rPr>
              <a:t>.</a:t>
            </a:r>
            <a:endParaRPr lang="en-US" altLang="zh-CN" sz="1000">
              <a:cs typeface="Lato Light"/>
            </a:endParaRPr>
          </a:p>
          <a:p>
            <a:endParaRPr lang="en-US" altLang="zh-CN" sz="1000">
              <a:cs typeface="Lato Light"/>
            </a:endParaRPr>
          </a:p>
          <a:p>
            <a:r>
              <a:rPr lang="zh-CN" altLang="zh-CN" sz="1000">
                <a:cs typeface="Lato Light"/>
              </a:rPr>
              <a:t>After resolving the errors using the Retry button, the Validation Logs will show a resolved status of Yes, with Retry listed as the resolver.</a:t>
            </a:r>
            <a:endParaRPr lang="en-US" altLang="zh-CN" sz="1000">
              <a:cs typeface="Lato Light"/>
            </a:endParaRPr>
          </a:p>
        </p:txBody>
      </p:sp>
      <p:sp>
        <p:nvSpPr>
          <p:cNvPr id="23" name="Oval 111">
            <a:extLst>
              <a:ext uri="{FF2B5EF4-FFF2-40B4-BE49-F238E27FC236}">
                <a16:creationId xmlns:a16="http://schemas.microsoft.com/office/drawing/2014/main" id="{5213637D-A84A-40EF-BB7F-7911812A3A26}"/>
              </a:ext>
            </a:extLst>
          </p:cNvPr>
          <p:cNvSpPr/>
          <p:nvPr/>
        </p:nvSpPr>
        <p:spPr>
          <a:xfrm>
            <a:off x="9010760" y="186568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27" name="图片 26">
            <a:extLst>
              <a:ext uri="{FF2B5EF4-FFF2-40B4-BE49-F238E27FC236}">
                <a16:creationId xmlns:a16="http://schemas.microsoft.com/office/drawing/2014/main" id="{52872A69-31C0-E80F-4F50-078D1CED38CA}"/>
              </a:ext>
            </a:extLst>
          </p:cNvPr>
          <p:cNvPicPr>
            <a:picLocks noChangeAspect="1"/>
          </p:cNvPicPr>
          <p:nvPr/>
        </p:nvPicPr>
        <p:blipFill>
          <a:blip r:embed="rId2"/>
          <a:stretch>
            <a:fillRect/>
          </a:stretch>
        </p:blipFill>
        <p:spPr>
          <a:xfrm>
            <a:off x="1307444" y="3999823"/>
            <a:ext cx="7512184" cy="2303737"/>
          </a:xfrm>
          <a:prstGeom prst="rect">
            <a:avLst/>
          </a:prstGeom>
        </p:spPr>
      </p:pic>
      <p:pic>
        <p:nvPicPr>
          <p:cNvPr id="7" name="图片 6">
            <a:extLst>
              <a:ext uri="{FF2B5EF4-FFF2-40B4-BE49-F238E27FC236}">
                <a16:creationId xmlns:a16="http://schemas.microsoft.com/office/drawing/2014/main" id="{61B5679C-555D-87DD-E9B2-4AFB383480B1}"/>
              </a:ext>
            </a:extLst>
          </p:cNvPr>
          <p:cNvPicPr>
            <a:picLocks noChangeAspect="1"/>
          </p:cNvPicPr>
          <p:nvPr/>
        </p:nvPicPr>
        <p:blipFill>
          <a:blip r:embed="rId3"/>
          <a:stretch>
            <a:fillRect/>
          </a:stretch>
        </p:blipFill>
        <p:spPr>
          <a:xfrm>
            <a:off x="320182" y="1502105"/>
            <a:ext cx="8508873" cy="3696828"/>
          </a:xfrm>
          <a:prstGeom prst="rect">
            <a:avLst/>
          </a:prstGeom>
        </p:spPr>
      </p:pic>
      <p:sp>
        <p:nvSpPr>
          <p:cNvPr id="8" name="Oval 111">
            <a:extLst>
              <a:ext uri="{FF2B5EF4-FFF2-40B4-BE49-F238E27FC236}">
                <a16:creationId xmlns:a16="http://schemas.microsoft.com/office/drawing/2014/main" id="{1AFBB144-732B-8627-C635-EA2777C7DC36}"/>
              </a:ext>
            </a:extLst>
          </p:cNvPr>
          <p:cNvSpPr/>
          <p:nvPr/>
        </p:nvSpPr>
        <p:spPr>
          <a:xfrm>
            <a:off x="5529025" y="1793227"/>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66947909"/>
      </p:ext>
    </p:ext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B5B-EFB3-EA90-995D-27844C62DC6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EC844C2-EC1B-6B5C-8800-823D570D1532}"/>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160CD917-744D-8DA7-7BE7-CCE1664D90C1}"/>
              </a:ext>
            </a:extLst>
          </p:cNvPr>
          <p:cNvSpPr>
            <a:spLocks noGrp="1"/>
          </p:cNvSpPr>
          <p:nvPr>
            <p:ph type="title"/>
          </p:nvPr>
        </p:nvSpPr>
        <p:spPr/>
        <p:txBody>
          <a:bodyPr/>
          <a:lstStyle/>
          <a:p>
            <a:r>
              <a:rPr lang="en-US" altLang="zh-CN"/>
              <a:t>Statement - Approve</a:t>
            </a:r>
            <a:endParaRPr lang="zh-CN" altLang="en-US"/>
          </a:p>
        </p:txBody>
      </p:sp>
      <p:sp>
        <p:nvSpPr>
          <p:cNvPr id="4" name="文本占位符 3">
            <a:extLst>
              <a:ext uri="{FF2B5EF4-FFF2-40B4-BE49-F238E27FC236}">
                <a16:creationId xmlns:a16="http://schemas.microsoft.com/office/drawing/2014/main" id="{7C8BCD95-5796-C29B-0CD0-41B92460C847}"/>
              </a:ext>
            </a:extLst>
          </p:cNvPr>
          <p:cNvSpPr>
            <a:spLocks noGrp="1"/>
          </p:cNvSpPr>
          <p:nvPr>
            <p:ph type="body" idx="12"/>
          </p:nvPr>
        </p:nvSpPr>
        <p:spPr>
          <a:xfrm>
            <a:off x="8893383" y="1554884"/>
            <a:ext cx="3226581" cy="4813690"/>
          </a:xfrm>
        </p:spPr>
        <p:txBody>
          <a:bodyPr/>
          <a:lstStyle/>
          <a:p>
            <a:endParaRPr lang="zh-CN" altLang="en-US"/>
          </a:p>
        </p:txBody>
      </p:sp>
      <p:sp>
        <p:nvSpPr>
          <p:cNvPr id="17" name="TextBox 82">
            <a:extLst>
              <a:ext uri="{FF2B5EF4-FFF2-40B4-BE49-F238E27FC236}">
                <a16:creationId xmlns:a16="http://schemas.microsoft.com/office/drawing/2014/main" id="{9E93AB59-5B94-4F2C-D7D3-67D5B8476986}"/>
              </a:ext>
            </a:extLst>
          </p:cNvPr>
          <p:cNvSpPr txBox="1"/>
          <p:nvPr/>
        </p:nvSpPr>
        <p:spPr>
          <a:xfrm>
            <a:off x="9224314" y="1858827"/>
            <a:ext cx="1939214" cy="292388"/>
          </a:xfrm>
          <a:prstGeom prst="rect">
            <a:avLst/>
          </a:prstGeom>
          <a:noFill/>
        </p:spPr>
        <p:txBody>
          <a:bodyPr wrap="square" rtlCol="0">
            <a:spAutoFit/>
          </a:bodyPr>
          <a:lstStyle/>
          <a:p>
            <a:r>
              <a:rPr lang="en-US" sz="1300" b="1">
                <a:solidFill>
                  <a:srgbClr val="126C36"/>
                </a:solidFill>
                <a:cs typeface="Lato Regular"/>
              </a:rPr>
              <a:t>Approve</a:t>
            </a:r>
            <a:endParaRPr lang="id-ID" sz="1300" b="1">
              <a:solidFill>
                <a:srgbClr val="126C36"/>
              </a:solidFill>
              <a:cs typeface="Lato Regular"/>
            </a:endParaRPr>
          </a:p>
        </p:txBody>
      </p:sp>
      <p:sp>
        <p:nvSpPr>
          <p:cNvPr id="18" name="TextBox 83">
            <a:extLst>
              <a:ext uri="{FF2B5EF4-FFF2-40B4-BE49-F238E27FC236}">
                <a16:creationId xmlns:a16="http://schemas.microsoft.com/office/drawing/2014/main" id="{EE6E9977-0526-6A93-D335-46AF79406EBB}"/>
              </a:ext>
            </a:extLst>
          </p:cNvPr>
          <p:cNvSpPr txBox="1"/>
          <p:nvPr/>
        </p:nvSpPr>
        <p:spPr>
          <a:xfrm>
            <a:off x="8989761" y="2105422"/>
            <a:ext cx="3019795" cy="3631763"/>
          </a:xfrm>
          <a:prstGeom prst="rect">
            <a:avLst/>
          </a:prstGeom>
          <a:noFill/>
        </p:spPr>
        <p:txBody>
          <a:bodyPr wrap="square" rtlCol="0">
            <a:spAutoFit/>
          </a:bodyPr>
          <a:lstStyle/>
          <a:p>
            <a:r>
              <a:rPr lang="zh-CN" altLang="zh-CN" sz="1000" b="1">
                <a:cs typeface="Lato Light"/>
              </a:rPr>
              <a:t>Statement Status</a:t>
            </a:r>
            <a:r>
              <a:rPr lang="en-US" altLang="zh-CN" sz="1000" b="1">
                <a:cs typeface="Lato Light"/>
              </a:rPr>
              <a:t> Check</a:t>
            </a:r>
          </a:p>
          <a:p>
            <a:r>
              <a:rPr lang="zh-CN" altLang="zh-CN" sz="1000">
                <a:cs typeface="Lato Light"/>
              </a:rPr>
              <a:t>The Approve button is disabled if the error log block approve entries. </a:t>
            </a:r>
            <a:endParaRPr lang="en-US" altLang="zh-CN" sz="1000">
              <a:cs typeface="Lato Light"/>
            </a:endParaRPr>
          </a:p>
          <a:p>
            <a:r>
              <a:rPr lang="zh-CN" altLang="zh-CN" sz="1000">
                <a:cs typeface="Lato Light"/>
              </a:rPr>
              <a:t>If the log contains only warning entries (with no block approve entries), the button is enabled, and clicking it triggers a warning message.</a:t>
            </a:r>
            <a:endParaRPr lang="en-US" altLang="zh-CN" sz="1000">
              <a:cs typeface="Lato Light"/>
            </a:endParaRPr>
          </a:p>
          <a:p>
            <a:endParaRPr lang="en-US" altLang="zh-CN" sz="1000">
              <a:cs typeface="Lato Light"/>
            </a:endParaRPr>
          </a:p>
          <a:p>
            <a:r>
              <a:rPr lang="en-US" altLang="zh-CN" sz="1000" b="1">
                <a:cs typeface="Lato Light"/>
              </a:rPr>
              <a:t>Click Approve</a:t>
            </a:r>
          </a:p>
          <a:p>
            <a:r>
              <a:rPr lang="zh-CN" altLang="zh-CN" sz="1000">
                <a:cs typeface="Lato Light"/>
              </a:rPr>
              <a:t>Review the statement and click Approve if correct. A pop-up will appear and await your confirmation click on Approve.</a:t>
            </a:r>
            <a:endParaRPr lang="en-US" altLang="zh-CN" sz="1000">
              <a:cs typeface="Lato Light"/>
            </a:endParaRPr>
          </a:p>
          <a:p>
            <a:endParaRPr lang="en-US" altLang="zh-CN" sz="1000">
              <a:cs typeface="Lato Light"/>
            </a:endParaRPr>
          </a:p>
          <a:p>
            <a:r>
              <a:rPr lang="en-US" altLang="zh-CN" sz="1000" b="1">
                <a:cs typeface="Lato Light"/>
              </a:rPr>
              <a:t>RPS Check</a:t>
            </a:r>
          </a:p>
          <a:p>
            <a:r>
              <a:rPr lang="zh-CN" altLang="zh-CN" sz="1000">
                <a:cs typeface="Lato Light"/>
              </a:rPr>
              <a:t>The system shall check the customer RPS status. If the check succeeds, execution shall continue. If the check fails, a pop-up shall display the returned message, and no subsequent actions shall be performed.</a:t>
            </a:r>
            <a:endParaRPr lang="en-US" altLang="zh-CN" sz="1000">
              <a:cs typeface="Lato Light"/>
            </a:endParaRPr>
          </a:p>
          <a:p>
            <a:endParaRPr lang="en-US" altLang="zh-CN" sz="1000">
              <a:cs typeface="Lato Light"/>
            </a:endParaRPr>
          </a:p>
          <a:p>
            <a:r>
              <a:rPr lang="en-US" altLang="zh-CN" sz="1000" b="1">
                <a:cs typeface="Lato Light"/>
              </a:rPr>
              <a:t>Update Status</a:t>
            </a:r>
          </a:p>
          <a:p>
            <a:r>
              <a:rPr lang="zh-CN" altLang="zh-CN" sz="1000">
                <a:cs typeface="Lato Light"/>
              </a:rPr>
              <a:t>After approving the statement, the status is updated to Approved, and the final invoice and final statement are generated successfully.</a:t>
            </a:r>
            <a:endParaRPr lang="en-US" altLang="zh-CN" sz="1000">
              <a:cs typeface="Lato Light"/>
            </a:endParaRPr>
          </a:p>
        </p:txBody>
      </p:sp>
      <p:sp>
        <p:nvSpPr>
          <p:cNvPr id="24" name="Oval 112">
            <a:extLst>
              <a:ext uri="{FF2B5EF4-FFF2-40B4-BE49-F238E27FC236}">
                <a16:creationId xmlns:a16="http://schemas.microsoft.com/office/drawing/2014/main" id="{E69E06AF-93E0-5065-1D80-911EBC365A14}"/>
              </a:ext>
            </a:extLst>
          </p:cNvPr>
          <p:cNvSpPr/>
          <p:nvPr/>
        </p:nvSpPr>
        <p:spPr>
          <a:xfrm>
            <a:off x="8995714" y="1876822"/>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6" name="图片 5">
            <a:extLst>
              <a:ext uri="{FF2B5EF4-FFF2-40B4-BE49-F238E27FC236}">
                <a16:creationId xmlns:a16="http://schemas.microsoft.com/office/drawing/2014/main" id="{9DE21548-152C-A9DB-A19E-1D778C697F14}"/>
              </a:ext>
            </a:extLst>
          </p:cNvPr>
          <p:cNvPicPr>
            <a:picLocks noChangeAspect="1"/>
          </p:cNvPicPr>
          <p:nvPr/>
        </p:nvPicPr>
        <p:blipFill>
          <a:blip r:embed="rId2"/>
          <a:stretch>
            <a:fillRect/>
          </a:stretch>
        </p:blipFill>
        <p:spPr>
          <a:xfrm>
            <a:off x="182444" y="1481742"/>
            <a:ext cx="8645411" cy="2741466"/>
          </a:xfrm>
          <a:prstGeom prst="rect">
            <a:avLst/>
          </a:prstGeom>
        </p:spPr>
      </p:pic>
      <p:sp>
        <p:nvSpPr>
          <p:cNvPr id="7" name="Oval 112">
            <a:extLst>
              <a:ext uri="{FF2B5EF4-FFF2-40B4-BE49-F238E27FC236}">
                <a16:creationId xmlns:a16="http://schemas.microsoft.com/office/drawing/2014/main" id="{9DA3610D-7F8E-F5D1-F612-0A518B76CD4D}"/>
              </a:ext>
            </a:extLst>
          </p:cNvPr>
          <p:cNvSpPr/>
          <p:nvPr/>
        </p:nvSpPr>
        <p:spPr>
          <a:xfrm>
            <a:off x="5947961" y="184824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pic>
        <p:nvPicPr>
          <p:cNvPr id="8" name="图片 7">
            <a:extLst>
              <a:ext uri="{FF2B5EF4-FFF2-40B4-BE49-F238E27FC236}">
                <a16:creationId xmlns:a16="http://schemas.microsoft.com/office/drawing/2014/main" id="{2D0B8A40-EC9A-F24F-BD3D-807DA656EDE2}"/>
              </a:ext>
            </a:extLst>
          </p:cNvPr>
          <p:cNvPicPr>
            <a:picLocks noChangeAspect="1"/>
          </p:cNvPicPr>
          <p:nvPr/>
        </p:nvPicPr>
        <p:blipFill>
          <a:blip r:embed="rId3"/>
          <a:stretch>
            <a:fillRect/>
          </a:stretch>
        </p:blipFill>
        <p:spPr>
          <a:xfrm>
            <a:off x="182444" y="4456746"/>
            <a:ext cx="8645411" cy="1492983"/>
          </a:xfrm>
          <a:prstGeom prst="rect">
            <a:avLst/>
          </a:prstGeom>
        </p:spPr>
      </p:pic>
      <p:pic>
        <p:nvPicPr>
          <p:cNvPr id="10" name="图片 9">
            <a:extLst>
              <a:ext uri="{FF2B5EF4-FFF2-40B4-BE49-F238E27FC236}">
                <a16:creationId xmlns:a16="http://schemas.microsoft.com/office/drawing/2014/main" id="{1800E002-800C-E1B6-EFB5-B820910E7438}"/>
              </a:ext>
            </a:extLst>
          </p:cNvPr>
          <p:cNvPicPr>
            <a:picLocks noChangeAspect="1"/>
          </p:cNvPicPr>
          <p:nvPr/>
        </p:nvPicPr>
        <p:blipFill>
          <a:blip r:embed="rId4"/>
          <a:stretch>
            <a:fillRect/>
          </a:stretch>
        </p:blipFill>
        <p:spPr>
          <a:xfrm>
            <a:off x="3927443" y="4140837"/>
            <a:ext cx="4908866" cy="1492983"/>
          </a:xfrm>
          <a:prstGeom prst="rect">
            <a:avLst/>
          </a:prstGeom>
        </p:spPr>
      </p:pic>
    </p:spTree>
    <p:extLst>
      <p:ext uri="{BB962C8B-B14F-4D97-AF65-F5344CB8AC3E}">
        <p14:creationId xmlns:p14="http://schemas.microsoft.com/office/powerpoint/2010/main" val="2975791137"/>
      </p:ext>
    </p:extLst>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AE2F7-BF16-C7A2-9066-8B537466AD0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358DA44E-9F25-AF4D-61AC-092E1BE2D8C5}"/>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10369E06-58F9-6014-5B81-AC8D0310F586}"/>
              </a:ext>
            </a:extLst>
          </p:cNvPr>
          <p:cNvSpPr>
            <a:spLocks noGrp="1"/>
          </p:cNvSpPr>
          <p:nvPr>
            <p:ph type="title"/>
          </p:nvPr>
        </p:nvSpPr>
        <p:spPr/>
        <p:txBody>
          <a:bodyPr/>
          <a:lstStyle/>
          <a:p>
            <a:r>
              <a:rPr lang="en-US" altLang="zh-CN"/>
              <a:t>Statement – Reject</a:t>
            </a:r>
            <a:endParaRPr lang="zh-CN" altLang="en-US"/>
          </a:p>
        </p:txBody>
      </p:sp>
      <p:sp>
        <p:nvSpPr>
          <p:cNvPr id="4" name="文本占位符 3">
            <a:extLst>
              <a:ext uri="{FF2B5EF4-FFF2-40B4-BE49-F238E27FC236}">
                <a16:creationId xmlns:a16="http://schemas.microsoft.com/office/drawing/2014/main" id="{FAA51C2E-ECC6-10A8-66EF-EF99EF910B9F}"/>
              </a:ext>
            </a:extLst>
          </p:cNvPr>
          <p:cNvSpPr>
            <a:spLocks noGrp="1"/>
          </p:cNvSpPr>
          <p:nvPr>
            <p:ph type="body" idx="12"/>
          </p:nvPr>
        </p:nvSpPr>
        <p:spPr>
          <a:xfrm>
            <a:off x="8874529" y="1554884"/>
            <a:ext cx="3226581" cy="4813690"/>
          </a:xfrm>
        </p:spPr>
        <p:txBody>
          <a:bodyPr/>
          <a:lstStyle/>
          <a:p>
            <a:endParaRPr lang="zh-CN" altLang="en-US"/>
          </a:p>
        </p:txBody>
      </p:sp>
      <p:sp>
        <p:nvSpPr>
          <p:cNvPr id="19" name="TextBox 92">
            <a:extLst>
              <a:ext uri="{FF2B5EF4-FFF2-40B4-BE49-F238E27FC236}">
                <a16:creationId xmlns:a16="http://schemas.microsoft.com/office/drawing/2014/main" id="{241A2AAA-FC17-2B40-AF84-3469FCD82716}"/>
              </a:ext>
            </a:extLst>
          </p:cNvPr>
          <p:cNvSpPr txBox="1"/>
          <p:nvPr/>
        </p:nvSpPr>
        <p:spPr>
          <a:xfrm>
            <a:off x="9236820" y="1798325"/>
            <a:ext cx="1839512" cy="292388"/>
          </a:xfrm>
          <a:prstGeom prst="rect">
            <a:avLst/>
          </a:prstGeom>
          <a:noFill/>
        </p:spPr>
        <p:txBody>
          <a:bodyPr wrap="square" rtlCol="0">
            <a:spAutoFit/>
          </a:bodyPr>
          <a:lstStyle/>
          <a:p>
            <a:r>
              <a:rPr lang="en-US" sz="1300" b="1">
                <a:solidFill>
                  <a:schemeClr val="accent4">
                    <a:lumMod val="75000"/>
                    <a:lumOff val="25000"/>
                  </a:schemeClr>
                </a:solidFill>
                <a:cs typeface="Lato Regular"/>
              </a:rPr>
              <a:t>Reject</a:t>
            </a:r>
            <a:endParaRPr lang="id-ID" sz="1300" b="1">
              <a:solidFill>
                <a:schemeClr val="accent4">
                  <a:lumMod val="75000"/>
                  <a:lumOff val="25000"/>
                </a:schemeClr>
              </a:solidFill>
              <a:cs typeface="Lato Regular"/>
            </a:endParaRPr>
          </a:p>
        </p:txBody>
      </p:sp>
      <p:sp>
        <p:nvSpPr>
          <p:cNvPr id="20" name="TextBox 93">
            <a:extLst>
              <a:ext uri="{FF2B5EF4-FFF2-40B4-BE49-F238E27FC236}">
                <a16:creationId xmlns:a16="http://schemas.microsoft.com/office/drawing/2014/main" id="{48EE04CB-D54D-2E7E-3706-0754B662E6D8}"/>
              </a:ext>
            </a:extLst>
          </p:cNvPr>
          <p:cNvSpPr txBox="1"/>
          <p:nvPr/>
        </p:nvSpPr>
        <p:spPr>
          <a:xfrm>
            <a:off x="8995714" y="2068517"/>
            <a:ext cx="2960947" cy="1785104"/>
          </a:xfrm>
          <a:prstGeom prst="rect">
            <a:avLst/>
          </a:prstGeom>
          <a:noFill/>
        </p:spPr>
        <p:txBody>
          <a:bodyPr wrap="square" rtlCol="0">
            <a:spAutoFit/>
          </a:bodyPr>
          <a:lstStyle/>
          <a:p>
            <a:r>
              <a:rPr lang="en-US" altLang="zh-CN" sz="1000" b="1">
                <a:cs typeface="Lato Light"/>
              </a:rPr>
              <a:t>Click Reject</a:t>
            </a:r>
          </a:p>
          <a:p>
            <a:r>
              <a:rPr lang="zh-CN" altLang="zh-CN" sz="1000">
                <a:cs typeface="Lato Light"/>
              </a:rPr>
              <a:t>After clicking Reject, a pop-up window will appear, prompting you to enter the rejection reason and remarks.</a:t>
            </a:r>
            <a:endParaRPr lang="en-US" altLang="zh-CN" sz="1000">
              <a:cs typeface="Lato Light"/>
            </a:endParaRPr>
          </a:p>
          <a:p>
            <a:endParaRPr lang="en-US" altLang="zh-CN" sz="1000">
              <a:cs typeface="Lato Light"/>
            </a:endParaRPr>
          </a:p>
          <a:p>
            <a:r>
              <a:rPr lang="en-US" altLang="zh-CN" sz="1000" b="1">
                <a:cs typeface="Lato Light"/>
              </a:rPr>
              <a:t>Update Status</a:t>
            </a:r>
          </a:p>
          <a:p>
            <a:r>
              <a:rPr lang="zh-CN" altLang="zh-CN" sz="1000">
                <a:cs typeface="Lato Light"/>
              </a:rPr>
              <a:t>After rejecting the statement, the status is updated to Rejected, and the billable items and payment schedule are updated to Preview Reject accordingly.</a:t>
            </a:r>
            <a:endParaRPr lang="en-US" altLang="zh-CN" sz="1000">
              <a:cs typeface="Lato Light"/>
            </a:endParaRPr>
          </a:p>
          <a:p>
            <a:endParaRPr lang="en-US" altLang="zh-CN" sz="1000">
              <a:cs typeface="Lato Light"/>
            </a:endParaRPr>
          </a:p>
        </p:txBody>
      </p:sp>
      <p:sp>
        <p:nvSpPr>
          <p:cNvPr id="25" name="Oval 113">
            <a:extLst>
              <a:ext uri="{FF2B5EF4-FFF2-40B4-BE49-F238E27FC236}">
                <a16:creationId xmlns:a16="http://schemas.microsoft.com/office/drawing/2014/main" id="{43EBCF70-2949-714B-7CEA-363C07E538A0}"/>
              </a:ext>
            </a:extLst>
          </p:cNvPr>
          <p:cNvSpPr/>
          <p:nvPr/>
        </p:nvSpPr>
        <p:spPr>
          <a:xfrm>
            <a:off x="8995714" y="1829192"/>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7" name="图片 6">
            <a:extLst>
              <a:ext uri="{FF2B5EF4-FFF2-40B4-BE49-F238E27FC236}">
                <a16:creationId xmlns:a16="http://schemas.microsoft.com/office/drawing/2014/main" id="{0940B959-9FF5-7230-741D-AAEAD01B7122}"/>
              </a:ext>
            </a:extLst>
          </p:cNvPr>
          <p:cNvPicPr>
            <a:picLocks noChangeAspect="1"/>
          </p:cNvPicPr>
          <p:nvPr/>
        </p:nvPicPr>
        <p:blipFill>
          <a:blip r:embed="rId2"/>
          <a:stretch>
            <a:fillRect/>
          </a:stretch>
        </p:blipFill>
        <p:spPr>
          <a:xfrm>
            <a:off x="235338" y="1575487"/>
            <a:ext cx="8600747" cy="2676002"/>
          </a:xfrm>
          <a:prstGeom prst="rect">
            <a:avLst/>
          </a:prstGeom>
        </p:spPr>
      </p:pic>
      <p:sp>
        <p:nvSpPr>
          <p:cNvPr id="9" name="Oval 113">
            <a:extLst>
              <a:ext uri="{FF2B5EF4-FFF2-40B4-BE49-F238E27FC236}">
                <a16:creationId xmlns:a16="http://schemas.microsoft.com/office/drawing/2014/main" id="{F7E102F4-4428-9EE4-E5B1-06F64A77FAE1}"/>
              </a:ext>
            </a:extLst>
          </p:cNvPr>
          <p:cNvSpPr/>
          <p:nvPr/>
        </p:nvSpPr>
        <p:spPr>
          <a:xfrm>
            <a:off x="6396271" y="1924442"/>
            <a:ext cx="228600" cy="228600"/>
          </a:xfrm>
          <a:prstGeom prst="ellipse">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pic>
        <p:nvPicPr>
          <p:cNvPr id="11" name="图片 10">
            <a:extLst>
              <a:ext uri="{FF2B5EF4-FFF2-40B4-BE49-F238E27FC236}">
                <a16:creationId xmlns:a16="http://schemas.microsoft.com/office/drawing/2014/main" id="{27998361-9AEB-0AB6-43B4-5472A7CB0E26}"/>
              </a:ext>
            </a:extLst>
          </p:cNvPr>
          <p:cNvPicPr>
            <a:picLocks noChangeAspect="1"/>
          </p:cNvPicPr>
          <p:nvPr/>
        </p:nvPicPr>
        <p:blipFill>
          <a:blip r:embed="rId3"/>
          <a:stretch>
            <a:fillRect/>
          </a:stretch>
        </p:blipFill>
        <p:spPr>
          <a:xfrm>
            <a:off x="4451291" y="3709462"/>
            <a:ext cx="4156659" cy="3059672"/>
          </a:xfrm>
          <a:prstGeom prst="rect">
            <a:avLst/>
          </a:prstGeom>
        </p:spPr>
      </p:pic>
    </p:spTree>
    <p:extLst>
      <p:ext uri="{BB962C8B-B14F-4D97-AF65-F5344CB8AC3E}">
        <p14:creationId xmlns:p14="http://schemas.microsoft.com/office/powerpoint/2010/main" val="1764490781"/>
      </p:ext>
    </p:extLst>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D0583-E4A9-4AD5-FD13-06A4793E551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836FE23-9226-D8E3-BF62-9EA193D63E7E}"/>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D1F52E04-4689-3087-07DA-AB53DCD2938B}"/>
              </a:ext>
            </a:extLst>
          </p:cNvPr>
          <p:cNvSpPr>
            <a:spLocks noGrp="1"/>
          </p:cNvSpPr>
          <p:nvPr>
            <p:ph type="title"/>
          </p:nvPr>
        </p:nvSpPr>
        <p:spPr/>
        <p:txBody>
          <a:bodyPr/>
          <a:lstStyle/>
          <a:p>
            <a:r>
              <a:rPr lang="en-US" altLang="zh-CN"/>
              <a:t>Statement - Unlock</a:t>
            </a:r>
            <a:endParaRPr lang="zh-CN" altLang="en-US"/>
          </a:p>
        </p:txBody>
      </p:sp>
      <p:sp>
        <p:nvSpPr>
          <p:cNvPr id="4" name="文本占位符 3">
            <a:extLst>
              <a:ext uri="{FF2B5EF4-FFF2-40B4-BE49-F238E27FC236}">
                <a16:creationId xmlns:a16="http://schemas.microsoft.com/office/drawing/2014/main" id="{71E09161-C1FD-1489-D56A-E6B95FFE8750}"/>
              </a:ext>
            </a:extLst>
          </p:cNvPr>
          <p:cNvSpPr>
            <a:spLocks noGrp="1"/>
          </p:cNvSpPr>
          <p:nvPr>
            <p:ph type="body" idx="12"/>
          </p:nvPr>
        </p:nvSpPr>
        <p:spPr>
          <a:xfrm>
            <a:off x="8865102" y="1554884"/>
            <a:ext cx="3226581" cy="4813690"/>
          </a:xfrm>
        </p:spPr>
        <p:txBody>
          <a:bodyPr/>
          <a:lstStyle/>
          <a:p>
            <a:endParaRPr lang="zh-CN" altLang="en-US"/>
          </a:p>
        </p:txBody>
      </p:sp>
      <p:sp>
        <p:nvSpPr>
          <p:cNvPr id="21" name="TextBox 97">
            <a:extLst>
              <a:ext uri="{FF2B5EF4-FFF2-40B4-BE49-F238E27FC236}">
                <a16:creationId xmlns:a16="http://schemas.microsoft.com/office/drawing/2014/main" id="{84329449-274C-7E8A-3E8E-9F141CF30DAA}"/>
              </a:ext>
            </a:extLst>
          </p:cNvPr>
          <p:cNvSpPr txBox="1"/>
          <p:nvPr/>
        </p:nvSpPr>
        <p:spPr>
          <a:xfrm>
            <a:off x="9206059" y="1835349"/>
            <a:ext cx="1897289" cy="292388"/>
          </a:xfrm>
          <a:prstGeom prst="rect">
            <a:avLst/>
          </a:prstGeom>
          <a:noFill/>
        </p:spPr>
        <p:txBody>
          <a:bodyPr wrap="square" rtlCol="0">
            <a:spAutoFit/>
          </a:bodyPr>
          <a:lstStyle/>
          <a:p>
            <a:r>
              <a:rPr lang="en-US" sz="1300" b="1">
                <a:solidFill>
                  <a:schemeClr val="tx2"/>
                </a:solidFill>
                <a:cs typeface="Lato Regular"/>
              </a:rPr>
              <a:t>Unlock</a:t>
            </a:r>
            <a:endParaRPr lang="id-ID" sz="1300" b="1">
              <a:solidFill>
                <a:schemeClr val="tx2"/>
              </a:solidFill>
              <a:cs typeface="Lato Regular"/>
            </a:endParaRPr>
          </a:p>
        </p:txBody>
      </p:sp>
      <p:sp>
        <p:nvSpPr>
          <p:cNvPr id="22" name="TextBox 98">
            <a:extLst>
              <a:ext uri="{FF2B5EF4-FFF2-40B4-BE49-F238E27FC236}">
                <a16:creationId xmlns:a16="http://schemas.microsoft.com/office/drawing/2014/main" id="{E49A2EB3-7601-C442-37BA-8777E738AA07}"/>
              </a:ext>
            </a:extLst>
          </p:cNvPr>
          <p:cNvSpPr txBox="1"/>
          <p:nvPr/>
        </p:nvSpPr>
        <p:spPr>
          <a:xfrm>
            <a:off x="8955475" y="2085300"/>
            <a:ext cx="3136207" cy="1938992"/>
          </a:xfrm>
          <a:prstGeom prst="rect">
            <a:avLst/>
          </a:prstGeom>
          <a:noFill/>
        </p:spPr>
        <p:txBody>
          <a:bodyPr wrap="square" rtlCol="0">
            <a:spAutoFit/>
          </a:bodyPr>
          <a:lstStyle/>
          <a:p>
            <a:r>
              <a:rPr lang="en-US" altLang="zh-CN" sz="1000" b="1">
                <a:cs typeface="Lato Light"/>
              </a:rPr>
              <a:t>Click Unlock</a:t>
            </a:r>
          </a:p>
          <a:p>
            <a:r>
              <a:rPr lang="zh-CN" altLang="zh-CN" sz="1000">
                <a:cs typeface="Lato Light"/>
              </a:rPr>
              <a:t>click </a:t>
            </a:r>
            <a:r>
              <a:rPr lang="en-US" altLang="zh-CN" sz="1000">
                <a:cs typeface="Lato Light"/>
              </a:rPr>
              <a:t>Unlock</a:t>
            </a:r>
            <a:r>
              <a:rPr lang="zh-CN" altLang="zh-CN" sz="1000">
                <a:cs typeface="Lato Light"/>
              </a:rPr>
              <a:t>. A pop-up will appear and await your confirmation click on </a:t>
            </a:r>
            <a:r>
              <a:rPr lang="en-US" altLang="zh-CN" sz="1000">
                <a:cs typeface="Lato Light"/>
              </a:rPr>
              <a:t>unlock</a:t>
            </a:r>
            <a:r>
              <a:rPr lang="zh-CN" altLang="zh-CN" sz="1000">
                <a:cs typeface="Lato Light"/>
              </a:rPr>
              <a:t>.</a:t>
            </a:r>
            <a:endParaRPr lang="en-US" altLang="zh-CN" sz="1000">
              <a:cs typeface="Lato Light"/>
            </a:endParaRPr>
          </a:p>
          <a:p>
            <a:endParaRPr lang="en-US" altLang="zh-CN" sz="1000">
              <a:cs typeface="Lato Light"/>
            </a:endParaRPr>
          </a:p>
          <a:p>
            <a:r>
              <a:rPr lang="zh-CN" altLang="zh-CN" sz="1000">
                <a:cs typeface="Lato Light"/>
              </a:rPr>
              <a:t>As a precondition, the related subscription orders must be fully updated before this</a:t>
            </a:r>
            <a:r>
              <a:rPr lang="en-US" altLang="zh-CN" sz="1000">
                <a:cs typeface="Lato Light"/>
              </a:rPr>
              <a:t> statement</a:t>
            </a:r>
            <a:r>
              <a:rPr lang="zh-CN" altLang="zh-CN" sz="1000">
                <a:cs typeface="Lato Light"/>
              </a:rPr>
              <a:t> can be unlocked.</a:t>
            </a:r>
            <a:endParaRPr lang="en-US" altLang="zh-CN" sz="1000">
              <a:cs typeface="Lato Light"/>
            </a:endParaRPr>
          </a:p>
          <a:p>
            <a:endParaRPr lang="en-US" altLang="zh-CN" sz="1000">
              <a:cs typeface="Lato Light"/>
            </a:endParaRPr>
          </a:p>
          <a:p>
            <a:r>
              <a:rPr lang="en-US" altLang="zh-CN" sz="1000" b="1">
                <a:cs typeface="Lato Light"/>
              </a:rPr>
              <a:t>Status update</a:t>
            </a:r>
          </a:p>
          <a:p>
            <a:r>
              <a:rPr lang="zh-CN" altLang="zh-CN" sz="1000">
                <a:cs typeface="Lato Light"/>
              </a:rPr>
              <a:t>The payment schedule will be updated to Pending, and the statement will be updated to Rejected and Unlocked.</a:t>
            </a:r>
            <a:endParaRPr lang="en-US" altLang="zh-CN" sz="1000">
              <a:cs typeface="Lato Light"/>
            </a:endParaRPr>
          </a:p>
        </p:txBody>
      </p:sp>
      <p:sp>
        <p:nvSpPr>
          <p:cNvPr id="26" name="Oval 114">
            <a:extLst>
              <a:ext uri="{FF2B5EF4-FFF2-40B4-BE49-F238E27FC236}">
                <a16:creationId xmlns:a16="http://schemas.microsoft.com/office/drawing/2014/main" id="{470D8DFF-43FE-E270-B8A1-97E77A9FA8C6}"/>
              </a:ext>
            </a:extLst>
          </p:cNvPr>
          <p:cNvSpPr/>
          <p:nvPr/>
        </p:nvSpPr>
        <p:spPr>
          <a:xfrm>
            <a:off x="8955476" y="1843878"/>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6" name="图片 5">
            <a:extLst>
              <a:ext uri="{FF2B5EF4-FFF2-40B4-BE49-F238E27FC236}">
                <a16:creationId xmlns:a16="http://schemas.microsoft.com/office/drawing/2014/main" id="{2C61EC6A-9F0B-3FFF-937C-744659252583}"/>
              </a:ext>
            </a:extLst>
          </p:cNvPr>
          <p:cNvPicPr>
            <a:picLocks noChangeAspect="1"/>
          </p:cNvPicPr>
          <p:nvPr/>
        </p:nvPicPr>
        <p:blipFill>
          <a:blip r:embed="rId2"/>
          <a:stretch>
            <a:fillRect/>
          </a:stretch>
        </p:blipFill>
        <p:spPr>
          <a:xfrm>
            <a:off x="210148" y="1438066"/>
            <a:ext cx="8620012" cy="3890112"/>
          </a:xfrm>
          <a:prstGeom prst="rect">
            <a:avLst/>
          </a:prstGeom>
        </p:spPr>
      </p:pic>
      <p:sp>
        <p:nvSpPr>
          <p:cNvPr id="7" name="Oval 114">
            <a:extLst>
              <a:ext uri="{FF2B5EF4-FFF2-40B4-BE49-F238E27FC236}">
                <a16:creationId xmlns:a16="http://schemas.microsoft.com/office/drawing/2014/main" id="{302A4611-0808-29F4-6374-CBEC0DDBB707}"/>
              </a:ext>
            </a:extLst>
          </p:cNvPr>
          <p:cNvSpPr/>
          <p:nvPr/>
        </p:nvSpPr>
        <p:spPr>
          <a:xfrm>
            <a:off x="6450695" y="1920078"/>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4</a:t>
            </a:r>
          </a:p>
        </p:txBody>
      </p:sp>
      <p:pic>
        <p:nvPicPr>
          <p:cNvPr id="9" name="图片 8">
            <a:extLst>
              <a:ext uri="{FF2B5EF4-FFF2-40B4-BE49-F238E27FC236}">
                <a16:creationId xmlns:a16="http://schemas.microsoft.com/office/drawing/2014/main" id="{B262CA8E-A565-58C7-B9EA-93FBEA191B6A}"/>
              </a:ext>
            </a:extLst>
          </p:cNvPr>
          <p:cNvPicPr>
            <a:picLocks noChangeAspect="1"/>
          </p:cNvPicPr>
          <p:nvPr/>
        </p:nvPicPr>
        <p:blipFill>
          <a:blip r:embed="rId3"/>
          <a:stretch>
            <a:fillRect/>
          </a:stretch>
        </p:blipFill>
        <p:spPr>
          <a:xfrm>
            <a:off x="3562109" y="3429000"/>
            <a:ext cx="5155668" cy="1601443"/>
          </a:xfrm>
          <a:prstGeom prst="rect">
            <a:avLst/>
          </a:prstGeom>
        </p:spPr>
      </p:pic>
      <p:pic>
        <p:nvPicPr>
          <p:cNvPr id="11" name="图片 10">
            <a:extLst>
              <a:ext uri="{FF2B5EF4-FFF2-40B4-BE49-F238E27FC236}">
                <a16:creationId xmlns:a16="http://schemas.microsoft.com/office/drawing/2014/main" id="{79048393-2F88-39F4-0C28-294E633D1F8F}"/>
              </a:ext>
            </a:extLst>
          </p:cNvPr>
          <p:cNvPicPr>
            <a:picLocks noChangeAspect="1"/>
          </p:cNvPicPr>
          <p:nvPr/>
        </p:nvPicPr>
        <p:blipFill>
          <a:blip r:embed="rId4"/>
          <a:stretch>
            <a:fillRect/>
          </a:stretch>
        </p:blipFill>
        <p:spPr>
          <a:xfrm>
            <a:off x="210148" y="5030443"/>
            <a:ext cx="8564366" cy="1264941"/>
          </a:xfrm>
          <a:prstGeom prst="rect">
            <a:avLst/>
          </a:prstGeom>
        </p:spPr>
      </p:pic>
    </p:spTree>
    <p:extLst>
      <p:ext uri="{BB962C8B-B14F-4D97-AF65-F5344CB8AC3E}">
        <p14:creationId xmlns:p14="http://schemas.microsoft.com/office/powerpoint/2010/main" val="3455686831"/>
      </p:ext>
    </p:extLst>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5124C-0BA5-382E-D8C8-6B67D767C4FB}"/>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B4293CBE-AECA-8588-1C4D-DCE921ABF9CF}"/>
              </a:ext>
            </a:extLst>
          </p:cNvPr>
          <p:cNvSpPr>
            <a:spLocks noGrp="1"/>
          </p:cNvSpPr>
          <p:nvPr>
            <p:ph type="body" idx="10"/>
          </p:nvPr>
        </p:nvSpPr>
        <p:spPr/>
        <p:txBody>
          <a:bodyPr/>
          <a:lstStyle/>
          <a:p>
            <a:r>
              <a:rPr lang="zh-CN" altLang="zh-CN" b="0"/>
              <a:t>The Statement Detail page provides comprehensive information about the statement, including statement details, approver and customer email lists, and a billing summary. It also offers quick access to essential actions, such as approving, rejecting, unlocking, resending to LIC, and downloading as PDF.</a:t>
            </a:r>
            <a:endParaRPr lang="zh-CN" altLang="en-US"/>
          </a:p>
        </p:txBody>
      </p:sp>
      <p:sp>
        <p:nvSpPr>
          <p:cNvPr id="3" name="标题 2">
            <a:extLst>
              <a:ext uri="{FF2B5EF4-FFF2-40B4-BE49-F238E27FC236}">
                <a16:creationId xmlns:a16="http://schemas.microsoft.com/office/drawing/2014/main" id="{16F925C7-E67F-D780-078F-BAEC3144F6FB}"/>
              </a:ext>
            </a:extLst>
          </p:cNvPr>
          <p:cNvSpPr>
            <a:spLocks noGrp="1"/>
          </p:cNvSpPr>
          <p:nvPr>
            <p:ph type="title"/>
          </p:nvPr>
        </p:nvSpPr>
        <p:spPr/>
        <p:txBody>
          <a:bodyPr/>
          <a:lstStyle/>
          <a:p>
            <a:r>
              <a:rPr lang="en-US" altLang="zh-CN"/>
              <a:t>Statement – Resend to LIC and Download</a:t>
            </a:r>
            <a:endParaRPr lang="zh-CN" altLang="en-US"/>
          </a:p>
        </p:txBody>
      </p:sp>
      <p:sp>
        <p:nvSpPr>
          <p:cNvPr id="4" name="文本占位符 3">
            <a:extLst>
              <a:ext uri="{FF2B5EF4-FFF2-40B4-BE49-F238E27FC236}">
                <a16:creationId xmlns:a16="http://schemas.microsoft.com/office/drawing/2014/main" id="{B2CE1FC5-9819-27C0-1333-C85FA24F6E86}"/>
              </a:ext>
            </a:extLst>
          </p:cNvPr>
          <p:cNvSpPr>
            <a:spLocks noGrp="1"/>
          </p:cNvSpPr>
          <p:nvPr>
            <p:ph type="body" idx="12"/>
          </p:nvPr>
        </p:nvSpPr>
        <p:spPr>
          <a:xfrm>
            <a:off x="8846248" y="1554884"/>
            <a:ext cx="3226581" cy="4813690"/>
          </a:xfrm>
        </p:spPr>
        <p:txBody>
          <a:bodyPr/>
          <a:lstStyle/>
          <a:p>
            <a:endParaRPr lang="zh-CN" altLang="en-US"/>
          </a:p>
        </p:txBody>
      </p:sp>
      <p:sp>
        <p:nvSpPr>
          <p:cNvPr id="8" name="TextBox 93">
            <a:extLst>
              <a:ext uri="{FF2B5EF4-FFF2-40B4-BE49-F238E27FC236}">
                <a16:creationId xmlns:a16="http://schemas.microsoft.com/office/drawing/2014/main" id="{4B9E41D6-089A-6B72-5165-B3D9D0AD4E65}"/>
              </a:ext>
            </a:extLst>
          </p:cNvPr>
          <p:cNvSpPr txBox="1"/>
          <p:nvPr/>
        </p:nvSpPr>
        <p:spPr>
          <a:xfrm>
            <a:off x="9061982" y="2063139"/>
            <a:ext cx="3010847" cy="1015663"/>
          </a:xfrm>
          <a:prstGeom prst="rect">
            <a:avLst/>
          </a:prstGeom>
          <a:noFill/>
        </p:spPr>
        <p:txBody>
          <a:bodyPr wrap="square" rtlCol="0">
            <a:spAutoFit/>
          </a:bodyPr>
          <a:lstStyle/>
          <a:p>
            <a:r>
              <a:rPr lang="zh-CN" altLang="zh-CN" sz="1000">
                <a:cs typeface="Lato Light"/>
              </a:rPr>
              <a:t>Click Resend to LIC. A pop-up will appear, awaiting your confirmation. </a:t>
            </a:r>
            <a:endParaRPr lang="en-US" altLang="zh-CN" sz="1000">
              <a:cs typeface="Lato Light"/>
            </a:endParaRPr>
          </a:p>
          <a:p>
            <a:endParaRPr lang="en-US" altLang="zh-CN" sz="1000">
              <a:cs typeface="Lato Light"/>
            </a:endParaRPr>
          </a:p>
          <a:p>
            <a:r>
              <a:rPr lang="zh-CN" altLang="zh-CN" sz="1000">
                <a:cs typeface="Lato Light"/>
              </a:rPr>
              <a:t>Once confirmed, the statement will be sent to LIC, and both the statement and invoice will be generated in LIC.</a:t>
            </a:r>
          </a:p>
        </p:txBody>
      </p:sp>
      <p:sp>
        <p:nvSpPr>
          <p:cNvPr id="10" name="TextBox 92">
            <a:extLst>
              <a:ext uri="{FF2B5EF4-FFF2-40B4-BE49-F238E27FC236}">
                <a16:creationId xmlns:a16="http://schemas.microsoft.com/office/drawing/2014/main" id="{2775581C-766B-7D04-DD6A-B912B9E0A9BF}"/>
              </a:ext>
            </a:extLst>
          </p:cNvPr>
          <p:cNvSpPr txBox="1"/>
          <p:nvPr/>
        </p:nvSpPr>
        <p:spPr>
          <a:xfrm>
            <a:off x="9119132" y="1798914"/>
            <a:ext cx="1839512" cy="292388"/>
          </a:xfrm>
          <a:prstGeom prst="rect">
            <a:avLst/>
          </a:prstGeom>
          <a:noFill/>
        </p:spPr>
        <p:txBody>
          <a:bodyPr wrap="square" rtlCol="0">
            <a:spAutoFit/>
          </a:bodyPr>
          <a:lstStyle/>
          <a:p>
            <a:r>
              <a:rPr lang="en-US" altLang="zh-CN" sz="1300" b="1">
                <a:solidFill>
                  <a:srgbClr val="57D3FF"/>
                </a:solidFill>
                <a:cs typeface="Lato Regular"/>
              </a:rPr>
              <a:t>Resend to LIC</a:t>
            </a:r>
            <a:endParaRPr lang="id-ID" altLang="zh-CN" sz="1300" b="1">
              <a:solidFill>
                <a:srgbClr val="57D3FF"/>
              </a:solidFill>
              <a:cs typeface="Lato Regular"/>
            </a:endParaRPr>
          </a:p>
        </p:txBody>
      </p:sp>
      <p:sp>
        <p:nvSpPr>
          <p:cNvPr id="11" name="Oval 113">
            <a:extLst>
              <a:ext uri="{FF2B5EF4-FFF2-40B4-BE49-F238E27FC236}">
                <a16:creationId xmlns:a16="http://schemas.microsoft.com/office/drawing/2014/main" id="{13B11C72-54EA-A6A7-B81C-EC66DD2136D2}"/>
              </a:ext>
            </a:extLst>
          </p:cNvPr>
          <p:cNvSpPr/>
          <p:nvPr/>
        </p:nvSpPr>
        <p:spPr>
          <a:xfrm>
            <a:off x="8878026" y="1829781"/>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12" name="TextBox 92">
            <a:extLst>
              <a:ext uri="{FF2B5EF4-FFF2-40B4-BE49-F238E27FC236}">
                <a16:creationId xmlns:a16="http://schemas.microsoft.com/office/drawing/2014/main" id="{7FBC5E7B-9A8C-FC6C-2B90-2DB8D2F7C7EE}"/>
              </a:ext>
            </a:extLst>
          </p:cNvPr>
          <p:cNvSpPr txBox="1"/>
          <p:nvPr/>
        </p:nvSpPr>
        <p:spPr>
          <a:xfrm>
            <a:off x="9103601" y="3258229"/>
            <a:ext cx="1487023" cy="292388"/>
          </a:xfrm>
          <a:prstGeom prst="rect">
            <a:avLst/>
          </a:prstGeom>
          <a:noFill/>
        </p:spPr>
        <p:txBody>
          <a:bodyPr wrap="square" rtlCol="0">
            <a:spAutoFit/>
          </a:bodyPr>
          <a:lstStyle/>
          <a:p>
            <a:r>
              <a:rPr lang="zh-CN" altLang="zh-CN" sz="1300" b="1">
                <a:solidFill>
                  <a:srgbClr val="7030A0"/>
                </a:solidFill>
                <a:cs typeface="Lato Regular"/>
              </a:rPr>
              <a:t>Download PDF</a:t>
            </a:r>
            <a:endParaRPr lang="id-ID" sz="1300" b="1">
              <a:solidFill>
                <a:srgbClr val="7030A0"/>
              </a:solidFill>
              <a:cs typeface="Lato Regular"/>
            </a:endParaRPr>
          </a:p>
        </p:txBody>
      </p:sp>
      <p:sp>
        <p:nvSpPr>
          <p:cNvPr id="13" name="TextBox 93">
            <a:extLst>
              <a:ext uri="{FF2B5EF4-FFF2-40B4-BE49-F238E27FC236}">
                <a16:creationId xmlns:a16="http://schemas.microsoft.com/office/drawing/2014/main" id="{4CA38DEE-7406-49EA-EB1B-7D16312DC1B4}"/>
              </a:ext>
            </a:extLst>
          </p:cNvPr>
          <p:cNvSpPr txBox="1"/>
          <p:nvPr/>
        </p:nvSpPr>
        <p:spPr>
          <a:xfrm>
            <a:off x="9075026" y="3528421"/>
            <a:ext cx="2987878" cy="1323439"/>
          </a:xfrm>
          <a:prstGeom prst="rect">
            <a:avLst/>
          </a:prstGeom>
          <a:noFill/>
        </p:spPr>
        <p:txBody>
          <a:bodyPr wrap="square" rtlCol="0">
            <a:spAutoFit/>
          </a:bodyPr>
          <a:lstStyle/>
          <a:p>
            <a:pPr lvl="0"/>
            <a:r>
              <a:rPr lang="zh-CN" altLang="zh-CN" sz="1000">
                <a:cs typeface="Lato Light"/>
              </a:rPr>
              <a:t>Download the statement PDF to your local machine.</a:t>
            </a:r>
            <a:endParaRPr lang="en-US" altLang="zh-CN" sz="1000">
              <a:cs typeface="Lato Light"/>
            </a:endParaRPr>
          </a:p>
          <a:p>
            <a:pPr lvl="0"/>
            <a:endParaRPr lang="en-US" altLang="zh-CN" sz="1000">
              <a:cs typeface="Lato Light"/>
            </a:endParaRPr>
          </a:p>
          <a:p>
            <a:pPr lvl="0"/>
            <a:r>
              <a:rPr lang="zh-CN" altLang="zh-CN" sz="1000">
                <a:cs typeface="Lato Light"/>
              </a:rPr>
              <a:t>In the browser's download section, users can view the download status of the statement, access the downloaded statement in the designated download path, and view the statement in PDF format.</a:t>
            </a:r>
          </a:p>
        </p:txBody>
      </p:sp>
      <p:sp>
        <p:nvSpPr>
          <p:cNvPr id="14" name="Oval 113">
            <a:extLst>
              <a:ext uri="{FF2B5EF4-FFF2-40B4-BE49-F238E27FC236}">
                <a16:creationId xmlns:a16="http://schemas.microsoft.com/office/drawing/2014/main" id="{BDAC75AA-8715-3690-9394-12B19F3DEA9C}"/>
              </a:ext>
            </a:extLst>
          </p:cNvPr>
          <p:cNvSpPr/>
          <p:nvPr/>
        </p:nvSpPr>
        <p:spPr>
          <a:xfrm>
            <a:off x="8862496" y="3289096"/>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pic>
        <p:nvPicPr>
          <p:cNvPr id="6" name="图片 5">
            <a:extLst>
              <a:ext uri="{FF2B5EF4-FFF2-40B4-BE49-F238E27FC236}">
                <a16:creationId xmlns:a16="http://schemas.microsoft.com/office/drawing/2014/main" id="{93F01E43-9587-407A-483C-95B59A7FD3D0}"/>
              </a:ext>
            </a:extLst>
          </p:cNvPr>
          <p:cNvPicPr>
            <a:picLocks noChangeAspect="1"/>
          </p:cNvPicPr>
          <p:nvPr/>
        </p:nvPicPr>
        <p:blipFill>
          <a:blip r:embed="rId2"/>
          <a:stretch>
            <a:fillRect/>
          </a:stretch>
        </p:blipFill>
        <p:spPr>
          <a:xfrm>
            <a:off x="248555" y="1472464"/>
            <a:ext cx="8530909" cy="2835585"/>
          </a:xfrm>
          <a:prstGeom prst="rect">
            <a:avLst/>
          </a:prstGeom>
        </p:spPr>
      </p:pic>
      <p:sp>
        <p:nvSpPr>
          <p:cNvPr id="7" name="Oval 113">
            <a:extLst>
              <a:ext uri="{FF2B5EF4-FFF2-40B4-BE49-F238E27FC236}">
                <a16:creationId xmlns:a16="http://schemas.microsoft.com/office/drawing/2014/main" id="{075A1AD9-B316-4F80-1707-25CDF87E45ED}"/>
              </a:ext>
            </a:extLst>
          </p:cNvPr>
          <p:cNvSpPr/>
          <p:nvPr/>
        </p:nvSpPr>
        <p:spPr>
          <a:xfrm>
            <a:off x="7265517" y="1764565"/>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9" name="Oval 113">
            <a:extLst>
              <a:ext uri="{FF2B5EF4-FFF2-40B4-BE49-F238E27FC236}">
                <a16:creationId xmlns:a16="http://schemas.microsoft.com/office/drawing/2014/main" id="{E222C9A7-EFF0-025E-A993-1B4561B4FDBD}"/>
              </a:ext>
            </a:extLst>
          </p:cNvPr>
          <p:cNvSpPr/>
          <p:nvPr/>
        </p:nvSpPr>
        <p:spPr>
          <a:xfrm>
            <a:off x="7974859" y="1764565"/>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pic>
        <p:nvPicPr>
          <p:cNvPr id="16" name="图片 15">
            <a:extLst>
              <a:ext uri="{FF2B5EF4-FFF2-40B4-BE49-F238E27FC236}">
                <a16:creationId xmlns:a16="http://schemas.microsoft.com/office/drawing/2014/main" id="{CBDDFBB8-A77E-8547-A74D-27B3D9833BF6}"/>
              </a:ext>
            </a:extLst>
          </p:cNvPr>
          <p:cNvPicPr>
            <a:picLocks noChangeAspect="1"/>
          </p:cNvPicPr>
          <p:nvPr/>
        </p:nvPicPr>
        <p:blipFill>
          <a:blip r:embed="rId3"/>
          <a:stretch>
            <a:fillRect/>
          </a:stretch>
        </p:blipFill>
        <p:spPr>
          <a:xfrm>
            <a:off x="4208367" y="2660756"/>
            <a:ext cx="4596767" cy="1373914"/>
          </a:xfrm>
          <a:prstGeom prst="rect">
            <a:avLst/>
          </a:prstGeom>
        </p:spPr>
      </p:pic>
      <p:pic>
        <p:nvPicPr>
          <p:cNvPr id="15" name="图片 14">
            <a:extLst>
              <a:ext uri="{FF2B5EF4-FFF2-40B4-BE49-F238E27FC236}">
                <a16:creationId xmlns:a16="http://schemas.microsoft.com/office/drawing/2014/main" id="{26B62C82-0747-A1BF-86B4-B836E72F8A82}"/>
              </a:ext>
            </a:extLst>
          </p:cNvPr>
          <p:cNvPicPr>
            <a:picLocks noChangeAspect="1"/>
          </p:cNvPicPr>
          <p:nvPr/>
        </p:nvPicPr>
        <p:blipFill>
          <a:blip r:embed="rId4"/>
          <a:stretch>
            <a:fillRect/>
          </a:stretch>
        </p:blipFill>
        <p:spPr>
          <a:xfrm>
            <a:off x="316076" y="4613665"/>
            <a:ext cx="3215919" cy="1158340"/>
          </a:xfrm>
          <a:prstGeom prst="rect">
            <a:avLst/>
          </a:prstGeom>
        </p:spPr>
      </p:pic>
      <p:sp>
        <p:nvSpPr>
          <p:cNvPr id="18" name="Oval 113">
            <a:extLst>
              <a:ext uri="{FF2B5EF4-FFF2-40B4-BE49-F238E27FC236}">
                <a16:creationId xmlns:a16="http://schemas.microsoft.com/office/drawing/2014/main" id="{90884C74-3AA9-E02C-358F-3C55B0075B38}"/>
              </a:ext>
            </a:extLst>
          </p:cNvPr>
          <p:cNvSpPr/>
          <p:nvPr/>
        </p:nvSpPr>
        <p:spPr>
          <a:xfrm>
            <a:off x="7408486" y="3185079"/>
            <a:ext cx="228600" cy="2286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5</a:t>
            </a:r>
          </a:p>
        </p:txBody>
      </p:sp>
      <p:sp>
        <p:nvSpPr>
          <p:cNvPr id="20" name="Oval 113">
            <a:extLst>
              <a:ext uri="{FF2B5EF4-FFF2-40B4-BE49-F238E27FC236}">
                <a16:creationId xmlns:a16="http://schemas.microsoft.com/office/drawing/2014/main" id="{940969D8-AEE4-9223-1EA4-3A7C7D0870C1}"/>
              </a:ext>
            </a:extLst>
          </p:cNvPr>
          <p:cNvSpPr/>
          <p:nvPr/>
        </p:nvSpPr>
        <p:spPr>
          <a:xfrm>
            <a:off x="395572" y="4846358"/>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pic>
        <p:nvPicPr>
          <p:cNvPr id="22" name="图片 21">
            <a:extLst>
              <a:ext uri="{FF2B5EF4-FFF2-40B4-BE49-F238E27FC236}">
                <a16:creationId xmlns:a16="http://schemas.microsoft.com/office/drawing/2014/main" id="{4F46B8D0-8423-7340-2F17-CFDFCC477833}"/>
              </a:ext>
            </a:extLst>
          </p:cNvPr>
          <p:cNvPicPr>
            <a:picLocks noChangeAspect="1"/>
          </p:cNvPicPr>
          <p:nvPr/>
        </p:nvPicPr>
        <p:blipFill>
          <a:blip r:embed="rId5"/>
          <a:stretch>
            <a:fillRect/>
          </a:stretch>
        </p:blipFill>
        <p:spPr>
          <a:xfrm>
            <a:off x="353768" y="5648173"/>
            <a:ext cx="7017027" cy="520795"/>
          </a:xfrm>
          <a:prstGeom prst="rect">
            <a:avLst/>
          </a:prstGeom>
        </p:spPr>
      </p:pic>
      <p:sp>
        <p:nvSpPr>
          <p:cNvPr id="24" name="Oval 113">
            <a:extLst>
              <a:ext uri="{FF2B5EF4-FFF2-40B4-BE49-F238E27FC236}">
                <a16:creationId xmlns:a16="http://schemas.microsoft.com/office/drawing/2014/main" id="{96997659-10F6-E7C3-7284-8B8CE4FC9B3C}"/>
              </a:ext>
            </a:extLst>
          </p:cNvPr>
          <p:cNvSpPr/>
          <p:nvPr/>
        </p:nvSpPr>
        <p:spPr>
          <a:xfrm>
            <a:off x="395572" y="5669538"/>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pic>
        <p:nvPicPr>
          <p:cNvPr id="26" name="图片 25">
            <a:extLst>
              <a:ext uri="{FF2B5EF4-FFF2-40B4-BE49-F238E27FC236}">
                <a16:creationId xmlns:a16="http://schemas.microsoft.com/office/drawing/2014/main" id="{7CC77A55-701E-C7C7-32E4-DAF642C4D3AB}"/>
              </a:ext>
            </a:extLst>
          </p:cNvPr>
          <p:cNvPicPr>
            <a:picLocks noChangeAspect="1"/>
          </p:cNvPicPr>
          <p:nvPr/>
        </p:nvPicPr>
        <p:blipFill>
          <a:blip r:embed="rId6"/>
          <a:stretch>
            <a:fillRect/>
          </a:stretch>
        </p:blipFill>
        <p:spPr>
          <a:xfrm>
            <a:off x="5422565" y="4308049"/>
            <a:ext cx="3369420" cy="2511811"/>
          </a:xfrm>
          <a:prstGeom prst="rect">
            <a:avLst/>
          </a:prstGeom>
        </p:spPr>
      </p:pic>
      <p:sp>
        <p:nvSpPr>
          <p:cNvPr id="30" name="Oval 113">
            <a:extLst>
              <a:ext uri="{FF2B5EF4-FFF2-40B4-BE49-F238E27FC236}">
                <a16:creationId xmlns:a16="http://schemas.microsoft.com/office/drawing/2014/main" id="{712FB3B0-D563-4D42-E9E1-5E165A03A5FC}"/>
              </a:ext>
            </a:extLst>
          </p:cNvPr>
          <p:cNvSpPr/>
          <p:nvPr/>
        </p:nvSpPr>
        <p:spPr>
          <a:xfrm>
            <a:off x="7513228" y="4308049"/>
            <a:ext cx="228600" cy="2286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6</a:t>
            </a:r>
          </a:p>
        </p:txBody>
      </p:sp>
    </p:spTree>
    <p:extLst>
      <p:ext uri="{BB962C8B-B14F-4D97-AF65-F5344CB8AC3E}">
        <p14:creationId xmlns:p14="http://schemas.microsoft.com/office/powerpoint/2010/main" val="1101927623"/>
      </p:ext>
    </p:extLst>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F2EE-35AF-A990-0E6B-E929CEF0C0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2ECC5B-E996-B58D-8B79-8A3CB4EEF263}"/>
              </a:ext>
            </a:extLst>
          </p:cNvPr>
          <p:cNvSpPr>
            <a:spLocks noGrp="1"/>
          </p:cNvSpPr>
          <p:nvPr>
            <p:ph type="title"/>
          </p:nvPr>
        </p:nvSpPr>
        <p:spPr>
          <a:xfrm>
            <a:off x="330200" y="177800"/>
            <a:ext cx="11303000" cy="802548"/>
          </a:xfrm>
        </p:spPr>
        <p:txBody>
          <a:bodyPr/>
          <a:lstStyle/>
          <a:p>
            <a:r>
              <a:rPr lang="en-US" altLang="zh-CN" sz="3400">
                <a:solidFill>
                  <a:srgbClr val="000000"/>
                </a:solidFill>
                <a:latin typeface="Aptos Display" panose="020B0004020202020204" pitchFamily="34" charset="0"/>
              </a:rPr>
              <a:t>Agenda</a:t>
            </a:r>
            <a:endParaRPr lang="zh-CN" altLang="en-US" sz="3400">
              <a:solidFill>
                <a:srgbClr val="000000"/>
              </a:solidFill>
              <a:latin typeface="Aptos Display" panose="020B0004020202020204" pitchFamily="34" charset="0"/>
            </a:endParaRPr>
          </a:p>
        </p:txBody>
      </p:sp>
      <p:sp>
        <p:nvSpPr>
          <p:cNvPr id="5" name="文本占位符 1">
            <a:extLst>
              <a:ext uri="{FF2B5EF4-FFF2-40B4-BE49-F238E27FC236}">
                <a16:creationId xmlns:a16="http://schemas.microsoft.com/office/drawing/2014/main" id="{B675A6F8-5FC5-0227-AC45-5C5C9B6C235B}"/>
              </a:ext>
            </a:extLst>
          </p:cNvPr>
          <p:cNvSpPr txBox="1">
            <a:spLocks noGrp="1"/>
          </p:cNvSpPr>
          <p:nvPr>
            <p:ph type="body" sz="quarter" idx="12"/>
          </p:nvPr>
        </p:nvSpPr>
        <p:spPr bwMode="white">
          <a:xfrm>
            <a:off x="488931" y="1844271"/>
            <a:ext cx="5528411" cy="2541593"/>
          </a:xfrm>
          <a:prstGeom prst="rect">
            <a:avLst/>
          </a:prstGeom>
        </p:spPr>
        <p:txBody>
          <a:bodyPr wrap="square" lIns="50800" tIns="25400" rIns="50800" bIns="2540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Payment Schedule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Document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Statement</a:t>
            </a:r>
          </a:p>
          <a:p>
            <a:pPr marL="342900" indent="-342900">
              <a:lnSpc>
                <a:spcPct val="150000"/>
              </a:lnSpc>
              <a:buFont typeface="+mj-lt"/>
              <a:buAutoNum type="arabicPeriod"/>
            </a:pPr>
            <a:r>
              <a:rPr lang="en-US" altLang="zh-CN" sz="2200" b="0">
                <a:solidFill>
                  <a:srgbClr val="1B2434"/>
                </a:solidFill>
                <a:highlight>
                  <a:srgbClr val="00FF00"/>
                </a:highlight>
                <a:cs typeface="Cascadia Code" panose="020B0609020000020004" pitchFamily="49" charset="0"/>
              </a:rPr>
              <a:t>Central Billing Invoice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Reverse/Invoice Adjustment</a:t>
            </a:r>
          </a:p>
        </p:txBody>
      </p:sp>
    </p:spTree>
    <p:extLst>
      <p:ext uri="{BB962C8B-B14F-4D97-AF65-F5344CB8AC3E}">
        <p14:creationId xmlns:p14="http://schemas.microsoft.com/office/powerpoint/2010/main" val="2878813704"/>
      </p:ext>
    </p:extLst>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0128-5512-017C-33A3-18A6757658D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F6EDFE-C1B6-1204-8602-582A8CE34EEE}"/>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Central Billing Invoice</a:t>
            </a:r>
            <a:endParaRPr lang="zh-CN" altLang="en-US" sz="3400">
              <a:solidFill>
                <a:srgbClr val="000000"/>
              </a:solidFill>
              <a:latin typeface="Aptos Display" panose="020B0004020202020204" pitchFamily="34" charset="0"/>
            </a:endParaRPr>
          </a:p>
        </p:txBody>
      </p:sp>
      <p:sp>
        <p:nvSpPr>
          <p:cNvPr id="4" name="Title 10">
            <a:extLst>
              <a:ext uri="{FF2B5EF4-FFF2-40B4-BE49-F238E27FC236}">
                <a16:creationId xmlns:a16="http://schemas.microsoft.com/office/drawing/2014/main" id="{DB1D70CB-3862-9CFB-8679-686F21E74C52}"/>
              </a:ext>
            </a:extLst>
          </p:cNvPr>
          <p:cNvSpPr txBox="1">
            <a:spLocks/>
          </p:cNvSpPr>
          <p:nvPr/>
        </p:nvSpPr>
        <p:spPr>
          <a:xfrm>
            <a:off x="330200" y="889000"/>
            <a:ext cx="11303000" cy="525891"/>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Management-Central Billing Invoice</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central billing invoice is NL11-JP Hitachi customer AR invoice and NL11-AFE AP invoice. </a:t>
            </a:r>
            <a:endParaRPr lang="en-US" altLang="zh-CN" sz="1500">
              <a:solidFill>
                <a:srgbClr val="1B2434"/>
              </a:solidFill>
              <a:latin typeface="Aptos" panose="020B0004020202020204" pitchFamily="34" charset="0"/>
            </a:endParaRPr>
          </a:p>
        </p:txBody>
      </p:sp>
      <p:pic>
        <p:nvPicPr>
          <p:cNvPr id="5" name="图片 4">
            <a:extLst>
              <a:ext uri="{FF2B5EF4-FFF2-40B4-BE49-F238E27FC236}">
                <a16:creationId xmlns:a16="http://schemas.microsoft.com/office/drawing/2014/main" id="{CDF27B49-8348-8879-1D9F-2DB86217F63F}"/>
              </a:ext>
            </a:extLst>
          </p:cNvPr>
          <p:cNvPicPr>
            <a:picLocks noChangeAspect="1"/>
          </p:cNvPicPr>
          <p:nvPr/>
        </p:nvPicPr>
        <p:blipFill>
          <a:blip r:embed="rId2"/>
          <a:stretch>
            <a:fillRect/>
          </a:stretch>
        </p:blipFill>
        <p:spPr>
          <a:xfrm>
            <a:off x="943455" y="1543664"/>
            <a:ext cx="8508383" cy="5001999"/>
          </a:xfrm>
          <a:prstGeom prst="rect">
            <a:avLst/>
          </a:prstGeom>
        </p:spPr>
      </p:pic>
    </p:spTree>
    <p:extLst>
      <p:ext uri="{BB962C8B-B14F-4D97-AF65-F5344CB8AC3E}">
        <p14:creationId xmlns:p14="http://schemas.microsoft.com/office/powerpoint/2010/main" val="2587649686"/>
      </p:ext>
    </p:extLst>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EB577-0981-FBEA-606F-87057E09BD7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321704-4BFF-316C-FC39-55C53BCCEDA2}"/>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Central Billing Invoice</a:t>
            </a:r>
            <a:endParaRPr lang="zh-CN" altLang="en-US" sz="3400">
              <a:solidFill>
                <a:srgbClr val="000000"/>
              </a:solidFill>
              <a:latin typeface="Aptos Display" panose="020B0004020202020204" pitchFamily="34" charset="0"/>
            </a:endParaRPr>
          </a:p>
        </p:txBody>
      </p:sp>
      <p:sp>
        <p:nvSpPr>
          <p:cNvPr id="76" name="Shape 21">
            <a:extLst>
              <a:ext uri="{FF2B5EF4-FFF2-40B4-BE49-F238E27FC236}">
                <a16:creationId xmlns:a16="http://schemas.microsoft.com/office/drawing/2014/main" id="{12EB769C-78B6-282B-EA7A-25A5014BAB13}"/>
              </a:ext>
            </a:extLst>
          </p:cNvPr>
          <p:cNvSpPr/>
          <p:nvPr/>
        </p:nvSpPr>
        <p:spPr>
          <a:xfrm>
            <a:off x="8832955" y="1701910"/>
            <a:ext cx="225977" cy="256032"/>
          </a:xfrm>
          <a:prstGeom prst="ellipse">
            <a:avLst/>
          </a:prstGeom>
          <a:solidFill>
            <a:srgbClr val="D8232A"/>
          </a:solidFill>
          <a:ln w="15875">
            <a:solidFill>
              <a:srgbClr val="FFFFFF"/>
            </a:solidFill>
            <a:prstDash val="solid"/>
          </a:ln>
        </p:spPr>
        <p:txBody>
          <a:bodyPr/>
          <a:lstStyle/>
          <a:p>
            <a:pPr algn="ctr"/>
            <a:endParaRPr lang="zh-CN" altLang="en-US"/>
          </a:p>
        </p:txBody>
      </p:sp>
      <p:sp>
        <p:nvSpPr>
          <p:cNvPr id="77" name="Text 22">
            <a:extLst>
              <a:ext uri="{FF2B5EF4-FFF2-40B4-BE49-F238E27FC236}">
                <a16:creationId xmlns:a16="http://schemas.microsoft.com/office/drawing/2014/main" id="{04C97227-EFD4-7870-ADDD-134D2CD56ABF}"/>
              </a:ext>
            </a:extLst>
          </p:cNvPr>
          <p:cNvSpPr txBox="1"/>
          <p:nvPr/>
        </p:nvSpPr>
        <p:spPr>
          <a:xfrm>
            <a:off x="8832955" y="1701910"/>
            <a:ext cx="225977"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1</a:t>
            </a:r>
            <a:endParaRPr lang="en-US" sz="1200" b="1">
              <a:solidFill>
                <a:srgbClr val="FFFFFF"/>
              </a:solidFill>
              <a:latin typeface="Aptos" panose="020B0004020202020204" pitchFamily="34" charset="0"/>
            </a:endParaRPr>
          </a:p>
        </p:txBody>
      </p:sp>
      <p:sp>
        <p:nvSpPr>
          <p:cNvPr id="78" name="Text 23">
            <a:extLst>
              <a:ext uri="{FF2B5EF4-FFF2-40B4-BE49-F238E27FC236}">
                <a16:creationId xmlns:a16="http://schemas.microsoft.com/office/drawing/2014/main" id="{8DA0F7A4-9FAB-C896-C67B-A2BE3AA2836B}"/>
              </a:ext>
            </a:extLst>
          </p:cNvPr>
          <p:cNvSpPr txBox="1"/>
          <p:nvPr/>
        </p:nvSpPr>
        <p:spPr>
          <a:xfrm>
            <a:off x="9195380" y="1673519"/>
            <a:ext cx="2996620" cy="256032"/>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Central Billing Type</a:t>
            </a:r>
            <a:r>
              <a:rPr lang="zh-CN" altLang="en-US" sz="900">
                <a:solidFill>
                  <a:srgbClr val="1B2434"/>
                </a:solidFill>
                <a:latin typeface="Aptos" panose="020B0004020202020204" pitchFamily="34" charset="0"/>
              </a:rPr>
              <a:t>：</a:t>
            </a:r>
            <a:r>
              <a:rPr lang="en-US" altLang="zh-CN" sz="900">
                <a:solidFill>
                  <a:srgbClr val="1B2434"/>
                </a:solidFill>
                <a:latin typeface="Aptos" panose="020B0004020202020204" pitchFamily="34" charset="0"/>
              </a:rPr>
              <a:t>Central Billing Invoice type. List: AR/AP</a:t>
            </a:r>
            <a:endParaRPr lang="en-US" sz="900">
              <a:solidFill>
                <a:srgbClr val="1B2434"/>
              </a:solidFill>
              <a:latin typeface="Aptos" panose="020B0004020202020204" pitchFamily="34" charset="0"/>
            </a:endParaRPr>
          </a:p>
        </p:txBody>
      </p:sp>
      <p:sp>
        <p:nvSpPr>
          <p:cNvPr id="79" name="Shape 27">
            <a:extLst>
              <a:ext uri="{FF2B5EF4-FFF2-40B4-BE49-F238E27FC236}">
                <a16:creationId xmlns:a16="http://schemas.microsoft.com/office/drawing/2014/main" id="{556C01BA-6B03-73DE-577E-D47A50F10650}"/>
              </a:ext>
            </a:extLst>
          </p:cNvPr>
          <p:cNvSpPr/>
          <p:nvPr/>
        </p:nvSpPr>
        <p:spPr>
          <a:xfrm>
            <a:off x="8832955" y="2431070"/>
            <a:ext cx="225977" cy="256032"/>
          </a:xfrm>
          <a:prstGeom prst="ellipse">
            <a:avLst/>
          </a:prstGeom>
          <a:solidFill>
            <a:srgbClr val="D8232A"/>
          </a:solidFill>
          <a:ln w="15875">
            <a:solidFill>
              <a:srgbClr val="FFFFFF"/>
            </a:solidFill>
            <a:prstDash val="solid"/>
          </a:ln>
        </p:spPr>
        <p:txBody>
          <a:bodyPr/>
          <a:lstStyle/>
          <a:p>
            <a:pPr algn="ctr"/>
            <a:endParaRPr lang="zh-CN" altLang="en-US"/>
          </a:p>
        </p:txBody>
      </p:sp>
      <p:sp>
        <p:nvSpPr>
          <p:cNvPr id="80" name="Text 28">
            <a:extLst>
              <a:ext uri="{FF2B5EF4-FFF2-40B4-BE49-F238E27FC236}">
                <a16:creationId xmlns:a16="http://schemas.microsoft.com/office/drawing/2014/main" id="{E9BAD37C-8AD1-9221-80AC-58FB918E9B70}"/>
              </a:ext>
            </a:extLst>
          </p:cNvPr>
          <p:cNvSpPr txBox="1"/>
          <p:nvPr/>
        </p:nvSpPr>
        <p:spPr>
          <a:xfrm>
            <a:off x="8832955" y="2431070"/>
            <a:ext cx="225977"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3</a:t>
            </a:r>
            <a:endParaRPr lang="en-US" sz="1200" b="1">
              <a:solidFill>
                <a:srgbClr val="FFFFFF"/>
              </a:solidFill>
              <a:latin typeface="Aptos" panose="020B0004020202020204" pitchFamily="34" charset="0"/>
            </a:endParaRPr>
          </a:p>
        </p:txBody>
      </p:sp>
      <p:sp>
        <p:nvSpPr>
          <p:cNvPr id="81" name="Text 23">
            <a:extLst>
              <a:ext uri="{FF2B5EF4-FFF2-40B4-BE49-F238E27FC236}">
                <a16:creationId xmlns:a16="http://schemas.microsoft.com/office/drawing/2014/main" id="{77B9916F-7B1F-0ABA-DF55-A4DD3EFE7387}"/>
              </a:ext>
            </a:extLst>
          </p:cNvPr>
          <p:cNvSpPr txBox="1"/>
          <p:nvPr/>
        </p:nvSpPr>
        <p:spPr>
          <a:xfrm>
            <a:off x="9172592" y="2036084"/>
            <a:ext cx="2996620" cy="256032"/>
          </a:xfrm>
          <a:prstGeom prst="rect">
            <a:avLst/>
          </a:prstGeom>
          <a:noFill/>
          <a:ln/>
        </p:spPr>
        <p:txBody>
          <a:bodyPr wrap="square" lIns="50800" tIns="25400" rIns="50800" bIns="25400" rtlCol="0" anchor="ctr"/>
          <a:lstStyle/>
          <a:p>
            <a:pPr marL="0" indent="0">
              <a:lnSpc>
                <a:spcPts val="1188"/>
              </a:lnSpc>
              <a:buNone/>
            </a:pPr>
            <a:r>
              <a:rPr lang="en-US" sz="900">
                <a:solidFill>
                  <a:srgbClr val="1B2434"/>
                </a:solidFill>
                <a:latin typeface="Aptos" panose="020B0004020202020204" pitchFamily="34" charset="0"/>
              </a:rPr>
              <a:t>BIT Creation </a:t>
            </a:r>
            <a:r>
              <a:rPr lang="en-US" altLang="zh-CN" sz="900">
                <a:solidFill>
                  <a:srgbClr val="1B2434"/>
                </a:solidFill>
                <a:latin typeface="Aptos" panose="020B0004020202020204" pitchFamily="34" charset="0"/>
              </a:rPr>
              <a:t>Status</a:t>
            </a:r>
            <a:r>
              <a:rPr lang="zh-CN" altLang="en-US" sz="900">
                <a:solidFill>
                  <a:srgbClr val="1B2434"/>
                </a:solidFill>
                <a:latin typeface="Aptos" panose="020B0004020202020204" pitchFamily="34" charset="0"/>
              </a:rPr>
              <a:t>：</a:t>
            </a:r>
            <a:r>
              <a:rPr lang="en-US" altLang="zh-CN" sz="900">
                <a:solidFill>
                  <a:srgbClr val="1B2434"/>
                </a:solidFill>
                <a:latin typeface="Aptos" panose="020B0004020202020204" pitchFamily="34" charset="0"/>
              </a:rPr>
              <a:t>default 00-New</a:t>
            </a:r>
            <a:endParaRPr lang="en-US" sz="900">
              <a:solidFill>
                <a:srgbClr val="1B2434"/>
              </a:solidFill>
              <a:latin typeface="Aptos" panose="020B0004020202020204" pitchFamily="34" charset="0"/>
            </a:endParaRPr>
          </a:p>
        </p:txBody>
      </p:sp>
      <p:sp>
        <p:nvSpPr>
          <p:cNvPr id="82" name="Shape 27">
            <a:extLst>
              <a:ext uri="{FF2B5EF4-FFF2-40B4-BE49-F238E27FC236}">
                <a16:creationId xmlns:a16="http://schemas.microsoft.com/office/drawing/2014/main" id="{F1F4C2A3-1469-EA83-E07A-3CDF5469C197}"/>
              </a:ext>
            </a:extLst>
          </p:cNvPr>
          <p:cNvSpPr/>
          <p:nvPr/>
        </p:nvSpPr>
        <p:spPr>
          <a:xfrm>
            <a:off x="8832955" y="2044909"/>
            <a:ext cx="225977" cy="256032"/>
          </a:xfrm>
          <a:prstGeom prst="ellipse">
            <a:avLst/>
          </a:prstGeom>
          <a:solidFill>
            <a:srgbClr val="D8232A"/>
          </a:solidFill>
          <a:ln w="15875">
            <a:solidFill>
              <a:srgbClr val="FFFFFF"/>
            </a:solidFill>
            <a:prstDash val="solid"/>
          </a:ln>
        </p:spPr>
        <p:txBody>
          <a:bodyPr/>
          <a:lstStyle/>
          <a:p>
            <a:pPr algn="ctr"/>
            <a:endParaRPr lang="zh-CN" altLang="en-US"/>
          </a:p>
        </p:txBody>
      </p:sp>
      <p:sp>
        <p:nvSpPr>
          <p:cNvPr id="83" name="Text 28">
            <a:extLst>
              <a:ext uri="{FF2B5EF4-FFF2-40B4-BE49-F238E27FC236}">
                <a16:creationId xmlns:a16="http://schemas.microsoft.com/office/drawing/2014/main" id="{7A42743E-B270-111E-E199-84C77A60AE82}"/>
              </a:ext>
            </a:extLst>
          </p:cNvPr>
          <p:cNvSpPr txBox="1"/>
          <p:nvPr/>
        </p:nvSpPr>
        <p:spPr>
          <a:xfrm>
            <a:off x="8832955" y="2044909"/>
            <a:ext cx="225977"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2</a:t>
            </a:r>
          </a:p>
        </p:txBody>
      </p:sp>
      <p:sp>
        <p:nvSpPr>
          <p:cNvPr id="84" name="Text 23">
            <a:extLst>
              <a:ext uri="{FF2B5EF4-FFF2-40B4-BE49-F238E27FC236}">
                <a16:creationId xmlns:a16="http://schemas.microsoft.com/office/drawing/2014/main" id="{B087AEDC-23F6-A68F-EE18-C3A03301A5DD}"/>
              </a:ext>
            </a:extLst>
          </p:cNvPr>
          <p:cNvSpPr txBox="1"/>
          <p:nvPr/>
        </p:nvSpPr>
        <p:spPr>
          <a:xfrm>
            <a:off x="9195380" y="2420632"/>
            <a:ext cx="2996620" cy="256032"/>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Central Billing Sales Org</a:t>
            </a:r>
            <a:r>
              <a:rPr lang="zh-CN" altLang="en-US" sz="900">
                <a:solidFill>
                  <a:srgbClr val="1B2434"/>
                </a:solidFill>
                <a:latin typeface="Aptos" panose="020B0004020202020204" pitchFamily="34" charset="0"/>
              </a:rPr>
              <a:t>：</a:t>
            </a:r>
            <a:r>
              <a:rPr lang="en-US" altLang="zh-CN" sz="900">
                <a:solidFill>
                  <a:srgbClr val="1B2434"/>
                </a:solidFill>
                <a:latin typeface="Aptos" panose="020B0004020202020204" pitchFamily="34" charset="0"/>
              </a:rPr>
              <a:t>default NL11</a:t>
            </a:r>
            <a:endParaRPr lang="en-US" sz="900">
              <a:solidFill>
                <a:srgbClr val="1B2434"/>
              </a:solidFill>
              <a:latin typeface="Aptos" panose="020B0004020202020204" pitchFamily="34" charset="0"/>
            </a:endParaRPr>
          </a:p>
        </p:txBody>
      </p:sp>
      <p:sp>
        <p:nvSpPr>
          <p:cNvPr id="85" name="Shape 27">
            <a:extLst>
              <a:ext uri="{FF2B5EF4-FFF2-40B4-BE49-F238E27FC236}">
                <a16:creationId xmlns:a16="http://schemas.microsoft.com/office/drawing/2014/main" id="{EAF75741-34BD-8EFC-144E-E1475A7A336F}"/>
              </a:ext>
            </a:extLst>
          </p:cNvPr>
          <p:cNvSpPr/>
          <p:nvPr/>
        </p:nvSpPr>
        <p:spPr>
          <a:xfrm>
            <a:off x="8832955" y="2800844"/>
            <a:ext cx="225977" cy="256032"/>
          </a:xfrm>
          <a:prstGeom prst="ellipse">
            <a:avLst/>
          </a:prstGeom>
          <a:solidFill>
            <a:srgbClr val="D8232A"/>
          </a:solidFill>
          <a:ln w="15875">
            <a:solidFill>
              <a:srgbClr val="FFFFFF"/>
            </a:solidFill>
            <a:prstDash val="solid"/>
          </a:ln>
        </p:spPr>
        <p:txBody>
          <a:bodyPr/>
          <a:lstStyle/>
          <a:p>
            <a:pPr algn="ctr"/>
            <a:endParaRPr lang="zh-CN" altLang="en-US"/>
          </a:p>
        </p:txBody>
      </p:sp>
      <p:sp>
        <p:nvSpPr>
          <p:cNvPr id="86" name="Text 28">
            <a:extLst>
              <a:ext uri="{FF2B5EF4-FFF2-40B4-BE49-F238E27FC236}">
                <a16:creationId xmlns:a16="http://schemas.microsoft.com/office/drawing/2014/main" id="{30C22AD4-19E4-29AC-1197-7E406EBFF2B7}"/>
              </a:ext>
            </a:extLst>
          </p:cNvPr>
          <p:cNvSpPr txBox="1"/>
          <p:nvPr/>
        </p:nvSpPr>
        <p:spPr>
          <a:xfrm>
            <a:off x="8832955" y="2800844"/>
            <a:ext cx="225977"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4</a:t>
            </a:r>
            <a:endParaRPr lang="en-US" sz="1200" b="1">
              <a:solidFill>
                <a:srgbClr val="FFFFFF"/>
              </a:solidFill>
              <a:latin typeface="Aptos" panose="020B0004020202020204" pitchFamily="34" charset="0"/>
            </a:endParaRPr>
          </a:p>
        </p:txBody>
      </p:sp>
      <p:sp>
        <p:nvSpPr>
          <p:cNvPr id="87" name="Text 23">
            <a:extLst>
              <a:ext uri="{FF2B5EF4-FFF2-40B4-BE49-F238E27FC236}">
                <a16:creationId xmlns:a16="http://schemas.microsoft.com/office/drawing/2014/main" id="{12DCBE42-1E94-DD93-0903-D21769B06920}"/>
              </a:ext>
            </a:extLst>
          </p:cNvPr>
          <p:cNvSpPr txBox="1"/>
          <p:nvPr/>
        </p:nvSpPr>
        <p:spPr>
          <a:xfrm>
            <a:off x="9159781" y="2799362"/>
            <a:ext cx="2996620" cy="256032"/>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Central Billing sales office</a:t>
            </a:r>
            <a:r>
              <a:rPr lang="zh-CN" altLang="en-US" sz="900">
                <a:solidFill>
                  <a:srgbClr val="1B2434"/>
                </a:solidFill>
                <a:latin typeface="Aptos" panose="020B0004020202020204" pitchFamily="34" charset="0"/>
              </a:rPr>
              <a:t>：</a:t>
            </a:r>
            <a:r>
              <a:rPr lang="en-US" altLang="zh-CN" sz="900">
                <a:solidFill>
                  <a:srgbClr val="1B2434"/>
                </a:solidFill>
                <a:latin typeface="Aptos" panose="020B0004020202020204" pitchFamily="34" charset="0"/>
              </a:rPr>
              <a:t>input every AFE offshore  office</a:t>
            </a:r>
            <a:endParaRPr lang="en-US" sz="900">
              <a:solidFill>
                <a:srgbClr val="1B2434"/>
              </a:solidFill>
              <a:latin typeface="Aptos" panose="020B0004020202020204" pitchFamily="34" charset="0"/>
            </a:endParaRPr>
          </a:p>
        </p:txBody>
      </p:sp>
      <p:grpSp>
        <p:nvGrpSpPr>
          <p:cNvPr id="125" name="组合 124">
            <a:extLst>
              <a:ext uri="{FF2B5EF4-FFF2-40B4-BE49-F238E27FC236}">
                <a16:creationId xmlns:a16="http://schemas.microsoft.com/office/drawing/2014/main" id="{EC5BE65E-4197-8794-B908-8745721D1806}"/>
              </a:ext>
            </a:extLst>
          </p:cNvPr>
          <p:cNvGrpSpPr/>
          <p:nvPr/>
        </p:nvGrpSpPr>
        <p:grpSpPr>
          <a:xfrm>
            <a:off x="756954" y="1652837"/>
            <a:ext cx="7478326" cy="2923384"/>
            <a:chOff x="873675" y="1271716"/>
            <a:chExt cx="9476806" cy="3350199"/>
          </a:xfrm>
        </p:grpSpPr>
        <p:pic>
          <p:nvPicPr>
            <p:cNvPr id="70" name="图片 69">
              <a:extLst>
                <a:ext uri="{FF2B5EF4-FFF2-40B4-BE49-F238E27FC236}">
                  <a16:creationId xmlns:a16="http://schemas.microsoft.com/office/drawing/2014/main" id="{B38BC73A-9F7B-FB94-77D9-604B2A4DE879}"/>
                </a:ext>
              </a:extLst>
            </p:cNvPr>
            <p:cNvPicPr>
              <a:picLocks noChangeAspect="1"/>
            </p:cNvPicPr>
            <p:nvPr/>
          </p:nvPicPr>
          <p:blipFill>
            <a:blip r:embed="rId2"/>
            <a:stretch>
              <a:fillRect/>
            </a:stretch>
          </p:blipFill>
          <p:spPr>
            <a:xfrm>
              <a:off x="873675" y="1271716"/>
              <a:ext cx="9476806" cy="3350199"/>
            </a:xfrm>
            <a:prstGeom prst="rect">
              <a:avLst/>
            </a:prstGeom>
          </p:spPr>
        </p:pic>
        <p:sp>
          <p:nvSpPr>
            <p:cNvPr id="72" name="Shape 5">
              <a:extLst>
                <a:ext uri="{FF2B5EF4-FFF2-40B4-BE49-F238E27FC236}">
                  <a16:creationId xmlns:a16="http://schemas.microsoft.com/office/drawing/2014/main" id="{7E020289-D19D-FBFC-2E83-90FC9AAE89BA}"/>
                </a:ext>
              </a:extLst>
            </p:cNvPr>
            <p:cNvSpPr/>
            <p:nvPr/>
          </p:nvSpPr>
          <p:spPr>
            <a:xfrm>
              <a:off x="4533427" y="1969849"/>
              <a:ext cx="328045" cy="242988"/>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1</a:t>
              </a:r>
              <a:endParaRPr lang="zh-CN" altLang="en-US" sz="1000" b="1">
                <a:solidFill>
                  <a:schemeClr val="bg1"/>
                </a:solidFill>
              </a:endParaRPr>
            </a:p>
          </p:txBody>
        </p:sp>
        <p:sp>
          <p:nvSpPr>
            <p:cNvPr id="74" name="Shape 5">
              <a:extLst>
                <a:ext uri="{FF2B5EF4-FFF2-40B4-BE49-F238E27FC236}">
                  <a16:creationId xmlns:a16="http://schemas.microsoft.com/office/drawing/2014/main" id="{B9403D85-2441-8050-C40E-B6742558C47E}"/>
                </a:ext>
              </a:extLst>
            </p:cNvPr>
            <p:cNvSpPr/>
            <p:nvPr/>
          </p:nvSpPr>
          <p:spPr>
            <a:xfrm>
              <a:off x="9252911" y="1969849"/>
              <a:ext cx="328045" cy="242988"/>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2</a:t>
              </a:r>
              <a:endParaRPr lang="zh-CN" altLang="en-US" sz="1000" b="1">
                <a:solidFill>
                  <a:schemeClr val="bg1"/>
                </a:solidFill>
              </a:endParaRPr>
            </a:p>
          </p:txBody>
        </p:sp>
        <p:sp>
          <p:nvSpPr>
            <p:cNvPr id="92" name="Shape 5">
              <a:extLst>
                <a:ext uri="{FF2B5EF4-FFF2-40B4-BE49-F238E27FC236}">
                  <a16:creationId xmlns:a16="http://schemas.microsoft.com/office/drawing/2014/main" id="{C7F10616-2361-FDDB-2985-0AE1446F0699}"/>
                </a:ext>
              </a:extLst>
            </p:cNvPr>
            <p:cNvSpPr/>
            <p:nvPr/>
          </p:nvSpPr>
          <p:spPr>
            <a:xfrm>
              <a:off x="4533427" y="2217111"/>
              <a:ext cx="328045" cy="242988"/>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3</a:t>
              </a:r>
              <a:endParaRPr lang="zh-CN" altLang="en-US" sz="1000" b="1">
                <a:solidFill>
                  <a:schemeClr val="bg1"/>
                </a:solidFill>
              </a:endParaRPr>
            </a:p>
          </p:txBody>
        </p:sp>
        <p:sp>
          <p:nvSpPr>
            <p:cNvPr id="94" name="Shape 5">
              <a:extLst>
                <a:ext uri="{FF2B5EF4-FFF2-40B4-BE49-F238E27FC236}">
                  <a16:creationId xmlns:a16="http://schemas.microsoft.com/office/drawing/2014/main" id="{BA466DBB-42C2-8D54-3F7A-5272EDD3A361}"/>
                </a:ext>
              </a:extLst>
            </p:cNvPr>
            <p:cNvSpPr/>
            <p:nvPr/>
          </p:nvSpPr>
          <p:spPr>
            <a:xfrm>
              <a:off x="9243079" y="2189691"/>
              <a:ext cx="328045" cy="242988"/>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4</a:t>
              </a:r>
              <a:endParaRPr lang="zh-CN" altLang="en-US" sz="1000" b="1">
                <a:solidFill>
                  <a:schemeClr val="bg1"/>
                </a:solidFill>
              </a:endParaRPr>
            </a:p>
          </p:txBody>
        </p:sp>
        <p:sp>
          <p:nvSpPr>
            <p:cNvPr id="96" name="Shape 5">
              <a:extLst>
                <a:ext uri="{FF2B5EF4-FFF2-40B4-BE49-F238E27FC236}">
                  <a16:creationId xmlns:a16="http://schemas.microsoft.com/office/drawing/2014/main" id="{AF51BD5A-E7DB-41D4-E23A-3BE037AC05E3}"/>
                </a:ext>
              </a:extLst>
            </p:cNvPr>
            <p:cNvSpPr/>
            <p:nvPr/>
          </p:nvSpPr>
          <p:spPr>
            <a:xfrm>
              <a:off x="4533427" y="2472134"/>
              <a:ext cx="328045" cy="242988"/>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5</a:t>
              </a:r>
              <a:endParaRPr lang="zh-CN" altLang="en-US" sz="1000" b="1">
                <a:solidFill>
                  <a:schemeClr val="bg1"/>
                </a:solidFill>
              </a:endParaRPr>
            </a:p>
          </p:txBody>
        </p:sp>
        <p:sp>
          <p:nvSpPr>
            <p:cNvPr id="100" name="Shape 5">
              <a:extLst>
                <a:ext uri="{FF2B5EF4-FFF2-40B4-BE49-F238E27FC236}">
                  <a16:creationId xmlns:a16="http://schemas.microsoft.com/office/drawing/2014/main" id="{C93A3A34-0CA0-DF81-00E7-EA06592622A8}"/>
                </a:ext>
              </a:extLst>
            </p:cNvPr>
            <p:cNvSpPr/>
            <p:nvPr/>
          </p:nvSpPr>
          <p:spPr>
            <a:xfrm>
              <a:off x="9252910" y="2446294"/>
              <a:ext cx="328045" cy="242988"/>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6</a:t>
              </a:r>
              <a:endParaRPr lang="zh-CN" altLang="en-US" sz="1000" b="1">
                <a:solidFill>
                  <a:schemeClr val="bg1"/>
                </a:solidFill>
              </a:endParaRPr>
            </a:p>
          </p:txBody>
        </p:sp>
      </p:grpSp>
      <p:sp>
        <p:nvSpPr>
          <p:cNvPr id="110" name="Shape 21">
            <a:extLst>
              <a:ext uri="{FF2B5EF4-FFF2-40B4-BE49-F238E27FC236}">
                <a16:creationId xmlns:a16="http://schemas.microsoft.com/office/drawing/2014/main" id="{98E1606E-17E3-595F-193D-A1F884E97834}"/>
              </a:ext>
            </a:extLst>
          </p:cNvPr>
          <p:cNvSpPr/>
          <p:nvPr/>
        </p:nvSpPr>
        <p:spPr>
          <a:xfrm>
            <a:off x="8814240" y="3184528"/>
            <a:ext cx="263407" cy="256032"/>
          </a:xfrm>
          <a:prstGeom prst="ellipse">
            <a:avLst/>
          </a:prstGeom>
          <a:solidFill>
            <a:srgbClr val="D8232A"/>
          </a:solidFill>
          <a:ln w="15875">
            <a:solidFill>
              <a:srgbClr val="FFFFFF"/>
            </a:solidFill>
            <a:prstDash val="solid"/>
          </a:ln>
        </p:spPr>
        <p:txBody>
          <a:bodyPr/>
          <a:lstStyle/>
          <a:p>
            <a:pPr algn="ctr"/>
            <a:endParaRPr lang="zh-CN" altLang="en-US"/>
          </a:p>
        </p:txBody>
      </p:sp>
      <p:sp>
        <p:nvSpPr>
          <p:cNvPr id="111" name="Text 22">
            <a:extLst>
              <a:ext uri="{FF2B5EF4-FFF2-40B4-BE49-F238E27FC236}">
                <a16:creationId xmlns:a16="http://schemas.microsoft.com/office/drawing/2014/main" id="{4D43C985-BDAB-0F9A-CE52-3E1B4CFAB1AA}"/>
              </a:ext>
            </a:extLst>
          </p:cNvPr>
          <p:cNvSpPr txBox="1"/>
          <p:nvPr/>
        </p:nvSpPr>
        <p:spPr>
          <a:xfrm>
            <a:off x="8814240" y="3174661"/>
            <a:ext cx="263407"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5</a:t>
            </a:r>
          </a:p>
        </p:txBody>
      </p:sp>
      <p:sp>
        <p:nvSpPr>
          <p:cNvPr id="112" name="Text 23">
            <a:extLst>
              <a:ext uri="{FF2B5EF4-FFF2-40B4-BE49-F238E27FC236}">
                <a16:creationId xmlns:a16="http://schemas.microsoft.com/office/drawing/2014/main" id="{F6AA6DCA-7C23-2AB5-31B7-194963C7C407}"/>
              </a:ext>
            </a:extLst>
          </p:cNvPr>
          <p:cNvSpPr txBox="1"/>
          <p:nvPr/>
        </p:nvSpPr>
        <p:spPr>
          <a:xfrm>
            <a:off x="9251996" y="3156136"/>
            <a:ext cx="2940004" cy="272863"/>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Original Invoice Number</a:t>
            </a:r>
            <a:r>
              <a:rPr lang="zh-CN" altLang="en-US" sz="900">
                <a:solidFill>
                  <a:srgbClr val="1B2434"/>
                </a:solidFill>
                <a:latin typeface="Aptos" panose="020B0004020202020204" pitchFamily="34" charset="0"/>
              </a:rPr>
              <a:t>：</a:t>
            </a:r>
            <a:r>
              <a:rPr lang="en-US" altLang="zh-CN" sz="900">
                <a:solidFill>
                  <a:srgbClr val="1B2434"/>
                </a:solidFill>
                <a:latin typeface="Aptos" panose="020B0004020202020204" pitchFamily="34" charset="0"/>
              </a:rPr>
              <a:t>input the AFE to NL11 final Invoice no</a:t>
            </a:r>
            <a:endParaRPr lang="en-US" sz="900">
              <a:solidFill>
                <a:srgbClr val="1B2434"/>
              </a:solidFill>
              <a:latin typeface="Aptos" panose="020B0004020202020204" pitchFamily="34" charset="0"/>
            </a:endParaRPr>
          </a:p>
        </p:txBody>
      </p:sp>
      <p:sp>
        <p:nvSpPr>
          <p:cNvPr id="115" name="Text 23">
            <a:extLst>
              <a:ext uri="{FF2B5EF4-FFF2-40B4-BE49-F238E27FC236}">
                <a16:creationId xmlns:a16="http://schemas.microsoft.com/office/drawing/2014/main" id="{2446F7CB-734F-1FBC-B23A-86F3728D3767}"/>
              </a:ext>
            </a:extLst>
          </p:cNvPr>
          <p:cNvSpPr txBox="1"/>
          <p:nvPr/>
        </p:nvSpPr>
        <p:spPr>
          <a:xfrm>
            <a:off x="9225433" y="3577694"/>
            <a:ext cx="2966567" cy="178227"/>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Charge From Date</a:t>
            </a:r>
            <a:r>
              <a:rPr lang="zh-CN" altLang="en-US" sz="900">
                <a:solidFill>
                  <a:srgbClr val="1B2434"/>
                </a:solidFill>
                <a:latin typeface="Aptos" panose="020B0004020202020204" pitchFamily="34" charset="0"/>
              </a:rPr>
              <a:t>：</a:t>
            </a:r>
            <a:r>
              <a:rPr lang="en-US" altLang="zh-CN" sz="900">
                <a:solidFill>
                  <a:srgbClr val="1B2434"/>
                </a:solidFill>
                <a:latin typeface="Aptos" panose="020B0004020202020204" pitchFamily="34" charset="0"/>
              </a:rPr>
              <a:t>The original invoice number OR charge From Date  is required.</a:t>
            </a:r>
            <a:endParaRPr lang="en-US" sz="900">
              <a:solidFill>
                <a:srgbClr val="1B2434"/>
              </a:solidFill>
              <a:latin typeface="Aptos" panose="020B0004020202020204" pitchFamily="34" charset="0"/>
            </a:endParaRPr>
          </a:p>
        </p:txBody>
      </p:sp>
      <p:sp>
        <p:nvSpPr>
          <p:cNvPr id="116" name="Shape 27">
            <a:extLst>
              <a:ext uri="{FF2B5EF4-FFF2-40B4-BE49-F238E27FC236}">
                <a16:creationId xmlns:a16="http://schemas.microsoft.com/office/drawing/2014/main" id="{0D171546-8F98-EA37-0076-96D00BE3C984}"/>
              </a:ext>
            </a:extLst>
          </p:cNvPr>
          <p:cNvSpPr/>
          <p:nvPr/>
        </p:nvSpPr>
        <p:spPr>
          <a:xfrm>
            <a:off x="8814240" y="3586519"/>
            <a:ext cx="263407" cy="256032"/>
          </a:xfrm>
          <a:prstGeom prst="ellipse">
            <a:avLst/>
          </a:prstGeom>
          <a:solidFill>
            <a:srgbClr val="D8232A"/>
          </a:solidFill>
          <a:ln w="15875">
            <a:solidFill>
              <a:srgbClr val="FFFFFF"/>
            </a:solidFill>
            <a:prstDash val="solid"/>
          </a:ln>
        </p:spPr>
        <p:txBody>
          <a:bodyPr/>
          <a:lstStyle/>
          <a:p>
            <a:pPr algn="ctr"/>
            <a:endParaRPr lang="zh-CN" altLang="en-US"/>
          </a:p>
        </p:txBody>
      </p:sp>
      <p:sp>
        <p:nvSpPr>
          <p:cNvPr id="117" name="Text 28">
            <a:extLst>
              <a:ext uri="{FF2B5EF4-FFF2-40B4-BE49-F238E27FC236}">
                <a16:creationId xmlns:a16="http://schemas.microsoft.com/office/drawing/2014/main" id="{9C0110F2-EF53-B2DC-CAB6-E8D6A3538DF4}"/>
              </a:ext>
            </a:extLst>
          </p:cNvPr>
          <p:cNvSpPr txBox="1"/>
          <p:nvPr/>
        </p:nvSpPr>
        <p:spPr>
          <a:xfrm>
            <a:off x="8814240" y="3586519"/>
            <a:ext cx="263407"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6</a:t>
            </a:r>
          </a:p>
        </p:txBody>
      </p:sp>
      <p:sp>
        <p:nvSpPr>
          <p:cNvPr id="5" name="Title 10">
            <a:extLst>
              <a:ext uri="{FF2B5EF4-FFF2-40B4-BE49-F238E27FC236}">
                <a16:creationId xmlns:a16="http://schemas.microsoft.com/office/drawing/2014/main" id="{A3898FF1-123B-4952-6EC7-C7981934EE23}"/>
              </a:ext>
            </a:extLst>
          </p:cNvPr>
          <p:cNvSpPr txBox="1">
            <a:spLocks/>
          </p:cNvSpPr>
          <p:nvPr/>
        </p:nvSpPr>
        <p:spPr>
          <a:xfrm>
            <a:off x="330200" y="889000"/>
            <a:ext cx="11303000" cy="525891"/>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Management-Central Billing Invoice</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central billing invoice is NL11-JP Hitachi customer AR invoice and NL11-AFE AP invoice. </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3876835761"/>
      </p:ext>
    </p:extLst>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F1DE-8656-4BF7-FB52-95849925E5F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F713EAE-CDBD-D9B9-DC72-D4DA43EC726F}"/>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Central Billing Invoice</a:t>
            </a:r>
            <a:endParaRPr lang="zh-CN" altLang="en-US" sz="3400">
              <a:solidFill>
                <a:srgbClr val="000000"/>
              </a:solidFill>
              <a:latin typeface="Aptos Display" panose="020B0004020202020204" pitchFamily="34" charset="0"/>
            </a:endParaRPr>
          </a:p>
        </p:txBody>
      </p:sp>
      <p:grpSp>
        <p:nvGrpSpPr>
          <p:cNvPr id="83" name="组合 82">
            <a:extLst>
              <a:ext uri="{FF2B5EF4-FFF2-40B4-BE49-F238E27FC236}">
                <a16:creationId xmlns:a16="http://schemas.microsoft.com/office/drawing/2014/main" id="{86445A06-E814-5431-F6EA-4F16D22ACA3C}"/>
              </a:ext>
            </a:extLst>
          </p:cNvPr>
          <p:cNvGrpSpPr/>
          <p:nvPr/>
        </p:nvGrpSpPr>
        <p:grpSpPr>
          <a:xfrm>
            <a:off x="629128" y="1567774"/>
            <a:ext cx="7629105" cy="3210703"/>
            <a:chOff x="511022" y="1183226"/>
            <a:chExt cx="9462751" cy="3543969"/>
          </a:xfrm>
        </p:grpSpPr>
        <p:pic>
          <p:nvPicPr>
            <p:cNvPr id="10" name="图片 9">
              <a:extLst>
                <a:ext uri="{FF2B5EF4-FFF2-40B4-BE49-F238E27FC236}">
                  <a16:creationId xmlns:a16="http://schemas.microsoft.com/office/drawing/2014/main" id="{C1D25CD2-3FA5-5A2C-6A02-AD7EF74EB86C}"/>
                </a:ext>
              </a:extLst>
            </p:cNvPr>
            <p:cNvPicPr>
              <a:picLocks noChangeAspect="1"/>
            </p:cNvPicPr>
            <p:nvPr/>
          </p:nvPicPr>
          <p:blipFill>
            <a:blip r:embed="rId2"/>
            <a:stretch>
              <a:fillRect/>
            </a:stretch>
          </p:blipFill>
          <p:spPr>
            <a:xfrm>
              <a:off x="763052" y="1183226"/>
              <a:ext cx="9210721" cy="3543969"/>
            </a:xfrm>
            <a:prstGeom prst="rect">
              <a:avLst/>
            </a:prstGeom>
          </p:spPr>
        </p:pic>
        <p:sp>
          <p:nvSpPr>
            <p:cNvPr id="47" name="Shape 5">
              <a:extLst>
                <a:ext uri="{FF2B5EF4-FFF2-40B4-BE49-F238E27FC236}">
                  <a16:creationId xmlns:a16="http://schemas.microsoft.com/office/drawing/2014/main" id="{E5A9BCCA-C12B-6CD9-C374-BCD7D0C402C4}"/>
                </a:ext>
              </a:extLst>
            </p:cNvPr>
            <p:cNvSpPr/>
            <p:nvPr/>
          </p:nvSpPr>
          <p:spPr>
            <a:xfrm>
              <a:off x="511022" y="3088617"/>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1</a:t>
              </a:r>
              <a:endParaRPr lang="zh-CN" altLang="en-US" sz="1000" b="1">
                <a:solidFill>
                  <a:schemeClr val="bg1"/>
                </a:solidFill>
              </a:endParaRPr>
            </a:p>
          </p:txBody>
        </p:sp>
        <p:sp>
          <p:nvSpPr>
            <p:cNvPr id="49" name="Shape 5">
              <a:extLst>
                <a:ext uri="{FF2B5EF4-FFF2-40B4-BE49-F238E27FC236}">
                  <a16:creationId xmlns:a16="http://schemas.microsoft.com/office/drawing/2014/main" id="{6FF0BB73-D6A5-FA91-2D97-F54D508AA4AE}"/>
                </a:ext>
              </a:extLst>
            </p:cNvPr>
            <p:cNvSpPr/>
            <p:nvPr/>
          </p:nvSpPr>
          <p:spPr>
            <a:xfrm>
              <a:off x="4089964" y="3088616"/>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2</a:t>
              </a:r>
              <a:endParaRPr lang="zh-CN" altLang="en-US" sz="1000" b="1">
                <a:solidFill>
                  <a:schemeClr val="bg1"/>
                </a:solidFill>
              </a:endParaRPr>
            </a:p>
          </p:txBody>
        </p:sp>
        <p:sp>
          <p:nvSpPr>
            <p:cNvPr id="51" name="Shape 5">
              <a:extLst>
                <a:ext uri="{FF2B5EF4-FFF2-40B4-BE49-F238E27FC236}">
                  <a16:creationId xmlns:a16="http://schemas.microsoft.com/office/drawing/2014/main" id="{87D42F50-DEF0-DAAC-41C3-FF45F72F8C87}"/>
                </a:ext>
              </a:extLst>
            </p:cNvPr>
            <p:cNvSpPr/>
            <p:nvPr/>
          </p:nvSpPr>
          <p:spPr>
            <a:xfrm>
              <a:off x="7069138" y="3521236"/>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2</a:t>
              </a:r>
              <a:endParaRPr lang="zh-CN" altLang="en-US" sz="1000" b="1">
                <a:solidFill>
                  <a:schemeClr val="bg1"/>
                </a:solidFill>
              </a:endParaRPr>
            </a:p>
          </p:txBody>
        </p:sp>
        <p:sp>
          <p:nvSpPr>
            <p:cNvPr id="53" name="Shape 5">
              <a:extLst>
                <a:ext uri="{FF2B5EF4-FFF2-40B4-BE49-F238E27FC236}">
                  <a16:creationId xmlns:a16="http://schemas.microsoft.com/office/drawing/2014/main" id="{04FC1502-B3DE-679D-FFE5-66EF4AC23483}"/>
                </a:ext>
              </a:extLst>
            </p:cNvPr>
            <p:cNvSpPr/>
            <p:nvPr/>
          </p:nvSpPr>
          <p:spPr>
            <a:xfrm>
              <a:off x="5368413" y="2755593"/>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3</a:t>
              </a:r>
              <a:endParaRPr lang="zh-CN" altLang="en-US" sz="1000" b="1">
                <a:solidFill>
                  <a:schemeClr val="bg1"/>
                </a:solidFill>
              </a:endParaRPr>
            </a:p>
          </p:txBody>
        </p:sp>
        <p:sp>
          <p:nvSpPr>
            <p:cNvPr id="55" name="Shape 5">
              <a:extLst>
                <a:ext uri="{FF2B5EF4-FFF2-40B4-BE49-F238E27FC236}">
                  <a16:creationId xmlns:a16="http://schemas.microsoft.com/office/drawing/2014/main" id="{DA8AA64C-5605-2B66-07EE-19EF53958EF0}"/>
                </a:ext>
              </a:extLst>
            </p:cNvPr>
            <p:cNvSpPr/>
            <p:nvPr/>
          </p:nvSpPr>
          <p:spPr>
            <a:xfrm>
              <a:off x="7480245" y="2655784"/>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4</a:t>
              </a:r>
              <a:endParaRPr lang="zh-CN" altLang="en-US" sz="1000" b="1">
                <a:solidFill>
                  <a:schemeClr val="bg1"/>
                </a:solidFill>
              </a:endParaRPr>
            </a:p>
          </p:txBody>
        </p:sp>
      </p:grpSp>
      <p:grpSp>
        <p:nvGrpSpPr>
          <p:cNvPr id="6" name="组合 5">
            <a:extLst>
              <a:ext uri="{FF2B5EF4-FFF2-40B4-BE49-F238E27FC236}">
                <a16:creationId xmlns:a16="http://schemas.microsoft.com/office/drawing/2014/main" id="{DEC046AB-65C9-F30C-82CB-824379C21DD0}"/>
              </a:ext>
            </a:extLst>
          </p:cNvPr>
          <p:cNvGrpSpPr/>
          <p:nvPr/>
        </p:nvGrpSpPr>
        <p:grpSpPr>
          <a:xfrm>
            <a:off x="4208957" y="4653804"/>
            <a:ext cx="4197403" cy="1500244"/>
            <a:chOff x="4208957" y="4653804"/>
            <a:chExt cx="4197403" cy="1500244"/>
          </a:xfrm>
        </p:grpSpPr>
        <p:pic>
          <p:nvPicPr>
            <p:cNvPr id="8" name="图片 7">
              <a:extLst>
                <a:ext uri="{FF2B5EF4-FFF2-40B4-BE49-F238E27FC236}">
                  <a16:creationId xmlns:a16="http://schemas.microsoft.com/office/drawing/2014/main" id="{63BDFA11-EEA2-2DB4-CC0D-0DD99C7F1545}"/>
                </a:ext>
              </a:extLst>
            </p:cNvPr>
            <p:cNvPicPr>
              <a:picLocks noChangeAspect="1"/>
            </p:cNvPicPr>
            <p:nvPr/>
          </p:nvPicPr>
          <p:blipFill>
            <a:blip r:embed="rId3"/>
            <a:stretch>
              <a:fillRect/>
            </a:stretch>
          </p:blipFill>
          <p:spPr>
            <a:xfrm>
              <a:off x="4208957" y="4653804"/>
              <a:ext cx="4197403" cy="1500244"/>
            </a:xfrm>
            <a:prstGeom prst="rect">
              <a:avLst/>
            </a:prstGeom>
          </p:spPr>
        </p:pic>
        <p:sp>
          <p:nvSpPr>
            <p:cNvPr id="57" name="Shape 5">
              <a:extLst>
                <a:ext uri="{FF2B5EF4-FFF2-40B4-BE49-F238E27FC236}">
                  <a16:creationId xmlns:a16="http://schemas.microsoft.com/office/drawing/2014/main" id="{18DFFCF7-39EC-D9D1-E447-F8A4B42547A5}"/>
                </a:ext>
              </a:extLst>
            </p:cNvPr>
            <p:cNvSpPr/>
            <p:nvPr/>
          </p:nvSpPr>
          <p:spPr>
            <a:xfrm>
              <a:off x="7951170" y="5465703"/>
              <a:ext cx="301929" cy="199617"/>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5</a:t>
              </a:r>
              <a:endParaRPr lang="zh-CN" altLang="en-US" sz="1000" b="1">
                <a:solidFill>
                  <a:schemeClr val="bg1"/>
                </a:solidFill>
              </a:endParaRPr>
            </a:p>
          </p:txBody>
        </p:sp>
      </p:grpSp>
      <p:sp>
        <p:nvSpPr>
          <p:cNvPr id="28" name="Shape 21">
            <a:extLst>
              <a:ext uri="{FF2B5EF4-FFF2-40B4-BE49-F238E27FC236}">
                <a16:creationId xmlns:a16="http://schemas.microsoft.com/office/drawing/2014/main" id="{6FC66900-35EF-F087-7946-44FB8562DCC3}"/>
              </a:ext>
            </a:extLst>
          </p:cNvPr>
          <p:cNvSpPr/>
          <p:nvPr/>
        </p:nvSpPr>
        <p:spPr>
          <a:xfrm>
            <a:off x="8884999" y="1954842"/>
            <a:ext cx="335661" cy="256032"/>
          </a:xfrm>
          <a:prstGeom prst="ellipse">
            <a:avLst/>
          </a:prstGeom>
          <a:solidFill>
            <a:srgbClr val="D8232A"/>
          </a:solidFill>
          <a:ln w="15875">
            <a:solidFill>
              <a:srgbClr val="FFFFFF"/>
            </a:solidFill>
            <a:prstDash val="solid"/>
          </a:ln>
        </p:spPr>
        <p:txBody>
          <a:bodyPr/>
          <a:lstStyle/>
          <a:p>
            <a:endParaRPr lang="zh-CN" altLang="en-US"/>
          </a:p>
        </p:txBody>
      </p:sp>
      <p:sp>
        <p:nvSpPr>
          <p:cNvPr id="29" name="Text 22">
            <a:extLst>
              <a:ext uri="{FF2B5EF4-FFF2-40B4-BE49-F238E27FC236}">
                <a16:creationId xmlns:a16="http://schemas.microsoft.com/office/drawing/2014/main" id="{DB498325-8F65-9CC5-DAE9-1AC0B217B0C5}"/>
              </a:ext>
            </a:extLst>
          </p:cNvPr>
          <p:cNvSpPr txBox="1"/>
          <p:nvPr/>
        </p:nvSpPr>
        <p:spPr>
          <a:xfrm>
            <a:off x="8884999" y="1954842"/>
            <a:ext cx="335661"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1</a:t>
            </a:r>
            <a:endParaRPr lang="en-US" sz="1200" b="1">
              <a:solidFill>
                <a:srgbClr val="FFFFFF"/>
              </a:solidFill>
              <a:latin typeface="Aptos" panose="020B0004020202020204" pitchFamily="34" charset="0"/>
            </a:endParaRPr>
          </a:p>
        </p:txBody>
      </p:sp>
      <p:sp>
        <p:nvSpPr>
          <p:cNvPr id="30" name="Text 23">
            <a:extLst>
              <a:ext uri="{FF2B5EF4-FFF2-40B4-BE49-F238E27FC236}">
                <a16:creationId xmlns:a16="http://schemas.microsoft.com/office/drawing/2014/main" id="{05DA0C39-D2B1-157B-A195-F4DAB6A7AE3D}"/>
              </a:ext>
            </a:extLst>
          </p:cNvPr>
          <p:cNvSpPr txBox="1"/>
          <p:nvPr/>
        </p:nvSpPr>
        <p:spPr>
          <a:xfrm>
            <a:off x="9335284" y="1876843"/>
            <a:ext cx="2711889" cy="232436"/>
          </a:xfrm>
          <a:prstGeom prst="rect">
            <a:avLst/>
          </a:prstGeom>
          <a:noFill/>
          <a:ln/>
        </p:spPr>
        <p:txBody>
          <a:bodyPr wrap="square" lIns="0" tIns="0" rIns="0" bIns="0" rtlCol="0" anchor="ctr"/>
          <a:lstStyle/>
          <a:p>
            <a:pPr marL="0" indent="0">
              <a:lnSpc>
                <a:spcPts val="1188"/>
              </a:lnSpc>
              <a:buNone/>
            </a:pPr>
            <a:r>
              <a:rPr lang="en-US" altLang="zh-CN" sz="900"/>
              <a:t>Select all List Items</a:t>
            </a:r>
            <a:endParaRPr lang="en-US" sz="900"/>
          </a:p>
        </p:txBody>
      </p:sp>
      <p:sp>
        <p:nvSpPr>
          <p:cNvPr id="31" name="Shape 27">
            <a:extLst>
              <a:ext uri="{FF2B5EF4-FFF2-40B4-BE49-F238E27FC236}">
                <a16:creationId xmlns:a16="http://schemas.microsoft.com/office/drawing/2014/main" id="{87F69515-F115-EF54-6800-0A4C58C371C8}"/>
              </a:ext>
            </a:extLst>
          </p:cNvPr>
          <p:cNvSpPr/>
          <p:nvPr/>
        </p:nvSpPr>
        <p:spPr>
          <a:xfrm>
            <a:off x="8884999" y="2988800"/>
            <a:ext cx="335661" cy="256032"/>
          </a:xfrm>
          <a:prstGeom prst="ellipse">
            <a:avLst/>
          </a:prstGeom>
          <a:solidFill>
            <a:srgbClr val="D8232A"/>
          </a:solidFill>
          <a:ln w="15875">
            <a:solidFill>
              <a:srgbClr val="FFFFFF"/>
            </a:solidFill>
            <a:prstDash val="solid"/>
          </a:ln>
        </p:spPr>
        <p:txBody>
          <a:bodyPr/>
          <a:lstStyle/>
          <a:p>
            <a:endParaRPr lang="zh-CN" altLang="en-US"/>
          </a:p>
        </p:txBody>
      </p:sp>
      <p:sp>
        <p:nvSpPr>
          <p:cNvPr id="32" name="Text 28">
            <a:extLst>
              <a:ext uri="{FF2B5EF4-FFF2-40B4-BE49-F238E27FC236}">
                <a16:creationId xmlns:a16="http://schemas.microsoft.com/office/drawing/2014/main" id="{ED1AAAC4-CBDA-EBF4-2D24-75120F865B12}"/>
              </a:ext>
            </a:extLst>
          </p:cNvPr>
          <p:cNvSpPr txBox="1"/>
          <p:nvPr/>
        </p:nvSpPr>
        <p:spPr>
          <a:xfrm>
            <a:off x="8884997" y="2981194"/>
            <a:ext cx="335661"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3</a:t>
            </a:r>
            <a:endParaRPr lang="en-US" sz="1200" b="1">
              <a:solidFill>
                <a:srgbClr val="FFFFFF"/>
              </a:solidFill>
              <a:latin typeface="Aptos" panose="020B0004020202020204" pitchFamily="34" charset="0"/>
            </a:endParaRPr>
          </a:p>
        </p:txBody>
      </p:sp>
      <p:sp>
        <p:nvSpPr>
          <p:cNvPr id="33" name="Text 23">
            <a:extLst>
              <a:ext uri="{FF2B5EF4-FFF2-40B4-BE49-F238E27FC236}">
                <a16:creationId xmlns:a16="http://schemas.microsoft.com/office/drawing/2014/main" id="{1BBF2A4C-BCF2-F55D-2480-6D50AA26789E}"/>
              </a:ext>
            </a:extLst>
          </p:cNvPr>
          <p:cNvSpPr txBox="1"/>
          <p:nvPr/>
        </p:nvSpPr>
        <p:spPr>
          <a:xfrm>
            <a:off x="9335284" y="2231165"/>
            <a:ext cx="2846359" cy="555675"/>
          </a:xfrm>
          <a:prstGeom prst="rect">
            <a:avLst/>
          </a:prstGeom>
          <a:noFill/>
          <a:ln/>
        </p:spPr>
        <p:txBody>
          <a:bodyPr wrap="square" lIns="50800" tIns="25400" rIns="50800" bIns="25400" rtlCol="0" anchor="ctr"/>
          <a:lstStyle/>
          <a:p>
            <a:pPr>
              <a:lnSpc>
                <a:spcPts val="1188"/>
              </a:lnSpc>
            </a:pPr>
            <a:r>
              <a:rPr lang="en-US" sz="900">
                <a:solidFill>
                  <a:srgbClr val="1B2434"/>
                </a:solidFill>
                <a:latin typeface="Aptos"/>
              </a:rPr>
              <a:t>IF Central Billing AR invoice, must check the new unit price is whether calculate with the </a:t>
            </a:r>
            <a:r>
              <a:rPr lang="en-US" sz="900">
                <a:solidFill>
                  <a:srgbClr val="1B2434"/>
                </a:solidFill>
                <a:ea typeface="+mn-lt"/>
                <a:cs typeface="+mn-lt"/>
              </a:rPr>
              <a:t>Local Indirect Charge.</a:t>
            </a:r>
            <a:r>
              <a:rPr lang="en-US" sz="900">
                <a:solidFill>
                  <a:srgbClr val="1B2434"/>
                </a:solidFill>
                <a:latin typeface="Aptos"/>
              </a:rPr>
              <a:t> And check the new bundle unit price whether is ok.</a:t>
            </a:r>
          </a:p>
        </p:txBody>
      </p:sp>
      <p:sp>
        <p:nvSpPr>
          <p:cNvPr id="34" name="Shape 27">
            <a:extLst>
              <a:ext uri="{FF2B5EF4-FFF2-40B4-BE49-F238E27FC236}">
                <a16:creationId xmlns:a16="http://schemas.microsoft.com/office/drawing/2014/main" id="{F71F3475-BBB8-7ADE-4439-2B5A44A77E64}"/>
              </a:ext>
            </a:extLst>
          </p:cNvPr>
          <p:cNvSpPr/>
          <p:nvPr/>
        </p:nvSpPr>
        <p:spPr>
          <a:xfrm>
            <a:off x="8884999" y="2415827"/>
            <a:ext cx="335661" cy="256032"/>
          </a:xfrm>
          <a:prstGeom prst="ellipse">
            <a:avLst/>
          </a:prstGeom>
          <a:solidFill>
            <a:srgbClr val="D8232A"/>
          </a:solidFill>
          <a:ln w="15875">
            <a:solidFill>
              <a:srgbClr val="FFFFFF"/>
            </a:solidFill>
            <a:prstDash val="solid"/>
          </a:ln>
        </p:spPr>
        <p:txBody>
          <a:bodyPr/>
          <a:lstStyle/>
          <a:p>
            <a:endParaRPr lang="zh-CN" altLang="en-US"/>
          </a:p>
        </p:txBody>
      </p:sp>
      <p:sp>
        <p:nvSpPr>
          <p:cNvPr id="35" name="Text 28">
            <a:extLst>
              <a:ext uri="{FF2B5EF4-FFF2-40B4-BE49-F238E27FC236}">
                <a16:creationId xmlns:a16="http://schemas.microsoft.com/office/drawing/2014/main" id="{5EC6B9C5-0255-2A48-D5D2-9F2680B83758}"/>
              </a:ext>
            </a:extLst>
          </p:cNvPr>
          <p:cNvSpPr txBox="1"/>
          <p:nvPr/>
        </p:nvSpPr>
        <p:spPr>
          <a:xfrm>
            <a:off x="8884999" y="2415827"/>
            <a:ext cx="335661"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2</a:t>
            </a:r>
          </a:p>
        </p:txBody>
      </p:sp>
      <p:sp>
        <p:nvSpPr>
          <p:cNvPr id="36" name="Text 23">
            <a:extLst>
              <a:ext uri="{FF2B5EF4-FFF2-40B4-BE49-F238E27FC236}">
                <a16:creationId xmlns:a16="http://schemas.microsoft.com/office/drawing/2014/main" id="{73C2E2E7-A5BB-11CB-D3E8-0063716510B1}"/>
              </a:ext>
            </a:extLst>
          </p:cNvPr>
          <p:cNvSpPr txBox="1"/>
          <p:nvPr/>
        </p:nvSpPr>
        <p:spPr>
          <a:xfrm>
            <a:off x="9335285" y="2899257"/>
            <a:ext cx="2711890" cy="313197"/>
          </a:xfrm>
          <a:prstGeom prst="rect">
            <a:avLst/>
          </a:prstGeom>
          <a:noFill/>
          <a:ln/>
        </p:spPr>
        <p:txBody>
          <a:bodyPr wrap="square" lIns="50800" tIns="25400" rIns="50800" bIns="25400" rtlCol="0" anchor="ctr"/>
          <a:lstStyle/>
          <a:p>
            <a:pPr marL="0" indent="0">
              <a:lnSpc>
                <a:spcPts val="1188"/>
              </a:lnSpc>
              <a:buNone/>
            </a:pPr>
            <a:r>
              <a:rPr lang="en-US" sz="900">
                <a:solidFill>
                  <a:srgbClr val="1B2434"/>
                </a:solidFill>
                <a:latin typeface="Aptos" panose="020B0004020202020204" pitchFamily="34" charset="0"/>
              </a:rPr>
              <a:t>IF everything is ok and Click the “Generate AR  BIT” button.</a:t>
            </a:r>
          </a:p>
        </p:txBody>
      </p:sp>
      <p:sp>
        <p:nvSpPr>
          <p:cNvPr id="37" name="Shape 27">
            <a:extLst>
              <a:ext uri="{FF2B5EF4-FFF2-40B4-BE49-F238E27FC236}">
                <a16:creationId xmlns:a16="http://schemas.microsoft.com/office/drawing/2014/main" id="{8D416DCE-08C5-882D-69B2-2E5F8B1AD6D9}"/>
              </a:ext>
            </a:extLst>
          </p:cNvPr>
          <p:cNvSpPr/>
          <p:nvPr/>
        </p:nvSpPr>
        <p:spPr>
          <a:xfrm>
            <a:off x="8884999" y="3358574"/>
            <a:ext cx="335661" cy="256032"/>
          </a:xfrm>
          <a:prstGeom prst="ellipse">
            <a:avLst/>
          </a:prstGeom>
          <a:solidFill>
            <a:srgbClr val="D8232A"/>
          </a:solidFill>
          <a:ln w="15875">
            <a:solidFill>
              <a:srgbClr val="FFFFFF"/>
            </a:solidFill>
            <a:prstDash val="solid"/>
          </a:ln>
        </p:spPr>
        <p:txBody>
          <a:bodyPr/>
          <a:lstStyle/>
          <a:p>
            <a:endParaRPr lang="zh-CN" altLang="en-US"/>
          </a:p>
        </p:txBody>
      </p:sp>
      <p:sp>
        <p:nvSpPr>
          <p:cNvPr id="38" name="Text 28">
            <a:extLst>
              <a:ext uri="{FF2B5EF4-FFF2-40B4-BE49-F238E27FC236}">
                <a16:creationId xmlns:a16="http://schemas.microsoft.com/office/drawing/2014/main" id="{C5C1AE1F-5B0D-45EE-DE23-174008C08F90}"/>
              </a:ext>
            </a:extLst>
          </p:cNvPr>
          <p:cNvSpPr txBox="1"/>
          <p:nvPr/>
        </p:nvSpPr>
        <p:spPr>
          <a:xfrm>
            <a:off x="8884999" y="3358574"/>
            <a:ext cx="335661"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ea typeface="Calibri" pitchFamily="34" charset="-122"/>
                <a:cs typeface="Calibri" pitchFamily="34" charset="-120"/>
              </a:rPr>
              <a:t>4</a:t>
            </a:r>
            <a:endParaRPr lang="en-US" sz="1200" b="1">
              <a:solidFill>
                <a:srgbClr val="FFFFFF"/>
              </a:solidFill>
              <a:latin typeface="Aptos" panose="020B0004020202020204" pitchFamily="34" charset="0"/>
            </a:endParaRPr>
          </a:p>
        </p:txBody>
      </p:sp>
      <p:sp>
        <p:nvSpPr>
          <p:cNvPr id="39" name="Text 23">
            <a:extLst>
              <a:ext uri="{FF2B5EF4-FFF2-40B4-BE49-F238E27FC236}">
                <a16:creationId xmlns:a16="http://schemas.microsoft.com/office/drawing/2014/main" id="{90A1D687-74A5-73AC-1AD3-25B2F0C681CF}"/>
              </a:ext>
            </a:extLst>
          </p:cNvPr>
          <p:cNvSpPr txBox="1"/>
          <p:nvPr/>
        </p:nvSpPr>
        <p:spPr>
          <a:xfrm>
            <a:off x="9335283" y="3330766"/>
            <a:ext cx="2624421" cy="750322"/>
          </a:xfrm>
          <a:prstGeom prst="rect">
            <a:avLst/>
          </a:prstGeom>
          <a:noFill/>
          <a:ln/>
        </p:spPr>
        <p:txBody>
          <a:bodyPr wrap="square" lIns="50800" tIns="25400" rIns="50800" bIns="25400" rtlCol="0" anchor="ctr"/>
          <a:lstStyle/>
          <a:p>
            <a:pPr>
              <a:lnSpc>
                <a:spcPts val="1188"/>
              </a:lnSpc>
            </a:pPr>
            <a:r>
              <a:rPr lang="en-US" sz="900">
                <a:solidFill>
                  <a:srgbClr val="1B2434"/>
                </a:solidFill>
                <a:latin typeface="Aptos"/>
              </a:rPr>
              <a:t>If the new unit price is incorrect, you can change the contract central </a:t>
            </a:r>
            <a:r>
              <a:rPr lang="en-US" sz="900">
                <a:solidFill>
                  <a:srgbClr val="1B2434"/>
                </a:solidFill>
                <a:ea typeface="+mn-lt"/>
                <a:cs typeface="+mn-lt"/>
              </a:rPr>
              <a:t>Local Indirect Charge </a:t>
            </a:r>
            <a:r>
              <a:rPr lang="en-US" sz="900">
                <a:solidFill>
                  <a:srgbClr val="1B2434"/>
                </a:solidFill>
                <a:ea typeface="黑体"/>
                <a:cs typeface="+mn-lt"/>
              </a:rPr>
              <a:t>and</a:t>
            </a:r>
            <a:r>
              <a:rPr lang="en-US" sz="900">
                <a:solidFill>
                  <a:srgbClr val="1B2434"/>
                </a:solidFill>
                <a:latin typeface="Aptos"/>
              </a:rPr>
              <a:t> re-send to </a:t>
            </a:r>
            <a:r>
              <a:rPr lang="en-US" sz="900" err="1">
                <a:solidFill>
                  <a:srgbClr val="1B2434"/>
                </a:solidFill>
                <a:latin typeface="Aptos"/>
              </a:rPr>
              <a:t>Nexbill</a:t>
            </a:r>
            <a:r>
              <a:rPr lang="en-US" sz="900">
                <a:solidFill>
                  <a:srgbClr val="1B2434"/>
                </a:solidFill>
                <a:latin typeface="Aptos"/>
              </a:rPr>
              <a:t> and then click the “Recalculate </a:t>
            </a:r>
            <a:r>
              <a:rPr lang="en-US" sz="900">
                <a:solidFill>
                  <a:srgbClr val="1B2434"/>
                </a:solidFill>
                <a:ea typeface="+mn-lt"/>
                <a:cs typeface="+mn-lt"/>
              </a:rPr>
              <a:t>Local Indirect Charge</a:t>
            </a:r>
            <a:r>
              <a:rPr lang="en-US" sz="900">
                <a:solidFill>
                  <a:srgbClr val="1B2434"/>
                </a:solidFill>
                <a:ea typeface="黑体"/>
                <a:cs typeface="+mn-lt"/>
              </a:rPr>
              <a:t>”</a:t>
            </a:r>
            <a:r>
              <a:rPr lang="en-US" sz="900">
                <a:solidFill>
                  <a:srgbClr val="1B2434"/>
                </a:solidFill>
                <a:latin typeface="Aptos"/>
              </a:rPr>
              <a:t> button to re-calculate  the unit price with </a:t>
            </a:r>
            <a:r>
              <a:rPr lang="en-US" sz="900">
                <a:solidFill>
                  <a:srgbClr val="1B2434"/>
                </a:solidFill>
                <a:ea typeface="+mn-lt"/>
                <a:cs typeface="+mn-lt"/>
              </a:rPr>
              <a:t>Local Indirect Charge</a:t>
            </a:r>
            <a:r>
              <a:rPr lang="en-US" sz="900">
                <a:solidFill>
                  <a:srgbClr val="1B2434"/>
                </a:solidFill>
                <a:ea typeface="黑体"/>
                <a:cs typeface="+mn-lt"/>
              </a:rPr>
              <a:t>.</a:t>
            </a:r>
            <a:endParaRPr lang="en-US" sz="900">
              <a:solidFill>
                <a:srgbClr val="1B2434"/>
              </a:solidFill>
              <a:latin typeface="Aptos"/>
            </a:endParaRPr>
          </a:p>
        </p:txBody>
      </p:sp>
      <p:sp>
        <p:nvSpPr>
          <p:cNvPr id="63" name="Text 28">
            <a:extLst>
              <a:ext uri="{FF2B5EF4-FFF2-40B4-BE49-F238E27FC236}">
                <a16:creationId xmlns:a16="http://schemas.microsoft.com/office/drawing/2014/main" id="{F19CEF1B-E559-DA7C-67EA-755A555FBDB4}"/>
              </a:ext>
            </a:extLst>
          </p:cNvPr>
          <p:cNvSpPr txBox="1"/>
          <p:nvPr/>
        </p:nvSpPr>
        <p:spPr>
          <a:xfrm>
            <a:off x="8884997" y="4257975"/>
            <a:ext cx="335661"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5</a:t>
            </a:r>
          </a:p>
        </p:txBody>
      </p:sp>
      <p:sp>
        <p:nvSpPr>
          <p:cNvPr id="65" name="Text 23">
            <a:extLst>
              <a:ext uri="{FF2B5EF4-FFF2-40B4-BE49-F238E27FC236}">
                <a16:creationId xmlns:a16="http://schemas.microsoft.com/office/drawing/2014/main" id="{57DBD5DD-ED92-122A-A618-8341B3937193}"/>
              </a:ext>
            </a:extLst>
          </p:cNvPr>
          <p:cNvSpPr txBox="1"/>
          <p:nvPr/>
        </p:nvSpPr>
        <p:spPr>
          <a:xfrm>
            <a:off x="9335282" y="4257975"/>
            <a:ext cx="2624421" cy="256032"/>
          </a:xfrm>
          <a:prstGeom prst="rect">
            <a:avLst/>
          </a:prstGeom>
          <a:noFill/>
          <a:ln/>
        </p:spPr>
        <p:txBody>
          <a:bodyPr wrap="square" lIns="50800" tIns="25400" rIns="50800" bIns="25400" rtlCol="0" anchor="ctr"/>
          <a:lstStyle/>
          <a:p>
            <a:pPr marL="0" indent="0">
              <a:lnSpc>
                <a:spcPts val="1188"/>
              </a:lnSpc>
              <a:buNone/>
            </a:pPr>
            <a:r>
              <a:rPr lang="en-US" sz="900">
                <a:solidFill>
                  <a:srgbClr val="1B2434"/>
                </a:solidFill>
                <a:latin typeface="Aptos" panose="020B0004020202020204" pitchFamily="34" charset="0"/>
              </a:rPr>
              <a:t>After Click the “Generate AR  BIT’ button, and double confirm, if yes. Click the Confirm button.</a:t>
            </a:r>
          </a:p>
        </p:txBody>
      </p:sp>
      <p:sp>
        <p:nvSpPr>
          <p:cNvPr id="5" name="Title 10">
            <a:extLst>
              <a:ext uri="{FF2B5EF4-FFF2-40B4-BE49-F238E27FC236}">
                <a16:creationId xmlns:a16="http://schemas.microsoft.com/office/drawing/2014/main" id="{4657E559-BC05-2494-13DC-4391A2630637}"/>
              </a:ext>
            </a:extLst>
          </p:cNvPr>
          <p:cNvSpPr txBox="1">
            <a:spLocks/>
          </p:cNvSpPr>
          <p:nvPr/>
        </p:nvSpPr>
        <p:spPr>
          <a:xfrm>
            <a:off x="330200" y="889000"/>
            <a:ext cx="11303000" cy="525891"/>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Management-Central Billing Invoice</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central billing invoice is NL11-JP Hitachi customer AR invoice and NL11-AFE AP invoice. </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3079297766"/>
      </p:ext>
    </p:extLst>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DBA20-50B1-EB90-26AE-C5A11846A9B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CC7C283-D8D8-4E12-9DBA-61352C6A59A0}"/>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Central Billing Invoice</a:t>
            </a:r>
            <a:endParaRPr lang="zh-CN" altLang="en-US" sz="3400">
              <a:solidFill>
                <a:srgbClr val="000000"/>
              </a:solidFill>
              <a:latin typeface="Aptos Display" panose="020B0004020202020204" pitchFamily="34" charset="0"/>
            </a:endParaRPr>
          </a:p>
        </p:txBody>
      </p:sp>
      <p:pic>
        <p:nvPicPr>
          <p:cNvPr id="6" name="图片 5">
            <a:extLst>
              <a:ext uri="{FF2B5EF4-FFF2-40B4-BE49-F238E27FC236}">
                <a16:creationId xmlns:a16="http://schemas.microsoft.com/office/drawing/2014/main" id="{4263BA6D-B6FF-A7D3-3BC7-97A17B6F57C5}"/>
              </a:ext>
            </a:extLst>
          </p:cNvPr>
          <p:cNvPicPr>
            <a:picLocks noChangeAspect="1"/>
          </p:cNvPicPr>
          <p:nvPr/>
        </p:nvPicPr>
        <p:blipFill>
          <a:blip r:embed="rId2"/>
          <a:stretch>
            <a:fillRect/>
          </a:stretch>
        </p:blipFill>
        <p:spPr>
          <a:xfrm>
            <a:off x="1830881" y="1367249"/>
            <a:ext cx="5929574" cy="1968804"/>
          </a:xfrm>
          <a:prstGeom prst="rect">
            <a:avLst/>
          </a:prstGeom>
        </p:spPr>
      </p:pic>
      <p:pic>
        <p:nvPicPr>
          <p:cNvPr id="8" name="图片 7">
            <a:extLst>
              <a:ext uri="{FF2B5EF4-FFF2-40B4-BE49-F238E27FC236}">
                <a16:creationId xmlns:a16="http://schemas.microsoft.com/office/drawing/2014/main" id="{2AABEB1B-47A6-4A34-61D8-3EE0C68BB5E2}"/>
              </a:ext>
            </a:extLst>
          </p:cNvPr>
          <p:cNvPicPr>
            <a:picLocks noChangeAspect="1"/>
          </p:cNvPicPr>
          <p:nvPr/>
        </p:nvPicPr>
        <p:blipFill>
          <a:blip r:embed="rId3"/>
          <a:stretch>
            <a:fillRect/>
          </a:stretch>
        </p:blipFill>
        <p:spPr>
          <a:xfrm>
            <a:off x="251357" y="3599638"/>
            <a:ext cx="9040129" cy="2948635"/>
          </a:xfrm>
          <a:prstGeom prst="rect">
            <a:avLst/>
          </a:prstGeom>
        </p:spPr>
      </p:pic>
      <p:sp>
        <p:nvSpPr>
          <p:cNvPr id="10" name="文本框 9">
            <a:extLst>
              <a:ext uri="{FF2B5EF4-FFF2-40B4-BE49-F238E27FC236}">
                <a16:creationId xmlns:a16="http://schemas.microsoft.com/office/drawing/2014/main" id="{849544C9-40D9-FE05-9075-C628B7436CA8}"/>
              </a:ext>
            </a:extLst>
          </p:cNvPr>
          <p:cNvSpPr txBox="1"/>
          <p:nvPr/>
        </p:nvSpPr>
        <p:spPr>
          <a:xfrm>
            <a:off x="2565884" y="2188656"/>
            <a:ext cx="6794426" cy="282129"/>
          </a:xfrm>
          <a:prstGeom prst="rect">
            <a:avLst/>
          </a:prstGeom>
          <a:noFill/>
        </p:spPr>
        <p:txBody>
          <a:bodyPr wrap="square" lIns="50800" tIns="25400" rIns="50800" bIns="25400">
            <a:spAutoFit/>
          </a:bodyPr>
          <a:lstStyle/>
          <a:p>
            <a:r>
              <a:rPr lang="zh-CN" altLang="zh-CN" sz="1500" i="0">
                <a:solidFill>
                  <a:srgbClr val="1B2434"/>
                </a:solidFill>
                <a:effectLst/>
                <a:latin typeface="Aptos" panose="020B0004020202020204" pitchFamily="34" charset="0"/>
              </a:rPr>
              <a:t>In the task list, the first Task ID </a:t>
            </a:r>
            <a:r>
              <a:rPr lang="en-US" altLang="zh-CN" sz="1500">
                <a:solidFill>
                  <a:srgbClr val="1B2434"/>
                </a:solidFill>
                <a:latin typeface="Aptos" panose="020B0004020202020204" pitchFamily="34" charset="0"/>
              </a:rPr>
              <a:t>is</a:t>
            </a:r>
            <a:r>
              <a:rPr lang="zh-CN" altLang="zh-CN" sz="1500" i="0">
                <a:solidFill>
                  <a:srgbClr val="1B2434"/>
                </a:solidFill>
                <a:effectLst/>
                <a:latin typeface="Aptos" panose="020B0004020202020204" pitchFamily="34" charset="0"/>
              </a:rPr>
              <a:t> the </a:t>
            </a:r>
            <a:r>
              <a:rPr lang="en-US" altLang="zh-CN" sz="1500">
                <a:solidFill>
                  <a:srgbClr val="1B2434"/>
                </a:solidFill>
                <a:latin typeface="Aptos" panose="020B0004020202020204" pitchFamily="34" charset="0"/>
              </a:rPr>
              <a:t>Central billing AR/AP Invoice </a:t>
            </a:r>
            <a:r>
              <a:rPr lang="zh-CN" altLang="zh-CN" sz="1500" i="0">
                <a:solidFill>
                  <a:srgbClr val="1B2434"/>
                </a:solidFill>
                <a:effectLst/>
                <a:latin typeface="Aptos" panose="020B0004020202020204" pitchFamily="34" charset="0"/>
              </a:rPr>
              <a:t>you just created</a:t>
            </a:r>
            <a:r>
              <a:rPr lang="en-US" altLang="zh-CN" sz="1500" i="0">
                <a:solidFill>
                  <a:srgbClr val="1B2434"/>
                </a:solidFill>
                <a:effectLst/>
                <a:latin typeface="Aptos" panose="020B0004020202020204" pitchFamily="34" charset="0"/>
              </a:rPr>
              <a:t>.</a:t>
            </a:r>
            <a:endParaRPr lang="zh-CN" altLang="en-US" sz="1500">
              <a:solidFill>
                <a:srgbClr val="1B2434"/>
              </a:solidFill>
              <a:latin typeface="Aptos" panose="020B0004020202020204" pitchFamily="34" charset="0"/>
            </a:endParaRPr>
          </a:p>
        </p:txBody>
      </p:sp>
      <p:sp>
        <p:nvSpPr>
          <p:cNvPr id="12" name="Shape 5">
            <a:extLst>
              <a:ext uri="{FF2B5EF4-FFF2-40B4-BE49-F238E27FC236}">
                <a16:creationId xmlns:a16="http://schemas.microsoft.com/office/drawing/2014/main" id="{ACACF249-5DAA-8A44-9277-098B0D482DF5}"/>
              </a:ext>
            </a:extLst>
          </p:cNvPr>
          <p:cNvSpPr/>
          <p:nvPr/>
        </p:nvSpPr>
        <p:spPr>
          <a:xfrm>
            <a:off x="2175466" y="2179305"/>
            <a:ext cx="301929" cy="199617"/>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6</a:t>
            </a:r>
            <a:endParaRPr lang="zh-CN" altLang="en-US" sz="1200" b="1">
              <a:solidFill>
                <a:srgbClr val="FFFFFF"/>
              </a:solidFill>
              <a:latin typeface="Aptos" panose="020B0004020202020204" pitchFamily="34" charset="0"/>
            </a:endParaRPr>
          </a:p>
        </p:txBody>
      </p:sp>
      <p:sp>
        <p:nvSpPr>
          <p:cNvPr id="14" name="Shape 5">
            <a:extLst>
              <a:ext uri="{FF2B5EF4-FFF2-40B4-BE49-F238E27FC236}">
                <a16:creationId xmlns:a16="http://schemas.microsoft.com/office/drawing/2014/main" id="{289ABD72-0F83-66DC-A3CC-48517A107F3D}"/>
              </a:ext>
            </a:extLst>
          </p:cNvPr>
          <p:cNvSpPr/>
          <p:nvPr/>
        </p:nvSpPr>
        <p:spPr>
          <a:xfrm>
            <a:off x="973393" y="2686765"/>
            <a:ext cx="301929" cy="199617"/>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7</a:t>
            </a:r>
            <a:endParaRPr lang="zh-CN" altLang="en-US" sz="1200" b="1">
              <a:solidFill>
                <a:srgbClr val="FFFFFF"/>
              </a:solidFill>
              <a:latin typeface="Aptos" panose="020B0004020202020204" pitchFamily="34" charset="0"/>
            </a:endParaRPr>
          </a:p>
        </p:txBody>
      </p:sp>
      <p:sp>
        <p:nvSpPr>
          <p:cNvPr id="16" name="Shape 5">
            <a:extLst>
              <a:ext uri="{FF2B5EF4-FFF2-40B4-BE49-F238E27FC236}">
                <a16:creationId xmlns:a16="http://schemas.microsoft.com/office/drawing/2014/main" id="{A1B60356-6241-E098-E28B-AECE15CBB521}"/>
              </a:ext>
            </a:extLst>
          </p:cNvPr>
          <p:cNvSpPr/>
          <p:nvPr/>
        </p:nvSpPr>
        <p:spPr>
          <a:xfrm>
            <a:off x="2326430" y="4037066"/>
            <a:ext cx="301929" cy="199617"/>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8</a:t>
            </a:r>
            <a:endParaRPr lang="zh-CN" altLang="en-US" sz="1200" b="1">
              <a:solidFill>
                <a:srgbClr val="FFFFFF"/>
              </a:solidFill>
              <a:latin typeface="Aptos" panose="020B0004020202020204" pitchFamily="34" charset="0"/>
            </a:endParaRPr>
          </a:p>
        </p:txBody>
      </p:sp>
      <p:grpSp>
        <p:nvGrpSpPr>
          <p:cNvPr id="17" name="组合 16">
            <a:extLst>
              <a:ext uri="{FF2B5EF4-FFF2-40B4-BE49-F238E27FC236}">
                <a16:creationId xmlns:a16="http://schemas.microsoft.com/office/drawing/2014/main" id="{9F5FE727-89D8-FD1B-7554-7821F8CF2B22}"/>
              </a:ext>
            </a:extLst>
          </p:cNvPr>
          <p:cNvGrpSpPr/>
          <p:nvPr/>
        </p:nvGrpSpPr>
        <p:grpSpPr>
          <a:xfrm>
            <a:off x="9445961" y="2903350"/>
            <a:ext cx="2746039" cy="1123883"/>
            <a:chOff x="7754810" y="1487932"/>
            <a:chExt cx="2746039" cy="1123883"/>
          </a:xfrm>
        </p:grpSpPr>
        <p:sp>
          <p:nvSpPr>
            <p:cNvPr id="18" name="Shape 21">
              <a:extLst>
                <a:ext uri="{FF2B5EF4-FFF2-40B4-BE49-F238E27FC236}">
                  <a16:creationId xmlns:a16="http://schemas.microsoft.com/office/drawing/2014/main" id="{845D6E64-A34A-63FF-6D37-E359BC2D13F6}"/>
                </a:ext>
              </a:extLst>
            </p:cNvPr>
            <p:cNvSpPr/>
            <p:nvPr/>
          </p:nvSpPr>
          <p:spPr>
            <a:xfrm>
              <a:off x="7754810" y="153598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9" name="Text 22">
              <a:extLst>
                <a:ext uri="{FF2B5EF4-FFF2-40B4-BE49-F238E27FC236}">
                  <a16:creationId xmlns:a16="http://schemas.microsoft.com/office/drawing/2014/main" id="{4D06F3AB-B460-A427-9496-0615F7A844E6}"/>
                </a:ext>
              </a:extLst>
            </p:cNvPr>
            <p:cNvSpPr txBox="1"/>
            <p:nvPr/>
          </p:nvSpPr>
          <p:spPr>
            <a:xfrm>
              <a:off x="7754810" y="1535987"/>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6</a:t>
              </a:r>
              <a:endParaRPr lang="en-US" sz="900"/>
            </a:p>
          </p:txBody>
        </p:sp>
        <p:sp>
          <p:nvSpPr>
            <p:cNvPr id="20" name="Text 23">
              <a:extLst>
                <a:ext uri="{FF2B5EF4-FFF2-40B4-BE49-F238E27FC236}">
                  <a16:creationId xmlns:a16="http://schemas.microsoft.com/office/drawing/2014/main" id="{908576F2-9CBB-8634-AC80-1B1EBA19706C}"/>
                </a:ext>
              </a:extLst>
            </p:cNvPr>
            <p:cNvSpPr txBox="1"/>
            <p:nvPr/>
          </p:nvSpPr>
          <p:spPr>
            <a:xfrm>
              <a:off x="8142083" y="1487932"/>
              <a:ext cx="2240780" cy="242872"/>
            </a:xfrm>
            <a:prstGeom prst="rect">
              <a:avLst/>
            </a:prstGeom>
            <a:noFill/>
            <a:ln/>
          </p:spPr>
          <p:txBody>
            <a:bodyPr wrap="square" lIns="0" tIns="0" rIns="0" bIns="0" rtlCol="0" anchor="ctr"/>
            <a:lstStyle/>
            <a:p>
              <a:pPr>
                <a:lnSpc>
                  <a:spcPts val="1188"/>
                </a:lnSpc>
              </a:pPr>
              <a:r>
                <a:rPr lang="en-US" sz="900"/>
                <a:t>Go to “</a:t>
              </a:r>
              <a:r>
                <a:rPr lang="en-US" altLang="zh-CN" sz="900"/>
                <a:t>Task Request List”</a:t>
              </a:r>
              <a:r>
                <a:rPr lang="zh-CN" altLang="en-US" sz="900"/>
                <a:t> </a:t>
              </a:r>
              <a:r>
                <a:rPr lang="en-US" altLang="zh-CN" sz="900"/>
                <a:t>Tab.</a:t>
              </a:r>
              <a:endParaRPr lang="en-US" sz="900"/>
            </a:p>
          </p:txBody>
        </p:sp>
        <p:sp>
          <p:nvSpPr>
            <p:cNvPr id="21" name="Shape 27">
              <a:extLst>
                <a:ext uri="{FF2B5EF4-FFF2-40B4-BE49-F238E27FC236}">
                  <a16:creationId xmlns:a16="http://schemas.microsoft.com/office/drawing/2014/main" id="{ACA71F1B-B2FA-1EB6-962D-F84364BBB583}"/>
                </a:ext>
              </a:extLst>
            </p:cNvPr>
            <p:cNvSpPr/>
            <p:nvPr/>
          </p:nvSpPr>
          <p:spPr>
            <a:xfrm>
              <a:off x="7754810" y="226514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22" name="Text 28">
              <a:extLst>
                <a:ext uri="{FF2B5EF4-FFF2-40B4-BE49-F238E27FC236}">
                  <a16:creationId xmlns:a16="http://schemas.microsoft.com/office/drawing/2014/main" id="{E4B2172C-2617-96E7-0612-77F316C05584}"/>
                </a:ext>
              </a:extLst>
            </p:cNvPr>
            <p:cNvSpPr txBox="1"/>
            <p:nvPr/>
          </p:nvSpPr>
          <p:spPr>
            <a:xfrm>
              <a:off x="7754810" y="2265147"/>
              <a:ext cx="256032"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8</a:t>
              </a:r>
              <a:endParaRPr lang="en-US" sz="900"/>
            </a:p>
          </p:txBody>
        </p:sp>
        <p:sp>
          <p:nvSpPr>
            <p:cNvPr id="23" name="Text 23">
              <a:extLst>
                <a:ext uri="{FF2B5EF4-FFF2-40B4-BE49-F238E27FC236}">
                  <a16:creationId xmlns:a16="http://schemas.microsoft.com/office/drawing/2014/main" id="{18B32050-8CD6-DC56-A086-11314C196204}"/>
                </a:ext>
              </a:extLst>
            </p:cNvPr>
            <p:cNvSpPr txBox="1"/>
            <p:nvPr/>
          </p:nvSpPr>
          <p:spPr>
            <a:xfrm>
              <a:off x="8116265" y="1850496"/>
              <a:ext cx="2240780" cy="284522"/>
            </a:xfrm>
            <a:prstGeom prst="rect">
              <a:avLst/>
            </a:prstGeom>
            <a:noFill/>
            <a:ln/>
          </p:spPr>
          <p:txBody>
            <a:bodyPr wrap="square" lIns="0" tIns="0" rIns="0" bIns="0" rtlCol="0" anchor="ctr"/>
            <a:lstStyle/>
            <a:p>
              <a:pPr>
                <a:lnSpc>
                  <a:spcPts val="1188"/>
                </a:lnSpc>
              </a:pPr>
              <a:r>
                <a:rPr lang="zh-CN" altLang="zh-CN" sz="900"/>
                <a:t>The first task ID is the one you just created. Click</a:t>
              </a:r>
              <a:r>
                <a:rPr lang="en-US" altLang="zh-CN" sz="900"/>
                <a:t> </a:t>
              </a:r>
              <a:r>
                <a:rPr lang="zh-CN" altLang="zh-CN" sz="900"/>
                <a:t>the task ID</a:t>
              </a:r>
              <a:endParaRPr lang="en-US" altLang="zh-CN" sz="900"/>
            </a:p>
          </p:txBody>
        </p:sp>
        <p:sp>
          <p:nvSpPr>
            <p:cNvPr id="24" name="Shape 27">
              <a:extLst>
                <a:ext uri="{FF2B5EF4-FFF2-40B4-BE49-F238E27FC236}">
                  <a16:creationId xmlns:a16="http://schemas.microsoft.com/office/drawing/2014/main" id="{A483867F-A2D9-2E90-D0F3-AFD23DEBC268}"/>
                </a:ext>
              </a:extLst>
            </p:cNvPr>
            <p:cNvSpPr/>
            <p:nvPr/>
          </p:nvSpPr>
          <p:spPr>
            <a:xfrm>
              <a:off x="7754810" y="1878986"/>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25" name="Text 28">
              <a:extLst>
                <a:ext uri="{FF2B5EF4-FFF2-40B4-BE49-F238E27FC236}">
                  <a16:creationId xmlns:a16="http://schemas.microsoft.com/office/drawing/2014/main" id="{EA83D59E-CE30-E6ED-FBB7-5221D42FBFBF}"/>
                </a:ext>
              </a:extLst>
            </p:cNvPr>
            <p:cNvSpPr txBox="1"/>
            <p:nvPr/>
          </p:nvSpPr>
          <p:spPr>
            <a:xfrm>
              <a:off x="7754810" y="1878986"/>
              <a:ext cx="256032" cy="256032"/>
            </a:xfrm>
            <a:prstGeom prst="rect">
              <a:avLst/>
            </a:prstGeom>
            <a:noFill/>
            <a:ln/>
          </p:spPr>
          <p:txBody>
            <a:bodyPr wrap="square" lIns="0" tIns="0" rIns="0" bIns="0" rtlCol="0" anchor="ctr"/>
            <a:lstStyle/>
            <a:p>
              <a:pPr marL="0" indent="0" algn="ctr">
                <a:buNone/>
              </a:pPr>
              <a:r>
                <a:rPr lang="en-US" sz="900">
                  <a:solidFill>
                    <a:schemeClr val="bg1"/>
                  </a:solidFill>
                </a:rPr>
                <a:t>7</a:t>
              </a:r>
            </a:p>
          </p:txBody>
        </p:sp>
        <p:sp>
          <p:nvSpPr>
            <p:cNvPr id="26" name="Text 23">
              <a:extLst>
                <a:ext uri="{FF2B5EF4-FFF2-40B4-BE49-F238E27FC236}">
                  <a16:creationId xmlns:a16="http://schemas.microsoft.com/office/drawing/2014/main" id="{6E51DA94-E5C9-72AA-6197-3BC26A78DA1E}"/>
                </a:ext>
              </a:extLst>
            </p:cNvPr>
            <p:cNvSpPr txBox="1"/>
            <p:nvPr/>
          </p:nvSpPr>
          <p:spPr>
            <a:xfrm>
              <a:off x="8142082" y="2244876"/>
              <a:ext cx="2358767" cy="366939"/>
            </a:xfrm>
            <a:prstGeom prst="rect">
              <a:avLst/>
            </a:prstGeom>
            <a:noFill/>
            <a:ln/>
          </p:spPr>
          <p:txBody>
            <a:bodyPr wrap="square" lIns="0" tIns="0" rIns="0" bIns="0" rtlCol="0" anchor="ctr"/>
            <a:lstStyle/>
            <a:p>
              <a:pPr marL="0" indent="0">
                <a:lnSpc>
                  <a:spcPts val="1188"/>
                </a:lnSpc>
                <a:buNone/>
              </a:pPr>
              <a:r>
                <a:rPr lang="en-US" sz="900"/>
                <a:t>Check every step status and Display the </a:t>
              </a:r>
            </a:p>
            <a:p>
              <a:pPr marL="0" indent="0">
                <a:lnSpc>
                  <a:spcPts val="1188"/>
                </a:lnSpc>
                <a:buNone/>
              </a:pPr>
              <a:r>
                <a:rPr lang="en-US" sz="900"/>
                <a:t>BIT information</a:t>
              </a:r>
            </a:p>
          </p:txBody>
        </p:sp>
      </p:grpSp>
      <p:sp>
        <p:nvSpPr>
          <p:cNvPr id="5" name="Title 10">
            <a:extLst>
              <a:ext uri="{FF2B5EF4-FFF2-40B4-BE49-F238E27FC236}">
                <a16:creationId xmlns:a16="http://schemas.microsoft.com/office/drawing/2014/main" id="{F32EDD7C-9531-E72A-B67C-70A9681DACA9}"/>
              </a:ext>
            </a:extLst>
          </p:cNvPr>
          <p:cNvSpPr txBox="1">
            <a:spLocks/>
          </p:cNvSpPr>
          <p:nvPr/>
        </p:nvSpPr>
        <p:spPr>
          <a:xfrm>
            <a:off x="330200" y="889000"/>
            <a:ext cx="11303000" cy="525891"/>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Management-Central Billing Invoice</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central billing invoice is NL11-JP Hitachi customer AR invoice and NL11-AFE AP invoice. </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2543472961"/>
      </p:ext>
    </p:extLst>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BE79-00CF-226C-CA7B-F71309E2802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E5096DA-83C1-A093-87ED-5F70828EFC63}"/>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Central Billing Invoice</a:t>
            </a:r>
            <a:endParaRPr lang="zh-CN" altLang="en-US" sz="3400">
              <a:solidFill>
                <a:srgbClr val="000000"/>
              </a:solidFill>
              <a:latin typeface="Aptos Display" panose="020B0004020202020204" pitchFamily="34" charset="0"/>
            </a:endParaRPr>
          </a:p>
        </p:txBody>
      </p:sp>
      <p:grpSp>
        <p:nvGrpSpPr>
          <p:cNvPr id="16" name="组合 15">
            <a:extLst>
              <a:ext uri="{FF2B5EF4-FFF2-40B4-BE49-F238E27FC236}">
                <a16:creationId xmlns:a16="http://schemas.microsoft.com/office/drawing/2014/main" id="{3317DB75-DE09-6D30-C66A-1C693C5FF56C}"/>
              </a:ext>
            </a:extLst>
          </p:cNvPr>
          <p:cNvGrpSpPr/>
          <p:nvPr/>
        </p:nvGrpSpPr>
        <p:grpSpPr>
          <a:xfrm>
            <a:off x="367434" y="1650313"/>
            <a:ext cx="8236390" cy="3737764"/>
            <a:chOff x="320182" y="1276688"/>
            <a:chExt cx="11117173" cy="4113194"/>
          </a:xfrm>
        </p:grpSpPr>
        <p:pic>
          <p:nvPicPr>
            <p:cNvPr id="15" name="图片 14">
              <a:extLst>
                <a:ext uri="{FF2B5EF4-FFF2-40B4-BE49-F238E27FC236}">
                  <a16:creationId xmlns:a16="http://schemas.microsoft.com/office/drawing/2014/main" id="{4CA854FA-6998-3369-8E2D-F061000988B4}"/>
                </a:ext>
              </a:extLst>
            </p:cNvPr>
            <p:cNvPicPr>
              <a:picLocks noChangeAspect="1"/>
            </p:cNvPicPr>
            <p:nvPr/>
          </p:nvPicPr>
          <p:blipFill>
            <a:blip r:embed="rId2"/>
            <a:stretch>
              <a:fillRect/>
            </a:stretch>
          </p:blipFill>
          <p:spPr>
            <a:xfrm>
              <a:off x="692685" y="1276688"/>
              <a:ext cx="10744670" cy="4113194"/>
            </a:xfrm>
            <a:prstGeom prst="rect">
              <a:avLst/>
            </a:prstGeom>
          </p:spPr>
        </p:pic>
        <p:sp>
          <p:nvSpPr>
            <p:cNvPr id="8" name="Shape 5">
              <a:extLst>
                <a:ext uri="{FF2B5EF4-FFF2-40B4-BE49-F238E27FC236}">
                  <a16:creationId xmlns:a16="http://schemas.microsoft.com/office/drawing/2014/main" id="{BEC12084-13A9-DDA6-191C-8028FF18A8A1}"/>
                </a:ext>
              </a:extLst>
            </p:cNvPr>
            <p:cNvSpPr/>
            <p:nvPr/>
          </p:nvSpPr>
          <p:spPr>
            <a:xfrm>
              <a:off x="320182" y="3329191"/>
              <a:ext cx="301929" cy="199617"/>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1</a:t>
              </a:r>
              <a:endParaRPr lang="zh-CN" altLang="en-US" sz="1000" b="1">
                <a:solidFill>
                  <a:schemeClr val="bg1"/>
                </a:solidFill>
              </a:endParaRPr>
            </a:p>
          </p:txBody>
        </p:sp>
        <p:sp>
          <p:nvSpPr>
            <p:cNvPr id="10" name="Shape 5">
              <a:extLst>
                <a:ext uri="{FF2B5EF4-FFF2-40B4-BE49-F238E27FC236}">
                  <a16:creationId xmlns:a16="http://schemas.microsoft.com/office/drawing/2014/main" id="{4211DB92-01CF-0F4F-8527-5BC5CC1D68F9}"/>
                </a:ext>
              </a:extLst>
            </p:cNvPr>
            <p:cNvSpPr/>
            <p:nvPr/>
          </p:nvSpPr>
          <p:spPr>
            <a:xfrm>
              <a:off x="6956322" y="3025515"/>
              <a:ext cx="301929" cy="199617"/>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2</a:t>
              </a:r>
              <a:endParaRPr lang="zh-CN" altLang="en-US" sz="1000" b="1">
                <a:solidFill>
                  <a:schemeClr val="bg1"/>
                </a:solidFill>
              </a:endParaRPr>
            </a:p>
          </p:txBody>
        </p:sp>
      </p:grpSp>
      <p:sp>
        <p:nvSpPr>
          <p:cNvPr id="12" name="文本框 11">
            <a:extLst>
              <a:ext uri="{FF2B5EF4-FFF2-40B4-BE49-F238E27FC236}">
                <a16:creationId xmlns:a16="http://schemas.microsoft.com/office/drawing/2014/main" id="{AC6FE71A-021D-C10D-CEB0-D1C390E90155}"/>
              </a:ext>
            </a:extLst>
          </p:cNvPr>
          <p:cNvSpPr txBox="1"/>
          <p:nvPr/>
        </p:nvSpPr>
        <p:spPr>
          <a:xfrm>
            <a:off x="9069640" y="1598954"/>
            <a:ext cx="2871002" cy="1692771"/>
          </a:xfrm>
          <a:prstGeom prst="rect">
            <a:avLst/>
          </a:prstGeom>
          <a:noFill/>
        </p:spPr>
        <p:txBody>
          <a:bodyPr wrap="square" lIns="50800" tIns="25400" rIns="50800" bIns="25400" anchor="t">
            <a:spAutoFit/>
          </a:bodyPr>
          <a:lstStyle/>
          <a:p>
            <a:pPr marL="285750" indent="-285750">
              <a:buFont typeface="Wingdings" panose="05000000000000000000" pitchFamily="2" charset="2"/>
              <a:buChar char="u"/>
            </a:pPr>
            <a:r>
              <a:rPr lang="en-US" altLang="zh-CN" sz="1300">
                <a:solidFill>
                  <a:srgbClr val="1B2434"/>
                </a:solidFill>
                <a:latin typeface="Aptos"/>
              </a:rPr>
              <a:t>The Central Billing AP invoice system process step is </a:t>
            </a:r>
            <a:r>
              <a:rPr lang="zh-CN" altLang="zh-CN" sz="1300">
                <a:solidFill>
                  <a:srgbClr val="1B2434"/>
                </a:solidFill>
                <a:latin typeface="Aptos"/>
              </a:rPr>
              <a:t>Completely</a:t>
            </a:r>
            <a:r>
              <a:rPr lang="zh-CN" altLang="en-US" sz="1300">
                <a:solidFill>
                  <a:srgbClr val="1B2434"/>
                </a:solidFill>
                <a:latin typeface="Aptos"/>
              </a:rPr>
              <a:t> </a:t>
            </a:r>
            <a:r>
              <a:rPr lang="en-US" altLang="zh-CN" sz="1300">
                <a:solidFill>
                  <a:srgbClr val="1B2434"/>
                </a:solidFill>
                <a:latin typeface="Aptos"/>
              </a:rPr>
              <a:t>same</a:t>
            </a:r>
            <a:r>
              <a:rPr lang="zh-CN" altLang="en-US" sz="1300">
                <a:solidFill>
                  <a:srgbClr val="1B2434"/>
                </a:solidFill>
                <a:latin typeface="Aptos"/>
              </a:rPr>
              <a:t> </a:t>
            </a:r>
            <a:r>
              <a:rPr lang="en-US" altLang="zh-CN" sz="1300">
                <a:solidFill>
                  <a:srgbClr val="1B2434"/>
                </a:solidFill>
                <a:latin typeface="Aptos"/>
              </a:rPr>
              <a:t>with</a:t>
            </a:r>
            <a:r>
              <a:rPr lang="zh-CN" altLang="en-US" sz="1300">
                <a:solidFill>
                  <a:srgbClr val="1B2434"/>
                </a:solidFill>
                <a:latin typeface="Aptos"/>
              </a:rPr>
              <a:t> </a:t>
            </a:r>
            <a:r>
              <a:rPr lang="en-US" altLang="zh-CN" sz="1300">
                <a:solidFill>
                  <a:srgbClr val="1B2434"/>
                </a:solidFill>
                <a:latin typeface="Aptos"/>
              </a:rPr>
              <a:t>Central Billing AR invoice</a:t>
            </a:r>
            <a:r>
              <a:rPr lang="zh-CN" altLang="en-US" sz="1300">
                <a:solidFill>
                  <a:srgbClr val="1B2434"/>
                </a:solidFill>
                <a:latin typeface="Aptos"/>
              </a:rPr>
              <a:t>；</a:t>
            </a:r>
            <a:endParaRPr lang="en-US" altLang="zh-CN" sz="1300">
              <a:solidFill>
                <a:srgbClr val="1B2434"/>
              </a:solidFill>
              <a:latin typeface="Aptos"/>
            </a:endParaRPr>
          </a:p>
          <a:p>
            <a:pPr marL="285750" indent="-285750">
              <a:buFont typeface="Wingdings" panose="05000000000000000000" pitchFamily="2" charset="2"/>
              <a:buChar char="u"/>
            </a:pPr>
            <a:r>
              <a:rPr lang="en-US" altLang="zh-CN" sz="1300">
                <a:solidFill>
                  <a:srgbClr val="1B2434"/>
                </a:solidFill>
                <a:latin typeface="Aptos"/>
              </a:rPr>
              <a:t>For Central billing AP Invoice, there is no </a:t>
            </a:r>
            <a:r>
              <a:rPr lang="en-US" altLang="zh-CN" sz="1300">
                <a:solidFill>
                  <a:srgbClr val="1B2434"/>
                </a:solidFill>
                <a:ea typeface="黑体"/>
                <a:cs typeface="+mn-lt"/>
              </a:rPr>
              <a:t>lo</a:t>
            </a:r>
            <a:r>
              <a:rPr lang="en-US" sz="1300">
                <a:solidFill>
                  <a:srgbClr val="1B2434"/>
                </a:solidFill>
                <a:ea typeface="+mn-lt"/>
                <a:cs typeface="+mn-lt"/>
              </a:rPr>
              <a:t>cal indirect charge</a:t>
            </a:r>
            <a:r>
              <a:rPr lang="en-US" altLang="zh-CN" sz="1300">
                <a:solidFill>
                  <a:srgbClr val="1B2434"/>
                </a:solidFill>
                <a:latin typeface="Aptos"/>
              </a:rPr>
              <a:t> amount. So the original unit price/original amount is blank.</a:t>
            </a:r>
            <a:endParaRPr lang="zh-CN" altLang="zh-CN" sz="1300">
              <a:solidFill>
                <a:srgbClr val="1B2434"/>
              </a:solidFill>
              <a:latin typeface="Aptos"/>
            </a:endParaRPr>
          </a:p>
        </p:txBody>
      </p:sp>
      <p:sp>
        <p:nvSpPr>
          <p:cNvPr id="5" name="Title 10">
            <a:extLst>
              <a:ext uri="{FF2B5EF4-FFF2-40B4-BE49-F238E27FC236}">
                <a16:creationId xmlns:a16="http://schemas.microsoft.com/office/drawing/2014/main" id="{3E929B6F-7DA7-8728-9DC2-07FB7160550C}"/>
              </a:ext>
            </a:extLst>
          </p:cNvPr>
          <p:cNvSpPr txBox="1">
            <a:spLocks/>
          </p:cNvSpPr>
          <p:nvPr/>
        </p:nvSpPr>
        <p:spPr>
          <a:xfrm>
            <a:off x="330200" y="889000"/>
            <a:ext cx="11303000" cy="525891"/>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Management-Central Billing Invoice</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central billing invoice is NL11-JP Hitachi customer AR invoice and NL11-AFE AP invoice. </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1160033081"/>
      </p:ext>
    </p:extLst>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8833-B13D-0DC6-EC24-D44EC1D6F10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E818DD1-979A-5394-D8A4-40F8C388C338}"/>
              </a:ext>
            </a:extLst>
          </p:cNvPr>
          <p:cNvSpPr>
            <a:spLocks noGrp="1"/>
          </p:cNvSpPr>
          <p:nvPr>
            <p:ph type="title"/>
          </p:nvPr>
        </p:nvSpPr>
        <p:spPr>
          <a:xfrm>
            <a:off x="330200" y="177800"/>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Central Billing Invoice</a:t>
            </a:r>
            <a:endParaRPr lang="zh-CN" altLang="en-US" sz="3400">
              <a:solidFill>
                <a:srgbClr val="000000"/>
              </a:solidFill>
              <a:latin typeface="Aptos Display" panose="020B0004020202020204" pitchFamily="34" charset="0"/>
            </a:endParaRPr>
          </a:p>
        </p:txBody>
      </p:sp>
      <p:sp>
        <p:nvSpPr>
          <p:cNvPr id="12" name="文本框 11">
            <a:extLst>
              <a:ext uri="{FF2B5EF4-FFF2-40B4-BE49-F238E27FC236}">
                <a16:creationId xmlns:a16="http://schemas.microsoft.com/office/drawing/2014/main" id="{B7AF52B3-CC07-84ED-C63D-A2FF4730353E}"/>
              </a:ext>
            </a:extLst>
          </p:cNvPr>
          <p:cNvSpPr txBox="1"/>
          <p:nvPr/>
        </p:nvSpPr>
        <p:spPr>
          <a:xfrm>
            <a:off x="990600" y="1168400"/>
            <a:ext cx="10287000" cy="2267287"/>
          </a:xfrm>
          <a:prstGeom prst="rect">
            <a:avLst/>
          </a:prstGeom>
          <a:solidFill>
            <a:srgbClr val="F8FBFC"/>
          </a:solidFill>
          <a:ln w="13970">
            <a:solidFill>
              <a:srgbClr val="6294A0"/>
            </a:solidFill>
          </a:ln>
        </p:spPr>
        <p:txBody>
          <a:bodyPr wrap="square" lIns="50800" tIns="25400" rIns="50800" bIns="25400">
            <a:spAutoFit/>
          </a:bodyPr>
          <a:lstStyle/>
          <a:p>
            <a:r>
              <a:rPr lang="en-US" altLang="zh-CN">
                <a:solidFill>
                  <a:srgbClr val="1B2434"/>
                </a:solidFill>
                <a:latin typeface="Aptos" panose="020B0004020202020204" pitchFamily="34" charset="0"/>
              </a:rPr>
              <a:t>Attention</a:t>
            </a:r>
            <a:r>
              <a:rPr lang="zh-CN" altLang="en-US">
                <a:solidFill>
                  <a:srgbClr val="1B2434"/>
                </a:solidFill>
                <a:latin typeface="Aptos" panose="020B0004020202020204" pitchFamily="34" charset="0"/>
              </a:rPr>
              <a:t>：</a:t>
            </a:r>
            <a:endParaRPr lang="en-US" altLang="zh-CN">
              <a:solidFill>
                <a:srgbClr val="1B2434"/>
              </a:solidFill>
              <a:latin typeface="Aptos" panose="020B0004020202020204" pitchFamily="34" charset="0"/>
            </a:endParaRPr>
          </a:p>
          <a:p>
            <a:pPr marL="285750" indent="-285750">
              <a:buFont typeface="Wingdings" panose="05000000000000000000" pitchFamily="2" charset="2"/>
              <a:buChar char="u"/>
            </a:pPr>
            <a:r>
              <a:rPr lang="en-US" altLang="zh-CN">
                <a:solidFill>
                  <a:srgbClr val="1B2434"/>
                </a:solidFill>
                <a:latin typeface="Aptos" panose="020B0004020202020204" pitchFamily="34" charset="0"/>
              </a:rPr>
              <a:t>In Jan 2027,</a:t>
            </a:r>
            <a:r>
              <a:rPr lang="zh-CN" altLang="en-US">
                <a:solidFill>
                  <a:srgbClr val="1B2434"/>
                </a:solidFill>
                <a:latin typeface="Aptos" panose="020B0004020202020204" pitchFamily="34" charset="0"/>
              </a:rPr>
              <a:t> </a:t>
            </a:r>
            <a:r>
              <a:rPr lang="en-US" altLang="zh-CN" err="1">
                <a:solidFill>
                  <a:srgbClr val="1B2434"/>
                </a:solidFill>
                <a:latin typeface="Aptos" panose="020B0004020202020204" pitchFamily="34" charset="0"/>
              </a:rPr>
              <a:t>Nexbill</a:t>
            </a:r>
            <a:r>
              <a:rPr lang="en-US" altLang="zh-CN">
                <a:solidFill>
                  <a:srgbClr val="1B2434"/>
                </a:solidFill>
                <a:latin typeface="Aptos" panose="020B0004020202020204" pitchFamily="34" charset="0"/>
              </a:rPr>
              <a:t> move to Product, but NL11 company not ready in </a:t>
            </a:r>
            <a:r>
              <a:rPr lang="en-US" altLang="zh-CN" err="1">
                <a:solidFill>
                  <a:srgbClr val="1B2434"/>
                </a:solidFill>
                <a:latin typeface="Aptos" panose="020B0004020202020204" pitchFamily="34" charset="0"/>
              </a:rPr>
              <a:t>Nexbill</a:t>
            </a:r>
            <a:r>
              <a:rPr lang="en-US" altLang="zh-CN">
                <a:solidFill>
                  <a:srgbClr val="1B2434"/>
                </a:solidFill>
                <a:latin typeface="Aptos" panose="020B0004020202020204" pitchFamily="34" charset="0"/>
              </a:rPr>
              <a:t>, so the central billing second-leg invoice (NL11- JP Hitachi AR invoice and NL11-AFE AP invoice) is not generated in </a:t>
            </a:r>
            <a:r>
              <a:rPr lang="en-US" altLang="zh-CN" err="1">
                <a:solidFill>
                  <a:srgbClr val="1B2434"/>
                </a:solidFill>
                <a:latin typeface="Aptos" panose="020B0004020202020204" pitchFamily="34" charset="0"/>
              </a:rPr>
              <a:t>Nexbill</a:t>
            </a:r>
            <a:r>
              <a:rPr lang="en-US" altLang="zh-CN">
                <a:solidFill>
                  <a:srgbClr val="1B2434"/>
                </a:solidFill>
                <a:latin typeface="Aptos" panose="020B0004020202020204" pitchFamily="34" charset="0"/>
              </a:rPr>
              <a:t>, will auto </a:t>
            </a:r>
            <a:r>
              <a:rPr lang="zh-CN" altLang="zh-CN">
                <a:solidFill>
                  <a:srgbClr val="1B2434"/>
                </a:solidFill>
                <a:latin typeface="Aptos" panose="020B0004020202020204" pitchFamily="34" charset="0"/>
              </a:rPr>
              <a:t>Synchronize</a:t>
            </a:r>
            <a:r>
              <a:rPr lang="en-US" altLang="zh-CN">
                <a:solidFill>
                  <a:srgbClr val="1B2434"/>
                </a:solidFill>
                <a:latin typeface="Aptos" panose="020B0004020202020204" pitchFamily="34" charset="0"/>
              </a:rPr>
              <a:t> to BRIM to generate the AP/AR invoice.</a:t>
            </a:r>
          </a:p>
          <a:p>
            <a:endParaRPr lang="en-US" altLang="zh-CN">
              <a:solidFill>
                <a:srgbClr val="1B2434"/>
              </a:solidFill>
              <a:latin typeface="Aptos" panose="020B0004020202020204" pitchFamily="34" charset="0"/>
            </a:endParaRPr>
          </a:p>
          <a:p>
            <a:pPr marL="285750" indent="-285750">
              <a:buFont typeface="Wingdings" panose="05000000000000000000" pitchFamily="2" charset="2"/>
              <a:buChar char="u"/>
            </a:pPr>
            <a:r>
              <a:rPr lang="en-US" altLang="zh-CN">
                <a:solidFill>
                  <a:srgbClr val="1B2434"/>
                </a:solidFill>
                <a:latin typeface="Aptos" panose="020B0004020202020204" pitchFamily="34" charset="0"/>
              </a:rPr>
              <a:t>If NL11 company code is ready in </a:t>
            </a:r>
            <a:r>
              <a:rPr lang="en-US" altLang="zh-CN" err="1">
                <a:solidFill>
                  <a:srgbClr val="1B2434"/>
                </a:solidFill>
                <a:latin typeface="Aptos" panose="020B0004020202020204" pitchFamily="34" charset="0"/>
              </a:rPr>
              <a:t>Nexbill</a:t>
            </a:r>
            <a:r>
              <a:rPr lang="en-US" altLang="zh-CN">
                <a:solidFill>
                  <a:srgbClr val="1B2434"/>
                </a:solidFill>
                <a:latin typeface="Aptos" panose="020B0004020202020204" pitchFamily="34" charset="0"/>
              </a:rPr>
              <a:t>, and then the central billing AP/AR invoice will generate in </a:t>
            </a:r>
            <a:r>
              <a:rPr lang="en-US" altLang="zh-CN" err="1">
                <a:solidFill>
                  <a:srgbClr val="1B2434"/>
                </a:solidFill>
                <a:latin typeface="Aptos" panose="020B0004020202020204" pitchFamily="34" charset="0"/>
              </a:rPr>
              <a:t>Nexbill</a:t>
            </a:r>
            <a:r>
              <a:rPr lang="en-US" altLang="zh-CN">
                <a:solidFill>
                  <a:srgbClr val="1B2434"/>
                </a:solidFill>
                <a:latin typeface="Aptos" panose="020B0004020202020204" pitchFamily="34" charset="0"/>
              </a:rPr>
              <a:t>.</a:t>
            </a:r>
          </a:p>
          <a:p>
            <a:pPr marL="285750" indent="-285750">
              <a:buFont typeface="Wingdings" panose="05000000000000000000" pitchFamily="2" charset="2"/>
              <a:buChar char="u"/>
            </a:pPr>
            <a:endParaRPr lang="zh-CN" altLang="zh-CN">
              <a:solidFill>
                <a:srgbClr val="1B2434"/>
              </a:solidFill>
              <a:latin typeface="Aptos" panose="020B0004020202020204" pitchFamily="34" charset="0"/>
            </a:endParaRPr>
          </a:p>
        </p:txBody>
      </p:sp>
      <p:sp>
        <p:nvSpPr>
          <p:cNvPr id="2" name="矩形 1">
            <a:extLst>
              <a:ext uri="{FF2B5EF4-FFF2-40B4-BE49-F238E27FC236}">
                <a16:creationId xmlns:a16="http://schemas.microsoft.com/office/drawing/2014/main" id="{85ED5A9C-D13D-3633-8463-E02FB4CD2EF5}"/>
              </a:ext>
            </a:extLst>
          </p:cNvPr>
          <p:cNvSpPr/>
          <p:nvPr/>
        </p:nvSpPr>
        <p:spPr bwMode="auto">
          <a:xfrm>
            <a:off x="762000" y="1168400"/>
            <a:ext cx="101600" cy="2921000"/>
          </a:xfrm>
          <a:prstGeom prst="rect">
            <a:avLst/>
          </a:prstGeom>
          <a:solidFill>
            <a:srgbClr val="E2231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Tree>
    <p:extLst>
      <p:ext uri="{BB962C8B-B14F-4D97-AF65-F5344CB8AC3E}">
        <p14:creationId xmlns:p14="http://schemas.microsoft.com/office/powerpoint/2010/main" val="1252620186"/>
      </p:ext>
    </p:extLst>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9B0C-63EA-B69B-4E90-6F75EB8F91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D1C72F-BB20-C4BF-A888-84442D67FE4C}"/>
              </a:ext>
            </a:extLst>
          </p:cNvPr>
          <p:cNvSpPr>
            <a:spLocks noGrp="1"/>
          </p:cNvSpPr>
          <p:nvPr>
            <p:ph type="title"/>
          </p:nvPr>
        </p:nvSpPr>
        <p:spPr>
          <a:xfrm>
            <a:off x="330200" y="177800"/>
            <a:ext cx="11303000" cy="802548"/>
          </a:xfrm>
        </p:spPr>
        <p:txBody>
          <a:bodyPr/>
          <a:lstStyle/>
          <a:p>
            <a:r>
              <a:rPr lang="en-US" altLang="zh-CN" sz="3400">
                <a:solidFill>
                  <a:srgbClr val="000000"/>
                </a:solidFill>
                <a:latin typeface="Aptos Display" panose="020B0004020202020204" pitchFamily="34" charset="0"/>
              </a:rPr>
              <a:t>Agenda</a:t>
            </a:r>
            <a:endParaRPr lang="zh-CN" altLang="en-US" sz="3400">
              <a:solidFill>
                <a:srgbClr val="000000"/>
              </a:solidFill>
              <a:latin typeface="Aptos Display" panose="020B0004020202020204" pitchFamily="34" charset="0"/>
            </a:endParaRPr>
          </a:p>
        </p:txBody>
      </p:sp>
      <p:sp>
        <p:nvSpPr>
          <p:cNvPr id="5" name="文本占位符 1">
            <a:extLst>
              <a:ext uri="{FF2B5EF4-FFF2-40B4-BE49-F238E27FC236}">
                <a16:creationId xmlns:a16="http://schemas.microsoft.com/office/drawing/2014/main" id="{250FA53E-A79F-A418-CC4B-90A4BD640831}"/>
              </a:ext>
            </a:extLst>
          </p:cNvPr>
          <p:cNvSpPr txBox="1">
            <a:spLocks noGrp="1"/>
          </p:cNvSpPr>
          <p:nvPr>
            <p:ph type="body" sz="quarter" idx="12"/>
          </p:nvPr>
        </p:nvSpPr>
        <p:spPr bwMode="white">
          <a:xfrm>
            <a:off x="488931" y="1844271"/>
            <a:ext cx="5528411" cy="2541593"/>
          </a:xfrm>
          <a:prstGeom prst="rect">
            <a:avLst/>
          </a:prstGeom>
        </p:spPr>
        <p:txBody>
          <a:bodyPr wrap="square" lIns="50800" tIns="25400" rIns="50800" bIns="2540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Payment Schedule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Document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Statement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Central Billing Invoice</a:t>
            </a:r>
          </a:p>
          <a:p>
            <a:pPr marL="342900" indent="-342900">
              <a:lnSpc>
                <a:spcPct val="150000"/>
              </a:lnSpc>
              <a:buFont typeface="+mj-lt"/>
              <a:buAutoNum type="arabicPeriod"/>
            </a:pPr>
            <a:r>
              <a:rPr lang="en-US" altLang="zh-CN" sz="2200" b="0" kern="0">
                <a:solidFill>
                  <a:srgbClr val="1B2434"/>
                </a:solidFill>
                <a:highlight>
                  <a:srgbClr val="00FF00"/>
                </a:highlight>
                <a:cs typeface="Cascadia Code" panose="020B0609020000020004" pitchFamily="49" charset="0"/>
              </a:rPr>
              <a:t>Invoice Reverse</a:t>
            </a:r>
            <a:r>
              <a:rPr lang="en-US" altLang="zh-CN" sz="2200" b="0" kern="0">
                <a:solidFill>
                  <a:srgbClr val="1B2434"/>
                </a:solidFill>
                <a:cs typeface="Cascadia Code" panose="020B0609020000020004" pitchFamily="49" charset="0"/>
              </a:rPr>
              <a:t>/Invoice Adjustment</a:t>
            </a:r>
          </a:p>
        </p:txBody>
      </p:sp>
    </p:spTree>
    <p:extLst>
      <p:ext uri="{BB962C8B-B14F-4D97-AF65-F5344CB8AC3E}">
        <p14:creationId xmlns:p14="http://schemas.microsoft.com/office/powerpoint/2010/main" val="691364959"/>
      </p:ext>
    </p:extLst>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8AE2-6503-E843-F7A2-1EE7D1C1B37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B63A5AF-9359-3664-1E13-AEE8874FFB68}"/>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Invoice Reverse</a:t>
            </a:r>
            <a:endParaRPr lang="zh-CN" altLang="en-US" sz="3400">
              <a:solidFill>
                <a:srgbClr val="000000"/>
              </a:solidFill>
              <a:latin typeface="Aptos Display" panose="020B0004020202020204" pitchFamily="34" charset="0"/>
            </a:endParaRPr>
          </a:p>
        </p:txBody>
      </p:sp>
      <p:sp>
        <p:nvSpPr>
          <p:cNvPr id="4" name="Title 10">
            <a:extLst>
              <a:ext uri="{FF2B5EF4-FFF2-40B4-BE49-F238E27FC236}">
                <a16:creationId xmlns:a16="http://schemas.microsoft.com/office/drawing/2014/main" id="{083A1B19-3418-C745-EEF9-9A7EC36CE4CB}"/>
              </a:ext>
            </a:extLst>
          </p:cNvPr>
          <p:cNvSpPr txBox="1">
            <a:spLocks/>
          </p:cNvSpPr>
          <p:nvPr/>
        </p:nvSpPr>
        <p:spPr>
          <a:xfrm>
            <a:off x="330200" y="818603"/>
            <a:ext cx="11303000" cy="421091"/>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 </a:t>
            </a:r>
          </a:p>
        </p:txBody>
      </p:sp>
      <p:pic>
        <p:nvPicPr>
          <p:cNvPr id="6" name="图片 5">
            <a:extLst>
              <a:ext uri="{FF2B5EF4-FFF2-40B4-BE49-F238E27FC236}">
                <a16:creationId xmlns:a16="http://schemas.microsoft.com/office/drawing/2014/main" id="{965472EE-2E5E-7DF6-8560-2F191BB54A72}"/>
              </a:ext>
            </a:extLst>
          </p:cNvPr>
          <p:cNvPicPr>
            <a:picLocks noChangeAspect="1"/>
          </p:cNvPicPr>
          <p:nvPr/>
        </p:nvPicPr>
        <p:blipFill>
          <a:blip r:embed="rId2"/>
          <a:stretch>
            <a:fillRect/>
          </a:stretch>
        </p:blipFill>
        <p:spPr>
          <a:xfrm>
            <a:off x="320182" y="1677353"/>
            <a:ext cx="11331980" cy="3959653"/>
          </a:xfrm>
          <a:prstGeom prst="rect">
            <a:avLst/>
          </a:prstGeom>
        </p:spPr>
      </p:pic>
    </p:spTree>
    <p:extLst>
      <p:ext uri="{BB962C8B-B14F-4D97-AF65-F5344CB8AC3E}">
        <p14:creationId xmlns:p14="http://schemas.microsoft.com/office/powerpoint/2010/main" val="1161080476"/>
      </p:ext>
    </p:extLst>
  </p:cSld>
  <p:clrMapOvr>
    <a:masterClrMapping/>
  </p:clrMapOvr>
  <p:transition spd="me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7E6CA-EFDE-F72F-F316-855EE03D937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F65B3F6-171A-CFFF-61FC-DD6607149498}"/>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Invoice Reverse</a:t>
            </a:r>
            <a:endParaRPr lang="zh-CN" altLang="en-US" sz="3400">
              <a:solidFill>
                <a:srgbClr val="000000"/>
              </a:solidFill>
              <a:latin typeface="Aptos Display" panose="020B0004020202020204" pitchFamily="34" charset="0"/>
            </a:endParaRPr>
          </a:p>
        </p:txBody>
      </p:sp>
      <p:sp>
        <p:nvSpPr>
          <p:cNvPr id="4" name="Title 10">
            <a:extLst>
              <a:ext uri="{FF2B5EF4-FFF2-40B4-BE49-F238E27FC236}">
                <a16:creationId xmlns:a16="http://schemas.microsoft.com/office/drawing/2014/main" id="{5325D9FC-B28A-CC43-9A09-2F315C6CF31E}"/>
              </a:ext>
            </a:extLst>
          </p:cNvPr>
          <p:cNvSpPr txBox="1">
            <a:spLocks/>
          </p:cNvSpPr>
          <p:nvPr/>
        </p:nvSpPr>
        <p:spPr>
          <a:xfrm>
            <a:off x="330200" y="845243"/>
            <a:ext cx="11303000" cy="66635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invoice reverse is full CMR, and all items auto generate the BIT items and preview invoice. If the original invoice is central billing invoice, so the 3 invoice will be CMR, include AFE-NL11 invoice, NL11-JP Hitachi AR invoice, NL11-AFE AP Invoice.</a:t>
            </a:r>
            <a:endParaRPr lang="en-US" altLang="zh-CN" sz="1500">
              <a:solidFill>
                <a:srgbClr val="1B2434"/>
              </a:solidFill>
              <a:latin typeface="Aptos" panose="020B0004020202020204" pitchFamily="34" charset="0"/>
            </a:endParaRPr>
          </a:p>
        </p:txBody>
      </p:sp>
      <p:grpSp>
        <p:nvGrpSpPr>
          <p:cNvPr id="21" name="组合 20">
            <a:extLst>
              <a:ext uri="{FF2B5EF4-FFF2-40B4-BE49-F238E27FC236}">
                <a16:creationId xmlns:a16="http://schemas.microsoft.com/office/drawing/2014/main" id="{501F0A40-FE37-15EE-E6DB-7D2377B2090A}"/>
              </a:ext>
            </a:extLst>
          </p:cNvPr>
          <p:cNvGrpSpPr/>
          <p:nvPr/>
        </p:nvGrpSpPr>
        <p:grpSpPr>
          <a:xfrm>
            <a:off x="486046" y="1775858"/>
            <a:ext cx="8344605" cy="3328458"/>
            <a:chOff x="557845" y="1313165"/>
            <a:chExt cx="10944661" cy="4467645"/>
          </a:xfrm>
        </p:grpSpPr>
        <p:pic>
          <p:nvPicPr>
            <p:cNvPr id="20" name="图片 19">
              <a:extLst>
                <a:ext uri="{FF2B5EF4-FFF2-40B4-BE49-F238E27FC236}">
                  <a16:creationId xmlns:a16="http://schemas.microsoft.com/office/drawing/2014/main" id="{7172E8F6-AF29-3439-90A3-16BAE70732FF}"/>
                </a:ext>
              </a:extLst>
            </p:cNvPr>
            <p:cNvPicPr>
              <a:picLocks noChangeAspect="1"/>
            </p:cNvPicPr>
            <p:nvPr/>
          </p:nvPicPr>
          <p:blipFill>
            <a:blip r:embed="rId2"/>
            <a:stretch>
              <a:fillRect/>
            </a:stretch>
          </p:blipFill>
          <p:spPr>
            <a:xfrm>
              <a:off x="557845" y="1313165"/>
              <a:ext cx="10944661" cy="4467645"/>
            </a:xfrm>
            <a:prstGeom prst="rect">
              <a:avLst/>
            </a:prstGeom>
          </p:spPr>
        </p:pic>
        <p:sp>
          <p:nvSpPr>
            <p:cNvPr id="12" name="Shape 5">
              <a:extLst>
                <a:ext uri="{FF2B5EF4-FFF2-40B4-BE49-F238E27FC236}">
                  <a16:creationId xmlns:a16="http://schemas.microsoft.com/office/drawing/2014/main" id="{FE9C7019-6261-90CD-927E-4654770DC13B}"/>
                </a:ext>
              </a:extLst>
            </p:cNvPr>
            <p:cNvSpPr/>
            <p:nvPr/>
          </p:nvSpPr>
          <p:spPr>
            <a:xfrm>
              <a:off x="5165061" y="1845679"/>
              <a:ext cx="328045"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1</a:t>
              </a:r>
              <a:endParaRPr lang="zh-CN" altLang="en-US" sz="1000" b="1">
                <a:solidFill>
                  <a:schemeClr val="bg1"/>
                </a:solidFill>
              </a:endParaRPr>
            </a:p>
          </p:txBody>
        </p:sp>
        <p:sp>
          <p:nvSpPr>
            <p:cNvPr id="14" name="Shape 5">
              <a:extLst>
                <a:ext uri="{FF2B5EF4-FFF2-40B4-BE49-F238E27FC236}">
                  <a16:creationId xmlns:a16="http://schemas.microsoft.com/office/drawing/2014/main" id="{94B09B77-079B-97EE-C7D8-AD63F645F264}"/>
                </a:ext>
              </a:extLst>
            </p:cNvPr>
            <p:cNvSpPr/>
            <p:nvPr/>
          </p:nvSpPr>
          <p:spPr>
            <a:xfrm>
              <a:off x="11143714" y="2649731"/>
              <a:ext cx="328045" cy="242987"/>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2</a:t>
              </a:r>
              <a:endParaRPr lang="zh-CN" altLang="en-US" sz="1000" b="1">
                <a:solidFill>
                  <a:schemeClr val="bg1"/>
                </a:solidFill>
              </a:endParaRPr>
            </a:p>
          </p:txBody>
        </p:sp>
        <p:sp>
          <p:nvSpPr>
            <p:cNvPr id="16" name="Shape 5">
              <a:extLst>
                <a:ext uri="{FF2B5EF4-FFF2-40B4-BE49-F238E27FC236}">
                  <a16:creationId xmlns:a16="http://schemas.microsoft.com/office/drawing/2014/main" id="{E4454660-E774-88CC-EFCC-60B17869FA15}"/>
                </a:ext>
              </a:extLst>
            </p:cNvPr>
            <p:cNvSpPr/>
            <p:nvPr/>
          </p:nvSpPr>
          <p:spPr>
            <a:xfrm>
              <a:off x="875827" y="4923177"/>
              <a:ext cx="328045" cy="242988"/>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3</a:t>
              </a:r>
              <a:endParaRPr lang="zh-CN" altLang="en-US" sz="1000" b="1">
                <a:solidFill>
                  <a:schemeClr val="bg1"/>
                </a:solidFill>
              </a:endParaRPr>
            </a:p>
          </p:txBody>
        </p:sp>
        <p:sp>
          <p:nvSpPr>
            <p:cNvPr id="18" name="Shape 5">
              <a:extLst>
                <a:ext uri="{FF2B5EF4-FFF2-40B4-BE49-F238E27FC236}">
                  <a16:creationId xmlns:a16="http://schemas.microsoft.com/office/drawing/2014/main" id="{399AA418-1967-BB29-B0E2-D2629C7130A6}"/>
                </a:ext>
              </a:extLst>
            </p:cNvPr>
            <p:cNvSpPr/>
            <p:nvPr/>
          </p:nvSpPr>
          <p:spPr>
            <a:xfrm>
              <a:off x="7973412" y="3559955"/>
              <a:ext cx="328045" cy="242987"/>
            </a:xfrm>
            <a:prstGeom prst="ellipse">
              <a:avLst/>
            </a:prstGeom>
            <a:solidFill>
              <a:srgbClr val="D8232A"/>
            </a:solidFill>
            <a:ln w="15875">
              <a:solidFill>
                <a:srgbClr val="FFFFFF"/>
              </a:solidFill>
              <a:prstDash val="solid"/>
            </a:ln>
          </p:spPr>
          <p:txBody>
            <a:bodyPr anchor="ctr"/>
            <a:lstStyle/>
            <a:p>
              <a:pPr algn="ctr"/>
              <a:r>
                <a:rPr lang="en-US" altLang="zh-CN" sz="1000" b="1">
                  <a:solidFill>
                    <a:schemeClr val="bg1"/>
                  </a:solidFill>
                </a:rPr>
                <a:t>4</a:t>
              </a:r>
              <a:endParaRPr lang="zh-CN" altLang="en-US" sz="1000" b="1">
                <a:solidFill>
                  <a:schemeClr val="bg1"/>
                </a:solidFill>
              </a:endParaRPr>
            </a:p>
          </p:txBody>
        </p:sp>
      </p:grpSp>
      <p:grpSp>
        <p:nvGrpSpPr>
          <p:cNvPr id="2" name="组合 1">
            <a:extLst>
              <a:ext uri="{FF2B5EF4-FFF2-40B4-BE49-F238E27FC236}">
                <a16:creationId xmlns:a16="http://schemas.microsoft.com/office/drawing/2014/main" id="{2DC05A44-8D12-E03E-33EE-01351F89D9BE}"/>
              </a:ext>
            </a:extLst>
          </p:cNvPr>
          <p:cNvGrpSpPr/>
          <p:nvPr/>
        </p:nvGrpSpPr>
        <p:grpSpPr>
          <a:xfrm>
            <a:off x="9128563" y="2073325"/>
            <a:ext cx="2935618" cy="1364489"/>
            <a:chOff x="9128563" y="2073325"/>
            <a:chExt cx="2935618" cy="1364489"/>
          </a:xfrm>
        </p:grpSpPr>
        <p:sp>
          <p:nvSpPr>
            <p:cNvPr id="23" name="Shape 21">
              <a:extLst>
                <a:ext uri="{FF2B5EF4-FFF2-40B4-BE49-F238E27FC236}">
                  <a16:creationId xmlns:a16="http://schemas.microsoft.com/office/drawing/2014/main" id="{1F81F833-EEFD-228F-3743-3792662A7066}"/>
                </a:ext>
              </a:extLst>
            </p:cNvPr>
            <p:cNvSpPr/>
            <p:nvPr/>
          </p:nvSpPr>
          <p:spPr>
            <a:xfrm>
              <a:off x="9128563" y="2082848"/>
              <a:ext cx="330899" cy="256032"/>
            </a:xfrm>
            <a:prstGeom prst="ellipse">
              <a:avLst/>
            </a:prstGeom>
            <a:solidFill>
              <a:srgbClr val="D8232A"/>
            </a:solidFill>
            <a:ln w="15875">
              <a:solidFill>
                <a:srgbClr val="FFFFFF"/>
              </a:solidFill>
              <a:prstDash val="solid"/>
            </a:ln>
          </p:spPr>
          <p:txBody>
            <a:bodyPr/>
            <a:lstStyle/>
            <a:p>
              <a:endParaRPr lang="zh-CN" altLang="en-US"/>
            </a:p>
          </p:txBody>
        </p:sp>
        <p:sp>
          <p:nvSpPr>
            <p:cNvPr id="24" name="Text 22">
              <a:extLst>
                <a:ext uri="{FF2B5EF4-FFF2-40B4-BE49-F238E27FC236}">
                  <a16:creationId xmlns:a16="http://schemas.microsoft.com/office/drawing/2014/main" id="{40B939C8-E59D-F8D7-0841-E7D180F59CCB}"/>
                </a:ext>
              </a:extLst>
            </p:cNvPr>
            <p:cNvSpPr txBox="1"/>
            <p:nvPr/>
          </p:nvSpPr>
          <p:spPr>
            <a:xfrm>
              <a:off x="9128563" y="2073325"/>
              <a:ext cx="330899" cy="25603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1</a:t>
              </a:r>
              <a:endParaRPr lang="en-US" sz="900"/>
            </a:p>
          </p:txBody>
        </p:sp>
        <p:sp>
          <p:nvSpPr>
            <p:cNvPr id="25" name="Text 23">
              <a:extLst>
                <a:ext uri="{FF2B5EF4-FFF2-40B4-BE49-F238E27FC236}">
                  <a16:creationId xmlns:a16="http://schemas.microsoft.com/office/drawing/2014/main" id="{C2E93919-5139-73C8-E370-DCA7193EB845}"/>
                </a:ext>
              </a:extLst>
            </p:cNvPr>
            <p:cNvSpPr txBox="1"/>
            <p:nvPr/>
          </p:nvSpPr>
          <p:spPr>
            <a:xfrm>
              <a:off x="9597904" y="2114247"/>
              <a:ext cx="2466277" cy="166329"/>
            </a:xfrm>
            <a:prstGeom prst="rect">
              <a:avLst/>
            </a:prstGeom>
            <a:noFill/>
            <a:ln/>
          </p:spPr>
          <p:txBody>
            <a:bodyPr wrap="square" lIns="0" tIns="0" rIns="0" bIns="0" rtlCol="0" anchor="ctr"/>
            <a:lstStyle/>
            <a:p>
              <a:pPr>
                <a:lnSpc>
                  <a:spcPts val="1188"/>
                </a:lnSpc>
              </a:pPr>
              <a:r>
                <a:rPr lang="en-US" sz="900"/>
                <a:t>search conditions, like final invoice no, statement no, charge from date, etc.</a:t>
              </a:r>
            </a:p>
          </p:txBody>
        </p:sp>
        <p:sp>
          <p:nvSpPr>
            <p:cNvPr id="26" name="Shape 27">
              <a:extLst>
                <a:ext uri="{FF2B5EF4-FFF2-40B4-BE49-F238E27FC236}">
                  <a16:creationId xmlns:a16="http://schemas.microsoft.com/office/drawing/2014/main" id="{3F2ED798-22E9-BF95-F290-9F5ACA6CD40C}"/>
                </a:ext>
              </a:extLst>
            </p:cNvPr>
            <p:cNvSpPr/>
            <p:nvPr/>
          </p:nvSpPr>
          <p:spPr>
            <a:xfrm>
              <a:off x="9128563" y="2812008"/>
              <a:ext cx="330899" cy="256032"/>
            </a:xfrm>
            <a:prstGeom prst="ellipse">
              <a:avLst/>
            </a:prstGeom>
            <a:solidFill>
              <a:srgbClr val="D8232A"/>
            </a:solidFill>
            <a:ln w="15875">
              <a:solidFill>
                <a:srgbClr val="FFFFFF"/>
              </a:solidFill>
              <a:prstDash val="solid"/>
            </a:ln>
          </p:spPr>
          <p:txBody>
            <a:bodyPr/>
            <a:lstStyle/>
            <a:p>
              <a:endParaRPr lang="zh-CN" altLang="en-US"/>
            </a:p>
          </p:txBody>
        </p:sp>
        <p:sp>
          <p:nvSpPr>
            <p:cNvPr id="27" name="Text 28">
              <a:extLst>
                <a:ext uri="{FF2B5EF4-FFF2-40B4-BE49-F238E27FC236}">
                  <a16:creationId xmlns:a16="http://schemas.microsoft.com/office/drawing/2014/main" id="{D4AB9ABC-10DD-E340-1C82-BCC7410124CF}"/>
                </a:ext>
              </a:extLst>
            </p:cNvPr>
            <p:cNvSpPr txBox="1"/>
            <p:nvPr/>
          </p:nvSpPr>
          <p:spPr>
            <a:xfrm>
              <a:off x="9128563" y="2812008"/>
              <a:ext cx="330899" cy="256032"/>
            </a:xfrm>
            <a:prstGeom prst="rect">
              <a:avLst/>
            </a:prstGeom>
            <a:noFill/>
            <a:ln/>
          </p:spPr>
          <p:txBody>
            <a:bodyPr wrap="square" lIns="0" tIns="0" rIns="0" bIns="0" rtlCol="0" anchor="ctr"/>
            <a:lstStyle/>
            <a:p>
              <a:pPr marL="0" indent="0" algn="ctr">
                <a:buNone/>
              </a:pPr>
              <a:r>
                <a:rPr lang="en-US" sz="900">
                  <a:solidFill>
                    <a:schemeClr val="bg1"/>
                  </a:solidFill>
                </a:rPr>
                <a:t>3</a:t>
              </a:r>
            </a:p>
          </p:txBody>
        </p:sp>
        <p:sp>
          <p:nvSpPr>
            <p:cNvPr id="28" name="Text 23">
              <a:extLst>
                <a:ext uri="{FF2B5EF4-FFF2-40B4-BE49-F238E27FC236}">
                  <a16:creationId xmlns:a16="http://schemas.microsoft.com/office/drawing/2014/main" id="{BA547C93-83D1-35DC-FF19-EA1581738469}"/>
                </a:ext>
              </a:extLst>
            </p:cNvPr>
            <p:cNvSpPr txBox="1"/>
            <p:nvPr/>
          </p:nvSpPr>
          <p:spPr>
            <a:xfrm>
              <a:off x="9594706" y="2389942"/>
              <a:ext cx="2466277" cy="342999"/>
            </a:xfrm>
            <a:prstGeom prst="rect">
              <a:avLst/>
            </a:prstGeom>
            <a:noFill/>
            <a:ln/>
          </p:spPr>
          <p:txBody>
            <a:bodyPr wrap="square" lIns="0" tIns="0" rIns="0" bIns="0" rtlCol="0" anchor="ctr"/>
            <a:lstStyle/>
            <a:p>
              <a:pPr marL="0" indent="0">
                <a:lnSpc>
                  <a:spcPts val="1188"/>
                </a:lnSpc>
                <a:buNone/>
              </a:pPr>
              <a:r>
                <a:rPr lang="en-US" sz="900"/>
                <a:t>Click the Search button, get the invoice list. </a:t>
              </a:r>
            </a:p>
          </p:txBody>
        </p:sp>
        <p:sp>
          <p:nvSpPr>
            <p:cNvPr id="29" name="Shape 27">
              <a:extLst>
                <a:ext uri="{FF2B5EF4-FFF2-40B4-BE49-F238E27FC236}">
                  <a16:creationId xmlns:a16="http://schemas.microsoft.com/office/drawing/2014/main" id="{0661DD36-6183-E9A3-729C-A866F209AC4D}"/>
                </a:ext>
              </a:extLst>
            </p:cNvPr>
            <p:cNvSpPr/>
            <p:nvPr/>
          </p:nvSpPr>
          <p:spPr>
            <a:xfrm>
              <a:off x="9128563" y="2425847"/>
              <a:ext cx="330899" cy="256032"/>
            </a:xfrm>
            <a:prstGeom prst="ellipse">
              <a:avLst/>
            </a:prstGeom>
            <a:solidFill>
              <a:srgbClr val="D8232A"/>
            </a:solidFill>
            <a:ln w="15875">
              <a:solidFill>
                <a:srgbClr val="FFFFFF"/>
              </a:solidFill>
              <a:prstDash val="solid"/>
            </a:ln>
          </p:spPr>
          <p:txBody>
            <a:bodyPr/>
            <a:lstStyle/>
            <a:p>
              <a:endParaRPr lang="zh-CN" altLang="en-US"/>
            </a:p>
          </p:txBody>
        </p:sp>
        <p:sp>
          <p:nvSpPr>
            <p:cNvPr id="30" name="Text 28">
              <a:extLst>
                <a:ext uri="{FF2B5EF4-FFF2-40B4-BE49-F238E27FC236}">
                  <a16:creationId xmlns:a16="http://schemas.microsoft.com/office/drawing/2014/main" id="{3F9A8E0A-47DF-DC5F-018E-D3DE25E8726E}"/>
                </a:ext>
              </a:extLst>
            </p:cNvPr>
            <p:cNvSpPr txBox="1"/>
            <p:nvPr/>
          </p:nvSpPr>
          <p:spPr>
            <a:xfrm>
              <a:off x="9128563" y="2425847"/>
              <a:ext cx="330899" cy="256032"/>
            </a:xfrm>
            <a:prstGeom prst="rect">
              <a:avLst/>
            </a:prstGeom>
            <a:noFill/>
            <a:ln/>
          </p:spPr>
          <p:txBody>
            <a:bodyPr wrap="square" lIns="0" tIns="0" rIns="0" bIns="0" rtlCol="0" anchor="ctr"/>
            <a:lstStyle/>
            <a:p>
              <a:pPr marL="0" indent="0" algn="ctr">
                <a:buNone/>
              </a:pPr>
              <a:r>
                <a:rPr lang="en-US" sz="900">
                  <a:solidFill>
                    <a:schemeClr val="bg1"/>
                  </a:solidFill>
                </a:rPr>
                <a:t>2</a:t>
              </a:r>
            </a:p>
          </p:txBody>
        </p:sp>
        <p:sp>
          <p:nvSpPr>
            <p:cNvPr id="31" name="Text 23">
              <a:extLst>
                <a:ext uri="{FF2B5EF4-FFF2-40B4-BE49-F238E27FC236}">
                  <a16:creationId xmlns:a16="http://schemas.microsoft.com/office/drawing/2014/main" id="{A9CDC525-4FC8-2DEB-CD4A-0C3FF061A509}"/>
                </a:ext>
              </a:extLst>
            </p:cNvPr>
            <p:cNvSpPr txBox="1"/>
            <p:nvPr/>
          </p:nvSpPr>
          <p:spPr>
            <a:xfrm>
              <a:off x="9597904" y="2832968"/>
              <a:ext cx="2463080" cy="166329"/>
            </a:xfrm>
            <a:prstGeom prst="rect">
              <a:avLst/>
            </a:prstGeom>
            <a:noFill/>
            <a:ln/>
          </p:spPr>
          <p:txBody>
            <a:bodyPr wrap="square" lIns="0" tIns="0" rIns="0" bIns="0" rtlCol="0" anchor="ctr"/>
            <a:lstStyle>
              <a:defPPr>
                <a:defRPr lang="en-US"/>
              </a:defPPr>
              <a:lvl1pPr indent="0">
                <a:lnSpc>
                  <a:spcPts val="1188"/>
                </a:lnSpc>
                <a:buNone/>
                <a:defRPr sz="900"/>
              </a:lvl1pPr>
            </a:lstStyle>
            <a:p>
              <a:r>
                <a:rPr lang="zh-CN" altLang="zh-CN"/>
                <a:t>Select at least one item of data</a:t>
              </a:r>
              <a:r>
                <a:rPr lang="en-US" altLang="zh-CN"/>
                <a:t>.</a:t>
              </a:r>
              <a:endParaRPr lang="en-US"/>
            </a:p>
          </p:txBody>
        </p:sp>
        <p:sp>
          <p:nvSpPr>
            <p:cNvPr id="32" name="Shape 27">
              <a:extLst>
                <a:ext uri="{FF2B5EF4-FFF2-40B4-BE49-F238E27FC236}">
                  <a16:creationId xmlns:a16="http://schemas.microsoft.com/office/drawing/2014/main" id="{72A6CCC6-6610-A425-3C4B-8F3346B5AB66}"/>
                </a:ext>
              </a:extLst>
            </p:cNvPr>
            <p:cNvSpPr/>
            <p:nvPr/>
          </p:nvSpPr>
          <p:spPr>
            <a:xfrm>
              <a:off x="9128563" y="3181782"/>
              <a:ext cx="330899" cy="256032"/>
            </a:xfrm>
            <a:prstGeom prst="ellipse">
              <a:avLst/>
            </a:prstGeom>
            <a:solidFill>
              <a:srgbClr val="D8232A"/>
            </a:solidFill>
            <a:ln w="15875">
              <a:solidFill>
                <a:srgbClr val="FFFFFF"/>
              </a:solidFill>
              <a:prstDash val="solid"/>
            </a:ln>
          </p:spPr>
          <p:txBody>
            <a:bodyPr/>
            <a:lstStyle/>
            <a:p>
              <a:endParaRPr lang="zh-CN" altLang="en-US"/>
            </a:p>
          </p:txBody>
        </p:sp>
        <p:sp>
          <p:nvSpPr>
            <p:cNvPr id="33" name="Text 28">
              <a:extLst>
                <a:ext uri="{FF2B5EF4-FFF2-40B4-BE49-F238E27FC236}">
                  <a16:creationId xmlns:a16="http://schemas.microsoft.com/office/drawing/2014/main" id="{7EDA3015-9198-5634-E5DC-817EC71F5052}"/>
                </a:ext>
              </a:extLst>
            </p:cNvPr>
            <p:cNvSpPr txBox="1"/>
            <p:nvPr/>
          </p:nvSpPr>
          <p:spPr>
            <a:xfrm>
              <a:off x="9128563" y="3181782"/>
              <a:ext cx="330899" cy="256032"/>
            </a:xfrm>
            <a:prstGeom prst="rect">
              <a:avLst/>
            </a:prstGeom>
            <a:noFill/>
            <a:ln/>
          </p:spPr>
          <p:txBody>
            <a:bodyPr wrap="square" lIns="0" tIns="0" rIns="0" bIns="0" rtlCol="0" anchor="ctr"/>
            <a:lstStyle/>
            <a:p>
              <a:pPr marL="0" indent="0" algn="ctr">
                <a:buNone/>
              </a:pPr>
              <a:r>
                <a:rPr lang="en-US" sz="900">
                  <a:solidFill>
                    <a:schemeClr val="bg1"/>
                  </a:solidFill>
                </a:rPr>
                <a:t>4</a:t>
              </a:r>
            </a:p>
          </p:txBody>
        </p:sp>
        <p:sp>
          <p:nvSpPr>
            <p:cNvPr id="34" name="Text 23">
              <a:extLst>
                <a:ext uri="{FF2B5EF4-FFF2-40B4-BE49-F238E27FC236}">
                  <a16:creationId xmlns:a16="http://schemas.microsoft.com/office/drawing/2014/main" id="{44B1B385-6E73-B6EF-AE23-A178962DAD82}"/>
                </a:ext>
              </a:extLst>
            </p:cNvPr>
            <p:cNvSpPr txBox="1"/>
            <p:nvPr/>
          </p:nvSpPr>
          <p:spPr>
            <a:xfrm>
              <a:off x="9594706" y="3196393"/>
              <a:ext cx="2364999" cy="232607"/>
            </a:xfrm>
            <a:prstGeom prst="rect">
              <a:avLst/>
            </a:prstGeom>
            <a:noFill/>
            <a:ln/>
          </p:spPr>
          <p:txBody>
            <a:bodyPr wrap="square" lIns="0" tIns="0" rIns="0" bIns="0" rtlCol="0" anchor="ctr"/>
            <a:lstStyle/>
            <a:p>
              <a:pPr marL="0" indent="0">
                <a:lnSpc>
                  <a:spcPts val="1188"/>
                </a:lnSpc>
                <a:buNone/>
              </a:pPr>
              <a:r>
                <a:rPr lang="en-US" sz="900"/>
                <a:t>Click “reverse(Credit) button.</a:t>
              </a:r>
            </a:p>
          </p:txBody>
        </p:sp>
      </p:grpSp>
    </p:spTree>
    <p:extLst>
      <p:ext uri="{BB962C8B-B14F-4D97-AF65-F5344CB8AC3E}">
        <p14:creationId xmlns:p14="http://schemas.microsoft.com/office/powerpoint/2010/main" val="1784693425"/>
      </p:ext>
    </p:extLst>
  </p:cSld>
  <p:clrMapOvr>
    <a:masterClrMapping/>
  </p:clrMapOvr>
  <p:transition spd="me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0A620-D4E7-0D27-84F1-6DD92B9B8B5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9D637ED-E9CB-EDCF-4DF0-39570B2E96DB}"/>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Invoice Reverse</a:t>
            </a:r>
            <a:endParaRPr lang="zh-CN" altLang="en-US" sz="3400">
              <a:solidFill>
                <a:srgbClr val="000000"/>
              </a:solidFill>
              <a:latin typeface="Aptos Display" panose="020B0004020202020204" pitchFamily="34" charset="0"/>
            </a:endParaRPr>
          </a:p>
        </p:txBody>
      </p:sp>
      <p:grpSp>
        <p:nvGrpSpPr>
          <p:cNvPr id="9" name="组合 8">
            <a:extLst>
              <a:ext uri="{FF2B5EF4-FFF2-40B4-BE49-F238E27FC236}">
                <a16:creationId xmlns:a16="http://schemas.microsoft.com/office/drawing/2014/main" id="{74FF78C8-366A-0270-1A1E-36C39F8E19B2}"/>
              </a:ext>
            </a:extLst>
          </p:cNvPr>
          <p:cNvGrpSpPr/>
          <p:nvPr/>
        </p:nvGrpSpPr>
        <p:grpSpPr>
          <a:xfrm>
            <a:off x="3467255" y="1961408"/>
            <a:ext cx="5099896" cy="1829734"/>
            <a:chOff x="996104" y="1915848"/>
            <a:chExt cx="5099896" cy="1829734"/>
          </a:xfrm>
        </p:grpSpPr>
        <p:pic>
          <p:nvPicPr>
            <p:cNvPr id="5" name="图片 4">
              <a:extLst>
                <a:ext uri="{FF2B5EF4-FFF2-40B4-BE49-F238E27FC236}">
                  <a16:creationId xmlns:a16="http://schemas.microsoft.com/office/drawing/2014/main" id="{426FC68D-DED5-3C08-5C3E-B4A23AE8FC04}"/>
                </a:ext>
              </a:extLst>
            </p:cNvPr>
            <p:cNvPicPr>
              <a:picLocks noChangeAspect="1"/>
            </p:cNvPicPr>
            <p:nvPr/>
          </p:nvPicPr>
          <p:blipFill>
            <a:blip r:embed="rId2"/>
            <a:stretch>
              <a:fillRect/>
            </a:stretch>
          </p:blipFill>
          <p:spPr>
            <a:xfrm>
              <a:off x="996104" y="1915848"/>
              <a:ext cx="5099896" cy="1829734"/>
            </a:xfrm>
            <a:prstGeom prst="rect">
              <a:avLst/>
            </a:prstGeom>
          </p:spPr>
        </p:pic>
        <p:sp>
          <p:nvSpPr>
            <p:cNvPr id="35" name="Shape 5">
              <a:extLst>
                <a:ext uri="{FF2B5EF4-FFF2-40B4-BE49-F238E27FC236}">
                  <a16:creationId xmlns:a16="http://schemas.microsoft.com/office/drawing/2014/main" id="{EC38670B-50C1-2F01-8AF8-F3F3065B961A}"/>
                </a:ext>
              </a:extLst>
            </p:cNvPr>
            <p:cNvSpPr/>
            <p:nvPr/>
          </p:nvSpPr>
          <p:spPr>
            <a:xfrm>
              <a:off x="5457027" y="2928782"/>
              <a:ext cx="328045" cy="220112"/>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5</a:t>
              </a:r>
              <a:endParaRPr lang="zh-CN" altLang="en-US" sz="1000" b="1">
                <a:solidFill>
                  <a:schemeClr val="bg1"/>
                </a:solidFill>
              </a:endParaRPr>
            </a:p>
          </p:txBody>
        </p:sp>
      </p:grpSp>
      <p:grpSp>
        <p:nvGrpSpPr>
          <p:cNvPr id="7" name="组合 6">
            <a:extLst>
              <a:ext uri="{FF2B5EF4-FFF2-40B4-BE49-F238E27FC236}">
                <a16:creationId xmlns:a16="http://schemas.microsoft.com/office/drawing/2014/main" id="{BE88CE9E-D711-D694-7F62-031FA8145B01}"/>
              </a:ext>
            </a:extLst>
          </p:cNvPr>
          <p:cNvGrpSpPr/>
          <p:nvPr/>
        </p:nvGrpSpPr>
        <p:grpSpPr>
          <a:xfrm>
            <a:off x="320182" y="4039610"/>
            <a:ext cx="8273212" cy="1998009"/>
            <a:chOff x="176981" y="4024214"/>
            <a:chExt cx="10520516" cy="1972596"/>
          </a:xfrm>
        </p:grpSpPr>
        <p:pic>
          <p:nvPicPr>
            <p:cNvPr id="20" name="图片 19">
              <a:extLst>
                <a:ext uri="{FF2B5EF4-FFF2-40B4-BE49-F238E27FC236}">
                  <a16:creationId xmlns:a16="http://schemas.microsoft.com/office/drawing/2014/main" id="{65F89F80-B171-B6E8-9B03-754D286CDE5A}"/>
                </a:ext>
              </a:extLst>
            </p:cNvPr>
            <p:cNvPicPr>
              <a:picLocks noChangeAspect="1"/>
            </p:cNvPicPr>
            <p:nvPr/>
          </p:nvPicPr>
          <p:blipFill>
            <a:blip r:embed="rId3"/>
            <a:stretch>
              <a:fillRect/>
            </a:stretch>
          </p:blipFill>
          <p:spPr>
            <a:xfrm>
              <a:off x="176981" y="4024214"/>
              <a:ext cx="10520516" cy="1972596"/>
            </a:xfrm>
            <a:prstGeom prst="rect">
              <a:avLst/>
            </a:prstGeom>
          </p:spPr>
        </p:pic>
        <p:sp>
          <p:nvSpPr>
            <p:cNvPr id="37" name="Shape 5">
              <a:extLst>
                <a:ext uri="{FF2B5EF4-FFF2-40B4-BE49-F238E27FC236}">
                  <a16:creationId xmlns:a16="http://schemas.microsoft.com/office/drawing/2014/main" id="{A76AB1BF-05AA-7787-D792-E3B7C98961E1}"/>
                </a:ext>
              </a:extLst>
            </p:cNvPr>
            <p:cNvSpPr/>
            <p:nvPr/>
          </p:nvSpPr>
          <p:spPr>
            <a:xfrm>
              <a:off x="2030093" y="4285014"/>
              <a:ext cx="334297" cy="2305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6</a:t>
              </a:r>
              <a:endParaRPr lang="zh-CN" altLang="en-US" sz="1000" b="1">
                <a:solidFill>
                  <a:schemeClr val="bg1"/>
                </a:solidFill>
              </a:endParaRPr>
            </a:p>
          </p:txBody>
        </p:sp>
        <p:sp>
          <p:nvSpPr>
            <p:cNvPr id="39" name="Shape 5">
              <a:extLst>
                <a:ext uri="{FF2B5EF4-FFF2-40B4-BE49-F238E27FC236}">
                  <a16:creationId xmlns:a16="http://schemas.microsoft.com/office/drawing/2014/main" id="{EE75D209-5DA5-3141-4003-05448B4814C9}"/>
                </a:ext>
              </a:extLst>
            </p:cNvPr>
            <p:cNvSpPr/>
            <p:nvPr/>
          </p:nvSpPr>
          <p:spPr>
            <a:xfrm>
              <a:off x="2118852" y="5010512"/>
              <a:ext cx="334297" cy="2305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7</a:t>
              </a:r>
              <a:endParaRPr lang="zh-CN" altLang="en-US" sz="1000" b="1">
                <a:solidFill>
                  <a:schemeClr val="bg1"/>
                </a:solidFill>
              </a:endParaRPr>
            </a:p>
          </p:txBody>
        </p:sp>
        <p:sp>
          <p:nvSpPr>
            <p:cNvPr id="41" name="文本框 40">
              <a:extLst>
                <a:ext uri="{FF2B5EF4-FFF2-40B4-BE49-F238E27FC236}">
                  <a16:creationId xmlns:a16="http://schemas.microsoft.com/office/drawing/2014/main" id="{0BC317E9-068B-D705-9634-4E03BD652901}"/>
                </a:ext>
              </a:extLst>
            </p:cNvPr>
            <p:cNvSpPr txBox="1"/>
            <p:nvPr/>
          </p:nvSpPr>
          <p:spPr>
            <a:xfrm>
              <a:off x="2966581" y="4167191"/>
              <a:ext cx="7302156" cy="319055"/>
            </a:xfrm>
            <a:prstGeom prst="rect">
              <a:avLst/>
            </a:prstGeom>
            <a:noFill/>
          </p:spPr>
          <p:txBody>
            <a:bodyPr wrap="square">
              <a:spAutoFit/>
            </a:bodyPr>
            <a:lstStyle/>
            <a:p>
              <a:r>
                <a:rPr lang="zh-CN" altLang="zh-CN" sz="1500" b="1" i="0">
                  <a:solidFill>
                    <a:srgbClr val="FF0000"/>
                  </a:solidFill>
                  <a:effectLst/>
                  <a:latin typeface="quote-cjk-patch"/>
                </a:rPr>
                <a:t>In the task list, the first Task ID </a:t>
              </a:r>
              <a:r>
                <a:rPr lang="en-US" altLang="zh-CN" sz="1500" b="1">
                  <a:solidFill>
                    <a:srgbClr val="FF0000"/>
                  </a:solidFill>
                  <a:latin typeface="quote-cjk-patch"/>
                </a:rPr>
                <a:t>is</a:t>
              </a:r>
              <a:r>
                <a:rPr lang="zh-CN" altLang="zh-CN" sz="1500" b="1" i="0">
                  <a:solidFill>
                    <a:srgbClr val="FF0000"/>
                  </a:solidFill>
                  <a:effectLst/>
                  <a:latin typeface="quote-cjk-patch"/>
                </a:rPr>
                <a:t> the </a:t>
              </a:r>
              <a:r>
                <a:rPr lang="en-US" altLang="zh-CN" sz="1500" b="1">
                  <a:solidFill>
                    <a:srgbClr val="FF0000"/>
                  </a:solidFill>
                  <a:latin typeface="quote-cjk-patch"/>
                </a:rPr>
                <a:t>Reverse Invoice </a:t>
              </a:r>
              <a:r>
                <a:rPr lang="zh-CN" altLang="zh-CN" sz="1500" b="1" i="0">
                  <a:solidFill>
                    <a:srgbClr val="FF0000"/>
                  </a:solidFill>
                  <a:effectLst/>
                  <a:latin typeface="quote-cjk-patch"/>
                </a:rPr>
                <a:t>you just created</a:t>
              </a:r>
              <a:r>
                <a:rPr lang="en-US" altLang="zh-CN" sz="1500" b="1" i="0">
                  <a:solidFill>
                    <a:srgbClr val="FF0000"/>
                  </a:solidFill>
                  <a:effectLst/>
                  <a:latin typeface="quote-cjk-patch"/>
                </a:rPr>
                <a:t>.</a:t>
              </a:r>
              <a:endParaRPr lang="zh-CN" altLang="en-US" sz="1500">
                <a:solidFill>
                  <a:srgbClr val="FF0000"/>
                </a:solidFill>
              </a:endParaRPr>
            </a:p>
          </p:txBody>
        </p:sp>
      </p:grpSp>
      <p:grpSp>
        <p:nvGrpSpPr>
          <p:cNvPr id="8" name="组合 7">
            <a:extLst>
              <a:ext uri="{FF2B5EF4-FFF2-40B4-BE49-F238E27FC236}">
                <a16:creationId xmlns:a16="http://schemas.microsoft.com/office/drawing/2014/main" id="{CF096E41-D960-5C10-59BC-DD6FC2952828}"/>
              </a:ext>
            </a:extLst>
          </p:cNvPr>
          <p:cNvGrpSpPr/>
          <p:nvPr/>
        </p:nvGrpSpPr>
        <p:grpSpPr>
          <a:xfrm>
            <a:off x="8760541" y="2382144"/>
            <a:ext cx="3350921" cy="985192"/>
            <a:chOff x="6715083" y="2176078"/>
            <a:chExt cx="3852716" cy="985192"/>
          </a:xfrm>
        </p:grpSpPr>
        <p:grpSp>
          <p:nvGrpSpPr>
            <p:cNvPr id="42" name="组合 41">
              <a:extLst>
                <a:ext uri="{FF2B5EF4-FFF2-40B4-BE49-F238E27FC236}">
                  <a16:creationId xmlns:a16="http://schemas.microsoft.com/office/drawing/2014/main" id="{1380C0A5-A3C5-B9DB-CC31-D203A1414E3E}"/>
                </a:ext>
              </a:extLst>
            </p:cNvPr>
            <p:cNvGrpSpPr/>
            <p:nvPr/>
          </p:nvGrpSpPr>
          <p:grpSpPr>
            <a:xfrm>
              <a:off x="6715083" y="2176078"/>
              <a:ext cx="3793172" cy="985192"/>
              <a:chOff x="7754810" y="1535987"/>
              <a:chExt cx="3793172" cy="985192"/>
            </a:xfrm>
          </p:grpSpPr>
          <p:sp>
            <p:nvSpPr>
              <p:cNvPr id="43" name="Shape 21">
                <a:extLst>
                  <a:ext uri="{FF2B5EF4-FFF2-40B4-BE49-F238E27FC236}">
                    <a16:creationId xmlns:a16="http://schemas.microsoft.com/office/drawing/2014/main" id="{A4B0A912-0C43-A36D-10EF-30D0A1501A71}"/>
                  </a:ext>
                </a:extLst>
              </p:cNvPr>
              <p:cNvSpPr/>
              <p:nvPr/>
            </p:nvSpPr>
            <p:spPr>
              <a:xfrm>
                <a:off x="7754810" y="153598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44" name="Text 22">
                <a:extLst>
                  <a:ext uri="{FF2B5EF4-FFF2-40B4-BE49-F238E27FC236}">
                    <a16:creationId xmlns:a16="http://schemas.microsoft.com/office/drawing/2014/main" id="{93814B30-1161-73E9-DC41-F38EE34F6C3B}"/>
                  </a:ext>
                </a:extLst>
              </p:cNvPr>
              <p:cNvSpPr txBox="1"/>
              <p:nvPr/>
            </p:nvSpPr>
            <p:spPr>
              <a:xfrm>
                <a:off x="7754810" y="1535987"/>
                <a:ext cx="256032" cy="256032"/>
              </a:xfrm>
              <a:prstGeom prst="rect">
                <a:avLst/>
              </a:prstGeom>
              <a:noFill/>
              <a:ln/>
            </p:spPr>
            <p:txBody>
              <a:bodyPr wrap="square" lIns="0" tIns="0" rIns="0" bIns="0" rtlCol="0" anchor="ctr"/>
              <a:lstStyle/>
              <a:p>
                <a:pPr marL="0" indent="0" algn="ctr">
                  <a:buNone/>
                </a:pPr>
                <a:r>
                  <a:rPr lang="en-US" sz="900">
                    <a:solidFill>
                      <a:schemeClr val="bg1"/>
                    </a:solidFill>
                  </a:rPr>
                  <a:t>5</a:t>
                </a:r>
              </a:p>
            </p:txBody>
          </p:sp>
          <p:sp>
            <p:nvSpPr>
              <p:cNvPr id="46" name="Shape 27">
                <a:extLst>
                  <a:ext uri="{FF2B5EF4-FFF2-40B4-BE49-F238E27FC236}">
                    <a16:creationId xmlns:a16="http://schemas.microsoft.com/office/drawing/2014/main" id="{AF6580E5-1AC5-0041-80C6-BAE58A81E116}"/>
                  </a:ext>
                </a:extLst>
              </p:cNvPr>
              <p:cNvSpPr/>
              <p:nvPr/>
            </p:nvSpPr>
            <p:spPr>
              <a:xfrm>
                <a:off x="7754810" y="226514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47" name="Text 28">
                <a:extLst>
                  <a:ext uri="{FF2B5EF4-FFF2-40B4-BE49-F238E27FC236}">
                    <a16:creationId xmlns:a16="http://schemas.microsoft.com/office/drawing/2014/main" id="{820F81FD-CF9B-3A77-D108-06C08437DCAB}"/>
                  </a:ext>
                </a:extLst>
              </p:cNvPr>
              <p:cNvSpPr txBox="1"/>
              <p:nvPr/>
            </p:nvSpPr>
            <p:spPr>
              <a:xfrm>
                <a:off x="7754810" y="2265147"/>
                <a:ext cx="256032" cy="256032"/>
              </a:xfrm>
              <a:prstGeom prst="rect">
                <a:avLst/>
              </a:prstGeom>
              <a:noFill/>
              <a:ln/>
            </p:spPr>
            <p:txBody>
              <a:bodyPr wrap="square" lIns="0" tIns="0" rIns="0" bIns="0" rtlCol="0" anchor="ctr"/>
              <a:lstStyle/>
              <a:p>
                <a:pPr marL="0" indent="0" algn="ctr">
                  <a:buNone/>
                </a:pPr>
                <a:r>
                  <a:rPr lang="en-US" sz="900">
                    <a:solidFill>
                      <a:schemeClr val="bg1"/>
                    </a:solidFill>
                  </a:rPr>
                  <a:t>7</a:t>
                </a:r>
              </a:p>
            </p:txBody>
          </p:sp>
          <p:sp>
            <p:nvSpPr>
              <p:cNvPr id="48" name="Text 23">
                <a:extLst>
                  <a:ext uri="{FF2B5EF4-FFF2-40B4-BE49-F238E27FC236}">
                    <a16:creationId xmlns:a16="http://schemas.microsoft.com/office/drawing/2014/main" id="{5E16F53F-4308-46E6-8725-C6A9EDD08036}"/>
                  </a:ext>
                </a:extLst>
              </p:cNvPr>
              <p:cNvSpPr txBox="1"/>
              <p:nvPr/>
            </p:nvSpPr>
            <p:spPr>
              <a:xfrm>
                <a:off x="8116264" y="1889825"/>
                <a:ext cx="3395167" cy="256032"/>
              </a:xfrm>
              <a:prstGeom prst="rect">
                <a:avLst/>
              </a:prstGeom>
              <a:noFill/>
              <a:ln/>
            </p:spPr>
            <p:txBody>
              <a:bodyPr wrap="square" lIns="0" tIns="0" rIns="0" bIns="0" rtlCol="0" anchor="ctr"/>
              <a:lstStyle/>
              <a:p>
                <a:pPr marL="0" indent="0">
                  <a:lnSpc>
                    <a:spcPts val="1188"/>
                  </a:lnSpc>
                  <a:buNone/>
                </a:pPr>
                <a:r>
                  <a:rPr lang="en-US" sz="900"/>
                  <a:t>Go to the </a:t>
                </a:r>
                <a:r>
                  <a:rPr lang="en-US" altLang="zh-CN" sz="900"/>
                  <a:t>Task Request List Tab</a:t>
                </a:r>
                <a:endParaRPr lang="en-US" sz="900"/>
              </a:p>
            </p:txBody>
          </p:sp>
          <p:sp>
            <p:nvSpPr>
              <p:cNvPr id="49" name="Shape 27">
                <a:extLst>
                  <a:ext uri="{FF2B5EF4-FFF2-40B4-BE49-F238E27FC236}">
                    <a16:creationId xmlns:a16="http://schemas.microsoft.com/office/drawing/2014/main" id="{2F769356-172B-5DEB-2010-A106DDFC7702}"/>
                  </a:ext>
                </a:extLst>
              </p:cNvPr>
              <p:cNvSpPr/>
              <p:nvPr/>
            </p:nvSpPr>
            <p:spPr>
              <a:xfrm>
                <a:off x="7754810" y="1878986"/>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50" name="Text 28">
                <a:extLst>
                  <a:ext uri="{FF2B5EF4-FFF2-40B4-BE49-F238E27FC236}">
                    <a16:creationId xmlns:a16="http://schemas.microsoft.com/office/drawing/2014/main" id="{46570206-B7D0-8813-F80C-B7D5B0BF6A46}"/>
                  </a:ext>
                </a:extLst>
              </p:cNvPr>
              <p:cNvSpPr txBox="1"/>
              <p:nvPr/>
            </p:nvSpPr>
            <p:spPr>
              <a:xfrm>
                <a:off x="7754810" y="1878986"/>
                <a:ext cx="256032" cy="256032"/>
              </a:xfrm>
              <a:prstGeom prst="rect">
                <a:avLst/>
              </a:prstGeom>
              <a:noFill/>
              <a:ln/>
            </p:spPr>
            <p:txBody>
              <a:bodyPr wrap="square" lIns="0" tIns="0" rIns="0" bIns="0" rtlCol="0" anchor="ctr"/>
              <a:lstStyle/>
              <a:p>
                <a:pPr marL="0" indent="0" algn="ctr">
                  <a:buNone/>
                </a:pPr>
                <a:r>
                  <a:rPr lang="en-US" sz="900">
                    <a:solidFill>
                      <a:schemeClr val="bg1"/>
                    </a:solidFill>
                  </a:rPr>
                  <a:t>6</a:t>
                </a:r>
              </a:p>
            </p:txBody>
          </p:sp>
          <p:sp>
            <p:nvSpPr>
              <p:cNvPr id="51" name="Text 23">
                <a:extLst>
                  <a:ext uri="{FF2B5EF4-FFF2-40B4-BE49-F238E27FC236}">
                    <a16:creationId xmlns:a16="http://schemas.microsoft.com/office/drawing/2014/main" id="{523FEB49-2648-0AB2-33B1-907FD4B6D634}"/>
                  </a:ext>
                </a:extLst>
              </p:cNvPr>
              <p:cNvSpPr txBox="1"/>
              <p:nvPr/>
            </p:nvSpPr>
            <p:spPr>
              <a:xfrm>
                <a:off x="8152815" y="2238241"/>
                <a:ext cx="3395167" cy="256032"/>
              </a:xfrm>
              <a:prstGeom prst="rect">
                <a:avLst/>
              </a:prstGeom>
              <a:noFill/>
              <a:ln/>
            </p:spPr>
            <p:txBody>
              <a:bodyPr wrap="square" lIns="0" tIns="0" rIns="0" bIns="0" rtlCol="0" anchor="ctr"/>
              <a:lstStyle/>
              <a:p>
                <a:pPr>
                  <a:lnSpc>
                    <a:spcPts val="1188"/>
                  </a:lnSpc>
                </a:pPr>
                <a:r>
                  <a:rPr lang="zh-CN" altLang="zh-CN" sz="900"/>
                  <a:t>The first task ID is the one you just created. Click</a:t>
                </a:r>
                <a:r>
                  <a:rPr lang="en-US" altLang="zh-CN" sz="900"/>
                  <a:t> </a:t>
                </a:r>
                <a:r>
                  <a:rPr lang="zh-CN" altLang="zh-CN" sz="900"/>
                  <a:t>the task ID</a:t>
                </a:r>
                <a:endParaRPr lang="en-US" altLang="zh-CN" sz="900"/>
              </a:p>
            </p:txBody>
          </p:sp>
        </p:grpSp>
        <p:sp>
          <p:nvSpPr>
            <p:cNvPr id="53" name="Text 23">
              <a:extLst>
                <a:ext uri="{FF2B5EF4-FFF2-40B4-BE49-F238E27FC236}">
                  <a16:creationId xmlns:a16="http://schemas.microsoft.com/office/drawing/2014/main" id="{3BE7666E-B521-F880-E080-0882870C6E12}"/>
                </a:ext>
              </a:extLst>
            </p:cNvPr>
            <p:cNvSpPr txBox="1"/>
            <p:nvPr/>
          </p:nvSpPr>
          <p:spPr>
            <a:xfrm>
              <a:off x="7053545" y="2202305"/>
              <a:ext cx="3514254" cy="299194"/>
            </a:xfrm>
            <a:prstGeom prst="rect">
              <a:avLst/>
            </a:prstGeom>
            <a:noFill/>
            <a:ln/>
          </p:spPr>
          <p:txBody>
            <a:bodyPr wrap="square" lIns="0" tIns="0" rIns="0" bIns="0" rtlCol="0" anchor="ctr"/>
            <a:lstStyle/>
            <a:p>
              <a:pPr marL="0" indent="0">
                <a:lnSpc>
                  <a:spcPts val="1188"/>
                </a:lnSpc>
                <a:buNone/>
              </a:pPr>
              <a:r>
                <a:rPr lang="en-US" sz="900"/>
                <a:t>After Click the “Reverse’ button, and double confirm, if yes. Click the Confirm button.</a:t>
              </a:r>
            </a:p>
          </p:txBody>
        </p:sp>
      </p:grpSp>
      <p:sp>
        <p:nvSpPr>
          <p:cNvPr id="6" name="Title 10">
            <a:extLst>
              <a:ext uri="{FF2B5EF4-FFF2-40B4-BE49-F238E27FC236}">
                <a16:creationId xmlns:a16="http://schemas.microsoft.com/office/drawing/2014/main" id="{4F2A8872-0B04-E9A1-E099-198AA7343255}"/>
              </a:ext>
            </a:extLst>
          </p:cNvPr>
          <p:cNvSpPr txBox="1">
            <a:spLocks/>
          </p:cNvSpPr>
          <p:nvPr/>
        </p:nvSpPr>
        <p:spPr>
          <a:xfrm>
            <a:off x="330200" y="845243"/>
            <a:ext cx="11303000" cy="66635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invoice reverse is full CMR, and all items auto generate the BIT items and preview invoice. If the original invoice is central billing invoice, so the 3 invoice will be CMR, include AFE-NL11 invoice, NL11-JP Hitachi AR invoice, NL11-AFE AP Invoice.</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658121563"/>
      </p:ext>
    </p:extLst>
  </p:cSld>
  <p:clrMapOvr>
    <a:masterClrMapping/>
  </p:clrMapOvr>
  <p:transition spd="me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E243-F075-769B-1F2D-C9077131B978}"/>
            </a:ext>
          </a:extLst>
        </p:cNvPr>
        <p:cNvGrpSpPr/>
        <p:nvPr/>
      </p:nvGrpSpPr>
      <p:grpSpPr>
        <a:xfrm>
          <a:off x="0" y="0"/>
          <a:ext cx="0" cy="0"/>
          <a:chOff x="0" y="0"/>
          <a:chExt cx="0" cy="0"/>
        </a:xfrm>
      </p:grpSpPr>
      <p:pic>
        <p:nvPicPr>
          <p:cNvPr id="37" name="图片 36">
            <a:extLst>
              <a:ext uri="{FF2B5EF4-FFF2-40B4-BE49-F238E27FC236}">
                <a16:creationId xmlns:a16="http://schemas.microsoft.com/office/drawing/2014/main" id="{0BC1F9D2-07FD-F017-33F1-9B87EEDE7C84}"/>
              </a:ext>
            </a:extLst>
          </p:cNvPr>
          <p:cNvPicPr>
            <a:picLocks noChangeAspect="1"/>
          </p:cNvPicPr>
          <p:nvPr/>
        </p:nvPicPr>
        <p:blipFill>
          <a:blip r:embed="rId2"/>
          <a:stretch>
            <a:fillRect/>
          </a:stretch>
        </p:blipFill>
        <p:spPr>
          <a:xfrm>
            <a:off x="676100" y="1695995"/>
            <a:ext cx="4120539" cy="2124653"/>
          </a:xfrm>
          <a:prstGeom prst="rect">
            <a:avLst/>
          </a:prstGeom>
        </p:spPr>
      </p:pic>
      <p:sp>
        <p:nvSpPr>
          <p:cNvPr id="3" name="标题 2">
            <a:extLst>
              <a:ext uri="{FF2B5EF4-FFF2-40B4-BE49-F238E27FC236}">
                <a16:creationId xmlns:a16="http://schemas.microsoft.com/office/drawing/2014/main" id="{71DF6CC3-303C-5BE7-3269-E89C8208569A}"/>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Invoice Reverse</a:t>
            </a:r>
            <a:endParaRPr lang="zh-CN" altLang="en-US" sz="3400">
              <a:solidFill>
                <a:srgbClr val="000000"/>
              </a:solidFill>
              <a:latin typeface="Aptos Display" panose="020B0004020202020204" pitchFamily="34" charset="0"/>
            </a:endParaRPr>
          </a:p>
        </p:txBody>
      </p:sp>
      <p:pic>
        <p:nvPicPr>
          <p:cNvPr id="14" name="图片 13">
            <a:extLst>
              <a:ext uri="{FF2B5EF4-FFF2-40B4-BE49-F238E27FC236}">
                <a16:creationId xmlns:a16="http://schemas.microsoft.com/office/drawing/2014/main" id="{CDFDE863-E9E2-98F1-1A4F-44A4FCB81ADC}"/>
              </a:ext>
            </a:extLst>
          </p:cNvPr>
          <p:cNvPicPr>
            <a:picLocks noChangeAspect="1"/>
          </p:cNvPicPr>
          <p:nvPr/>
        </p:nvPicPr>
        <p:blipFill>
          <a:blip r:embed="rId3"/>
          <a:stretch>
            <a:fillRect/>
          </a:stretch>
        </p:blipFill>
        <p:spPr>
          <a:xfrm>
            <a:off x="320181" y="3884819"/>
            <a:ext cx="5992128" cy="1289446"/>
          </a:xfrm>
          <a:prstGeom prst="rect">
            <a:avLst/>
          </a:prstGeom>
        </p:spPr>
      </p:pic>
      <p:pic>
        <p:nvPicPr>
          <p:cNvPr id="16" name="图片 15">
            <a:extLst>
              <a:ext uri="{FF2B5EF4-FFF2-40B4-BE49-F238E27FC236}">
                <a16:creationId xmlns:a16="http://schemas.microsoft.com/office/drawing/2014/main" id="{CC28BB86-9E21-A821-2189-D25A887F0FB9}"/>
              </a:ext>
            </a:extLst>
          </p:cNvPr>
          <p:cNvPicPr>
            <a:picLocks noChangeAspect="1"/>
          </p:cNvPicPr>
          <p:nvPr/>
        </p:nvPicPr>
        <p:blipFill>
          <a:blip r:embed="rId4"/>
          <a:stretch>
            <a:fillRect/>
          </a:stretch>
        </p:blipFill>
        <p:spPr>
          <a:xfrm>
            <a:off x="320181" y="5304314"/>
            <a:ext cx="6809173" cy="1339736"/>
          </a:xfrm>
          <a:prstGeom prst="rect">
            <a:avLst/>
          </a:prstGeom>
        </p:spPr>
      </p:pic>
      <p:pic>
        <p:nvPicPr>
          <p:cNvPr id="18" name="图片 17">
            <a:extLst>
              <a:ext uri="{FF2B5EF4-FFF2-40B4-BE49-F238E27FC236}">
                <a16:creationId xmlns:a16="http://schemas.microsoft.com/office/drawing/2014/main" id="{8D076E2C-A9D4-DD93-270E-DFB8511916B0}"/>
              </a:ext>
            </a:extLst>
          </p:cNvPr>
          <p:cNvPicPr>
            <a:picLocks noChangeAspect="1"/>
          </p:cNvPicPr>
          <p:nvPr/>
        </p:nvPicPr>
        <p:blipFill>
          <a:blip r:embed="rId5"/>
          <a:stretch>
            <a:fillRect/>
          </a:stretch>
        </p:blipFill>
        <p:spPr>
          <a:xfrm>
            <a:off x="5667782" y="1673494"/>
            <a:ext cx="5820792" cy="2239641"/>
          </a:xfrm>
          <a:prstGeom prst="rect">
            <a:avLst/>
          </a:prstGeom>
        </p:spPr>
      </p:pic>
      <p:sp>
        <p:nvSpPr>
          <p:cNvPr id="20" name="Shape 5">
            <a:extLst>
              <a:ext uri="{FF2B5EF4-FFF2-40B4-BE49-F238E27FC236}">
                <a16:creationId xmlns:a16="http://schemas.microsoft.com/office/drawing/2014/main" id="{1A0AA120-88A2-ED5C-1A1D-15ECECCC4623}"/>
              </a:ext>
            </a:extLst>
          </p:cNvPr>
          <p:cNvSpPr/>
          <p:nvPr/>
        </p:nvSpPr>
        <p:spPr>
          <a:xfrm>
            <a:off x="3390470" y="2358998"/>
            <a:ext cx="334297" cy="230550"/>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8</a:t>
            </a:r>
            <a:endParaRPr lang="zh-CN" altLang="en-US" sz="1200" b="1">
              <a:solidFill>
                <a:srgbClr val="FFFFFF"/>
              </a:solidFill>
              <a:latin typeface="Aptos" panose="020B0004020202020204" pitchFamily="34" charset="0"/>
            </a:endParaRPr>
          </a:p>
        </p:txBody>
      </p:sp>
      <p:sp>
        <p:nvSpPr>
          <p:cNvPr id="26" name="Text 23">
            <a:extLst>
              <a:ext uri="{FF2B5EF4-FFF2-40B4-BE49-F238E27FC236}">
                <a16:creationId xmlns:a16="http://schemas.microsoft.com/office/drawing/2014/main" id="{A0D56BCA-9200-4821-9E25-B02FA5274C54}"/>
              </a:ext>
            </a:extLst>
          </p:cNvPr>
          <p:cNvSpPr txBox="1"/>
          <p:nvPr/>
        </p:nvSpPr>
        <p:spPr>
          <a:xfrm>
            <a:off x="7816462" y="4440376"/>
            <a:ext cx="3395167" cy="721564"/>
          </a:xfrm>
          <a:prstGeom prst="rect">
            <a:avLst/>
          </a:prstGeom>
          <a:noFill/>
          <a:ln/>
        </p:spPr>
        <p:txBody>
          <a:bodyPr wrap="square" lIns="50800" tIns="25400" rIns="50800" bIns="25400" rtlCol="0" anchor="ctr"/>
          <a:lstStyle/>
          <a:p>
            <a:pPr marL="0" indent="0">
              <a:lnSpc>
                <a:spcPts val="1188"/>
              </a:lnSpc>
              <a:buNone/>
            </a:pPr>
            <a:r>
              <a:rPr lang="en-US" altLang="zh-CN" sz="1000">
                <a:solidFill>
                  <a:srgbClr val="1B2434"/>
                </a:solidFill>
                <a:latin typeface="Aptos" panose="020B0004020202020204" pitchFamily="34" charset="0"/>
              </a:rPr>
              <a:t>Click the first task ID and check  every step status and other information. Like generate new BIT, update payment schedule status and new CMR preview invoice/Statement.</a:t>
            </a:r>
            <a:endParaRPr lang="en-US" sz="1000">
              <a:solidFill>
                <a:srgbClr val="1B2434"/>
              </a:solidFill>
              <a:latin typeface="Aptos" panose="020B0004020202020204" pitchFamily="34" charset="0"/>
            </a:endParaRPr>
          </a:p>
        </p:txBody>
      </p:sp>
      <p:sp>
        <p:nvSpPr>
          <p:cNvPr id="27" name="Shape 27">
            <a:extLst>
              <a:ext uri="{FF2B5EF4-FFF2-40B4-BE49-F238E27FC236}">
                <a16:creationId xmlns:a16="http://schemas.microsoft.com/office/drawing/2014/main" id="{DBC57A8B-80AB-358A-3D5B-4459D05B1190}"/>
              </a:ext>
            </a:extLst>
          </p:cNvPr>
          <p:cNvSpPr/>
          <p:nvPr/>
        </p:nvSpPr>
        <p:spPr>
          <a:xfrm>
            <a:off x="7455008" y="4695001"/>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28" name="Text 28">
            <a:extLst>
              <a:ext uri="{FF2B5EF4-FFF2-40B4-BE49-F238E27FC236}">
                <a16:creationId xmlns:a16="http://schemas.microsoft.com/office/drawing/2014/main" id="{061B41B7-8B6C-8467-72E1-B029B22AEEB4}"/>
              </a:ext>
            </a:extLst>
          </p:cNvPr>
          <p:cNvSpPr txBox="1"/>
          <p:nvPr/>
        </p:nvSpPr>
        <p:spPr>
          <a:xfrm>
            <a:off x="7455008" y="4695001"/>
            <a:ext cx="256032" cy="256032"/>
          </a:xfrm>
          <a:prstGeom prst="rect">
            <a:avLst/>
          </a:prstGeom>
          <a:solidFill>
            <a:srgbClr val="E2231A"/>
          </a:solidFill>
          <a:ln/>
        </p:spPr>
        <p:txBody>
          <a:bodyPr wrap="square" lIns="50800" tIns="25400" rIns="50800" bIns="25400" rtlCol="0" anchor="ctr"/>
          <a:lstStyle/>
          <a:p>
            <a:pPr marL="0" indent="0" algn="ctr">
              <a:buNone/>
            </a:pPr>
            <a:r>
              <a:rPr lang="en-US" sz="1200" b="1">
                <a:solidFill>
                  <a:srgbClr val="FFFFFF"/>
                </a:solidFill>
                <a:latin typeface="Aptos" panose="020B0004020202020204" pitchFamily="34" charset="0"/>
              </a:rPr>
              <a:t>8</a:t>
            </a:r>
          </a:p>
        </p:txBody>
      </p:sp>
      <p:sp>
        <p:nvSpPr>
          <p:cNvPr id="31" name="Shape 5">
            <a:extLst>
              <a:ext uri="{FF2B5EF4-FFF2-40B4-BE49-F238E27FC236}">
                <a16:creationId xmlns:a16="http://schemas.microsoft.com/office/drawing/2014/main" id="{8AF68E61-297D-955E-54DF-2254AE2953FF}"/>
              </a:ext>
            </a:extLst>
          </p:cNvPr>
          <p:cNvSpPr/>
          <p:nvPr/>
        </p:nvSpPr>
        <p:spPr>
          <a:xfrm>
            <a:off x="7455008" y="2827663"/>
            <a:ext cx="334297" cy="230550"/>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8</a:t>
            </a:r>
            <a:endParaRPr lang="zh-CN" altLang="en-US" sz="1200" b="1">
              <a:solidFill>
                <a:srgbClr val="FFFFFF"/>
              </a:solidFill>
              <a:latin typeface="Aptos" panose="020B0004020202020204" pitchFamily="34" charset="0"/>
            </a:endParaRPr>
          </a:p>
        </p:txBody>
      </p:sp>
      <p:sp>
        <p:nvSpPr>
          <p:cNvPr id="33" name="Shape 5">
            <a:extLst>
              <a:ext uri="{FF2B5EF4-FFF2-40B4-BE49-F238E27FC236}">
                <a16:creationId xmlns:a16="http://schemas.microsoft.com/office/drawing/2014/main" id="{F932DFAB-F2A0-A589-4CE4-41922312768E}"/>
              </a:ext>
            </a:extLst>
          </p:cNvPr>
          <p:cNvSpPr/>
          <p:nvPr/>
        </p:nvSpPr>
        <p:spPr>
          <a:xfrm>
            <a:off x="3699086" y="4069218"/>
            <a:ext cx="334297" cy="230550"/>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8</a:t>
            </a:r>
            <a:endParaRPr lang="zh-CN" altLang="en-US" sz="1200" b="1">
              <a:solidFill>
                <a:srgbClr val="FFFFFF"/>
              </a:solidFill>
              <a:latin typeface="Aptos" panose="020B0004020202020204" pitchFamily="34" charset="0"/>
            </a:endParaRPr>
          </a:p>
        </p:txBody>
      </p:sp>
      <p:sp>
        <p:nvSpPr>
          <p:cNvPr id="35" name="Shape 5">
            <a:extLst>
              <a:ext uri="{FF2B5EF4-FFF2-40B4-BE49-F238E27FC236}">
                <a16:creationId xmlns:a16="http://schemas.microsoft.com/office/drawing/2014/main" id="{3D45C299-6C9A-4E77-026A-3431C0BC182A}"/>
              </a:ext>
            </a:extLst>
          </p:cNvPr>
          <p:cNvSpPr/>
          <p:nvPr/>
        </p:nvSpPr>
        <p:spPr>
          <a:xfrm>
            <a:off x="3699085" y="5469814"/>
            <a:ext cx="334297" cy="230550"/>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8</a:t>
            </a:r>
            <a:endParaRPr lang="zh-CN" altLang="en-US" sz="1200" b="1">
              <a:solidFill>
                <a:srgbClr val="FFFFFF"/>
              </a:solidFill>
              <a:latin typeface="Aptos" panose="020B0004020202020204" pitchFamily="34" charset="0"/>
            </a:endParaRPr>
          </a:p>
        </p:txBody>
      </p:sp>
      <p:sp>
        <p:nvSpPr>
          <p:cNvPr id="5" name="Title 10">
            <a:extLst>
              <a:ext uri="{FF2B5EF4-FFF2-40B4-BE49-F238E27FC236}">
                <a16:creationId xmlns:a16="http://schemas.microsoft.com/office/drawing/2014/main" id="{4EF5E552-24C3-5ECD-6F25-5CE712708FE4}"/>
              </a:ext>
            </a:extLst>
          </p:cNvPr>
          <p:cNvSpPr txBox="1">
            <a:spLocks/>
          </p:cNvSpPr>
          <p:nvPr/>
        </p:nvSpPr>
        <p:spPr>
          <a:xfrm>
            <a:off x="330200" y="845243"/>
            <a:ext cx="11303000" cy="66635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invoice reverse is full CMR, and all items auto generate the BIT items and preview invoice. If the original invoice is central billing invoice, so the 3 invoice will be CMR, include AFE-NL11 invoice, NL11-JP Hitachi AR invoice, NL11-AFE AP Invoice.</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2071175747"/>
      </p:ext>
    </p:extLst>
  </p:cSld>
  <p:clrMapOvr>
    <a:masterClrMapping/>
  </p:clrMapOvr>
  <p:transition spd="me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6DFBA-E154-FACE-3057-6CB417E630A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C9C675D-655B-9263-B2C1-DB4517630EFD}"/>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Invoice Reverse</a:t>
            </a:r>
            <a:endParaRPr lang="zh-CN" altLang="en-US" sz="3400">
              <a:solidFill>
                <a:srgbClr val="000000"/>
              </a:solidFill>
              <a:latin typeface="Aptos Display" panose="020B0004020202020204" pitchFamily="34" charset="0"/>
            </a:endParaRPr>
          </a:p>
        </p:txBody>
      </p:sp>
      <p:graphicFrame>
        <p:nvGraphicFramePr>
          <p:cNvPr id="2" name="表格 1">
            <a:extLst>
              <a:ext uri="{FF2B5EF4-FFF2-40B4-BE49-F238E27FC236}">
                <a16:creationId xmlns:a16="http://schemas.microsoft.com/office/drawing/2014/main" id="{A5EC952B-DABE-950B-FE79-31B700FEFEAD}"/>
              </a:ext>
            </a:extLst>
          </p:cNvPr>
          <p:cNvGraphicFramePr>
            <a:graphicFrameLocks noGrp="1"/>
          </p:cNvGraphicFramePr>
          <p:nvPr/>
        </p:nvGraphicFramePr>
        <p:xfrm>
          <a:off x="1648541" y="1681316"/>
          <a:ext cx="5418666" cy="466659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939513840"/>
                    </a:ext>
                  </a:extLst>
                </a:gridCol>
                <a:gridCol w="2709333">
                  <a:extLst>
                    <a:ext uri="{9D8B030D-6E8A-4147-A177-3AD203B41FA5}">
                      <a16:colId xmlns:a16="http://schemas.microsoft.com/office/drawing/2014/main" val="2178516554"/>
                    </a:ext>
                  </a:extLst>
                </a:gridCol>
              </a:tblGrid>
              <a:tr h="352890">
                <a:tc>
                  <a:txBody>
                    <a:bodyPr/>
                    <a:lstStyle/>
                    <a:p>
                      <a:pPr algn="ctr"/>
                      <a:r>
                        <a:rPr lang="en-US" altLang="zh-CN" b="1">
                          <a:solidFill>
                            <a:srgbClr val="1B2434"/>
                          </a:solidFill>
                          <a:latin typeface="Aptos" panose="020B0004020202020204" pitchFamily="34" charset="0"/>
                        </a:rPr>
                        <a:t>Invoice Type List</a:t>
                      </a:r>
                      <a:endParaRPr lang="zh-CN" altLang="en-US" b="1">
                        <a:solidFill>
                          <a:srgbClr val="1B2434"/>
                        </a:solidFill>
                        <a:latin typeface="Aptos" panose="020B0004020202020204" pitchFamily="34" charset="0"/>
                      </a:endParaRPr>
                    </a:p>
                  </a:txBody>
                  <a:tcPr>
                    <a:solidFill>
                      <a:srgbClr val="DAEDEF"/>
                    </a:solidFill>
                  </a:tcPr>
                </a:tc>
                <a:tc>
                  <a:txBody>
                    <a:bodyPr/>
                    <a:lstStyle/>
                    <a:p>
                      <a:r>
                        <a:rPr lang="en-US" altLang="zh-CN" b="1">
                          <a:solidFill>
                            <a:srgbClr val="1B2434"/>
                          </a:solidFill>
                          <a:latin typeface="Aptos" panose="020B0004020202020204" pitchFamily="34" charset="0"/>
                        </a:rPr>
                        <a:t>Description</a:t>
                      </a:r>
                      <a:endParaRPr lang="zh-CN" altLang="en-US" b="1">
                        <a:solidFill>
                          <a:srgbClr val="1B2434"/>
                        </a:solidFill>
                        <a:latin typeface="Aptos" panose="020B0004020202020204" pitchFamily="34" charset="0"/>
                      </a:endParaRPr>
                    </a:p>
                  </a:txBody>
                  <a:tcPr>
                    <a:solidFill>
                      <a:srgbClr val="DAEDEF"/>
                    </a:solidFill>
                  </a:tcPr>
                </a:tc>
                <a:extLst>
                  <a:ext uri="{0D108BD9-81ED-4DB2-BD59-A6C34878D82A}">
                    <a16:rowId xmlns:a16="http://schemas.microsoft.com/office/drawing/2014/main" val="3378963996"/>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T01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Customer Invoice</a:t>
                      </a:r>
                    </a:p>
                  </a:txBody>
                  <a:tcPr marL="7620" marR="7620" marT="7620" marB="0" anchor="ctr"/>
                </a:tc>
                <a:extLst>
                  <a:ext uri="{0D108BD9-81ED-4DB2-BD59-A6C34878D82A}">
                    <a16:rowId xmlns:a16="http://schemas.microsoft.com/office/drawing/2014/main" val="4126340181"/>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TC1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Customer Credit Invoice</a:t>
                      </a:r>
                    </a:p>
                  </a:txBody>
                  <a:tcPr marL="7620" marR="7620" marT="7620" marB="0" anchor="ctr"/>
                </a:tc>
                <a:extLst>
                  <a:ext uri="{0D108BD9-81ED-4DB2-BD59-A6C34878D82A}">
                    <a16:rowId xmlns:a16="http://schemas.microsoft.com/office/drawing/2014/main" val="1073490297"/>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TD1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Customer Debit Invoice</a:t>
                      </a:r>
                    </a:p>
                  </a:txBody>
                  <a:tcPr marL="7620" marR="7620" marT="7620" marB="0" anchor="ctr"/>
                </a:tc>
                <a:extLst>
                  <a:ext uri="{0D108BD9-81ED-4DB2-BD59-A6C34878D82A}">
                    <a16:rowId xmlns:a16="http://schemas.microsoft.com/office/drawing/2014/main" val="1725326480"/>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I01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ICO-AR Invoice</a:t>
                      </a:r>
                    </a:p>
                  </a:txBody>
                  <a:tcPr marL="7620" marR="7620" marT="7620" marB="0" anchor="ctr"/>
                </a:tc>
                <a:extLst>
                  <a:ext uri="{0D108BD9-81ED-4DB2-BD59-A6C34878D82A}">
                    <a16:rowId xmlns:a16="http://schemas.microsoft.com/office/drawing/2014/main" val="2124575141"/>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ICO-AR CMR</a:t>
                      </a:r>
                    </a:p>
                  </a:txBody>
                  <a:tcPr marL="7620" marR="7620" marT="7620" marB="0" anchor="ctr"/>
                </a:tc>
                <a:extLst>
                  <a:ext uri="{0D108BD9-81ED-4DB2-BD59-A6C34878D82A}">
                    <a16:rowId xmlns:a16="http://schemas.microsoft.com/office/drawing/2014/main" val="1128372554"/>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ID1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ICO-AR DMR</a:t>
                      </a:r>
                    </a:p>
                  </a:txBody>
                  <a:tcPr marL="7620" marR="7620" marT="7620" marB="0" anchor="ctr"/>
                </a:tc>
                <a:extLst>
                  <a:ext uri="{0D108BD9-81ED-4DB2-BD59-A6C34878D82A}">
                    <a16:rowId xmlns:a16="http://schemas.microsoft.com/office/drawing/2014/main" val="911724085"/>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P01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ICO-AP Invoice</a:t>
                      </a:r>
                    </a:p>
                  </a:txBody>
                  <a:tcPr marL="7620" marR="7620" marT="7620" marB="0" anchor="ctr"/>
                </a:tc>
                <a:extLst>
                  <a:ext uri="{0D108BD9-81ED-4DB2-BD59-A6C34878D82A}">
                    <a16:rowId xmlns:a16="http://schemas.microsoft.com/office/drawing/2014/main" val="1250913862"/>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PC1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ICO-AP CMR</a:t>
                      </a:r>
                    </a:p>
                  </a:txBody>
                  <a:tcPr marL="7620" marR="7620" marT="7620" marB="0" anchor="ctr"/>
                </a:tc>
                <a:extLst>
                  <a:ext uri="{0D108BD9-81ED-4DB2-BD59-A6C34878D82A}">
                    <a16:rowId xmlns:a16="http://schemas.microsoft.com/office/drawing/2014/main" val="2365438460"/>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PD1</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ICO-AP DMR</a:t>
                      </a:r>
                    </a:p>
                  </a:txBody>
                  <a:tcPr marL="7620" marR="7620" marT="7620" marB="0" anchor="ctr"/>
                </a:tc>
                <a:extLst>
                  <a:ext uri="{0D108BD9-81ED-4DB2-BD59-A6C34878D82A}">
                    <a16:rowId xmlns:a16="http://schemas.microsoft.com/office/drawing/2014/main" val="3912913278"/>
                  </a:ext>
                </a:extLst>
              </a:tr>
              <a:tr h="286722">
                <a:tc>
                  <a:txBody>
                    <a:bodyPr/>
                    <a:lstStyle/>
                    <a:p>
                      <a:pPr algn="ctr"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P02</a:t>
                      </a:r>
                    </a:p>
                  </a:txBody>
                  <a:tcPr marL="7620" marR="7620" marT="7620" marB="0" anchor="ctr"/>
                </a:tc>
                <a:tc>
                  <a:txBody>
                    <a:bodyPr/>
                    <a:lstStyle/>
                    <a:p>
                      <a:pPr algn="l" fontAlgn="ctr">
                        <a:buNone/>
                      </a:pPr>
                      <a:r>
                        <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Central Billing AP Invoice </a:t>
                      </a:r>
                    </a:p>
                  </a:txBody>
                  <a:tcPr marL="7620" marR="7620" marT="7620" marB="0" anchor="ctr"/>
                </a:tc>
                <a:extLst>
                  <a:ext uri="{0D108BD9-81ED-4DB2-BD59-A6C34878D82A}">
                    <a16:rowId xmlns:a16="http://schemas.microsoft.com/office/drawing/2014/main" val="2625460086"/>
                  </a:ext>
                </a:extLst>
              </a:tr>
              <a:tr h="286722">
                <a:tc>
                  <a:txBody>
                    <a:bodyPr/>
                    <a:lstStyle/>
                    <a:p>
                      <a:pPr algn="ctr" fontAlgn="ctr">
                        <a:buNone/>
                      </a:pPr>
                      <a:r>
                        <a:rPr lang="zh-CN" altLang="zh-CN" sz="1500" b="1" i="0" kern="1200">
                          <a:solidFill>
                            <a:schemeClr val="dk1"/>
                          </a:solidFill>
                          <a:effectLst/>
                          <a:latin typeface="+mn-lt"/>
                          <a:ea typeface="+mn-ea"/>
                          <a:cs typeface="+mn-cs"/>
                        </a:rPr>
                        <a:t>P</a:t>
                      </a:r>
                      <a:r>
                        <a:rPr lang="en-US" altLang="zh-CN" sz="1500" b="1" i="0" kern="1200">
                          <a:solidFill>
                            <a:schemeClr val="dk1"/>
                          </a:solidFill>
                          <a:effectLst/>
                          <a:latin typeface="+mn-lt"/>
                          <a:ea typeface="+mn-ea"/>
                          <a:cs typeface="+mn-cs"/>
                        </a:rPr>
                        <a:t>C</a:t>
                      </a:r>
                      <a:r>
                        <a:rPr lang="zh-CN" altLang="zh-CN" sz="1500" b="1" i="0" kern="1200">
                          <a:solidFill>
                            <a:schemeClr val="dk1"/>
                          </a:solidFill>
                          <a:effectLst/>
                          <a:latin typeface="+mn-lt"/>
                          <a:ea typeface="+mn-ea"/>
                          <a:cs typeface="+mn-cs"/>
                        </a:rPr>
                        <a:t>2</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tc>
                  <a:txBody>
                    <a:bodyPr/>
                    <a:lstStyle/>
                    <a:p>
                      <a:pPr algn="l" fontAlgn="ctr">
                        <a:buNone/>
                      </a:pPr>
                      <a:r>
                        <a:rPr lang="zh-CN" altLang="zh-CN" sz="1500" b="1" i="0" kern="1200">
                          <a:solidFill>
                            <a:schemeClr val="dk1"/>
                          </a:solidFill>
                          <a:effectLst/>
                          <a:latin typeface="+mn-lt"/>
                          <a:ea typeface="+mn-ea"/>
                          <a:cs typeface="+mn-cs"/>
                        </a:rPr>
                        <a:t>Central Billing AP </a:t>
                      </a:r>
                      <a:r>
                        <a:rPr lang="en-US" altLang="zh-CN" sz="1500" b="1" i="0" kern="1200">
                          <a:solidFill>
                            <a:schemeClr val="dk1"/>
                          </a:solidFill>
                          <a:effectLst/>
                          <a:latin typeface="+mn-lt"/>
                          <a:ea typeface="+mn-ea"/>
                          <a:cs typeface="+mn-cs"/>
                        </a:rPr>
                        <a:t>CMR</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extLst>
                  <a:ext uri="{0D108BD9-81ED-4DB2-BD59-A6C34878D82A}">
                    <a16:rowId xmlns:a16="http://schemas.microsoft.com/office/drawing/2014/main" val="1899343183"/>
                  </a:ext>
                </a:extLst>
              </a:tr>
              <a:tr h="286722">
                <a:tc>
                  <a:txBody>
                    <a:bodyPr/>
                    <a:lstStyle/>
                    <a:p>
                      <a:pPr algn="ctr" fontAlgn="ctr">
                        <a:buNone/>
                      </a:pPr>
                      <a:r>
                        <a:rPr lang="zh-CN" altLang="zh-CN" sz="1500" b="1" i="0" kern="1200">
                          <a:solidFill>
                            <a:schemeClr val="dk1"/>
                          </a:solidFill>
                          <a:effectLst/>
                          <a:latin typeface="+mn-lt"/>
                          <a:ea typeface="+mn-ea"/>
                          <a:cs typeface="+mn-cs"/>
                        </a:rPr>
                        <a:t>P</a:t>
                      </a:r>
                      <a:r>
                        <a:rPr lang="en-US" altLang="zh-CN" sz="1500" b="1" i="0" kern="1200">
                          <a:solidFill>
                            <a:schemeClr val="dk1"/>
                          </a:solidFill>
                          <a:effectLst/>
                          <a:latin typeface="+mn-lt"/>
                          <a:ea typeface="+mn-ea"/>
                          <a:cs typeface="+mn-cs"/>
                        </a:rPr>
                        <a:t>D</a:t>
                      </a:r>
                      <a:r>
                        <a:rPr lang="zh-CN" altLang="zh-CN" sz="1500" b="1" i="0" kern="1200">
                          <a:solidFill>
                            <a:schemeClr val="dk1"/>
                          </a:solidFill>
                          <a:effectLst/>
                          <a:latin typeface="+mn-lt"/>
                          <a:ea typeface="+mn-ea"/>
                          <a:cs typeface="+mn-cs"/>
                        </a:rPr>
                        <a:t>2</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tc>
                  <a:txBody>
                    <a:bodyPr/>
                    <a:lstStyle/>
                    <a:p>
                      <a:pPr algn="l" fontAlgn="ctr">
                        <a:buNone/>
                      </a:pPr>
                      <a:r>
                        <a:rPr lang="zh-CN" altLang="zh-CN" sz="1500" b="1" i="0" kern="1200">
                          <a:solidFill>
                            <a:schemeClr val="dk1"/>
                          </a:solidFill>
                          <a:effectLst/>
                          <a:latin typeface="+mn-lt"/>
                          <a:ea typeface="+mn-ea"/>
                          <a:cs typeface="+mn-cs"/>
                        </a:rPr>
                        <a:t>Central Billing AP </a:t>
                      </a:r>
                      <a:r>
                        <a:rPr lang="en-US" altLang="zh-CN" sz="1500" b="1" i="0" kern="1200">
                          <a:solidFill>
                            <a:schemeClr val="dk1"/>
                          </a:solidFill>
                          <a:effectLst/>
                          <a:latin typeface="+mn-lt"/>
                          <a:ea typeface="+mn-ea"/>
                          <a:cs typeface="+mn-cs"/>
                        </a:rPr>
                        <a:t>D</a:t>
                      </a:r>
                      <a:r>
                        <a:rPr lang="zh-CN" altLang="zh-CN" sz="1500" b="1" i="0" kern="1200">
                          <a:solidFill>
                            <a:schemeClr val="dk1"/>
                          </a:solidFill>
                          <a:effectLst/>
                          <a:latin typeface="+mn-lt"/>
                          <a:ea typeface="+mn-ea"/>
                          <a:cs typeface="+mn-cs"/>
                        </a:rPr>
                        <a:t>MR</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extLst>
                  <a:ext uri="{0D108BD9-81ED-4DB2-BD59-A6C34878D82A}">
                    <a16:rowId xmlns:a16="http://schemas.microsoft.com/office/drawing/2014/main" val="833036557"/>
                  </a:ext>
                </a:extLst>
              </a:tr>
              <a:tr h="286722">
                <a:tc>
                  <a:txBody>
                    <a:bodyPr/>
                    <a:lstStyle/>
                    <a:p>
                      <a:pPr algn="ctr" fontAlgn="ctr">
                        <a:buNone/>
                      </a:pPr>
                      <a:r>
                        <a:rPr lang="zh-CN" altLang="zh-CN" sz="1500" b="1" i="0" kern="1200">
                          <a:solidFill>
                            <a:schemeClr val="dk1"/>
                          </a:solidFill>
                          <a:effectLst/>
                          <a:latin typeface="+mn-lt"/>
                          <a:ea typeface="+mn-ea"/>
                          <a:cs typeface="+mn-cs"/>
                        </a:rPr>
                        <a:t>T02</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tc>
                  <a:txBody>
                    <a:bodyPr/>
                    <a:lstStyle/>
                    <a:p>
                      <a:pPr algn="l" fontAlgn="ctr">
                        <a:buNone/>
                      </a:pPr>
                      <a:r>
                        <a:rPr lang="en-US" altLang="zh-CN" sz="1500" b="1" i="0" kern="1200">
                          <a:solidFill>
                            <a:schemeClr val="dk1"/>
                          </a:solidFill>
                          <a:effectLst/>
                          <a:latin typeface="+mn-lt"/>
                          <a:ea typeface="+mn-ea"/>
                          <a:cs typeface="+mn-cs"/>
                        </a:rPr>
                        <a:t>Upfront Tax </a:t>
                      </a:r>
                      <a:r>
                        <a:rPr lang="zh-CN" altLang="zh-CN" sz="1500" b="1" i="0" kern="1200">
                          <a:solidFill>
                            <a:schemeClr val="dk1"/>
                          </a:solidFill>
                          <a:effectLst/>
                          <a:latin typeface="+mn-lt"/>
                          <a:ea typeface="+mn-ea"/>
                          <a:cs typeface="+mn-cs"/>
                        </a:rPr>
                        <a:t>Invoice</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extLst>
                  <a:ext uri="{0D108BD9-81ED-4DB2-BD59-A6C34878D82A}">
                    <a16:rowId xmlns:a16="http://schemas.microsoft.com/office/drawing/2014/main" val="1023716997"/>
                  </a:ext>
                </a:extLst>
              </a:tr>
              <a:tr h="286722">
                <a:tc>
                  <a:txBody>
                    <a:bodyPr/>
                    <a:lstStyle/>
                    <a:p>
                      <a:pPr algn="ctr" fontAlgn="ctr">
                        <a:buNone/>
                      </a:pPr>
                      <a:r>
                        <a:rPr lang="en-US" alt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TC2</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500" b="1" i="0" kern="1200">
                          <a:solidFill>
                            <a:schemeClr val="dk1"/>
                          </a:solidFill>
                          <a:effectLst/>
                          <a:latin typeface="+mn-lt"/>
                          <a:ea typeface="+mn-ea"/>
                          <a:cs typeface="+mn-cs"/>
                        </a:rPr>
                        <a:t>Upfront Tax CMR  </a:t>
                      </a:r>
                      <a:r>
                        <a:rPr lang="zh-CN" altLang="zh-CN" sz="1500" b="1" i="0" kern="1200">
                          <a:solidFill>
                            <a:schemeClr val="dk1"/>
                          </a:solidFill>
                          <a:effectLst/>
                          <a:latin typeface="+mn-lt"/>
                          <a:ea typeface="+mn-ea"/>
                          <a:cs typeface="+mn-cs"/>
                        </a:rPr>
                        <a:t>Invoice</a:t>
                      </a:r>
                      <a:endParaRPr lang="zh-CN" alt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extLst>
                  <a:ext uri="{0D108BD9-81ED-4DB2-BD59-A6C34878D82A}">
                    <a16:rowId xmlns:a16="http://schemas.microsoft.com/office/drawing/2014/main" val="7500973"/>
                  </a:ext>
                </a:extLst>
              </a:tr>
              <a:tr h="286722">
                <a:tc>
                  <a:txBody>
                    <a:bodyPr/>
                    <a:lstStyle/>
                    <a:p>
                      <a:pPr algn="ctr" fontAlgn="ctr">
                        <a:buNone/>
                      </a:pPr>
                      <a:r>
                        <a:rPr lang="en-US" alt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rPr>
                        <a:t>TD2</a:t>
                      </a:r>
                      <a:endParaRPr 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500" b="1" i="0" kern="1200">
                          <a:solidFill>
                            <a:schemeClr val="dk1"/>
                          </a:solidFill>
                          <a:effectLst/>
                          <a:latin typeface="+mn-lt"/>
                          <a:ea typeface="+mn-ea"/>
                          <a:cs typeface="+mn-cs"/>
                        </a:rPr>
                        <a:t>Upfront Tax DMR  </a:t>
                      </a:r>
                      <a:r>
                        <a:rPr lang="zh-CN" altLang="zh-CN" sz="1500" b="1" i="0" kern="1200">
                          <a:solidFill>
                            <a:schemeClr val="dk1"/>
                          </a:solidFill>
                          <a:effectLst/>
                          <a:latin typeface="+mn-lt"/>
                          <a:ea typeface="+mn-ea"/>
                          <a:cs typeface="+mn-cs"/>
                        </a:rPr>
                        <a:t>Invoice</a:t>
                      </a:r>
                      <a:endParaRPr lang="zh-CN" altLang="zh-CN" sz="1500" b="1" i="0" u="none" strike="noStrike">
                        <a:solidFill>
                          <a:srgbClr val="131720"/>
                        </a:solidFill>
                        <a:effectLst/>
                        <a:latin typeface="Calibri" panose="020F0502020204030204" pitchFamily="34" charset="0"/>
                        <a:ea typeface="等线" panose="02010600030101010101" pitchFamily="2" charset="-122"/>
                        <a:cs typeface="Calibri" panose="020F0502020204030204" pitchFamily="34" charset="0"/>
                      </a:endParaRPr>
                    </a:p>
                  </a:txBody>
                  <a:tcPr marL="7620" marR="7620" marT="7620" marB="0" anchor="ctr"/>
                </a:tc>
                <a:extLst>
                  <a:ext uri="{0D108BD9-81ED-4DB2-BD59-A6C34878D82A}">
                    <a16:rowId xmlns:a16="http://schemas.microsoft.com/office/drawing/2014/main" val="452102266"/>
                  </a:ext>
                </a:extLst>
              </a:tr>
            </a:tbl>
          </a:graphicData>
        </a:graphic>
      </p:graphicFrame>
      <p:sp>
        <p:nvSpPr>
          <p:cNvPr id="6" name="Title 10">
            <a:extLst>
              <a:ext uri="{FF2B5EF4-FFF2-40B4-BE49-F238E27FC236}">
                <a16:creationId xmlns:a16="http://schemas.microsoft.com/office/drawing/2014/main" id="{243B0BEF-4571-873F-2106-9EC7A048AE42}"/>
              </a:ext>
            </a:extLst>
          </p:cNvPr>
          <p:cNvSpPr txBox="1">
            <a:spLocks/>
          </p:cNvSpPr>
          <p:nvPr/>
        </p:nvSpPr>
        <p:spPr>
          <a:xfrm>
            <a:off x="330200" y="845243"/>
            <a:ext cx="11303000" cy="66635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invoice reverse is full CMR, and all items auto generate the BIT items and preview invoice. If the original invoice is central billing invoice, so the 3 invoice will be CMR, include AFE-NL11 invoice, NL11-JP Hitachi AR invoice, NL11-AFE AP Invoice.</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2479879285"/>
      </p:ext>
    </p:extLst>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03321-B09B-6F7D-EF83-759E8B0FEE0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461EFE1-1BA7-0DAE-7F69-8E8792FECD2A}"/>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Invoice Reverse</a:t>
            </a:r>
            <a:endParaRPr lang="zh-CN" altLang="en-US" sz="3400">
              <a:solidFill>
                <a:srgbClr val="000000"/>
              </a:solidFill>
              <a:latin typeface="Aptos Display" panose="020B0004020202020204" pitchFamily="34" charset="0"/>
            </a:endParaRPr>
          </a:p>
        </p:txBody>
      </p:sp>
      <p:grpSp>
        <p:nvGrpSpPr>
          <p:cNvPr id="15" name="组合 14">
            <a:extLst>
              <a:ext uri="{FF2B5EF4-FFF2-40B4-BE49-F238E27FC236}">
                <a16:creationId xmlns:a16="http://schemas.microsoft.com/office/drawing/2014/main" id="{E074813E-900A-5CFF-82C7-283D368BE3A8}"/>
              </a:ext>
            </a:extLst>
          </p:cNvPr>
          <p:cNvGrpSpPr/>
          <p:nvPr/>
        </p:nvGrpSpPr>
        <p:grpSpPr>
          <a:xfrm>
            <a:off x="340300" y="1623541"/>
            <a:ext cx="10826720" cy="5025867"/>
            <a:chOff x="340300" y="1377738"/>
            <a:chExt cx="10826720" cy="5025867"/>
          </a:xfrm>
        </p:grpSpPr>
        <p:pic>
          <p:nvPicPr>
            <p:cNvPr id="14" name="图片 13">
              <a:extLst>
                <a:ext uri="{FF2B5EF4-FFF2-40B4-BE49-F238E27FC236}">
                  <a16:creationId xmlns:a16="http://schemas.microsoft.com/office/drawing/2014/main" id="{129BF976-2758-29FB-620E-EC1767AF1BA0}"/>
                </a:ext>
              </a:extLst>
            </p:cNvPr>
            <p:cNvPicPr>
              <a:picLocks noChangeAspect="1"/>
            </p:cNvPicPr>
            <p:nvPr/>
          </p:nvPicPr>
          <p:blipFill>
            <a:blip r:embed="rId2"/>
            <a:stretch>
              <a:fillRect/>
            </a:stretch>
          </p:blipFill>
          <p:spPr>
            <a:xfrm>
              <a:off x="340300" y="3721645"/>
              <a:ext cx="10826720" cy="2681960"/>
            </a:xfrm>
            <a:prstGeom prst="rect">
              <a:avLst/>
            </a:prstGeom>
          </p:spPr>
        </p:pic>
        <p:pic>
          <p:nvPicPr>
            <p:cNvPr id="5" name="图片 4">
              <a:extLst>
                <a:ext uri="{FF2B5EF4-FFF2-40B4-BE49-F238E27FC236}">
                  <a16:creationId xmlns:a16="http://schemas.microsoft.com/office/drawing/2014/main" id="{F53BA1F1-079D-8F2A-497D-E07605CAB362}"/>
                </a:ext>
              </a:extLst>
            </p:cNvPr>
            <p:cNvPicPr>
              <a:picLocks noChangeAspect="1"/>
            </p:cNvPicPr>
            <p:nvPr/>
          </p:nvPicPr>
          <p:blipFill>
            <a:blip r:embed="rId3"/>
            <a:stretch>
              <a:fillRect/>
            </a:stretch>
          </p:blipFill>
          <p:spPr>
            <a:xfrm>
              <a:off x="1656276" y="1377738"/>
              <a:ext cx="8194769" cy="2112714"/>
            </a:xfrm>
            <a:prstGeom prst="rect">
              <a:avLst/>
            </a:prstGeom>
          </p:spPr>
        </p:pic>
        <p:sp>
          <p:nvSpPr>
            <p:cNvPr id="10" name="文本框 9">
              <a:extLst>
                <a:ext uri="{FF2B5EF4-FFF2-40B4-BE49-F238E27FC236}">
                  <a16:creationId xmlns:a16="http://schemas.microsoft.com/office/drawing/2014/main" id="{F7D3C324-D504-6A25-217F-D2A055CD7254}"/>
                </a:ext>
              </a:extLst>
            </p:cNvPr>
            <p:cNvSpPr txBox="1"/>
            <p:nvPr/>
          </p:nvSpPr>
          <p:spPr>
            <a:xfrm>
              <a:off x="2600364" y="2983458"/>
              <a:ext cx="6794426" cy="323165"/>
            </a:xfrm>
            <a:prstGeom prst="rect">
              <a:avLst/>
            </a:prstGeom>
            <a:noFill/>
          </p:spPr>
          <p:txBody>
            <a:bodyPr wrap="square">
              <a:spAutoFit/>
            </a:bodyPr>
            <a:lstStyle/>
            <a:p>
              <a:r>
                <a:rPr lang="en-US" altLang="zh-CN" sz="1500" b="1">
                  <a:solidFill>
                    <a:srgbClr val="FF0000"/>
                  </a:solidFill>
                  <a:latin typeface="quote-cjk-patch"/>
                </a:rPr>
                <a:t>For the original invoice, the Reverse Flag is reversed</a:t>
              </a:r>
              <a:r>
                <a:rPr lang="en-US" altLang="zh-CN" sz="1500" b="1" i="0">
                  <a:solidFill>
                    <a:srgbClr val="FF0000"/>
                  </a:solidFill>
                  <a:effectLst/>
                  <a:latin typeface="quote-cjk-patch"/>
                </a:rPr>
                <a:t>. And can’t be reverse again.</a:t>
              </a:r>
              <a:endParaRPr lang="zh-CN" altLang="en-US" sz="1500">
                <a:solidFill>
                  <a:srgbClr val="FF0000"/>
                </a:solidFill>
              </a:endParaRPr>
            </a:p>
          </p:txBody>
        </p:sp>
        <p:sp>
          <p:nvSpPr>
            <p:cNvPr id="12" name="文本框 11">
              <a:extLst>
                <a:ext uri="{FF2B5EF4-FFF2-40B4-BE49-F238E27FC236}">
                  <a16:creationId xmlns:a16="http://schemas.microsoft.com/office/drawing/2014/main" id="{DC7F0BC7-52AC-83C1-91D8-6B8D6E934B05}"/>
                </a:ext>
              </a:extLst>
            </p:cNvPr>
            <p:cNvSpPr txBox="1"/>
            <p:nvPr/>
          </p:nvSpPr>
          <p:spPr>
            <a:xfrm>
              <a:off x="2789601" y="4311939"/>
              <a:ext cx="5095870" cy="553998"/>
            </a:xfrm>
            <a:prstGeom prst="rect">
              <a:avLst/>
            </a:prstGeom>
            <a:noFill/>
          </p:spPr>
          <p:txBody>
            <a:bodyPr wrap="square">
              <a:spAutoFit/>
            </a:bodyPr>
            <a:lstStyle/>
            <a:p>
              <a:r>
                <a:rPr lang="en-US" altLang="zh-CN" sz="1500" b="1" i="0">
                  <a:solidFill>
                    <a:srgbClr val="FF0000"/>
                  </a:solidFill>
                  <a:effectLst/>
                  <a:latin typeface="quote-cjk-patch"/>
                </a:rPr>
                <a:t>And for </a:t>
              </a:r>
              <a:r>
                <a:rPr lang="en-US" altLang="zh-CN" sz="1500" b="1">
                  <a:solidFill>
                    <a:srgbClr val="FF0000"/>
                  </a:solidFill>
                  <a:latin typeface="quote-cjk-patch"/>
                </a:rPr>
                <a:t>the payment schedule status is 6-reverse. You can Click “manual invoice” button to re-generate the new invoice</a:t>
              </a:r>
              <a:r>
                <a:rPr lang="en-US" altLang="zh-CN" sz="1500" b="1" i="0">
                  <a:solidFill>
                    <a:srgbClr val="FF0000"/>
                  </a:solidFill>
                  <a:effectLst/>
                  <a:latin typeface="quote-cjk-patch"/>
                </a:rPr>
                <a:t>.</a:t>
              </a:r>
              <a:endParaRPr lang="zh-CN" altLang="en-US" sz="1500">
                <a:solidFill>
                  <a:srgbClr val="FF0000"/>
                </a:solidFill>
              </a:endParaRPr>
            </a:p>
          </p:txBody>
        </p:sp>
      </p:grpSp>
      <p:sp>
        <p:nvSpPr>
          <p:cNvPr id="6" name="Title 10">
            <a:extLst>
              <a:ext uri="{FF2B5EF4-FFF2-40B4-BE49-F238E27FC236}">
                <a16:creationId xmlns:a16="http://schemas.microsoft.com/office/drawing/2014/main" id="{3E96BBBF-8542-36D1-4B98-AB5933459276}"/>
              </a:ext>
            </a:extLst>
          </p:cNvPr>
          <p:cNvSpPr txBox="1">
            <a:spLocks/>
          </p:cNvSpPr>
          <p:nvPr/>
        </p:nvSpPr>
        <p:spPr>
          <a:xfrm>
            <a:off x="330200" y="845243"/>
            <a:ext cx="11303000" cy="666353"/>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invoice reverse is full CMR, and all items auto generate the BIT items and preview invoice. If the original invoice is central billing invoice, so the 3 invoice will be CMR, include AFE-NL11 invoice, NL11-JP Hitachi AR invoice, NL11-AFE AP Invoice.</a:t>
            </a:r>
            <a:endParaRPr lang="en-US" altLang="zh-CN" sz="1500">
              <a:solidFill>
                <a:srgbClr val="1B2434"/>
              </a:solidFill>
              <a:latin typeface="Aptos" panose="020B0004020202020204" pitchFamily="34" charset="0"/>
            </a:endParaRPr>
          </a:p>
        </p:txBody>
      </p:sp>
    </p:spTree>
    <p:extLst>
      <p:ext uri="{BB962C8B-B14F-4D97-AF65-F5344CB8AC3E}">
        <p14:creationId xmlns:p14="http://schemas.microsoft.com/office/powerpoint/2010/main" val="1987131295"/>
      </p:ext>
    </p:extLst>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7D67-80AC-6AA0-C4B4-B96C1DC6F8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DCAFAD-4A26-BE28-A863-8F14DD2BC18B}"/>
              </a:ext>
            </a:extLst>
          </p:cNvPr>
          <p:cNvSpPr>
            <a:spLocks noGrp="1"/>
          </p:cNvSpPr>
          <p:nvPr>
            <p:ph type="title"/>
          </p:nvPr>
        </p:nvSpPr>
        <p:spPr>
          <a:xfrm>
            <a:off x="330200" y="177800"/>
            <a:ext cx="11303000" cy="802548"/>
          </a:xfrm>
        </p:spPr>
        <p:txBody>
          <a:bodyPr/>
          <a:lstStyle/>
          <a:p>
            <a:r>
              <a:rPr lang="en-US" altLang="zh-CN" sz="3400">
                <a:solidFill>
                  <a:srgbClr val="000000"/>
                </a:solidFill>
                <a:latin typeface="Aptos Display" panose="020B0004020202020204" pitchFamily="34" charset="0"/>
              </a:rPr>
              <a:t>Agenda</a:t>
            </a:r>
            <a:endParaRPr lang="zh-CN" altLang="en-US" sz="3400">
              <a:solidFill>
                <a:srgbClr val="000000"/>
              </a:solidFill>
              <a:latin typeface="Aptos Display" panose="020B0004020202020204" pitchFamily="34" charset="0"/>
            </a:endParaRPr>
          </a:p>
        </p:txBody>
      </p:sp>
      <p:sp>
        <p:nvSpPr>
          <p:cNvPr id="5" name="文本占位符 1">
            <a:extLst>
              <a:ext uri="{FF2B5EF4-FFF2-40B4-BE49-F238E27FC236}">
                <a16:creationId xmlns:a16="http://schemas.microsoft.com/office/drawing/2014/main" id="{FCD84ABA-0437-EBFB-9BE9-92F633D6A2C0}"/>
              </a:ext>
            </a:extLst>
          </p:cNvPr>
          <p:cNvSpPr txBox="1">
            <a:spLocks noGrp="1"/>
          </p:cNvSpPr>
          <p:nvPr>
            <p:ph type="body" sz="quarter" idx="12"/>
          </p:nvPr>
        </p:nvSpPr>
        <p:spPr bwMode="white">
          <a:xfrm>
            <a:off x="488931" y="1844271"/>
            <a:ext cx="5528411" cy="2541593"/>
          </a:xfrm>
          <a:prstGeom prst="rect">
            <a:avLst/>
          </a:prstGeom>
        </p:spPr>
        <p:txBody>
          <a:bodyPr wrap="square" lIns="50800" tIns="25400" rIns="50800" bIns="25400" anchor="t" anchorCtr="0">
            <a:spAutoFit/>
          </a:bodyPr>
          <a:lstStyle>
            <a:lvl1pPr marL="0" indent="0" algn="l" rtl="0" eaLnBrk="1" fontAlgn="base" hangingPunct="1">
              <a:lnSpc>
                <a:spcPct val="85000"/>
              </a:lnSpc>
              <a:spcBef>
                <a:spcPts val="0"/>
              </a:spcBef>
              <a:spcAft>
                <a:spcPct val="0"/>
              </a:spcAft>
              <a:buNone/>
              <a:defRPr sz="1400" b="1" spc="0" baseline="0">
                <a:solidFill>
                  <a:schemeClr val="accent4"/>
                </a:solidFill>
                <a:latin typeface="Aptos" panose="020B0004020202020204" pitchFamily="34" charset="0"/>
                <a:ea typeface="+mn-ea"/>
                <a:cs typeface="+mn-cs"/>
              </a:defRPr>
            </a:lvl1pPr>
            <a:lvl2pPr marL="457200" indent="0" algn="l" rtl="0" eaLnBrk="1" fontAlgn="base" hangingPunct="1">
              <a:spcBef>
                <a:spcPct val="20000"/>
              </a:spcBef>
              <a:spcAft>
                <a:spcPct val="0"/>
              </a:spcAft>
              <a:buNone/>
              <a:defRPr sz="2000">
                <a:solidFill>
                  <a:schemeClr val="tx1">
                    <a:tint val="75000"/>
                  </a:schemeClr>
                </a:solidFill>
                <a:latin typeface="+mj-lt"/>
              </a:defRPr>
            </a:lvl2pPr>
            <a:lvl3pPr marL="914400" indent="0" algn="l" rtl="0" eaLnBrk="1" fontAlgn="base" hangingPunct="1">
              <a:spcBef>
                <a:spcPct val="20000"/>
              </a:spcBef>
              <a:spcAft>
                <a:spcPct val="0"/>
              </a:spcAft>
              <a:buNone/>
              <a:defRPr sz="1800">
                <a:solidFill>
                  <a:schemeClr val="tx1">
                    <a:tint val="75000"/>
                  </a:schemeClr>
                </a:solidFill>
                <a:latin typeface="+mj-lt"/>
              </a:defRPr>
            </a:lvl3pPr>
            <a:lvl4pPr marL="1371600" indent="0" algn="l" rtl="0" eaLnBrk="1" fontAlgn="base" hangingPunct="1">
              <a:spcBef>
                <a:spcPct val="20000"/>
              </a:spcBef>
              <a:spcAft>
                <a:spcPct val="0"/>
              </a:spcAft>
              <a:buNone/>
              <a:defRPr sz="1600">
                <a:solidFill>
                  <a:schemeClr val="tx1">
                    <a:tint val="75000"/>
                  </a:schemeClr>
                </a:solidFill>
                <a:latin typeface="+mj-lt"/>
              </a:defRPr>
            </a:lvl4pPr>
            <a:lvl5pPr marL="1828800" indent="0" algn="l" rtl="0" eaLnBrk="1" fontAlgn="base" hangingPunct="1">
              <a:spcBef>
                <a:spcPct val="20000"/>
              </a:spcBef>
              <a:spcAft>
                <a:spcPct val="0"/>
              </a:spcAft>
              <a:buNone/>
              <a:defRPr sz="1600">
                <a:solidFill>
                  <a:schemeClr val="tx1">
                    <a:tint val="75000"/>
                  </a:schemeClr>
                </a:solidFill>
                <a:latin typeface="+mj-lt"/>
              </a:defRPr>
            </a:lvl5pPr>
            <a:lvl6pPr marL="2286000" indent="0" algn="l" rtl="0" eaLnBrk="1" fontAlgn="base" hangingPunct="1">
              <a:spcBef>
                <a:spcPct val="20000"/>
              </a:spcBef>
              <a:spcAft>
                <a:spcPct val="0"/>
              </a:spcAft>
              <a:buNone/>
              <a:defRPr sz="1600">
                <a:solidFill>
                  <a:schemeClr val="tx1">
                    <a:tint val="75000"/>
                  </a:schemeClr>
                </a:solidFill>
                <a:latin typeface="+mn-lt"/>
              </a:defRPr>
            </a:lvl6pPr>
            <a:lvl7pPr marL="2743200" indent="0" algn="l" rtl="0" eaLnBrk="1" fontAlgn="base" hangingPunct="1">
              <a:spcBef>
                <a:spcPct val="20000"/>
              </a:spcBef>
              <a:spcAft>
                <a:spcPct val="0"/>
              </a:spcAft>
              <a:buNone/>
              <a:defRPr sz="1600">
                <a:solidFill>
                  <a:schemeClr val="tx1">
                    <a:tint val="75000"/>
                  </a:schemeClr>
                </a:solidFill>
                <a:latin typeface="+mn-lt"/>
              </a:defRPr>
            </a:lvl7pPr>
            <a:lvl8pPr marL="3200400" indent="0" algn="l" rtl="0" eaLnBrk="1" fontAlgn="base" hangingPunct="1">
              <a:spcBef>
                <a:spcPct val="20000"/>
              </a:spcBef>
              <a:spcAft>
                <a:spcPct val="0"/>
              </a:spcAft>
              <a:buNone/>
              <a:defRPr sz="1600">
                <a:solidFill>
                  <a:schemeClr val="tx1">
                    <a:tint val="75000"/>
                  </a:schemeClr>
                </a:solidFill>
                <a:latin typeface="+mn-lt"/>
              </a:defRPr>
            </a:lvl8pPr>
            <a:lvl9pPr marL="3657600" indent="0" algn="l" rtl="0" eaLnBrk="1" fontAlgn="base" hangingPunct="1">
              <a:spcBef>
                <a:spcPct val="20000"/>
              </a:spcBef>
              <a:spcAft>
                <a:spcPct val="0"/>
              </a:spcAft>
              <a:buNone/>
              <a:defRPr sz="1600">
                <a:solidFill>
                  <a:schemeClr val="tx1">
                    <a:tint val="75000"/>
                  </a:schemeClr>
                </a:solidFill>
                <a:latin typeface="+mn-lt"/>
              </a:defRPr>
            </a:lvl9pPr>
          </a:lstStyle>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Payment Schedule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Document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Statement</a:t>
            </a:r>
          </a:p>
          <a:p>
            <a:pPr marL="342900" indent="-342900">
              <a:lnSpc>
                <a:spcPct val="150000"/>
              </a:lnSpc>
              <a:buFont typeface="+mj-lt"/>
              <a:buAutoNum type="arabicPeriod"/>
            </a:pPr>
            <a:r>
              <a:rPr lang="en-US" altLang="zh-CN" sz="2200" b="0">
                <a:solidFill>
                  <a:srgbClr val="1B2434"/>
                </a:solidFill>
                <a:cs typeface="Cascadia Code" panose="020B0609020000020004" pitchFamily="49" charset="0"/>
              </a:rPr>
              <a:t>Central Billing Invoice</a:t>
            </a:r>
          </a:p>
          <a:p>
            <a:pPr marL="342900" indent="-342900">
              <a:lnSpc>
                <a:spcPct val="150000"/>
              </a:lnSpc>
              <a:buFont typeface="+mj-lt"/>
              <a:buAutoNum type="arabicPeriod"/>
            </a:pPr>
            <a:r>
              <a:rPr lang="en-US" altLang="zh-CN" sz="2200" b="0" kern="0">
                <a:solidFill>
                  <a:srgbClr val="1B2434"/>
                </a:solidFill>
                <a:cs typeface="Cascadia Code" panose="020B0609020000020004" pitchFamily="49" charset="0"/>
              </a:rPr>
              <a:t>Invoice Reverse/</a:t>
            </a:r>
            <a:r>
              <a:rPr lang="en-US" altLang="zh-CN" sz="2200" b="0" kern="0">
                <a:solidFill>
                  <a:srgbClr val="1B2434"/>
                </a:solidFill>
                <a:highlight>
                  <a:srgbClr val="00FF00"/>
                </a:highlight>
                <a:cs typeface="Cascadia Code" panose="020B0609020000020004" pitchFamily="49" charset="0"/>
              </a:rPr>
              <a:t>Invoice Adjustment</a:t>
            </a:r>
          </a:p>
        </p:txBody>
      </p:sp>
    </p:spTree>
    <p:extLst>
      <p:ext uri="{BB962C8B-B14F-4D97-AF65-F5344CB8AC3E}">
        <p14:creationId xmlns:p14="http://schemas.microsoft.com/office/powerpoint/2010/main" val="3296358124"/>
      </p:ext>
    </p:extLst>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100D5-12AC-1479-625C-3F96BDF5742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9F29586-F6CC-57A6-A180-478E4D248106}"/>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sp>
        <p:nvSpPr>
          <p:cNvPr id="4" name="Title 10">
            <a:extLst>
              <a:ext uri="{FF2B5EF4-FFF2-40B4-BE49-F238E27FC236}">
                <a16:creationId xmlns:a16="http://schemas.microsoft.com/office/drawing/2014/main" id="{13F3B784-22D3-B253-93E4-FD175FECE737}"/>
              </a:ext>
            </a:extLst>
          </p:cNvPr>
          <p:cNvSpPr txBox="1">
            <a:spLocks/>
          </p:cNvSpPr>
          <p:nvPr/>
        </p:nvSpPr>
        <p:spPr>
          <a:xfrm>
            <a:off x="330200" y="885422"/>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CMR/DMR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pic>
        <p:nvPicPr>
          <p:cNvPr id="8" name="图片 7">
            <a:extLst>
              <a:ext uri="{FF2B5EF4-FFF2-40B4-BE49-F238E27FC236}">
                <a16:creationId xmlns:a16="http://schemas.microsoft.com/office/drawing/2014/main" id="{6F6E23C2-0C96-DCC4-A358-97B5A0F4FDC1}"/>
              </a:ext>
            </a:extLst>
          </p:cNvPr>
          <p:cNvPicPr>
            <a:picLocks noChangeAspect="1"/>
          </p:cNvPicPr>
          <p:nvPr/>
        </p:nvPicPr>
        <p:blipFill>
          <a:blip r:embed="rId2"/>
          <a:stretch>
            <a:fillRect/>
          </a:stretch>
        </p:blipFill>
        <p:spPr>
          <a:xfrm>
            <a:off x="320182" y="5437241"/>
            <a:ext cx="4333333" cy="847619"/>
          </a:xfrm>
          <a:prstGeom prst="rect">
            <a:avLst/>
          </a:prstGeom>
        </p:spPr>
      </p:pic>
      <p:grpSp>
        <p:nvGrpSpPr>
          <p:cNvPr id="6" name="组合 5">
            <a:extLst>
              <a:ext uri="{FF2B5EF4-FFF2-40B4-BE49-F238E27FC236}">
                <a16:creationId xmlns:a16="http://schemas.microsoft.com/office/drawing/2014/main" id="{D8A03869-46B9-0E7D-DA40-DE4F4466238A}"/>
              </a:ext>
            </a:extLst>
          </p:cNvPr>
          <p:cNvGrpSpPr/>
          <p:nvPr/>
        </p:nvGrpSpPr>
        <p:grpSpPr>
          <a:xfrm>
            <a:off x="8632717" y="2274937"/>
            <a:ext cx="3239092" cy="1183558"/>
            <a:chOff x="5045309" y="5508428"/>
            <a:chExt cx="4740491" cy="1183558"/>
          </a:xfrm>
        </p:grpSpPr>
        <p:grpSp>
          <p:nvGrpSpPr>
            <p:cNvPr id="13" name="组合 12">
              <a:extLst>
                <a:ext uri="{FF2B5EF4-FFF2-40B4-BE49-F238E27FC236}">
                  <a16:creationId xmlns:a16="http://schemas.microsoft.com/office/drawing/2014/main" id="{1D845693-3950-FE0D-2598-E708682EE5B9}"/>
                </a:ext>
              </a:extLst>
            </p:cNvPr>
            <p:cNvGrpSpPr/>
            <p:nvPr/>
          </p:nvGrpSpPr>
          <p:grpSpPr>
            <a:xfrm>
              <a:off x="5045309" y="5529818"/>
              <a:ext cx="4740491" cy="1162168"/>
              <a:chOff x="7754810" y="1535987"/>
              <a:chExt cx="3714423" cy="1162168"/>
            </a:xfrm>
          </p:grpSpPr>
          <p:sp>
            <p:nvSpPr>
              <p:cNvPr id="14" name="Shape 21">
                <a:extLst>
                  <a:ext uri="{FF2B5EF4-FFF2-40B4-BE49-F238E27FC236}">
                    <a16:creationId xmlns:a16="http://schemas.microsoft.com/office/drawing/2014/main" id="{2E87333D-618A-36DA-7E99-186295ED3EED}"/>
                  </a:ext>
                </a:extLst>
              </p:cNvPr>
              <p:cNvSpPr/>
              <p:nvPr/>
            </p:nvSpPr>
            <p:spPr>
              <a:xfrm>
                <a:off x="7754810" y="1535987"/>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5" name="Text 22">
                <a:extLst>
                  <a:ext uri="{FF2B5EF4-FFF2-40B4-BE49-F238E27FC236}">
                    <a16:creationId xmlns:a16="http://schemas.microsoft.com/office/drawing/2014/main" id="{5B5A5B5D-E298-2417-253F-DA84EBBC3DD9}"/>
                  </a:ext>
                </a:extLst>
              </p:cNvPr>
              <p:cNvSpPr txBox="1"/>
              <p:nvPr/>
            </p:nvSpPr>
            <p:spPr>
              <a:xfrm>
                <a:off x="7754810" y="1535987"/>
                <a:ext cx="256032" cy="256032"/>
              </a:xfrm>
              <a:prstGeom prst="rect">
                <a:avLst/>
              </a:prstGeom>
              <a:noFill/>
              <a:ln/>
            </p:spPr>
            <p:txBody>
              <a:bodyPr wrap="square" lIns="0" tIns="0" rIns="0" bIns="0" rtlCol="0" anchor="ctr"/>
              <a:lstStyle/>
              <a:p>
                <a:pPr marL="0" indent="0" algn="ctr">
                  <a:buNone/>
                </a:pPr>
                <a:r>
                  <a:rPr lang="en-US" sz="900">
                    <a:solidFill>
                      <a:schemeClr val="bg1"/>
                    </a:solidFill>
                  </a:rPr>
                  <a:t>1</a:t>
                </a:r>
              </a:p>
            </p:txBody>
          </p:sp>
          <p:sp>
            <p:nvSpPr>
              <p:cNvPr id="16" name="Shape 27">
                <a:extLst>
                  <a:ext uri="{FF2B5EF4-FFF2-40B4-BE49-F238E27FC236}">
                    <a16:creationId xmlns:a16="http://schemas.microsoft.com/office/drawing/2014/main" id="{58A2B72F-7189-1F20-2432-EB1C5C0EB15E}"/>
                  </a:ext>
                </a:extLst>
              </p:cNvPr>
              <p:cNvSpPr/>
              <p:nvPr/>
            </p:nvSpPr>
            <p:spPr>
              <a:xfrm>
                <a:off x="7754810" y="2442123"/>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17" name="Text 28">
                <a:extLst>
                  <a:ext uri="{FF2B5EF4-FFF2-40B4-BE49-F238E27FC236}">
                    <a16:creationId xmlns:a16="http://schemas.microsoft.com/office/drawing/2014/main" id="{F2622EE7-154A-B0DF-05C8-1261ACC7D04F}"/>
                  </a:ext>
                </a:extLst>
              </p:cNvPr>
              <p:cNvSpPr txBox="1"/>
              <p:nvPr/>
            </p:nvSpPr>
            <p:spPr>
              <a:xfrm>
                <a:off x="7754810" y="2442123"/>
                <a:ext cx="256032" cy="256032"/>
              </a:xfrm>
              <a:prstGeom prst="rect">
                <a:avLst/>
              </a:prstGeom>
              <a:noFill/>
              <a:ln/>
            </p:spPr>
            <p:txBody>
              <a:bodyPr wrap="square" lIns="0" tIns="0" rIns="0" bIns="0" rtlCol="0" anchor="ctr"/>
              <a:lstStyle/>
              <a:p>
                <a:pPr marL="0" indent="0" algn="ctr">
                  <a:buNone/>
                </a:pPr>
                <a:r>
                  <a:rPr lang="en-US" sz="900">
                    <a:solidFill>
                      <a:schemeClr val="bg1"/>
                    </a:solidFill>
                  </a:rPr>
                  <a:t>3</a:t>
                </a:r>
              </a:p>
            </p:txBody>
          </p:sp>
          <p:sp>
            <p:nvSpPr>
              <p:cNvPr id="18" name="Text 23">
                <a:extLst>
                  <a:ext uri="{FF2B5EF4-FFF2-40B4-BE49-F238E27FC236}">
                    <a16:creationId xmlns:a16="http://schemas.microsoft.com/office/drawing/2014/main" id="{64C9476C-8C76-D79C-AFEC-329B13C04DC1}"/>
                  </a:ext>
                </a:extLst>
              </p:cNvPr>
              <p:cNvSpPr txBox="1"/>
              <p:nvPr/>
            </p:nvSpPr>
            <p:spPr>
              <a:xfrm>
                <a:off x="8070040" y="1997977"/>
                <a:ext cx="3395167" cy="256032"/>
              </a:xfrm>
              <a:prstGeom prst="rect">
                <a:avLst/>
              </a:prstGeom>
              <a:noFill/>
              <a:ln/>
            </p:spPr>
            <p:txBody>
              <a:bodyPr wrap="square" lIns="0" tIns="0" rIns="0" bIns="0" rtlCol="0" anchor="ctr"/>
              <a:lstStyle/>
              <a:p>
                <a:pPr marL="0" indent="0">
                  <a:lnSpc>
                    <a:spcPts val="1188"/>
                  </a:lnSpc>
                  <a:buNone/>
                </a:pPr>
                <a:r>
                  <a:rPr lang="en-US" sz="900"/>
                  <a:t>Select on invoice.  </a:t>
                </a:r>
                <a:r>
                  <a:rPr lang="en-US" sz="900" b="1">
                    <a:solidFill>
                      <a:srgbClr val="FF0000"/>
                    </a:solidFill>
                  </a:rPr>
                  <a:t>Only one invoice for “Manual invoice Adjustment”.</a:t>
                </a:r>
              </a:p>
            </p:txBody>
          </p:sp>
          <p:sp>
            <p:nvSpPr>
              <p:cNvPr id="19" name="Shape 27">
                <a:extLst>
                  <a:ext uri="{FF2B5EF4-FFF2-40B4-BE49-F238E27FC236}">
                    <a16:creationId xmlns:a16="http://schemas.microsoft.com/office/drawing/2014/main" id="{EF33AA73-95E1-7126-D50F-1F15FB8B8865}"/>
                  </a:ext>
                </a:extLst>
              </p:cNvPr>
              <p:cNvSpPr/>
              <p:nvPr/>
            </p:nvSpPr>
            <p:spPr>
              <a:xfrm>
                <a:off x="7754810" y="2006802"/>
                <a:ext cx="256032" cy="256032"/>
              </a:xfrm>
              <a:prstGeom prst="ellipse">
                <a:avLst/>
              </a:prstGeom>
              <a:solidFill>
                <a:srgbClr val="D8232A"/>
              </a:solidFill>
              <a:ln w="15875">
                <a:solidFill>
                  <a:srgbClr val="FFFFFF"/>
                </a:solidFill>
                <a:prstDash val="solid"/>
              </a:ln>
            </p:spPr>
            <p:txBody>
              <a:bodyPr/>
              <a:lstStyle/>
              <a:p>
                <a:endParaRPr lang="zh-CN" altLang="en-US"/>
              </a:p>
            </p:txBody>
          </p:sp>
          <p:sp>
            <p:nvSpPr>
              <p:cNvPr id="20" name="Text 28">
                <a:extLst>
                  <a:ext uri="{FF2B5EF4-FFF2-40B4-BE49-F238E27FC236}">
                    <a16:creationId xmlns:a16="http://schemas.microsoft.com/office/drawing/2014/main" id="{7039A68E-AF3C-EC40-C733-9760A5DBC32D}"/>
                  </a:ext>
                </a:extLst>
              </p:cNvPr>
              <p:cNvSpPr txBox="1"/>
              <p:nvPr/>
            </p:nvSpPr>
            <p:spPr>
              <a:xfrm>
                <a:off x="7754810" y="2016634"/>
                <a:ext cx="256032" cy="256032"/>
              </a:xfrm>
              <a:prstGeom prst="rect">
                <a:avLst/>
              </a:prstGeom>
              <a:noFill/>
              <a:ln/>
            </p:spPr>
            <p:txBody>
              <a:bodyPr wrap="square" lIns="0" tIns="0" rIns="0" bIns="0" rtlCol="0" anchor="ctr"/>
              <a:lstStyle/>
              <a:p>
                <a:pPr marL="0" indent="0" algn="ctr">
                  <a:buNone/>
                </a:pPr>
                <a:r>
                  <a:rPr lang="en-US" sz="900">
                    <a:solidFill>
                      <a:schemeClr val="bg1"/>
                    </a:solidFill>
                  </a:rPr>
                  <a:t>2</a:t>
                </a:r>
              </a:p>
            </p:txBody>
          </p:sp>
          <p:sp>
            <p:nvSpPr>
              <p:cNvPr id="21" name="Text 23">
                <a:extLst>
                  <a:ext uri="{FF2B5EF4-FFF2-40B4-BE49-F238E27FC236}">
                    <a16:creationId xmlns:a16="http://schemas.microsoft.com/office/drawing/2014/main" id="{25C05D31-DF36-45AD-533C-A1F18F440EB9}"/>
                  </a:ext>
                </a:extLst>
              </p:cNvPr>
              <p:cNvSpPr txBox="1"/>
              <p:nvPr/>
            </p:nvSpPr>
            <p:spPr>
              <a:xfrm>
                <a:off x="8074066" y="2416838"/>
                <a:ext cx="3395167" cy="256032"/>
              </a:xfrm>
              <a:prstGeom prst="rect">
                <a:avLst/>
              </a:prstGeom>
              <a:noFill/>
              <a:ln/>
            </p:spPr>
            <p:txBody>
              <a:bodyPr wrap="square" lIns="0" tIns="0" rIns="0" bIns="0" rtlCol="0" anchor="ctr"/>
              <a:lstStyle/>
              <a:p>
                <a:pPr>
                  <a:lnSpc>
                    <a:spcPts val="1188"/>
                  </a:lnSpc>
                </a:pPr>
                <a:r>
                  <a:rPr lang="en-US" altLang="zh-CN" sz="900"/>
                  <a:t>Click “Manual Invoice Adjustment” button.</a:t>
                </a:r>
              </a:p>
            </p:txBody>
          </p:sp>
        </p:grpSp>
        <p:sp>
          <p:nvSpPr>
            <p:cNvPr id="23" name="Text 23">
              <a:extLst>
                <a:ext uri="{FF2B5EF4-FFF2-40B4-BE49-F238E27FC236}">
                  <a16:creationId xmlns:a16="http://schemas.microsoft.com/office/drawing/2014/main" id="{84B50076-4972-5259-17A0-F5487EB48CE8}"/>
                </a:ext>
              </a:extLst>
            </p:cNvPr>
            <p:cNvSpPr txBox="1"/>
            <p:nvPr/>
          </p:nvSpPr>
          <p:spPr>
            <a:xfrm>
              <a:off x="5447759" y="5508428"/>
              <a:ext cx="3395167" cy="256032"/>
            </a:xfrm>
            <a:prstGeom prst="rect">
              <a:avLst/>
            </a:prstGeom>
            <a:noFill/>
            <a:ln/>
          </p:spPr>
          <p:txBody>
            <a:bodyPr wrap="square" lIns="0" tIns="0" rIns="0" bIns="0" rtlCol="0" anchor="ctr"/>
            <a:lstStyle/>
            <a:p>
              <a:pPr marL="0" indent="0">
                <a:lnSpc>
                  <a:spcPts val="1188"/>
                </a:lnSpc>
                <a:buNone/>
              </a:pPr>
              <a:r>
                <a:rPr lang="en-US" sz="900"/>
                <a:t>Input search condition and Click search button.</a:t>
              </a:r>
            </a:p>
          </p:txBody>
        </p:sp>
      </p:grpSp>
      <p:grpSp>
        <p:nvGrpSpPr>
          <p:cNvPr id="32" name="组合 31">
            <a:extLst>
              <a:ext uri="{FF2B5EF4-FFF2-40B4-BE49-F238E27FC236}">
                <a16:creationId xmlns:a16="http://schemas.microsoft.com/office/drawing/2014/main" id="{EA5B494C-A5FE-740E-B4B5-5DF6CC5EBA9C}"/>
              </a:ext>
            </a:extLst>
          </p:cNvPr>
          <p:cNvGrpSpPr/>
          <p:nvPr/>
        </p:nvGrpSpPr>
        <p:grpSpPr>
          <a:xfrm>
            <a:off x="320182" y="1825695"/>
            <a:ext cx="8145379" cy="3319194"/>
            <a:chOff x="320182" y="1277875"/>
            <a:chExt cx="10965499" cy="3919309"/>
          </a:xfrm>
        </p:grpSpPr>
        <p:sp>
          <p:nvSpPr>
            <p:cNvPr id="10" name="Shape 5">
              <a:extLst>
                <a:ext uri="{FF2B5EF4-FFF2-40B4-BE49-F238E27FC236}">
                  <a16:creationId xmlns:a16="http://schemas.microsoft.com/office/drawing/2014/main" id="{1E7E4F63-C5C4-C0EA-572A-E6EE22CC9124}"/>
                </a:ext>
              </a:extLst>
            </p:cNvPr>
            <p:cNvSpPr/>
            <p:nvPr/>
          </p:nvSpPr>
          <p:spPr>
            <a:xfrm>
              <a:off x="1406136" y="4297322"/>
              <a:ext cx="328045" cy="220112"/>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1</a:t>
              </a:r>
              <a:endParaRPr lang="zh-CN" altLang="en-US" sz="1000" b="1">
                <a:solidFill>
                  <a:schemeClr val="bg1"/>
                </a:solidFill>
              </a:endParaRPr>
            </a:p>
          </p:txBody>
        </p:sp>
        <p:pic>
          <p:nvPicPr>
            <p:cNvPr id="12" name="图片 11">
              <a:extLst>
                <a:ext uri="{FF2B5EF4-FFF2-40B4-BE49-F238E27FC236}">
                  <a16:creationId xmlns:a16="http://schemas.microsoft.com/office/drawing/2014/main" id="{721D9B0F-B591-A003-EF9E-0B2F59A0495F}"/>
                </a:ext>
              </a:extLst>
            </p:cNvPr>
            <p:cNvPicPr>
              <a:picLocks noChangeAspect="1"/>
            </p:cNvPicPr>
            <p:nvPr/>
          </p:nvPicPr>
          <p:blipFill>
            <a:blip r:embed="rId3"/>
            <a:stretch>
              <a:fillRect/>
            </a:stretch>
          </p:blipFill>
          <p:spPr>
            <a:xfrm>
              <a:off x="320182" y="1277875"/>
              <a:ext cx="10965499" cy="3919309"/>
            </a:xfrm>
            <a:prstGeom prst="rect">
              <a:avLst/>
            </a:prstGeom>
          </p:spPr>
        </p:pic>
        <p:sp>
          <p:nvSpPr>
            <p:cNvPr id="27" name="Shape 5">
              <a:extLst>
                <a:ext uri="{FF2B5EF4-FFF2-40B4-BE49-F238E27FC236}">
                  <a16:creationId xmlns:a16="http://schemas.microsoft.com/office/drawing/2014/main" id="{B57893DB-D82A-4C61-F658-3685FD16506A}"/>
                </a:ext>
              </a:extLst>
            </p:cNvPr>
            <p:cNvSpPr/>
            <p:nvPr/>
          </p:nvSpPr>
          <p:spPr>
            <a:xfrm>
              <a:off x="9240663" y="1894419"/>
              <a:ext cx="334297" cy="2305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1</a:t>
              </a:r>
              <a:endParaRPr lang="zh-CN" altLang="en-US" sz="1000" b="1">
                <a:solidFill>
                  <a:schemeClr val="bg1"/>
                </a:solidFill>
              </a:endParaRPr>
            </a:p>
          </p:txBody>
        </p:sp>
        <p:sp>
          <p:nvSpPr>
            <p:cNvPr id="29" name="Shape 5">
              <a:extLst>
                <a:ext uri="{FF2B5EF4-FFF2-40B4-BE49-F238E27FC236}">
                  <a16:creationId xmlns:a16="http://schemas.microsoft.com/office/drawing/2014/main" id="{BA3D6F57-CBF7-00F3-31C8-EDDD33023E4C}"/>
                </a:ext>
              </a:extLst>
            </p:cNvPr>
            <p:cNvSpPr/>
            <p:nvPr/>
          </p:nvSpPr>
          <p:spPr>
            <a:xfrm>
              <a:off x="819334" y="4517434"/>
              <a:ext cx="334297" cy="2305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2</a:t>
              </a:r>
              <a:endParaRPr lang="zh-CN" altLang="en-US" sz="1000" b="1">
                <a:solidFill>
                  <a:schemeClr val="bg1"/>
                </a:solidFill>
              </a:endParaRPr>
            </a:p>
          </p:txBody>
        </p:sp>
        <p:sp>
          <p:nvSpPr>
            <p:cNvPr id="31" name="Shape 5">
              <a:extLst>
                <a:ext uri="{FF2B5EF4-FFF2-40B4-BE49-F238E27FC236}">
                  <a16:creationId xmlns:a16="http://schemas.microsoft.com/office/drawing/2014/main" id="{3B1CB561-9619-5660-E3C3-F2CF3EA532DA}"/>
                </a:ext>
              </a:extLst>
            </p:cNvPr>
            <p:cNvSpPr/>
            <p:nvPr/>
          </p:nvSpPr>
          <p:spPr>
            <a:xfrm>
              <a:off x="8801938" y="3390872"/>
              <a:ext cx="334297" cy="2305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3</a:t>
              </a:r>
              <a:endParaRPr lang="zh-CN" altLang="en-US" sz="1000" b="1">
                <a:solidFill>
                  <a:schemeClr val="bg1"/>
                </a:solidFill>
              </a:endParaRPr>
            </a:p>
          </p:txBody>
        </p:sp>
      </p:grpSp>
    </p:spTree>
    <p:extLst>
      <p:ext uri="{BB962C8B-B14F-4D97-AF65-F5344CB8AC3E}">
        <p14:creationId xmlns:p14="http://schemas.microsoft.com/office/powerpoint/2010/main" val="2500192205"/>
      </p:ext>
    </p:extLst>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9D254-89F5-7733-FC56-44ABD0D5887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E1916B2-6530-6CBE-41AD-BB47248D7812}"/>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cxnSp>
        <p:nvCxnSpPr>
          <p:cNvPr id="63" name="连接符: 曲线 62">
            <a:extLst>
              <a:ext uri="{FF2B5EF4-FFF2-40B4-BE49-F238E27FC236}">
                <a16:creationId xmlns:a16="http://schemas.microsoft.com/office/drawing/2014/main" id="{8BF73997-B5D1-2C36-B7FC-BBC322333FE7}"/>
              </a:ext>
            </a:extLst>
          </p:cNvPr>
          <p:cNvCxnSpPr/>
          <p:nvPr/>
        </p:nvCxnSpPr>
        <p:spPr bwMode="auto">
          <a:xfrm rot="5400000" flipH="1" flipV="1">
            <a:off x="10407449" y="2930429"/>
            <a:ext cx="12700" cy="12700"/>
          </a:xfrm>
          <a:prstGeom prst="curvedConnector3">
            <a:avLst>
              <a:gd name="adj1" fmla="val 1800000"/>
            </a:avLst>
          </a:prstGeom>
          <a:solidFill>
            <a:schemeClr val="bg1"/>
          </a:solidFill>
          <a:ln w="9525" cap="flat" cmpd="sng" algn="ctr">
            <a:noFill/>
            <a:prstDash val="solid"/>
            <a:round/>
            <a:headEnd type="triangle"/>
            <a:tailEnd type="triangle"/>
          </a:ln>
          <a:effectLst/>
        </p:spPr>
      </p:cxnSp>
      <p:grpSp>
        <p:nvGrpSpPr>
          <p:cNvPr id="111" name="组合 110">
            <a:extLst>
              <a:ext uri="{FF2B5EF4-FFF2-40B4-BE49-F238E27FC236}">
                <a16:creationId xmlns:a16="http://schemas.microsoft.com/office/drawing/2014/main" id="{EAF38CE5-24B2-5651-4E48-0C817997E024}"/>
              </a:ext>
            </a:extLst>
          </p:cNvPr>
          <p:cNvGrpSpPr/>
          <p:nvPr/>
        </p:nvGrpSpPr>
        <p:grpSpPr>
          <a:xfrm>
            <a:off x="541238" y="1766086"/>
            <a:ext cx="8097682" cy="4526560"/>
            <a:chOff x="245807" y="1199715"/>
            <a:chExt cx="8978446" cy="5217022"/>
          </a:xfrm>
        </p:grpSpPr>
        <p:pic>
          <p:nvPicPr>
            <p:cNvPr id="72" name="图片 71">
              <a:extLst>
                <a:ext uri="{FF2B5EF4-FFF2-40B4-BE49-F238E27FC236}">
                  <a16:creationId xmlns:a16="http://schemas.microsoft.com/office/drawing/2014/main" id="{F441015F-0742-08E1-017B-F35E91D633A5}"/>
                </a:ext>
              </a:extLst>
            </p:cNvPr>
            <p:cNvPicPr>
              <a:picLocks noChangeAspect="1"/>
            </p:cNvPicPr>
            <p:nvPr/>
          </p:nvPicPr>
          <p:blipFill>
            <a:blip r:embed="rId2"/>
            <a:stretch>
              <a:fillRect/>
            </a:stretch>
          </p:blipFill>
          <p:spPr>
            <a:xfrm>
              <a:off x="550312" y="3219242"/>
              <a:ext cx="8482473" cy="3197495"/>
            </a:xfrm>
            <a:prstGeom prst="rect">
              <a:avLst/>
            </a:prstGeom>
          </p:spPr>
        </p:pic>
        <p:pic>
          <p:nvPicPr>
            <p:cNvPr id="9" name="图片 8">
              <a:extLst>
                <a:ext uri="{FF2B5EF4-FFF2-40B4-BE49-F238E27FC236}">
                  <a16:creationId xmlns:a16="http://schemas.microsoft.com/office/drawing/2014/main" id="{D5D3AD1D-5F04-7AAA-27A4-0D98E9E3509E}"/>
                </a:ext>
              </a:extLst>
            </p:cNvPr>
            <p:cNvPicPr>
              <a:picLocks noChangeAspect="1"/>
            </p:cNvPicPr>
            <p:nvPr/>
          </p:nvPicPr>
          <p:blipFill>
            <a:blip r:embed="rId3"/>
            <a:stretch>
              <a:fillRect/>
            </a:stretch>
          </p:blipFill>
          <p:spPr>
            <a:xfrm>
              <a:off x="1476746" y="1199715"/>
              <a:ext cx="7006881" cy="1861203"/>
            </a:xfrm>
            <a:prstGeom prst="rect">
              <a:avLst/>
            </a:prstGeom>
          </p:spPr>
        </p:pic>
        <p:sp>
          <p:nvSpPr>
            <p:cNvPr id="25" name="Shape 5">
              <a:extLst>
                <a:ext uri="{FF2B5EF4-FFF2-40B4-BE49-F238E27FC236}">
                  <a16:creationId xmlns:a16="http://schemas.microsoft.com/office/drawing/2014/main" id="{395A834B-FEA5-F683-6DA7-876570D256D9}"/>
                </a:ext>
              </a:extLst>
            </p:cNvPr>
            <p:cNvSpPr/>
            <p:nvPr/>
          </p:nvSpPr>
          <p:spPr>
            <a:xfrm>
              <a:off x="725928" y="2756312"/>
              <a:ext cx="334297" cy="2310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4</a:t>
              </a:r>
              <a:endParaRPr lang="zh-CN" altLang="en-US" sz="1000" b="1">
                <a:solidFill>
                  <a:schemeClr val="bg1"/>
                </a:solidFill>
              </a:endParaRPr>
            </a:p>
          </p:txBody>
        </p:sp>
        <p:sp>
          <p:nvSpPr>
            <p:cNvPr id="28" name="Shape 5">
              <a:extLst>
                <a:ext uri="{FF2B5EF4-FFF2-40B4-BE49-F238E27FC236}">
                  <a16:creationId xmlns:a16="http://schemas.microsoft.com/office/drawing/2014/main" id="{C6F7F031-8D8F-2871-B590-8E71008CA1BE}"/>
                </a:ext>
              </a:extLst>
            </p:cNvPr>
            <p:cNvSpPr/>
            <p:nvPr/>
          </p:nvSpPr>
          <p:spPr>
            <a:xfrm>
              <a:off x="8400004" y="2510097"/>
              <a:ext cx="334297" cy="297004"/>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5</a:t>
              </a:r>
              <a:endParaRPr lang="zh-CN" altLang="en-US" sz="1000" b="1">
                <a:solidFill>
                  <a:schemeClr val="bg1"/>
                </a:solidFill>
              </a:endParaRPr>
            </a:p>
          </p:txBody>
        </p:sp>
        <p:sp>
          <p:nvSpPr>
            <p:cNvPr id="33" name="Shape 5">
              <a:extLst>
                <a:ext uri="{FF2B5EF4-FFF2-40B4-BE49-F238E27FC236}">
                  <a16:creationId xmlns:a16="http://schemas.microsoft.com/office/drawing/2014/main" id="{BC4AD927-4E3A-C0C9-526D-1B677F5BCA48}"/>
                </a:ext>
              </a:extLst>
            </p:cNvPr>
            <p:cNvSpPr/>
            <p:nvPr/>
          </p:nvSpPr>
          <p:spPr>
            <a:xfrm>
              <a:off x="4980186" y="3240963"/>
              <a:ext cx="334297" cy="2310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6</a:t>
              </a:r>
              <a:endParaRPr lang="zh-CN" altLang="en-US" sz="1000" b="1">
                <a:solidFill>
                  <a:schemeClr val="bg1"/>
                </a:solidFill>
              </a:endParaRPr>
            </a:p>
          </p:txBody>
        </p:sp>
        <p:sp>
          <p:nvSpPr>
            <p:cNvPr id="35" name="Shape 5">
              <a:extLst>
                <a:ext uri="{FF2B5EF4-FFF2-40B4-BE49-F238E27FC236}">
                  <a16:creationId xmlns:a16="http://schemas.microsoft.com/office/drawing/2014/main" id="{C4989077-0F66-B560-AE89-D6AE27FED2A0}"/>
                </a:ext>
              </a:extLst>
            </p:cNvPr>
            <p:cNvSpPr/>
            <p:nvPr/>
          </p:nvSpPr>
          <p:spPr>
            <a:xfrm>
              <a:off x="7115233" y="4764764"/>
              <a:ext cx="334297" cy="2310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7</a:t>
              </a:r>
              <a:endParaRPr lang="zh-CN" altLang="en-US" sz="1000" b="1">
                <a:solidFill>
                  <a:schemeClr val="bg1"/>
                </a:solidFill>
              </a:endParaRPr>
            </a:p>
          </p:txBody>
        </p:sp>
        <p:cxnSp>
          <p:nvCxnSpPr>
            <p:cNvPr id="37" name="连接符: 肘形 36">
              <a:extLst>
                <a:ext uri="{FF2B5EF4-FFF2-40B4-BE49-F238E27FC236}">
                  <a16:creationId xmlns:a16="http://schemas.microsoft.com/office/drawing/2014/main" id="{65437C24-0EBF-9CAE-6ACF-D4AB1C1315D4}"/>
                </a:ext>
              </a:extLst>
            </p:cNvPr>
            <p:cNvCxnSpPr/>
            <p:nvPr/>
          </p:nvCxnSpPr>
          <p:spPr bwMode="auto">
            <a:xfrm rot="5400000">
              <a:off x="-1110848" y="3736061"/>
              <a:ext cx="2878799" cy="165489"/>
            </a:xfrm>
            <a:prstGeom prst="bentConnector3">
              <a:avLst/>
            </a:prstGeom>
            <a:solidFill>
              <a:schemeClr val="bg1"/>
            </a:solidFill>
            <a:ln w="9525" cap="flat" cmpd="sng" algn="ctr">
              <a:noFill/>
              <a:prstDash val="solid"/>
              <a:round/>
              <a:headEnd type="none" w="med" len="med"/>
              <a:tailEnd type="triangle"/>
            </a:ln>
            <a:effectLst/>
          </p:spPr>
        </p:cxnSp>
        <p:cxnSp>
          <p:nvCxnSpPr>
            <p:cNvPr id="54" name="连接符: 曲线 53">
              <a:extLst>
                <a:ext uri="{FF2B5EF4-FFF2-40B4-BE49-F238E27FC236}">
                  <a16:creationId xmlns:a16="http://schemas.microsoft.com/office/drawing/2014/main" id="{D1C436E0-57DD-CAA0-9483-149F8C4EF07D}"/>
                </a:ext>
              </a:extLst>
            </p:cNvPr>
            <p:cNvCxnSpPr>
              <a:cxnSpLocks/>
            </p:cNvCxnSpPr>
            <p:nvPr/>
          </p:nvCxnSpPr>
          <p:spPr bwMode="auto">
            <a:xfrm rot="5400000">
              <a:off x="435495" y="3147953"/>
              <a:ext cx="1809135" cy="562094"/>
            </a:xfrm>
            <a:prstGeom prst="curvedConnector3">
              <a:avLst>
                <a:gd name="adj1" fmla="val 50000"/>
              </a:avLst>
            </a:prstGeom>
            <a:solidFill>
              <a:schemeClr val="bg1"/>
            </a:solidFill>
            <a:ln w="9525" cap="flat" cmpd="sng" algn="ctr">
              <a:solidFill>
                <a:srgbClr val="FF0000"/>
              </a:solidFill>
              <a:prstDash val="solid"/>
              <a:round/>
              <a:headEnd type="triangle"/>
              <a:tailEnd type="triangle"/>
            </a:ln>
            <a:effectLst/>
          </p:spPr>
        </p:cxnSp>
        <p:cxnSp>
          <p:nvCxnSpPr>
            <p:cNvPr id="65" name="连接符: 曲线 64">
              <a:extLst>
                <a:ext uri="{FF2B5EF4-FFF2-40B4-BE49-F238E27FC236}">
                  <a16:creationId xmlns:a16="http://schemas.microsoft.com/office/drawing/2014/main" id="{C16DB401-CD69-B7B1-374D-4A68CEEF0911}"/>
                </a:ext>
              </a:extLst>
            </p:cNvPr>
            <p:cNvCxnSpPr>
              <a:cxnSpLocks/>
            </p:cNvCxnSpPr>
            <p:nvPr/>
          </p:nvCxnSpPr>
          <p:spPr bwMode="auto">
            <a:xfrm rot="16200000" flipH="1">
              <a:off x="913598" y="3912435"/>
              <a:ext cx="2899697" cy="818499"/>
            </a:xfrm>
            <a:prstGeom prst="curvedConnector3">
              <a:avLst/>
            </a:prstGeom>
            <a:solidFill>
              <a:schemeClr val="bg1"/>
            </a:solidFill>
            <a:ln w="9525" cap="flat" cmpd="sng" algn="ctr">
              <a:solidFill>
                <a:srgbClr val="FF0000"/>
              </a:solidFill>
              <a:prstDash val="solid"/>
              <a:round/>
              <a:headEnd type="triangle"/>
              <a:tailEnd type="triangle"/>
            </a:ln>
            <a:effectLst/>
          </p:spPr>
        </p:cxnSp>
        <p:sp>
          <p:nvSpPr>
            <p:cNvPr id="77" name="Shape 5">
              <a:extLst>
                <a:ext uri="{FF2B5EF4-FFF2-40B4-BE49-F238E27FC236}">
                  <a16:creationId xmlns:a16="http://schemas.microsoft.com/office/drawing/2014/main" id="{53945CE8-7228-8AEC-EC00-2EA385CBEBA6}"/>
                </a:ext>
              </a:extLst>
            </p:cNvPr>
            <p:cNvSpPr/>
            <p:nvPr/>
          </p:nvSpPr>
          <p:spPr>
            <a:xfrm>
              <a:off x="8889956" y="6097037"/>
              <a:ext cx="334297" cy="2310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8</a:t>
              </a:r>
              <a:endParaRPr lang="zh-CN" altLang="en-US" sz="1000" b="1">
                <a:solidFill>
                  <a:schemeClr val="bg1"/>
                </a:solidFill>
              </a:endParaRPr>
            </a:p>
          </p:txBody>
        </p:sp>
        <p:cxnSp>
          <p:nvCxnSpPr>
            <p:cNvPr id="82" name="连接符: 曲线 81">
              <a:extLst>
                <a:ext uri="{FF2B5EF4-FFF2-40B4-BE49-F238E27FC236}">
                  <a16:creationId xmlns:a16="http://schemas.microsoft.com/office/drawing/2014/main" id="{01ADA5BF-C95E-0E2B-8306-75C885DBD8F5}"/>
                </a:ext>
              </a:extLst>
            </p:cNvPr>
            <p:cNvCxnSpPr>
              <a:cxnSpLocks/>
            </p:cNvCxnSpPr>
            <p:nvPr/>
          </p:nvCxnSpPr>
          <p:spPr bwMode="auto">
            <a:xfrm rot="5400000">
              <a:off x="7781610" y="3128495"/>
              <a:ext cx="1823472" cy="586677"/>
            </a:xfrm>
            <a:prstGeom prst="curvedConnector3">
              <a:avLst>
                <a:gd name="adj1" fmla="val 50000"/>
              </a:avLst>
            </a:prstGeom>
            <a:solidFill>
              <a:schemeClr val="bg1"/>
            </a:solidFill>
            <a:ln w="9525" cap="flat" cmpd="sng" algn="ctr">
              <a:solidFill>
                <a:srgbClr val="FF0000"/>
              </a:solidFill>
              <a:prstDash val="solid"/>
              <a:round/>
              <a:headEnd type="triangle"/>
              <a:tailEnd type="triangle"/>
            </a:ln>
            <a:effectLst/>
          </p:spPr>
        </p:cxnSp>
        <p:cxnSp>
          <p:nvCxnSpPr>
            <p:cNvPr id="87" name="连接符: 曲线 86">
              <a:extLst>
                <a:ext uri="{FF2B5EF4-FFF2-40B4-BE49-F238E27FC236}">
                  <a16:creationId xmlns:a16="http://schemas.microsoft.com/office/drawing/2014/main" id="{9598CCA3-6CFE-003A-1D36-B8CB7523B99A}"/>
                </a:ext>
              </a:extLst>
            </p:cNvPr>
            <p:cNvCxnSpPr>
              <a:cxnSpLocks/>
            </p:cNvCxnSpPr>
            <p:nvPr/>
          </p:nvCxnSpPr>
          <p:spPr bwMode="auto">
            <a:xfrm rot="5400000">
              <a:off x="7313790" y="3866239"/>
              <a:ext cx="2813060" cy="824254"/>
            </a:xfrm>
            <a:prstGeom prst="curvedConnector3">
              <a:avLst>
                <a:gd name="adj1" fmla="val 60474"/>
              </a:avLst>
            </a:prstGeom>
            <a:solidFill>
              <a:schemeClr val="bg1"/>
            </a:solidFill>
            <a:ln w="9525" cap="flat" cmpd="sng" algn="ctr">
              <a:solidFill>
                <a:srgbClr val="FF0000"/>
              </a:solidFill>
              <a:prstDash val="solid"/>
              <a:round/>
              <a:headEnd type="triangle"/>
              <a:tailEnd type="triangle"/>
            </a:ln>
            <a:effectLst/>
          </p:spPr>
        </p:cxnSp>
      </p:grpSp>
      <p:sp>
        <p:nvSpPr>
          <p:cNvPr id="107" name="Text 23">
            <a:extLst>
              <a:ext uri="{FF2B5EF4-FFF2-40B4-BE49-F238E27FC236}">
                <a16:creationId xmlns:a16="http://schemas.microsoft.com/office/drawing/2014/main" id="{9807FB13-E41D-EFB9-00E8-DF150CC7DA25}"/>
              </a:ext>
            </a:extLst>
          </p:cNvPr>
          <p:cNvSpPr txBox="1"/>
          <p:nvPr/>
        </p:nvSpPr>
        <p:spPr>
          <a:xfrm>
            <a:off x="9873590" y="1833825"/>
            <a:ext cx="2054411" cy="840550"/>
          </a:xfrm>
          <a:prstGeom prst="rect">
            <a:avLst/>
          </a:prstGeom>
          <a:noFill/>
          <a:ln/>
        </p:spPr>
        <p:txBody>
          <a:bodyPr wrap="square" lIns="50800" tIns="25400" rIns="50800" bIns="25400" rtlCol="0" anchor="ctr"/>
          <a:lstStyle/>
          <a:p>
            <a:pPr marL="0" indent="0">
              <a:lnSpc>
                <a:spcPts val="1188"/>
              </a:lnSpc>
              <a:buNone/>
            </a:pPr>
            <a:r>
              <a:rPr lang="en-US" sz="900">
                <a:solidFill>
                  <a:srgbClr val="1B2434"/>
                </a:solidFill>
                <a:latin typeface="Aptos" panose="020B0004020202020204" pitchFamily="34" charset="0"/>
              </a:rPr>
              <a:t>Select  at least one item with </a:t>
            </a:r>
            <a:r>
              <a:rPr lang="en-US" sz="900" err="1">
                <a:solidFill>
                  <a:srgbClr val="1B2434"/>
                </a:solidFill>
                <a:latin typeface="Aptos" panose="020B0004020202020204" pitchFamily="34" charset="0"/>
              </a:rPr>
              <a:t>Tranch</a:t>
            </a:r>
            <a:r>
              <a:rPr lang="en-US" sz="900">
                <a:solidFill>
                  <a:srgbClr val="1B2434"/>
                </a:solidFill>
                <a:latin typeface="Aptos" panose="020B0004020202020204" pitchFamily="34" charset="0"/>
              </a:rPr>
              <a:t> </a:t>
            </a:r>
            <a:r>
              <a:rPr lang="en-US" sz="900" err="1">
                <a:solidFill>
                  <a:srgbClr val="1B2434"/>
                </a:solidFill>
                <a:latin typeface="Aptos" panose="020B0004020202020204" pitchFamily="34" charset="0"/>
              </a:rPr>
              <a:t>ID+Bundle</a:t>
            </a:r>
            <a:r>
              <a:rPr lang="en-US" sz="900">
                <a:solidFill>
                  <a:srgbClr val="1B2434"/>
                </a:solidFill>
                <a:latin typeface="Aptos" panose="020B0004020202020204" pitchFamily="34" charset="0"/>
              </a:rPr>
              <a:t>/Product ID.</a:t>
            </a:r>
          </a:p>
          <a:p>
            <a:pPr>
              <a:lnSpc>
                <a:spcPts val="1188"/>
              </a:lnSpc>
            </a:pPr>
            <a:r>
              <a:rPr lang="en-US" sz="900">
                <a:solidFill>
                  <a:srgbClr val="1B2434"/>
                </a:solidFill>
                <a:latin typeface="Aptos" panose="020B0004020202020204" pitchFamily="34" charset="0"/>
              </a:rPr>
              <a:t>And auto </a:t>
            </a:r>
            <a:r>
              <a:rPr lang="zh-CN" altLang="zh-CN" sz="900">
                <a:solidFill>
                  <a:srgbClr val="1B2434"/>
                </a:solidFill>
                <a:latin typeface="Aptos" panose="020B0004020202020204" pitchFamily="34" charset="0"/>
              </a:rPr>
              <a:t>bring ou</a:t>
            </a:r>
            <a:r>
              <a:rPr lang="en-US" altLang="zh-CN" sz="900">
                <a:solidFill>
                  <a:srgbClr val="1B2434"/>
                </a:solidFill>
                <a:latin typeface="Aptos" panose="020B0004020202020204" pitchFamily="34" charset="0"/>
              </a:rPr>
              <a:t>t each item detail information. Include  the qty and unit price. </a:t>
            </a:r>
            <a:r>
              <a:rPr lang="en-US" altLang="zh-CN" sz="900" err="1">
                <a:solidFill>
                  <a:srgbClr val="1B2434"/>
                </a:solidFill>
                <a:latin typeface="Aptos" panose="020B0004020202020204" pitchFamily="34" charset="0"/>
              </a:rPr>
              <a:t>etc</a:t>
            </a:r>
            <a:endParaRPr lang="en-US" sz="900">
              <a:solidFill>
                <a:srgbClr val="1B2434"/>
              </a:solidFill>
              <a:latin typeface="Aptos" panose="020B0004020202020204" pitchFamily="34" charset="0"/>
            </a:endParaRPr>
          </a:p>
        </p:txBody>
      </p:sp>
      <p:sp>
        <p:nvSpPr>
          <p:cNvPr id="110" name="Text 23">
            <a:extLst>
              <a:ext uri="{FF2B5EF4-FFF2-40B4-BE49-F238E27FC236}">
                <a16:creationId xmlns:a16="http://schemas.microsoft.com/office/drawing/2014/main" id="{62E7EAA0-C749-4B64-0B65-E9428A8377EC}"/>
              </a:ext>
            </a:extLst>
          </p:cNvPr>
          <p:cNvSpPr txBox="1"/>
          <p:nvPr/>
        </p:nvSpPr>
        <p:spPr>
          <a:xfrm>
            <a:off x="9880509" y="2742197"/>
            <a:ext cx="2054411" cy="401863"/>
          </a:xfrm>
          <a:prstGeom prst="rect">
            <a:avLst/>
          </a:prstGeom>
          <a:noFill/>
          <a:ln/>
        </p:spPr>
        <p:txBody>
          <a:bodyPr wrap="square" lIns="50800" tIns="25400" rIns="50800" bIns="25400" rtlCol="0" anchor="ctr"/>
          <a:lstStyle/>
          <a:p>
            <a:pPr>
              <a:lnSpc>
                <a:spcPts val="1188"/>
              </a:lnSpc>
            </a:pPr>
            <a:r>
              <a:rPr lang="en-US" altLang="zh-CN" sz="900">
                <a:solidFill>
                  <a:srgbClr val="1B2434"/>
                </a:solidFill>
                <a:latin typeface="Aptos" panose="020B0004020202020204" pitchFamily="34" charset="0"/>
              </a:rPr>
              <a:t>Input the new CMR/DMR Qty. And</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the</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new</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Qty</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must</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less</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than</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the</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original Qty..</a:t>
            </a:r>
          </a:p>
        </p:txBody>
      </p:sp>
      <p:sp>
        <p:nvSpPr>
          <p:cNvPr id="121" name="Shape 5">
            <a:extLst>
              <a:ext uri="{FF2B5EF4-FFF2-40B4-BE49-F238E27FC236}">
                <a16:creationId xmlns:a16="http://schemas.microsoft.com/office/drawing/2014/main" id="{131082F1-475E-6411-0AD8-B91B6B596A51}"/>
              </a:ext>
            </a:extLst>
          </p:cNvPr>
          <p:cNvSpPr/>
          <p:nvPr/>
        </p:nvSpPr>
        <p:spPr>
          <a:xfrm>
            <a:off x="9430981" y="2752652"/>
            <a:ext cx="334297" cy="297004"/>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5</a:t>
            </a:r>
            <a:endParaRPr lang="zh-CN" altLang="en-US" sz="1200" b="1">
              <a:solidFill>
                <a:srgbClr val="FFFFFF"/>
              </a:solidFill>
              <a:latin typeface="Aptos" panose="020B0004020202020204" pitchFamily="34" charset="0"/>
            </a:endParaRPr>
          </a:p>
        </p:txBody>
      </p:sp>
      <p:cxnSp>
        <p:nvCxnSpPr>
          <p:cNvPr id="122" name="连接符: 曲线 121">
            <a:extLst>
              <a:ext uri="{FF2B5EF4-FFF2-40B4-BE49-F238E27FC236}">
                <a16:creationId xmlns:a16="http://schemas.microsoft.com/office/drawing/2014/main" id="{10A12FD2-560D-332F-0989-D6E2B6B1CD6F}"/>
              </a:ext>
            </a:extLst>
          </p:cNvPr>
          <p:cNvCxnSpPr/>
          <p:nvPr/>
        </p:nvCxnSpPr>
        <p:spPr bwMode="auto">
          <a:xfrm rot="5400000" flipH="1" flipV="1">
            <a:off x="10430793" y="3337077"/>
            <a:ext cx="12700" cy="12700"/>
          </a:xfrm>
          <a:prstGeom prst="curvedConnector3">
            <a:avLst>
              <a:gd name="adj1" fmla="val 1800000"/>
            </a:avLst>
          </a:prstGeom>
          <a:solidFill>
            <a:schemeClr val="bg1"/>
          </a:solidFill>
          <a:ln w="9525" cap="flat" cmpd="sng" algn="ctr">
            <a:noFill/>
            <a:prstDash val="solid"/>
            <a:round/>
            <a:headEnd type="triangle"/>
            <a:tailEnd type="triangle"/>
          </a:ln>
          <a:effectLst/>
        </p:spPr>
      </p:cxnSp>
      <p:sp>
        <p:nvSpPr>
          <p:cNvPr id="123" name="Text 23">
            <a:extLst>
              <a:ext uri="{FF2B5EF4-FFF2-40B4-BE49-F238E27FC236}">
                <a16:creationId xmlns:a16="http://schemas.microsoft.com/office/drawing/2014/main" id="{91EA822B-09C3-8DCC-798D-11300CAAD96F}"/>
              </a:ext>
            </a:extLst>
          </p:cNvPr>
          <p:cNvSpPr txBox="1"/>
          <p:nvPr/>
        </p:nvSpPr>
        <p:spPr>
          <a:xfrm>
            <a:off x="9873590" y="3199428"/>
            <a:ext cx="1998228" cy="401863"/>
          </a:xfrm>
          <a:prstGeom prst="rect">
            <a:avLst/>
          </a:prstGeom>
          <a:noFill/>
          <a:ln/>
        </p:spPr>
        <p:txBody>
          <a:bodyPr wrap="square" lIns="50800" tIns="25400" rIns="50800" bIns="25400" rtlCol="0" anchor="ctr"/>
          <a:lstStyle/>
          <a:p>
            <a:pPr>
              <a:lnSpc>
                <a:spcPts val="1188"/>
              </a:lnSpc>
            </a:pPr>
            <a:r>
              <a:rPr lang="en-US" altLang="zh-CN" sz="900">
                <a:solidFill>
                  <a:srgbClr val="1B2434"/>
                </a:solidFill>
                <a:latin typeface="Aptos" panose="020B0004020202020204" pitchFamily="34" charset="0"/>
              </a:rPr>
              <a:t>Select Credit Memo/Debit Memo</a:t>
            </a:r>
          </a:p>
        </p:txBody>
      </p:sp>
      <p:sp>
        <p:nvSpPr>
          <p:cNvPr id="124" name="Shape 5">
            <a:extLst>
              <a:ext uri="{FF2B5EF4-FFF2-40B4-BE49-F238E27FC236}">
                <a16:creationId xmlns:a16="http://schemas.microsoft.com/office/drawing/2014/main" id="{8A9190E2-4325-63D5-2C44-8529940FFD92}"/>
              </a:ext>
            </a:extLst>
          </p:cNvPr>
          <p:cNvSpPr/>
          <p:nvPr/>
        </p:nvSpPr>
        <p:spPr>
          <a:xfrm>
            <a:off x="9430981" y="3249989"/>
            <a:ext cx="334297" cy="297004"/>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6</a:t>
            </a:r>
            <a:endParaRPr lang="zh-CN" altLang="en-US" sz="1200" b="1">
              <a:solidFill>
                <a:srgbClr val="FFFFFF"/>
              </a:solidFill>
              <a:latin typeface="Aptos" panose="020B0004020202020204" pitchFamily="34" charset="0"/>
            </a:endParaRPr>
          </a:p>
        </p:txBody>
      </p:sp>
      <p:sp>
        <p:nvSpPr>
          <p:cNvPr id="126" name="Text 23">
            <a:extLst>
              <a:ext uri="{FF2B5EF4-FFF2-40B4-BE49-F238E27FC236}">
                <a16:creationId xmlns:a16="http://schemas.microsoft.com/office/drawing/2014/main" id="{272F275C-E654-ADDA-A00C-03320F846DE4}"/>
              </a:ext>
            </a:extLst>
          </p:cNvPr>
          <p:cNvSpPr txBox="1"/>
          <p:nvPr/>
        </p:nvSpPr>
        <p:spPr>
          <a:xfrm>
            <a:off x="9873589" y="3636587"/>
            <a:ext cx="1998227" cy="1118353"/>
          </a:xfrm>
          <a:prstGeom prst="rect">
            <a:avLst/>
          </a:prstGeom>
          <a:noFill/>
          <a:ln/>
        </p:spPr>
        <p:txBody>
          <a:bodyPr wrap="square" lIns="50800" tIns="25400" rIns="50800" bIns="25400" rtlCol="0" anchor="ctr"/>
          <a:lstStyle/>
          <a:p>
            <a:pPr>
              <a:lnSpc>
                <a:spcPts val="1188"/>
              </a:lnSpc>
            </a:pPr>
            <a:r>
              <a:rPr lang="en-US" altLang="zh-CN" sz="900">
                <a:solidFill>
                  <a:srgbClr val="1B2434"/>
                </a:solidFill>
                <a:latin typeface="Aptos" panose="020B0004020202020204" pitchFamily="34" charset="0"/>
              </a:rPr>
              <a:t>Input the new credit/Debit unit price. The Credit unit price is </a:t>
            </a:r>
            <a:r>
              <a:rPr lang="zh-CN" altLang="zh-CN" sz="900">
                <a:solidFill>
                  <a:srgbClr val="1B2434"/>
                </a:solidFill>
                <a:latin typeface="Aptos" panose="020B0004020202020204" pitchFamily="34" charset="0"/>
              </a:rPr>
              <a:t>user-definable</a:t>
            </a:r>
            <a:r>
              <a:rPr lang="en-US" altLang="zh-CN" sz="900">
                <a:solidFill>
                  <a:srgbClr val="1B2434"/>
                </a:solidFill>
                <a:latin typeface="Aptos" panose="020B0004020202020204" pitchFamily="34" charset="0"/>
              </a:rPr>
              <a:t>.The</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new</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Credit</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Amount = Credit unit price </a:t>
            </a:r>
            <a:r>
              <a:rPr lang="zh-CN" altLang="zh-CN" sz="900">
                <a:solidFill>
                  <a:srgbClr val="1B2434"/>
                </a:solidFill>
                <a:latin typeface="Aptos" panose="020B0004020202020204" pitchFamily="34" charset="0"/>
              </a:rPr>
              <a:t>multiplie</a:t>
            </a:r>
            <a:r>
              <a:rPr lang="en-US" altLang="zh-CN" sz="900">
                <a:solidFill>
                  <a:srgbClr val="1B2434"/>
                </a:solidFill>
                <a:latin typeface="Aptos" panose="020B0004020202020204" pitchFamily="34" charset="0"/>
              </a:rPr>
              <a:t> Credit Qty. but the credit amount must less than the original amount.</a:t>
            </a:r>
          </a:p>
        </p:txBody>
      </p:sp>
      <p:sp>
        <p:nvSpPr>
          <p:cNvPr id="128" name="Shape 5">
            <a:extLst>
              <a:ext uri="{FF2B5EF4-FFF2-40B4-BE49-F238E27FC236}">
                <a16:creationId xmlns:a16="http://schemas.microsoft.com/office/drawing/2014/main" id="{6012F53D-18FB-0AD3-8D79-8C3264ADCAD3}"/>
              </a:ext>
            </a:extLst>
          </p:cNvPr>
          <p:cNvSpPr/>
          <p:nvPr/>
        </p:nvSpPr>
        <p:spPr>
          <a:xfrm>
            <a:off x="9430981" y="4014095"/>
            <a:ext cx="334297" cy="297004"/>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7</a:t>
            </a:r>
            <a:endParaRPr lang="zh-CN" altLang="en-US" sz="1200" b="1">
              <a:solidFill>
                <a:srgbClr val="FFFFFF"/>
              </a:solidFill>
              <a:latin typeface="Aptos" panose="020B0004020202020204" pitchFamily="34" charset="0"/>
            </a:endParaRPr>
          </a:p>
        </p:txBody>
      </p:sp>
      <p:sp>
        <p:nvSpPr>
          <p:cNvPr id="130" name="Text 23">
            <a:extLst>
              <a:ext uri="{FF2B5EF4-FFF2-40B4-BE49-F238E27FC236}">
                <a16:creationId xmlns:a16="http://schemas.microsoft.com/office/drawing/2014/main" id="{03FD4B52-D53E-A2D6-86EA-303279C8B5AC}"/>
              </a:ext>
            </a:extLst>
          </p:cNvPr>
          <p:cNvSpPr txBox="1"/>
          <p:nvPr/>
        </p:nvSpPr>
        <p:spPr>
          <a:xfrm>
            <a:off x="9873590" y="4817565"/>
            <a:ext cx="1998226" cy="527383"/>
          </a:xfrm>
          <a:prstGeom prst="rect">
            <a:avLst/>
          </a:prstGeom>
          <a:noFill/>
          <a:ln/>
        </p:spPr>
        <p:txBody>
          <a:bodyPr wrap="square" lIns="50800" tIns="25400" rIns="50800" bIns="25400" rtlCol="0" anchor="ctr"/>
          <a:lstStyle/>
          <a:p>
            <a:pPr>
              <a:lnSpc>
                <a:spcPts val="1188"/>
              </a:lnSpc>
            </a:pPr>
            <a:r>
              <a:rPr lang="en-US" altLang="zh-CN" sz="900">
                <a:solidFill>
                  <a:srgbClr val="1B2434"/>
                </a:solidFill>
                <a:latin typeface="Aptos" panose="020B0004020202020204" pitchFamily="34" charset="0"/>
              </a:rPr>
              <a:t>If everything is ok, then Click the “Process Adjustment” button to next step.</a:t>
            </a:r>
          </a:p>
        </p:txBody>
      </p:sp>
      <p:sp>
        <p:nvSpPr>
          <p:cNvPr id="132" name="Shape 5">
            <a:extLst>
              <a:ext uri="{FF2B5EF4-FFF2-40B4-BE49-F238E27FC236}">
                <a16:creationId xmlns:a16="http://schemas.microsoft.com/office/drawing/2014/main" id="{3727C065-5E8F-7DEA-A0A4-00DE7A11B029}"/>
              </a:ext>
            </a:extLst>
          </p:cNvPr>
          <p:cNvSpPr/>
          <p:nvPr/>
        </p:nvSpPr>
        <p:spPr>
          <a:xfrm>
            <a:off x="9430981" y="4894461"/>
            <a:ext cx="334297" cy="297004"/>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8</a:t>
            </a:r>
            <a:endParaRPr lang="zh-CN" altLang="en-US" sz="1200" b="1">
              <a:solidFill>
                <a:srgbClr val="FFFFFF"/>
              </a:solidFill>
              <a:latin typeface="Aptos" panose="020B0004020202020204" pitchFamily="34" charset="0"/>
            </a:endParaRPr>
          </a:p>
        </p:txBody>
      </p:sp>
      <p:sp>
        <p:nvSpPr>
          <p:cNvPr id="135" name="Title 10">
            <a:extLst>
              <a:ext uri="{FF2B5EF4-FFF2-40B4-BE49-F238E27FC236}">
                <a16:creationId xmlns:a16="http://schemas.microsoft.com/office/drawing/2014/main" id="{33387D85-9614-B1E1-09E1-C2C9FA52C204}"/>
              </a:ext>
            </a:extLst>
          </p:cNvPr>
          <p:cNvSpPr txBox="1">
            <a:spLocks/>
          </p:cNvSpPr>
          <p:nvPr/>
        </p:nvSpPr>
        <p:spPr>
          <a:xfrm>
            <a:off x="330200" y="895254"/>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CMR/DRM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
        <p:nvSpPr>
          <p:cNvPr id="2" name="Shape 5">
            <a:extLst>
              <a:ext uri="{FF2B5EF4-FFF2-40B4-BE49-F238E27FC236}">
                <a16:creationId xmlns:a16="http://schemas.microsoft.com/office/drawing/2014/main" id="{2E44939C-9C08-B68E-F1F0-9BBA24A8B9ED}"/>
              </a:ext>
            </a:extLst>
          </p:cNvPr>
          <p:cNvSpPr/>
          <p:nvPr/>
        </p:nvSpPr>
        <p:spPr>
          <a:xfrm>
            <a:off x="9430980" y="1984274"/>
            <a:ext cx="334297" cy="297004"/>
          </a:xfrm>
          <a:prstGeom prst="ellipse">
            <a:avLst/>
          </a:prstGeom>
          <a:solidFill>
            <a:srgbClr val="E2231A"/>
          </a:solidFill>
          <a:ln w="15875">
            <a:noFill/>
            <a:prstDash val="solid"/>
          </a:ln>
        </p:spPr>
        <p:txBody>
          <a:bodyPr lIns="50800" tIns="25400" rIns="50800" bIns="25400" anchor="ctr"/>
          <a:lstStyle/>
          <a:p>
            <a:pPr algn="ctr"/>
            <a:r>
              <a:rPr lang="en-US" altLang="zh-CN" sz="1200" b="1">
                <a:solidFill>
                  <a:srgbClr val="FFFFFF"/>
                </a:solidFill>
                <a:latin typeface="Aptos" panose="020B0004020202020204" pitchFamily="34" charset="0"/>
              </a:rPr>
              <a:t>4</a:t>
            </a:r>
            <a:endParaRPr lang="zh-CN" altLang="en-US" sz="1200" b="1">
              <a:solidFill>
                <a:srgbClr val="FFFFFF"/>
              </a:solidFill>
              <a:latin typeface="Aptos" panose="020B0004020202020204" pitchFamily="34" charset="0"/>
            </a:endParaRPr>
          </a:p>
        </p:txBody>
      </p:sp>
    </p:spTree>
    <p:extLst>
      <p:ext uri="{BB962C8B-B14F-4D97-AF65-F5344CB8AC3E}">
        <p14:creationId xmlns:p14="http://schemas.microsoft.com/office/powerpoint/2010/main" val="3605360953"/>
      </p:ext>
    </p:extLst>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8374A-21AF-4957-A535-F0868683E8C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FF4BA71-B49C-E55F-E9A5-7EAB224A5C99}"/>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pic>
        <p:nvPicPr>
          <p:cNvPr id="7" name="图片 6">
            <a:extLst>
              <a:ext uri="{FF2B5EF4-FFF2-40B4-BE49-F238E27FC236}">
                <a16:creationId xmlns:a16="http://schemas.microsoft.com/office/drawing/2014/main" id="{DB04C24F-6F0C-7174-CF6D-6EA48C7F4D40}"/>
              </a:ext>
            </a:extLst>
          </p:cNvPr>
          <p:cNvPicPr>
            <a:picLocks noChangeAspect="1"/>
          </p:cNvPicPr>
          <p:nvPr/>
        </p:nvPicPr>
        <p:blipFill>
          <a:blip r:embed="rId2"/>
          <a:stretch>
            <a:fillRect/>
          </a:stretch>
        </p:blipFill>
        <p:spPr>
          <a:xfrm>
            <a:off x="290050" y="3765756"/>
            <a:ext cx="8770375" cy="2986050"/>
          </a:xfrm>
          <a:prstGeom prst="rect">
            <a:avLst/>
          </a:prstGeom>
        </p:spPr>
      </p:pic>
      <p:sp>
        <p:nvSpPr>
          <p:cNvPr id="26" name="Shape 5">
            <a:extLst>
              <a:ext uri="{FF2B5EF4-FFF2-40B4-BE49-F238E27FC236}">
                <a16:creationId xmlns:a16="http://schemas.microsoft.com/office/drawing/2014/main" id="{6D0B2FAC-CC13-170C-9B6B-6618A19F2859}"/>
              </a:ext>
            </a:extLst>
          </p:cNvPr>
          <p:cNvSpPr/>
          <p:nvPr/>
        </p:nvSpPr>
        <p:spPr>
          <a:xfrm>
            <a:off x="7441363" y="5180125"/>
            <a:ext cx="390031" cy="288000"/>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11</a:t>
            </a:r>
            <a:endParaRPr lang="zh-CN" altLang="en-US" sz="1200" b="1">
              <a:solidFill>
                <a:srgbClr val="FFFFFF"/>
              </a:solidFill>
              <a:latin typeface="Aptos" panose="020B0004020202020204" pitchFamily="34" charset="0"/>
            </a:endParaRPr>
          </a:p>
        </p:txBody>
      </p:sp>
      <p:grpSp>
        <p:nvGrpSpPr>
          <p:cNvPr id="43" name="组合 42">
            <a:extLst>
              <a:ext uri="{FF2B5EF4-FFF2-40B4-BE49-F238E27FC236}">
                <a16:creationId xmlns:a16="http://schemas.microsoft.com/office/drawing/2014/main" id="{0C47CDC2-04B3-9C6D-5931-3617709202D5}"/>
              </a:ext>
            </a:extLst>
          </p:cNvPr>
          <p:cNvGrpSpPr/>
          <p:nvPr/>
        </p:nvGrpSpPr>
        <p:grpSpPr>
          <a:xfrm>
            <a:off x="881496" y="1592828"/>
            <a:ext cx="8006865" cy="2172928"/>
            <a:chOff x="881496" y="1193320"/>
            <a:chExt cx="8006865" cy="2326630"/>
          </a:xfrm>
        </p:grpSpPr>
        <p:pic>
          <p:nvPicPr>
            <p:cNvPr id="5" name="图片 4">
              <a:extLst>
                <a:ext uri="{FF2B5EF4-FFF2-40B4-BE49-F238E27FC236}">
                  <a16:creationId xmlns:a16="http://schemas.microsoft.com/office/drawing/2014/main" id="{2DC61721-D052-738A-CB8F-8E1E1FB075DB}"/>
                </a:ext>
              </a:extLst>
            </p:cNvPr>
            <p:cNvPicPr>
              <a:picLocks noChangeAspect="1"/>
            </p:cNvPicPr>
            <p:nvPr/>
          </p:nvPicPr>
          <p:blipFill>
            <a:blip r:embed="rId3"/>
            <a:stretch>
              <a:fillRect/>
            </a:stretch>
          </p:blipFill>
          <p:spPr>
            <a:xfrm>
              <a:off x="881496" y="1193320"/>
              <a:ext cx="7587481" cy="2326630"/>
            </a:xfrm>
            <a:prstGeom prst="rect">
              <a:avLst/>
            </a:prstGeom>
          </p:spPr>
        </p:pic>
        <p:sp>
          <p:nvSpPr>
            <p:cNvPr id="11" name="Shape 5">
              <a:extLst>
                <a:ext uri="{FF2B5EF4-FFF2-40B4-BE49-F238E27FC236}">
                  <a16:creationId xmlns:a16="http://schemas.microsoft.com/office/drawing/2014/main" id="{3F2043DA-3A29-4BA1-C3C8-92FA6D49F37C}"/>
                </a:ext>
              </a:extLst>
            </p:cNvPr>
            <p:cNvSpPr/>
            <p:nvPr/>
          </p:nvSpPr>
          <p:spPr>
            <a:xfrm>
              <a:off x="2623556" y="2356635"/>
              <a:ext cx="334297" cy="231050"/>
            </a:xfrm>
            <a:prstGeom prst="ellipse">
              <a:avLst/>
            </a:prstGeom>
            <a:solidFill>
              <a:srgbClr val="D8232A"/>
            </a:solidFill>
            <a:ln w="15875">
              <a:solidFill>
                <a:srgbClr val="FFFFFF"/>
              </a:solidFill>
              <a:prstDash val="solid"/>
            </a:ln>
          </p:spPr>
          <p:txBody>
            <a:bodyPr anchor="ctr"/>
            <a:lstStyle/>
            <a:p>
              <a:r>
                <a:rPr lang="en-US" altLang="zh-CN" sz="1000" b="1">
                  <a:solidFill>
                    <a:schemeClr val="bg1"/>
                  </a:solidFill>
                </a:rPr>
                <a:t>9</a:t>
              </a:r>
              <a:endParaRPr lang="zh-CN" altLang="en-US" sz="1000" b="1">
                <a:solidFill>
                  <a:schemeClr val="bg1"/>
                </a:solidFill>
              </a:endParaRPr>
            </a:p>
          </p:txBody>
        </p:sp>
        <p:sp>
          <p:nvSpPr>
            <p:cNvPr id="24" name="Shape 5">
              <a:extLst>
                <a:ext uri="{FF2B5EF4-FFF2-40B4-BE49-F238E27FC236}">
                  <a16:creationId xmlns:a16="http://schemas.microsoft.com/office/drawing/2014/main" id="{3139A6D5-EC4C-7078-CA60-F409A613CFF2}"/>
                </a:ext>
              </a:extLst>
            </p:cNvPr>
            <p:cNvSpPr/>
            <p:nvPr/>
          </p:nvSpPr>
          <p:spPr>
            <a:xfrm>
              <a:off x="1015982" y="2812027"/>
              <a:ext cx="390031" cy="288000"/>
            </a:xfrm>
            <a:prstGeom prst="ellipse">
              <a:avLst/>
            </a:prstGeom>
            <a:solidFill>
              <a:srgbClr val="D8232A"/>
            </a:solidFill>
            <a:ln w="15875">
              <a:solidFill>
                <a:srgbClr val="FFFFFF"/>
              </a:solidFill>
              <a:prstDash val="solid"/>
            </a:ln>
          </p:spPr>
          <p:txBody>
            <a:bodyPr anchor="ctr"/>
            <a:lstStyle/>
            <a:p>
              <a:r>
                <a:rPr lang="en-US" altLang="zh-CN" sz="600" b="1">
                  <a:solidFill>
                    <a:schemeClr val="bg1"/>
                  </a:solidFill>
                </a:rPr>
                <a:t>10</a:t>
              </a:r>
              <a:endParaRPr lang="zh-CN" altLang="en-US" sz="600" b="1">
                <a:solidFill>
                  <a:schemeClr val="bg1"/>
                </a:solidFill>
              </a:endParaRPr>
            </a:p>
          </p:txBody>
        </p:sp>
        <p:sp>
          <p:nvSpPr>
            <p:cNvPr id="30" name="文本框 29">
              <a:extLst>
                <a:ext uri="{FF2B5EF4-FFF2-40B4-BE49-F238E27FC236}">
                  <a16:creationId xmlns:a16="http://schemas.microsoft.com/office/drawing/2014/main" id="{907E1A1D-C26C-4FC1-8D1F-4C23B7DFB6DE}"/>
                </a:ext>
              </a:extLst>
            </p:cNvPr>
            <p:cNvSpPr txBox="1"/>
            <p:nvPr/>
          </p:nvSpPr>
          <p:spPr>
            <a:xfrm>
              <a:off x="3159079" y="2356635"/>
              <a:ext cx="5729282" cy="553998"/>
            </a:xfrm>
            <a:prstGeom prst="rect">
              <a:avLst/>
            </a:prstGeom>
            <a:noFill/>
          </p:spPr>
          <p:txBody>
            <a:bodyPr wrap="square">
              <a:spAutoFit/>
            </a:bodyPr>
            <a:lstStyle/>
            <a:p>
              <a:r>
                <a:rPr lang="zh-CN" altLang="zh-CN" sz="1500" b="1" i="0">
                  <a:solidFill>
                    <a:srgbClr val="FF0000"/>
                  </a:solidFill>
                  <a:effectLst/>
                  <a:latin typeface="quote-cjk-patch"/>
                </a:rPr>
                <a:t>In </a:t>
              </a:r>
              <a:r>
                <a:rPr lang="en-US" altLang="zh-CN" sz="1500" b="1">
                  <a:solidFill>
                    <a:srgbClr val="FF0000"/>
                  </a:solidFill>
                  <a:latin typeface="quote-cjk-patch"/>
                </a:rPr>
                <a:t>My request </a:t>
              </a:r>
              <a:r>
                <a:rPr lang="zh-CN" altLang="zh-CN" sz="1500" b="1" i="0">
                  <a:solidFill>
                    <a:srgbClr val="FF0000"/>
                  </a:solidFill>
                  <a:effectLst/>
                  <a:latin typeface="quote-cjk-patch"/>
                </a:rPr>
                <a:t>list, the first</a:t>
              </a:r>
              <a:r>
                <a:rPr lang="en-US" altLang="zh-CN" sz="1500" b="1" i="0">
                  <a:solidFill>
                    <a:srgbClr val="FF0000"/>
                  </a:solidFill>
                  <a:effectLst/>
                  <a:latin typeface="quote-cjk-patch"/>
                </a:rPr>
                <a:t> requ</a:t>
              </a:r>
              <a:r>
                <a:rPr lang="en-US" altLang="zh-CN" sz="1500" b="1">
                  <a:solidFill>
                    <a:srgbClr val="FF0000"/>
                  </a:solidFill>
                  <a:latin typeface="quote-cjk-patch"/>
                </a:rPr>
                <a:t>est ID</a:t>
              </a:r>
              <a:r>
                <a:rPr lang="zh-CN" altLang="zh-CN" sz="1500" b="1" i="0">
                  <a:solidFill>
                    <a:srgbClr val="FF0000"/>
                  </a:solidFill>
                  <a:effectLst/>
                  <a:latin typeface="quote-cjk-patch"/>
                </a:rPr>
                <a:t> </a:t>
              </a:r>
              <a:r>
                <a:rPr lang="en-US" altLang="zh-CN" sz="1500" b="1">
                  <a:solidFill>
                    <a:srgbClr val="FF0000"/>
                  </a:solidFill>
                  <a:latin typeface="quote-cjk-patch"/>
                </a:rPr>
                <a:t>is</a:t>
              </a:r>
              <a:r>
                <a:rPr lang="zh-CN" altLang="zh-CN" sz="1500" b="1" i="0">
                  <a:solidFill>
                    <a:srgbClr val="FF0000"/>
                  </a:solidFill>
                  <a:effectLst/>
                  <a:latin typeface="quote-cjk-patch"/>
                </a:rPr>
                <a:t> the</a:t>
              </a:r>
              <a:r>
                <a:rPr lang="en-US" altLang="zh-CN" sz="1500" b="1" i="0">
                  <a:solidFill>
                    <a:srgbClr val="FF0000"/>
                  </a:solidFill>
                  <a:effectLst/>
                  <a:latin typeface="quote-cjk-patch"/>
                </a:rPr>
                <a:t> Manual Credit Memo/Debit Memo request.</a:t>
              </a:r>
              <a:endParaRPr lang="zh-CN" altLang="en-US" sz="1500">
                <a:solidFill>
                  <a:srgbClr val="FF0000"/>
                </a:solidFill>
              </a:endParaRPr>
            </a:p>
          </p:txBody>
        </p:sp>
      </p:grpSp>
      <p:sp>
        <p:nvSpPr>
          <p:cNvPr id="34" name="Shape 5">
            <a:extLst>
              <a:ext uri="{FF2B5EF4-FFF2-40B4-BE49-F238E27FC236}">
                <a16:creationId xmlns:a16="http://schemas.microsoft.com/office/drawing/2014/main" id="{F3ABF93F-7AC0-2875-4050-9ACCB0174E82}"/>
              </a:ext>
            </a:extLst>
          </p:cNvPr>
          <p:cNvSpPr/>
          <p:nvPr/>
        </p:nvSpPr>
        <p:spPr>
          <a:xfrm>
            <a:off x="9518761" y="2040617"/>
            <a:ext cx="334297" cy="231050"/>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9</a:t>
            </a:r>
            <a:endParaRPr lang="zh-CN" altLang="en-US" sz="1200" b="1">
              <a:solidFill>
                <a:srgbClr val="FFFFFF"/>
              </a:solidFill>
              <a:latin typeface="Aptos" panose="020B0004020202020204" pitchFamily="34" charset="0"/>
            </a:endParaRPr>
          </a:p>
        </p:txBody>
      </p:sp>
      <p:sp>
        <p:nvSpPr>
          <p:cNvPr id="36" name="Text 23">
            <a:extLst>
              <a:ext uri="{FF2B5EF4-FFF2-40B4-BE49-F238E27FC236}">
                <a16:creationId xmlns:a16="http://schemas.microsoft.com/office/drawing/2014/main" id="{45DE4FC5-B3B7-D40A-D2DE-9E4D1ABE83C8}"/>
              </a:ext>
            </a:extLst>
          </p:cNvPr>
          <p:cNvSpPr txBox="1"/>
          <p:nvPr/>
        </p:nvSpPr>
        <p:spPr>
          <a:xfrm>
            <a:off x="9929588" y="1947203"/>
            <a:ext cx="1839625" cy="356789"/>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Go to the “My</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Request”</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Tab.</a:t>
            </a:r>
            <a:endParaRPr lang="en-US" sz="900">
              <a:solidFill>
                <a:srgbClr val="1B2434"/>
              </a:solidFill>
              <a:latin typeface="Aptos" panose="020B0004020202020204" pitchFamily="34" charset="0"/>
            </a:endParaRPr>
          </a:p>
        </p:txBody>
      </p:sp>
      <p:sp>
        <p:nvSpPr>
          <p:cNvPr id="40" name="Text 23">
            <a:extLst>
              <a:ext uri="{FF2B5EF4-FFF2-40B4-BE49-F238E27FC236}">
                <a16:creationId xmlns:a16="http://schemas.microsoft.com/office/drawing/2014/main" id="{8186FBEF-35A7-2728-3166-654D940DD2EB}"/>
              </a:ext>
            </a:extLst>
          </p:cNvPr>
          <p:cNvSpPr txBox="1"/>
          <p:nvPr/>
        </p:nvSpPr>
        <p:spPr>
          <a:xfrm>
            <a:off x="9929588" y="2282903"/>
            <a:ext cx="1839625" cy="356789"/>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Click the first item of request ID.</a:t>
            </a:r>
            <a:endParaRPr lang="en-US" sz="900">
              <a:solidFill>
                <a:srgbClr val="1B2434"/>
              </a:solidFill>
              <a:latin typeface="Aptos" panose="020B0004020202020204" pitchFamily="34" charset="0"/>
            </a:endParaRPr>
          </a:p>
        </p:txBody>
      </p:sp>
      <p:sp>
        <p:nvSpPr>
          <p:cNvPr id="42" name="Shape 5">
            <a:extLst>
              <a:ext uri="{FF2B5EF4-FFF2-40B4-BE49-F238E27FC236}">
                <a16:creationId xmlns:a16="http://schemas.microsoft.com/office/drawing/2014/main" id="{C6A09B32-E608-5C9C-27E5-0D8DD8774C7B}"/>
              </a:ext>
            </a:extLst>
          </p:cNvPr>
          <p:cNvSpPr/>
          <p:nvPr/>
        </p:nvSpPr>
        <p:spPr>
          <a:xfrm>
            <a:off x="9490894" y="2358317"/>
            <a:ext cx="390031" cy="288000"/>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10</a:t>
            </a:r>
            <a:endParaRPr lang="zh-CN" altLang="en-US" sz="1200" b="1">
              <a:solidFill>
                <a:srgbClr val="FFFFFF"/>
              </a:solidFill>
              <a:latin typeface="Aptos" panose="020B0004020202020204" pitchFamily="34" charset="0"/>
            </a:endParaRPr>
          </a:p>
        </p:txBody>
      </p:sp>
      <p:sp>
        <p:nvSpPr>
          <p:cNvPr id="45" name="Title 10">
            <a:extLst>
              <a:ext uri="{FF2B5EF4-FFF2-40B4-BE49-F238E27FC236}">
                <a16:creationId xmlns:a16="http://schemas.microsoft.com/office/drawing/2014/main" id="{EACE3E4C-66A3-CA79-FBCE-446DCE0C355F}"/>
              </a:ext>
            </a:extLst>
          </p:cNvPr>
          <p:cNvSpPr txBox="1">
            <a:spLocks/>
          </p:cNvSpPr>
          <p:nvPr/>
        </p:nvSpPr>
        <p:spPr>
          <a:xfrm>
            <a:off x="330200" y="889000"/>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CMR/DRM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
        <p:nvSpPr>
          <p:cNvPr id="47" name="Text 23">
            <a:extLst>
              <a:ext uri="{FF2B5EF4-FFF2-40B4-BE49-F238E27FC236}">
                <a16:creationId xmlns:a16="http://schemas.microsoft.com/office/drawing/2014/main" id="{5AE38ECF-3828-899D-7448-DBEB39B4EE9E}"/>
              </a:ext>
            </a:extLst>
          </p:cNvPr>
          <p:cNvSpPr txBox="1"/>
          <p:nvPr/>
        </p:nvSpPr>
        <p:spPr>
          <a:xfrm>
            <a:off x="9953505" y="2761247"/>
            <a:ext cx="1839625" cy="356789"/>
          </a:xfrm>
          <a:prstGeom prst="rect">
            <a:avLst/>
          </a:prstGeom>
          <a:noFill/>
          <a:ln/>
        </p:spPr>
        <p:txBody>
          <a:bodyPr wrap="square" lIns="50800" tIns="25400" rIns="50800" bIns="25400" rtlCol="0" anchor="ctr"/>
          <a:lstStyle/>
          <a:p>
            <a:pPr marL="0" indent="0">
              <a:lnSpc>
                <a:spcPts val="1188"/>
              </a:lnSpc>
              <a:buNone/>
            </a:pPr>
            <a:r>
              <a:rPr lang="en-US" altLang="zh-CN" sz="900">
                <a:solidFill>
                  <a:srgbClr val="1B2434"/>
                </a:solidFill>
                <a:latin typeface="Aptos" panose="020B0004020202020204" pitchFamily="34" charset="0"/>
              </a:rPr>
              <a:t>Go to the new request ID and check the CMR/DMR unit price, Qty,</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and</a:t>
            </a:r>
            <a:r>
              <a:rPr lang="zh-CN" altLang="en-US" sz="900">
                <a:solidFill>
                  <a:srgbClr val="1B2434"/>
                </a:solidFill>
                <a:latin typeface="Aptos" panose="020B0004020202020204" pitchFamily="34" charset="0"/>
              </a:rPr>
              <a:t> </a:t>
            </a:r>
            <a:r>
              <a:rPr lang="en-US" altLang="zh-CN" sz="900">
                <a:solidFill>
                  <a:srgbClr val="1B2434"/>
                </a:solidFill>
                <a:latin typeface="Aptos" panose="020B0004020202020204" pitchFamily="34" charset="0"/>
              </a:rPr>
              <a:t>amount</a:t>
            </a:r>
            <a:endParaRPr lang="en-US" sz="900">
              <a:solidFill>
                <a:srgbClr val="1B2434"/>
              </a:solidFill>
              <a:latin typeface="Aptos" panose="020B0004020202020204" pitchFamily="34" charset="0"/>
            </a:endParaRPr>
          </a:p>
        </p:txBody>
      </p:sp>
      <p:sp>
        <p:nvSpPr>
          <p:cNvPr id="49" name="Shape 5">
            <a:extLst>
              <a:ext uri="{FF2B5EF4-FFF2-40B4-BE49-F238E27FC236}">
                <a16:creationId xmlns:a16="http://schemas.microsoft.com/office/drawing/2014/main" id="{E6B0791C-95BE-0C57-6EED-B41E0F6B1A48}"/>
              </a:ext>
            </a:extLst>
          </p:cNvPr>
          <p:cNvSpPr/>
          <p:nvPr/>
        </p:nvSpPr>
        <p:spPr>
          <a:xfrm>
            <a:off x="9490894" y="2795641"/>
            <a:ext cx="390031" cy="288000"/>
          </a:xfrm>
          <a:prstGeom prst="ellipse">
            <a:avLst/>
          </a:prstGeom>
          <a:solidFill>
            <a:srgbClr val="E2231A"/>
          </a:solidFill>
          <a:ln w="15875">
            <a:noFill/>
            <a:prstDash val="solid"/>
          </a:ln>
          <a:extLst>
            <a:ext uri="{91240B29-F687-4F45-9708-019B960494DF}">
              <a14:hiddenLine xmlns:a14="http://schemas.microsoft.com/office/drawing/2010/main" w="15875">
                <a:solidFill>
                  <a:srgbClr val="FFFFFF"/>
                </a:solidFill>
                <a:prstDash val="solid"/>
              </a14:hiddenLine>
            </a:ext>
          </a:extLst>
        </p:spPr>
        <p:txBody>
          <a:bodyPr lIns="50800" tIns="25400" rIns="50800" bIns="25400" anchor="ctr"/>
          <a:lstStyle/>
          <a:p>
            <a:pPr algn="ctr"/>
            <a:r>
              <a:rPr lang="en-US" altLang="zh-CN" sz="1200" b="1">
                <a:solidFill>
                  <a:srgbClr val="FFFFFF"/>
                </a:solidFill>
                <a:latin typeface="Aptos" panose="020B0004020202020204" pitchFamily="34" charset="0"/>
              </a:rPr>
              <a:t>11</a:t>
            </a:r>
            <a:endParaRPr lang="zh-CN" altLang="en-US" sz="1200" b="1">
              <a:solidFill>
                <a:srgbClr val="FFFFFF"/>
              </a:solidFill>
              <a:latin typeface="Aptos" panose="020B0004020202020204" pitchFamily="34" charset="0"/>
            </a:endParaRPr>
          </a:p>
        </p:txBody>
      </p:sp>
    </p:spTree>
    <p:extLst>
      <p:ext uri="{BB962C8B-B14F-4D97-AF65-F5344CB8AC3E}">
        <p14:creationId xmlns:p14="http://schemas.microsoft.com/office/powerpoint/2010/main" val="3350585859"/>
      </p:ext>
    </p:extLst>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AC451-B22A-8E34-D236-47C04FF965B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8D18153-8247-AB98-E9DC-687F5CDD99AB}"/>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sp>
        <p:nvSpPr>
          <p:cNvPr id="45" name="Title 10">
            <a:extLst>
              <a:ext uri="{FF2B5EF4-FFF2-40B4-BE49-F238E27FC236}">
                <a16:creationId xmlns:a16="http://schemas.microsoft.com/office/drawing/2014/main" id="{3FF4B286-F09E-130F-25CD-A3E1B265BE46}"/>
              </a:ext>
            </a:extLst>
          </p:cNvPr>
          <p:cNvSpPr txBox="1">
            <a:spLocks/>
          </p:cNvSpPr>
          <p:nvPr/>
        </p:nvSpPr>
        <p:spPr>
          <a:xfrm>
            <a:off x="330200" y="889000"/>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CMR/DRM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pic>
        <p:nvPicPr>
          <p:cNvPr id="4" name="图片 3">
            <a:extLst>
              <a:ext uri="{FF2B5EF4-FFF2-40B4-BE49-F238E27FC236}">
                <a16:creationId xmlns:a16="http://schemas.microsoft.com/office/drawing/2014/main" id="{B68A055D-7720-D917-B5DA-AC08A3461188}"/>
              </a:ext>
            </a:extLst>
          </p:cNvPr>
          <p:cNvPicPr>
            <a:picLocks noChangeAspect="1"/>
          </p:cNvPicPr>
          <p:nvPr/>
        </p:nvPicPr>
        <p:blipFill>
          <a:blip r:embed="rId2"/>
          <a:stretch>
            <a:fillRect/>
          </a:stretch>
        </p:blipFill>
        <p:spPr>
          <a:xfrm>
            <a:off x="6096000" y="1699702"/>
            <a:ext cx="3022786" cy="1800086"/>
          </a:xfrm>
          <a:prstGeom prst="rect">
            <a:avLst/>
          </a:prstGeom>
        </p:spPr>
      </p:pic>
      <p:pic>
        <p:nvPicPr>
          <p:cNvPr id="8" name="图片 7">
            <a:extLst>
              <a:ext uri="{FF2B5EF4-FFF2-40B4-BE49-F238E27FC236}">
                <a16:creationId xmlns:a16="http://schemas.microsoft.com/office/drawing/2014/main" id="{22A536DA-0410-6851-EB3D-FC727978B4D3}"/>
              </a:ext>
            </a:extLst>
          </p:cNvPr>
          <p:cNvPicPr>
            <a:picLocks noChangeAspect="1"/>
          </p:cNvPicPr>
          <p:nvPr/>
        </p:nvPicPr>
        <p:blipFill>
          <a:blip r:embed="rId3"/>
          <a:stretch>
            <a:fillRect/>
          </a:stretch>
        </p:blipFill>
        <p:spPr>
          <a:xfrm>
            <a:off x="212030" y="3499788"/>
            <a:ext cx="8922141" cy="2491635"/>
          </a:xfrm>
          <a:prstGeom prst="rect">
            <a:avLst/>
          </a:prstGeom>
        </p:spPr>
      </p:pic>
      <p:sp>
        <p:nvSpPr>
          <p:cNvPr id="19" name="Text 23">
            <a:extLst>
              <a:ext uri="{FF2B5EF4-FFF2-40B4-BE49-F238E27FC236}">
                <a16:creationId xmlns:a16="http://schemas.microsoft.com/office/drawing/2014/main" id="{14284692-78EB-F2B1-1735-8B938C70C927}"/>
              </a:ext>
            </a:extLst>
          </p:cNvPr>
          <p:cNvSpPr txBox="1"/>
          <p:nvPr/>
        </p:nvSpPr>
        <p:spPr>
          <a:xfrm>
            <a:off x="9448800" y="1670649"/>
            <a:ext cx="2510905" cy="2491634"/>
          </a:xfrm>
          <a:prstGeom prst="rect">
            <a:avLst/>
          </a:prstGeom>
          <a:noFill/>
          <a:ln/>
        </p:spPr>
        <p:txBody>
          <a:bodyPr wrap="square" lIns="50800" tIns="25400" rIns="50800" bIns="25400" rtlCol="0" anchor="ctr"/>
          <a:lstStyle/>
          <a:p>
            <a:pPr marL="0" indent="0">
              <a:lnSpc>
                <a:spcPct val="150000"/>
              </a:lnSpc>
              <a:buNone/>
            </a:pPr>
            <a:r>
              <a:rPr lang="en-US" altLang="zh-CN" sz="1200">
                <a:solidFill>
                  <a:srgbClr val="1B2434"/>
                </a:solidFill>
                <a:latin typeface="Aptos" panose="020B0004020202020204" pitchFamily="34" charset="0"/>
              </a:rPr>
              <a:t>If some one is the approver, and go to the approve central, and in “My Approval” check box ,fund the original invoice and approve/Reject.</a:t>
            </a:r>
          </a:p>
          <a:p>
            <a:pPr marL="0" indent="0">
              <a:lnSpc>
                <a:spcPct val="150000"/>
              </a:lnSpc>
              <a:buNone/>
            </a:pPr>
            <a:r>
              <a:rPr lang="en-US" altLang="zh-CN" sz="1200">
                <a:solidFill>
                  <a:srgbClr val="1B2434"/>
                </a:solidFill>
                <a:latin typeface="Aptos" panose="020B0004020202020204" pitchFamily="34" charset="0"/>
              </a:rPr>
              <a:t>Approve: system Auto generate a CMR/DMR task ID and handle the rest of the steps. Like generate BIT, generate preview invoice.</a:t>
            </a:r>
          </a:p>
          <a:p>
            <a:pPr marL="0" indent="0">
              <a:lnSpc>
                <a:spcPct val="150000"/>
              </a:lnSpc>
              <a:buNone/>
            </a:pPr>
            <a:r>
              <a:rPr lang="en-US" altLang="zh-CN" sz="1200">
                <a:solidFill>
                  <a:srgbClr val="1B2434"/>
                </a:solidFill>
                <a:latin typeface="Aptos" panose="020B0004020202020204" pitchFamily="34" charset="0"/>
              </a:rPr>
              <a:t>Reject: Do nothing.</a:t>
            </a:r>
          </a:p>
        </p:txBody>
      </p:sp>
    </p:spTree>
    <p:extLst>
      <p:ext uri="{BB962C8B-B14F-4D97-AF65-F5344CB8AC3E}">
        <p14:creationId xmlns:p14="http://schemas.microsoft.com/office/powerpoint/2010/main" val="4049308770"/>
      </p:ext>
    </p:extLst>
  </p:cSld>
  <p:clrMapOvr>
    <a:masterClrMapping/>
  </p:clrMapOvr>
  <p:transition spd="me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8DAD7-265D-3553-42F7-15BB7B7C013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8F61352-41C8-DAF1-DA73-AEA3D0B4E429}"/>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sp>
        <p:nvSpPr>
          <p:cNvPr id="45" name="Title 10">
            <a:extLst>
              <a:ext uri="{FF2B5EF4-FFF2-40B4-BE49-F238E27FC236}">
                <a16:creationId xmlns:a16="http://schemas.microsoft.com/office/drawing/2014/main" id="{4D7119F8-4D10-35E6-A58A-771E9A0DB7C5}"/>
              </a:ext>
            </a:extLst>
          </p:cNvPr>
          <p:cNvSpPr txBox="1">
            <a:spLocks/>
          </p:cNvSpPr>
          <p:nvPr/>
        </p:nvSpPr>
        <p:spPr>
          <a:xfrm>
            <a:off x="330200" y="889000"/>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CMR/DRM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
        <p:nvSpPr>
          <p:cNvPr id="19" name="Text 23">
            <a:extLst>
              <a:ext uri="{FF2B5EF4-FFF2-40B4-BE49-F238E27FC236}">
                <a16:creationId xmlns:a16="http://schemas.microsoft.com/office/drawing/2014/main" id="{45F9855A-2A14-3191-BBA5-E22634BE3368}"/>
              </a:ext>
            </a:extLst>
          </p:cNvPr>
          <p:cNvSpPr txBox="1"/>
          <p:nvPr/>
        </p:nvSpPr>
        <p:spPr>
          <a:xfrm>
            <a:off x="9190268" y="1989622"/>
            <a:ext cx="2769437" cy="1677810"/>
          </a:xfrm>
          <a:prstGeom prst="rect">
            <a:avLst/>
          </a:prstGeom>
          <a:noFill/>
          <a:ln/>
        </p:spPr>
        <p:txBody>
          <a:bodyPr wrap="square" lIns="50800" tIns="25400" rIns="50800" bIns="25400" rtlCol="0" anchor="ctr"/>
          <a:lstStyle/>
          <a:p>
            <a:pPr>
              <a:lnSpc>
                <a:spcPts val="1188"/>
              </a:lnSpc>
            </a:pPr>
            <a:r>
              <a:rPr lang="en-US" altLang="zh-CN" sz="1100">
                <a:solidFill>
                  <a:srgbClr val="1B2434"/>
                </a:solidFill>
                <a:latin typeface="Aptos" panose="020B0004020202020204" pitchFamily="34" charset="0"/>
              </a:rPr>
              <a:t>After Approve,</a:t>
            </a:r>
            <a:r>
              <a:rPr lang="zh-CN" altLang="en-US" sz="1100">
                <a:solidFill>
                  <a:srgbClr val="1B2434"/>
                </a:solidFill>
                <a:latin typeface="Aptos" panose="020B0004020202020204" pitchFamily="34" charset="0"/>
              </a:rPr>
              <a:t> </a:t>
            </a:r>
            <a:r>
              <a:rPr lang="en-US" altLang="zh-CN" sz="1100">
                <a:solidFill>
                  <a:srgbClr val="1B2434"/>
                </a:solidFill>
                <a:latin typeface="Aptos" panose="020B0004020202020204" pitchFamily="34" charset="0"/>
              </a:rPr>
              <a:t>in</a:t>
            </a:r>
            <a:r>
              <a:rPr lang="zh-CN" altLang="en-US" sz="1100">
                <a:solidFill>
                  <a:srgbClr val="1B2434"/>
                </a:solidFill>
                <a:latin typeface="Aptos" panose="020B0004020202020204" pitchFamily="34" charset="0"/>
              </a:rPr>
              <a:t> </a:t>
            </a:r>
            <a:r>
              <a:rPr lang="en-US" altLang="zh-CN" sz="1100">
                <a:solidFill>
                  <a:srgbClr val="1B2434"/>
                </a:solidFill>
                <a:latin typeface="Aptos" panose="020B0004020202020204" pitchFamily="34" charset="0"/>
              </a:rPr>
              <a:t>the</a:t>
            </a:r>
            <a:r>
              <a:rPr lang="zh-CN" altLang="en-US" sz="1100">
                <a:solidFill>
                  <a:srgbClr val="1B2434"/>
                </a:solidFill>
                <a:latin typeface="Aptos" panose="020B0004020202020204" pitchFamily="34" charset="0"/>
              </a:rPr>
              <a:t> </a:t>
            </a:r>
            <a:r>
              <a:rPr lang="en-US" altLang="zh-CN" sz="1100">
                <a:solidFill>
                  <a:srgbClr val="1B2434"/>
                </a:solidFill>
                <a:latin typeface="Aptos" panose="020B0004020202020204" pitchFamily="34" charset="0"/>
              </a:rPr>
              <a:t>task request List tab, the first task id is</a:t>
            </a:r>
            <a:r>
              <a:rPr lang="zh-CN" altLang="zh-CN" sz="1100">
                <a:solidFill>
                  <a:srgbClr val="1B2434"/>
                </a:solidFill>
                <a:latin typeface="Aptos" panose="020B0004020202020204" pitchFamily="34" charset="0"/>
              </a:rPr>
              <a:t> the </a:t>
            </a:r>
            <a:r>
              <a:rPr lang="en-US" altLang="zh-CN" sz="1100">
                <a:solidFill>
                  <a:srgbClr val="1B2434"/>
                </a:solidFill>
                <a:latin typeface="Aptos" panose="020B0004020202020204" pitchFamily="34" charset="0"/>
              </a:rPr>
              <a:t>manual Invoice </a:t>
            </a:r>
            <a:r>
              <a:rPr lang="zh-CN" altLang="zh-CN" sz="1100">
                <a:solidFill>
                  <a:srgbClr val="1B2434"/>
                </a:solidFill>
                <a:latin typeface="Aptos" panose="020B0004020202020204" pitchFamily="34" charset="0"/>
              </a:rPr>
              <a:t>you just created</a:t>
            </a:r>
            <a:r>
              <a:rPr lang="en-US" altLang="zh-CN" sz="1100">
                <a:solidFill>
                  <a:srgbClr val="1B2434"/>
                </a:solidFill>
                <a:latin typeface="Aptos" panose="020B0004020202020204" pitchFamily="34" charset="0"/>
              </a:rPr>
              <a:t>.</a:t>
            </a:r>
          </a:p>
        </p:txBody>
      </p:sp>
      <p:pic>
        <p:nvPicPr>
          <p:cNvPr id="23" name="图片 22">
            <a:extLst>
              <a:ext uri="{FF2B5EF4-FFF2-40B4-BE49-F238E27FC236}">
                <a16:creationId xmlns:a16="http://schemas.microsoft.com/office/drawing/2014/main" id="{2C6C4DD9-243F-45F3-54EF-8D703B1C3A3E}"/>
              </a:ext>
            </a:extLst>
          </p:cNvPr>
          <p:cNvPicPr>
            <a:picLocks noChangeAspect="1"/>
          </p:cNvPicPr>
          <p:nvPr/>
        </p:nvPicPr>
        <p:blipFill>
          <a:blip r:embed="rId2"/>
          <a:stretch>
            <a:fillRect/>
          </a:stretch>
        </p:blipFill>
        <p:spPr>
          <a:xfrm>
            <a:off x="320182" y="1593107"/>
            <a:ext cx="8489521" cy="2251700"/>
          </a:xfrm>
          <a:prstGeom prst="rect">
            <a:avLst/>
          </a:prstGeom>
        </p:spPr>
      </p:pic>
      <p:pic>
        <p:nvPicPr>
          <p:cNvPr id="5" name="图片 4">
            <a:extLst>
              <a:ext uri="{FF2B5EF4-FFF2-40B4-BE49-F238E27FC236}">
                <a16:creationId xmlns:a16="http://schemas.microsoft.com/office/drawing/2014/main" id="{EE71C253-F1D9-B1C9-54DC-4FF41A11EA13}"/>
              </a:ext>
            </a:extLst>
          </p:cNvPr>
          <p:cNvPicPr>
            <a:picLocks noChangeAspect="1"/>
          </p:cNvPicPr>
          <p:nvPr/>
        </p:nvPicPr>
        <p:blipFill>
          <a:blip r:embed="rId3"/>
          <a:stretch>
            <a:fillRect/>
          </a:stretch>
        </p:blipFill>
        <p:spPr>
          <a:xfrm>
            <a:off x="320182" y="4331504"/>
            <a:ext cx="8489521" cy="2127156"/>
          </a:xfrm>
          <a:prstGeom prst="rect">
            <a:avLst/>
          </a:prstGeom>
        </p:spPr>
      </p:pic>
    </p:spTree>
    <p:extLst>
      <p:ext uri="{BB962C8B-B14F-4D97-AF65-F5344CB8AC3E}">
        <p14:creationId xmlns:p14="http://schemas.microsoft.com/office/powerpoint/2010/main" val="1871270080"/>
      </p:ext>
    </p:extLst>
  </p:cSld>
  <p:clrMapOvr>
    <a:masterClrMapping/>
  </p:clrMapOvr>
  <p:transition spd="me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6715C-0101-AC19-78E5-E57AEEB22E4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CCB761B-B779-45B9-55A1-6773C9D2C56B}"/>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sp>
        <p:nvSpPr>
          <p:cNvPr id="45" name="Title 10">
            <a:extLst>
              <a:ext uri="{FF2B5EF4-FFF2-40B4-BE49-F238E27FC236}">
                <a16:creationId xmlns:a16="http://schemas.microsoft.com/office/drawing/2014/main" id="{58507BA0-6BA1-21AF-2FFF-CE5C8836B4AB}"/>
              </a:ext>
            </a:extLst>
          </p:cNvPr>
          <p:cNvSpPr txBox="1">
            <a:spLocks/>
          </p:cNvSpPr>
          <p:nvPr/>
        </p:nvSpPr>
        <p:spPr>
          <a:xfrm>
            <a:off x="330200" y="889000"/>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CMR/DMR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sp>
        <p:nvSpPr>
          <p:cNvPr id="19" name="Text 23">
            <a:extLst>
              <a:ext uri="{FF2B5EF4-FFF2-40B4-BE49-F238E27FC236}">
                <a16:creationId xmlns:a16="http://schemas.microsoft.com/office/drawing/2014/main" id="{026ADA45-EA52-2843-DE4E-DA54CBC1A10E}"/>
              </a:ext>
            </a:extLst>
          </p:cNvPr>
          <p:cNvSpPr txBox="1"/>
          <p:nvPr/>
        </p:nvSpPr>
        <p:spPr>
          <a:xfrm>
            <a:off x="9144001" y="2042614"/>
            <a:ext cx="2769437" cy="2175424"/>
          </a:xfrm>
          <a:prstGeom prst="rect">
            <a:avLst/>
          </a:prstGeom>
          <a:noFill/>
          <a:ln/>
        </p:spPr>
        <p:txBody>
          <a:bodyPr wrap="square" lIns="50800" tIns="25400" rIns="50800" bIns="25400" rtlCol="0" anchor="ctr"/>
          <a:lstStyle/>
          <a:p>
            <a:pPr>
              <a:lnSpc>
                <a:spcPts val="1188"/>
              </a:lnSpc>
            </a:pPr>
            <a:r>
              <a:rPr lang="en-US" altLang="zh-CN" sz="1100">
                <a:solidFill>
                  <a:srgbClr val="1B2434"/>
                </a:solidFill>
                <a:latin typeface="Aptos" panose="020B0004020202020204" pitchFamily="34" charset="0"/>
              </a:rPr>
              <a:t>And in the Task ID detail, you can find the new manual CMR/DMR preview invoice/Statement.</a:t>
            </a:r>
          </a:p>
        </p:txBody>
      </p:sp>
      <p:pic>
        <p:nvPicPr>
          <p:cNvPr id="7" name="图片 6">
            <a:extLst>
              <a:ext uri="{FF2B5EF4-FFF2-40B4-BE49-F238E27FC236}">
                <a16:creationId xmlns:a16="http://schemas.microsoft.com/office/drawing/2014/main" id="{FA3ACF52-03A3-5EA6-1CC6-9BB65038183D}"/>
              </a:ext>
            </a:extLst>
          </p:cNvPr>
          <p:cNvPicPr>
            <a:picLocks noChangeAspect="1"/>
          </p:cNvPicPr>
          <p:nvPr/>
        </p:nvPicPr>
        <p:blipFill>
          <a:blip r:embed="rId2"/>
          <a:stretch>
            <a:fillRect/>
          </a:stretch>
        </p:blipFill>
        <p:spPr>
          <a:xfrm>
            <a:off x="320182" y="5101055"/>
            <a:ext cx="8823819" cy="1344253"/>
          </a:xfrm>
          <a:prstGeom prst="rect">
            <a:avLst/>
          </a:prstGeom>
        </p:spPr>
      </p:pic>
      <p:pic>
        <p:nvPicPr>
          <p:cNvPr id="9" name="图片 8">
            <a:extLst>
              <a:ext uri="{FF2B5EF4-FFF2-40B4-BE49-F238E27FC236}">
                <a16:creationId xmlns:a16="http://schemas.microsoft.com/office/drawing/2014/main" id="{E6EEBECC-BFB3-7011-81F5-29AF076905A1}"/>
              </a:ext>
            </a:extLst>
          </p:cNvPr>
          <p:cNvPicPr>
            <a:picLocks noChangeAspect="1"/>
          </p:cNvPicPr>
          <p:nvPr/>
        </p:nvPicPr>
        <p:blipFill>
          <a:blip r:embed="rId3"/>
          <a:stretch>
            <a:fillRect/>
          </a:stretch>
        </p:blipFill>
        <p:spPr>
          <a:xfrm>
            <a:off x="1564206" y="1590256"/>
            <a:ext cx="5919620" cy="3260416"/>
          </a:xfrm>
          <a:prstGeom prst="rect">
            <a:avLst/>
          </a:prstGeom>
        </p:spPr>
      </p:pic>
    </p:spTree>
    <p:extLst>
      <p:ext uri="{BB962C8B-B14F-4D97-AF65-F5344CB8AC3E}">
        <p14:creationId xmlns:p14="http://schemas.microsoft.com/office/powerpoint/2010/main" val="2030267707"/>
      </p:ext>
    </p:extLst>
  </p:cSld>
  <p:clrMapOvr>
    <a:masterClrMapping/>
  </p:clrMapOvr>
  <p:transition spd="me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E5738-4909-C481-83C9-F149943FD5E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E6333B0-A236-371C-0075-0383854CCA21}"/>
              </a:ext>
            </a:extLst>
          </p:cNvPr>
          <p:cNvSpPr>
            <a:spLocks noGrp="1"/>
          </p:cNvSpPr>
          <p:nvPr>
            <p:ph type="title"/>
          </p:nvPr>
        </p:nvSpPr>
        <p:spPr>
          <a:xfrm>
            <a:off x="330200" y="177799"/>
            <a:ext cx="11303000" cy="381000"/>
          </a:xfrm>
        </p:spPr>
        <p:txBody>
          <a:bodyPr/>
          <a:lstStyle/>
          <a:p>
            <a:r>
              <a:rPr lang="en-US" altLang="zh-CN" sz="3400" kern="0">
                <a:solidFill>
                  <a:srgbClr val="000000"/>
                </a:solidFill>
                <a:latin typeface="Aptos Display" panose="020B0004020202020204" pitchFamily="34" charset="0"/>
                <a:cs typeface="Cascadia Code" panose="020B0609020000020004" pitchFamily="49" charset="0"/>
              </a:rPr>
              <a:t>Manual Invoice Adjustment</a:t>
            </a:r>
            <a:endParaRPr lang="zh-CN" altLang="en-US" sz="3400">
              <a:solidFill>
                <a:srgbClr val="000000"/>
              </a:solidFill>
              <a:latin typeface="Aptos Display" panose="020B0004020202020204" pitchFamily="34" charset="0"/>
            </a:endParaRPr>
          </a:p>
        </p:txBody>
      </p:sp>
      <p:sp>
        <p:nvSpPr>
          <p:cNvPr id="45" name="Title 10">
            <a:extLst>
              <a:ext uri="{FF2B5EF4-FFF2-40B4-BE49-F238E27FC236}">
                <a16:creationId xmlns:a16="http://schemas.microsoft.com/office/drawing/2014/main" id="{91CF6B7D-657D-1E43-50BC-1528D43EED0F}"/>
              </a:ext>
            </a:extLst>
          </p:cNvPr>
          <p:cNvSpPr txBox="1">
            <a:spLocks/>
          </p:cNvSpPr>
          <p:nvPr/>
        </p:nvSpPr>
        <p:spPr>
          <a:xfrm>
            <a:off x="330200" y="889000"/>
            <a:ext cx="11303000" cy="655747"/>
          </a:xfrm>
          <a:prstGeom prst="rect">
            <a:avLst/>
          </a:prstGeom>
          <a:solidFill>
            <a:srgbClr val="DAEDEF"/>
          </a:solidFill>
        </p:spPr>
        <p:txBody>
          <a:bodyPr vert="horz" lIns="50800" tIns="25400" rIns="50800" bIns="25400" rtlCol="0" anchor="ctr">
            <a:no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Path: </a:t>
            </a:r>
            <a:r>
              <a:rPr lang="en-US" altLang="zh-CN" sz="1500" err="1">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NexBill</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-Invoice Management-Invoice Reverse/Adjustment</a:t>
            </a:r>
          </a:p>
          <a:p>
            <a:pPr algn="l" defTabSz="914126">
              <a:spcAft>
                <a:spcPct val="0"/>
              </a:spcAft>
              <a:defRPr/>
            </a:pP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rPr>
              <a:t>The manual invoice adjustment is partial CMR/DMR. You can change the Qty and unit price. So the partial CMR/DMR need to approve, and after approve, the CMR/DRM request is </a:t>
            </a:r>
            <a:r>
              <a:rPr lang="zh-CN" altLang="zh-CN" sz="1500">
                <a:solidFill>
                  <a:srgbClr val="1B2434"/>
                </a:solidFill>
                <a:latin typeface="Aptos" panose="020B0004020202020204" pitchFamily="34" charset="0"/>
                <a:ea typeface="黑体" panose="02010609060101010101" pitchFamily="49" charset="-122"/>
                <a:cs typeface="Arial" panose="020B0604020202020204" pitchFamily="34" charset="0"/>
              </a:rPr>
              <a:t>Available</a:t>
            </a:r>
            <a:r>
              <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rPr>
              <a:t>.</a:t>
            </a:r>
            <a:endParaRPr lang="en-US" altLang="zh-CN" sz="1500">
              <a:solidFill>
                <a:srgbClr val="1B2434"/>
              </a:solidFill>
              <a:latin typeface="Aptos" panose="020B0004020202020204" pitchFamily="34" charset="0"/>
              <a:ea typeface="黑体" panose="02010609060101010101" pitchFamily="49" charset="-122"/>
              <a:cs typeface="Arial" panose="020B0604020202020204" pitchFamily="34" charset="0"/>
              <a:sym typeface="Arial" panose="020B0604020202020204" pitchFamily="34" charset="0"/>
            </a:endParaRPr>
          </a:p>
        </p:txBody>
      </p:sp>
      <p:pic>
        <p:nvPicPr>
          <p:cNvPr id="6" name="图片 5">
            <a:extLst>
              <a:ext uri="{FF2B5EF4-FFF2-40B4-BE49-F238E27FC236}">
                <a16:creationId xmlns:a16="http://schemas.microsoft.com/office/drawing/2014/main" id="{15C76406-141F-5C34-BF6E-110B78B267DA}"/>
              </a:ext>
            </a:extLst>
          </p:cNvPr>
          <p:cNvPicPr>
            <a:picLocks noChangeAspect="1"/>
          </p:cNvPicPr>
          <p:nvPr/>
        </p:nvPicPr>
        <p:blipFill>
          <a:blip r:embed="rId2"/>
          <a:stretch>
            <a:fillRect/>
          </a:stretch>
        </p:blipFill>
        <p:spPr>
          <a:xfrm>
            <a:off x="664117" y="1540705"/>
            <a:ext cx="8401419" cy="2215218"/>
          </a:xfrm>
          <a:prstGeom prst="rect">
            <a:avLst/>
          </a:prstGeom>
        </p:spPr>
      </p:pic>
      <p:pic>
        <p:nvPicPr>
          <p:cNvPr id="10" name="图片 9">
            <a:extLst>
              <a:ext uri="{FF2B5EF4-FFF2-40B4-BE49-F238E27FC236}">
                <a16:creationId xmlns:a16="http://schemas.microsoft.com/office/drawing/2014/main" id="{B6F08B01-E82D-A1D3-C705-B09F1057A554}"/>
              </a:ext>
            </a:extLst>
          </p:cNvPr>
          <p:cNvPicPr>
            <a:picLocks noChangeAspect="1"/>
          </p:cNvPicPr>
          <p:nvPr/>
        </p:nvPicPr>
        <p:blipFill>
          <a:blip r:embed="rId3"/>
          <a:stretch>
            <a:fillRect/>
          </a:stretch>
        </p:blipFill>
        <p:spPr>
          <a:xfrm>
            <a:off x="320182" y="3893110"/>
            <a:ext cx="9089289" cy="2828943"/>
          </a:xfrm>
          <a:prstGeom prst="rect">
            <a:avLst/>
          </a:prstGeom>
        </p:spPr>
      </p:pic>
      <p:sp>
        <p:nvSpPr>
          <p:cNvPr id="12" name="Text 23">
            <a:extLst>
              <a:ext uri="{FF2B5EF4-FFF2-40B4-BE49-F238E27FC236}">
                <a16:creationId xmlns:a16="http://schemas.microsoft.com/office/drawing/2014/main" id="{66D1F5E4-FBFA-BF64-A00C-228B21CA8CBC}"/>
              </a:ext>
            </a:extLst>
          </p:cNvPr>
          <p:cNvSpPr txBox="1"/>
          <p:nvPr/>
        </p:nvSpPr>
        <p:spPr>
          <a:xfrm>
            <a:off x="9655280" y="2465402"/>
            <a:ext cx="2304426" cy="2175424"/>
          </a:xfrm>
          <a:prstGeom prst="rect">
            <a:avLst/>
          </a:prstGeom>
          <a:noFill/>
          <a:ln/>
        </p:spPr>
        <p:txBody>
          <a:bodyPr wrap="square" lIns="50800" tIns="25400" rIns="50800" bIns="25400" rtlCol="0" anchor="ctr"/>
          <a:lstStyle/>
          <a:p>
            <a:pPr>
              <a:lnSpc>
                <a:spcPts val="1188"/>
              </a:lnSpc>
            </a:pPr>
            <a:r>
              <a:rPr lang="en-US" altLang="zh-CN" sz="1100">
                <a:solidFill>
                  <a:srgbClr val="1B2434"/>
                </a:solidFill>
                <a:latin typeface="Aptos" panose="020B0004020202020204" pitchFamily="34" charset="0"/>
              </a:rPr>
              <a:t>If you want to manual DMR adjustment. In the left screen, just only select “Debit Memo” button.</a:t>
            </a:r>
          </a:p>
          <a:p>
            <a:pPr>
              <a:lnSpc>
                <a:spcPts val="1188"/>
              </a:lnSpc>
            </a:pPr>
            <a:endParaRPr lang="en-US" altLang="zh-CN" sz="1100">
              <a:solidFill>
                <a:srgbClr val="1B2434"/>
              </a:solidFill>
              <a:latin typeface="Aptos" panose="020B0004020202020204" pitchFamily="34" charset="0"/>
            </a:endParaRPr>
          </a:p>
          <a:p>
            <a:pPr>
              <a:lnSpc>
                <a:spcPts val="1188"/>
              </a:lnSpc>
            </a:pPr>
            <a:r>
              <a:rPr lang="zh-CN" altLang="zh-CN" sz="1100">
                <a:solidFill>
                  <a:srgbClr val="1B2434"/>
                </a:solidFill>
                <a:latin typeface="Aptos" panose="020B0004020202020204" pitchFamily="34" charset="0"/>
              </a:rPr>
              <a:t>The operating steps for DMR and CMR are exactly the same. So once you know how to do </a:t>
            </a:r>
            <a:r>
              <a:rPr lang="en-US" altLang="zh-CN" sz="1100">
                <a:solidFill>
                  <a:srgbClr val="1B2434"/>
                </a:solidFill>
                <a:latin typeface="Aptos" panose="020B0004020202020204" pitchFamily="34" charset="0"/>
              </a:rPr>
              <a:t>CMR adjustment</a:t>
            </a:r>
            <a:r>
              <a:rPr lang="zh-CN" altLang="zh-CN" sz="1100">
                <a:solidFill>
                  <a:srgbClr val="1B2434"/>
                </a:solidFill>
                <a:latin typeface="Aptos" panose="020B0004020202020204" pitchFamily="34" charset="0"/>
              </a:rPr>
              <a:t>, you know how to do the </a:t>
            </a:r>
            <a:r>
              <a:rPr lang="en-US" altLang="zh-CN" sz="1100">
                <a:solidFill>
                  <a:srgbClr val="1B2434"/>
                </a:solidFill>
                <a:latin typeface="Aptos" panose="020B0004020202020204" pitchFamily="34" charset="0"/>
              </a:rPr>
              <a:t>adjustment</a:t>
            </a:r>
            <a:r>
              <a:rPr lang="zh-CN" altLang="zh-CN" sz="1100">
                <a:solidFill>
                  <a:srgbClr val="1B2434"/>
                </a:solidFill>
                <a:latin typeface="Aptos" panose="020B0004020202020204" pitchFamily="34" charset="0"/>
              </a:rPr>
              <a:t>.</a:t>
            </a:r>
            <a:endParaRPr lang="en-US" altLang="zh-CN" sz="1100">
              <a:solidFill>
                <a:srgbClr val="1B2434"/>
              </a:solidFill>
              <a:latin typeface="Aptos" panose="020B0004020202020204" pitchFamily="34" charset="0"/>
            </a:endParaRPr>
          </a:p>
        </p:txBody>
      </p:sp>
    </p:spTree>
    <p:extLst>
      <p:ext uri="{BB962C8B-B14F-4D97-AF65-F5344CB8AC3E}">
        <p14:creationId xmlns:p14="http://schemas.microsoft.com/office/powerpoint/2010/main" val="1080270822"/>
      </p:ext>
    </p:extLst>
  </p:cSld>
  <p:clrMapOvr>
    <a:masterClrMapping/>
  </p:clrMapOvr>
  <p:transition spd="me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B933F-A1DD-720F-ED53-E1C0F0427B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3C2589-4D09-1EEB-AC25-8F7CE9EEEBF2}"/>
              </a:ext>
            </a:extLst>
          </p:cNvPr>
          <p:cNvSpPr>
            <a:spLocks noGrp="1"/>
          </p:cNvSpPr>
          <p:nvPr>
            <p:ph type="title"/>
          </p:nvPr>
        </p:nvSpPr>
        <p:spPr>
          <a:xfrm>
            <a:off x="267690" y="1412760"/>
            <a:ext cx="7209879" cy="965108"/>
          </a:xfrm>
        </p:spPr>
        <p:txBody>
          <a:bodyPr/>
          <a:lstStyle/>
          <a:p>
            <a:r>
              <a:rPr lang="en-US" altLang="zh-CN" sz="4800"/>
              <a:t>7. Finance &amp; Accounting</a:t>
            </a:r>
            <a:endParaRPr lang="zh-CN" altLang="en-US" sz="4800"/>
          </a:p>
        </p:txBody>
      </p:sp>
      <p:sp>
        <p:nvSpPr>
          <p:cNvPr id="4" name="文本占位符 3">
            <a:extLst>
              <a:ext uri="{FF2B5EF4-FFF2-40B4-BE49-F238E27FC236}">
                <a16:creationId xmlns:a16="http://schemas.microsoft.com/office/drawing/2014/main" id="{F325ED2D-2397-7C07-A88A-26087C206E95}"/>
              </a:ext>
            </a:extLst>
          </p:cNvPr>
          <p:cNvSpPr>
            <a:spLocks noGrp="1"/>
          </p:cNvSpPr>
          <p:nvPr>
            <p:ph type="body" idx="11"/>
          </p:nvPr>
        </p:nvSpPr>
        <p:spPr/>
        <p:txBody>
          <a:bodyPr/>
          <a:lstStyle/>
          <a:p>
            <a:r>
              <a:rPr lang="en-US" altLang="zh-CN"/>
              <a:t>Duration:		10 + </a:t>
            </a:r>
            <a:r>
              <a:rPr lang="en-US" altLang="zh-CN">
                <a:solidFill>
                  <a:schemeClr val="tx1"/>
                </a:solidFill>
              </a:rPr>
              <a:t>20</a:t>
            </a:r>
            <a:r>
              <a:rPr lang="en-US" altLang="zh-CN"/>
              <a:t> Minutes</a:t>
            </a:r>
            <a:endParaRPr lang="zh-CN" altLang="en-US"/>
          </a:p>
        </p:txBody>
      </p:sp>
      <p:sp>
        <p:nvSpPr>
          <p:cNvPr id="5" name="文本占位符 4">
            <a:extLst>
              <a:ext uri="{FF2B5EF4-FFF2-40B4-BE49-F238E27FC236}">
                <a16:creationId xmlns:a16="http://schemas.microsoft.com/office/drawing/2014/main" id="{314EE3F3-89EE-B3AC-4ABC-715010FA9E80}"/>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fr-FR" altLang="zh-CN">
                <a:solidFill>
                  <a:schemeClr val="bg1"/>
                </a:solidFill>
              </a:rPr>
              <a:t>F&amp;A Scenario </a:t>
            </a:r>
            <a:r>
              <a:rPr lang="fr-FR" altLang="zh-CN" err="1">
                <a:solidFill>
                  <a:schemeClr val="bg1"/>
                </a:solidFill>
              </a:rPr>
              <a:t>recap</a:t>
            </a:r>
            <a:r>
              <a:rPr lang="fr-FR" altLang="zh-CN">
                <a:solidFill>
                  <a:schemeClr val="bg1"/>
                </a:solidFill>
              </a:rPr>
              <a:t>		- Sterling Zeng</a:t>
            </a:r>
          </a:p>
          <a:p>
            <a:pPr marL="171450" indent="-171450">
              <a:lnSpc>
                <a:spcPct val="150000"/>
              </a:lnSpc>
              <a:buFont typeface="Arial" panose="020B0604020202020204" pitchFamily="34" charset="0"/>
              <a:buChar char="•"/>
            </a:pPr>
            <a:r>
              <a:rPr lang="fr-FR" altLang="zh-CN">
                <a:solidFill>
                  <a:schemeClr val="bg1"/>
                </a:solidFill>
              </a:rPr>
              <a:t>Finance Document		- Yongcan Li</a:t>
            </a:r>
          </a:p>
        </p:txBody>
      </p:sp>
    </p:spTree>
    <p:extLst>
      <p:ext uri="{BB962C8B-B14F-4D97-AF65-F5344CB8AC3E}">
        <p14:creationId xmlns:p14="http://schemas.microsoft.com/office/powerpoint/2010/main" val="955761000"/>
      </p:ext>
    </p:extLst>
  </p:cSld>
  <p:clrMapOvr>
    <a:masterClrMapping/>
  </p:clrMapOvr>
  <p:transition spd="me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A72DC-CB6A-741A-79BF-EDF36CD38B95}"/>
            </a:ext>
          </a:extLst>
        </p:cNvPr>
        <p:cNvGrpSpPr/>
        <p:nvPr/>
      </p:nvGrpSpPr>
      <p:grpSpPr>
        <a:xfrm>
          <a:off x="0" y="0"/>
          <a:ext cx="0" cy="0"/>
          <a:chOff x="0" y="0"/>
          <a:chExt cx="0" cy="0"/>
        </a:xfrm>
      </p:grpSpPr>
      <p:sp>
        <p:nvSpPr>
          <p:cNvPr id="4" name="Title 10">
            <a:extLst>
              <a:ext uri="{FF2B5EF4-FFF2-40B4-BE49-F238E27FC236}">
                <a16:creationId xmlns:a16="http://schemas.microsoft.com/office/drawing/2014/main" id="{8C29504E-A4C3-7FB5-2E6F-25D92B8E2D63}"/>
              </a:ext>
            </a:extLst>
          </p:cNvPr>
          <p:cNvSpPr txBox="1">
            <a:spLocks/>
          </p:cNvSpPr>
          <p:nvPr/>
        </p:nvSpPr>
        <p:spPr>
          <a:xfrm>
            <a:off x="372499" y="112196"/>
            <a:ext cx="9499366" cy="421091"/>
          </a:xfrm>
          <a:prstGeom prst="rect">
            <a:avLst/>
          </a:prstGeom>
        </p:spPr>
        <p:txBody>
          <a:bodyPr vert="horz" lIns="91392" tIns="45696" rIns="91392" bIns="45696"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ct val="0"/>
              </a:spcAft>
              <a:buClrTx/>
              <a:buSzTx/>
              <a:buFontTx/>
              <a:buNone/>
              <a:tabLst/>
              <a:defRPr/>
            </a:pPr>
            <a:r>
              <a:rPr kumimoji="0" lang="en-US" altLang="zh-CN" sz="1999"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anose="020B0604020202020204" pitchFamily="34" charset="0"/>
                <a:sym typeface="Arial" panose="020B0604020202020204" pitchFamily="34" charset="0"/>
              </a:rPr>
              <a:t>NexBill – Typical Business Process View</a:t>
            </a:r>
          </a:p>
        </p:txBody>
      </p:sp>
      <p:sp>
        <p:nvSpPr>
          <p:cNvPr id="3" name="Rectangle 2">
            <a:extLst>
              <a:ext uri="{FF2B5EF4-FFF2-40B4-BE49-F238E27FC236}">
                <a16:creationId xmlns:a16="http://schemas.microsoft.com/office/drawing/2014/main" id="{D9164156-7A0E-623A-5E92-F691992F0B06}"/>
              </a:ext>
            </a:extLst>
          </p:cNvPr>
          <p:cNvSpPr/>
          <p:nvPr/>
        </p:nvSpPr>
        <p:spPr>
          <a:xfrm>
            <a:off x="2072339" y="1149136"/>
            <a:ext cx="7605232" cy="4484833"/>
          </a:xfrm>
          <a:prstGeom prst="rect">
            <a:avLst/>
          </a:prstGeom>
          <a:solidFill>
            <a:schemeClr val="accent4">
              <a:lumMod val="40000"/>
              <a:lumOff val="60000"/>
            </a:schemeClr>
          </a:solidFill>
          <a:ln w="6350">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 name="Rectangle 1">
            <a:extLst>
              <a:ext uri="{FF2B5EF4-FFF2-40B4-BE49-F238E27FC236}">
                <a16:creationId xmlns:a16="http://schemas.microsoft.com/office/drawing/2014/main" id="{199E9201-9E2F-5F53-B9AE-50BEFB54C8CE}"/>
              </a:ext>
            </a:extLst>
          </p:cNvPr>
          <p:cNvSpPr/>
          <p:nvPr/>
        </p:nvSpPr>
        <p:spPr>
          <a:xfrm>
            <a:off x="658803" y="1149136"/>
            <a:ext cx="1273257" cy="448483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5" name="Rectangle 4">
            <a:extLst>
              <a:ext uri="{FF2B5EF4-FFF2-40B4-BE49-F238E27FC236}">
                <a16:creationId xmlns:a16="http://schemas.microsoft.com/office/drawing/2014/main" id="{1CCE48F0-489A-AAF8-5ACD-EF6B248CC2C8}"/>
              </a:ext>
            </a:extLst>
          </p:cNvPr>
          <p:cNvSpPr/>
          <p:nvPr/>
        </p:nvSpPr>
        <p:spPr>
          <a:xfrm>
            <a:off x="9837709" y="1149136"/>
            <a:ext cx="1420876" cy="448483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6" name="TextBox 5">
            <a:extLst>
              <a:ext uri="{FF2B5EF4-FFF2-40B4-BE49-F238E27FC236}">
                <a16:creationId xmlns:a16="http://schemas.microsoft.com/office/drawing/2014/main" id="{184A7684-D302-7DEB-CD4F-EEFA7FF8D043}"/>
              </a:ext>
            </a:extLst>
          </p:cNvPr>
          <p:cNvSpPr txBox="1"/>
          <p:nvPr/>
        </p:nvSpPr>
        <p:spPr>
          <a:xfrm>
            <a:off x="887205" y="1149137"/>
            <a:ext cx="859307" cy="430775"/>
          </a:xfrm>
          <a:prstGeom prst="rect">
            <a:avLst/>
          </a:prstGeom>
          <a:noFill/>
        </p:spPr>
        <p:txBody>
          <a:bodyPr wrap="none"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rPr>
              <a:t>Customer</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rPr>
              <a:t>Interaction</a:t>
            </a:r>
            <a:endParaRPr kumimoji="0" lang="zh-CN" altLang="en-US"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endParaRPr>
          </a:p>
        </p:txBody>
      </p:sp>
      <p:sp>
        <p:nvSpPr>
          <p:cNvPr id="7" name="TextBox 6">
            <a:extLst>
              <a:ext uri="{FF2B5EF4-FFF2-40B4-BE49-F238E27FC236}">
                <a16:creationId xmlns:a16="http://schemas.microsoft.com/office/drawing/2014/main" id="{FF069997-94F0-7410-B93E-AD93D181CC9F}"/>
              </a:ext>
            </a:extLst>
          </p:cNvPr>
          <p:cNvSpPr txBox="1"/>
          <p:nvPr/>
        </p:nvSpPr>
        <p:spPr>
          <a:xfrm>
            <a:off x="2253255" y="1197333"/>
            <a:ext cx="3273050" cy="261542"/>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rPr>
              <a:t>Subscription &amp; Billing – NexBill  </a:t>
            </a:r>
            <a:endParaRPr kumimoji="0" lang="zh-CN" altLang="en-US"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endParaRPr>
          </a:p>
        </p:txBody>
      </p:sp>
      <p:sp>
        <p:nvSpPr>
          <p:cNvPr id="8" name="Rectangle 7">
            <a:extLst>
              <a:ext uri="{FF2B5EF4-FFF2-40B4-BE49-F238E27FC236}">
                <a16:creationId xmlns:a16="http://schemas.microsoft.com/office/drawing/2014/main" id="{EFBBEA32-B80A-ED2D-9B0F-89DE524637F2}"/>
              </a:ext>
            </a:extLst>
          </p:cNvPr>
          <p:cNvSpPr/>
          <p:nvPr/>
        </p:nvSpPr>
        <p:spPr>
          <a:xfrm>
            <a:off x="843988" y="2275809"/>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SPS Sign Off / FGLA</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9" name="Rectangle 8">
            <a:extLst>
              <a:ext uri="{FF2B5EF4-FFF2-40B4-BE49-F238E27FC236}">
                <a16:creationId xmlns:a16="http://schemas.microsoft.com/office/drawing/2014/main" id="{2C185AE6-2048-7332-900D-E0B8AB07026F}"/>
              </a:ext>
            </a:extLst>
          </p:cNvPr>
          <p:cNvSpPr/>
          <p:nvPr/>
        </p:nvSpPr>
        <p:spPr>
          <a:xfrm>
            <a:off x="843988" y="1772488"/>
            <a:ext cx="902524" cy="213823"/>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 name="Rectangle 9">
            <a:extLst>
              <a:ext uri="{FF2B5EF4-FFF2-40B4-BE49-F238E27FC236}">
                <a16:creationId xmlns:a16="http://schemas.microsoft.com/office/drawing/2014/main" id="{7CB9B665-3AA2-2284-A56F-AD7A9B3F9C74}"/>
              </a:ext>
            </a:extLst>
          </p:cNvPr>
          <p:cNvSpPr/>
          <p:nvPr/>
        </p:nvSpPr>
        <p:spPr>
          <a:xfrm>
            <a:off x="2413521" y="2275809"/>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Subscription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Initiation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1" name="Rectangle 10">
            <a:extLst>
              <a:ext uri="{FF2B5EF4-FFF2-40B4-BE49-F238E27FC236}">
                <a16:creationId xmlns:a16="http://schemas.microsoft.com/office/drawing/2014/main" id="{017B0C26-B29C-9A45-412A-C58CA9646ACF}"/>
              </a:ext>
            </a:extLst>
          </p:cNvPr>
          <p:cNvSpPr/>
          <p:nvPr/>
        </p:nvSpPr>
        <p:spPr>
          <a:xfrm>
            <a:off x="3446302" y="2275809"/>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Billing Plan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Generation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2" name="Rectangle 11">
            <a:extLst>
              <a:ext uri="{FF2B5EF4-FFF2-40B4-BE49-F238E27FC236}">
                <a16:creationId xmlns:a16="http://schemas.microsoft.com/office/drawing/2014/main" id="{681B2237-8014-8CCE-CB87-5779FBF92DE9}"/>
              </a:ext>
            </a:extLst>
          </p:cNvPr>
          <p:cNvSpPr/>
          <p:nvPr/>
        </p:nvSpPr>
        <p:spPr>
          <a:xfrm>
            <a:off x="2413520" y="4082972"/>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Metering Data Acquisition </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3" name="Rectangle 12">
            <a:extLst>
              <a:ext uri="{FF2B5EF4-FFF2-40B4-BE49-F238E27FC236}">
                <a16:creationId xmlns:a16="http://schemas.microsoft.com/office/drawing/2014/main" id="{2D45A54E-E0A6-9344-BE18-B2CDC10FF405}"/>
              </a:ext>
            </a:extLst>
          </p:cNvPr>
          <p:cNvSpPr/>
          <p:nvPr/>
        </p:nvSpPr>
        <p:spPr>
          <a:xfrm>
            <a:off x="3446302" y="4082972"/>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Data Processing</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4" name="Rectangle 13">
            <a:extLst>
              <a:ext uri="{FF2B5EF4-FFF2-40B4-BE49-F238E27FC236}">
                <a16:creationId xmlns:a16="http://schemas.microsoft.com/office/drawing/2014/main" id="{9409C56B-6FCA-45A5-C3E1-A2E4261C0719}"/>
              </a:ext>
            </a:extLst>
          </p:cNvPr>
          <p:cNvSpPr/>
          <p:nvPr/>
        </p:nvSpPr>
        <p:spPr>
          <a:xfrm>
            <a:off x="3446301" y="4789573"/>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On demand Billing</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5" name="Rectangle 14">
            <a:extLst>
              <a:ext uri="{FF2B5EF4-FFF2-40B4-BE49-F238E27FC236}">
                <a16:creationId xmlns:a16="http://schemas.microsoft.com/office/drawing/2014/main" id="{0CD1AD37-2498-799D-B415-1547C62AF275}"/>
              </a:ext>
            </a:extLst>
          </p:cNvPr>
          <p:cNvSpPr/>
          <p:nvPr/>
        </p:nvSpPr>
        <p:spPr>
          <a:xfrm>
            <a:off x="4705337" y="2275808"/>
            <a:ext cx="902524" cy="2851920"/>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Billing Convergence</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6" name="Rectangle 15">
            <a:extLst>
              <a:ext uri="{FF2B5EF4-FFF2-40B4-BE49-F238E27FC236}">
                <a16:creationId xmlns:a16="http://schemas.microsoft.com/office/drawing/2014/main" id="{34972099-6776-08DE-2932-DEE2CAA49CD0}"/>
              </a:ext>
            </a:extLst>
          </p:cNvPr>
          <p:cNvSpPr/>
          <p:nvPr/>
        </p:nvSpPr>
        <p:spPr>
          <a:xfrm>
            <a:off x="5912182" y="2275809"/>
            <a:ext cx="902524" cy="893391"/>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Invoice Preview &amp; Approval </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7" name="Rectangle 16">
            <a:extLst>
              <a:ext uri="{FF2B5EF4-FFF2-40B4-BE49-F238E27FC236}">
                <a16:creationId xmlns:a16="http://schemas.microsoft.com/office/drawing/2014/main" id="{E068D02E-4E60-9F35-204D-A7451084EB58}"/>
              </a:ext>
            </a:extLst>
          </p:cNvPr>
          <p:cNvSpPr/>
          <p:nvPr/>
        </p:nvSpPr>
        <p:spPr>
          <a:xfrm>
            <a:off x="5912182" y="3309625"/>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Invoice Adjustment</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8" name="Rectangle 17">
            <a:extLst>
              <a:ext uri="{FF2B5EF4-FFF2-40B4-BE49-F238E27FC236}">
                <a16:creationId xmlns:a16="http://schemas.microsoft.com/office/drawing/2014/main" id="{5857E039-0133-1C4D-855F-E6519AAAE752}"/>
              </a:ext>
            </a:extLst>
          </p:cNvPr>
          <p:cNvSpPr/>
          <p:nvPr/>
        </p:nvSpPr>
        <p:spPr>
          <a:xfrm>
            <a:off x="7132892" y="2275809"/>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Customer Invoice Generation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9" name="Rectangle 18">
            <a:extLst>
              <a:ext uri="{FF2B5EF4-FFF2-40B4-BE49-F238E27FC236}">
                <a16:creationId xmlns:a16="http://schemas.microsoft.com/office/drawing/2014/main" id="{7C7C57E1-F715-96BD-018B-FF431950F0E2}"/>
              </a:ext>
            </a:extLst>
          </p:cNvPr>
          <p:cNvSpPr/>
          <p:nvPr/>
        </p:nvSpPr>
        <p:spPr>
          <a:xfrm>
            <a:off x="7132892" y="3366371"/>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ICO Billing Generation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1" name="Rectangle 20">
            <a:extLst>
              <a:ext uri="{FF2B5EF4-FFF2-40B4-BE49-F238E27FC236}">
                <a16:creationId xmlns:a16="http://schemas.microsoft.com/office/drawing/2014/main" id="{9014C8E2-8A39-D934-0A17-A6C74F02AE27}"/>
              </a:ext>
            </a:extLst>
          </p:cNvPr>
          <p:cNvSpPr/>
          <p:nvPr/>
        </p:nvSpPr>
        <p:spPr>
          <a:xfrm>
            <a:off x="7132892" y="4009773"/>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Partner Settlement</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2" name="Rectangle 21">
            <a:extLst>
              <a:ext uri="{FF2B5EF4-FFF2-40B4-BE49-F238E27FC236}">
                <a16:creationId xmlns:a16="http://schemas.microsoft.com/office/drawing/2014/main" id="{1685CC1F-1026-BAF4-68C8-6B4128B42A97}"/>
              </a:ext>
            </a:extLst>
          </p:cNvPr>
          <p:cNvSpPr/>
          <p:nvPr/>
        </p:nvSpPr>
        <p:spPr>
          <a:xfrm>
            <a:off x="7132891" y="2851188"/>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Invoice delivery</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3" name="Rectangle 22">
            <a:extLst>
              <a:ext uri="{FF2B5EF4-FFF2-40B4-BE49-F238E27FC236}">
                <a16:creationId xmlns:a16="http://schemas.microsoft.com/office/drawing/2014/main" id="{7C0D1A90-9C0C-2248-1433-44571237D21B}"/>
              </a:ext>
            </a:extLst>
          </p:cNvPr>
          <p:cNvSpPr/>
          <p:nvPr/>
        </p:nvSpPr>
        <p:spPr>
          <a:xfrm>
            <a:off x="10165693" y="2275809"/>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AR Generation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4" name="Rectangle 23">
            <a:extLst>
              <a:ext uri="{FF2B5EF4-FFF2-40B4-BE49-F238E27FC236}">
                <a16:creationId xmlns:a16="http://schemas.microsoft.com/office/drawing/2014/main" id="{A1BB8828-A461-EDD0-8106-899759AAA1E2}"/>
              </a:ext>
            </a:extLst>
          </p:cNvPr>
          <p:cNvSpPr/>
          <p:nvPr/>
        </p:nvSpPr>
        <p:spPr>
          <a:xfrm>
            <a:off x="10165693" y="2712978"/>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Customer Collection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5" name="Rectangle 24">
            <a:extLst>
              <a:ext uri="{FF2B5EF4-FFF2-40B4-BE49-F238E27FC236}">
                <a16:creationId xmlns:a16="http://schemas.microsoft.com/office/drawing/2014/main" id="{D61FF1E1-DE5A-FCFE-7052-017545E99968}"/>
              </a:ext>
            </a:extLst>
          </p:cNvPr>
          <p:cNvSpPr/>
          <p:nvPr/>
        </p:nvSpPr>
        <p:spPr>
          <a:xfrm>
            <a:off x="10165693" y="4297045"/>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AP Generation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26" name="Rectangle 25">
            <a:extLst>
              <a:ext uri="{FF2B5EF4-FFF2-40B4-BE49-F238E27FC236}">
                <a16:creationId xmlns:a16="http://schemas.microsoft.com/office/drawing/2014/main" id="{86E9280A-1A44-5EF8-A43C-BAD2CBBE99F5}"/>
              </a:ext>
            </a:extLst>
          </p:cNvPr>
          <p:cNvSpPr/>
          <p:nvPr/>
        </p:nvSpPr>
        <p:spPr>
          <a:xfrm>
            <a:off x="10165693" y="4787911"/>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Payment</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cxnSp>
        <p:nvCxnSpPr>
          <p:cNvPr id="28" name="Straight Arrow Connector 27">
            <a:extLst>
              <a:ext uri="{FF2B5EF4-FFF2-40B4-BE49-F238E27FC236}">
                <a16:creationId xmlns:a16="http://schemas.microsoft.com/office/drawing/2014/main" id="{2AE30EF2-91C2-161E-7170-6168849BF899}"/>
              </a:ext>
            </a:extLst>
          </p:cNvPr>
          <p:cNvCxnSpPr>
            <a:cxnSpLocks/>
            <a:stCxn id="8" idx="3"/>
            <a:endCxn id="10" idx="1"/>
          </p:cNvCxnSpPr>
          <p:nvPr/>
        </p:nvCxnSpPr>
        <p:spPr>
          <a:xfrm>
            <a:off x="1746513" y="2445717"/>
            <a:ext cx="667009"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A8FBEBE-BFAF-7E18-51CC-98F983E51E2D}"/>
              </a:ext>
            </a:extLst>
          </p:cNvPr>
          <p:cNvCxnSpPr>
            <a:stCxn id="10" idx="3"/>
            <a:endCxn id="11" idx="1"/>
          </p:cNvCxnSpPr>
          <p:nvPr/>
        </p:nvCxnSpPr>
        <p:spPr>
          <a:xfrm>
            <a:off x="3316046" y="2445717"/>
            <a:ext cx="130257"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411C219-2DBC-51D6-7720-2173E6193EC7}"/>
              </a:ext>
            </a:extLst>
          </p:cNvPr>
          <p:cNvCxnSpPr>
            <a:cxnSpLocks/>
          </p:cNvCxnSpPr>
          <p:nvPr/>
        </p:nvCxnSpPr>
        <p:spPr>
          <a:xfrm>
            <a:off x="3316043" y="4252880"/>
            <a:ext cx="130258"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F019026-E628-1787-DC03-5FE5B0460BC3}"/>
              </a:ext>
            </a:extLst>
          </p:cNvPr>
          <p:cNvCxnSpPr>
            <a:cxnSpLocks/>
            <a:stCxn id="11" idx="3"/>
          </p:cNvCxnSpPr>
          <p:nvPr/>
        </p:nvCxnSpPr>
        <p:spPr>
          <a:xfrm>
            <a:off x="4348826" y="2445717"/>
            <a:ext cx="356511"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385BD54-9BF0-9B59-CAE6-858A9F60BC54}"/>
              </a:ext>
            </a:extLst>
          </p:cNvPr>
          <p:cNvCxnSpPr>
            <a:cxnSpLocks/>
          </p:cNvCxnSpPr>
          <p:nvPr/>
        </p:nvCxnSpPr>
        <p:spPr>
          <a:xfrm>
            <a:off x="4348826" y="4252880"/>
            <a:ext cx="356511"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AE14CE9-7B16-6E8D-0B31-D35AB96242AD}"/>
              </a:ext>
            </a:extLst>
          </p:cNvPr>
          <p:cNvCxnSpPr>
            <a:cxnSpLocks/>
          </p:cNvCxnSpPr>
          <p:nvPr/>
        </p:nvCxnSpPr>
        <p:spPr>
          <a:xfrm>
            <a:off x="4348826" y="4950854"/>
            <a:ext cx="356511"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97015B9-58B9-08EA-9BEE-C301CEFB72BE}"/>
              </a:ext>
            </a:extLst>
          </p:cNvPr>
          <p:cNvCxnSpPr>
            <a:cxnSpLocks/>
            <a:endCxn id="16" idx="1"/>
          </p:cNvCxnSpPr>
          <p:nvPr/>
        </p:nvCxnSpPr>
        <p:spPr>
          <a:xfrm>
            <a:off x="5607861" y="2722503"/>
            <a:ext cx="304322"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4" name="Arrow: Left-Right 43">
            <a:extLst>
              <a:ext uri="{FF2B5EF4-FFF2-40B4-BE49-F238E27FC236}">
                <a16:creationId xmlns:a16="http://schemas.microsoft.com/office/drawing/2014/main" id="{D935834B-7638-858B-CECD-D298C9CAF74A}"/>
              </a:ext>
            </a:extLst>
          </p:cNvPr>
          <p:cNvSpPr/>
          <p:nvPr/>
        </p:nvSpPr>
        <p:spPr>
          <a:xfrm rot="5400000">
            <a:off x="6263217" y="3191833"/>
            <a:ext cx="245015" cy="126420"/>
          </a:xfrm>
          <a:prstGeom prst="leftRightArrow">
            <a:avLst/>
          </a:prstGeom>
          <a:solidFill>
            <a:schemeClr val="bg1"/>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cxnSp>
        <p:nvCxnSpPr>
          <p:cNvPr id="52" name="Connector: Elbow 51">
            <a:extLst>
              <a:ext uri="{FF2B5EF4-FFF2-40B4-BE49-F238E27FC236}">
                <a16:creationId xmlns:a16="http://schemas.microsoft.com/office/drawing/2014/main" id="{DE47E274-4EDB-B099-CE94-C3EAAAFA9EDE}"/>
              </a:ext>
            </a:extLst>
          </p:cNvPr>
          <p:cNvCxnSpPr>
            <a:stCxn id="16" idx="3"/>
            <a:endCxn id="18" idx="1"/>
          </p:cNvCxnSpPr>
          <p:nvPr/>
        </p:nvCxnSpPr>
        <p:spPr>
          <a:xfrm flipV="1">
            <a:off x="6814706" y="2445717"/>
            <a:ext cx="318186" cy="276786"/>
          </a:xfrm>
          <a:prstGeom prst="bentConnector3">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F8D7A072-3E6E-88CA-C12C-8E61257F7043}"/>
              </a:ext>
            </a:extLst>
          </p:cNvPr>
          <p:cNvCxnSpPr>
            <a:stCxn id="16" idx="3"/>
            <a:endCxn id="21" idx="1"/>
          </p:cNvCxnSpPr>
          <p:nvPr/>
        </p:nvCxnSpPr>
        <p:spPr>
          <a:xfrm>
            <a:off x="6814706" y="2722503"/>
            <a:ext cx="318186" cy="1457178"/>
          </a:xfrm>
          <a:prstGeom prst="bentConnector3">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3B6B65D9-3A26-E900-19C1-6B8677193F80}"/>
              </a:ext>
            </a:extLst>
          </p:cNvPr>
          <p:cNvCxnSpPr>
            <a:stCxn id="16" idx="3"/>
            <a:endCxn id="19" idx="1"/>
          </p:cNvCxnSpPr>
          <p:nvPr/>
        </p:nvCxnSpPr>
        <p:spPr>
          <a:xfrm>
            <a:off x="6814706" y="2722503"/>
            <a:ext cx="318186" cy="813776"/>
          </a:xfrm>
          <a:prstGeom prst="bentConnector3">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88F9E61E-734D-F909-7235-D7B1FA618114}"/>
              </a:ext>
            </a:extLst>
          </p:cNvPr>
          <p:cNvCxnSpPr>
            <a:cxnSpLocks/>
            <a:stCxn id="18" idx="2"/>
            <a:endCxn id="22" idx="0"/>
          </p:cNvCxnSpPr>
          <p:nvPr/>
        </p:nvCxnSpPr>
        <p:spPr>
          <a:xfrm rot="5400000">
            <a:off x="7466375" y="2733408"/>
            <a:ext cx="235560" cy="1"/>
          </a:xfrm>
          <a:prstGeom prst="bentConnector3">
            <a:avLst>
              <a:gd name="adj1" fmla="val 50000"/>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E51A297-A691-F8B7-EFA4-97542E5948DC}"/>
              </a:ext>
            </a:extLst>
          </p:cNvPr>
          <p:cNvCxnSpPr>
            <a:cxnSpLocks/>
          </p:cNvCxnSpPr>
          <p:nvPr/>
        </p:nvCxnSpPr>
        <p:spPr>
          <a:xfrm>
            <a:off x="8035416" y="4179681"/>
            <a:ext cx="441024"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BD1F7D2-2944-9B04-5EED-BF001715F9CE}"/>
              </a:ext>
            </a:extLst>
          </p:cNvPr>
          <p:cNvCxnSpPr>
            <a:cxnSpLocks/>
            <a:stCxn id="23" idx="2"/>
            <a:endCxn id="24" idx="0"/>
          </p:cNvCxnSpPr>
          <p:nvPr/>
        </p:nvCxnSpPr>
        <p:spPr>
          <a:xfrm>
            <a:off x="10616955" y="2615627"/>
            <a:ext cx="0" cy="9735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897FF8C1-92AC-EB91-914B-5C29389FC1C4}"/>
              </a:ext>
            </a:extLst>
          </p:cNvPr>
          <p:cNvSpPr/>
          <p:nvPr/>
        </p:nvSpPr>
        <p:spPr>
          <a:xfrm>
            <a:off x="8483888" y="2722503"/>
            <a:ext cx="902524" cy="1627086"/>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F&amp;A Posting</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cxnSp>
        <p:nvCxnSpPr>
          <p:cNvPr id="73" name="Connector: Elbow 72">
            <a:extLst>
              <a:ext uri="{FF2B5EF4-FFF2-40B4-BE49-F238E27FC236}">
                <a16:creationId xmlns:a16="http://schemas.microsoft.com/office/drawing/2014/main" id="{01D7DB12-D362-0135-6B8C-94B280C45C76}"/>
              </a:ext>
            </a:extLst>
          </p:cNvPr>
          <p:cNvCxnSpPr>
            <a:cxnSpLocks/>
          </p:cNvCxnSpPr>
          <p:nvPr/>
        </p:nvCxnSpPr>
        <p:spPr>
          <a:xfrm>
            <a:off x="8041864" y="2446296"/>
            <a:ext cx="434577" cy="744710"/>
          </a:xfrm>
          <a:prstGeom prst="bentConnector3">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F593795F-529D-EC47-EFA1-5988F955A0EE}"/>
              </a:ext>
            </a:extLst>
          </p:cNvPr>
          <p:cNvCxnSpPr>
            <a:cxnSpLocks/>
            <a:stCxn id="18" idx="3"/>
            <a:endCxn id="23" idx="1"/>
          </p:cNvCxnSpPr>
          <p:nvPr/>
        </p:nvCxnSpPr>
        <p:spPr>
          <a:xfrm>
            <a:off x="8035417" y="2445717"/>
            <a:ext cx="2130277"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97E84930-E49E-4FBA-DA89-A404778F4092}"/>
              </a:ext>
            </a:extLst>
          </p:cNvPr>
          <p:cNvCxnSpPr>
            <a:cxnSpLocks/>
            <a:stCxn id="19" idx="3"/>
            <a:endCxn id="71" idx="1"/>
          </p:cNvCxnSpPr>
          <p:nvPr/>
        </p:nvCxnSpPr>
        <p:spPr>
          <a:xfrm flipV="1">
            <a:off x="8035416" y="3536048"/>
            <a:ext cx="448472" cy="233"/>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28E0DA82-CACF-3205-453E-700E3BDA7947}"/>
              </a:ext>
            </a:extLst>
          </p:cNvPr>
          <p:cNvSpPr/>
          <p:nvPr/>
        </p:nvSpPr>
        <p:spPr>
          <a:xfrm>
            <a:off x="843988" y="2712978"/>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Flex Pause/Down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0" name="Rectangle 99">
            <a:extLst>
              <a:ext uri="{FF2B5EF4-FFF2-40B4-BE49-F238E27FC236}">
                <a16:creationId xmlns:a16="http://schemas.microsoft.com/office/drawing/2014/main" id="{188B4456-3749-9603-B45B-E8B4A7E86CB2}"/>
              </a:ext>
            </a:extLst>
          </p:cNvPr>
          <p:cNvSpPr/>
          <p:nvPr/>
        </p:nvSpPr>
        <p:spPr>
          <a:xfrm>
            <a:off x="843988" y="3150186"/>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Early Termination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1" name="Rectangle 100">
            <a:extLst>
              <a:ext uri="{FF2B5EF4-FFF2-40B4-BE49-F238E27FC236}">
                <a16:creationId xmlns:a16="http://schemas.microsoft.com/office/drawing/2014/main" id="{2702407E-0D14-4B1D-BA16-63D2EEA34B19}"/>
              </a:ext>
            </a:extLst>
          </p:cNvPr>
          <p:cNvSpPr/>
          <p:nvPr/>
        </p:nvSpPr>
        <p:spPr>
          <a:xfrm>
            <a:off x="843988" y="3574941"/>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Termination/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Extension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2" name="Rectangle 101">
            <a:extLst>
              <a:ext uri="{FF2B5EF4-FFF2-40B4-BE49-F238E27FC236}">
                <a16:creationId xmlns:a16="http://schemas.microsoft.com/office/drawing/2014/main" id="{5CED0B72-0F19-20EC-7196-866072C5D202}"/>
              </a:ext>
            </a:extLst>
          </p:cNvPr>
          <p:cNvSpPr/>
          <p:nvPr/>
        </p:nvSpPr>
        <p:spPr>
          <a:xfrm>
            <a:off x="843988" y="4787911"/>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On Demand Charge</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3" name="TextBox 102">
            <a:extLst>
              <a:ext uri="{FF2B5EF4-FFF2-40B4-BE49-F238E27FC236}">
                <a16:creationId xmlns:a16="http://schemas.microsoft.com/office/drawing/2014/main" id="{3CDB65D4-6742-AC27-F47E-F7AF52653FB8}"/>
              </a:ext>
            </a:extLst>
          </p:cNvPr>
          <p:cNvSpPr txBox="1"/>
          <p:nvPr/>
        </p:nvSpPr>
        <p:spPr>
          <a:xfrm>
            <a:off x="9837711" y="1149136"/>
            <a:ext cx="1243987" cy="261542"/>
          </a:xfrm>
          <a:prstGeom prst="rect">
            <a:avLst/>
          </a:prstGeom>
          <a:noFill/>
        </p:spPr>
        <p:txBody>
          <a:bodyPr wrap="square" rtlCol="0">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rPr>
              <a:t>F&amp;A Handling</a:t>
            </a:r>
            <a:endParaRPr kumimoji="0" lang="zh-CN" altLang="en-US" sz="11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Arial" pitchFamily="34" charset="0"/>
            </a:endParaRPr>
          </a:p>
        </p:txBody>
      </p:sp>
      <p:sp>
        <p:nvSpPr>
          <p:cNvPr id="104" name="Flowchart: Punched Tape 103">
            <a:extLst>
              <a:ext uri="{FF2B5EF4-FFF2-40B4-BE49-F238E27FC236}">
                <a16:creationId xmlns:a16="http://schemas.microsoft.com/office/drawing/2014/main" id="{3F29A5CE-6897-7B6E-E2E6-D582C3AD8836}"/>
              </a:ext>
            </a:extLst>
          </p:cNvPr>
          <p:cNvSpPr/>
          <p:nvPr/>
        </p:nvSpPr>
        <p:spPr>
          <a:xfrm>
            <a:off x="7753020" y="2540726"/>
            <a:ext cx="359154" cy="260937"/>
          </a:xfrm>
          <a:prstGeom prst="flowChartPunchedTape">
            <a:avLst/>
          </a:prstGeom>
          <a:solidFill>
            <a:schemeClr val="accent4">
              <a:lumMod val="20000"/>
              <a:lumOff val="8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Taxation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5" name="Flowchart: Punched Tape 104">
            <a:extLst>
              <a:ext uri="{FF2B5EF4-FFF2-40B4-BE49-F238E27FC236}">
                <a16:creationId xmlns:a16="http://schemas.microsoft.com/office/drawing/2014/main" id="{DA3613E8-D09A-9D6B-A78C-1CE15658F152}"/>
              </a:ext>
            </a:extLst>
          </p:cNvPr>
          <p:cNvSpPr/>
          <p:nvPr/>
        </p:nvSpPr>
        <p:spPr>
          <a:xfrm>
            <a:off x="7753020" y="3624866"/>
            <a:ext cx="359154" cy="260937"/>
          </a:xfrm>
          <a:prstGeom prst="flowChartPunchedTape">
            <a:avLst/>
          </a:prstGeom>
          <a:solidFill>
            <a:schemeClr val="accent4">
              <a:lumMod val="20000"/>
              <a:lumOff val="8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Taxation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6" name="Flowchart: Punched Tape 105">
            <a:extLst>
              <a:ext uri="{FF2B5EF4-FFF2-40B4-BE49-F238E27FC236}">
                <a16:creationId xmlns:a16="http://schemas.microsoft.com/office/drawing/2014/main" id="{E7102493-E492-30FC-3238-A99B3AEF6AAC}"/>
              </a:ext>
            </a:extLst>
          </p:cNvPr>
          <p:cNvSpPr/>
          <p:nvPr/>
        </p:nvSpPr>
        <p:spPr>
          <a:xfrm>
            <a:off x="7753020" y="4258565"/>
            <a:ext cx="359154" cy="260937"/>
          </a:xfrm>
          <a:prstGeom prst="flowChartPunchedTape">
            <a:avLst/>
          </a:prstGeom>
          <a:solidFill>
            <a:schemeClr val="accent4">
              <a:lumMod val="20000"/>
              <a:lumOff val="80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Taxation</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sp>
        <p:nvSpPr>
          <p:cNvPr id="108" name="Rectangle 107">
            <a:extLst>
              <a:ext uri="{FF2B5EF4-FFF2-40B4-BE49-F238E27FC236}">
                <a16:creationId xmlns:a16="http://schemas.microsoft.com/office/drawing/2014/main" id="{309D796B-1D44-6A81-3A1A-DCC8A9768906}"/>
              </a:ext>
            </a:extLst>
          </p:cNvPr>
          <p:cNvSpPr/>
          <p:nvPr/>
        </p:nvSpPr>
        <p:spPr>
          <a:xfrm>
            <a:off x="3446301" y="3150186"/>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Billing Plan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Updating</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cxnSp>
        <p:nvCxnSpPr>
          <p:cNvPr id="110" name="Straight Arrow Connector 109">
            <a:extLst>
              <a:ext uri="{FF2B5EF4-FFF2-40B4-BE49-F238E27FC236}">
                <a16:creationId xmlns:a16="http://schemas.microsoft.com/office/drawing/2014/main" id="{09F31A6A-D5DE-3CA4-230C-187461E04068}"/>
              </a:ext>
            </a:extLst>
          </p:cNvPr>
          <p:cNvCxnSpPr>
            <a:cxnSpLocks/>
            <a:stCxn id="100" idx="3"/>
            <a:endCxn id="108" idx="1"/>
          </p:cNvCxnSpPr>
          <p:nvPr/>
        </p:nvCxnSpPr>
        <p:spPr>
          <a:xfrm>
            <a:off x="1746512" y="3320094"/>
            <a:ext cx="1699789"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8B33E3F3-FF20-C48A-0381-9EE041C30A0C}"/>
              </a:ext>
            </a:extLst>
          </p:cNvPr>
          <p:cNvCxnSpPr>
            <a:cxnSpLocks/>
            <a:stCxn id="99" idx="3"/>
            <a:endCxn id="108" idx="1"/>
          </p:cNvCxnSpPr>
          <p:nvPr/>
        </p:nvCxnSpPr>
        <p:spPr>
          <a:xfrm>
            <a:off x="1746512" y="2882886"/>
            <a:ext cx="1699789" cy="437208"/>
          </a:xfrm>
          <a:prstGeom prst="bentConnector3">
            <a:avLst>
              <a:gd name="adj1" fmla="val 50000"/>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AAA86CD7-920D-F2D0-9472-22091E25E50E}"/>
              </a:ext>
            </a:extLst>
          </p:cNvPr>
          <p:cNvCxnSpPr>
            <a:cxnSpLocks/>
            <a:stCxn id="101" idx="3"/>
            <a:endCxn id="108" idx="1"/>
          </p:cNvCxnSpPr>
          <p:nvPr/>
        </p:nvCxnSpPr>
        <p:spPr>
          <a:xfrm flipV="1">
            <a:off x="1746512" y="3320096"/>
            <a:ext cx="1699789" cy="424755"/>
          </a:xfrm>
          <a:prstGeom prst="bentConnector3">
            <a:avLst>
              <a:gd name="adj1" fmla="val 50000"/>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BC53184F-502E-8DEC-9FD1-40717C9705F9}"/>
              </a:ext>
            </a:extLst>
          </p:cNvPr>
          <p:cNvCxnSpPr>
            <a:cxnSpLocks/>
            <a:stCxn id="108" idx="3"/>
          </p:cNvCxnSpPr>
          <p:nvPr/>
        </p:nvCxnSpPr>
        <p:spPr>
          <a:xfrm flipV="1">
            <a:off x="4348825" y="3309649"/>
            <a:ext cx="356512" cy="10446"/>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5E99D47E-8E80-7AC7-DE64-33F334253ED1}"/>
              </a:ext>
            </a:extLst>
          </p:cNvPr>
          <p:cNvCxnSpPr>
            <a:cxnSpLocks/>
            <a:stCxn id="102" idx="3"/>
            <a:endCxn id="14" idx="1"/>
          </p:cNvCxnSpPr>
          <p:nvPr/>
        </p:nvCxnSpPr>
        <p:spPr>
          <a:xfrm>
            <a:off x="1746512" y="4957820"/>
            <a:ext cx="1699789" cy="1662"/>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42" name="Rectangle 141">
            <a:extLst>
              <a:ext uri="{FF2B5EF4-FFF2-40B4-BE49-F238E27FC236}">
                <a16:creationId xmlns:a16="http://schemas.microsoft.com/office/drawing/2014/main" id="{02F2EC4F-64D4-1E4B-A974-B7C56AD6509F}"/>
              </a:ext>
            </a:extLst>
          </p:cNvPr>
          <p:cNvSpPr/>
          <p:nvPr/>
        </p:nvSpPr>
        <p:spPr>
          <a:xfrm>
            <a:off x="843988" y="4082972"/>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Customer Usage</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cxnSp>
        <p:nvCxnSpPr>
          <p:cNvPr id="143" name="Straight Arrow Connector 142">
            <a:extLst>
              <a:ext uri="{FF2B5EF4-FFF2-40B4-BE49-F238E27FC236}">
                <a16:creationId xmlns:a16="http://schemas.microsoft.com/office/drawing/2014/main" id="{CCCB3287-A390-12FD-569A-DD391DBCEF68}"/>
              </a:ext>
            </a:extLst>
          </p:cNvPr>
          <p:cNvCxnSpPr>
            <a:cxnSpLocks/>
            <a:stCxn id="142" idx="3"/>
            <a:endCxn id="12" idx="1"/>
          </p:cNvCxnSpPr>
          <p:nvPr/>
        </p:nvCxnSpPr>
        <p:spPr>
          <a:xfrm>
            <a:off x="1746511" y="4252880"/>
            <a:ext cx="667008" cy="0"/>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970E1592-6796-C888-6000-B025BF08F3E8}"/>
              </a:ext>
            </a:extLst>
          </p:cNvPr>
          <p:cNvCxnSpPr>
            <a:cxnSpLocks/>
            <a:stCxn id="25" idx="2"/>
            <a:endCxn id="26" idx="0"/>
          </p:cNvCxnSpPr>
          <p:nvPr/>
        </p:nvCxnSpPr>
        <p:spPr>
          <a:xfrm>
            <a:off x="10616955" y="4636864"/>
            <a:ext cx="0" cy="151047"/>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C7F3213E-C39F-681C-8B7C-0CF071A44790}"/>
              </a:ext>
            </a:extLst>
          </p:cNvPr>
          <p:cNvCxnSpPr>
            <a:cxnSpLocks/>
            <a:stCxn id="9" idx="2"/>
            <a:endCxn id="8" idx="0"/>
          </p:cNvCxnSpPr>
          <p:nvPr/>
        </p:nvCxnSpPr>
        <p:spPr>
          <a:xfrm>
            <a:off x="1295250" y="1986310"/>
            <a:ext cx="0" cy="289498"/>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0F21641-516A-9F22-90B6-E751020902A5}"/>
              </a:ext>
            </a:extLst>
          </p:cNvPr>
          <p:cNvSpPr/>
          <p:nvPr/>
        </p:nvSpPr>
        <p:spPr>
          <a:xfrm>
            <a:off x="10164339" y="3369064"/>
            <a:ext cx="902524" cy="339819"/>
          </a:xfrm>
          <a:prstGeom prst="rect">
            <a:avLst/>
          </a:prstGeom>
          <a:solidFill>
            <a:schemeClr val="bg1">
              <a:lumMod val="95000"/>
            </a:schemeClr>
          </a:solidFill>
          <a:ln w="6350">
            <a:solidFill>
              <a:schemeClr val="tx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rPr>
              <a:t>SAP GL Posting</a:t>
            </a:r>
            <a:endParaRPr kumimoji="0" lang="zh-CN" altLang="en-US" sz="700" b="1" i="0" u="none" strike="noStrike" kern="1200" cap="none" spc="0" normalizeH="0" baseline="0" noProof="0">
              <a:ln>
                <a:noFill/>
              </a:ln>
              <a:solidFill>
                <a:srgbClr val="000000"/>
              </a:solidFill>
              <a:effectLst/>
              <a:uLnTx/>
              <a:uFillTx/>
              <a:latin typeface="Tenorite" panose="00000500000000000000" pitchFamily="2" charset="0"/>
              <a:ea typeface="黑体" panose="02010609060101010101" pitchFamily="49" charset="-122"/>
              <a:cs typeface="+mn-cs"/>
            </a:endParaRPr>
          </a:p>
        </p:txBody>
      </p:sp>
      <p:cxnSp>
        <p:nvCxnSpPr>
          <p:cNvPr id="29" name="Straight Arrow Connector 28">
            <a:extLst>
              <a:ext uri="{FF2B5EF4-FFF2-40B4-BE49-F238E27FC236}">
                <a16:creationId xmlns:a16="http://schemas.microsoft.com/office/drawing/2014/main" id="{F668ECEC-07C1-CFDD-47B3-3E866DF9B595}"/>
              </a:ext>
            </a:extLst>
          </p:cNvPr>
          <p:cNvCxnSpPr>
            <a:cxnSpLocks/>
            <a:stCxn id="71" idx="3"/>
            <a:endCxn id="20" idx="1"/>
          </p:cNvCxnSpPr>
          <p:nvPr/>
        </p:nvCxnSpPr>
        <p:spPr>
          <a:xfrm>
            <a:off x="9386413" y="3536047"/>
            <a:ext cx="777927" cy="2927"/>
          </a:xfrm>
          <a:prstGeom prst="straightConnector1">
            <a:avLst/>
          </a:prstGeom>
          <a:ln w="31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A48EFCF-43B7-0C7E-10E3-B2CAEB0041C5}"/>
              </a:ext>
            </a:extLst>
          </p:cNvPr>
          <p:cNvSpPr txBox="1"/>
          <p:nvPr/>
        </p:nvSpPr>
        <p:spPr>
          <a:xfrm>
            <a:off x="1567212" y="5916092"/>
            <a:ext cx="5205692" cy="276999"/>
          </a:xfrm>
          <a:prstGeom prst="rect">
            <a:avLst/>
          </a:prstGeom>
          <a:noFill/>
        </p:spPr>
        <p:txBody>
          <a:bodyPr wrap="square">
            <a:spAutoFit/>
          </a:bodyPr>
          <a:lstStyle/>
          <a:p>
            <a:r>
              <a:rPr lang="en-US" sz="1200">
                <a:highlight>
                  <a:srgbClr val="FFFF00"/>
                </a:highlight>
                <a:hlinkClick r:id="rId3"/>
              </a:rPr>
              <a:t>Next Bill Finance &amp; Accounting BSR - Accounting Comments 0312.pptx</a:t>
            </a:r>
            <a:endParaRPr lang="en-US" sz="1200">
              <a:highlight>
                <a:srgbClr val="FFFF00"/>
              </a:highlight>
            </a:endParaRPr>
          </a:p>
        </p:txBody>
      </p:sp>
      <p:sp>
        <p:nvSpPr>
          <p:cNvPr id="32" name="TextBox 31">
            <a:extLst>
              <a:ext uri="{FF2B5EF4-FFF2-40B4-BE49-F238E27FC236}">
                <a16:creationId xmlns:a16="http://schemas.microsoft.com/office/drawing/2014/main" id="{9D5182AB-00FD-25D3-C90F-FAFBBDB4C4B2}"/>
              </a:ext>
            </a:extLst>
          </p:cNvPr>
          <p:cNvSpPr txBox="1"/>
          <p:nvPr/>
        </p:nvSpPr>
        <p:spPr>
          <a:xfrm>
            <a:off x="499602" y="5857767"/>
            <a:ext cx="1206631" cy="369332"/>
          </a:xfrm>
          <a:prstGeom prst="rect">
            <a:avLst/>
          </a:prstGeom>
          <a:noFill/>
        </p:spPr>
        <p:txBody>
          <a:bodyPr wrap="square" rtlCol="0">
            <a:spAutoFit/>
          </a:bodyPr>
          <a:lstStyle/>
          <a:p>
            <a:r>
              <a:rPr lang="en-US"/>
              <a:t>BSR Link:</a:t>
            </a:r>
          </a:p>
        </p:txBody>
      </p:sp>
      <p:sp>
        <p:nvSpPr>
          <p:cNvPr id="35" name="Rectangle 34">
            <a:extLst>
              <a:ext uri="{FF2B5EF4-FFF2-40B4-BE49-F238E27FC236}">
                <a16:creationId xmlns:a16="http://schemas.microsoft.com/office/drawing/2014/main" id="{8C4F4212-4AD7-99B2-DF7D-4216C7252783}"/>
              </a:ext>
            </a:extLst>
          </p:cNvPr>
          <p:cNvSpPr/>
          <p:nvPr/>
        </p:nvSpPr>
        <p:spPr>
          <a:xfrm>
            <a:off x="473181" y="5800730"/>
            <a:ext cx="6106913" cy="483408"/>
          </a:xfrm>
          <a:prstGeom prst="rect">
            <a:avLst/>
          </a:prstGeom>
          <a:noFill/>
          <a:ln w="28575" cap="flat" cmpd="sng" algn="ctr">
            <a:solidFill>
              <a:srgbClr val="FF0000"/>
            </a:solidFill>
            <a:prstDash val="dash"/>
          </a:ln>
          <a:effectLst>
            <a:outerShdw blurRad="40000" dist="20000" dir="5400000" rotWithShape="0">
              <a:srgbClr val="000000">
                <a:alpha val="38000"/>
              </a:srgbClr>
            </a:outerShdw>
          </a:effectLst>
        </p:spPr>
        <p:txBody>
          <a:bodyPr lIns="0" tIns="35982" rIns="0" bIns="0" rtlCol="0" anchor="ctr" anchorCtr="0"/>
          <a:lstStyle/>
          <a:p>
            <a:pPr algn="ctr" defTabSz="1088449"/>
            <a:endParaRPr lang="en-US" sz="900" kern="0">
              <a:solidFill>
                <a:sysClr val="windowText" lastClr="000000"/>
              </a:solidFill>
              <a:latin typeface="Calibri"/>
            </a:endParaRPr>
          </a:p>
        </p:txBody>
      </p:sp>
    </p:spTree>
    <p:extLst>
      <p:ext uri="{BB962C8B-B14F-4D97-AF65-F5344CB8AC3E}">
        <p14:creationId xmlns:p14="http://schemas.microsoft.com/office/powerpoint/2010/main" val="3584778320"/>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73F2-BFAC-E511-3C22-73857293C705}"/>
            </a:ext>
          </a:extLst>
        </p:cNvPr>
        <p:cNvGrpSpPr/>
        <p:nvPr/>
      </p:nvGrpSpPr>
      <p:grpSpPr>
        <a:xfrm>
          <a:off x="0" y="0"/>
          <a:ext cx="0" cy="0"/>
          <a:chOff x="0" y="0"/>
          <a:chExt cx="0" cy="0"/>
        </a:xfrm>
      </p:grpSpPr>
      <p:graphicFrame>
        <p:nvGraphicFramePr>
          <p:cNvPr id="18" name="表格 17">
            <a:extLst>
              <a:ext uri="{FF2B5EF4-FFF2-40B4-BE49-F238E27FC236}">
                <a16:creationId xmlns:a16="http://schemas.microsoft.com/office/drawing/2014/main" id="{2512C904-83B9-E89C-3DB9-8BF343EEA1FF}"/>
              </a:ext>
            </a:extLst>
          </p:cNvPr>
          <p:cNvGraphicFramePr>
            <a:graphicFrameLocks noGrp="1"/>
          </p:cNvGraphicFramePr>
          <p:nvPr/>
        </p:nvGraphicFramePr>
        <p:xfrm>
          <a:off x="195320" y="596611"/>
          <a:ext cx="11886796" cy="5782417"/>
        </p:xfrm>
        <a:graphic>
          <a:graphicData uri="http://schemas.openxmlformats.org/drawingml/2006/table">
            <a:tbl>
              <a:tblPr>
                <a:tableStyleId>{5C22544A-7EE6-4342-B048-85BDC9FD1C3A}</a:tableStyleId>
              </a:tblPr>
              <a:tblGrid>
                <a:gridCol w="1114832">
                  <a:extLst>
                    <a:ext uri="{9D8B030D-6E8A-4147-A177-3AD203B41FA5}">
                      <a16:colId xmlns:a16="http://schemas.microsoft.com/office/drawing/2014/main" val="4000147225"/>
                    </a:ext>
                  </a:extLst>
                </a:gridCol>
                <a:gridCol w="849391">
                  <a:extLst>
                    <a:ext uri="{9D8B030D-6E8A-4147-A177-3AD203B41FA5}">
                      <a16:colId xmlns:a16="http://schemas.microsoft.com/office/drawing/2014/main" val="3461385236"/>
                    </a:ext>
                  </a:extLst>
                </a:gridCol>
                <a:gridCol w="641684">
                  <a:extLst>
                    <a:ext uri="{9D8B030D-6E8A-4147-A177-3AD203B41FA5}">
                      <a16:colId xmlns:a16="http://schemas.microsoft.com/office/drawing/2014/main" val="483276459"/>
                    </a:ext>
                  </a:extLst>
                </a:gridCol>
                <a:gridCol w="770342">
                  <a:extLst>
                    <a:ext uri="{9D8B030D-6E8A-4147-A177-3AD203B41FA5}">
                      <a16:colId xmlns:a16="http://schemas.microsoft.com/office/drawing/2014/main" val="3787700465"/>
                    </a:ext>
                  </a:extLst>
                </a:gridCol>
                <a:gridCol w="673188">
                  <a:extLst>
                    <a:ext uri="{9D8B030D-6E8A-4147-A177-3AD203B41FA5}">
                      <a16:colId xmlns:a16="http://schemas.microsoft.com/office/drawing/2014/main" val="2232385994"/>
                    </a:ext>
                  </a:extLst>
                </a:gridCol>
                <a:gridCol w="562724">
                  <a:extLst>
                    <a:ext uri="{9D8B030D-6E8A-4147-A177-3AD203B41FA5}">
                      <a16:colId xmlns:a16="http://schemas.microsoft.com/office/drawing/2014/main" val="2624620257"/>
                    </a:ext>
                  </a:extLst>
                </a:gridCol>
                <a:gridCol w="839483">
                  <a:extLst>
                    <a:ext uri="{9D8B030D-6E8A-4147-A177-3AD203B41FA5}">
                      <a16:colId xmlns:a16="http://schemas.microsoft.com/office/drawing/2014/main" val="109940872"/>
                    </a:ext>
                  </a:extLst>
                </a:gridCol>
                <a:gridCol w="870628">
                  <a:extLst>
                    <a:ext uri="{9D8B030D-6E8A-4147-A177-3AD203B41FA5}">
                      <a16:colId xmlns:a16="http://schemas.microsoft.com/office/drawing/2014/main" val="2389772416"/>
                    </a:ext>
                  </a:extLst>
                </a:gridCol>
                <a:gridCol w="983856">
                  <a:extLst>
                    <a:ext uri="{9D8B030D-6E8A-4147-A177-3AD203B41FA5}">
                      <a16:colId xmlns:a16="http://schemas.microsoft.com/office/drawing/2014/main" val="874425061"/>
                    </a:ext>
                  </a:extLst>
                </a:gridCol>
                <a:gridCol w="897509">
                  <a:extLst>
                    <a:ext uri="{9D8B030D-6E8A-4147-A177-3AD203B41FA5}">
                      <a16:colId xmlns:a16="http://schemas.microsoft.com/office/drawing/2014/main" val="1465838711"/>
                    </a:ext>
                  </a:extLst>
                </a:gridCol>
                <a:gridCol w="1891672">
                  <a:extLst>
                    <a:ext uri="{9D8B030D-6E8A-4147-A177-3AD203B41FA5}">
                      <a16:colId xmlns:a16="http://schemas.microsoft.com/office/drawing/2014/main" val="2517919499"/>
                    </a:ext>
                  </a:extLst>
                </a:gridCol>
                <a:gridCol w="1791487">
                  <a:extLst>
                    <a:ext uri="{9D8B030D-6E8A-4147-A177-3AD203B41FA5}">
                      <a16:colId xmlns:a16="http://schemas.microsoft.com/office/drawing/2014/main" val="2358262028"/>
                    </a:ext>
                  </a:extLst>
                </a:gridCol>
              </a:tblGrid>
              <a:tr h="371762">
                <a:tc>
                  <a:txBody>
                    <a:bodyPr/>
                    <a:lstStyle/>
                    <a:p>
                      <a:pPr algn="l" fontAlgn="b"/>
                      <a:r>
                        <a:rPr lang="en-US" sz="1000" b="1" u="none" strike="noStrike">
                          <a:effectLst/>
                        </a:rPr>
                        <a:t>1.Offering</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2. Business </a:t>
                      </a:r>
                    </a:p>
                    <a:p>
                      <a:pPr algn="l" fontAlgn="b"/>
                      <a:r>
                        <a:rPr lang="en-US" sz="1000" b="1" u="none" strike="noStrike">
                          <a:effectLst/>
                        </a:rPr>
                        <a:t>Model</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3.Contract Type</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4.Charge Model</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5. RTM</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6. Lease </a:t>
                      </a:r>
                    </a:p>
                    <a:p>
                      <a:pPr algn="l" fontAlgn="b"/>
                      <a:r>
                        <a:rPr lang="en-US" sz="1000" b="1" u="none" strike="noStrike">
                          <a:effectLst/>
                        </a:rPr>
                        <a:t>Type</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7. Billing Type</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8. Funding </a:t>
                      </a:r>
                    </a:p>
                    <a:p>
                      <a:pPr algn="l" fontAlgn="b"/>
                      <a:r>
                        <a:rPr lang="en-US" sz="1000" b="1" u="none" strike="noStrike">
                          <a:effectLst/>
                        </a:rPr>
                        <a:t>Model</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9. Product </a:t>
                      </a:r>
                      <a:r>
                        <a:rPr lang="en-US" sz="1000" b="1" u="none" strike="noStrike" err="1">
                          <a:effectLst/>
                        </a:rPr>
                        <a:t>Ctgry</a:t>
                      </a:r>
                      <a:endParaRPr lang="en-US" sz="1000" b="1" i="0" u="none" strike="noStrike" err="1">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i="0" u="none" strike="noStrike">
                          <a:solidFill>
                            <a:srgbClr val="000000"/>
                          </a:solidFill>
                          <a:effectLst/>
                          <a:latin typeface="等线"/>
                          <a:ea typeface="等线"/>
                        </a:rPr>
                        <a:t>10. Fulfillment Method</a:t>
                      </a: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11. Events</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fontAlgn="b"/>
                      <a:r>
                        <a:rPr lang="en-US" sz="1000" b="1" u="none" strike="noStrike">
                          <a:effectLst/>
                        </a:rPr>
                        <a:t>12. Offering Elements</a:t>
                      </a:r>
                      <a:endParaRPr lang="en-US" sz="1000" b="1"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316032673"/>
                  </a:ext>
                </a:extLst>
              </a:tr>
              <a:tr h="188115">
                <a:tc>
                  <a:txBody>
                    <a:bodyPr/>
                    <a:lstStyle/>
                    <a:p>
                      <a:pPr lvl="0" algn="l">
                        <a:buNone/>
                      </a:pPr>
                      <a:r>
                        <a:rPr lang="en-US" sz="1000" u="none" strike="noStrike">
                          <a:effectLst/>
                        </a:rPr>
                        <a:t>1.1DaaS</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US" sz="1000" u="none" strike="noStrike">
                          <a:effectLst/>
                        </a:rPr>
                        <a:t>2.1 AFE</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US" sz="1000" u="none" strike="noStrike">
                          <a:effectLst/>
                        </a:rPr>
                        <a:t>3.1 MSA</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4.1 Fixed</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5.1 Direct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6.1 OL</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7.1 Monthly</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8.1 Internal</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9.1 Lenovo</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a:ea typeface="等线"/>
                        </a:rPr>
                        <a:t>Lenovo</a:t>
                      </a: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11.1 Normal Pass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12.1 HW – funded</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508739"/>
                  </a:ext>
                </a:extLst>
              </a:tr>
              <a:tr h="371762">
                <a:tc>
                  <a:txBody>
                    <a:bodyPr/>
                    <a:lstStyle/>
                    <a:p>
                      <a:pPr lvl="0" algn="l">
                        <a:buNone/>
                      </a:pPr>
                      <a:r>
                        <a:rPr lang="en-US" sz="1000" u="none" strike="noStrike">
                          <a:effectLst/>
                        </a:rPr>
                        <a:t>1.2 ISG Lease</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US" sz="1000" u="none" strike="noStrike">
                          <a:effectLst/>
                        </a:rPr>
                        <a:t>2.2 S&amp;D</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US" sz="1000" u="none" strike="noStrike">
                          <a:effectLst/>
                        </a:rPr>
                        <a:t>3.2 MLA</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panose="02010600030101010101" pitchFamily="2" charset="-122"/>
                          <a:ea typeface="等线" panose="02010600030101010101" pitchFamily="2" charset="-122"/>
                        </a:rPr>
                        <a:t>4.2 Consumption</a:t>
                      </a: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5.2 Indirect</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6.2 FL</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7.2 Quarterly</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8.2 External</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9.2 3rd party</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a:ea typeface="等线"/>
                        </a:rPr>
                        <a:t>Non-Lenovo</a:t>
                      </a: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11.2 EOT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12.2 SW – funded</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318484"/>
                  </a:ext>
                </a:extLst>
              </a:tr>
              <a:tr h="371762">
                <a:tc>
                  <a:txBody>
                    <a:bodyPr/>
                    <a:lstStyle/>
                    <a:p>
                      <a:pPr lvl="0" algn="l">
                        <a:buNone/>
                      </a:pPr>
                      <a:r>
                        <a:rPr lang="en-US" sz="1000" u="none" strike="noStrike">
                          <a:effectLst/>
                        </a:rPr>
                        <a:t>1.3 IaaS</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US" sz="1000" u="none" strike="noStrike">
                          <a:effectLst/>
                        </a:rPr>
                        <a:t>2.3 AFE Hub</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endParaRPr lang="zh-Hans" alt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11.3 Early termination-</a:t>
                      </a:r>
                    </a:p>
                    <a:p>
                      <a:pPr algn="l" fontAlgn="b"/>
                      <a:r>
                        <a:rPr lang="en-US" sz="1000" u="none" strike="noStrike">
                          <a:effectLst/>
                        </a:rPr>
                        <a:t>Device Return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12.3 SVC - upfront – funded</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459778"/>
                  </a:ext>
                </a:extLst>
              </a:tr>
              <a:tr h="371762">
                <a:tc>
                  <a:txBody>
                    <a:bodyPr/>
                    <a:lstStyle/>
                    <a:p>
                      <a:pPr lvl="0" algn="l">
                        <a:buNone/>
                      </a:pPr>
                      <a:r>
                        <a:rPr lang="en-US" sz="1000" u="none" strike="noStrike">
                          <a:effectLst/>
                        </a:rPr>
                        <a:t>1.4 Managed Capex (MSAAS)</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US" sz="1000" u="none" strike="noStrike">
                          <a:effectLst/>
                        </a:rPr>
                        <a:t>2.4 Central </a:t>
                      </a:r>
                      <a:endParaRPr lang="en-US"/>
                    </a:p>
                    <a:p>
                      <a:pPr lvl="0" algn="l">
                        <a:buNone/>
                      </a:pPr>
                      <a:r>
                        <a:rPr lang="en-US" sz="1000" u="none" strike="noStrike">
                          <a:effectLst/>
                        </a:rPr>
                        <a:t>Billing</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endParaRPr lang="zh-Hans" alt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11.4 Early termination-</a:t>
                      </a:r>
                    </a:p>
                    <a:p>
                      <a:pPr algn="l" fontAlgn="b"/>
                      <a:r>
                        <a:rPr lang="en-US" sz="1000" u="none" strike="noStrike">
                          <a:effectLst/>
                        </a:rPr>
                        <a:t>Device Lost/Stolen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12.4 SVC - upfront - not funded (recurring)</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766259"/>
                  </a:ext>
                </a:extLst>
              </a:tr>
              <a:tr h="739056">
                <a:tc>
                  <a:txBody>
                    <a:bodyPr/>
                    <a:lstStyle/>
                    <a:p>
                      <a:pPr lvl="0" algn="l">
                        <a:buNone/>
                      </a:pPr>
                      <a:r>
                        <a:rPr lang="en-US" sz="1000" u="none" strike="noStrike">
                          <a:effectLst/>
                        </a:rPr>
                        <a:t>1.5 On-demand Service /</a:t>
                      </a:r>
                      <a:endParaRPr lang="en-US"/>
                    </a:p>
                    <a:p>
                      <a:pPr lvl="0" algn="l">
                        <a:buNone/>
                      </a:pPr>
                      <a:r>
                        <a:rPr lang="en-US" sz="1000" u="none" strike="noStrike">
                          <a:effectLst/>
                        </a:rPr>
                        <a:t> onetime charge (ODS)</a:t>
                      </a:r>
                      <a:endParaRPr 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endParaRPr lang="zh-Hans" alt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endParaRPr lang="zh-Hans" altLang="en-US" sz="1000" b="0" i="0" u="none" strike="noStrike">
                        <a:solidFill>
                          <a:srgbClr val="000000"/>
                        </a:solidFill>
                        <a:effectLst/>
                        <a:latin typeface="等线"/>
                        <a:ea typeface="等线"/>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11.5 Extension auto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12.5 SVC - on-going – funded</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7547337"/>
                  </a:ext>
                </a:extLst>
              </a:tr>
              <a:tr h="371762">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11.6 Extension with (fix/open)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12.6 SVC - on-going - not funded (recurring)</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9636292"/>
                  </a:ext>
                </a:extLst>
              </a:tr>
              <a:tr h="371762">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11.7 Flex pause/un-pause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12.7 SVC - end of term - not funded (recurring)</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6895235"/>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11.8 Flex down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010452"/>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11.9 Swap stock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6706412"/>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11.10 Damage fund/charge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673700"/>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11.11 SOR with Recourse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4139168"/>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11.12 SOR with non-Recourse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1501152"/>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11.13 Syndication </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Hans" altLang="en-US" sz="1000" u="none" strike="noStrike">
                          <a:effectLst/>
                        </a:rPr>
                        <a:t> </a:t>
                      </a:r>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222521"/>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panose="02010600030101010101" pitchFamily="2" charset="-122"/>
                          <a:ea typeface="等线" panose="02010600030101010101" pitchFamily="2" charset="-122"/>
                        </a:rPr>
                        <a:t>11.14 Asset Remarketing </a:t>
                      </a: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825426"/>
                  </a:ext>
                </a:extLst>
              </a:tr>
              <a:tr h="555409">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u="none" strike="noStrike">
                          <a:effectLst/>
                        </a:rPr>
                        <a:t>11.15 Manual adjustment – </a:t>
                      </a:r>
                    </a:p>
                    <a:p>
                      <a:pPr algn="l" fontAlgn="b"/>
                      <a:r>
                        <a:rPr lang="en-US" sz="1000" u="none" strike="noStrike">
                          <a:effectLst/>
                        </a:rPr>
                        <a:t>Credit /Debit Memo,Cancellation</a:t>
                      </a:r>
                    </a:p>
                    <a:p>
                      <a:pPr algn="l" fontAlgn="b"/>
                      <a:r>
                        <a:rPr lang="en-US" sz="1000" u="none" strike="noStrike">
                          <a:effectLst/>
                        </a:rPr>
                        <a:t>/Reverse</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Hans" altLang="en-US" sz="1000" u="none" strike="noStrike">
                          <a:effectLst/>
                        </a:rPr>
                        <a:t> </a:t>
                      </a:r>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5348367"/>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panose="02010600030101010101" pitchFamily="2" charset="-122"/>
                          <a:ea typeface="等线" panose="02010600030101010101" pitchFamily="2" charset="-122"/>
                        </a:rPr>
                        <a:t>11.16 A</a:t>
                      </a:r>
                      <a:r>
                        <a:rPr lang="en-US" altLang="zh-CN" sz="1000" b="0" i="0" u="none" strike="noStrike">
                          <a:solidFill>
                            <a:srgbClr val="000000"/>
                          </a:solidFill>
                          <a:effectLst/>
                          <a:latin typeface="等线" panose="02010600030101010101" pitchFamily="2" charset="-122"/>
                          <a:ea typeface="等线" panose="02010600030101010101" pitchFamily="2" charset="-122"/>
                        </a:rPr>
                        <a:t>dvanced billing (New)</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808565"/>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panose="02010600030101010101" pitchFamily="2" charset="-122"/>
                          <a:ea typeface="等线" panose="02010600030101010101" pitchFamily="2" charset="-122"/>
                        </a:rPr>
                        <a:t>11.17 Interim charge</a:t>
                      </a:r>
                      <a:r>
                        <a:rPr lang="en-US" altLang="zh-CN" sz="1000" b="0" i="0" u="none" strike="noStrike">
                          <a:solidFill>
                            <a:srgbClr val="000000"/>
                          </a:solidFill>
                          <a:effectLst/>
                          <a:latin typeface="等线" panose="02010600030101010101" pitchFamily="2" charset="-122"/>
                          <a:ea typeface="等线" panose="02010600030101010101" pitchFamily="2" charset="-122"/>
                        </a:rPr>
                        <a:t>(New)</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320056"/>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panose="02010600030101010101" pitchFamily="2" charset="-122"/>
                          <a:ea typeface="等线" panose="02010600030101010101" pitchFamily="2" charset="-122"/>
                        </a:rPr>
                        <a:t>11.18 structured payment</a:t>
                      </a:r>
                      <a:r>
                        <a:rPr lang="en-US" altLang="zh-CN" sz="1000" b="0" i="0" u="none" strike="noStrike">
                          <a:solidFill>
                            <a:srgbClr val="000000"/>
                          </a:solidFill>
                          <a:effectLst/>
                          <a:latin typeface="等线" panose="02010600030101010101" pitchFamily="2" charset="-122"/>
                          <a:ea typeface="等线" panose="02010600030101010101" pitchFamily="2" charset="-122"/>
                        </a:rPr>
                        <a:t>(New)</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9889571"/>
                  </a:ext>
                </a:extLst>
              </a:tr>
              <a:tr h="188115">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等线" panose="02010600030101010101" pitchFamily="2" charset="-122"/>
                          <a:ea typeface="等线" panose="02010600030101010101" pitchFamily="2" charset="-122"/>
                        </a:rPr>
                        <a:t>11.19 mid term rewrite</a:t>
                      </a:r>
                      <a:r>
                        <a:rPr lang="en-US" altLang="zh-CN" sz="1000" b="0" i="0" u="none" strike="noStrike">
                          <a:solidFill>
                            <a:srgbClr val="000000"/>
                          </a:solidFill>
                          <a:effectLst/>
                          <a:latin typeface="等线" panose="02010600030101010101" pitchFamily="2" charset="-122"/>
                          <a:ea typeface="等线" panose="02010600030101010101" pitchFamily="2" charset="-122"/>
                        </a:rPr>
                        <a:t>(New)</a:t>
                      </a: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Hans" altLang="en-US" sz="1000" b="0" i="0" u="none" strike="noStrike">
                        <a:solidFill>
                          <a:srgbClr val="000000"/>
                        </a:solidFill>
                        <a:effectLst/>
                        <a:latin typeface="等线" panose="02010600030101010101" pitchFamily="2" charset="-122"/>
                        <a:ea typeface="等线" panose="02010600030101010101" pitchFamily="2" charset="-122"/>
                      </a:endParaRPr>
                    </a:p>
                  </a:txBody>
                  <a:tcPr marL="3708" marR="3708" marT="37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077590"/>
                  </a:ext>
                </a:extLst>
              </a:tr>
            </a:tbl>
          </a:graphicData>
        </a:graphic>
      </p:graphicFrame>
      <p:sp>
        <p:nvSpPr>
          <p:cNvPr id="3" name="文本框 16">
            <a:extLst>
              <a:ext uri="{FF2B5EF4-FFF2-40B4-BE49-F238E27FC236}">
                <a16:creationId xmlns:a16="http://schemas.microsoft.com/office/drawing/2014/main" id="{C5F04A09-8BE6-B4FF-2B50-C4C0DB9E7F0C}"/>
              </a:ext>
            </a:extLst>
          </p:cNvPr>
          <p:cNvSpPr txBox="1"/>
          <p:nvPr/>
        </p:nvSpPr>
        <p:spPr>
          <a:xfrm>
            <a:off x="195320" y="131113"/>
            <a:ext cx="447094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altLang="zh-CN" sz="2000" b="1" i="0" u="none" strike="noStrike" kern="1200" cap="none" spc="0" normalizeH="0" baseline="0" noProof="0">
                <a:ln>
                  <a:noFill/>
                </a:ln>
                <a:solidFill>
                  <a:prstClr val="black"/>
                </a:solidFill>
                <a:effectLst/>
                <a:uLnTx/>
                <a:uFillTx/>
                <a:latin typeface="Aptos" panose="020B0004020202020204"/>
                <a:ea typeface="宋体" panose="02010600030101010101" pitchFamily="2" charset="-122"/>
                <a:cs typeface="+mn-cs"/>
              </a:rPr>
              <a:t>Scenario Mapping Table</a:t>
            </a:r>
            <a:endParaRPr kumimoji="0" lang="zh-CN" altLang="en-US" sz="2000" b="1" i="0" u="none" strike="noStrike" kern="1200" cap="none" spc="0" normalizeH="0" baseline="0" noProof="0">
              <a:ln>
                <a:noFill/>
              </a:ln>
              <a:solidFill>
                <a:prstClr val="black"/>
              </a:solidFill>
              <a:effectLst/>
              <a:uLnTx/>
              <a:uFillTx/>
              <a:latin typeface="Aptos" panose="020B0004020202020204"/>
              <a:ea typeface="宋体" panose="02010600030101010101" pitchFamily="2" charset="-122"/>
              <a:cs typeface="+mn-cs"/>
            </a:endParaRPr>
          </a:p>
        </p:txBody>
      </p:sp>
    </p:spTree>
    <p:extLst>
      <p:ext uri="{BB962C8B-B14F-4D97-AF65-F5344CB8AC3E}">
        <p14:creationId xmlns:p14="http://schemas.microsoft.com/office/powerpoint/2010/main" val="1656745858"/>
      </p:ext>
    </p:extLst>
  </p:cSld>
  <p:clrMapOvr>
    <a:masterClrMapping/>
  </p:clrMapOvr>
  <p:transition spd="me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E9DA4-759E-7C50-DAA1-43BE1FFBA57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3C563B9-5902-BBB7-5AD5-C834F2536418}"/>
              </a:ext>
            </a:extLst>
          </p:cNvPr>
          <p:cNvSpPr>
            <a:spLocks noGrp="1"/>
          </p:cNvSpPr>
          <p:nvPr>
            <p:ph type="title"/>
          </p:nvPr>
        </p:nvSpPr>
        <p:spPr/>
        <p:txBody>
          <a:bodyPr/>
          <a:lstStyle/>
          <a:p>
            <a:r>
              <a:rPr lang="en-US" altLang="zh-CN"/>
              <a:t>Nexbill Finance</a:t>
            </a:r>
            <a:endParaRPr lang="zh-CN" altLang="en-US"/>
          </a:p>
        </p:txBody>
      </p:sp>
      <p:sp>
        <p:nvSpPr>
          <p:cNvPr id="276" name="Rectangle 1">
            <a:extLst>
              <a:ext uri="{FF2B5EF4-FFF2-40B4-BE49-F238E27FC236}">
                <a16:creationId xmlns:a16="http://schemas.microsoft.com/office/drawing/2014/main" id="{EB66E8EA-DDBB-DFC2-9A82-9BC9CB9E24A2}"/>
              </a:ext>
            </a:extLst>
          </p:cNvPr>
          <p:cNvSpPr/>
          <p:nvPr/>
        </p:nvSpPr>
        <p:spPr>
          <a:xfrm>
            <a:off x="0" y="766486"/>
            <a:ext cx="12191400" cy="5916706"/>
          </a:xfrm>
          <a:prstGeom prst="rect">
            <a:avLst/>
          </a:prstGeom>
          <a:solidFill>
            <a:srgbClr val="0F2A4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77" name="TextBox 3">
            <a:extLst>
              <a:ext uri="{FF2B5EF4-FFF2-40B4-BE49-F238E27FC236}">
                <a16:creationId xmlns:a16="http://schemas.microsoft.com/office/drawing/2014/main" id="{17A852DD-46B2-3133-FD25-0C2A1201AD5B}"/>
              </a:ext>
            </a:extLst>
          </p:cNvPr>
          <p:cNvSpPr/>
          <p:nvPr/>
        </p:nvSpPr>
        <p:spPr>
          <a:xfrm>
            <a:off x="1918119" y="760713"/>
            <a:ext cx="8463897" cy="752599"/>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3000" b="1" strike="noStrike" spc="-1" err="1">
                <a:solidFill>
                  <a:srgbClr val="FFFFFF"/>
                </a:solidFill>
                <a:latin typeface="Microsoft YaHei"/>
                <a:ea typeface="Microsoft YaHei"/>
              </a:rPr>
              <a:t>Nexbill</a:t>
            </a:r>
            <a:r>
              <a:rPr lang="en-US" sz="3000" b="1" strike="noStrike" spc="-1">
                <a:solidFill>
                  <a:srgbClr val="FFFFFF"/>
                </a:solidFill>
                <a:latin typeface="Microsoft YaHei"/>
                <a:ea typeface="Microsoft YaHei"/>
              </a:rPr>
              <a:t> F</a:t>
            </a:r>
            <a:r>
              <a:rPr lang="en-US" altLang="zh-CN" sz="3000" b="1" strike="noStrike" spc="-1">
                <a:solidFill>
                  <a:srgbClr val="FFFFFF"/>
                </a:solidFill>
                <a:latin typeface="Microsoft YaHei"/>
                <a:ea typeface="Microsoft YaHei"/>
              </a:rPr>
              <a:t>inance Core Functions</a:t>
            </a:r>
            <a:endParaRPr lang="en-US" sz="3000" b="0" strike="noStrike" spc="-1">
              <a:solidFill>
                <a:srgbClr val="000000"/>
              </a:solidFill>
              <a:latin typeface="Arial"/>
            </a:endParaRPr>
          </a:p>
          <a:p>
            <a:pPr>
              <a:lnSpc>
                <a:spcPct val="100000"/>
              </a:lnSpc>
            </a:pPr>
            <a:r>
              <a:rPr lang="en-US" sz="1300" b="0" strike="noStrike" spc="-1">
                <a:solidFill>
                  <a:srgbClr val="BDCCDA"/>
                </a:solidFill>
                <a:latin typeface="Microsoft YaHei"/>
                <a:ea typeface="Microsoft YaHei"/>
              </a:rPr>
              <a:t>Invoice </a:t>
            </a:r>
            <a:r>
              <a:rPr lang="en-US" altLang="zh-CN" sz="1300" spc="-1">
                <a:solidFill>
                  <a:srgbClr val="BDCCDA"/>
                </a:solidFill>
                <a:latin typeface="Microsoft YaHei"/>
                <a:ea typeface="Microsoft YaHei"/>
              </a:rPr>
              <a:t>posting</a:t>
            </a:r>
            <a:r>
              <a:rPr lang="zh-CN" sz="1300" b="0" strike="noStrike" spc="-1">
                <a:solidFill>
                  <a:srgbClr val="BDCCDA"/>
                </a:solidFill>
                <a:latin typeface="Microsoft YaHei"/>
                <a:ea typeface="Microsoft YaHei"/>
              </a:rPr>
              <a:t> </a:t>
            </a:r>
            <a:r>
              <a:rPr lang="en-US" sz="1300" b="0" strike="noStrike" spc="-1">
                <a:solidFill>
                  <a:srgbClr val="BDCCDA"/>
                </a:solidFill>
                <a:latin typeface="Microsoft YaHei"/>
                <a:ea typeface="Microsoft YaHei"/>
              </a:rPr>
              <a:t>· </a:t>
            </a:r>
            <a:r>
              <a:rPr lang="en-US" sz="1300" spc="-1">
                <a:solidFill>
                  <a:srgbClr val="BDCCDA"/>
                </a:solidFill>
                <a:latin typeface="Microsoft YaHei"/>
                <a:ea typeface="Microsoft YaHei"/>
              </a:rPr>
              <a:t>D</a:t>
            </a:r>
            <a:r>
              <a:rPr lang="en-US" altLang="zh-CN" sz="1300" spc="-1">
                <a:solidFill>
                  <a:srgbClr val="BDCCDA"/>
                </a:solidFill>
                <a:latin typeface="Microsoft YaHei"/>
                <a:ea typeface="Microsoft YaHei"/>
              </a:rPr>
              <a:t>efer amortization</a:t>
            </a:r>
            <a:r>
              <a:rPr lang="zh-CN" sz="1300" b="0" strike="noStrike" spc="-1">
                <a:solidFill>
                  <a:srgbClr val="BDCCDA"/>
                </a:solidFill>
                <a:latin typeface="Microsoft YaHei"/>
                <a:ea typeface="Microsoft YaHei"/>
              </a:rPr>
              <a:t> </a:t>
            </a:r>
            <a:r>
              <a:rPr lang="en-US" sz="1300" b="0" strike="noStrike" spc="-1">
                <a:solidFill>
                  <a:srgbClr val="BDCCDA"/>
                </a:solidFill>
                <a:latin typeface="Microsoft YaHei"/>
                <a:ea typeface="Microsoft YaHei"/>
              </a:rPr>
              <a:t>· ARS R</a:t>
            </a:r>
            <a:r>
              <a:rPr lang="en-US" altLang="zh-CN" sz="1300" spc="-1">
                <a:solidFill>
                  <a:srgbClr val="BDCCDA"/>
                </a:solidFill>
                <a:latin typeface="Microsoft YaHei"/>
                <a:ea typeface="Microsoft YaHei"/>
              </a:rPr>
              <a:t>evenue recognition</a:t>
            </a:r>
            <a:r>
              <a:rPr lang="zh-CN" sz="1300" b="0" strike="noStrike" spc="-1">
                <a:solidFill>
                  <a:srgbClr val="BDCCDA"/>
                </a:solidFill>
                <a:latin typeface="Microsoft YaHei"/>
                <a:ea typeface="Microsoft YaHei"/>
              </a:rPr>
              <a:t> </a:t>
            </a:r>
            <a:r>
              <a:rPr lang="en-US" sz="1300" b="0" strike="noStrike" spc="-1">
                <a:solidFill>
                  <a:srgbClr val="BDCCDA"/>
                </a:solidFill>
                <a:latin typeface="Microsoft YaHei"/>
                <a:ea typeface="Microsoft YaHei"/>
              </a:rPr>
              <a:t>· P</a:t>
            </a:r>
            <a:r>
              <a:rPr lang="en-US" altLang="zh-CN" sz="1300" b="0" strike="noStrike" spc="-1">
                <a:solidFill>
                  <a:srgbClr val="BDCCDA"/>
                </a:solidFill>
                <a:latin typeface="Microsoft YaHei"/>
                <a:ea typeface="Microsoft YaHei"/>
              </a:rPr>
              <a:t>osting sync to SAP</a:t>
            </a:r>
            <a:r>
              <a:rPr lang="zh-CN" sz="1300" b="0" strike="noStrike" spc="-1">
                <a:solidFill>
                  <a:srgbClr val="BDCCDA"/>
                </a:solidFill>
                <a:latin typeface="Microsoft YaHei"/>
                <a:ea typeface="Microsoft YaHei"/>
              </a:rPr>
              <a:t> </a:t>
            </a:r>
            <a:r>
              <a:rPr lang="en-US" sz="1300" b="0" strike="noStrike" spc="-1">
                <a:solidFill>
                  <a:srgbClr val="BDCCDA"/>
                </a:solidFill>
                <a:latin typeface="Microsoft YaHei"/>
                <a:ea typeface="Microsoft YaHei"/>
              </a:rPr>
              <a:t>· F</a:t>
            </a:r>
            <a:r>
              <a:rPr lang="en-US" altLang="zh-CN" sz="1300" b="0" strike="noStrike" spc="-1">
                <a:solidFill>
                  <a:srgbClr val="BDCCDA"/>
                </a:solidFill>
                <a:latin typeface="Microsoft YaHei"/>
                <a:ea typeface="Microsoft YaHei"/>
              </a:rPr>
              <a:t>inance reporting</a:t>
            </a:r>
            <a:endParaRPr lang="en-US" sz="1300" b="0" strike="noStrike" spc="-1">
              <a:solidFill>
                <a:srgbClr val="000000"/>
              </a:solidFill>
              <a:latin typeface="Arial"/>
            </a:endParaRPr>
          </a:p>
        </p:txBody>
      </p:sp>
      <p:sp>
        <p:nvSpPr>
          <p:cNvPr id="278" name="Rounded Rectangle 4">
            <a:extLst>
              <a:ext uri="{FF2B5EF4-FFF2-40B4-BE49-F238E27FC236}">
                <a16:creationId xmlns:a16="http://schemas.microsoft.com/office/drawing/2014/main" id="{4A50A76B-55EB-3619-1E08-9FFB2558C997}"/>
              </a:ext>
            </a:extLst>
          </p:cNvPr>
          <p:cNvSpPr/>
          <p:nvPr/>
        </p:nvSpPr>
        <p:spPr>
          <a:xfrm>
            <a:off x="502920" y="1925152"/>
            <a:ext cx="2093760" cy="4708800"/>
          </a:xfrm>
          <a:prstGeom prst="roundRect">
            <a:avLst>
              <a:gd name="adj" fmla="val 5500"/>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79" name="Rectangle 5">
            <a:extLst>
              <a:ext uri="{FF2B5EF4-FFF2-40B4-BE49-F238E27FC236}">
                <a16:creationId xmlns:a16="http://schemas.microsoft.com/office/drawing/2014/main" id="{489EA0D0-2EBC-A497-A313-B1F56B18D5AB}"/>
              </a:ext>
            </a:extLst>
          </p:cNvPr>
          <p:cNvSpPr/>
          <p:nvPr/>
        </p:nvSpPr>
        <p:spPr>
          <a:xfrm>
            <a:off x="722520" y="2199472"/>
            <a:ext cx="411120" cy="45360"/>
          </a:xfrm>
          <a:prstGeom prst="rect">
            <a:avLst/>
          </a:prstGeom>
          <a:solidFill>
            <a:srgbClr val="2EC4B6"/>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Calibri"/>
            </a:endParaRPr>
          </a:p>
        </p:txBody>
      </p:sp>
      <p:sp>
        <p:nvSpPr>
          <p:cNvPr id="280" name="TextBox 6">
            <a:extLst>
              <a:ext uri="{FF2B5EF4-FFF2-40B4-BE49-F238E27FC236}">
                <a16:creationId xmlns:a16="http://schemas.microsoft.com/office/drawing/2014/main" id="{68B1A9D9-7A38-109D-24EB-F22036050FEB}"/>
              </a:ext>
            </a:extLst>
          </p:cNvPr>
          <p:cNvSpPr/>
          <p:nvPr/>
        </p:nvSpPr>
        <p:spPr>
          <a:xfrm>
            <a:off x="1881360" y="2071312"/>
            <a:ext cx="51408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lnSpc>
                <a:spcPct val="100000"/>
              </a:lnSpc>
            </a:pPr>
            <a:r>
              <a:rPr lang="en-US" sz="1800" b="1" strike="noStrike" spc="-1">
                <a:solidFill>
                  <a:srgbClr val="2EC4B6"/>
                </a:solidFill>
                <a:latin typeface="Microsoft YaHei"/>
                <a:ea typeface="Microsoft YaHei"/>
              </a:rPr>
              <a:t>01</a:t>
            </a:r>
            <a:endParaRPr lang="en-US" sz="1800" b="0" strike="noStrike" spc="-1">
              <a:solidFill>
                <a:srgbClr val="000000"/>
              </a:solidFill>
              <a:latin typeface="Arial"/>
            </a:endParaRPr>
          </a:p>
        </p:txBody>
      </p:sp>
      <p:sp>
        <p:nvSpPr>
          <p:cNvPr id="281" name="Oval 7">
            <a:extLst>
              <a:ext uri="{FF2B5EF4-FFF2-40B4-BE49-F238E27FC236}">
                <a16:creationId xmlns:a16="http://schemas.microsoft.com/office/drawing/2014/main" id="{62406F5C-A5F1-2CC4-9077-C8E2E080412B}"/>
              </a:ext>
            </a:extLst>
          </p:cNvPr>
          <p:cNvSpPr/>
          <p:nvPr/>
        </p:nvSpPr>
        <p:spPr>
          <a:xfrm>
            <a:off x="740520" y="2656672"/>
            <a:ext cx="1051200" cy="1051200"/>
          </a:xfrm>
          <a:prstGeom prst="ellipse">
            <a:avLst/>
          </a:prstGeom>
          <a:solidFill>
            <a:srgbClr val="2EC4B6"/>
          </a:solidFill>
          <a:ln w="19050">
            <a:solidFill>
              <a:srgbClr val="2EC4B6"/>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82" name="Folded Corner 8">
            <a:extLst>
              <a:ext uri="{FF2B5EF4-FFF2-40B4-BE49-F238E27FC236}">
                <a16:creationId xmlns:a16="http://schemas.microsoft.com/office/drawing/2014/main" id="{0CE1653A-C5D2-C5AD-9401-6CD2593F1619}"/>
              </a:ext>
            </a:extLst>
          </p:cNvPr>
          <p:cNvSpPr/>
          <p:nvPr/>
        </p:nvSpPr>
        <p:spPr>
          <a:xfrm>
            <a:off x="961560" y="2877352"/>
            <a:ext cx="609480" cy="609480"/>
          </a:xfrm>
          <a:prstGeom prst="foldedCorner">
            <a:avLst>
              <a:gd name="adj" fmla="val 16667"/>
            </a:avLst>
          </a:prstGeom>
          <a:solidFill>
            <a:srgbClr val="2EC4B6"/>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cxnSp>
        <p:nvCxnSpPr>
          <p:cNvPr id="283" name="Connector 9">
            <a:extLst>
              <a:ext uri="{FF2B5EF4-FFF2-40B4-BE49-F238E27FC236}">
                <a16:creationId xmlns:a16="http://schemas.microsoft.com/office/drawing/2014/main" id="{A2B5448E-4064-76A0-32D9-C455BF1464AC}"/>
              </a:ext>
            </a:extLst>
          </p:cNvPr>
          <p:cNvCxnSpPr>
            <a:cxnSpLocks/>
          </p:cNvCxnSpPr>
          <p:nvPr/>
        </p:nvCxnSpPr>
        <p:spPr>
          <a:xfrm>
            <a:off x="1071000" y="3108832"/>
            <a:ext cx="390960" cy="360"/>
          </a:xfrm>
          <a:prstGeom prst="straightConnector1">
            <a:avLst/>
          </a:prstGeom>
          <a:ln w="17780">
            <a:solidFill>
              <a:srgbClr val="143655"/>
            </a:solidFill>
            <a:round/>
          </a:ln>
        </p:spPr>
      </p:cxnSp>
      <p:cxnSp>
        <p:nvCxnSpPr>
          <p:cNvPr id="284" name="Connector 10">
            <a:extLst>
              <a:ext uri="{FF2B5EF4-FFF2-40B4-BE49-F238E27FC236}">
                <a16:creationId xmlns:a16="http://schemas.microsoft.com/office/drawing/2014/main" id="{201E074F-4767-66BD-B4B3-7DE6DAF6E465}"/>
              </a:ext>
            </a:extLst>
          </p:cNvPr>
          <p:cNvCxnSpPr>
            <a:cxnSpLocks/>
          </p:cNvCxnSpPr>
          <p:nvPr/>
        </p:nvCxnSpPr>
        <p:spPr>
          <a:xfrm>
            <a:off x="1071000" y="3218632"/>
            <a:ext cx="390960" cy="360"/>
          </a:xfrm>
          <a:prstGeom prst="straightConnector1">
            <a:avLst/>
          </a:prstGeom>
          <a:ln w="17780">
            <a:solidFill>
              <a:srgbClr val="143655"/>
            </a:solidFill>
            <a:round/>
          </a:ln>
        </p:spPr>
      </p:cxnSp>
      <p:cxnSp>
        <p:nvCxnSpPr>
          <p:cNvPr id="285" name="Connector 11">
            <a:extLst>
              <a:ext uri="{FF2B5EF4-FFF2-40B4-BE49-F238E27FC236}">
                <a16:creationId xmlns:a16="http://schemas.microsoft.com/office/drawing/2014/main" id="{6B073861-ED55-6999-C488-1B110F2DAE88}"/>
              </a:ext>
            </a:extLst>
          </p:cNvPr>
          <p:cNvCxnSpPr>
            <a:cxnSpLocks/>
          </p:cNvCxnSpPr>
          <p:nvPr/>
        </p:nvCxnSpPr>
        <p:spPr>
          <a:xfrm>
            <a:off x="1071000" y="3328432"/>
            <a:ext cx="390960" cy="360"/>
          </a:xfrm>
          <a:prstGeom prst="straightConnector1">
            <a:avLst/>
          </a:prstGeom>
          <a:ln w="17780">
            <a:solidFill>
              <a:srgbClr val="143655"/>
            </a:solidFill>
            <a:round/>
          </a:ln>
        </p:spPr>
      </p:cxnSp>
      <p:sp>
        <p:nvSpPr>
          <p:cNvPr id="286" name="TextBox 12">
            <a:extLst>
              <a:ext uri="{FF2B5EF4-FFF2-40B4-BE49-F238E27FC236}">
                <a16:creationId xmlns:a16="http://schemas.microsoft.com/office/drawing/2014/main" id="{FDC0B5DC-4147-6B10-090E-2A7BB3C2CA93}"/>
              </a:ext>
            </a:extLst>
          </p:cNvPr>
          <p:cNvSpPr/>
          <p:nvPr/>
        </p:nvSpPr>
        <p:spPr>
          <a:xfrm>
            <a:off x="722520" y="3891112"/>
            <a:ext cx="1654560"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200" b="1" strike="noStrike" spc="-1">
                <a:solidFill>
                  <a:srgbClr val="FFFFFF"/>
                </a:solidFill>
                <a:latin typeface="Microsoft YaHei"/>
                <a:ea typeface="Microsoft YaHei"/>
              </a:rPr>
              <a:t>Invoice </a:t>
            </a:r>
            <a:r>
              <a:rPr lang="en-US" altLang="zh-CN" sz="1200" b="1" spc="-1">
                <a:solidFill>
                  <a:srgbClr val="FFFFFF"/>
                </a:solidFill>
                <a:latin typeface="Microsoft YaHei"/>
                <a:ea typeface="Microsoft YaHei"/>
              </a:rPr>
              <a:t>posting</a:t>
            </a:r>
            <a:endParaRPr lang="en-US" sz="1200" b="0" strike="noStrike" spc="-1">
              <a:solidFill>
                <a:srgbClr val="000000"/>
              </a:solidFill>
              <a:latin typeface="Arial"/>
            </a:endParaRPr>
          </a:p>
        </p:txBody>
      </p:sp>
      <p:cxnSp>
        <p:nvCxnSpPr>
          <p:cNvPr id="287" name="Connector 13">
            <a:extLst>
              <a:ext uri="{FF2B5EF4-FFF2-40B4-BE49-F238E27FC236}">
                <a16:creationId xmlns:a16="http://schemas.microsoft.com/office/drawing/2014/main" id="{A90EBC6D-D89C-310A-A5AD-8E16D3B4BD8F}"/>
              </a:ext>
            </a:extLst>
          </p:cNvPr>
          <p:cNvCxnSpPr>
            <a:cxnSpLocks/>
          </p:cNvCxnSpPr>
          <p:nvPr/>
        </p:nvCxnSpPr>
        <p:spPr>
          <a:xfrm>
            <a:off x="722160" y="4649992"/>
            <a:ext cx="1655640" cy="360"/>
          </a:xfrm>
          <a:prstGeom prst="straightConnector1">
            <a:avLst/>
          </a:prstGeom>
          <a:ln w="12700">
            <a:solidFill>
              <a:srgbClr val="2A4A68"/>
            </a:solidFill>
            <a:round/>
          </a:ln>
        </p:spPr>
      </p:cxnSp>
      <p:sp>
        <p:nvSpPr>
          <p:cNvPr id="288" name="TextBox 14">
            <a:extLst>
              <a:ext uri="{FF2B5EF4-FFF2-40B4-BE49-F238E27FC236}">
                <a16:creationId xmlns:a16="http://schemas.microsoft.com/office/drawing/2014/main" id="{6F78E4B9-87D6-CE1B-C2AF-2444CC69A488}"/>
              </a:ext>
            </a:extLst>
          </p:cNvPr>
          <p:cNvSpPr/>
          <p:nvPr/>
        </p:nvSpPr>
        <p:spPr>
          <a:xfrm>
            <a:off x="722520" y="4741432"/>
            <a:ext cx="1672920" cy="124760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spcAft>
                <a:spcPts val="499"/>
              </a:spcAft>
            </a:pPr>
            <a:r>
              <a:rPr lang="en-US" sz="1050" b="1" strike="noStrike" spc="-1">
                <a:solidFill>
                  <a:srgbClr val="2EC4B6"/>
                </a:solidFill>
                <a:latin typeface="Microsoft YaHei"/>
                <a:ea typeface="Microsoft YaHei"/>
              </a:rPr>
              <a:t>▸ </a:t>
            </a:r>
            <a:r>
              <a:rPr lang="en-US" sz="1050" b="1" strike="noStrike" spc="-1">
                <a:solidFill>
                  <a:srgbClr val="FFFFFF"/>
                </a:solidFill>
                <a:latin typeface="Microsoft YaHei"/>
                <a:ea typeface="Microsoft YaHei"/>
              </a:rPr>
              <a:t>Invoice </a:t>
            </a:r>
            <a:r>
              <a:rPr lang="en-US" altLang="zh-CN" sz="1050" b="1" strike="noStrike" spc="-1">
                <a:solidFill>
                  <a:srgbClr val="FFFFFF"/>
                </a:solidFill>
                <a:latin typeface="Microsoft YaHei"/>
                <a:ea typeface="Microsoft YaHei"/>
              </a:rPr>
              <a:t>type</a:t>
            </a:r>
            <a:r>
              <a:rPr lang="zh-CN" sz="1050" b="1" strike="noStrike" spc="-1">
                <a:solidFill>
                  <a:srgbClr val="FFFFFF"/>
                </a:solidFill>
                <a:latin typeface="Microsoft YaHei"/>
                <a:ea typeface="Microsoft YaHei"/>
              </a:rPr>
              <a:t>：</a:t>
            </a:r>
            <a:r>
              <a:rPr lang="en-US" altLang="zh-CN" sz="1000" b="0" strike="noStrike" spc="-1">
                <a:solidFill>
                  <a:srgbClr val="BDCCDA"/>
                </a:solidFill>
                <a:latin typeface="Microsoft YaHei"/>
                <a:ea typeface="Microsoft YaHei"/>
              </a:rPr>
              <a:t>Customer/Intercompany/upfront tax invoice</a:t>
            </a:r>
            <a:endParaRPr lang="en-US" sz="1000" b="0" strike="noStrike" spc="-1">
              <a:solidFill>
                <a:srgbClr val="000000"/>
              </a:solidFill>
              <a:latin typeface="Arial"/>
            </a:endParaRPr>
          </a:p>
          <a:p>
            <a:pPr>
              <a:lnSpc>
                <a:spcPct val="100000"/>
              </a:lnSpc>
              <a:spcAft>
                <a:spcPts val="499"/>
              </a:spcAft>
            </a:pPr>
            <a:r>
              <a:rPr lang="en-US" sz="1050" b="1" strike="noStrike" spc="-1">
                <a:solidFill>
                  <a:srgbClr val="2EC4B6"/>
                </a:solidFill>
                <a:latin typeface="Microsoft YaHei"/>
                <a:ea typeface="Microsoft YaHei"/>
              </a:rPr>
              <a:t>▸ </a:t>
            </a:r>
            <a:r>
              <a:rPr lang="en-US" altLang="zh-CN" sz="1050" b="1" strike="noStrike" spc="-1">
                <a:solidFill>
                  <a:srgbClr val="FFFFFF"/>
                </a:solidFill>
                <a:latin typeface="Microsoft YaHei"/>
                <a:ea typeface="Microsoft YaHei"/>
              </a:rPr>
              <a:t>Auto posting</a:t>
            </a:r>
            <a:r>
              <a:rPr lang="zh-CN" sz="1050" b="1" strike="noStrike" spc="-1">
                <a:solidFill>
                  <a:srgbClr val="FFFFFF"/>
                </a:solidFill>
                <a:latin typeface="Microsoft YaHei"/>
                <a:ea typeface="Microsoft YaHei"/>
              </a:rPr>
              <a:t>：</a:t>
            </a:r>
            <a:r>
              <a:rPr lang="en-US" altLang="zh-CN" sz="1000" spc="-1">
                <a:solidFill>
                  <a:srgbClr val="BDCCDA"/>
                </a:solidFill>
                <a:latin typeface="Microsoft YaHei"/>
                <a:ea typeface="Microsoft YaHei"/>
              </a:rPr>
              <a:t>Posting be triggered immediately after final invoice approved</a:t>
            </a:r>
            <a:endParaRPr lang="en-US" sz="1000" spc="-1">
              <a:solidFill>
                <a:srgbClr val="BDCCDA"/>
              </a:solidFill>
              <a:latin typeface="Microsoft YaHei"/>
              <a:ea typeface="Microsoft YaHei"/>
            </a:endParaRPr>
          </a:p>
        </p:txBody>
      </p:sp>
      <p:sp>
        <p:nvSpPr>
          <p:cNvPr id="289" name="Rounded Rectangle 15">
            <a:extLst>
              <a:ext uri="{FF2B5EF4-FFF2-40B4-BE49-F238E27FC236}">
                <a16:creationId xmlns:a16="http://schemas.microsoft.com/office/drawing/2014/main" id="{AE876248-3A33-AC8B-38B0-D0B1A3008EF2}"/>
              </a:ext>
            </a:extLst>
          </p:cNvPr>
          <p:cNvSpPr/>
          <p:nvPr/>
        </p:nvSpPr>
        <p:spPr>
          <a:xfrm>
            <a:off x="2779920" y="1925152"/>
            <a:ext cx="2093760" cy="4708800"/>
          </a:xfrm>
          <a:prstGeom prst="roundRect">
            <a:avLst>
              <a:gd name="adj" fmla="val 5500"/>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90" name="Rectangle 16">
            <a:extLst>
              <a:ext uri="{FF2B5EF4-FFF2-40B4-BE49-F238E27FC236}">
                <a16:creationId xmlns:a16="http://schemas.microsoft.com/office/drawing/2014/main" id="{DF492B60-634F-611D-9792-54C66F9BBE72}"/>
              </a:ext>
            </a:extLst>
          </p:cNvPr>
          <p:cNvSpPr/>
          <p:nvPr/>
        </p:nvSpPr>
        <p:spPr>
          <a:xfrm>
            <a:off x="2999160" y="2199472"/>
            <a:ext cx="411120" cy="45360"/>
          </a:xfrm>
          <a:prstGeom prst="rect">
            <a:avLst/>
          </a:prstGeom>
          <a:solidFill>
            <a:srgbClr val="F5A62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Calibri"/>
            </a:endParaRPr>
          </a:p>
        </p:txBody>
      </p:sp>
      <p:sp>
        <p:nvSpPr>
          <p:cNvPr id="291" name="TextBox 17">
            <a:extLst>
              <a:ext uri="{FF2B5EF4-FFF2-40B4-BE49-F238E27FC236}">
                <a16:creationId xmlns:a16="http://schemas.microsoft.com/office/drawing/2014/main" id="{BE80EE52-1429-4596-F6A2-588E8983EF58}"/>
              </a:ext>
            </a:extLst>
          </p:cNvPr>
          <p:cNvSpPr/>
          <p:nvPr/>
        </p:nvSpPr>
        <p:spPr>
          <a:xfrm>
            <a:off x="4158000" y="2071312"/>
            <a:ext cx="49572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lnSpc>
                <a:spcPct val="100000"/>
              </a:lnSpc>
            </a:pPr>
            <a:r>
              <a:rPr lang="en-US" sz="1800" b="1" strike="noStrike" spc="-1">
                <a:solidFill>
                  <a:srgbClr val="F5A623"/>
                </a:solidFill>
                <a:latin typeface="Microsoft YaHei"/>
                <a:ea typeface="Microsoft YaHei"/>
              </a:rPr>
              <a:t>02</a:t>
            </a:r>
            <a:endParaRPr lang="en-US" sz="1800" b="0" strike="noStrike" spc="-1">
              <a:solidFill>
                <a:srgbClr val="000000"/>
              </a:solidFill>
              <a:latin typeface="Arial"/>
            </a:endParaRPr>
          </a:p>
        </p:txBody>
      </p:sp>
      <p:sp>
        <p:nvSpPr>
          <p:cNvPr id="292" name="Oval 18">
            <a:extLst>
              <a:ext uri="{FF2B5EF4-FFF2-40B4-BE49-F238E27FC236}">
                <a16:creationId xmlns:a16="http://schemas.microsoft.com/office/drawing/2014/main" id="{D6712BE9-4E4C-3F52-8754-7EA619568D22}"/>
              </a:ext>
            </a:extLst>
          </p:cNvPr>
          <p:cNvSpPr/>
          <p:nvPr/>
        </p:nvSpPr>
        <p:spPr>
          <a:xfrm>
            <a:off x="3017520" y="2656672"/>
            <a:ext cx="1051200" cy="1051200"/>
          </a:xfrm>
          <a:prstGeom prst="ellipse">
            <a:avLst/>
          </a:prstGeom>
          <a:solidFill>
            <a:srgbClr val="F5A623"/>
          </a:solidFill>
          <a:ln w="19050">
            <a:solidFill>
              <a:srgbClr val="F5A623"/>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93" name="Rounded Rectangle 19">
            <a:extLst>
              <a:ext uri="{FF2B5EF4-FFF2-40B4-BE49-F238E27FC236}">
                <a16:creationId xmlns:a16="http://schemas.microsoft.com/office/drawing/2014/main" id="{91E6248F-3742-5D11-17EF-11AF1270E9FD}"/>
              </a:ext>
            </a:extLst>
          </p:cNvPr>
          <p:cNvSpPr/>
          <p:nvPr/>
        </p:nvSpPr>
        <p:spPr>
          <a:xfrm>
            <a:off x="3274920" y="3317272"/>
            <a:ext cx="121680" cy="169920"/>
          </a:xfrm>
          <a:prstGeom prst="roundRect">
            <a:avLst>
              <a:gd name="adj" fmla="val 25000"/>
            </a:avLst>
          </a:prstGeom>
          <a:solidFill>
            <a:srgbClr val="F5A62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94" name="Rounded Rectangle 20">
            <a:extLst>
              <a:ext uri="{FF2B5EF4-FFF2-40B4-BE49-F238E27FC236}">
                <a16:creationId xmlns:a16="http://schemas.microsoft.com/office/drawing/2014/main" id="{73A9122F-E11D-D23E-748A-F7E7E9DF31F3}"/>
              </a:ext>
            </a:extLst>
          </p:cNvPr>
          <p:cNvSpPr/>
          <p:nvPr/>
        </p:nvSpPr>
        <p:spPr>
          <a:xfrm>
            <a:off x="3457800" y="3222592"/>
            <a:ext cx="121680" cy="264240"/>
          </a:xfrm>
          <a:prstGeom prst="roundRect">
            <a:avLst>
              <a:gd name="adj" fmla="val 25000"/>
            </a:avLst>
          </a:prstGeom>
          <a:solidFill>
            <a:srgbClr val="F5A62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95" name="Rounded Rectangle 21">
            <a:extLst>
              <a:ext uri="{FF2B5EF4-FFF2-40B4-BE49-F238E27FC236}">
                <a16:creationId xmlns:a16="http://schemas.microsoft.com/office/drawing/2014/main" id="{70E3798B-9CF9-0EB7-478A-E5EF90006A0C}"/>
              </a:ext>
            </a:extLst>
          </p:cNvPr>
          <p:cNvSpPr/>
          <p:nvPr/>
        </p:nvSpPr>
        <p:spPr>
          <a:xfrm>
            <a:off x="3641040" y="3109192"/>
            <a:ext cx="121680" cy="377640"/>
          </a:xfrm>
          <a:prstGeom prst="roundRect">
            <a:avLst>
              <a:gd name="adj" fmla="val 25000"/>
            </a:avLst>
          </a:prstGeom>
          <a:solidFill>
            <a:srgbClr val="F5A62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296" name="Oval 22">
            <a:extLst>
              <a:ext uri="{FF2B5EF4-FFF2-40B4-BE49-F238E27FC236}">
                <a16:creationId xmlns:a16="http://schemas.microsoft.com/office/drawing/2014/main" id="{2D9AA4C6-FD66-9932-6BB3-7FC13384A492}"/>
              </a:ext>
            </a:extLst>
          </p:cNvPr>
          <p:cNvSpPr/>
          <p:nvPr/>
        </p:nvSpPr>
        <p:spPr>
          <a:xfrm>
            <a:off x="3619440" y="2858992"/>
            <a:ext cx="304560" cy="304560"/>
          </a:xfrm>
          <a:prstGeom prst="ellipse">
            <a:avLst/>
          </a:prstGeom>
          <a:solidFill>
            <a:srgbClr val="143655"/>
          </a:solidFill>
          <a:ln w="17780">
            <a:solidFill>
              <a:srgbClr val="F5A623"/>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cxnSp>
        <p:nvCxnSpPr>
          <p:cNvPr id="297" name="Connector 23">
            <a:extLst>
              <a:ext uri="{FF2B5EF4-FFF2-40B4-BE49-F238E27FC236}">
                <a16:creationId xmlns:a16="http://schemas.microsoft.com/office/drawing/2014/main" id="{31F4925A-3338-8F32-145B-0F61E49241A9}"/>
              </a:ext>
            </a:extLst>
          </p:cNvPr>
          <p:cNvCxnSpPr>
            <a:cxnSpLocks/>
          </p:cNvCxnSpPr>
          <p:nvPr/>
        </p:nvCxnSpPr>
        <p:spPr>
          <a:xfrm flipV="1">
            <a:off x="3771720" y="2944312"/>
            <a:ext cx="360" cy="67320"/>
          </a:xfrm>
          <a:prstGeom prst="straightConnector1">
            <a:avLst/>
          </a:prstGeom>
          <a:ln w="17780">
            <a:solidFill>
              <a:srgbClr val="F5A623"/>
            </a:solidFill>
            <a:round/>
          </a:ln>
        </p:spPr>
      </p:cxnSp>
      <p:cxnSp>
        <p:nvCxnSpPr>
          <p:cNvPr id="298" name="Connector 24">
            <a:extLst>
              <a:ext uri="{FF2B5EF4-FFF2-40B4-BE49-F238E27FC236}">
                <a16:creationId xmlns:a16="http://schemas.microsoft.com/office/drawing/2014/main" id="{7FA05080-7A00-22DC-C75D-14F27B57E4C3}"/>
              </a:ext>
            </a:extLst>
          </p:cNvPr>
          <p:cNvCxnSpPr>
            <a:cxnSpLocks/>
          </p:cNvCxnSpPr>
          <p:nvPr/>
        </p:nvCxnSpPr>
        <p:spPr>
          <a:xfrm>
            <a:off x="3771720" y="3011272"/>
            <a:ext cx="55440" cy="360"/>
          </a:xfrm>
          <a:prstGeom prst="straightConnector1">
            <a:avLst/>
          </a:prstGeom>
          <a:ln w="17780">
            <a:solidFill>
              <a:srgbClr val="F5A623"/>
            </a:solidFill>
            <a:round/>
          </a:ln>
        </p:spPr>
      </p:cxnSp>
      <p:sp>
        <p:nvSpPr>
          <p:cNvPr id="299" name="TextBox 25">
            <a:extLst>
              <a:ext uri="{FF2B5EF4-FFF2-40B4-BE49-F238E27FC236}">
                <a16:creationId xmlns:a16="http://schemas.microsoft.com/office/drawing/2014/main" id="{6FF347E7-B9D5-C7BE-A990-2AF49F8C59D8}"/>
              </a:ext>
            </a:extLst>
          </p:cNvPr>
          <p:cNvSpPr/>
          <p:nvPr/>
        </p:nvSpPr>
        <p:spPr>
          <a:xfrm>
            <a:off x="2999160" y="3891112"/>
            <a:ext cx="1654560"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200" b="1" strike="noStrike" spc="-1">
                <a:solidFill>
                  <a:srgbClr val="FFFFFF"/>
                </a:solidFill>
                <a:latin typeface="Microsoft YaHei"/>
                <a:ea typeface="Microsoft YaHei"/>
              </a:rPr>
              <a:t>D</a:t>
            </a:r>
            <a:r>
              <a:rPr lang="en-US" altLang="zh-CN" sz="1200" b="1" strike="noStrike" spc="-1">
                <a:solidFill>
                  <a:srgbClr val="FFFFFF"/>
                </a:solidFill>
                <a:latin typeface="Microsoft YaHei"/>
                <a:ea typeface="Microsoft YaHei"/>
              </a:rPr>
              <a:t>efer amortization</a:t>
            </a:r>
            <a:endParaRPr lang="en-US" sz="1200" b="0" strike="noStrike" spc="-1">
              <a:solidFill>
                <a:srgbClr val="000000"/>
              </a:solidFill>
              <a:latin typeface="Arial"/>
            </a:endParaRPr>
          </a:p>
        </p:txBody>
      </p:sp>
      <p:cxnSp>
        <p:nvCxnSpPr>
          <p:cNvPr id="300" name="Connector 26">
            <a:extLst>
              <a:ext uri="{FF2B5EF4-FFF2-40B4-BE49-F238E27FC236}">
                <a16:creationId xmlns:a16="http://schemas.microsoft.com/office/drawing/2014/main" id="{21221257-C676-AB37-8BC7-D820071D47AD}"/>
              </a:ext>
            </a:extLst>
          </p:cNvPr>
          <p:cNvCxnSpPr>
            <a:cxnSpLocks/>
          </p:cNvCxnSpPr>
          <p:nvPr/>
        </p:nvCxnSpPr>
        <p:spPr>
          <a:xfrm>
            <a:off x="2999160" y="4649992"/>
            <a:ext cx="1655280" cy="360"/>
          </a:xfrm>
          <a:prstGeom prst="straightConnector1">
            <a:avLst/>
          </a:prstGeom>
          <a:ln w="12700">
            <a:solidFill>
              <a:srgbClr val="2A4A68"/>
            </a:solidFill>
            <a:round/>
          </a:ln>
        </p:spPr>
      </p:cxnSp>
      <p:sp>
        <p:nvSpPr>
          <p:cNvPr id="301" name="TextBox 27">
            <a:extLst>
              <a:ext uri="{FF2B5EF4-FFF2-40B4-BE49-F238E27FC236}">
                <a16:creationId xmlns:a16="http://schemas.microsoft.com/office/drawing/2014/main" id="{BB56BEA6-5CF8-C034-8F1B-4E2E8A7E2431}"/>
              </a:ext>
            </a:extLst>
          </p:cNvPr>
          <p:cNvSpPr/>
          <p:nvPr/>
        </p:nvSpPr>
        <p:spPr>
          <a:xfrm>
            <a:off x="2999159" y="4741432"/>
            <a:ext cx="1956081" cy="124760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spcAft>
                <a:spcPts val="499"/>
              </a:spcAft>
            </a:pPr>
            <a:r>
              <a:rPr lang="en-US" sz="1050" b="1" strike="noStrike" spc="-1">
                <a:solidFill>
                  <a:srgbClr val="F5A623"/>
                </a:solidFill>
                <a:latin typeface="Microsoft YaHei"/>
                <a:ea typeface="Microsoft YaHei"/>
              </a:rPr>
              <a:t>▸ </a:t>
            </a:r>
            <a:r>
              <a:rPr lang="en-US" sz="1050" b="1" spc="-1">
                <a:solidFill>
                  <a:srgbClr val="FFFFFF"/>
                </a:solidFill>
                <a:latin typeface="Microsoft YaHei"/>
                <a:ea typeface="Microsoft YaHei"/>
              </a:rPr>
              <a:t>Amortization plan</a:t>
            </a:r>
            <a:r>
              <a:rPr lang="zh-CN" sz="1050" b="1" strike="noStrike" spc="-1">
                <a:solidFill>
                  <a:srgbClr val="FFFFFF"/>
                </a:solidFill>
                <a:latin typeface="Microsoft YaHei"/>
                <a:ea typeface="Microsoft YaHei"/>
              </a:rPr>
              <a:t>：</a:t>
            </a:r>
            <a:r>
              <a:rPr lang="en-US" altLang="zh-CN" sz="1000" b="1" spc="-1">
                <a:solidFill>
                  <a:srgbClr val="BDCCDA"/>
                </a:solidFill>
                <a:latin typeface="Microsoft YaHei"/>
                <a:ea typeface="Microsoft YaHei"/>
              </a:rPr>
              <a:t>A</a:t>
            </a:r>
            <a:r>
              <a:rPr lang="en-US" altLang="zh-CN" sz="1000" spc="-1">
                <a:solidFill>
                  <a:srgbClr val="BDCCDA"/>
                </a:solidFill>
                <a:latin typeface="Microsoft YaHei"/>
                <a:ea typeface="Microsoft YaHei"/>
              </a:rPr>
              <a:t>uto generate amortization plan for </a:t>
            </a:r>
            <a:r>
              <a:rPr lang="en-US" sz="1000" b="0" strike="noStrike" spc="-1">
                <a:solidFill>
                  <a:srgbClr val="BDCCDA"/>
                </a:solidFill>
                <a:latin typeface="Microsoft YaHei"/>
                <a:ea typeface="Microsoft YaHei"/>
              </a:rPr>
              <a:t>Non-monthly Invoice</a:t>
            </a:r>
            <a:endParaRPr lang="en-US" sz="1000" b="0" strike="noStrike" spc="-1">
              <a:solidFill>
                <a:srgbClr val="000000"/>
              </a:solidFill>
              <a:latin typeface="Arial"/>
            </a:endParaRPr>
          </a:p>
          <a:p>
            <a:pPr>
              <a:lnSpc>
                <a:spcPct val="100000"/>
              </a:lnSpc>
              <a:spcAft>
                <a:spcPts val="499"/>
              </a:spcAft>
            </a:pPr>
            <a:r>
              <a:rPr lang="en-US" sz="1050" b="1" strike="noStrike" spc="-1">
                <a:solidFill>
                  <a:srgbClr val="F5A623"/>
                </a:solidFill>
                <a:latin typeface="Microsoft YaHei"/>
                <a:ea typeface="Microsoft YaHei"/>
              </a:rPr>
              <a:t>▸ </a:t>
            </a:r>
            <a:r>
              <a:rPr lang="en-US" sz="1050" b="1" strike="noStrike" spc="-1">
                <a:solidFill>
                  <a:srgbClr val="FFFFFF"/>
                </a:solidFill>
                <a:latin typeface="Microsoft YaHei"/>
                <a:ea typeface="Microsoft YaHei"/>
              </a:rPr>
              <a:t>E</a:t>
            </a:r>
            <a:r>
              <a:rPr lang="en-US" altLang="zh-CN" sz="1050" b="1" strike="noStrike" spc="-1">
                <a:solidFill>
                  <a:srgbClr val="FFFFFF"/>
                </a:solidFill>
                <a:latin typeface="Microsoft YaHei"/>
                <a:ea typeface="Microsoft YaHei"/>
              </a:rPr>
              <a:t>xecution</a:t>
            </a:r>
            <a:r>
              <a:rPr lang="zh-CN" sz="1050" b="1" strike="noStrike" spc="-1">
                <a:solidFill>
                  <a:srgbClr val="FFFFFF"/>
                </a:solidFill>
                <a:latin typeface="Microsoft YaHei"/>
                <a:ea typeface="Microsoft YaHei"/>
              </a:rPr>
              <a:t>：</a:t>
            </a:r>
            <a:r>
              <a:rPr lang="en-US" altLang="zh-CN" sz="1000" strike="noStrike" spc="-1">
                <a:solidFill>
                  <a:srgbClr val="BDCCDA"/>
                </a:solidFill>
                <a:latin typeface="Microsoft YaHei"/>
                <a:ea typeface="Microsoft YaHei"/>
              </a:rPr>
              <a:t>D</a:t>
            </a:r>
            <a:r>
              <a:rPr lang="en-US" altLang="zh-CN" sz="1000" spc="-1">
                <a:solidFill>
                  <a:srgbClr val="BDCCDA"/>
                </a:solidFill>
                <a:latin typeface="Microsoft YaHei"/>
                <a:ea typeface="Microsoft YaHei"/>
              </a:rPr>
              <a:t>aily background job to generate the amortization posting</a:t>
            </a:r>
          </a:p>
        </p:txBody>
      </p:sp>
      <p:sp>
        <p:nvSpPr>
          <p:cNvPr id="302" name="Rounded Rectangle 28">
            <a:extLst>
              <a:ext uri="{FF2B5EF4-FFF2-40B4-BE49-F238E27FC236}">
                <a16:creationId xmlns:a16="http://schemas.microsoft.com/office/drawing/2014/main" id="{70211DA7-FB2F-02A7-7AE3-0405F32BD467}"/>
              </a:ext>
            </a:extLst>
          </p:cNvPr>
          <p:cNvSpPr/>
          <p:nvPr/>
        </p:nvSpPr>
        <p:spPr>
          <a:xfrm>
            <a:off x="5056560" y="1925152"/>
            <a:ext cx="2093760" cy="4708800"/>
          </a:xfrm>
          <a:prstGeom prst="roundRect">
            <a:avLst>
              <a:gd name="adj" fmla="val 5500"/>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03" name="Rectangle 29">
            <a:extLst>
              <a:ext uri="{FF2B5EF4-FFF2-40B4-BE49-F238E27FC236}">
                <a16:creationId xmlns:a16="http://schemas.microsoft.com/office/drawing/2014/main" id="{8B54F65C-F947-EE24-FF88-C114B7A52D7F}"/>
              </a:ext>
            </a:extLst>
          </p:cNvPr>
          <p:cNvSpPr/>
          <p:nvPr/>
        </p:nvSpPr>
        <p:spPr>
          <a:xfrm>
            <a:off x="5276160" y="2199472"/>
            <a:ext cx="411120" cy="45360"/>
          </a:xfrm>
          <a:prstGeom prst="rect">
            <a:avLst/>
          </a:prstGeom>
          <a:solidFill>
            <a:srgbClr val="9B8CF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Calibri"/>
            </a:endParaRPr>
          </a:p>
        </p:txBody>
      </p:sp>
      <p:sp>
        <p:nvSpPr>
          <p:cNvPr id="304" name="TextBox 30">
            <a:extLst>
              <a:ext uri="{FF2B5EF4-FFF2-40B4-BE49-F238E27FC236}">
                <a16:creationId xmlns:a16="http://schemas.microsoft.com/office/drawing/2014/main" id="{FD770D74-C0F0-C181-5A44-84913C7319E1}"/>
              </a:ext>
            </a:extLst>
          </p:cNvPr>
          <p:cNvSpPr/>
          <p:nvPr/>
        </p:nvSpPr>
        <p:spPr>
          <a:xfrm>
            <a:off x="6435000" y="2071312"/>
            <a:ext cx="49644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lnSpc>
                <a:spcPct val="100000"/>
              </a:lnSpc>
            </a:pPr>
            <a:r>
              <a:rPr lang="en-US" sz="1800" b="1" strike="noStrike" spc="-1">
                <a:solidFill>
                  <a:srgbClr val="9B8CF0"/>
                </a:solidFill>
                <a:latin typeface="Microsoft YaHei"/>
                <a:ea typeface="Microsoft YaHei"/>
              </a:rPr>
              <a:t>03</a:t>
            </a:r>
            <a:endParaRPr lang="en-US" sz="1800" b="0" strike="noStrike" spc="-1">
              <a:solidFill>
                <a:srgbClr val="000000"/>
              </a:solidFill>
              <a:latin typeface="Arial"/>
            </a:endParaRPr>
          </a:p>
        </p:txBody>
      </p:sp>
      <p:sp>
        <p:nvSpPr>
          <p:cNvPr id="305" name="Oval 31">
            <a:extLst>
              <a:ext uri="{FF2B5EF4-FFF2-40B4-BE49-F238E27FC236}">
                <a16:creationId xmlns:a16="http://schemas.microsoft.com/office/drawing/2014/main" id="{B1F180CA-F7BF-4379-D4C4-883E4440108F}"/>
              </a:ext>
            </a:extLst>
          </p:cNvPr>
          <p:cNvSpPr/>
          <p:nvPr/>
        </p:nvSpPr>
        <p:spPr>
          <a:xfrm>
            <a:off x="5294520" y="2656672"/>
            <a:ext cx="1051200" cy="1051200"/>
          </a:xfrm>
          <a:prstGeom prst="ellipse">
            <a:avLst/>
          </a:prstGeom>
          <a:solidFill>
            <a:srgbClr val="9B8CF0"/>
          </a:solidFill>
          <a:ln w="19050">
            <a:solidFill>
              <a:srgbClr val="9B8CF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06" name="Oval 32">
            <a:extLst>
              <a:ext uri="{FF2B5EF4-FFF2-40B4-BE49-F238E27FC236}">
                <a16:creationId xmlns:a16="http://schemas.microsoft.com/office/drawing/2014/main" id="{8CB7CF05-4424-723B-AE88-3D2B4351FE55}"/>
              </a:ext>
            </a:extLst>
          </p:cNvPr>
          <p:cNvSpPr/>
          <p:nvPr/>
        </p:nvSpPr>
        <p:spPr>
          <a:xfrm>
            <a:off x="5515200" y="2877352"/>
            <a:ext cx="609480" cy="609480"/>
          </a:xfrm>
          <a:prstGeom prst="ellipse">
            <a:avLst/>
          </a:prstGeom>
          <a:noFill/>
          <a:ln w="31750">
            <a:solidFill>
              <a:srgbClr val="9B8CF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cxnSp>
        <p:nvCxnSpPr>
          <p:cNvPr id="307" name="Connector 33">
            <a:extLst>
              <a:ext uri="{FF2B5EF4-FFF2-40B4-BE49-F238E27FC236}">
                <a16:creationId xmlns:a16="http://schemas.microsoft.com/office/drawing/2014/main" id="{C7341667-88D3-1FA2-D2E7-416749BDE386}"/>
              </a:ext>
            </a:extLst>
          </p:cNvPr>
          <p:cNvCxnSpPr>
            <a:cxnSpLocks/>
          </p:cNvCxnSpPr>
          <p:nvPr/>
        </p:nvCxnSpPr>
        <p:spPr>
          <a:xfrm>
            <a:off x="5649120" y="3194512"/>
            <a:ext cx="122400" cy="122400"/>
          </a:xfrm>
          <a:prstGeom prst="straightConnector1">
            <a:avLst/>
          </a:prstGeom>
          <a:ln w="38100">
            <a:solidFill>
              <a:srgbClr val="9B8CF0"/>
            </a:solidFill>
            <a:round/>
          </a:ln>
        </p:spPr>
      </p:cxnSp>
      <p:cxnSp>
        <p:nvCxnSpPr>
          <p:cNvPr id="308" name="Connector 34">
            <a:extLst>
              <a:ext uri="{FF2B5EF4-FFF2-40B4-BE49-F238E27FC236}">
                <a16:creationId xmlns:a16="http://schemas.microsoft.com/office/drawing/2014/main" id="{A04DAD29-078D-EF89-1AF0-155487A7E114}"/>
              </a:ext>
            </a:extLst>
          </p:cNvPr>
          <p:cNvCxnSpPr>
            <a:cxnSpLocks/>
          </p:cNvCxnSpPr>
          <p:nvPr/>
        </p:nvCxnSpPr>
        <p:spPr>
          <a:xfrm flipV="1">
            <a:off x="5771160" y="3060232"/>
            <a:ext cx="219960" cy="256680"/>
          </a:xfrm>
          <a:prstGeom prst="straightConnector1">
            <a:avLst/>
          </a:prstGeom>
          <a:ln w="38100">
            <a:solidFill>
              <a:srgbClr val="9B8CF0"/>
            </a:solidFill>
            <a:round/>
          </a:ln>
        </p:spPr>
      </p:cxnSp>
      <p:sp>
        <p:nvSpPr>
          <p:cNvPr id="309" name="TextBox 35">
            <a:extLst>
              <a:ext uri="{FF2B5EF4-FFF2-40B4-BE49-F238E27FC236}">
                <a16:creationId xmlns:a16="http://schemas.microsoft.com/office/drawing/2014/main" id="{60989584-F1EA-E659-4E32-5D5E9BE2A14E}"/>
              </a:ext>
            </a:extLst>
          </p:cNvPr>
          <p:cNvSpPr/>
          <p:nvPr/>
        </p:nvSpPr>
        <p:spPr>
          <a:xfrm>
            <a:off x="5092920" y="3891112"/>
            <a:ext cx="2158720"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200" b="1" strike="noStrike" spc="-1">
                <a:solidFill>
                  <a:srgbClr val="FFFFFF"/>
                </a:solidFill>
                <a:latin typeface="Microsoft YaHei"/>
                <a:ea typeface="Microsoft YaHei"/>
              </a:rPr>
              <a:t>ARS R</a:t>
            </a:r>
            <a:r>
              <a:rPr lang="en-US" altLang="zh-CN" sz="1200" b="1" strike="noStrike" spc="-1">
                <a:solidFill>
                  <a:srgbClr val="FFFFFF"/>
                </a:solidFill>
                <a:latin typeface="Microsoft YaHei"/>
                <a:ea typeface="Microsoft YaHei"/>
              </a:rPr>
              <a:t>evenue recognition</a:t>
            </a:r>
            <a:endParaRPr lang="en-US" sz="1200" b="0" strike="noStrike" spc="-1">
              <a:solidFill>
                <a:srgbClr val="000000"/>
              </a:solidFill>
              <a:latin typeface="Arial"/>
            </a:endParaRPr>
          </a:p>
        </p:txBody>
      </p:sp>
      <p:cxnSp>
        <p:nvCxnSpPr>
          <p:cNvPr id="310" name="Connector 36">
            <a:extLst>
              <a:ext uri="{FF2B5EF4-FFF2-40B4-BE49-F238E27FC236}">
                <a16:creationId xmlns:a16="http://schemas.microsoft.com/office/drawing/2014/main" id="{8635F3A4-D1AB-E31F-28BE-2D2B4B82CD94}"/>
              </a:ext>
            </a:extLst>
          </p:cNvPr>
          <p:cNvCxnSpPr>
            <a:cxnSpLocks/>
          </p:cNvCxnSpPr>
          <p:nvPr/>
        </p:nvCxnSpPr>
        <p:spPr>
          <a:xfrm>
            <a:off x="5275800" y="4649992"/>
            <a:ext cx="1655640" cy="360"/>
          </a:xfrm>
          <a:prstGeom prst="straightConnector1">
            <a:avLst/>
          </a:prstGeom>
          <a:ln w="12700">
            <a:solidFill>
              <a:srgbClr val="2A4A68"/>
            </a:solidFill>
            <a:round/>
          </a:ln>
        </p:spPr>
      </p:cxnSp>
      <p:sp>
        <p:nvSpPr>
          <p:cNvPr id="311" name="TextBox 37">
            <a:extLst>
              <a:ext uri="{FF2B5EF4-FFF2-40B4-BE49-F238E27FC236}">
                <a16:creationId xmlns:a16="http://schemas.microsoft.com/office/drawing/2014/main" id="{25EE8046-AEB5-30F6-8232-BBA518BE73EF}"/>
              </a:ext>
            </a:extLst>
          </p:cNvPr>
          <p:cNvSpPr/>
          <p:nvPr/>
        </p:nvSpPr>
        <p:spPr>
          <a:xfrm>
            <a:off x="5174479" y="4741432"/>
            <a:ext cx="1905397" cy="140149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spcAft>
                <a:spcPts val="499"/>
              </a:spcAft>
            </a:pPr>
            <a:r>
              <a:rPr lang="en-US" sz="1050" b="1" strike="noStrike" spc="-1">
                <a:solidFill>
                  <a:srgbClr val="9B8CF0"/>
                </a:solidFill>
                <a:latin typeface="Microsoft YaHei"/>
                <a:ea typeface="Microsoft YaHei"/>
              </a:rPr>
              <a:t>▸ </a:t>
            </a:r>
            <a:r>
              <a:rPr lang="en-US" sz="1050" b="1" spc="-1">
                <a:solidFill>
                  <a:srgbClr val="FFFFFF"/>
                </a:solidFill>
                <a:latin typeface="Microsoft YaHei"/>
                <a:ea typeface="Microsoft YaHei"/>
              </a:rPr>
              <a:t>ARS collection</a:t>
            </a:r>
            <a:r>
              <a:rPr lang="zh-CN" sz="1050" b="1" strike="noStrike" spc="-1">
                <a:solidFill>
                  <a:srgbClr val="FFFFFF"/>
                </a:solidFill>
                <a:latin typeface="Microsoft YaHei"/>
                <a:ea typeface="Microsoft YaHei"/>
              </a:rPr>
              <a:t>：</a:t>
            </a:r>
            <a:r>
              <a:rPr lang="en-US" altLang="zh-CN" sz="1000" spc="-1">
                <a:solidFill>
                  <a:srgbClr val="BDCCDA"/>
                </a:solidFill>
                <a:latin typeface="Microsoft YaHei"/>
                <a:ea typeface="Microsoft YaHei"/>
              </a:rPr>
              <a:t>ARS revenue collected in customer invoice under defer revenue</a:t>
            </a:r>
            <a:endParaRPr lang="en-US" sz="1000" b="0" strike="noStrike" spc="-1">
              <a:solidFill>
                <a:srgbClr val="000000"/>
              </a:solidFill>
              <a:latin typeface="Arial"/>
            </a:endParaRPr>
          </a:p>
          <a:p>
            <a:pPr>
              <a:lnSpc>
                <a:spcPct val="100000"/>
              </a:lnSpc>
              <a:spcAft>
                <a:spcPts val="499"/>
              </a:spcAft>
            </a:pPr>
            <a:r>
              <a:rPr lang="en-US" sz="1050" b="1" strike="noStrike" spc="-1">
                <a:solidFill>
                  <a:srgbClr val="9B8CF0"/>
                </a:solidFill>
                <a:latin typeface="Microsoft YaHei"/>
                <a:ea typeface="Microsoft YaHei"/>
              </a:rPr>
              <a:t>▸ </a:t>
            </a:r>
            <a:r>
              <a:rPr lang="en-US" sz="1050" b="1" spc="-1">
                <a:solidFill>
                  <a:srgbClr val="FFFFFF"/>
                </a:solidFill>
                <a:latin typeface="Microsoft YaHei"/>
                <a:ea typeface="Microsoft YaHei"/>
              </a:rPr>
              <a:t>ARS revenue transfer</a:t>
            </a:r>
            <a:r>
              <a:rPr lang="zh-CN" sz="1050" b="1" strike="noStrike" spc="-1">
                <a:solidFill>
                  <a:srgbClr val="FFFFFF"/>
                </a:solidFill>
                <a:latin typeface="Microsoft YaHei"/>
                <a:ea typeface="Microsoft YaHei"/>
              </a:rPr>
              <a:t>：</a:t>
            </a:r>
            <a:r>
              <a:rPr lang="en-US" sz="1000" b="0" strike="noStrike" spc="-1">
                <a:solidFill>
                  <a:srgbClr val="BDCCDA"/>
                </a:solidFill>
                <a:latin typeface="Microsoft YaHei"/>
                <a:ea typeface="Microsoft YaHei"/>
              </a:rPr>
              <a:t>EOT/ET/Flex down </a:t>
            </a:r>
            <a:r>
              <a:rPr lang="en-US" altLang="zh-CN" sz="1000" b="0" strike="noStrike" spc="-1">
                <a:solidFill>
                  <a:srgbClr val="BDCCDA"/>
                </a:solidFill>
                <a:latin typeface="Microsoft YaHei"/>
                <a:ea typeface="Microsoft YaHei"/>
              </a:rPr>
              <a:t>trigger</a:t>
            </a:r>
            <a:r>
              <a:rPr lang="zh-CN" sz="1000" b="0" strike="noStrike" spc="-1">
                <a:solidFill>
                  <a:srgbClr val="BDCCDA"/>
                </a:solidFill>
                <a:latin typeface="Microsoft YaHei"/>
                <a:ea typeface="Microsoft YaHei"/>
              </a:rPr>
              <a:t> </a:t>
            </a:r>
            <a:r>
              <a:rPr lang="en-US" sz="1000" b="0" strike="noStrike" spc="-1">
                <a:solidFill>
                  <a:srgbClr val="BDCCDA"/>
                </a:solidFill>
                <a:latin typeface="Microsoft YaHei"/>
                <a:ea typeface="Microsoft YaHei"/>
              </a:rPr>
              <a:t>ARS Rev transfer to real service revenue</a:t>
            </a:r>
            <a:endParaRPr lang="en-US" sz="1000" b="0" strike="noStrike" spc="-1">
              <a:solidFill>
                <a:srgbClr val="000000"/>
              </a:solidFill>
              <a:latin typeface="Arial"/>
            </a:endParaRPr>
          </a:p>
        </p:txBody>
      </p:sp>
      <p:sp>
        <p:nvSpPr>
          <p:cNvPr id="312" name="Rounded Rectangle 38">
            <a:extLst>
              <a:ext uri="{FF2B5EF4-FFF2-40B4-BE49-F238E27FC236}">
                <a16:creationId xmlns:a16="http://schemas.microsoft.com/office/drawing/2014/main" id="{A64603E6-E520-BD7C-9DF8-56769101182B}"/>
              </a:ext>
            </a:extLst>
          </p:cNvPr>
          <p:cNvSpPr/>
          <p:nvPr/>
        </p:nvSpPr>
        <p:spPr>
          <a:xfrm>
            <a:off x="7333560" y="1925152"/>
            <a:ext cx="2093760" cy="4708800"/>
          </a:xfrm>
          <a:prstGeom prst="roundRect">
            <a:avLst>
              <a:gd name="adj" fmla="val 5500"/>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14" name="TextBox 40">
            <a:extLst>
              <a:ext uri="{FF2B5EF4-FFF2-40B4-BE49-F238E27FC236}">
                <a16:creationId xmlns:a16="http://schemas.microsoft.com/office/drawing/2014/main" id="{E6F5A52C-11C5-01B8-A4BA-1328C594165B}"/>
              </a:ext>
            </a:extLst>
          </p:cNvPr>
          <p:cNvSpPr/>
          <p:nvPr/>
        </p:nvSpPr>
        <p:spPr>
          <a:xfrm>
            <a:off x="8711640" y="2071312"/>
            <a:ext cx="49644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lnSpc>
                <a:spcPct val="100000"/>
              </a:lnSpc>
            </a:pPr>
            <a:r>
              <a:rPr lang="en-US" sz="1800" b="1" strike="noStrike" spc="-1">
                <a:solidFill>
                  <a:srgbClr val="5BD08B"/>
                </a:solidFill>
                <a:latin typeface="Microsoft YaHei"/>
                <a:ea typeface="Microsoft YaHei"/>
              </a:rPr>
              <a:t>04</a:t>
            </a:r>
            <a:endParaRPr lang="en-US" sz="1800" b="0" strike="noStrike" spc="-1">
              <a:solidFill>
                <a:srgbClr val="000000"/>
              </a:solidFill>
              <a:latin typeface="Arial"/>
            </a:endParaRPr>
          </a:p>
        </p:txBody>
      </p:sp>
      <p:sp>
        <p:nvSpPr>
          <p:cNvPr id="315" name="TextBox 46">
            <a:extLst>
              <a:ext uri="{FF2B5EF4-FFF2-40B4-BE49-F238E27FC236}">
                <a16:creationId xmlns:a16="http://schemas.microsoft.com/office/drawing/2014/main" id="{3F67F8E1-D47B-C1D4-3B6D-6A52DEDA8313}"/>
              </a:ext>
            </a:extLst>
          </p:cNvPr>
          <p:cNvSpPr/>
          <p:nvPr/>
        </p:nvSpPr>
        <p:spPr>
          <a:xfrm>
            <a:off x="7552800" y="3891112"/>
            <a:ext cx="1837800"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altLang="zh-CN" sz="1200" b="1" spc="-1">
                <a:solidFill>
                  <a:srgbClr val="FFFFFF"/>
                </a:solidFill>
                <a:latin typeface="Microsoft YaHei"/>
                <a:ea typeface="Microsoft YaHei"/>
              </a:rPr>
              <a:t>Posting sync to SAP</a:t>
            </a:r>
            <a:endParaRPr lang="en-US" altLang="zh-CN" sz="1200" spc="-1">
              <a:solidFill>
                <a:srgbClr val="000000"/>
              </a:solidFill>
            </a:endParaRPr>
          </a:p>
        </p:txBody>
      </p:sp>
      <p:cxnSp>
        <p:nvCxnSpPr>
          <p:cNvPr id="316" name="Connector 47">
            <a:extLst>
              <a:ext uri="{FF2B5EF4-FFF2-40B4-BE49-F238E27FC236}">
                <a16:creationId xmlns:a16="http://schemas.microsoft.com/office/drawing/2014/main" id="{C73D91B6-10C5-AB21-A668-2029BF968B69}"/>
              </a:ext>
            </a:extLst>
          </p:cNvPr>
          <p:cNvCxnSpPr>
            <a:cxnSpLocks/>
          </p:cNvCxnSpPr>
          <p:nvPr/>
        </p:nvCxnSpPr>
        <p:spPr>
          <a:xfrm>
            <a:off x="7552800" y="4649992"/>
            <a:ext cx="1655280" cy="360"/>
          </a:xfrm>
          <a:prstGeom prst="straightConnector1">
            <a:avLst/>
          </a:prstGeom>
          <a:ln w="12700">
            <a:solidFill>
              <a:srgbClr val="2A4A68"/>
            </a:solidFill>
            <a:round/>
          </a:ln>
        </p:spPr>
      </p:cxnSp>
      <p:sp>
        <p:nvSpPr>
          <p:cNvPr id="318" name="Rounded Rectangle 49">
            <a:extLst>
              <a:ext uri="{FF2B5EF4-FFF2-40B4-BE49-F238E27FC236}">
                <a16:creationId xmlns:a16="http://schemas.microsoft.com/office/drawing/2014/main" id="{35DDE4C0-20CC-8912-25FD-449AD272A21D}"/>
              </a:ext>
            </a:extLst>
          </p:cNvPr>
          <p:cNvSpPr/>
          <p:nvPr/>
        </p:nvSpPr>
        <p:spPr>
          <a:xfrm>
            <a:off x="9610200" y="1925152"/>
            <a:ext cx="2093760" cy="4708800"/>
          </a:xfrm>
          <a:prstGeom prst="roundRect">
            <a:avLst>
              <a:gd name="adj" fmla="val 5500"/>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19" name="Rectangle 50">
            <a:extLst>
              <a:ext uri="{FF2B5EF4-FFF2-40B4-BE49-F238E27FC236}">
                <a16:creationId xmlns:a16="http://schemas.microsoft.com/office/drawing/2014/main" id="{4A101F39-D7EB-292D-4FC7-E8BBF80C7018}"/>
              </a:ext>
            </a:extLst>
          </p:cNvPr>
          <p:cNvSpPr/>
          <p:nvPr/>
        </p:nvSpPr>
        <p:spPr>
          <a:xfrm>
            <a:off x="7552800" y="2199472"/>
            <a:ext cx="411120" cy="45360"/>
          </a:xfrm>
          <a:prstGeom prst="rect">
            <a:avLst/>
          </a:prstGeom>
          <a:solidFill>
            <a:srgbClr val="4DA3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Calibri"/>
            </a:endParaRPr>
          </a:p>
        </p:txBody>
      </p:sp>
      <p:sp>
        <p:nvSpPr>
          <p:cNvPr id="320" name="TextBox 51">
            <a:extLst>
              <a:ext uri="{FF2B5EF4-FFF2-40B4-BE49-F238E27FC236}">
                <a16:creationId xmlns:a16="http://schemas.microsoft.com/office/drawing/2014/main" id="{B13FDBE6-F85E-7B31-9ABB-E79D3E3993E2}"/>
              </a:ext>
            </a:extLst>
          </p:cNvPr>
          <p:cNvSpPr/>
          <p:nvPr/>
        </p:nvSpPr>
        <p:spPr>
          <a:xfrm>
            <a:off x="10988640" y="2071312"/>
            <a:ext cx="51408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r">
              <a:lnSpc>
                <a:spcPct val="100000"/>
              </a:lnSpc>
            </a:pPr>
            <a:r>
              <a:rPr lang="en-US" sz="1800" b="1" strike="noStrike" spc="-1">
                <a:solidFill>
                  <a:srgbClr val="4DA3FF"/>
                </a:solidFill>
                <a:latin typeface="Microsoft YaHei"/>
                <a:ea typeface="Microsoft YaHei"/>
              </a:rPr>
              <a:t>05</a:t>
            </a:r>
            <a:endParaRPr lang="en-US" sz="1800" b="0" strike="noStrike" spc="-1">
              <a:solidFill>
                <a:srgbClr val="000000"/>
              </a:solidFill>
              <a:latin typeface="Arial"/>
            </a:endParaRPr>
          </a:p>
        </p:txBody>
      </p:sp>
      <p:sp>
        <p:nvSpPr>
          <p:cNvPr id="321" name="Oval 52">
            <a:extLst>
              <a:ext uri="{FF2B5EF4-FFF2-40B4-BE49-F238E27FC236}">
                <a16:creationId xmlns:a16="http://schemas.microsoft.com/office/drawing/2014/main" id="{6D68D93D-2E7E-9260-417A-DAACD03C6681}"/>
              </a:ext>
            </a:extLst>
          </p:cNvPr>
          <p:cNvSpPr/>
          <p:nvPr/>
        </p:nvSpPr>
        <p:spPr>
          <a:xfrm>
            <a:off x="7568870" y="2656672"/>
            <a:ext cx="1051200" cy="1051200"/>
          </a:xfrm>
          <a:prstGeom prst="ellipse">
            <a:avLst/>
          </a:prstGeom>
          <a:solidFill>
            <a:srgbClr val="4DA3FF"/>
          </a:solidFill>
          <a:ln w="19050">
            <a:solidFill>
              <a:srgbClr val="4DA3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22" name="Circular Arrow 53">
            <a:extLst>
              <a:ext uri="{FF2B5EF4-FFF2-40B4-BE49-F238E27FC236}">
                <a16:creationId xmlns:a16="http://schemas.microsoft.com/office/drawing/2014/main" id="{F48F7948-30E2-C6E1-F810-2CEA792B3567}"/>
              </a:ext>
            </a:extLst>
          </p:cNvPr>
          <p:cNvSpPr/>
          <p:nvPr/>
        </p:nvSpPr>
        <p:spPr>
          <a:xfrm>
            <a:off x="7789550" y="2877352"/>
            <a:ext cx="609480" cy="609480"/>
          </a:xfrm>
          <a:prstGeom prst="circularArrow">
            <a:avLst>
              <a:gd name="adj1" fmla="val 12500"/>
              <a:gd name="adj2" fmla="val 1142319"/>
              <a:gd name="adj3" fmla="val 20457681"/>
              <a:gd name="adj4" fmla="val 10800000"/>
              <a:gd name="adj5" fmla="val 12500"/>
            </a:avLst>
          </a:prstGeom>
          <a:solidFill>
            <a:srgbClr val="4DA3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23" name="TextBox 54">
            <a:extLst>
              <a:ext uri="{FF2B5EF4-FFF2-40B4-BE49-F238E27FC236}">
                <a16:creationId xmlns:a16="http://schemas.microsoft.com/office/drawing/2014/main" id="{BB7C2971-3A10-C31C-3674-B143EAA5B7F7}"/>
              </a:ext>
            </a:extLst>
          </p:cNvPr>
          <p:cNvSpPr/>
          <p:nvPr/>
        </p:nvSpPr>
        <p:spPr>
          <a:xfrm>
            <a:off x="9829800" y="3891112"/>
            <a:ext cx="1775012" cy="69104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altLang="zh-CN" sz="1200" b="1" spc="-1">
                <a:solidFill>
                  <a:srgbClr val="FFFFFF"/>
                </a:solidFill>
                <a:latin typeface="Microsoft YaHei"/>
                <a:ea typeface="Microsoft YaHei"/>
              </a:rPr>
              <a:t>Finance reporting</a:t>
            </a:r>
            <a:endParaRPr lang="en-US" altLang="zh-CN" sz="1200" spc="-1">
              <a:solidFill>
                <a:srgbClr val="000000"/>
              </a:solidFill>
            </a:endParaRPr>
          </a:p>
          <a:p>
            <a:endParaRPr lang="en-US" altLang="zh-CN" sz="1200" b="1" spc="-1">
              <a:solidFill>
                <a:srgbClr val="FFFFFF"/>
              </a:solidFill>
              <a:latin typeface="Microsoft YaHei"/>
              <a:ea typeface="Microsoft YaHei"/>
            </a:endParaRPr>
          </a:p>
          <a:p>
            <a:pPr>
              <a:lnSpc>
                <a:spcPct val="100000"/>
              </a:lnSpc>
            </a:pPr>
            <a:endParaRPr lang="en-US" sz="1500" b="0" strike="noStrike" spc="-1">
              <a:solidFill>
                <a:srgbClr val="000000"/>
              </a:solidFill>
              <a:latin typeface="Arial"/>
            </a:endParaRPr>
          </a:p>
        </p:txBody>
      </p:sp>
      <p:cxnSp>
        <p:nvCxnSpPr>
          <p:cNvPr id="324" name="Connector 55">
            <a:extLst>
              <a:ext uri="{FF2B5EF4-FFF2-40B4-BE49-F238E27FC236}">
                <a16:creationId xmlns:a16="http://schemas.microsoft.com/office/drawing/2014/main" id="{E08ECF24-8FFC-7B8F-B50B-891E13C1007B}"/>
              </a:ext>
            </a:extLst>
          </p:cNvPr>
          <p:cNvCxnSpPr>
            <a:cxnSpLocks/>
          </p:cNvCxnSpPr>
          <p:nvPr/>
        </p:nvCxnSpPr>
        <p:spPr>
          <a:xfrm>
            <a:off x="9829800" y="4649992"/>
            <a:ext cx="1655280" cy="360"/>
          </a:xfrm>
          <a:prstGeom prst="straightConnector1">
            <a:avLst/>
          </a:prstGeom>
          <a:ln w="12700">
            <a:solidFill>
              <a:srgbClr val="2A4A68"/>
            </a:solidFill>
            <a:round/>
          </a:ln>
        </p:spPr>
      </p:cxnSp>
      <p:sp>
        <p:nvSpPr>
          <p:cNvPr id="325" name="TextBox 56">
            <a:extLst>
              <a:ext uri="{FF2B5EF4-FFF2-40B4-BE49-F238E27FC236}">
                <a16:creationId xmlns:a16="http://schemas.microsoft.com/office/drawing/2014/main" id="{1C547CD4-9C01-2423-939B-52591503B03C}"/>
              </a:ext>
            </a:extLst>
          </p:cNvPr>
          <p:cNvSpPr/>
          <p:nvPr/>
        </p:nvSpPr>
        <p:spPr>
          <a:xfrm>
            <a:off x="7449840" y="4741432"/>
            <a:ext cx="1672920" cy="109371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spcAft>
                <a:spcPts val="499"/>
              </a:spcAft>
            </a:pPr>
            <a:r>
              <a:rPr lang="en-US" sz="1050" b="1" strike="noStrike" spc="-1">
                <a:solidFill>
                  <a:srgbClr val="4DA3FF"/>
                </a:solidFill>
                <a:latin typeface="Microsoft YaHei"/>
                <a:ea typeface="Microsoft YaHei"/>
              </a:rPr>
              <a:t>▸ </a:t>
            </a:r>
            <a:r>
              <a:rPr lang="en-US" sz="1050" b="1" strike="noStrike" spc="-1">
                <a:solidFill>
                  <a:srgbClr val="FFFFFF"/>
                </a:solidFill>
                <a:latin typeface="Microsoft YaHei"/>
                <a:ea typeface="Microsoft YaHei"/>
              </a:rPr>
              <a:t>Sync</a:t>
            </a:r>
            <a:r>
              <a:rPr lang="en-US" altLang="zh-CN" sz="1050" b="1" strike="noStrike" spc="-1">
                <a:solidFill>
                  <a:srgbClr val="FFFFFF"/>
                </a:solidFill>
                <a:latin typeface="Microsoft YaHei"/>
                <a:ea typeface="Microsoft YaHei"/>
              </a:rPr>
              <a:t> to SAP</a:t>
            </a:r>
            <a:r>
              <a:rPr lang="zh-CN" sz="1050" b="1" strike="noStrike" spc="-1">
                <a:solidFill>
                  <a:srgbClr val="FFFFFF"/>
                </a:solidFill>
                <a:latin typeface="Microsoft YaHei"/>
                <a:ea typeface="Microsoft YaHei"/>
              </a:rPr>
              <a:t>：</a:t>
            </a:r>
            <a:r>
              <a:rPr lang="en-US" altLang="zh-CN" sz="1000" b="0" strike="noStrike" spc="-1">
                <a:solidFill>
                  <a:srgbClr val="BDCCDA"/>
                </a:solidFill>
                <a:latin typeface="Microsoft YaHei"/>
                <a:ea typeface="Microsoft YaHei"/>
              </a:rPr>
              <a:t> Posting auto sync to SAP</a:t>
            </a:r>
            <a:endParaRPr lang="en-US" sz="1000" b="0" strike="noStrike" spc="-1">
              <a:solidFill>
                <a:srgbClr val="000000"/>
              </a:solidFill>
              <a:latin typeface="Arial"/>
            </a:endParaRPr>
          </a:p>
          <a:p>
            <a:pPr>
              <a:lnSpc>
                <a:spcPct val="100000"/>
              </a:lnSpc>
              <a:spcAft>
                <a:spcPts val="499"/>
              </a:spcAft>
            </a:pPr>
            <a:r>
              <a:rPr lang="en-US" sz="1050" b="1" strike="noStrike" spc="-1">
                <a:solidFill>
                  <a:srgbClr val="4DA3FF"/>
                </a:solidFill>
                <a:latin typeface="Microsoft YaHei"/>
                <a:ea typeface="Microsoft YaHei"/>
              </a:rPr>
              <a:t>▸ </a:t>
            </a:r>
            <a:r>
              <a:rPr lang="en-US" sz="1050" b="1" spc="-1">
                <a:solidFill>
                  <a:srgbClr val="FFFFFF"/>
                </a:solidFill>
                <a:latin typeface="Microsoft YaHei"/>
                <a:ea typeface="Microsoft YaHei"/>
              </a:rPr>
              <a:t>S</a:t>
            </a:r>
            <a:r>
              <a:rPr lang="en-US" sz="1050" b="1" strike="noStrike" spc="-1">
                <a:solidFill>
                  <a:srgbClr val="FFFFFF"/>
                </a:solidFill>
                <a:latin typeface="Microsoft YaHei"/>
                <a:ea typeface="Microsoft YaHei"/>
              </a:rPr>
              <a:t>y</a:t>
            </a:r>
            <a:r>
              <a:rPr lang="en-US" sz="1050" b="1" spc="-1">
                <a:solidFill>
                  <a:srgbClr val="FFFFFF"/>
                </a:solidFill>
                <a:latin typeface="Microsoft YaHei"/>
                <a:ea typeface="Microsoft YaHei"/>
              </a:rPr>
              <a:t>nc report</a:t>
            </a:r>
            <a:r>
              <a:rPr lang="zh-CN" sz="1050" b="1" strike="noStrike" spc="-1">
                <a:solidFill>
                  <a:srgbClr val="FFFFFF"/>
                </a:solidFill>
                <a:latin typeface="Microsoft YaHei"/>
                <a:ea typeface="Microsoft YaHei"/>
              </a:rPr>
              <a:t>：</a:t>
            </a:r>
            <a:r>
              <a:rPr lang="en-US" altLang="zh-CN" sz="1000" spc="-1">
                <a:solidFill>
                  <a:srgbClr val="BDCCDA"/>
                </a:solidFill>
                <a:latin typeface="Microsoft YaHei"/>
                <a:ea typeface="Microsoft YaHei"/>
              </a:rPr>
              <a:t>To check and monitor the sync result </a:t>
            </a:r>
            <a:endParaRPr lang="en-US" sz="1000" b="0" strike="noStrike" spc="-1">
              <a:solidFill>
                <a:srgbClr val="000000"/>
              </a:solidFill>
              <a:latin typeface="Arial"/>
            </a:endParaRPr>
          </a:p>
        </p:txBody>
      </p:sp>
      <p:sp>
        <p:nvSpPr>
          <p:cNvPr id="326" name="Oval 41">
            <a:extLst>
              <a:ext uri="{FF2B5EF4-FFF2-40B4-BE49-F238E27FC236}">
                <a16:creationId xmlns:a16="http://schemas.microsoft.com/office/drawing/2014/main" id="{BE75429D-CE4C-110A-7BA6-A4A1E78BBE9C}"/>
              </a:ext>
            </a:extLst>
          </p:cNvPr>
          <p:cNvSpPr/>
          <p:nvPr/>
        </p:nvSpPr>
        <p:spPr>
          <a:xfrm>
            <a:off x="9863883" y="2656672"/>
            <a:ext cx="1051200" cy="1051200"/>
          </a:xfrm>
          <a:prstGeom prst="ellipse">
            <a:avLst/>
          </a:prstGeom>
          <a:solidFill>
            <a:srgbClr val="5BD08B"/>
          </a:solidFill>
          <a:ln w="19050">
            <a:solidFill>
              <a:srgbClr val="5BD08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27" name="Folded Corner 42">
            <a:extLst>
              <a:ext uri="{FF2B5EF4-FFF2-40B4-BE49-F238E27FC236}">
                <a16:creationId xmlns:a16="http://schemas.microsoft.com/office/drawing/2014/main" id="{F4C15228-127E-89DA-5E2F-672CC672F24C}"/>
              </a:ext>
            </a:extLst>
          </p:cNvPr>
          <p:cNvSpPr/>
          <p:nvPr/>
        </p:nvSpPr>
        <p:spPr>
          <a:xfrm>
            <a:off x="10084923" y="2877352"/>
            <a:ext cx="609480" cy="609480"/>
          </a:xfrm>
          <a:prstGeom prst="foldedCorner">
            <a:avLst>
              <a:gd name="adj" fmla="val 16667"/>
            </a:avLst>
          </a:prstGeom>
          <a:solidFill>
            <a:srgbClr val="5BD08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28" name="Rectangle 43">
            <a:extLst>
              <a:ext uri="{FF2B5EF4-FFF2-40B4-BE49-F238E27FC236}">
                <a16:creationId xmlns:a16="http://schemas.microsoft.com/office/drawing/2014/main" id="{5E15C1C0-CFBB-6490-69D7-7CB3FFE75440}"/>
              </a:ext>
            </a:extLst>
          </p:cNvPr>
          <p:cNvSpPr/>
          <p:nvPr/>
        </p:nvSpPr>
        <p:spPr>
          <a:xfrm>
            <a:off x="10889991" y="3279832"/>
            <a:ext cx="78840" cy="72720"/>
          </a:xfrm>
          <a:prstGeom prst="rect">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a:lnSpc>
                <a:spcPct val="100000"/>
              </a:lnSpc>
            </a:pPr>
            <a:endParaRPr lang="en-US" sz="1800" b="0" strike="noStrike" spc="-1">
              <a:solidFill>
                <a:schemeClr val="lt1"/>
              </a:solidFill>
              <a:latin typeface="Calibri"/>
            </a:endParaRPr>
          </a:p>
        </p:txBody>
      </p:sp>
      <p:sp>
        <p:nvSpPr>
          <p:cNvPr id="329" name="Rectangle 44">
            <a:extLst>
              <a:ext uri="{FF2B5EF4-FFF2-40B4-BE49-F238E27FC236}">
                <a16:creationId xmlns:a16="http://schemas.microsoft.com/office/drawing/2014/main" id="{657E1D4E-87D1-C09F-AFFC-B502D96C0111}"/>
              </a:ext>
            </a:extLst>
          </p:cNvPr>
          <p:cNvSpPr/>
          <p:nvPr/>
        </p:nvSpPr>
        <p:spPr>
          <a:xfrm>
            <a:off x="10365363" y="3218992"/>
            <a:ext cx="78840" cy="133920"/>
          </a:xfrm>
          <a:prstGeom prst="rect">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30" name="Rectangle 45">
            <a:extLst>
              <a:ext uri="{FF2B5EF4-FFF2-40B4-BE49-F238E27FC236}">
                <a16:creationId xmlns:a16="http://schemas.microsoft.com/office/drawing/2014/main" id="{E36FEC36-45DD-E058-4CE5-35C86E37B15A}"/>
              </a:ext>
            </a:extLst>
          </p:cNvPr>
          <p:cNvSpPr/>
          <p:nvPr/>
        </p:nvSpPr>
        <p:spPr>
          <a:xfrm>
            <a:off x="10499643" y="3158152"/>
            <a:ext cx="78840" cy="194760"/>
          </a:xfrm>
          <a:prstGeom prst="rect">
            <a:avLst/>
          </a:prstGeom>
          <a:solidFill>
            <a:srgbClr val="1436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Calibri"/>
            </a:endParaRPr>
          </a:p>
        </p:txBody>
      </p:sp>
      <p:sp>
        <p:nvSpPr>
          <p:cNvPr id="313" name="Rectangle 39">
            <a:extLst>
              <a:ext uri="{FF2B5EF4-FFF2-40B4-BE49-F238E27FC236}">
                <a16:creationId xmlns:a16="http://schemas.microsoft.com/office/drawing/2014/main" id="{E0D2EEC3-A23B-A18B-0B98-B47227D12450}"/>
              </a:ext>
            </a:extLst>
          </p:cNvPr>
          <p:cNvSpPr/>
          <p:nvPr/>
        </p:nvSpPr>
        <p:spPr>
          <a:xfrm>
            <a:off x="9829800" y="2199472"/>
            <a:ext cx="411120" cy="45360"/>
          </a:xfrm>
          <a:prstGeom prst="rect">
            <a:avLst/>
          </a:prstGeom>
          <a:solidFill>
            <a:srgbClr val="5BD08B"/>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Calibri"/>
            </a:endParaRPr>
          </a:p>
        </p:txBody>
      </p:sp>
      <p:sp>
        <p:nvSpPr>
          <p:cNvPr id="317" name="TextBox 48">
            <a:extLst>
              <a:ext uri="{FF2B5EF4-FFF2-40B4-BE49-F238E27FC236}">
                <a16:creationId xmlns:a16="http://schemas.microsoft.com/office/drawing/2014/main" id="{D7D6A130-D45B-6F57-B91A-2020A29AFB50}"/>
              </a:ext>
            </a:extLst>
          </p:cNvPr>
          <p:cNvSpPr/>
          <p:nvPr/>
        </p:nvSpPr>
        <p:spPr>
          <a:xfrm>
            <a:off x="9730662" y="4752417"/>
            <a:ext cx="1927482" cy="113219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spcAft>
                <a:spcPts val="499"/>
              </a:spcAft>
            </a:pPr>
            <a:r>
              <a:rPr lang="en-US" sz="1050" b="1" strike="noStrike" spc="-1">
                <a:solidFill>
                  <a:srgbClr val="5BD08B"/>
                </a:solidFill>
                <a:latin typeface="Microsoft YaHei"/>
                <a:ea typeface="Microsoft YaHei"/>
              </a:rPr>
              <a:t>▸ </a:t>
            </a:r>
            <a:r>
              <a:rPr lang="en-US" sz="1050" b="1" strike="noStrike" spc="-1">
                <a:solidFill>
                  <a:srgbClr val="FFFFFF"/>
                </a:solidFill>
                <a:latin typeface="Microsoft YaHei"/>
                <a:ea typeface="Microsoft YaHei"/>
              </a:rPr>
              <a:t>Upfront Tax </a:t>
            </a:r>
            <a:r>
              <a:rPr lang="en-US" sz="1050" b="1" spc="-1">
                <a:solidFill>
                  <a:srgbClr val="FFFFFF"/>
                </a:solidFill>
                <a:latin typeface="Microsoft YaHei"/>
                <a:ea typeface="Microsoft YaHei"/>
              </a:rPr>
              <a:t>report</a:t>
            </a:r>
            <a:endParaRPr lang="en-US" sz="1000" spc="-1">
              <a:solidFill>
                <a:srgbClr val="BDCCDA"/>
              </a:solidFill>
              <a:latin typeface="Microsoft YaHei"/>
              <a:ea typeface="Microsoft YaHei"/>
            </a:endParaRPr>
          </a:p>
          <a:p>
            <a:pPr>
              <a:lnSpc>
                <a:spcPct val="100000"/>
              </a:lnSpc>
              <a:spcAft>
                <a:spcPts val="499"/>
              </a:spcAft>
            </a:pPr>
            <a:r>
              <a:rPr lang="en-US" sz="1050" b="1" strike="noStrike" spc="-1">
                <a:solidFill>
                  <a:srgbClr val="5BD08B"/>
                </a:solidFill>
                <a:latin typeface="Microsoft YaHei"/>
                <a:ea typeface="Microsoft YaHei"/>
              </a:rPr>
              <a:t>▸ </a:t>
            </a:r>
            <a:r>
              <a:rPr lang="en-US" sz="1050" b="1" strike="noStrike" spc="-1">
                <a:solidFill>
                  <a:srgbClr val="FFFFFF"/>
                </a:solidFill>
                <a:latin typeface="Microsoft YaHei"/>
                <a:ea typeface="Microsoft YaHei"/>
              </a:rPr>
              <a:t>Upfront Service </a:t>
            </a:r>
            <a:r>
              <a:rPr lang="en-US" altLang="zh-CN" sz="1050" b="1" strike="noStrike" spc="-1">
                <a:solidFill>
                  <a:srgbClr val="FFFFFF"/>
                </a:solidFill>
                <a:latin typeface="Microsoft YaHei"/>
                <a:ea typeface="Microsoft YaHei"/>
              </a:rPr>
              <a:t>report</a:t>
            </a:r>
            <a:endParaRPr lang="en-US" sz="1000" b="0" strike="noStrike" spc="-1">
              <a:solidFill>
                <a:srgbClr val="000000"/>
              </a:solidFill>
              <a:latin typeface="Arial"/>
            </a:endParaRPr>
          </a:p>
          <a:p>
            <a:pPr>
              <a:lnSpc>
                <a:spcPct val="100000"/>
              </a:lnSpc>
              <a:spcAft>
                <a:spcPts val="499"/>
              </a:spcAft>
            </a:pPr>
            <a:r>
              <a:rPr lang="en-US" altLang="zh-CN" sz="1000" b="1" spc="-1">
                <a:solidFill>
                  <a:srgbClr val="5BD08B"/>
                </a:solidFill>
                <a:latin typeface="Microsoft YaHei"/>
                <a:ea typeface="Microsoft YaHei"/>
              </a:rPr>
              <a:t>▸ </a:t>
            </a:r>
            <a:r>
              <a:rPr lang="en-US" altLang="zh-CN" sz="1000" b="1" spc="-1">
                <a:solidFill>
                  <a:srgbClr val="FFFFFF"/>
                </a:solidFill>
                <a:latin typeface="Microsoft YaHei"/>
                <a:ea typeface="Microsoft YaHei"/>
              </a:rPr>
              <a:t>IAAS Invoice list report</a:t>
            </a:r>
          </a:p>
          <a:p>
            <a:pPr>
              <a:spcAft>
                <a:spcPts val="499"/>
              </a:spcAft>
            </a:pPr>
            <a:r>
              <a:rPr lang="en-US" altLang="zh-CN" sz="1000" b="1" spc="-1">
                <a:solidFill>
                  <a:srgbClr val="5BD08B"/>
                </a:solidFill>
                <a:latin typeface="Microsoft YaHei"/>
                <a:ea typeface="Microsoft YaHei"/>
              </a:rPr>
              <a:t>▸ </a:t>
            </a:r>
            <a:r>
              <a:rPr lang="en-US" altLang="zh-CN" sz="1000" b="1" spc="-1">
                <a:solidFill>
                  <a:srgbClr val="FFFFFF"/>
                </a:solidFill>
                <a:latin typeface="Microsoft YaHei"/>
                <a:ea typeface="Microsoft YaHei"/>
              </a:rPr>
              <a:t>Amortization report</a:t>
            </a:r>
          </a:p>
          <a:p>
            <a:pPr>
              <a:spcAft>
                <a:spcPts val="499"/>
              </a:spcAft>
            </a:pPr>
            <a:r>
              <a:rPr lang="en-US" altLang="zh-CN" sz="1000" b="1" spc="-1">
                <a:solidFill>
                  <a:srgbClr val="5BD08B"/>
                </a:solidFill>
                <a:latin typeface="Microsoft YaHei"/>
                <a:ea typeface="Microsoft YaHei"/>
              </a:rPr>
              <a:t>▸ </a:t>
            </a:r>
            <a:r>
              <a:rPr lang="en-US" altLang="zh-CN" sz="1000" b="1" spc="-1">
                <a:solidFill>
                  <a:srgbClr val="FFFFFF"/>
                </a:solidFill>
                <a:latin typeface="Microsoft YaHei"/>
                <a:ea typeface="Microsoft YaHei"/>
              </a:rPr>
              <a:t>ARS Transfer Report</a:t>
            </a:r>
          </a:p>
        </p:txBody>
      </p:sp>
    </p:spTree>
    <p:extLst>
      <p:ext uri="{BB962C8B-B14F-4D97-AF65-F5344CB8AC3E}">
        <p14:creationId xmlns:p14="http://schemas.microsoft.com/office/powerpoint/2010/main" val="2386592192"/>
      </p:ext>
    </p:extLst>
  </p:cSld>
  <p:clrMapOvr>
    <a:masterClrMapping/>
  </p:clrMapOvr>
  <p:transition spd="me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D46B2-7B16-C057-7036-02A1B2165F0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6F7376E-B538-1109-9F4E-40694CD28833}"/>
              </a:ext>
            </a:extLst>
          </p:cNvPr>
          <p:cNvSpPr>
            <a:spLocks noGrp="1"/>
          </p:cNvSpPr>
          <p:nvPr>
            <p:ph type="title"/>
          </p:nvPr>
        </p:nvSpPr>
        <p:spPr/>
        <p:txBody>
          <a:bodyPr/>
          <a:lstStyle/>
          <a:p>
            <a:r>
              <a:rPr lang="en-US" altLang="zh-CN"/>
              <a:t>Finance Document Types</a:t>
            </a:r>
            <a:endParaRPr lang="zh-CN" altLang="en-US"/>
          </a:p>
        </p:txBody>
      </p:sp>
      <p:sp>
        <p:nvSpPr>
          <p:cNvPr id="5" name="Text 2">
            <a:extLst>
              <a:ext uri="{FF2B5EF4-FFF2-40B4-BE49-F238E27FC236}">
                <a16:creationId xmlns:a16="http://schemas.microsoft.com/office/drawing/2014/main" id="{21E40F3B-50A7-4F20-6C88-FBE57ABE3586}"/>
              </a:ext>
            </a:extLst>
          </p:cNvPr>
          <p:cNvSpPr/>
          <p:nvPr/>
        </p:nvSpPr>
        <p:spPr>
          <a:xfrm>
            <a:off x="320181" y="872956"/>
            <a:ext cx="11639523" cy="469306"/>
          </a:xfrm>
          <a:prstGeom prst="rect">
            <a:avLst/>
          </a:prstGeom>
          <a:noFill/>
          <a:ln/>
        </p:spPr>
        <p:txBody>
          <a:bodyPr wrap="square" lIns="0" tIns="0" rIns="0" bIns="0" rtlCol="0" anchor="ctr">
            <a:normAutofit/>
          </a:bodyPr>
          <a:lstStyle/>
          <a:p>
            <a:r>
              <a:rPr lang="en-US" altLang="zh-CN" sz="1200" err="1">
                <a:cs typeface="Lato Light"/>
              </a:rPr>
              <a:t>NexBill</a:t>
            </a:r>
            <a:r>
              <a:rPr lang="en-US" altLang="zh-CN" sz="1200">
                <a:cs typeface="Lato Light"/>
              </a:rPr>
              <a:t> finance will generate different types of accounting documents as below,</a:t>
            </a:r>
          </a:p>
        </p:txBody>
      </p:sp>
      <p:sp>
        <p:nvSpPr>
          <p:cNvPr id="21" name="矩形 20">
            <a:extLst>
              <a:ext uri="{FF2B5EF4-FFF2-40B4-BE49-F238E27FC236}">
                <a16:creationId xmlns:a16="http://schemas.microsoft.com/office/drawing/2014/main" id="{3B3CAC1E-F70A-40FB-BC09-F06E900490EA}"/>
              </a:ext>
            </a:extLst>
          </p:cNvPr>
          <p:cNvSpPr/>
          <p:nvPr/>
        </p:nvSpPr>
        <p:spPr bwMode="auto">
          <a:xfrm>
            <a:off x="6662483" y="3214540"/>
            <a:ext cx="539596" cy="21446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graphicFrame>
        <p:nvGraphicFramePr>
          <p:cNvPr id="6" name="表格 5">
            <a:extLst>
              <a:ext uri="{FF2B5EF4-FFF2-40B4-BE49-F238E27FC236}">
                <a16:creationId xmlns:a16="http://schemas.microsoft.com/office/drawing/2014/main" id="{BF19905E-6DBE-C4FC-2969-FEB0C0DFC1DC}"/>
              </a:ext>
            </a:extLst>
          </p:cNvPr>
          <p:cNvGraphicFramePr>
            <a:graphicFrameLocks noGrp="1"/>
          </p:cNvGraphicFramePr>
          <p:nvPr>
            <p:extLst>
              <p:ext uri="{D42A27DB-BD31-4B8C-83A1-F6EECF244321}">
                <p14:modId xmlns:p14="http://schemas.microsoft.com/office/powerpoint/2010/main" val="3142227161"/>
              </p:ext>
            </p:extLst>
          </p:nvPr>
        </p:nvGraphicFramePr>
        <p:xfrm>
          <a:off x="320181" y="1365120"/>
          <a:ext cx="10753472" cy="2595880"/>
        </p:xfrm>
        <a:graphic>
          <a:graphicData uri="http://schemas.openxmlformats.org/drawingml/2006/table">
            <a:tbl>
              <a:tblPr firstRow="1" bandRow="1">
                <a:tableStyleId>{5C22544A-7EE6-4342-B048-85BDC9FD1C3A}</a:tableStyleId>
              </a:tblPr>
              <a:tblGrid>
                <a:gridCol w="3255853">
                  <a:extLst>
                    <a:ext uri="{9D8B030D-6E8A-4147-A177-3AD203B41FA5}">
                      <a16:colId xmlns:a16="http://schemas.microsoft.com/office/drawing/2014/main" val="433456567"/>
                    </a:ext>
                  </a:extLst>
                </a:gridCol>
                <a:gridCol w="2562548">
                  <a:extLst>
                    <a:ext uri="{9D8B030D-6E8A-4147-A177-3AD203B41FA5}">
                      <a16:colId xmlns:a16="http://schemas.microsoft.com/office/drawing/2014/main" val="450722865"/>
                    </a:ext>
                  </a:extLst>
                </a:gridCol>
                <a:gridCol w="2386592">
                  <a:extLst>
                    <a:ext uri="{9D8B030D-6E8A-4147-A177-3AD203B41FA5}">
                      <a16:colId xmlns:a16="http://schemas.microsoft.com/office/drawing/2014/main" val="1074205693"/>
                    </a:ext>
                  </a:extLst>
                </a:gridCol>
                <a:gridCol w="2548479">
                  <a:extLst>
                    <a:ext uri="{9D8B030D-6E8A-4147-A177-3AD203B41FA5}">
                      <a16:colId xmlns:a16="http://schemas.microsoft.com/office/drawing/2014/main" val="1343721794"/>
                    </a:ext>
                  </a:extLst>
                </a:gridCol>
              </a:tblGrid>
              <a:tr h="370840">
                <a:tc>
                  <a:txBody>
                    <a:bodyPr/>
                    <a:lstStyle/>
                    <a:p>
                      <a:r>
                        <a:rPr lang="en-US" altLang="zh-CN"/>
                        <a:t>Source</a:t>
                      </a:r>
                      <a:endParaRPr lang="zh-CN" altLang="en-US"/>
                    </a:p>
                  </a:txBody>
                  <a:tcPr/>
                </a:tc>
                <a:tc>
                  <a:txBody>
                    <a:bodyPr/>
                    <a:lstStyle/>
                    <a:p>
                      <a:pPr algn="ctr"/>
                      <a:r>
                        <a:rPr lang="en-US" altLang="zh-CN" err="1"/>
                        <a:t>Nexbill</a:t>
                      </a:r>
                      <a:r>
                        <a:rPr lang="en-US" altLang="zh-CN"/>
                        <a:t> document type</a:t>
                      </a:r>
                      <a:endParaRPr lang="zh-CN" altLang="en-US"/>
                    </a:p>
                  </a:txBody>
                  <a:tcPr/>
                </a:tc>
                <a:tc>
                  <a:txBody>
                    <a:bodyPr/>
                    <a:lstStyle/>
                    <a:p>
                      <a:pPr algn="ctr"/>
                      <a:r>
                        <a:rPr lang="en-US" altLang="zh-CN"/>
                        <a:t>SAP document type</a:t>
                      </a:r>
                      <a:endParaRPr lang="zh-CN" altLang="en-US"/>
                    </a:p>
                  </a:txBody>
                  <a:tcPr/>
                </a:tc>
                <a:tc>
                  <a:txBody>
                    <a:bodyPr/>
                    <a:lstStyle/>
                    <a:p>
                      <a:pPr algn="ctr"/>
                      <a:r>
                        <a:rPr lang="en-US" altLang="zh-CN"/>
                        <a:t>Method</a:t>
                      </a:r>
                      <a:endParaRPr lang="zh-CN" altLang="en-US"/>
                    </a:p>
                  </a:txBody>
                  <a:tcPr/>
                </a:tc>
                <a:extLst>
                  <a:ext uri="{0D108BD9-81ED-4DB2-BD59-A6C34878D82A}">
                    <a16:rowId xmlns:a16="http://schemas.microsoft.com/office/drawing/2014/main" val="1455018370"/>
                  </a:ext>
                </a:extLst>
              </a:tr>
              <a:tr h="370840">
                <a:tc>
                  <a:txBody>
                    <a:bodyPr/>
                    <a:lstStyle/>
                    <a:p>
                      <a:r>
                        <a:rPr lang="en-US" altLang="zh-CN" sz="1200"/>
                        <a:t>1. </a:t>
                      </a:r>
                      <a:r>
                        <a:rPr lang="en-US" altLang="zh-CN" sz="1200">
                          <a:cs typeface="Lato Light"/>
                        </a:rPr>
                        <a:t>Customer billing invoice</a:t>
                      </a:r>
                      <a:endParaRPr lang="zh-CN" altLang="en-US" sz="1200"/>
                    </a:p>
                  </a:txBody>
                  <a:tcPr/>
                </a:tc>
                <a:tc>
                  <a:txBody>
                    <a:bodyPr/>
                    <a:lstStyle/>
                    <a:p>
                      <a:pPr algn="ctr"/>
                      <a:r>
                        <a:rPr lang="en-US" altLang="zh-CN"/>
                        <a:t>YA</a:t>
                      </a:r>
                      <a:endParaRPr lang="zh-CN" altLang="en-US"/>
                    </a:p>
                  </a:txBody>
                  <a:tcPr/>
                </a:tc>
                <a:tc>
                  <a:txBody>
                    <a:bodyPr/>
                    <a:lstStyle/>
                    <a:p>
                      <a:pPr algn="ctr"/>
                      <a:r>
                        <a:rPr lang="en-US" altLang="zh-CN"/>
                        <a:t>EL</a:t>
                      </a:r>
                      <a:endParaRPr lang="zh-CN" altLang="en-US"/>
                    </a:p>
                  </a:txBody>
                  <a:tcPr/>
                </a:tc>
                <a:tc>
                  <a:txBody>
                    <a:bodyPr/>
                    <a:lstStyle/>
                    <a:p>
                      <a:pPr algn="ctr"/>
                      <a:r>
                        <a:rPr lang="en-US" altLang="zh-CN"/>
                        <a:t>Immediately</a:t>
                      </a:r>
                      <a:endParaRPr lang="zh-CN" altLang="en-US"/>
                    </a:p>
                  </a:txBody>
                  <a:tcPr/>
                </a:tc>
                <a:extLst>
                  <a:ext uri="{0D108BD9-81ED-4DB2-BD59-A6C34878D82A}">
                    <a16:rowId xmlns:a16="http://schemas.microsoft.com/office/drawing/2014/main" val="440697557"/>
                  </a:ext>
                </a:extLst>
              </a:tr>
              <a:tr h="370840">
                <a:tc>
                  <a:txBody>
                    <a:bodyPr/>
                    <a:lstStyle/>
                    <a:p>
                      <a:r>
                        <a:rPr lang="en-US" altLang="zh-CN" sz="1200" kern="1200">
                          <a:solidFill>
                            <a:schemeClr val="dk1"/>
                          </a:solidFill>
                          <a:latin typeface="+mn-lt"/>
                          <a:ea typeface="+mn-ea"/>
                          <a:cs typeface="Lato Light"/>
                        </a:rPr>
                        <a:t>2. Intercompany AR invoice </a:t>
                      </a:r>
                      <a:endParaRPr lang="zh-CN" altLang="en-US" sz="1200" kern="1200">
                        <a:solidFill>
                          <a:schemeClr val="dk1"/>
                        </a:solidFill>
                        <a:latin typeface="+mn-lt"/>
                        <a:ea typeface="+mn-ea"/>
                        <a:cs typeface="Lato Light"/>
                      </a:endParaRPr>
                    </a:p>
                  </a:txBody>
                  <a:tcPr/>
                </a:tc>
                <a:tc>
                  <a:txBody>
                    <a:bodyPr/>
                    <a:lstStyle/>
                    <a:p>
                      <a:pPr algn="ctr"/>
                      <a:r>
                        <a:rPr lang="en-US" altLang="zh-CN"/>
                        <a:t>YC</a:t>
                      </a:r>
                      <a:endParaRPr lang="zh-CN" altLang="en-US"/>
                    </a:p>
                  </a:txBody>
                  <a:tcPr/>
                </a:tc>
                <a:tc>
                  <a:txBody>
                    <a:bodyPr/>
                    <a:lstStyle/>
                    <a:p>
                      <a:pPr algn="ctr"/>
                      <a:r>
                        <a:rPr lang="en-US" altLang="zh-CN"/>
                        <a:t>RV</a:t>
                      </a:r>
                      <a:endParaRPr lang="zh-CN" altLang="en-US"/>
                    </a:p>
                  </a:txBody>
                  <a:tcPr/>
                </a:tc>
                <a:tc>
                  <a:txBody>
                    <a:bodyPr/>
                    <a:lstStyle/>
                    <a:p>
                      <a:pPr algn="ctr"/>
                      <a:r>
                        <a:rPr lang="en-US" altLang="zh-CN"/>
                        <a:t>Immediately</a:t>
                      </a:r>
                      <a:endParaRPr lang="zh-CN" altLang="en-US"/>
                    </a:p>
                  </a:txBody>
                  <a:tcPr/>
                </a:tc>
                <a:extLst>
                  <a:ext uri="{0D108BD9-81ED-4DB2-BD59-A6C34878D82A}">
                    <a16:rowId xmlns:a16="http://schemas.microsoft.com/office/drawing/2014/main" val="2473452450"/>
                  </a:ext>
                </a:extLst>
              </a:tr>
              <a:tr h="370840">
                <a:tc>
                  <a:txBody>
                    <a:bodyPr/>
                    <a:lstStyle/>
                    <a:p>
                      <a:r>
                        <a:rPr lang="en-US" altLang="zh-CN" sz="1200" kern="1200">
                          <a:solidFill>
                            <a:schemeClr val="dk1"/>
                          </a:solidFill>
                          <a:latin typeface="+mn-lt"/>
                          <a:ea typeface="+mn-ea"/>
                          <a:cs typeface="Lato Light"/>
                        </a:rPr>
                        <a:t>3. Intercompany AP invoice </a:t>
                      </a:r>
                      <a:endParaRPr lang="zh-CN" altLang="en-US" sz="1200" kern="1200">
                        <a:solidFill>
                          <a:schemeClr val="dk1"/>
                        </a:solidFill>
                        <a:latin typeface="+mn-lt"/>
                        <a:ea typeface="+mn-ea"/>
                        <a:cs typeface="Lato Light"/>
                      </a:endParaRPr>
                    </a:p>
                  </a:txBody>
                  <a:tcPr/>
                </a:tc>
                <a:tc>
                  <a:txBody>
                    <a:bodyPr/>
                    <a:lstStyle/>
                    <a:p>
                      <a:pPr algn="ctr"/>
                      <a:r>
                        <a:rPr lang="en-US" altLang="zh-CN"/>
                        <a:t>YD</a:t>
                      </a:r>
                      <a:endParaRPr lang="zh-CN" altLang="en-US"/>
                    </a:p>
                  </a:txBody>
                  <a:tcPr/>
                </a:tc>
                <a:tc>
                  <a:txBody>
                    <a:bodyPr/>
                    <a:lstStyle/>
                    <a:p>
                      <a:pPr algn="ctr"/>
                      <a:r>
                        <a:rPr lang="en-US" altLang="zh-CN"/>
                        <a:t>KR</a:t>
                      </a:r>
                      <a:endParaRPr lang="zh-CN" altLang="en-US"/>
                    </a:p>
                  </a:txBody>
                  <a:tcPr/>
                </a:tc>
                <a:tc>
                  <a:txBody>
                    <a:bodyPr/>
                    <a:lstStyle/>
                    <a:p>
                      <a:pPr algn="ctr"/>
                      <a:r>
                        <a:rPr lang="en-US" altLang="zh-CN"/>
                        <a:t>Immediately</a:t>
                      </a:r>
                      <a:endParaRPr lang="zh-CN" altLang="en-US"/>
                    </a:p>
                  </a:txBody>
                  <a:tcPr/>
                </a:tc>
                <a:extLst>
                  <a:ext uri="{0D108BD9-81ED-4DB2-BD59-A6C34878D82A}">
                    <a16:rowId xmlns:a16="http://schemas.microsoft.com/office/drawing/2014/main" val="2809730090"/>
                  </a:ext>
                </a:extLst>
              </a:tr>
              <a:tr h="370840">
                <a:tc>
                  <a:txBody>
                    <a:bodyPr/>
                    <a:lstStyle/>
                    <a:p>
                      <a:pPr marL="0" indent="0">
                        <a:buFontTx/>
                        <a:buNone/>
                      </a:pPr>
                      <a:r>
                        <a:rPr lang="en-US" altLang="zh-CN" sz="1200" kern="1200">
                          <a:solidFill>
                            <a:schemeClr val="dk1"/>
                          </a:solidFill>
                          <a:latin typeface="+mn-lt"/>
                          <a:ea typeface="+mn-ea"/>
                          <a:cs typeface="Lato Light"/>
                        </a:rPr>
                        <a:t>4. Upfront tax invoice</a:t>
                      </a:r>
                      <a:endParaRPr lang="zh-CN" altLang="en-US" sz="1200" kern="1200">
                        <a:solidFill>
                          <a:schemeClr val="dk1"/>
                        </a:solidFill>
                        <a:latin typeface="+mn-lt"/>
                        <a:ea typeface="+mn-ea"/>
                        <a:cs typeface="Lato Light"/>
                      </a:endParaRPr>
                    </a:p>
                  </a:txBody>
                  <a:tcPr/>
                </a:tc>
                <a:tc>
                  <a:txBody>
                    <a:bodyPr/>
                    <a:lstStyle/>
                    <a:p>
                      <a:pPr algn="ctr"/>
                      <a:r>
                        <a:rPr lang="en-US" altLang="zh-CN"/>
                        <a:t>YT</a:t>
                      </a:r>
                      <a:endParaRPr lang="zh-CN" altLang="en-US"/>
                    </a:p>
                  </a:txBody>
                  <a:tcPr/>
                </a:tc>
                <a:tc>
                  <a:txBody>
                    <a:bodyPr/>
                    <a:lstStyle/>
                    <a:p>
                      <a:pPr algn="ctr"/>
                      <a:r>
                        <a:rPr lang="en-US" altLang="zh-CN"/>
                        <a:t>ET</a:t>
                      </a:r>
                      <a:endParaRPr lang="zh-CN" altLang="en-US"/>
                    </a:p>
                  </a:txBody>
                  <a:tcPr/>
                </a:tc>
                <a:tc>
                  <a:txBody>
                    <a:bodyPr/>
                    <a:lstStyle/>
                    <a:p>
                      <a:pPr algn="ctr"/>
                      <a:r>
                        <a:rPr lang="en-US" altLang="zh-CN"/>
                        <a:t>Immediately</a:t>
                      </a:r>
                      <a:endParaRPr lang="zh-CN" altLang="en-US"/>
                    </a:p>
                  </a:txBody>
                  <a:tcPr/>
                </a:tc>
                <a:extLst>
                  <a:ext uri="{0D108BD9-81ED-4DB2-BD59-A6C34878D82A}">
                    <a16:rowId xmlns:a16="http://schemas.microsoft.com/office/drawing/2014/main" val="3330701693"/>
                  </a:ext>
                </a:extLst>
              </a:tr>
              <a:tr h="370840">
                <a:tc>
                  <a:txBody>
                    <a:bodyPr/>
                    <a:lstStyle/>
                    <a:p>
                      <a:r>
                        <a:rPr lang="en-US" altLang="zh-CN" sz="1200" kern="1200">
                          <a:solidFill>
                            <a:schemeClr val="dk1"/>
                          </a:solidFill>
                          <a:latin typeface="+mn-lt"/>
                          <a:ea typeface="+mn-ea"/>
                          <a:cs typeface="Lato Light"/>
                        </a:rPr>
                        <a:t>5. Amortization program </a:t>
                      </a:r>
                      <a:endParaRPr lang="zh-CN" altLang="en-US" sz="1200" kern="1200">
                        <a:solidFill>
                          <a:schemeClr val="dk1"/>
                        </a:solidFill>
                        <a:latin typeface="+mn-lt"/>
                        <a:ea typeface="+mn-ea"/>
                        <a:cs typeface="Lato Light"/>
                      </a:endParaRPr>
                    </a:p>
                  </a:txBody>
                  <a:tcPr/>
                </a:tc>
                <a:tc>
                  <a:txBody>
                    <a:bodyPr/>
                    <a:lstStyle/>
                    <a:p>
                      <a:pPr algn="ctr"/>
                      <a:r>
                        <a:rPr lang="en-US" altLang="zh-CN"/>
                        <a:t>YB</a:t>
                      </a:r>
                      <a:endParaRPr lang="zh-CN" altLang="en-US"/>
                    </a:p>
                  </a:txBody>
                  <a:tcPr/>
                </a:tc>
                <a:tc>
                  <a:txBody>
                    <a:bodyPr/>
                    <a:lstStyle/>
                    <a:p>
                      <a:pPr algn="ctr"/>
                      <a:r>
                        <a:rPr lang="en-US" altLang="zh-CN"/>
                        <a:t>EA</a:t>
                      </a:r>
                      <a:endParaRPr lang="zh-CN" altLang="en-US"/>
                    </a:p>
                  </a:txBody>
                  <a:tcPr/>
                </a:tc>
                <a:tc>
                  <a:txBody>
                    <a:bodyPr/>
                    <a:lstStyle/>
                    <a:p>
                      <a:pPr algn="ctr"/>
                      <a:r>
                        <a:rPr lang="en-US" altLang="zh-CN"/>
                        <a:t>Daily BK JOB</a:t>
                      </a:r>
                      <a:endParaRPr lang="zh-CN" altLang="en-US"/>
                    </a:p>
                  </a:txBody>
                  <a:tcPr/>
                </a:tc>
                <a:extLst>
                  <a:ext uri="{0D108BD9-81ED-4DB2-BD59-A6C34878D82A}">
                    <a16:rowId xmlns:a16="http://schemas.microsoft.com/office/drawing/2014/main" val="425674485"/>
                  </a:ext>
                </a:extLst>
              </a:tr>
              <a:tr h="370840">
                <a:tc>
                  <a:txBody>
                    <a:bodyPr/>
                    <a:lstStyle/>
                    <a:p>
                      <a:r>
                        <a:rPr lang="en-US" altLang="zh-CN" sz="1200" kern="1200">
                          <a:solidFill>
                            <a:schemeClr val="dk1"/>
                          </a:solidFill>
                          <a:latin typeface="+mn-lt"/>
                          <a:ea typeface="+mn-ea"/>
                          <a:cs typeface="Lato Light"/>
                        </a:rPr>
                        <a:t>6. ARS revenue transfer program </a:t>
                      </a:r>
                      <a:endParaRPr lang="zh-CN" altLang="en-US" sz="1200" kern="1200">
                        <a:solidFill>
                          <a:schemeClr val="dk1"/>
                        </a:solidFill>
                        <a:latin typeface="+mn-lt"/>
                        <a:ea typeface="+mn-ea"/>
                        <a:cs typeface="Lato Light"/>
                      </a:endParaRPr>
                    </a:p>
                  </a:txBody>
                  <a:tcPr/>
                </a:tc>
                <a:tc>
                  <a:txBody>
                    <a:bodyPr/>
                    <a:lstStyle/>
                    <a:p>
                      <a:pPr algn="ctr"/>
                      <a:r>
                        <a:rPr lang="en-US" altLang="zh-CN"/>
                        <a:t>YB</a:t>
                      </a:r>
                      <a:endParaRPr lang="zh-CN" altLang="en-US"/>
                    </a:p>
                  </a:txBody>
                  <a:tcPr/>
                </a:tc>
                <a:tc>
                  <a:txBody>
                    <a:bodyPr/>
                    <a:lstStyle/>
                    <a:p>
                      <a:pPr algn="ctr"/>
                      <a:r>
                        <a:rPr lang="en-US" altLang="zh-CN"/>
                        <a:t>EA</a:t>
                      </a:r>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Daily BK JOB</a:t>
                      </a:r>
                      <a:endParaRPr lang="zh-CN" altLang="en-US"/>
                    </a:p>
                  </a:txBody>
                  <a:tcPr/>
                </a:tc>
                <a:extLst>
                  <a:ext uri="{0D108BD9-81ED-4DB2-BD59-A6C34878D82A}">
                    <a16:rowId xmlns:a16="http://schemas.microsoft.com/office/drawing/2014/main" val="3783322519"/>
                  </a:ext>
                </a:extLst>
              </a:tr>
            </a:tbl>
          </a:graphicData>
        </a:graphic>
      </p:graphicFrame>
    </p:spTree>
    <p:extLst>
      <p:ext uri="{BB962C8B-B14F-4D97-AF65-F5344CB8AC3E}">
        <p14:creationId xmlns:p14="http://schemas.microsoft.com/office/powerpoint/2010/main" val="3892261893"/>
      </p:ext>
    </p:extLst>
  </p:cSld>
  <p:clrMapOvr>
    <a:masterClrMapping/>
  </p:clrMapOvr>
  <p:transition spd="me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32D7-8DD0-AB57-8BF5-EE832ACBC57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EF3F456-96B6-C178-629D-4A34EB6FAF59}"/>
              </a:ext>
            </a:extLst>
          </p:cNvPr>
          <p:cNvSpPr>
            <a:spLocks noGrp="1"/>
          </p:cNvSpPr>
          <p:nvPr>
            <p:ph type="title"/>
          </p:nvPr>
        </p:nvSpPr>
        <p:spPr/>
        <p:txBody>
          <a:bodyPr/>
          <a:lstStyle/>
          <a:p>
            <a:r>
              <a:rPr lang="en-US" altLang="zh-CN"/>
              <a:t>Finance Document – Search Display</a:t>
            </a:r>
            <a:endParaRPr lang="zh-CN" altLang="en-US"/>
          </a:p>
        </p:txBody>
      </p:sp>
      <p:sp>
        <p:nvSpPr>
          <p:cNvPr id="5" name="Text 2">
            <a:extLst>
              <a:ext uri="{FF2B5EF4-FFF2-40B4-BE49-F238E27FC236}">
                <a16:creationId xmlns:a16="http://schemas.microsoft.com/office/drawing/2014/main" id="{C80F5CAF-57FF-31E6-E42F-06D854E132AD}"/>
              </a:ext>
            </a:extLst>
          </p:cNvPr>
          <p:cNvSpPr/>
          <p:nvPr/>
        </p:nvSpPr>
        <p:spPr>
          <a:xfrm>
            <a:off x="320181" y="825886"/>
            <a:ext cx="11639523" cy="640203"/>
          </a:xfrm>
          <a:prstGeom prst="rect">
            <a:avLst/>
          </a:prstGeom>
          <a:noFill/>
          <a:ln/>
        </p:spPr>
        <p:txBody>
          <a:bodyPr wrap="square" lIns="0" tIns="0" rIns="0" bIns="0" rtlCol="0" anchor="ctr">
            <a:normAutofit/>
          </a:bodyPr>
          <a:lstStyle/>
          <a:p>
            <a:r>
              <a:rPr lang="en-US" altLang="zh-CN" sz="1200">
                <a:cs typeface="Lato Light"/>
              </a:rPr>
              <a:t>The Finance Document page allows users to display FA Posting document created in </a:t>
            </a:r>
            <a:r>
              <a:rPr lang="en-US" altLang="zh-CN" sz="1200" err="1">
                <a:cs typeface="Lato Light"/>
              </a:rPr>
              <a:t>NexBill</a:t>
            </a:r>
            <a:r>
              <a:rPr lang="en-US" altLang="zh-CN" sz="1200">
                <a:cs typeface="Lato Light"/>
              </a:rPr>
              <a:t>. </a:t>
            </a:r>
          </a:p>
          <a:p>
            <a:r>
              <a:rPr lang="en-US" altLang="zh-CN" sz="1200">
                <a:cs typeface="Lato Light"/>
              </a:rPr>
              <a:t>Users can enter the value directly or select via dropdown list to search the Finance document. </a:t>
            </a:r>
          </a:p>
          <a:p>
            <a:r>
              <a:rPr lang="en-US" altLang="zh-CN" sz="1200">
                <a:cs typeface="Lato Light"/>
              </a:rPr>
              <a:t>Results are displayed  in multiple pages and can be downloaded.</a:t>
            </a:r>
          </a:p>
        </p:txBody>
      </p:sp>
      <p:sp>
        <p:nvSpPr>
          <p:cNvPr id="12" name="TextBox 72">
            <a:extLst>
              <a:ext uri="{FF2B5EF4-FFF2-40B4-BE49-F238E27FC236}">
                <a16:creationId xmlns:a16="http://schemas.microsoft.com/office/drawing/2014/main" id="{5D1FACD5-F53F-CB04-32CD-35BF62062542}"/>
              </a:ext>
            </a:extLst>
          </p:cNvPr>
          <p:cNvSpPr txBox="1"/>
          <p:nvPr/>
        </p:nvSpPr>
        <p:spPr>
          <a:xfrm>
            <a:off x="2482478" y="1367552"/>
            <a:ext cx="2391087" cy="292388"/>
          </a:xfrm>
          <a:prstGeom prst="rect">
            <a:avLst/>
          </a:prstGeom>
          <a:noFill/>
        </p:spPr>
        <p:txBody>
          <a:bodyPr wrap="square" rtlCol="0">
            <a:spAutoFit/>
          </a:bodyPr>
          <a:lstStyle/>
          <a:p>
            <a:r>
              <a:rPr lang="en-US" sz="1300" b="1">
                <a:solidFill>
                  <a:schemeClr val="accent6">
                    <a:lumMod val="75000"/>
                    <a:lumOff val="25000"/>
                  </a:schemeClr>
                </a:solidFill>
                <a:latin typeface="+mj-lt"/>
                <a:cs typeface="Lato Regular"/>
              </a:rPr>
              <a:t>Selection Criteria</a:t>
            </a:r>
            <a:endParaRPr lang="id-ID" sz="1300" b="1">
              <a:solidFill>
                <a:schemeClr val="accent6">
                  <a:lumMod val="75000"/>
                  <a:lumOff val="25000"/>
                </a:schemeClr>
              </a:solidFill>
              <a:latin typeface="+mj-lt"/>
              <a:cs typeface="Lato Regular"/>
            </a:endParaRPr>
          </a:p>
        </p:txBody>
      </p:sp>
      <p:sp>
        <p:nvSpPr>
          <p:cNvPr id="13" name="TextBox 73">
            <a:extLst>
              <a:ext uri="{FF2B5EF4-FFF2-40B4-BE49-F238E27FC236}">
                <a16:creationId xmlns:a16="http://schemas.microsoft.com/office/drawing/2014/main" id="{B93B53FB-7597-FC7C-A6B6-B28BB5218C62}"/>
              </a:ext>
            </a:extLst>
          </p:cNvPr>
          <p:cNvSpPr txBox="1"/>
          <p:nvPr/>
        </p:nvSpPr>
        <p:spPr>
          <a:xfrm>
            <a:off x="2465286" y="1634967"/>
            <a:ext cx="8411495" cy="553998"/>
          </a:xfrm>
          <a:prstGeom prst="rect">
            <a:avLst/>
          </a:prstGeom>
          <a:noFill/>
        </p:spPr>
        <p:txBody>
          <a:bodyPr wrap="square" rtlCol="0">
            <a:spAutoFit/>
          </a:bodyPr>
          <a:lstStyle/>
          <a:p>
            <a:r>
              <a:rPr lang="en-US" altLang="zh-CN" sz="1000">
                <a:latin typeface="+mj-lt"/>
                <a:cs typeface="Lato Light"/>
              </a:rPr>
              <a:t>All FA document fields on the header can be selected as search criteria. Six fields are listed by default, users can add more selection fields by clicking on the + button, or reduce the fields by clicking on  X button. </a:t>
            </a:r>
          </a:p>
          <a:p>
            <a:r>
              <a:rPr lang="en-US" sz="1000">
                <a:latin typeface="+mj-lt"/>
                <a:cs typeface="Lato Light"/>
              </a:rPr>
              <a:t> FA documents are displayed and header fields can be scrolled horizontally. Settings button can be used to change the layout.</a:t>
            </a:r>
          </a:p>
        </p:txBody>
      </p:sp>
      <p:sp>
        <p:nvSpPr>
          <p:cNvPr id="15" name="Oval 111">
            <a:extLst>
              <a:ext uri="{FF2B5EF4-FFF2-40B4-BE49-F238E27FC236}">
                <a16:creationId xmlns:a16="http://schemas.microsoft.com/office/drawing/2014/main" id="{0F2D72D7-BB3E-7C9B-BF0F-C492FC21018A}"/>
              </a:ext>
            </a:extLst>
          </p:cNvPr>
          <p:cNvSpPr/>
          <p:nvPr/>
        </p:nvSpPr>
        <p:spPr>
          <a:xfrm>
            <a:off x="2236686" y="143584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mj-lt"/>
              </a:rPr>
              <a:t>1</a:t>
            </a:r>
          </a:p>
        </p:txBody>
      </p:sp>
      <p:pic>
        <p:nvPicPr>
          <p:cNvPr id="20" name="图片 19">
            <a:extLst>
              <a:ext uri="{FF2B5EF4-FFF2-40B4-BE49-F238E27FC236}">
                <a16:creationId xmlns:a16="http://schemas.microsoft.com/office/drawing/2014/main" id="{0FC84664-229B-5EA8-CDE8-2E773306C052}"/>
              </a:ext>
            </a:extLst>
          </p:cNvPr>
          <p:cNvPicPr>
            <a:picLocks noChangeAspect="1"/>
          </p:cNvPicPr>
          <p:nvPr/>
        </p:nvPicPr>
        <p:blipFill>
          <a:blip r:embed="rId2"/>
          <a:stretch>
            <a:fillRect/>
          </a:stretch>
        </p:blipFill>
        <p:spPr>
          <a:xfrm>
            <a:off x="2034972" y="2269894"/>
            <a:ext cx="10133458" cy="4571742"/>
          </a:xfrm>
          <a:prstGeom prst="rect">
            <a:avLst/>
          </a:prstGeom>
        </p:spPr>
      </p:pic>
      <p:pic>
        <p:nvPicPr>
          <p:cNvPr id="14" name="图片 13">
            <a:extLst>
              <a:ext uri="{FF2B5EF4-FFF2-40B4-BE49-F238E27FC236}">
                <a16:creationId xmlns:a16="http://schemas.microsoft.com/office/drawing/2014/main" id="{1D1759D1-8012-1DEB-CD26-CEF6A36C4091}"/>
              </a:ext>
            </a:extLst>
          </p:cNvPr>
          <p:cNvPicPr>
            <a:picLocks noChangeAspect="1"/>
          </p:cNvPicPr>
          <p:nvPr/>
        </p:nvPicPr>
        <p:blipFill>
          <a:blip r:embed="rId3"/>
          <a:stretch>
            <a:fillRect/>
          </a:stretch>
        </p:blipFill>
        <p:spPr>
          <a:xfrm>
            <a:off x="47211" y="1659940"/>
            <a:ext cx="2095345" cy="3501809"/>
          </a:xfrm>
          <a:prstGeom prst="rect">
            <a:avLst/>
          </a:prstGeom>
        </p:spPr>
      </p:pic>
    </p:spTree>
    <p:extLst>
      <p:ext uri="{BB962C8B-B14F-4D97-AF65-F5344CB8AC3E}">
        <p14:creationId xmlns:p14="http://schemas.microsoft.com/office/powerpoint/2010/main" val="105432212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871F6-1CFF-08E9-4A4A-2172A0D2E86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CF718A1-202A-3924-C067-4EF739BF7B4C}"/>
              </a:ext>
            </a:extLst>
          </p:cNvPr>
          <p:cNvSpPr>
            <a:spLocks noGrp="1"/>
          </p:cNvSpPr>
          <p:nvPr>
            <p:ph type="title"/>
          </p:nvPr>
        </p:nvSpPr>
        <p:spPr/>
        <p:txBody>
          <a:bodyPr/>
          <a:lstStyle/>
          <a:p>
            <a:r>
              <a:rPr lang="en-US" altLang="zh-CN"/>
              <a:t>Finance Document – Search Display</a:t>
            </a:r>
            <a:endParaRPr lang="zh-CN" altLang="en-US"/>
          </a:p>
        </p:txBody>
      </p:sp>
      <p:pic>
        <p:nvPicPr>
          <p:cNvPr id="19" name="图片 18">
            <a:extLst>
              <a:ext uri="{FF2B5EF4-FFF2-40B4-BE49-F238E27FC236}">
                <a16:creationId xmlns:a16="http://schemas.microsoft.com/office/drawing/2014/main" id="{A3B7D1A1-2228-0293-B593-2F9C6CF74F38}"/>
              </a:ext>
            </a:extLst>
          </p:cNvPr>
          <p:cNvPicPr>
            <a:picLocks noChangeAspect="1"/>
          </p:cNvPicPr>
          <p:nvPr/>
        </p:nvPicPr>
        <p:blipFill>
          <a:blip r:embed="rId2"/>
          <a:stretch>
            <a:fillRect/>
          </a:stretch>
        </p:blipFill>
        <p:spPr>
          <a:xfrm>
            <a:off x="156702" y="1153852"/>
            <a:ext cx="9213867" cy="1213503"/>
          </a:xfrm>
          <a:prstGeom prst="rect">
            <a:avLst/>
          </a:prstGeom>
        </p:spPr>
      </p:pic>
      <p:pic>
        <p:nvPicPr>
          <p:cNvPr id="6" name="图片 5">
            <a:extLst>
              <a:ext uri="{FF2B5EF4-FFF2-40B4-BE49-F238E27FC236}">
                <a16:creationId xmlns:a16="http://schemas.microsoft.com/office/drawing/2014/main" id="{45D88231-186A-AFB2-DFC8-AE5EA6B4A55C}"/>
              </a:ext>
            </a:extLst>
          </p:cNvPr>
          <p:cNvPicPr>
            <a:picLocks noChangeAspect="1"/>
          </p:cNvPicPr>
          <p:nvPr/>
        </p:nvPicPr>
        <p:blipFill>
          <a:blip r:embed="rId3"/>
          <a:stretch>
            <a:fillRect/>
          </a:stretch>
        </p:blipFill>
        <p:spPr>
          <a:xfrm>
            <a:off x="320182" y="2601798"/>
            <a:ext cx="4664093" cy="955105"/>
          </a:xfrm>
          <a:prstGeom prst="rect">
            <a:avLst/>
          </a:prstGeom>
        </p:spPr>
      </p:pic>
      <p:pic>
        <p:nvPicPr>
          <p:cNvPr id="8" name="图片 7">
            <a:extLst>
              <a:ext uri="{FF2B5EF4-FFF2-40B4-BE49-F238E27FC236}">
                <a16:creationId xmlns:a16="http://schemas.microsoft.com/office/drawing/2014/main" id="{73194632-162C-C2E2-3D69-51448CC64100}"/>
              </a:ext>
            </a:extLst>
          </p:cNvPr>
          <p:cNvPicPr>
            <a:picLocks noChangeAspect="1"/>
          </p:cNvPicPr>
          <p:nvPr/>
        </p:nvPicPr>
        <p:blipFill>
          <a:blip r:embed="rId4"/>
          <a:stretch>
            <a:fillRect/>
          </a:stretch>
        </p:blipFill>
        <p:spPr>
          <a:xfrm>
            <a:off x="4187305" y="3556903"/>
            <a:ext cx="7772400" cy="3236964"/>
          </a:xfrm>
          <a:prstGeom prst="rect">
            <a:avLst/>
          </a:prstGeom>
        </p:spPr>
      </p:pic>
      <p:sp>
        <p:nvSpPr>
          <p:cNvPr id="9" name="Text 2">
            <a:extLst>
              <a:ext uri="{FF2B5EF4-FFF2-40B4-BE49-F238E27FC236}">
                <a16:creationId xmlns:a16="http://schemas.microsoft.com/office/drawing/2014/main" id="{3FA09BDB-BAFD-8D4F-8124-16BD78BDFFA3}"/>
              </a:ext>
            </a:extLst>
          </p:cNvPr>
          <p:cNvSpPr/>
          <p:nvPr/>
        </p:nvSpPr>
        <p:spPr>
          <a:xfrm>
            <a:off x="320182" y="825662"/>
            <a:ext cx="11639523" cy="356790"/>
          </a:xfrm>
          <a:prstGeom prst="rect">
            <a:avLst/>
          </a:prstGeom>
          <a:noFill/>
          <a:ln/>
        </p:spPr>
        <p:txBody>
          <a:bodyPr wrap="square" lIns="0" tIns="0" rIns="0" bIns="0" rtlCol="0" anchor="ctr">
            <a:normAutofit lnSpcReduction="10000"/>
          </a:bodyPr>
          <a:lstStyle/>
          <a:p>
            <a:r>
              <a:rPr lang="en-US" altLang="zh-CN" sz="1200">
                <a:cs typeface="Lato Light"/>
              </a:rPr>
              <a:t>The Finance Document page allows users to save the most often used search selection criteria and values as My Searches, it is user specific. It can apply automatically every time user opens this Finance Document page. Multiple</a:t>
            </a:r>
            <a:r>
              <a:rPr lang="zh-CN" altLang="en-US" sz="1200">
                <a:cs typeface="Lato Light"/>
              </a:rPr>
              <a:t> </a:t>
            </a:r>
            <a:r>
              <a:rPr lang="en-US" altLang="zh-CN" sz="1200">
                <a:cs typeface="Lato Light"/>
              </a:rPr>
              <a:t>searches</a:t>
            </a:r>
            <a:r>
              <a:rPr lang="zh-CN" altLang="en-US" sz="1200">
                <a:cs typeface="Lato Light"/>
              </a:rPr>
              <a:t> </a:t>
            </a:r>
            <a:r>
              <a:rPr lang="en-US" altLang="zh-CN" sz="1200">
                <a:cs typeface="Lato Light"/>
              </a:rPr>
              <a:t>can</a:t>
            </a:r>
            <a:r>
              <a:rPr lang="zh-CN" altLang="en-US" sz="1200">
                <a:cs typeface="Lato Light"/>
              </a:rPr>
              <a:t> </a:t>
            </a:r>
            <a:r>
              <a:rPr lang="en-US" altLang="zh-CN" sz="1200">
                <a:cs typeface="Lato Light"/>
              </a:rPr>
              <a:t>be</a:t>
            </a:r>
            <a:r>
              <a:rPr lang="zh-CN" altLang="en-US" sz="1200">
                <a:cs typeface="Lato Light"/>
              </a:rPr>
              <a:t> </a:t>
            </a:r>
            <a:r>
              <a:rPr lang="en-US" altLang="zh-CN" sz="1200">
                <a:cs typeface="Lato Light"/>
              </a:rPr>
              <a:t>saved.</a:t>
            </a:r>
            <a:r>
              <a:rPr lang="zh-CN" altLang="en-US" sz="1200">
                <a:cs typeface="Lato Light"/>
              </a:rPr>
              <a:t> </a:t>
            </a:r>
            <a:r>
              <a:rPr lang="en-US" altLang="zh-CN" sz="1200">
                <a:cs typeface="Lato Light"/>
              </a:rPr>
              <a:t>My search can later be modified or</a:t>
            </a:r>
            <a:r>
              <a:rPr lang="zh-CN" altLang="en-US" sz="1200">
                <a:cs typeface="Lato Light"/>
              </a:rPr>
              <a:t> </a:t>
            </a:r>
            <a:r>
              <a:rPr lang="en-US" altLang="zh-CN" sz="1200">
                <a:cs typeface="Lato Light"/>
              </a:rPr>
              <a:t>deleted</a:t>
            </a:r>
            <a:r>
              <a:rPr lang="zh-CN" altLang="en-US" sz="1200">
                <a:cs typeface="Lato Light"/>
              </a:rPr>
              <a:t> </a:t>
            </a:r>
            <a:r>
              <a:rPr lang="en-US" altLang="zh-CN" sz="1200">
                <a:cs typeface="Lato Light"/>
              </a:rPr>
              <a:t>too.</a:t>
            </a:r>
          </a:p>
        </p:txBody>
      </p:sp>
      <p:sp>
        <p:nvSpPr>
          <p:cNvPr id="10" name="矩形 9">
            <a:extLst>
              <a:ext uri="{FF2B5EF4-FFF2-40B4-BE49-F238E27FC236}">
                <a16:creationId xmlns:a16="http://schemas.microsoft.com/office/drawing/2014/main" id="{6B20D460-C10D-C156-6162-55C43B344343}"/>
              </a:ext>
            </a:extLst>
          </p:cNvPr>
          <p:cNvSpPr/>
          <p:nvPr/>
        </p:nvSpPr>
        <p:spPr bwMode="auto">
          <a:xfrm>
            <a:off x="456211" y="2068175"/>
            <a:ext cx="1410297"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11" name="Text 2">
            <a:extLst>
              <a:ext uri="{FF2B5EF4-FFF2-40B4-BE49-F238E27FC236}">
                <a16:creationId xmlns:a16="http://schemas.microsoft.com/office/drawing/2014/main" id="{42D5D533-C75E-ECE7-20D7-8AAB87C927FC}"/>
              </a:ext>
            </a:extLst>
          </p:cNvPr>
          <p:cNvSpPr/>
          <p:nvPr/>
        </p:nvSpPr>
        <p:spPr>
          <a:xfrm>
            <a:off x="276238" y="4133855"/>
            <a:ext cx="3673593" cy="2002993"/>
          </a:xfrm>
          <a:prstGeom prst="rect">
            <a:avLst/>
          </a:prstGeom>
          <a:noFill/>
          <a:ln/>
        </p:spPr>
        <p:txBody>
          <a:bodyPr wrap="square" lIns="0" tIns="0" rIns="0" bIns="0" rtlCol="0" anchor="ctr">
            <a:normAutofit/>
          </a:bodyPr>
          <a:lstStyle/>
          <a:p>
            <a:r>
              <a:rPr lang="en-US" altLang="zh-CN" sz="1200">
                <a:cs typeface="Lato Light"/>
              </a:rPr>
              <a:t>If you save</a:t>
            </a:r>
            <a:r>
              <a:rPr lang="zh-CN" altLang="en-US" sz="1200">
                <a:cs typeface="Lato Light"/>
              </a:rPr>
              <a:t> </a:t>
            </a:r>
            <a:r>
              <a:rPr lang="en-US" altLang="zh-CN" sz="1200">
                <a:cs typeface="Lato Light"/>
              </a:rPr>
              <a:t>as</a:t>
            </a:r>
            <a:r>
              <a:rPr lang="zh-CN" altLang="en-US" sz="1200">
                <a:cs typeface="Lato Light"/>
              </a:rPr>
              <a:t> </a:t>
            </a:r>
            <a:r>
              <a:rPr lang="en-US" altLang="zh-CN" sz="1200">
                <a:cs typeface="Lato Light"/>
              </a:rPr>
              <a:t>shown</a:t>
            </a:r>
            <a:r>
              <a:rPr lang="zh-CN" altLang="en-US" sz="1200">
                <a:cs typeface="Lato Light"/>
              </a:rPr>
              <a:t> </a:t>
            </a:r>
            <a:r>
              <a:rPr lang="en-US" altLang="zh-CN" sz="1200">
                <a:cs typeface="Lato Light"/>
              </a:rPr>
              <a:t>Company</a:t>
            </a:r>
            <a:r>
              <a:rPr lang="zh-CN" altLang="en-US" sz="1200">
                <a:cs typeface="Lato Light"/>
              </a:rPr>
              <a:t> </a:t>
            </a:r>
            <a:r>
              <a:rPr lang="en-US" altLang="zh-CN" sz="1200">
                <a:cs typeface="Lato Light"/>
              </a:rPr>
              <a:t>Code=CA01,</a:t>
            </a:r>
            <a:r>
              <a:rPr lang="zh-CN" altLang="en-US" sz="1200">
                <a:cs typeface="Lato Light"/>
              </a:rPr>
              <a:t> </a:t>
            </a:r>
            <a:r>
              <a:rPr lang="en-US" altLang="zh-CN" sz="1200">
                <a:cs typeface="Lato Light"/>
              </a:rPr>
              <a:t>YA</a:t>
            </a:r>
            <a:r>
              <a:rPr lang="zh-CN" altLang="en-US" sz="1200">
                <a:cs typeface="Lato Light"/>
              </a:rPr>
              <a:t> </a:t>
            </a:r>
            <a:r>
              <a:rPr lang="en-US" altLang="zh-CN" sz="1200">
                <a:cs typeface="Lato Light"/>
              </a:rPr>
              <a:t>Document</a:t>
            </a:r>
            <a:r>
              <a:rPr lang="zh-CN" altLang="en-US" sz="1200">
                <a:cs typeface="Lato Light"/>
              </a:rPr>
              <a:t> </a:t>
            </a:r>
            <a:r>
              <a:rPr lang="en-US" altLang="zh-CN" sz="1200">
                <a:cs typeface="Lato Light"/>
              </a:rPr>
              <a:t>Type=YA,</a:t>
            </a:r>
            <a:r>
              <a:rPr lang="zh-CN" altLang="en-US" sz="1200">
                <a:cs typeface="Lato Light"/>
              </a:rPr>
              <a:t> </a:t>
            </a:r>
            <a:r>
              <a:rPr lang="en-US" altLang="zh-CN" sz="1200">
                <a:cs typeface="Lato Light"/>
              </a:rPr>
              <a:t>next</a:t>
            </a:r>
            <a:r>
              <a:rPr lang="zh-CN" altLang="en-US" sz="1200">
                <a:cs typeface="Lato Light"/>
              </a:rPr>
              <a:t> </a:t>
            </a:r>
            <a:r>
              <a:rPr lang="en-US" altLang="zh-CN" sz="1200">
                <a:cs typeface="Lato Light"/>
              </a:rPr>
              <a:t>time</a:t>
            </a:r>
            <a:r>
              <a:rPr lang="zh-CN" altLang="en-US" sz="1200">
                <a:cs typeface="Lato Light"/>
              </a:rPr>
              <a:t> </a:t>
            </a:r>
            <a:r>
              <a:rPr lang="en-US" altLang="zh-CN" sz="1200">
                <a:cs typeface="Lato Light"/>
              </a:rPr>
              <a:t>you</a:t>
            </a:r>
            <a:r>
              <a:rPr lang="zh-CN" altLang="en-US" sz="1200">
                <a:cs typeface="Lato Light"/>
              </a:rPr>
              <a:t> </a:t>
            </a:r>
            <a:r>
              <a:rPr lang="en-US" altLang="zh-CN" sz="1200">
                <a:cs typeface="Lato Light"/>
              </a:rPr>
              <a:t>enter</a:t>
            </a:r>
            <a:r>
              <a:rPr lang="zh-CN" altLang="en-US" sz="1200">
                <a:cs typeface="Lato Light"/>
              </a:rPr>
              <a:t> </a:t>
            </a:r>
            <a:r>
              <a:rPr lang="en-US" altLang="zh-CN" sz="1200">
                <a:cs typeface="Lato Light"/>
              </a:rPr>
              <a:t>Finance</a:t>
            </a:r>
            <a:r>
              <a:rPr lang="zh-CN" altLang="en-US" sz="1200">
                <a:cs typeface="Lato Light"/>
              </a:rPr>
              <a:t> </a:t>
            </a:r>
            <a:r>
              <a:rPr lang="en-US" altLang="zh-CN" sz="1200">
                <a:cs typeface="Lato Light"/>
              </a:rPr>
              <a:t>Document</a:t>
            </a:r>
            <a:r>
              <a:rPr lang="zh-CN" altLang="en-US" sz="1200">
                <a:cs typeface="Lato Light"/>
              </a:rPr>
              <a:t> </a:t>
            </a:r>
            <a:r>
              <a:rPr lang="en-US" altLang="zh-CN" sz="1200">
                <a:cs typeface="Lato Light"/>
              </a:rPr>
              <a:t>menu,</a:t>
            </a:r>
            <a:r>
              <a:rPr lang="zh-CN" altLang="en-US" sz="1200">
                <a:cs typeface="Lato Light"/>
              </a:rPr>
              <a:t> </a:t>
            </a:r>
            <a:r>
              <a:rPr lang="en-US" altLang="zh-CN" sz="1200">
                <a:cs typeface="Lato Light"/>
              </a:rPr>
              <a:t>this</a:t>
            </a:r>
            <a:r>
              <a:rPr lang="zh-CN" altLang="en-US" sz="1200">
                <a:cs typeface="Lato Light"/>
              </a:rPr>
              <a:t> </a:t>
            </a:r>
            <a:r>
              <a:rPr lang="en-US" altLang="zh-CN" sz="1200">
                <a:cs typeface="Lato Light"/>
              </a:rPr>
              <a:t>search</a:t>
            </a:r>
            <a:r>
              <a:rPr lang="zh-CN" altLang="en-US" sz="1200">
                <a:cs typeface="Lato Light"/>
              </a:rPr>
              <a:t> </a:t>
            </a:r>
            <a:r>
              <a:rPr lang="en-US" altLang="zh-CN" sz="1200">
                <a:cs typeface="Lato Light"/>
              </a:rPr>
              <a:t>will</a:t>
            </a:r>
            <a:r>
              <a:rPr lang="zh-CN" altLang="en-US" sz="1200">
                <a:cs typeface="Lato Light"/>
              </a:rPr>
              <a:t> </a:t>
            </a:r>
            <a:r>
              <a:rPr lang="en-US" altLang="zh-CN" sz="1200">
                <a:cs typeface="Lato Light"/>
              </a:rPr>
              <a:t>apply</a:t>
            </a:r>
            <a:r>
              <a:rPr lang="zh-CN" altLang="en-US" sz="1200">
                <a:cs typeface="Lato Light"/>
              </a:rPr>
              <a:t> </a:t>
            </a:r>
            <a:r>
              <a:rPr lang="en-US" altLang="zh-CN" sz="1200">
                <a:cs typeface="Lato Light"/>
              </a:rPr>
              <a:t>automatically</a:t>
            </a:r>
            <a:r>
              <a:rPr lang="zh-CN" altLang="en-US" sz="1200">
                <a:cs typeface="Lato Light"/>
              </a:rPr>
              <a:t> </a:t>
            </a:r>
            <a:r>
              <a:rPr lang="en-US" altLang="zh-CN" sz="1200">
                <a:cs typeface="Lato Light"/>
              </a:rPr>
              <a:t>as</a:t>
            </a:r>
            <a:r>
              <a:rPr lang="zh-CN" altLang="en-US" sz="1200">
                <a:cs typeface="Lato Light"/>
              </a:rPr>
              <a:t> </a:t>
            </a:r>
            <a:r>
              <a:rPr lang="en-US" altLang="zh-CN" sz="1200">
                <a:cs typeface="Lato Light"/>
              </a:rPr>
              <a:t>shown.</a:t>
            </a:r>
            <a:r>
              <a:rPr lang="zh-CN" altLang="en-US" sz="1200">
                <a:cs typeface="Lato Light"/>
              </a:rPr>
              <a:t> </a:t>
            </a:r>
            <a:r>
              <a:rPr lang="en-US" altLang="zh-CN" sz="1200">
                <a:cs typeface="Lato Light"/>
              </a:rPr>
              <a:t>You</a:t>
            </a:r>
            <a:r>
              <a:rPr lang="zh-CN" altLang="en-US" sz="1200">
                <a:cs typeface="Lato Light"/>
              </a:rPr>
              <a:t> </a:t>
            </a:r>
            <a:r>
              <a:rPr lang="en-US" altLang="zh-CN" sz="1200">
                <a:cs typeface="Lato Light"/>
              </a:rPr>
              <a:t>can</a:t>
            </a:r>
            <a:r>
              <a:rPr lang="zh-CN" altLang="en-US" sz="1200">
                <a:cs typeface="Lato Light"/>
              </a:rPr>
              <a:t> </a:t>
            </a:r>
            <a:r>
              <a:rPr lang="en-US" altLang="zh-CN" sz="1200">
                <a:cs typeface="Lato Light"/>
              </a:rPr>
              <a:t>cancel</a:t>
            </a:r>
            <a:r>
              <a:rPr lang="zh-CN" altLang="en-US" sz="1200">
                <a:cs typeface="Lato Light"/>
              </a:rPr>
              <a:t> </a:t>
            </a:r>
            <a:r>
              <a:rPr lang="en-US" altLang="zh-CN" sz="1200">
                <a:cs typeface="Lato Light"/>
              </a:rPr>
              <a:t>this</a:t>
            </a:r>
            <a:r>
              <a:rPr lang="zh-CN" altLang="en-US" sz="1200">
                <a:cs typeface="Lato Light"/>
              </a:rPr>
              <a:t> </a:t>
            </a:r>
            <a:r>
              <a:rPr lang="en-US" altLang="zh-CN" sz="1200">
                <a:cs typeface="Lato Light"/>
              </a:rPr>
              <a:t>by</a:t>
            </a:r>
            <a:r>
              <a:rPr lang="zh-CN" altLang="en-US" sz="1200">
                <a:cs typeface="Lato Light"/>
              </a:rPr>
              <a:t> </a:t>
            </a:r>
            <a:r>
              <a:rPr lang="en-US" altLang="zh-CN" sz="1200">
                <a:cs typeface="Lato Light"/>
              </a:rPr>
              <a:t>click</a:t>
            </a:r>
            <a:r>
              <a:rPr lang="zh-CN" altLang="en-US" sz="1200">
                <a:cs typeface="Lato Light"/>
              </a:rPr>
              <a:t> </a:t>
            </a:r>
            <a:r>
              <a:rPr lang="en-US" altLang="zh-CN" sz="1200">
                <a:cs typeface="Lato Light"/>
              </a:rPr>
              <a:t>on</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star.</a:t>
            </a:r>
          </a:p>
        </p:txBody>
      </p:sp>
      <p:sp>
        <p:nvSpPr>
          <p:cNvPr id="14" name="矩形 13">
            <a:extLst>
              <a:ext uri="{FF2B5EF4-FFF2-40B4-BE49-F238E27FC236}">
                <a16:creationId xmlns:a16="http://schemas.microsoft.com/office/drawing/2014/main" id="{E72586DF-2681-BDDA-F6A8-DD3288EA2E8C}"/>
              </a:ext>
            </a:extLst>
          </p:cNvPr>
          <p:cNvSpPr/>
          <p:nvPr/>
        </p:nvSpPr>
        <p:spPr bwMode="auto">
          <a:xfrm>
            <a:off x="4058487" y="2933529"/>
            <a:ext cx="400392"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pic>
        <p:nvPicPr>
          <p:cNvPr id="20" name="图片 19">
            <a:extLst>
              <a:ext uri="{FF2B5EF4-FFF2-40B4-BE49-F238E27FC236}">
                <a16:creationId xmlns:a16="http://schemas.microsoft.com/office/drawing/2014/main" id="{DA5BBA51-CF2E-A9F6-171C-D032A6E8723F}"/>
              </a:ext>
            </a:extLst>
          </p:cNvPr>
          <p:cNvPicPr>
            <a:picLocks noChangeAspect="1"/>
          </p:cNvPicPr>
          <p:nvPr/>
        </p:nvPicPr>
        <p:blipFill>
          <a:blip r:embed="rId5"/>
          <a:stretch>
            <a:fillRect/>
          </a:stretch>
        </p:blipFill>
        <p:spPr>
          <a:xfrm>
            <a:off x="6520009" y="2398939"/>
            <a:ext cx="2963357" cy="1075739"/>
          </a:xfrm>
          <a:prstGeom prst="rect">
            <a:avLst/>
          </a:prstGeom>
        </p:spPr>
      </p:pic>
      <p:sp>
        <p:nvSpPr>
          <p:cNvPr id="22" name="Text 2">
            <a:extLst>
              <a:ext uri="{FF2B5EF4-FFF2-40B4-BE49-F238E27FC236}">
                <a16:creationId xmlns:a16="http://schemas.microsoft.com/office/drawing/2014/main" id="{0A6770A3-FAF5-7B75-9913-E25F04A9549D}"/>
              </a:ext>
            </a:extLst>
          </p:cNvPr>
          <p:cNvSpPr/>
          <p:nvPr/>
        </p:nvSpPr>
        <p:spPr>
          <a:xfrm>
            <a:off x="286099" y="2360085"/>
            <a:ext cx="4664093" cy="339001"/>
          </a:xfrm>
          <a:prstGeom prst="rect">
            <a:avLst/>
          </a:prstGeom>
          <a:noFill/>
          <a:ln/>
        </p:spPr>
        <p:txBody>
          <a:bodyPr wrap="square" lIns="0" tIns="0" rIns="0" bIns="0" rtlCol="0" anchor="ctr">
            <a:normAutofit/>
          </a:bodyPr>
          <a:lstStyle/>
          <a:p>
            <a:r>
              <a:rPr lang="en-US" altLang="zh-CN" sz="1200">
                <a:cs typeface="Lato Light"/>
              </a:rPr>
              <a:t>click on the star to enable the by-default</a:t>
            </a:r>
            <a:r>
              <a:rPr lang="zh-CN" altLang="en-US" sz="1200">
                <a:cs typeface="Lato Light"/>
              </a:rPr>
              <a:t> </a:t>
            </a:r>
            <a:r>
              <a:rPr lang="en-US" altLang="zh-CN" sz="1200">
                <a:cs typeface="Lato Light"/>
              </a:rPr>
              <a:t>automatic application</a:t>
            </a:r>
          </a:p>
        </p:txBody>
      </p:sp>
      <p:sp>
        <p:nvSpPr>
          <p:cNvPr id="23" name="Text 2">
            <a:extLst>
              <a:ext uri="{FF2B5EF4-FFF2-40B4-BE49-F238E27FC236}">
                <a16:creationId xmlns:a16="http://schemas.microsoft.com/office/drawing/2014/main" id="{2FE84F4C-B877-494E-08A8-311764568641}"/>
              </a:ext>
            </a:extLst>
          </p:cNvPr>
          <p:cNvSpPr/>
          <p:nvPr/>
        </p:nvSpPr>
        <p:spPr>
          <a:xfrm>
            <a:off x="6641765" y="2145575"/>
            <a:ext cx="4664093" cy="339001"/>
          </a:xfrm>
          <a:prstGeom prst="rect">
            <a:avLst/>
          </a:prstGeom>
          <a:noFill/>
          <a:ln/>
        </p:spPr>
        <p:txBody>
          <a:bodyPr wrap="square" lIns="0" tIns="0" rIns="0" bIns="0" rtlCol="0" anchor="ctr">
            <a:normAutofit lnSpcReduction="10000"/>
          </a:bodyPr>
          <a:lstStyle/>
          <a:p>
            <a:r>
              <a:rPr lang="en-US" altLang="zh-CN" sz="1200">
                <a:cs typeface="Lato Light"/>
              </a:rPr>
              <a:t>My search can later be modified too. E.g. Rename, click on ✔️</a:t>
            </a:r>
            <a:r>
              <a:rPr lang="zh-CN" altLang="en-US" sz="1200">
                <a:cs typeface="Lato Light"/>
              </a:rPr>
              <a:t> </a:t>
            </a:r>
            <a:r>
              <a:rPr lang="en-US" altLang="zh-CN" sz="1200">
                <a:cs typeface="Lato Light"/>
              </a:rPr>
              <a:t>to</a:t>
            </a:r>
            <a:r>
              <a:rPr lang="zh-CN" altLang="en-US" sz="1200">
                <a:cs typeface="Lato Light"/>
              </a:rPr>
              <a:t> </a:t>
            </a:r>
            <a:r>
              <a:rPr lang="en-US" altLang="zh-CN" sz="1200">
                <a:cs typeface="Lato Light"/>
              </a:rPr>
              <a:t>accept </a:t>
            </a:r>
          </a:p>
        </p:txBody>
      </p:sp>
      <p:cxnSp>
        <p:nvCxnSpPr>
          <p:cNvPr id="4" name="直接箭头连接符 3">
            <a:extLst>
              <a:ext uri="{FF2B5EF4-FFF2-40B4-BE49-F238E27FC236}">
                <a16:creationId xmlns:a16="http://schemas.microsoft.com/office/drawing/2014/main" id="{A3D83B4C-3592-8E98-56D8-22BADEE30363}"/>
              </a:ext>
            </a:extLst>
          </p:cNvPr>
          <p:cNvCxnSpPr>
            <a:cxnSpLocks/>
          </p:cNvCxnSpPr>
          <p:nvPr/>
        </p:nvCxnSpPr>
        <p:spPr bwMode="auto">
          <a:xfrm flipH="1" flipV="1">
            <a:off x="1768288" y="1949824"/>
            <a:ext cx="410136" cy="417531"/>
          </a:xfrm>
          <a:prstGeom prst="straightConnector1">
            <a:avLst/>
          </a:prstGeom>
          <a:solidFill>
            <a:schemeClr val="bg1"/>
          </a:solidFill>
          <a:ln w="9525" cap="flat" cmpd="sng" algn="ctr">
            <a:noFill/>
            <a:prstDash val="solid"/>
            <a:round/>
            <a:headEnd type="none" w="med" len="med"/>
            <a:tailEnd type="triangle"/>
          </a:ln>
          <a:effectLst/>
        </p:spPr>
      </p:cxnSp>
    </p:spTree>
    <p:extLst>
      <p:ext uri="{BB962C8B-B14F-4D97-AF65-F5344CB8AC3E}">
        <p14:creationId xmlns:p14="http://schemas.microsoft.com/office/powerpoint/2010/main" val="4166910429"/>
      </p:ext>
    </p:extLst>
  </p:cSld>
  <p:clrMapOvr>
    <a:masterClrMapping/>
  </p:clrMapOvr>
  <p:transition spd="me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B4FA3-0500-EE1E-917A-7EEFC24CAD8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8FB3582-AB6C-C9E1-6B9A-28179DB26BB8}"/>
              </a:ext>
            </a:extLst>
          </p:cNvPr>
          <p:cNvSpPr>
            <a:spLocks noGrp="1"/>
          </p:cNvSpPr>
          <p:nvPr>
            <p:ph type="title"/>
          </p:nvPr>
        </p:nvSpPr>
        <p:spPr/>
        <p:txBody>
          <a:bodyPr/>
          <a:lstStyle/>
          <a:p>
            <a:r>
              <a:rPr lang="en-US" altLang="zh-CN"/>
              <a:t>Finance Document  – Search Display</a:t>
            </a:r>
            <a:endParaRPr lang="zh-CN" altLang="en-US"/>
          </a:p>
        </p:txBody>
      </p:sp>
      <p:pic>
        <p:nvPicPr>
          <p:cNvPr id="11" name="图片 10">
            <a:extLst>
              <a:ext uri="{FF2B5EF4-FFF2-40B4-BE49-F238E27FC236}">
                <a16:creationId xmlns:a16="http://schemas.microsoft.com/office/drawing/2014/main" id="{9446E449-F265-05F6-2911-EF2A16BDA856}"/>
              </a:ext>
            </a:extLst>
          </p:cNvPr>
          <p:cNvPicPr>
            <a:picLocks noChangeAspect="1"/>
          </p:cNvPicPr>
          <p:nvPr/>
        </p:nvPicPr>
        <p:blipFill>
          <a:blip r:embed="rId2"/>
          <a:stretch>
            <a:fillRect/>
          </a:stretch>
        </p:blipFill>
        <p:spPr>
          <a:xfrm>
            <a:off x="320181" y="1466089"/>
            <a:ext cx="4294695" cy="3429664"/>
          </a:xfrm>
          <a:prstGeom prst="rect">
            <a:avLst/>
          </a:prstGeom>
        </p:spPr>
      </p:pic>
      <p:sp>
        <p:nvSpPr>
          <p:cNvPr id="14" name="Text 2">
            <a:extLst>
              <a:ext uri="{FF2B5EF4-FFF2-40B4-BE49-F238E27FC236}">
                <a16:creationId xmlns:a16="http://schemas.microsoft.com/office/drawing/2014/main" id="{084EF599-0F85-3528-2CDF-92C03D0D43FE}"/>
              </a:ext>
            </a:extLst>
          </p:cNvPr>
          <p:cNvSpPr/>
          <p:nvPr/>
        </p:nvSpPr>
        <p:spPr>
          <a:xfrm>
            <a:off x="320181" y="825886"/>
            <a:ext cx="11639523" cy="640203"/>
          </a:xfrm>
          <a:prstGeom prst="rect">
            <a:avLst/>
          </a:prstGeom>
          <a:noFill/>
          <a:ln/>
        </p:spPr>
        <p:txBody>
          <a:bodyPr wrap="square" lIns="0" tIns="0" rIns="0" bIns="0" rtlCol="0" anchor="ctr">
            <a:normAutofit/>
          </a:bodyPr>
          <a:lstStyle/>
          <a:p>
            <a:r>
              <a:rPr lang="en-US" altLang="zh-CN" sz="1200">
                <a:cs typeface="Lato Light"/>
              </a:rPr>
              <a:t>The Setting button</a:t>
            </a:r>
            <a:r>
              <a:rPr lang="zh-CN" altLang="en-US" sz="1200">
                <a:cs typeface="Lato Light"/>
              </a:rPr>
              <a:t> </a:t>
            </a:r>
            <a:r>
              <a:rPr lang="en-US" altLang="zh-CN" sz="1200">
                <a:cs typeface="Lato Light"/>
              </a:rPr>
              <a:t>can</a:t>
            </a:r>
            <a:r>
              <a:rPr lang="zh-CN" altLang="en-US" sz="1200">
                <a:cs typeface="Lato Light"/>
              </a:rPr>
              <a:t> </a:t>
            </a:r>
            <a:r>
              <a:rPr lang="en-US" altLang="zh-CN" sz="1200">
                <a:cs typeface="Lato Light"/>
              </a:rPr>
              <a:t>adjust and control which</a:t>
            </a:r>
            <a:r>
              <a:rPr lang="zh-CN" altLang="en-US" sz="1200">
                <a:cs typeface="Lato Light"/>
              </a:rPr>
              <a:t> </a:t>
            </a:r>
            <a:r>
              <a:rPr lang="en-US" altLang="zh-CN" sz="1200">
                <a:cs typeface="Lato Light"/>
              </a:rPr>
              <a:t>and</a:t>
            </a:r>
            <a:r>
              <a:rPr lang="zh-CN" altLang="en-US" sz="1200">
                <a:cs typeface="Lato Light"/>
              </a:rPr>
              <a:t> </a:t>
            </a:r>
            <a:r>
              <a:rPr lang="en-US" altLang="zh-CN" sz="1200">
                <a:cs typeface="Lato Light"/>
              </a:rPr>
              <a:t>how many</a:t>
            </a:r>
            <a:r>
              <a:rPr lang="zh-CN" altLang="en-US" sz="1200">
                <a:cs typeface="Lato Light"/>
              </a:rPr>
              <a:t> </a:t>
            </a:r>
            <a:r>
              <a:rPr lang="en-US" altLang="zh-CN" sz="1200">
                <a:cs typeface="Lato Light"/>
              </a:rPr>
              <a:t>fields are displayed tin</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results</a:t>
            </a:r>
            <a:r>
              <a:rPr lang="zh-CN" altLang="en-US" sz="1200">
                <a:cs typeface="Lato Light"/>
              </a:rPr>
              <a:t> </a:t>
            </a:r>
            <a:r>
              <a:rPr lang="en-US" altLang="zh-CN" sz="1200">
                <a:cs typeface="Lato Light"/>
              </a:rPr>
              <a:t>list,</a:t>
            </a:r>
            <a:r>
              <a:rPr lang="zh-CN" altLang="en-US" sz="1200">
                <a:cs typeface="Lato Light"/>
              </a:rPr>
              <a:t> </a:t>
            </a:r>
            <a:r>
              <a:rPr lang="en-US" altLang="zh-CN" sz="1200">
                <a:cs typeface="Lato Light"/>
              </a:rPr>
              <a:t>Users can customize layout preferences</a:t>
            </a:r>
            <a:r>
              <a:rPr lang="zh-CN" altLang="en-US" sz="1200">
                <a:cs typeface="Lato Light"/>
              </a:rPr>
              <a:t> </a:t>
            </a:r>
            <a:r>
              <a:rPr lang="en-US" altLang="zh-CN" sz="1200">
                <a:cs typeface="Lato Light"/>
              </a:rPr>
              <a:t>to create a more comfortable and productive working environment.</a:t>
            </a:r>
            <a:r>
              <a:rPr lang="zh-CN" altLang="en-US" sz="1200">
                <a:cs typeface="Lato Light"/>
              </a:rPr>
              <a:t> </a:t>
            </a:r>
            <a:r>
              <a:rPr lang="en-US" altLang="zh-CN" sz="1200">
                <a:cs typeface="Lato Light"/>
              </a:rPr>
              <a:t>All settings are applied immediately and are saved in the user's browser. Users can also restore the default configuration at any time by selecting Reset to Defaults.</a:t>
            </a:r>
          </a:p>
          <a:p>
            <a:endParaRPr lang="en-US" altLang="zh-CN" sz="1200">
              <a:cs typeface="Lato Light"/>
            </a:endParaRPr>
          </a:p>
        </p:txBody>
      </p:sp>
      <p:sp>
        <p:nvSpPr>
          <p:cNvPr id="20" name="矩形 19">
            <a:extLst>
              <a:ext uri="{FF2B5EF4-FFF2-40B4-BE49-F238E27FC236}">
                <a16:creationId xmlns:a16="http://schemas.microsoft.com/office/drawing/2014/main" id="{CFF8C971-D9CB-1FC5-61D1-B1E3F22172F7}"/>
              </a:ext>
            </a:extLst>
          </p:cNvPr>
          <p:cNvSpPr/>
          <p:nvPr/>
        </p:nvSpPr>
        <p:spPr bwMode="auto">
          <a:xfrm>
            <a:off x="2935460" y="1806364"/>
            <a:ext cx="1551699"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21" name="Text 2">
            <a:extLst>
              <a:ext uri="{FF2B5EF4-FFF2-40B4-BE49-F238E27FC236}">
                <a16:creationId xmlns:a16="http://schemas.microsoft.com/office/drawing/2014/main" id="{E949F764-8A67-AAD4-9237-20C763EC1AD2}"/>
              </a:ext>
            </a:extLst>
          </p:cNvPr>
          <p:cNvSpPr/>
          <p:nvPr/>
        </p:nvSpPr>
        <p:spPr>
          <a:xfrm>
            <a:off x="4763397" y="1466089"/>
            <a:ext cx="3673593" cy="2002993"/>
          </a:xfrm>
          <a:prstGeom prst="rect">
            <a:avLst/>
          </a:prstGeom>
          <a:noFill/>
          <a:ln/>
        </p:spPr>
        <p:txBody>
          <a:bodyPr wrap="square" lIns="0" tIns="0" rIns="0" bIns="0" rtlCol="0" anchor="ctr">
            <a:normAutofit/>
          </a:bodyPr>
          <a:lstStyle/>
          <a:p>
            <a:r>
              <a:rPr lang="en-US" altLang="zh-CN" sz="1200">
                <a:cs typeface="Lato Light"/>
              </a:rPr>
              <a:t>Selected</a:t>
            </a:r>
            <a:r>
              <a:rPr lang="zh-CN" altLang="en-US" sz="1200">
                <a:cs typeface="Lato Light"/>
              </a:rPr>
              <a:t> </a:t>
            </a:r>
            <a:r>
              <a:rPr lang="en-US" altLang="zh-CN" sz="1200">
                <a:cs typeface="Lato Light"/>
              </a:rPr>
              <a:t>tab</a:t>
            </a:r>
            <a:r>
              <a:rPr lang="zh-CN" altLang="en-US" sz="1200">
                <a:cs typeface="Lato Light"/>
              </a:rPr>
              <a:t> </a:t>
            </a:r>
            <a:r>
              <a:rPr lang="en-US" altLang="zh-CN" sz="1200">
                <a:cs typeface="Lato Light"/>
              </a:rPr>
              <a:t>shows</a:t>
            </a:r>
            <a:r>
              <a:rPr lang="zh-CN" altLang="en-US" sz="1200">
                <a:cs typeface="Lato Light"/>
              </a:rPr>
              <a:t> </a:t>
            </a:r>
            <a:r>
              <a:rPr lang="en-US" altLang="zh-CN" sz="1200">
                <a:cs typeface="Lato Light"/>
              </a:rPr>
              <a:t>all</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UI</a:t>
            </a:r>
            <a:r>
              <a:rPr lang="zh-CN" altLang="en-US" sz="1200">
                <a:cs typeface="Lato Light"/>
              </a:rPr>
              <a:t> </a:t>
            </a:r>
            <a:r>
              <a:rPr lang="en-US" altLang="zh-CN" sz="1200">
                <a:cs typeface="Lato Light"/>
              </a:rPr>
              <a:t>fields</a:t>
            </a:r>
            <a:r>
              <a:rPr lang="zh-CN" altLang="en-US" sz="1200">
                <a:cs typeface="Lato Light"/>
              </a:rPr>
              <a:t> </a:t>
            </a:r>
            <a:r>
              <a:rPr lang="en-US" altLang="zh-CN" sz="1200">
                <a:cs typeface="Lato Light"/>
              </a:rPr>
              <a:t>in</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sequence</a:t>
            </a:r>
            <a:r>
              <a:rPr lang="zh-CN" altLang="en-US" sz="1200">
                <a:cs typeface="Lato Light"/>
              </a:rPr>
              <a:t> </a:t>
            </a:r>
            <a:r>
              <a:rPr lang="en-US" altLang="zh-CN" sz="1200">
                <a:cs typeface="Lato Light"/>
              </a:rPr>
              <a:t>of</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results</a:t>
            </a:r>
            <a:r>
              <a:rPr lang="zh-CN" altLang="en-US" sz="1200">
                <a:cs typeface="Lato Light"/>
              </a:rPr>
              <a:t> </a:t>
            </a:r>
            <a:r>
              <a:rPr lang="en-US" altLang="zh-CN" sz="1200">
                <a:cs typeface="Lato Light"/>
              </a:rPr>
              <a:t>list.</a:t>
            </a:r>
            <a:r>
              <a:rPr lang="zh-CN" altLang="en-US" sz="1200">
                <a:cs typeface="Lato Light"/>
              </a:rPr>
              <a:t> </a:t>
            </a:r>
            <a:r>
              <a:rPr lang="en-US" altLang="zh-CN" sz="1200">
                <a:cs typeface="Lato Light"/>
              </a:rPr>
              <a:t>Fields</a:t>
            </a:r>
            <a:r>
              <a:rPr lang="zh-CN" altLang="en-US" sz="1200">
                <a:cs typeface="Lato Light"/>
              </a:rPr>
              <a:t> </a:t>
            </a:r>
            <a:r>
              <a:rPr lang="en-US" altLang="zh-CN" sz="1200">
                <a:cs typeface="Lato Light"/>
              </a:rPr>
              <a:t>in</a:t>
            </a:r>
            <a:r>
              <a:rPr lang="zh-CN" altLang="en-US" sz="1200">
                <a:cs typeface="Lato Light"/>
              </a:rPr>
              <a:t> </a:t>
            </a:r>
            <a:r>
              <a:rPr lang="en-US" altLang="zh-CN" sz="1200">
                <a:cs typeface="Lato Light"/>
              </a:rPr>
              <a:t>Selected</a:t>
            </a:r>
            <a:r>
              <a:rPr lang="zh-CN" altLang="en-US" sz="1200">
                <a:cs typeface="Lato Light"/>
              </a:rPr>
              <a:t> </a:t>
            </a:r>
            <a:r>
              <a:rPr lang="en-US" altLang="zh-CN" sz="1200">
                <a:cs typeface="Lato Light"/>
              </a:rPr>
              <a:t>tab can</a:t>
            </a:r>
            <a:r>
              <a:rPr lang="zh-CN" altLang="en-US" sz="1200">
                <a:cs typeface="Lato Light"/>
              </a:rPr>
              <a:t> </a:t>
            </a:r>
            <a:r>
              <a:rPr lang="en-US" altLang="zh-CN" sz="1200">
                <a:cs typeface="Lato Light"/>
              </a:rPr>
              <a:t>be</a:t>
            </a:r>
            <a:r>
              <a:rPr lang="zh-CN" altLang="en-US" sz="1200">
                <a:cs typeface="Lato Light"/>
              </a:rPr>
              <a:t> </a:t>
            </a:r>
            <a:r>
              <a:rPr lang="en-US" altLang="zh-CN" sz="1200">
                <a:cs typeface="Lato Light"/>
              </a:rPr>
              <a:t>removed</a:t>
            </a:r>
            <a:r>
              <a:rPr lang="zh-CN" altLang="en-US" sz="1200">
                <a:cs typeface="Lato Light"/>
              </a:rPr>
              <a:t> </a:t>
            </a:r>
            <a:r>
              <a:rPr lang="en-US" altLang="zh-CN" sz="1200">
                <a:cs typeface="Lato Light"/>
              </a:rPr>
              <a:t>to</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left</a:t>
            </a:r>
            <a:r>
              <a:rPr lang="zh-CN" altLang="en-US" sz="1200">
                <a:cs typeface="Lato Light"/>
              </a:rPr>
              <a:t> </a:t>
            </a:r>
            <a:r>
              <a:rPr lang="en-US" altLang="zh-CN" sz="1200">
                <a:cs typeface="Lato Light"/>
              </a:rPr>
              <a:t>Available,</a:t>
            </a:r>
            <a:r>
              <a:rPr lang="zh-CN" altLang="en-US" sz="1200">
                <a:cs typeface="Lato Light"/>
              </a:rPr>
              <a:t> </a:t>
            </a:r>
            <a:r>
              <a:rPr lang="en-US" altLang="zh-CN" sz="1200">
                <a:cs typeface="Lato Light"/>
              </a:rPr>
              <a:t>or</a:t>
            </a:r>
            <a:r>
              <a:rPr lang="zh-CN" altLang="en-US" sz="1200">
                <a:cs typeface="Lato Light"/>
              </a:rPr>
              <a:t> </a:t>
            </a:r>
            <a:r>
              <a:rPr lang="en-US" altLang="zh-CN" sz="1200">
                <a:cs typeface="Lato Light"/>
              </a:rPr>
              <a:t>added</a:t>
            </a:r>
            <a:r>
              <a:rPr lang="zh-CN" altLang="en-US" sz="1200">
                <a:cs typeface="Lato Light"/>
              </a:rPr>
              <a:t> </a:t>
            </a:r>
            <a:r>
              <a:rPr lang="en-US" altLang="zh-CN" sz="1200">
                <a:cs typeface="Lato Light"/>
              </a:rPr>
              <a:t>from</a:t>
            </a:r>
            <a:r>
              <a:rPr lang="zh-CN" altLang="en-US" sz="1200">
                <a:cs typeface="Lato Light"/>
              </a:rPr>
              <a:t> </a:t>
            </a:r>
            <a:r>
              <a:rPr lang="en-US" altLang="zh-CN" sz="1200">
                <a:cs typeface="Lato Light"/>
              </a:rPr>
              <a:t>Available.</a:t>
            </a:r>
            <a:r>
              <a:rPr lang="zh-CN" altLang="en-US" sz="1200">
                <a:cs typeface="Lato Light"/>
              </a:rPr>
              <a:t> </a:t>
            </a:r>
            <a:endParaRPr lang="en-US" altLang="zh-CN" sz="1200">
              <a:cs typeface="Lato Light"/>
            </a:endParaRPr>
          </a:p>
          <a:p>
            <a:endParaRPr lang="en-US" altLang="zh-CN" sz="1200">
              <a:cs typeface="Lato Light"/>
            </a:endParaRPr>
          </a:p>
          <a:p>
            <a:r>
              <a:rPr lang="en-US" altLang="zh-CN" sz="1200">
                <a:cs typeface="Lato Light"/>
              </a:rPr>
              <a:t>Sequence</a:t>
            </a:r>
            <a:r>
              <a:rPr lang="zh-CN" altLang="en-US" sz="1200">
                <a:cs typeface="Lato Light"/>
              </a:rPr>
              <a:t> </a:t>
            </a:r>
            <a:r>
              <a:rPr lang="en-US" altLang="zh-CN" sz="1200">
                <a:cs typeface="Lato Light"/>
              </a:rPr>
              <a:t>can</a:t>
            </a:r>
            <a:r>
              <a:rPr lang="zh-CN" altLang="en-US" sz="1200">
                <a:cs typeface="Lato Light"/>
              </a:rPr>
              <a:t> </a:t>
            </a:r>
            <a:r>
              <a:rPr lang="en-US" altLang="zh-CN" sz="1200">
                <a:cs typeface="Lato Light"/>
              </a:rPr>
              <a:t>be</a:t>
            </a:r>
            <a:r>
              <a:rPr lang="zh-CN" altLang="en-US" sz="1200">
                <a:cs typeface="Lato Light"/>
              </a:rPr>
              <a:t> </a:t>
            </a:r>
            <a:r>
              <a:rPr lang="en-US" altLang="zh-CN" sz="1200">
                <a:cs typeface="Lato Light"/>
              </a:rPr>
              <a:t>adjusted</a:t>
            </a:r>
            <a:r>
              <a:rPr lang="zh-CN" altLang="en-US" sz="1200">
                <a:cs typeface="Lato Light"/>
              </a:rPr>
              <a:t> </a:t>
            </a:r>
            <a:r>
              <a:rPr lang="en-US" altLang="zh-CN" sz="1200">
                <a:cs typeface="Lato Light"/>
              </a:rPr>
              <a:t>by</a:t>
            </a:r>
            <a:r>
              <a:rPr lang="zh-CN" altLang="en-US" sz="1200">
                <a:cs typeface="Lato Light"/>
              </a:rPr>
              <a:t> </a:t>
            </a:r>
            <a:r>
              <a:rPr lang="en-US" altLang="zh-CN" sz="1200">
                <a:cs typeface="Lato Light"/>
              </a:rPr>
              <a:t>clicking</a:t>
            </a:r>
            <a:r>
              <a:rPr lang="zh-CN" altLang="en-US" sz="1200">
                <a:cs typeface="Lato Light"/>
              </a:rPr>
              <a:t> </a:t>
            </a:r>
            <a:r>
              <a:rPr lang="en-US" altLang="zh-CN" sz="1200">
                <a:cs typeface="Lato Light"/>
              </a:rPr>
              <a:t>on</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up</a:t>
            </a:r>
            <a:r>
              <a:rPr lang="zh-CN" altLang="en-US" sz="1200">
                <a:cs typeface="Lato Light"/>
              </a:rPr>
              <a:t> </a:t>
            </a:r>
            <a:r>
              <a:rPr lang="en-US" altLang="zh-CN" sz="1200">
                <a:cs typeface="Lato Light"/>
              </a:rPr>
              <a:t>or</a:t>
            </a:r>
            <a:r>
              <a:rPr lang="zh-CN" altLang="en-US" sz="1200">
                <a:cs typeface="Lato Light"/>
              </a:rPr>
              <a:t> </a:t>
            </a:r>
            <a:r>
              <a:rPr lang="en-US" altLang="zh-CN" sz="1200">
                <a:cs typeface="Lato Light"/>
              </a:rPr>
              <a:t>down</a:t>
            </a:r>
            <a:r>
              <a:rPr lang="zh-CN" altLang="en-US" sz="1200">
                <a:cs typeface="Lato Light"/>
              </a:rPr>
              <a:t> </a:t>
            </a:r>
            <a:r>
              <a:rPr lang="en-US" altLang="zh-CN" sz="1200">
                <a:cs typeface="Lato Light"/>
              </a:rPr>
              <a:t>arrow,</a:t>
            </a:r>
            <a:r>
              <a:rPr lang="zh-CN" altLang="en-US" sz="1200">
                <a:cs typeface="Lato Light"/>
              </a:rPr>
              <a:t> </a:t>
            </a:r>
            <a:r>
              <a:rPr lang="en-US" altLang="zh-CN" sz="1200">
                <a:cs typeface="Lato Light"/>
              </a:rPr>
              <a:t>also</a:t>
            </a:r>
            <a:r>
              <a:rPr lang="zh-CN" altLang="en-US" sz="1200">
                <a:cs typeface="Lato Light"/>
              </a:rPr>
              <a:t> </a:t>
            </a:r>
            <a:r>
              <a:rPr lang="en-US" altLang="zh-CN" sz="1200">
                <a:cs typeface="Lato Light"/>
              </a:rPr>
              <a:t>can</a:t>
            </a:r>
            <a:r>
              <a:rPr lang="zh-CN" altLang="en-US" sz="1200">
                <a:cs typeface="Lato Light"/>
              </a:rPr>
              <a:t> </a:t>
            </a:r>
            <a:r>
              <a:rPr lang="en-US" altLang="zh-CN" sz="1200">
                <a:cs typeface="Lato Light"/>
              </a:rPr>
              <a:t>be</a:t>
            </a:r>
            <a:r>
              <a:rPr lang="zh-CN" altLang="en-US" sz="1200">
                <a:cs typeface="Lato Light"/>
              </a:rPr>
              <a:t> </a:t>
            </a:r>
            <a:r>
              <a:rPr lang="en-US" altLang="zh-CN" sz="1200">
                <a:cs typeface="Lato Light"/>
              </a:rPr>
              <a:t>pinned</a:t>
            </a:r>
            <a:r>
              <a:rPr lang="zh-CN" altLang="en-US" sz="1200">
                <a:cs typeface="Lato Light"/>
              </a:rPr>
              <a:t> </a:t>
            </a:r>
            <a:r>
              <a:rPr lang="en-US" altLang="zh-CN" sz="1200">
                <a:cs typeface="Lato Light"/>
              </a:rPr>
              <a:t>by</a:t>
            </a:r>
            <a:r>
              <a:rPr lang="zh-CN" altLang="en-US" sz="1200">
                <a:cs typeface="Lato Light"/>
              </a:rPr>
              <a:t> </a:t>
            </a:r>
            <a:r>
              <a:rPr lang="en-US" altLang="zh-CN" sz="1200">
                <a:cs typeface="Lato Light"/>
              </a:rPr>
              <a:t>clicking</a:t>
            </a:r>
            <a:r>
              <a:rPr lang="zh-CN" altLang="en-US" sz="1200">
                <a:cs typeface="Lato Light"/>
              </a:rPr>
              <a:t> </a:t>
            </a:r>
            <a:r>
              <a:rPr lang="en-US" altLang="zh-CN" sz="1200">
                <a:cs typeface="Lato Light"/>
              </a:rPr>
              <a:t>on</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pin</a:t>
            </a:r>
            <a:r>
              <a:rPr lang="zh-CN" altLang="en-US" sz="1200">
                <a:cs typeface="Lato Light"/>
              </a:rPr>
              <a:t> </a:t>
            </a:r>
            <a:r>
              <a:rPr lang="en-US" altLang="zh-CN" sz="1200">
                <a:cs typeface="Lato Light"/>
              </a:rPr>
              <a:t>button.</a:t>
            </a:r>
          </a:p>
          <a:p>
            <a:endParaRPr lang="en-US" altLang="zh-CN" sz="1200">
              <a:cs typeface="Lato Light"/>
            </a:endParaRPr>
          </a:p>
          <a:p>
            <a:r>
              <a:rPr lang="en-US" altLang="zh-CN" sz="1200">
                <a:cs typeface="Lato Light"/>
              </a:rPr>
              <a:t>the most often used settings</a:t>
            </a:r>
            <a:r>
              <a:rPr lang="zh-CN" altLang="en-US" sz="1200">
                <a:cs typeface="Lato Light"/>
              </a:rPr>
              <a:t> </a:t>
            </a:r>
            <a:r>
              <a:rPr lang="en-US" altLang="zh-CN" sz="1200">
                <a:cs typeface="Lato Light"/>
              </a:rPr>
              <a:t>can</a:t>
            </a:r>
            <a:r>
              <a:rPr lang="zh-CN" altLang="en-US" sz="1200">
                <a:cs typeface="Lato Light"/>
              </a:rPr>
              <a:t> </a:t>
            </a:r>
            <a:r>
              <a:rPr lang="en-US" altLang="zh-CN" sz="1200">
                <a:cs typeface="Lato Light"/>
              </a:rPr>
              <a:t>be</a:t>
            </a:r>
            <a:r>
              <a:rPr lang="zh-CN" altLang="en-US" sz="1200">
                <a:cs typeface="Lato Light"/>
              </a:rPr>
              <a:t> </a:t>
            </a:r>
            <a:r>
              <a:rPr lang="en-US" altLang="zh-CN" sz="1200">
                <a:cs typeface="Lato Light"/>
              </a:rPr>
              <a:t>saved</a:t>
            </a:r>
            <a:r>
              <a:rPr lang="zh-CN" altLang="en-US" sz="1200">
                <a:cs typeface="Lato Light"/>
              </a:rPr>
              <a:t> </a:t>
            </a:r>
            <a:r>
              <a:rPr lang="en-US" altLang="zh-CN" sz="1200">
                <a:cs typeface="Lato Light"/>
              </a:rPr>
              <a:t>as</a:t>
            </a:r>
            <a:r>
              <a:rPr lang="zh-CN" altLang="en-US" sz="1200">
                <a:cs typeface="Lato Light"/>
              </a:rPr>
              <a:t> </a:t>
            </a:r>
            <a:r>
              <a:rPr lang="en-US" altLang="zh-CN" sz="1200">
                <a:cs typeface="Lato Light"/>
              </a:rPr>
              <a:t>Configuration</a:t>
            </a:r>
            <a:r>
              <a:rPr lang="zh-CN" altLang="en-US" sz="1200">
                <a:cs typeface="Lato Light"/>
              </a:rPr>
              <a:t> </a:t>
            </a:r>
            <a:r>
              <a:rPr lang="en-US" altLang="zh-CN" sz="1200">
                <a:cs typeface="Lato Light"/>
              </a:rPr>
              <a:t>for</a:t>
            </a:r>
            <a:r>
              <a:rPr lang="zh-CN" altLang="en-US" sz="1200">
                <a:cs typeface="Lato Light"/>
              </a:rPr>
              <a:t> </a:t>
            </a:r>
            <a:r>
              <a:rPr lang="en-US" altLang="zh-CN" sz="1200">
                <a:cs typeface="Lato Light"/>
              </a:rPr>
              <a:t>specific</a:t>
            </a:r>
            <a:r>
              <a:rPr lang="zh-CN" altLang="en-US" sz="1200">
                <a:cs typeface="Lato Light"/>
              </a:rPr>
              <a:t> </a:t>
            </a:r>
            <a:r>
              <a:rPr lang="en-US" altLang="zh-CN" sz="1200">
                <a:cs typeface="Lato Light"/>
              </a:rPr>
              <a:t>user.</a:t>
            </a:r>
          </a:p>
          <a:p>
            <a:endParaRPr lang="en-US" altLang="zh-CN" sz="1200">
              <a:cs typeface="Lato Light"/>
            </a:endParaRPr>
          </a:p>
        </p:txBody>
      </p:sp>
      <p:pic>
        <p:nvPicPr>
          <p:cNvPr id="22" name="图片 21">
            <a:extLst>
              <a:ext uri="{FF2B5EF4-FFF2-40B4-BE49-F238E27FC236}">
                <a16:creationId xmlns:a16="http://schemas.microsoft.com/office/drawing/2014/main" id="{D4B2AE1D-7904-23D1-134F-20DC270CAD6D}"/>
              </a:ext>
            </a:extLst>
          </p:cNvPr>
          <p:cNvPicPr>
            <a:picLocks noChangeAspect="1"/>
          </p:cNvPicPr>
          <p:nvPr/>
        </p:nvPicPr>
        <p:blipFill>
          <a:blip r:embed="rId3"/>
          <a:stretch>
            <a:fillRect/>
          </a:stretch>
        </p:blipFill>
        <p:spPr>
          <a:xfrm>
            <a:off x="320181" y="4986510"/>
            <a:ext cx="5939217" cy="1589502"/>
          </a:xfrm>
          <a:prstGeom prst="rect">
            <a:avLst/>
          </a:prstGeom>
        </p:spPr>
      </p:pic>
      <p:sp>
        <p:nvSpPr>
          <p:cNvPr id="23" name="矩形 22">
            <a:extLst>
              <a:ext uri="{FF2B5EF4-FFF2-40B4-BE49-F238E27FC236}">
                <a16:creationId xmlns:a16="http://schemas.microsoft.com/office/drawing/2014/main" id="{9E4DF2D7-8BA2-EC3F-0C35-844A20103813}"/>
              </a:ext>
            </a:extLst>
          </p:cNvPr>
          <p:cNvSpPr/>
          <p:nvPr/>
        </p:nvSpPr>
        <p:spPr bwMode="auto">
          <a:xfrm>
            <a:off x="2159610" y="3098236"/>
            <a:ext cx="338493" cy="465096"/>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24" name="矩形 23">
            <a:extLst>
              <a:ext uri="{FF2B5EF4-FFF2-40B4-BE49-F238E27FC236}">
                <a16:creationId xmlns:a16="http://schemas.microsoft.com/office/drawing/2014/main" id="{393427D0-296F-D107-0B98-9BD1B0525341}"/>
              </a:ext>
            </a:extLst>
          </p:cNvPr>
          <p:cNvSpPr/>
          <p:nvPr/>
        </p:nvSpPr>
        <p:spPr bwMode="auto">
          <a:xfrm>
            <a:off x="4280972" y="2865687"/>
            <a:ext cx="206188" cy="923887"/>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25" name="矩形 24">
            <a:extLst>
              <a:ext uri="{FF2B5EF4-FFF2-40B4-BE49-F238E27FC236}">
                <a16:creationId xmlns:a16="http://schemas.microsoft.com/office/drawing/2014/main" id="{EDF8074F-90B2-8A26-B3CA-AC3D631FCDC8}"/>
              </a:ext>
            </a:extLst>
          </p:cNvPr>
          <p:cNvSpPr/>
          <p:nvPr/>
        </p:nvSpPr>
        <p:spPr bwMode="auto">
          <a:xfrm>
            <a:off x="4000523" y="2777331"/>
            <a:ext cx="206188"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26" name="矩形 25">
            <a:extLst>
              <a:ext uri="{FF2B5EF4-FFF2-40B4-BE49-F238E27FC236}">
                <a16:creationId xmlns:a16="http://schemas.microsoft.com/office/drawing/2014/main" id="{D24430A4-E52E-54B2-6073-4459C236D629}"/>
              </a:ext>
            </a:extLst>
          </p:cNvPr>
          <p:cNvSpPr/>
          <p:nvPr/>
        </p:nvSpPr>
        <p:spPr bwMode="auto">
          <a:xfrm>
            <a:off x="737734" y="5854044"/>
            <a:ext cx="713994" cy="25609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28" name="文本框 27">
            <a:extLst>
              <a:ext uri="{FF2B5EF4-FFF2-40B4-BE49-F238E27FC236}">
                <a16:creationId xmlns:a16="http://schemas.microsoft.com/office/drawing/2014/main" id="{5BEF3301-0AA1-1FA2-D848-931596A8A7BC}"/>
              </a:ext>
            </a:extLst>
          </p:cNvPr>
          <p:cNvSpPr txBox="1"/>
          <p:nvPr/>
        </p:nvSpPr>
        <p:spPr>
          <a:xfrm>
            <a:off x="6471501" y="5253411"/>
            <a:ext cx="2917596" cy="461665"/>
          </a:xfrm>
          <a:prstGeom prst="rect">
            <a:avLst/>
          </a:prstGeom>
          <a:noFill/>
        </p:spPr>
        <p:txBody>
          <a:bodyPr wrap="square">
            <a:spAutoFit/>
          </a:bodyPr>
          <a:lstStyle/>
          <a:p>
            <a:r>
              <a:rPr lang="en-US" altLang="zh-CN" sz="1200">
                <a:cs typeface="Lato Light"/>
              </a:rPr>
              <a:t>Click</a:t>
            </a:r>
            <a:r>
              <a:rPr lang="zh-CN" altLang="en-US" sz="1200">
                <a:cs typeface="Lato Light"/>
              </a:rPr>
              <a:t> </a:t>
            </a:r>
            <a:r>
              <a:rPr lang="en-US" altLang="zh-CN" sz="1200">
                <a:cs typeface="Lato Light"/>
              </a:rPr>
              <a:t>on</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FA</a:t>
            </a:r>
            <a:r>
              <a:rPr lang="zh-CN" altLang="en-US" sz="1200">
                <a:cs typeface="Lato Light"/>
              </a:rPr>
              <a:t> </a:t>
            </a:r>
            <a:r>
              <a:rPr lang="en-US" altLang="zh-CN" sz="1200">
                <a:cs typeface="Lato Light"/>
              </a:rPr>
              <a:t>Document</a:t>
            </a:r>
            <a:r>
              <a:rPr lang="zh-CN" altLang="en-US" sz="1200">
                <a:cs typeface="Lato Light"/>
              </a:rPr>
              <a:t> </a:t>
            </a:r>
            <a:r>
              <a:rPr lang="en-US" altLang="zh-CN" sz="1200">
                <a:cs typeface="Lato Light"/>
              </a:rPr>
              <a:t>Number,</a:t>
            </a:r>
            <a:r>
              <a:rPr lang="zh-CN" altLang="en-US" sz="1200">
                <a:cs typeface="Lato Light"/>
              </a:rPr>
              <a:t> </a:t>
            </a:r>
            <a:r>
              <a:rPr lang="en-US" altLang="zh-CN" sz="1200">
                <a:cs typeface="Lato Light"/>
              </a:rPr>
              <a:t>it</a:t>
            </a:r>
            <a:r>
              <a:rPr lang="zh-CN" altLang="en-US" sz="1200">
                <a:cs typeface="Lato Light"/>
              </a:rPr>
              <a:t> </a:t>
            </a:r>
            <a:r>
              <a:rPr lang="en-US" altLang="zh-CN" sz="1200">
                <a:cs typeface="Lato Light"/>
              </a:rPr>
              <a:t>navigates</a:t>
            </a:r>
            <a:r>
              <a:rPr lang="zh-CN" altLang="en-US" sz="1200">
                <a:cs typeface="Lato Light"/>
              </a:rPr>
              <a:t> </a:t>
            </a:r>
            <a:r>
              <a:rPr lang="en-US" altLang="zh-CN" sz="1200">
                <a:cs typeface="Lato Light"/>
              </a:rPr>
              <a:t>to</a:t>
            </a:r>
            <a:r>
              <a:rPr lang="zh-CN" altLang="en-US" sz="1200">
                <a:cs typeface="Lato Light"/>
              </a:rPr>
              <a:t> </a:t>
            </a:r>
            <a:r>
              <a:rPr lang="en-US" altLang="zh-CN" sz="1200">
                <a:cs typeface="Lato Light"/>
              </a:rPr>
              <a:t>the</a:t>
            </a:r>
            <a:r>
              <a:rPr lang="zh-CN" altLang="en-US" sz="1200">
                <a:cs typeface="Lato Light"/>
              </a:rPr>
              <a:t> </a:t>
            </a:r>
            <a:r>
              <a:rPr lang="en-US" altLang="zh-CN" sz="1200">
                <a:cs typeface="Lato Light"/>
              </a:rPr>
              <a:t>document</a:t>
            </a:r>
            <a:r>
              <a:rPr lang="zh-CN" altLang="en-US" sz="1200">
                <a:cs typeface="Lato Light"/>
              </a:rPr>
              <a:t> </a:t>
            </a:r>
            <a:r>
              <a:rPr lang="en-US" altLang="zh-CN" sz="1200">
                <a:cs typeface="Lato Light"/>
              </a:rPr>
              <a:t>directly</a:t>
            </a:r>
          </a:p>
        </p:txBody>
      </p:sp>
    </p:spTree>
    <p:extLst>
      <p:ext uri="{BB962C8B-B14F-4D97-AF65-F5344CB8AC3E}">
        <p14:creationId xmlns:p14="http://schemas.microsoft.com/office/powerpoint/2010/main" val="4221294077"/>
      </p:ext>
    </p:extLst>
  </p:cSld>
  <p:clrMapOvr>
    <a:masterClrMapping/>
  </p:clrMapOvr>
  <p:transition spd="me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8CE4D-9487-E529-BE34-60DBB20F5A3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D1DD138-F190-A589-FC67-164E33E6E830}"/>
              </a:ext>
            </a:extLst>
          </p:cNvPr>
          <p:cNvSpPr>
            <a:spLocks noGrp="1"/>
          </p:cNvSpPr>
          <p:nvPr>
            <p:ph type="title"/>
          </p:nvPr>
        </p:nvSpPr>
        <p:spPr/>
        <p:txBody>
          <a:bodyPr/>
          <a:lstStyle/>
          <a:p>
            <a:r>
              <a:rPr lang="en-US" altLang="zh-CN"/>
              <a:t>Finance Document – Overview  Display</a:t>
            </a:r>
            <a:endParaRPr lang="zh-CN" altLang="en-US"/>
          </a:p>
        </p:txBody>
      </p:sp>
      <p:sp>
        <p:nvSpPr>
          <p:cNvPr id="14" name="Text 2">
            <a:extLst>
              <a:ext uri="{FF2B5EF4-FFF2-40B4-BE49-F238E27FC236}">
                <a16:creationId xmlns:a16="http://schemas.microsoft.com/office/drawing/2014/main" id="{83220500-5EEF-650D-BD08-149C1CEE428F}"/>
              </a:ext>
            </a:extLst>
          </p:cNvPr>
          <p:cNvSpPr/>
          <p:nvPr/>
        </p:nvSpPr>
        <p:spPr>
          <a:xfrm>
            <a:off x="320181" y="717517"/>
            <a:ext cx="11639523" cy="640203"/>
          </a:xfrm>
          <a:prstGeom prst="rect">
            <a:avLst/>
          </a:prstGeom>
          <a:noFill/>
          <a:ln/>
        </p:spPr>
        <p:txBody>
          <a:bodyPr wrap="square" lIns="0" tIns="0" rIns="0" bIns="0" rtlCol="0" anchor="ctr">
            <a:normAutofit/>
          </a:bodyPr>
          <a:lstStyle/>
          <a:p>
            <a:r>
              <a:rPr lang="en-US" altLang="zh-CN" sz="1200" b="1">
                <a:solidFill>
                  <a:schemeClr val="accent6">
                    <a:lumMod val="75000"/>
                    <a:lumOff val="25000"/>
                  </a:schemeClr>
                </a:solidFill>
              </a:rPr>
              <a:t>Overview Tab</a:t>
            </a:r>
          </a:p>
          <a:p>
            <a:r>
              <a:rPr lang="en-US" altLang="zh-CN" sz="1200">
                <a:cs typeface="Lato Light"/>
              </a:rPr>
              <a:t>The overview page shows the header key fields and all line items. The GL (account type S) posting items are listed firstly, then Tax items and AR Customer/ AP Vendor items.</a:t>
            </a:r>
          </a:p>
          <a:p>
            <a:r>
              <a:rPr lang="en-US" altLang="zh-CN" sz="1200">
                <a:cs typeface="Lato Light"/>
              </a:rPr>
              <a:t>Settings button can adjust and control which and how many line item fields are displayed and in which sequence.   </a:t>
            </a:r>
          </a:p>
        </p:txBody>
      </p:sp>
      <p:pic>
        <p:nvPicPr>
          <p:cNvPr id="2" name="图片 1">
            <a:extLst>
              <a:ext uri="{FF2B5EF4-FFF2-40B4-BE49-F238E27FC236}">
                <a16:creationId xmlns:a16="http://schemas.microsoft.com/office/drawing/2014/main" id="{19A3F94C-48DF-AE16-CEA9-A2EA8866C314}"/>
              </a:ext>
            </a:extLst>
          </p:cNvPr>
          <p:cNvPicPr>
            <a:picLocks noChangeAspect="1"/>
          </p:cNvPicPr>
          <p:nvPr/>
        </p:nvPicPr>
        <p:blipFill>
          <a:blip r:embed="rId2"/>
          <a:stretch>
            <a:fillRect/>
          </a:stretch>
        </p:blipFill>
        <p:spPr>
          <a:xfrm>
            <a:off x="320180" y="1314956"/>
            <a:ext cx="10990411" cy="5312155"/>
          </a:xfrm>
          <a:prstGeom prst="rect">
            <a:avLst/>
          </a:prstGeom>
        </p:spPr>
      </p:pic>
      <p:sp>
        <p:nvSpPr>
          <p:cNvPr id="4" name="矩形 3">
            <a:extLst>
              <a:ext uri="{FF2B5EF4-FFF2-40B4-BE49-F238E27FC236}">
                <a16:creationId xmlns:a16="http://schemas.microsoft.com/office/drawing/2014/main" id="{787F737C-B8D2-C436-5C25-55769F9103D4}"/>
              </a:ext>
            </a:extLst>
          </p:cNvPr>
          <p:cNvSpPr/>
          <p:nvPr/>
        </p:nvSpPr>
        <p:spPr bwMode="auto">
          <a:xfrm>
            <a:off x="320179" y="1937272"/>
            <a:ext cx="713994" cy="25609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5" name="矩形 4">
            <a:extLst>
              <a:ext uri="{FF2B5EF4-FFF2-40B4-BE49-F238E27FC236}">
                <a16:creationId xmlns:a16="http://schemas.microsoft.com/office/drawing/2014/main" id="{4399EF8E-7D3A-D3DC-FBA6-F71A43605EC4}"/>
              </a:ext>
            </a:extLst>
          </p:cNvPr>
          <p:cNvSpPr/>
          <p:nvPr/>
        </p:nvSpPr>
        <p:spPr bwMode="auto">
          <a:xfrm>
            <a:off x="10437916" y="3591611"/>
            <a:ext cx="713994" cy="25609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6" name="矩形 5">
            <a:extLst>
              <a:ext uri="{FF2B5EF4-FFF2-40B4-BE49-F238E27FC236}">
                <a16:creationId xmlns:a16="http://schemas.microsoft.com/office/drawing/2014/main" id="{6DAB2191-43C6-BBCB-A9E9-6C7B73FDEEB6}"/>
              </a:ext>
            </a:extLst>
          </p:cNvPr>
          <p:cNvSpPr/>
          <p:nvPr/>
        </p:nvSpPr>
        <p:spPr bwMode="auto">
          <a:xfrm>
            <a:off x="1370902" y="4356754"/>
            <a:ext cx="9271960" cy="80913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indent="0" algn="ctr" eaLnBrk="0" fontAlgn="base" hangingPunct="0">
              <a:lnSpc>
                <a:spcPct val="100000"/>
              </a:lnSpc>
              <a:spcBef>
                <a:spcPct val="0"/>
              </a:spcBef>
              <a:spcAft>
                <a:spcPct val="0"/>
              </a:spcAft>
              <a:buClrTx/>
              <a:buSzTx/>
              <a:buFontTx/>
              <a:buNone/>
              <a:tabLst/>
            </a:pPr>
            <a:r>
              <a:rPr lang="en-US" altLang="zh-CN" sz="2400" b="1">
                <a:solidFill>
                  <a:srgbClr val="FF765F"/>
                </a:solidFill>
                <a:latin typeface="Gill Sans" pitchFamily="34" charset="0"/>
              </a:rPr>
              <a:t>GL Revenue Posting Line Items</a:t>
            </a:r>
            <a:endParaRPr lang="zh-CN" altLang="en-US" sz="2400" b="1">
              <a:solidFill>
                <a:srgbClr val="FF765F"/>
              </a:solidFill>
              <a:latin typeface="Gill Sans" pitchFamily="34" charset="0"/>
            </a:endParaRPr>
          </a:p>
        </p:txBody>
      </p:sp>
      <p:sp>
        <p:nvSpPr>
          <p:cNvPr id="7" name="矩形 6">
            <a:extLst>
              <a:ext uri="{FF2B5EF4-FFF2-40B4-BE49-F238E27FC236}">
                <a16:creationId xmlns:a16="http://schemas.microsoft.com/office/drawing/2014/main" id="{10A3EF5E-89F6-B95B-C13E-71B667E4F7C0}"/>
              </a:ext>
            </a:extLst>
          </p:cNvPr>
          <p:cNvSpPr/>
          <p:nvPr/>
        </p:nvSpPr>
        <p:spPr bwMode="auto">
          <a:xfrm>
            <a:off x="1370901" y="5192374"/>
            <a:ext cx="9271960" cy="80913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altLang="zh-CN" sz="2400" b="1">
                <a:solidFill>
                  <a:srgbClr val="FF765F"/>
                </a:solidFill>
                <a:latin typeface="Gill Sans" pitchFamily="34" charset="0"/>
              </a:rPr>
              <a:t>Tax Posting Line Items</a:t>
            </a:r>
            <a:endParaRPr lang="zh-CN" altLang="en-US" sz="2400" b="1">
              <a:solidFill>
                <a:srgbClr val="FF765F"/>
              </a:solidFill>
              <a:latin typeface="Gill Sans" pitchFamily="34" charset="0"/>
            </a:endParaRPr>
          </a:p>
        </p:txBody>
      </p:sp>
      <p:sp>
        <p:nvSpPr>
          <p:cNvPr id="8" name="矩形 7">
            <a:extLst>
              <a:ext uri="{FF2B5EF4-FFF2-40B4-BE49-F238E27FC236}">
                <a16:creationId xmlns:a16="http://schemas.microsoft.com/office/drawing/2014/main" id="{7D2461A4-5E4C-E211-A9E9-4E11745CB038}"/>
              </a:ext>
            </a:extLst>
          </p:cNvPr>
          <p:cNvSpPr/>
          <p:nvPr/>
        </p:nvSpPr>
        <p:spPr bwMode="auto">
          <a:xfrm>
            <a:off x="1370901" y="6027993"/>
            <a:ext cx="9271960" cy="46258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altLang="zh-CN" sz="2400" b="1">
                <a:solidFill>
                  <a:srgbClr val="FF765F"/>
                </a:solidFill>
                <a:latin typeface="Gill Sans" pitchFamily="34" charset="0"/>
              </a:rPr>
              <a:t>Customer /Vendor Posting Line Items</a:t>
            </a:r>
            <a:endParaRPr lang="zh-CN" altLang="en-US" sz="2400" b="1">
              <a:solidFill>
                <a:srgbClr val="FF765F"/>
              </a:solidFill>
              <a:latin typeface="Gill Sans" pitchFamily="34" charset="0"/>
            </a:endParaRPr>
          </a:p>
        </p:txBody>
      </p:sp>
    </p:spTree>
    <p:extLst>
      <p:ext uri="{BB962C8B-B14F-4D97-AF65-F5344CB8AC3E}">
        <p14:creationId xmlns:p14="http://schemas.microsoft.com/office/powerpoint/2010/main" val="4151411487"/>
      </p:ext>
    </p:extLst>
  </p:cSld>
  <p:clrMapOvr>
    <a:masterClrMapping/>
  </p:clrMapOvr>
  <p:transition spd="me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859E7-7295-3CA5-2D6D-C07EF1E42BC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2D0ACCE-A8DA-C41B-31CC-3D449D6D8A36}"/>
              </a:ext>
            </a:extLst>
          </p:cNvPr>
          <p:cNvSpPr>
            <a:spLocks noGrp="1"/>
          </p:cNvSpPr>
          <p:nvPr>
            <p:ph type="title"/>
          </p:nvPr>
        </p:nvSpPr>
        <p:spPr/>
        <p:txBody>
          <a:bodyPr/>
          <a:lstStyle/>
          <a:p>
            <a:r>
              <a:rPr lang="en-US" altLang="zh-CN"/>
              <a:t>Finance Document – Item Details Display</a:t>
            </a:r>
            <a:endParaRPr lang="zh-CN" altLang="en-US"/>
          </a:p>
        </p:txBody>
      </p:sp>
      <p:sp>
        <p:nvSpPr>
          <p:cNvPr id="14" name="Text 2">
            <a:extLst>
              <a:ext uri="{FF2B5EF4-FFF2-40B4-BE49-F238E27FC236}">
                <a16:creationId xmlns:a16="http://schemas.microsoft.com/office/drawing/2014/main" id="{7405FE60-2843-114E-CD9E-6C45D13A004B}"/>
              </a:ext>
            </a:extLst>
          </p:cNvPr>
          <p:cNvSpPr/>
          <p:nvPr/>
        </p:nvSpPr>
        <p:spPr>
          <a:xfrm>
            <a:off x="231225" y="726678"/>
            <a:ext cx="2243909" cy="1248027"/>
          </a:xfrm>
          <a:prstGeom prst="rect">
            <a:avLst/>
          </a:prstGeom>
          <a:noFill/>
          <a:ln/>
        </p:spPr>
        <p:txBody>
          <a:bodyPr wrap="square" lIns="0" tIns="0" rIns="0" bIns="0" rtlCol="0" anchor="ctr">
            <a:normAutofit/>
          </a:bodyPr>
          <a:lstStyle/>
          <a:p>
            <a:r>
              <a:rPr lang="en-US" altLang="zh-CN" sz="1200">
                <a:cs typeface="Lato Light"/>
              </a:rPr>
              <a:t>Click on the View eye button on each posting line item, it displays all the fields on the right screen.</a:t>
            </a:r>
          </a:p>
          <a:p>
            <a:endParaRPr lang="en-US" altLang="zh-CN" sz="1200">
              <a:cs typeface="Lato Light"/>
            </a:endParaRPr>
          </a:p>
        </p:txBody>
      </p:sp>
      <p:pic>
        <p:nvPicPr>
          <p:cNvPr id="2" name="图片 1">
            <a:extLst>
              <a:ext uri="{FF2B5EF4-FFF2-40B4-BE49-F238E27FC236}">
                <a16:creationId xmlns:a16="http://schemas.microsoft.com/office/drawing/2014/main" id="{07AE3C1D-BAF7-AEDA-C810-8834CA9A4A9B}"/>
              </a:ext>
            </a:extLst>
          </p:cNvPr>
          <p:cNvPicPr>
            <a:picLocks noChangeAspect="1"/>
          </p:cNvPicPr>
          <p:nvPr/>
        </p:nvPicPr>
        <p:blipFill>
          <a:blip r:embed="rId2"/>
          <a:stretch>
            <a:fillRect/>
          </a:stretch>
        </p:blipFill>
        <p:spPr>
          <a:xfrm>
            <a:off x="2612420" y="755395"/>
            <a:ext cx="9579580" cy="6039603"/>
          </a:xfrm>
          <a:prstGeom prst="rect">
            <a:avLst/>
          </a:prstGeom>
        </p:spPr>
      </p:pic>
      <p:pic>
        <p:nvPicPr>
          <p:cNvPr id="4" name="图片 3">
            <a:extLst>
              <a:ext uri="{FF2B5EF4-FFF2-40B4-BE49-F238E27FC236}">
                <a16:creationId xmlns:a16="http://schemas.microsoft.com/office/drawing/2014/main" id="{1B49B004-57CE-EA50-1A93-7ECB45047080}"/>
              </a:ext>
            </a:extLst>
          </p:cNvPr>
          <p:cNvPicPr>
            <a:picLocks noChangeAspect="1"/>
          </p:cNvPicPr>
          <p:nvPr/>
        </p:nvPicPr>
        <p:blipFill>
          <a:blip r:embed="rId3"/>
          <a:stretch>
            <a:fillRect/>
          </a:stretch>
        </p:blipFill>
        <p:spPr>
          <a:xfrm>
            <a:off x="93939" y="1611361"/>
            <a:ext cx="1918061" cy="1817639"/>
          </a:xfrm>
          <a:prstGeom prst="rect">
            <a:avLst/>
          </a:prstGeom>
        </p:spPr>
      </p:pic>
      <p:sp>
        <p:nvSpPr>
          <p:cNvPr id="5" name="矩形 4">
            <a:extLst>
              <a:ext uri="{FF2B5EF4-FFF2-40B4-BE49-F238E27FC236}">
                <a16:creationId xmlns:a16="http://schemas.microsoft.com/office/drawing/2014/main" id="{51726AB9-A8AA-F935-2B2F-57F57ABDC8AD}"/>
              </a:ext>
            </a:extLst>
          </p:cNvPr>
          <p:cNvSpPr/>
          <p:nvPr/>
        </p:nvSpPr>
        <p:spPr bwMode="auto">
          <a:xfrm>
            <a:off x="1126937" y="2520180"/>
            <a:ext cx="713994" cy="25609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Tree>
    <p:extLst>
      <p:ext uri="{BB962C8B-B14F-4D97-AF65-F5344CB8AC3E}">
        <p14:creationId xmlns:p14="http://schemas.microsoft.com/office/powerpoint/2010/main" val="114631901"/>
      </p:ext>
    </p:extLst>
  </p:cSld>
  <p:clrMapOvr>
    <a:masterClrMapping/>
  </p:clrMapOvr>
  <p:transition spd="me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3AB65-DD1E-2936-B50C-5556B3AB915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03491E9-BBC7-C78D-295A-646B629EA1E2}"/>
              </a:ext>
            </a:extLst>
          </p:cNvPr>
          <p:cNvSpPr>
            <a:spLocks noGrp="1"/>
          </p:cNvSpPr>
          <p:nvPr>
            <p:ph type="title"/>
          </p:nvPr>
        </p:nvSpPr>
        <p:spPr/>
        <p:txBody>
          <a:bodyPr/>
          <a:lstStyle/>
          <a:p>
            <a:r>
              <a:rPr lang="en-US" altLang="zh-CN"/>
              <a:t>Finance Document – Header  Display</a:t>
            </a:r>
            <a:endParaRPr lang="zh-CN" altLang="en-US"/>
          </a:p>
        </p:txBody>
      </p:sp>
      <p:sp>
        <p:nvSpPr>
          <p:cNvPr id="14" name="Text 2">
            <a:extLst>
              <a:ext uri="{FF2B5EF4-FFF2-40B4-BE49-F238E27FC236}">
                <a16:creationId xmlns:a16="http://schemas.microsoft.com/office/drawing/2014/main" id="{60B86A67-DBAF-01A6-C95A-A825662FB542}"/>
              </a:ext>
            </a:extLst>
          </p:cNvPr>
          <p:cNvSpPr/>
          <p:nvPr/>
        </p:nvSpPr>
        <p:spPr>
          <a:xfrm>
            <a:off x="233859" y="896358"/>
            <a:ext cx="3181278" cy="4137553"/>
          </a:xfrm>
          <a:prstGeom prst="rect">
            <a:avLst/>
          </a:prstGeom>
          <a:noFill/>
          <a:ln/>
        </p:spPr>
        <p:txBody>
          <a:bodyPr wrap="square" lIns="0" tIns="0" rIns="0" bIns="0" rtlCol="0" anchor="ctr">
            <a:normAutofit/>
          </a:bodyPr>
          <a:lstStyle/>
          <a:p>
            <a:r>
              <a:rPr lang="en-US" altLang="zh-CN" sz="1200" b="1">
                <a:solidFill>
                  <a:schemeClr val="accent6">
                    <a:lumMod val="75000"/>
                    <a:lumOff val="25000"/>
                  </a:schemeClr>
                </a:solidFill>
              </a:rPr>
              <a:t>Header Tab</a:t>
            </a:r>
          </a:p>
          <a:p>
            <a:r>
              <a:rPr lang="en-US" altLang="zh-CN" sz="1200">
                <a:cs typeface="Lato Light"/>
              </a:rPr>
              <a:t>Header Tab displays all the detailed information in the FA Posting document header. Fields are organized in several sections.</a:t>
            </a:r>
          </a:p>
          <a:p>
            <a:endParaRPr lang="en-US" altLang="zh-CN" sz="1200">
              <a:cs typeface="Lato Light"/>
            </a:endParaRPr>
          </a:p>
          <a:p>
            <a:r>
              <a:rPr lang="en-US" altLang="zh-CN" sz="1200">
                <a:cs typeface="Lato Light"/>
              </a:rPr>
              <a:t>In Posting Information tab, </a:t>
            </a:r>
          </a:p>
          <a:p>
            <a:r>
              <a:rPr lang="en-US" altLang="zh-CN" sz="1200">
                <a:cs typeface="Lato Light"/>
              </a:rPr>
              <a:t>FI status : shows FI Posting document creation in downstream SAP system</a:t>
            </a:r>
          </a:p>
          <a:p>
            <a:r>
              <a:rPr lang="en-US" altLang="zh-CN" sz="1200">
                <a:cs typeface="Lato Light"/>
              </a:rPr>
              <a:t>FI Document Number: SAP FI Posting Document Number</a:t>
            </a:r>
          </a:p>
          <a:p>
            <a:endParaRPr lang="en-US" altLang="zh-CN" sz="1200">
              <a:cs typeface="Lato Light"/>
            </a:endParaRPr>
          </a:p>
          <a:p>
            <a:r>
              <a:rPr lang="en-US" altLang="zh-CN" sz="1200">
                <a:cs typeface="Lato Light"/>
              </a:rPr>
              <a:t>ARS Status: evaluation status of Z4 phase 1 job, Y means relevant for ARS trigger creation,</a:t>
            </a:r>
          </a:p>
          <a:p>
            <a:r>
              <a:rPr lang="en-US" altLang="zh-CN" sz="1200">
                <a:cs typeface="Lato Light"/>
              </a:rPr>
              <a:t>N means not relevant for ARS, </a:t>
            </a:r>
          </a:p>
          <a:p>
            <a:r>
              <a:rPr lang="en-US" altLang="zh-CN" sz="1200">
                <a:cs typeface="Lato Light"/>
              </a:rPr>
              <a:t>Empty means not evaluated by Z4 yet.</a:t>
            </a:r>
          </a:p>
          <a:p>
            <a:endParaRPr lang="en-US" altLang="zh-CN" sz="1200">
              <a:cs typeface="Lato Light"/>
            </a:endParaRPr>
          </a:p>
          <a:p>
            <a:r>
              <a:rPr lang="en-US" altLang="zh-CN" sz="1200">
                <a:cs typeface="Lato Light"/>
              </a:rPr>
              <a:t>Defer Status: evaluation status of Z3 phase 1 job, Y means relevant for defer trigger creation,</a:t>
            </a:r>
          </a:p>
          <a:p>
            <a:r>
              <a:rPr lang="en-US" altLang="zh-CN" sz="1200">
                <a:cs typeface="Lato Light"/>
              </a:rPr>
              <a:t>N means not relevant for defer revenue, </a:t>
            </a:r>
          </a:p>
          <a:p>
            <a:r>
              <a:rPr lang="en-US" altLang="zh-CN" sz="1200">
                <a:cs typeface="Lato Light"/>
              </a:rPr>
              <a:t>Empty means not evaluated by Z3 yet.</a:t>
            </a:r>
          </a:p>
          <a:p>
            <a:endParaRPr lang="en-US" altLang="zh-CN" sz="1200">
              <a:cs typeface="Lato Light"/>
            </a:endParaRPr>
          </a:p>
          <a:p>
            <a:endParaRPr lang="en-US" altLang="zh-CN" sz="1200">
              <a:cs typeface="Lato Light"/>
            </a:endParaRPr>
          </a:p>
        </p:txBody>
      </p:sp>
      <p:pic>
        <p:nvPicPr>
          <p:cNvPr id="2" name="图片 1">
            <a:extLst>
              <a:ext uri="{FF2B5EF4-FFF2-40B4-BE49-F238E27FC236}">
                <a16:creationId xmlns:a16="http://schemas.microsoft.com/office/drawing/2014/main" id="{EBD9505E-41F9-4CB4-A47F-91FCBF8E4021}"/>
              </a:ext>
            </a:extLst>
          </p:cNvPr>
          <p:cNvPicPr>
            <a:picLocks noChangeAspect="1"/>
          </p:cNvPicPr>
          <p:nvPr/>
        </p:nvPicPr>
        <p:blipFill>
          <a:blip r:embed="rId2"/>
          <a:stretch>
            <a:fillRect/>
          </a:stretch>
        </p:blipFill>
        <p:spPr>
          <a:xfrm>
            <a:off x="3572417" y="779930"/>
            <a:ext cx="8619583" cy="6098241"/>
          </a:xfrm>
          <a:prstGeom prst="rect">
            <a:avLst/>
          </a:prstGeom>
        </p:spPr>
      </p:pic>
      <p:sp>
        <p:nvSpPr>
          <p:cNvPr id="4" name="矩形 3">
            <a:extLst>
              <a:ext uri="{FF2B5EF4-FFF2-40B4-BE49-F238E27FC236}">
                <a16:creationId xmlns:a16="http://schemas.microsoft.com/office/drawing/2014/main" id="{33C64446-9546-C0E8-DCEF-BA8AF61439CA}"/>
              </a:ext>
            </a:extLst>
          </p:cNvPr>
          <p:cNvSpPr/>
          <p:nvPr/>
        </p:nvSpPr>
        <p:spPr bwMode="auto">
          <a:xfrm>
            <a:off x="3709882" y="5033912"/>
            <a:ext cx="928106" cy="169683"/>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5" name="矩形 4">
            <a:extLst>
              <a:ext uri="{FF2B5EF4-FFF2-40B4-BE49-F238E27FC236}">
                <a16:creationId xmlns:a16="http://schemas.microsoft.com/office/drawing/2014/main" id="{15BD4652-599F-E81D-7604-3D25A769CD0B}"/>
              </a:ext>
            </a:extLst>
          </p:cNvPr>
          <p:cNvSpPr/>
          <p:nvPr/>
        </p:nvSpPr>
        <p:spPr bwMode="auto">
          <a:xfrm>
            <a:off x="3709882" y="5241301"/>
            <a:ext cx="928106" cy="169683"/>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6" name="矩形 5">
            <a:extLst>
              <a:ext uri="{FF2B5EF4-FFF2-40B4-BE49-F238E27FC236}">
                <a16:creationId xmlns:a16="http://schemas.microsoft.com/office/drawing/2014/main" id="{B5FB7564-2CA3-F57F-37AF-4972BCD3A81B}"/>
              </a:ext>
            </a:extLst>
          </p:cNvPr>
          <p:cNvSpPr/>
          <p:nvPr/>
        </p:nvSpPr>
        <p:spPr bwMode="auto">
          <a:xfrm>
            <a:off x="5785350" y="5241301"/>
            <a:ext cx="928106" cy="169683"/>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7" name="矩形 6">
            <a:extLst>
              <a:ext uri="{FF2B5EF4-FFF2-40B4-BE49-F238E27FC236}">
                <a16:creationId xmlns:a16="http://schemas.microsoft.com/office/drawing/2014/main" id="{5E5EBDD7-EF45-1F25-D6FF-A5C46997273D}"/>
              </a:ext>
            </a:extLst>
          </p:cNvPr>
          <p:cNvSpPr/>
          <p:nvPr/>
        </p:nvSpPr>
        <p:spPr bwMode="auto">
          <a:xfrm>
            <a:off x="5785350" y="5033911"/>
            <a:ext cx="928106" cy="169683"/>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Tree>
    <p:extLst>
      <p:ext uri="{BB962C8B-B14F-4D97-AF65-F5344CB8AC3E}">
        <p14:creationId xmlns:p14="http://schemas.microsoft.com/office/powerpoint/2010/main" val="3605351503"/>
      </p:ext>
    </p:extLst>
  </p:cSld>
  <p:clrMapOvr>
    <a:masterClrMapping/>
  </p:clrMapOvr>
  <p:transition spd="me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12DD-82A3-BF46-0550-6FEE3C3E8D1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748D714-C081-FD76-DC84-91E23D562CC2}"/>
              </a:ext>
            </a:extLst>
          </p:cNvPr>
          <p:cNvSpPr>
            <a:spLocks noGrp="1"/>
          </p:cNvSpPr>
          <p:nvPr>
            <p:ph type="title"/>
          </p:nvPr>
        </p:nvSpPr>
        <p:spPr/>
        <p:txBody>
          <a:bodyPr/>
          <a:lstStyle/>
          <a:p>
            <a:r>
              <a:rPr lang="en-US" altLang="zh-CN"/>
              <a:t>Finance Document – ARS  &amp; Defer Trigger Display</a:t>
            </a:r>
            <a:endParaRPr lang="zh-CN" altLang="en-US"/>
          </a:p>
        </p:txBody>
      </p:sp>
      <p:sp>
        <p:nvSpPr>
          <p:cNvPr id="14" name="Text 2">
            <a:extLst>
              <a:ext uri="{FF2B5EF4-FFF2-40B4-BE49-F238E27FC236}">
                <a16:creationId xmlns:a16="http://schemas.microsoft.com/office/drawing/2014/main" id="{FC21A95F-056C-EF88-1203-2CBB665739C7}"/>
              </a:ext>
            </a:extLst>
          </p:cNvPr>
          <p:cNvSpPr/>
          <p:nvPr/>
        </p:nvSpPr>
        <p:spPr>
          <a:xfrm>
            <a:off x="9558779" y="956406"/>
            <a:ext cx="2400926" cy="2587435"/>
          </a:xfrm>
          <a:prstGeom prst="rect">
            <a:avLst/>
          </a:prstGeom>
          <a:noFill/>
          <a:ln/>
        </p:spPr>
        <p:txBody>
          <a:bodyPr wrap="square" lIns="0" tIns="0" rIns="0" bIns="0" rtlCol="0" anchor="ctr">
            <a:normAutofit/>
          </a:bodyPr>
          <a:lstStyle/>
          <a:p>
            <a:r>
              <a:rPr lang="en-US" altLang="zh-CN" sz="1300" b="1">
                <a:solidFill>
                  <a:schemeClr val="accent6">
                    <a:lumMod val="75000"/>
                    <a:lumOff val="25000"/>
                  </a:schemeClr>
                </a:solidFill>
                <a:latin typeface="+mj-lt"/>
              </a:rPr>
              <a:t>ARS Triggers Tab</a:t>
            </a:r>
          </a:p>
          <a:p>
            <a:r>
              <a:rPr lang="en-US" altLang="zh-CN" sz="1200">
                <a:cs typeface="Lato Light"/>
              </a:rPr>
              <a:t>If a ARS item is included in the posting item and relevant for ARS revenue recognition, ARS Status =Y in the header (Z4 phase 1 job evaluated it as  relevant), this tab shows which item and amount is stored for future ARS Transfer when revenue recognition criteria is met (i.e. EOT/ETB/ETR/FDWN change events occur)</a:t>
            </a:r>
          </a:p>
        </p:txBody>
      </p:sp>
      <p:pic>
        <p:nvPicPr>
          <p:cNvPr id="8" name="图片 7">
            <a:extLst>
              <a:ext uri="{FF2B5EF4-FFF2-40B4-BE49-F238E27FC236}">
                <a16:creationId xmlns:a16="http://schemas.microsoft.com/office/drawing/2014/main" id="{CBB205DA-53D3-ECF6-F608-4D090AA8D3F3}"/>
              </a:ext>
            </a:extLst>
          </p:cNvPr>
          <p:cNvPicPr>
            <a:picLocks noChangeAspect="1"/>
          </p:cNvPicPr>
          <p:nvPr/>
        </p:nvPicPr>
        <p:blipFill>
          <a:blip r:embed="rId2"/>
          <a:stretch>
            <a:fillRect/>
          </a:stretch>
        </p:blipFill>
        <p:spPr>
          <a:xfrm>
            <a:off x="0" y="874038"/>
            <a:ext cx="9285985" cy="2099717"/>
          </a:xfrm>
          <a:prstGeom prst="rect">
            <a:avLst/>
          </a:prstGeom>
        </p:spPr>
      </p:pic>
      <p:pic>
        <p:nvPicPr>
          <p:cNvPr id="11" name="图片 10">
            <a:extLst>
              <a:ext uri="{FF2B5EF4-FFF2-40B4-BE49-F238E27FC236}">
                <a16:creationId xmlns:a16="http://schemas.microsoft.com/office/drawing/2014/main" id="{B035FDFA-9338-95DB-18E6-0F56E6873CA0}"/>
              </a:ext>
            </a:extLst>
          </p:cNvPr>
          <p:cNvPicPr>
            <a:picLocks noChangeAspect="1"/>
          </p:cNvPicPr>
          <p:nvPr/>
        </p:nvPicPr>
        <p:blipFill>
          <a:blip r:embed="rId3"/>
          <a:stretch>
            <a:fillRect/>
          </a:stretch>
        </p:blipFill>
        <p:spPr>
          <a:xfrm>
            <a:off x="0" y="3558922"/>
            <a:ext cx="9285985" cy="2557273"/>
          </a:xfrm>
          <a:prstGeom prst="rect">
            <a:avLst/>
          </a:prstGeom>
        </p:spPr>
      </p:pic>
      <p:sp>
        <p:nvSpPr>
          <p:cNvPr id="12" name="Text 2">
            <a:extLst>
              <a:ext uri="{FF2B5EF4-FFF2-40B4-BE49-F238E27FC236}">
                <a16:creationId xmlns:a16="http://schemas.microsoft.com/office/drawing/2014/main" id="{0EA3278F-7B81-B1D4-7D60-EE2F23309CAB}"/>
              </a:ext>
            </a:extLst>
          </p:cNvPr>
          <p:cNvSpPr/>
          <p:nvPr/>
        </p:nvSpPr>
        <p:spPr>
          <a:xfrm>
            <a:off x="9558779" y="3625763"/>
            <a:ext cx="2400926" cy="2587435"/>
          </a:xfrm>
          <a:prstGeom prst="rect">
            <a:avLst/>
          </a:prstGeom>
          <a:noFill/>
          <a:ln/>
        </p:spPr>
        <p:txBody>
          <a:bodyPr wrap="square" lIns="0" tIns="0" rIns="0" bIns="0" rtlCol="0" anchor="ctr">
            <a:normAutofit/>
          </a:bodyPr>
          <a:lstStyle/>
          <a:p>
            <a:r>
              <a:rPr lang="en-US" altLang="zh-CN" sz="1300" b="1">
                <a:solidFill>
                  <a:srgbClr val="126C36"/>
                </a:solidFill>
              </a:rPr>
              <a:t>Defer Triggers Tab</a:t>
            </a:r>
          </a:p>
          <a:p>
            <a:r>
              <a:rPr lang="en-US" altLang="zh-CN" sz="1200">
                <a:cs typeface="Lato Light"/>
              </a:rPr>
              <a:t>If defer revenue item is included in the posting item and relevant for defer revenue recognition, Defer Status =Y in the header (Z3 phase 1 job evaluated it as  relevant, this tab shows which item and amount is stored for defer Transfer when revenue recognition criteria is met (i.e. immediate full amount transfer and monthly periodic transfer)</a:t>
            </a:r>
          </a:p>
        </p:txBody>
      </p:sp>
      <p:sp>
        <p:nvSpPr>
          <p:cNvPr id="13" name="Oval 111">
            <a:extLst>
              <a:ext uri="{FF2B5EF4-FFF2-40B4-BE49-F238E27FC236}">
                <a16:creationId xmlns:a16="http://schemas.microsoft.com/office/drawing/2014/main" id="{C46F2098-E8F2-09C3-04EE-83331F224D3B}"/>
              </a:ext>
            </a:extLst>
          </p:cNvPr>
          <p:cNvSpPr/>
          <p:nvPr/>
        </p:nvSpPr>
        <p:spPr>
          <a:xfrm>
            <a:off x="9308082" y="123368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5" name="Oval 112">
            <a:extLst>
              <a:ext uri="{FF2B5EF4-FFF2-40B4-BE49-F238E27FC236}">
                <a16:creationId xmlns:a16="http://schemas.microsoft.com/office/drawing/2014/main" id="{BDC4E4EF-AD91-0873-68E4-901D7008F668}"/>
              </a:ext>
            </a:extLst>
          </p:cNvPr>
          <p:cNvSpPr/>
          <p:nvPr/>
        </p:nvSpPr>
        <p:spPr>
          <a:xfrm>
            <a:off x="9292384" y="387758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31089821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685D4-F5AB-54E2-EF67-D3FC1B4AE8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EA3D61-2708-083B-B76A-CD277F67B74D}"/>
              </a:ext>
            </a:extLst>
          </p:cNvPr>
          <p:cNvSpPr>
            <a:spLocks noGrp="1"/>
          </p:cNvSpPr>
          <p:nvPr>
            <p:ph type="title"/>
          </p:nvPr>
        </p:nvSpPr>
        <p:spPr>
          <a:xfrm>
            <a:off x="267690" y="1412760"/>
            <a:ext cx="7209879" cy="965108"/>
          </a:xfrm>
        </p:spPr>
        <p:txBody>
          <a:bodyPr/>
          <a:lstStyle/>
          <a:p>
            <a:r>
              <a:rPr lang="en-US" altLang="zh-CN" sz="4800"/>
              <a:t>8. Device List </a:t>
            </a:r>
            <a:endParaRPr lang="zh-CN" altLang="en-US" sz="4800"/>
          </a:p>
        </p:txBody>
      </p:sp>
      <p:sp>
        <p:nvSpPr>
          <p:cNvPr id="4" name="文本占位符 3">
            <a:extLst>
              <a:ext uri="{FF2B5EF4-FFF2-40B4-BE49-F238E27FC236}">
                <a16:creationId xmlns:a16="http://schemas.microsoft.com/office/drawing/2014/main" id="{A5B9FD2A-4F84-A0FA-5576-92D3DD0349E3}"/>
              </a:ext>
            </a:extLst>
          </p:cNvPr>
          <p:cNvSpPr>
            <a:spLocks noGrp="1"/>
          </p:cNvSpPr>
          <p:nvPr>
            <p:ph type="body" idx="11"/>
          </p:nvPr>
        </p:nvSpPr>
        <p:spPr/>
        <p:txBody>
          <a:bodyPr/>
          <a:lstStyle/>
          <a:p>
            <a:r>
              <a:rPr lang="en-US" altLang="zh-CN"/>
              <a:t>Duration:		5 Minutes</a:t>
            </a:r>
            <a:endParaRPr lang="zh-CN" altLang="en-US"/>
          </a:p>
        </p:txBody>
      </p:sp>
      <p:sp>
        <p:nvSpPr>
          <p:cNvPr id="5" name="文本占位符 4">
            <a:extLst>
              <a:ext uri="{FF2B5EF4-FFF2-40B4-BE49-F238E27FC236}">
                <a16:creationId xmlns:a16="http://schemas.microsoft.com/office/drawing/2014/main" id="{BA63DEE1-F535-F73D-39A9-7FFBF1D819EF}"/>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fr-FR" altLang="zh-CN">
                <a:solidFill>
                  <a:schemeClr val="bg1"/>
                </a:solidFill>
              </a:rPr>
              <a:t>Device List			- Joy Jiang</a:t>
            </a:r>
          </a:p>
        </p:txBody>
      </p:sp>
    </p:spTree>
    <p:extLst>
      <p:ext uri="{BB962C8B-B14F-4D97-AF65-F5344CB8AC3E}">
        <p14:creationId xmlns:p14="http://schemas.microsoft.com/office/powerpoint/2010/main" val="1220693520"/>
      </p:ext>
    </p:extLst>
  </p:cSld>
  <p:clrMapOvr>
    <a:masterClrMapping/>
  </p:clrMapOvr>
  <p:transition spd="me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70D45-641C-AB81-9DD7-93A80BC1685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73F36FB-7988-EDF6-12E8-FA4313B1640E}"/>
              </a:ext>
            </a:extLst>
          </p:cNvPr>
          <p:cNvSpPr>
            <a:spLocks noGrp="1"/>
          </p:cNvSpPr>
          <p:nvPr>
            <p:ph type="title"/>
          </p:nvPr>
        </p:nvSpPr>
        <p:spPr/>
        <p:txBody>
          <a:bodyPr/>
          <a:lstStyle/>
          <a:p>
            <a:r>
              <a:rPr lang="en-US" altLang="zh-CN"/>
              <a:t>Device List - </a:t>
            </a:r>
            <a:r>
              <a:rPr lang="en-US" altLang="zh-CN">
                <a:solidFill>
                  <a:srgbClr val="111111"/>
                </a:solidFill>
                <a:latin typeface="Arial" pitchFamily="34" charset="0"/>
                <a:ea typeface="Arial" pitchFamily="34" charset="-122"/>
                <a:cs typeface="Arial" pitchFamily="34" charset="-120"/>
              </a:rPr>
              <a:t>When Should I Use It?</a:t>
            </a:r>
            <a:endParaRPr lang="zh-CN" altLang="en-US"/>
          </a:p>
        </p:txBody>
      </p:sp>
      <p:sp>
        <p:nvSpPr>
          <p:cNvPr id="17" name="Text 2">
            <a:extLst>
              <a:ext uri="{FF2B5EF4-FFF2-40B4-BE49-F238E27FC236}">
                <a16:creationId xmlns:a16="http://schemas.microsoft.com/office/drawing/2014/main" id="{21793316-715B-0692-818A-94EFA1433F03}"/>
              </a:ext>
            </a:extLst>
          </p:cNvPr>
          <p:cNvSpPr/>
          <p:nvPr/>
        </p:nvSpPr>
        <p:spPr>
          <a:xfrm>
            <a:off x="320182" y="826743"/>
            <a:ext cx="8138160" cy="254710"/>
          </a:xfrm>
          <a:prstGeom prst="rect">
            <a:avLst/>
          </a:prstGeom>
          <a:noFill/>
          <a:ln/>
        </p:spPr>
        <p:txBody>
          <a:bodyPr wrap="square" lIns="0" tIns="0" rIns="0" bIns="0" rtlCol="0" anchor="ctr">
            <a:normAutofit fontScale="70000" lnSpcReduction="20000"/>
          </a:bodyPr>
          <a:lstStyle/>
          <a:p>
            <a:pPr fontAlgn="t">
              <a:lnSpc>
                <a:spcPct val="100000"/>
              </a:lnSpc>
              <a:buNone/>
            </a:pPr>
            <a:r>
              <a:rPr lang="zh-CN" altLang="zh-CN"/>
              <a:t>The Device List displays device information received from SNOW via the Subscription Order Inbound process</a:t>
            </a:r>
            <a:r>
              <a:rPr lang="en-US" altLang="zh-CN"/>
              <a:t>.</a:t>
            </a:r>
            <a:endParaRPr lang="zh-CN" altLang="zh-CN"/>
          </a:p>
        </p:txBody>
      </p:sp>
      <p:sp>
        <p:nvSpPr>
          <p:cNvPr id="20" name="Shape 3">
            <a:extLst>
              <a:ext uri="{FF2B5EF4-FFF2-40B4-BE49-F238E27FC236}">
                <a16:creationId xmlns:a16="http://schemas.microsoft.com/office/drawing/2014/main" id="{ED18FF51-DDFA-E934-6C46-A2EAB2575E0B}"/>
              </a:ext>
            </a:extLst>
          </p:cNvPr>
          <p:cNvSpPr/>
          <p:nvPr/>
        </p:nvSpPr>
        <p:spPr>
          <a:xfrm>
            <a:off x="375046" y="1146783"/>
            <a:ext cx="11402568" cy="658368"/>
          </a:xfrm>
          <a:prstGeom prst="roundRect">
            <a:avLst>
              <a:gd name="adj" fmla="val 16667"/>
            </a:avLst>
          </a:prstGeom>
          <a:solidFill>
            <a:srgbClr val="F7F9FC"/>
          </a:solidFill>
          <a:ln w="12700">
            <a:solidFill>
              <a:srgbClr val="C8D0DD"/>
            </a:solidFill>
            <a:prstDash val="solid"/>
          </a:ln>
          <a:effectLst>
            <a:outerShdw blurRad="12700" dist="6350" dir="2700000" algn="bl" rotWithShape="0">
              <a:srgbClr val="000000">
                <a:alpha val="10000"/>
              </a:srgbClr>
            </a:outerShdw>
          </a:effectLst>
        </p:spPr>
        <p:txBody>
          <a:bodyPr/>
          <a:lstStyle/>
          <a:p>
            <a:endParaRPr lang="zh-CN" altLang="en-US"/>
          </a:p>
        </p:txBody>
      </p:sp>
      <p:sp>
        <p:nvSpPr>
          <p:cNvPr id="22" name="Text 4">
            <a:extLst>
              <a:ext uri="{FF2B5EF4-FFF2-40B4-BE49-F238E27FC236}">
                <a16:creationId xmlns:a16="http://schemas.microsoft.com/office/drawing/2014/main" id="{BED7C270-9F96-D6AC-7FC9-0BE4532DB20C}"/>
              </a:ext>
            </a:extLst>
          </p:cNvPr>
          <p:cNvSpPr/>
          <p:nvPr/>
        </p:nvSpPr>
        <p:spPr>
          <a:xfrm>
            <a:off x="585358" y="1283943"/>
            <a:ext cx="10972800" cy="274320"/>
          </a:xfrm>
          <a:prstGeom prst="rect">
            <a:avLst/>
          </a:prstGeom>
          <a:noFill/>
          <a:ln/>
        </p:spPr>
        <p:txBody>
          <a:bodyPr wrap="square" lIns="0" tIns="0" rIns="0" bIns="0" rtlCol="0" anchor="ctr">
            <a:normAutofit/>
          </a:bodyPr>
          <a:lstStyle/>
          <a:p>
            <a:pPr marL="0" indent="0" algn="ctr">
              <a:buNone/>
            </a:pPr>
            <a:r>
              <a:rPr lang="en-US" sz="1450" b="1">
                <a:solidFill>
                  <a:srgbClr val="152E6E"/>
                </a:solidFill>
                <a:latin typeface="Arial" pitchFamily="34" charset="0"/>
                <a:ea typeface="Arial" pitchFamily="34" charset="-122"/>
                <a:cs typeface="Arial" pitchFamily="34" charset="-120"/>
              </a:rPr>
              <a:t>Use Device List when your business question is about a specific asset — not the whole subscription order.</a:t>
            </a:r>
            <a:endParaRPr lang="en-US" sz="1450"/>
          </a:p>
        </p:txBody>
      </p:sp>
      <p:sp>
        <p:nvSpPr>
          <p:cNvPr id="24" name="Shape 5">
            <a:extLst>
              <a:ext uri="{FF2B5EF4-FFF2-40B4-BE49-F238E27FC236}">
                <a16:creationId xmlns:a16="http://schemas.microsoft.com/office/drawing/2014/main" id="{61820FB9-99DE-B515-DF2E-2781E0E90E7D}"/>
              </a:ext>
            </a:extLst>
          </p:cNvPr>
          <p:cNvSpPr/>
          <p:nvPr/>
        </p:nvSpPr>
        <p:spPr>
          <a:xfrm>
            <a:off x="429910" y="2052039"/>
            <a:ext cx="5468112" cy="3520440"/>
          </a:xfrm>
          <a:prstGeom prst="roundRect">
            <a:avLst>
              <a:gd name="adj" fmla="val 3117"/>
            </a:avLst>
          </a:prstGeom>
          <a:solidFill>
            <a:srgbClr val="FFFFFF"/>
          </a:solidFill>
          <a:ln w="12700">
            <a:solidFill>
              <a:srgbClr val="BFC7D5"/>
            </a:solidFill>
            <a:prstDash val="solid"/>
          </a:ln>
          <a:effectLst>
            <a:outerShdw blurRad="12700" dist="6350" dir="2700000" algn="bl" rotWithShape="0">
              <a:srgbClr val="000000">
                <a:alpha val="10000"/>
              </a:srgbClr>
            </a:outerShdw>
          </a:effectLst>
        </p:spPr>
        <p:txBody>
          <a:bodyPr/>
          <a:lstStyle/>
          <a:p>
            <a:endParaRPr lang="zh-CN" altLang="en-US"/>
          </a:p>
        </p:txBody>
      </p:sp>
      <p:sp>
        <p:nvSpPr>
          <p:cNvPr id="26" name="Shape 6">
            <a:extLst>
              <a:ext uri="{FF2B5EF4-FFF2-40B4-BE49-F238E27FC236}">
                <a16:creationId xmlns:a16="http://schemas.microsoft.com/office/drawing/2014/main" id="{989E56A4-FDB3-E469-1F8D-7F619E0434C9}"/>
              </a:ext>
            </a:extLst>
          </p:cNvPr>
          <p:cNvSpPr/>
          <p:nvPr/>
        </p:nvSpPr>
        <p:spPr>
          <a:xfrm>
            <a:off x="704230" y="2289783"/>
            <a:ext cx="502920" cy="502920"/>
          </a:xfrm>
          <a:prstGeom prst="ellipse">
            <a:avLst/>
          </a:prstGeom>
          <a:solidFill>
            <a:srgbClr val="0E9FA6"/>
          </a:solidFill>
          <a:ln w="10160">
            <a:solidFill>
              <a:srgbClr val="0E9FA6"/>
            </a:solidFill>
            <a:prstDash val="solid"/>
          </a:ln>
        </p:spPr>
        <p:txBody>
          <a:bodyPr/>
          <a:lstStyle/>
          <a:p>
            <a:endParaRPr lang="zh-CN" altLang="en-US"/>
          </a:p>
        </p:txBody>
      </p:sp>
      <p:sp>
        <p:nvSpPr>
          <p:cNvPr id="28" name="Text 7">
            <a:extLst>
              <a:ext uri="{FF2B5EF4-FFF2-40B4-BE49-F238E27FC236}">
                <a16:creationId xmlns:a16="http://schemas.microsoft.com/office/drawing/2014/main" id="{307FF1F8-940C-DC4F-3208-AD6EEFDC0A16}"/>
              </a:ext>
            </a:extLst>
          </p:cNvPr>
          <p:cNvSpPr/>
          <p:nvPr/>
        </p:nvSpPr>
        <p:spPr>
          <a:xfrm>
            <a:off x="704230" y="2330931"/>
            <a:ext cx="502920" cy="320040"/>
          </a:xfrm>
          <a:prstGeom prst="rect">
            <a:avLst/>
          </a:prstGeom>
          <a:noFill/>
          <a:ln/>
        </p:spPr>
        <p:txBody>
          <a:bodyPr wrap="square" lIns="0" tIns="0" rIns="0" bIns="0" rtlCol="0" anchor="ctr">
            <a:normAutofit/>
          </a:bodyPr>
          <a:lstStyle/>
          <a:p>
            <a:pPr marL="0" indent="0" algn="ctr">
              <a:buNone/>
            </a:pPr>
            <a:r>
              <a:rPr lang="en-US" sz="1800" b="1">
                <a:solidFill>
                  <a:srgbClr val="FFFFFF"/>
                </a:solidFill>
                <a:latin typeface="Arial" pitchFamily="34" charset="0"/>
                <a:ea typeface="Arial" pitchFamily="34" charset="-122"/>
                <a:cs typeface="Arial" pitchFamily="34" charset="-120"/>
              </a:rPr>
              <a:t>1</a:t>
            </a:r>
            <a:endParaRPr lang="en-US" sz="1800"/>
          </a:p>
        </p:txBody>
      </p:sp>
      <p:sp>
        <p:nvSpPr>
          <p:cNvPr id="30" name="Text 8">
            <a:extLst>
              <a:ext uri="{FF2B5EF4-FFF2-40B4-BE49-F238E27FC236}">
                <a16:creationId xmlns:a16="http://schemas.microsoft.com/office/drawing/2014/main" id="{186D0A9A-42EF-B3C8-FAB6-6ECE7682791C}"/>
              </a:ext>
            </a:extLst>
          </p:cNvPr>
          <p:cNvSpPr/>
          <p:nvPr/>
        </p:nvSpPr>
        <p:spPr>
          <a:xfrm>
            <a:off x="1326022" y="2216631"/>
            <a:ext cx="4160520" cy="365760"/>
          </a:xfrm>
          <a:prstGeom prst="rect">
            <a:avLst/>
          </a:prstGeom>
          <a:noFill/>
          <a:ln/>
        </p:spPr>
        <p:txBody>
          <a:bodyPr wrap="square" lIns="0" tIns="0" rIns="0" bIns="0" rtlCol="0" anchor="ctr">
            <a:normAutofit/>
          </a:bodyPr>
          <a:lstStyle/>
          <a:p>
            <a:pPr marL="0" indent="0">
              <a:buNone/>
            </a:pPr>
            <a:r>
              <a:rPr lang="en-US" sz="1620" b="1">
                <a:solidFill>
                  <a:srgbClr val="152E6E"/>
                </a:solidFill>
                <a:latin typeface="Arial" pitchFamily="34" charset="0"/>
                <a:ea typeface="Arial" pitchFamily="34" charset="-122"/>
                <a:cs typeface="Arial" pitchFamily="34" charset="-120"/>
              </a:rPr>
              <a:t>I need to FIND / UNDERSTAND a device</a:t>
            </a:r>
            <a:endParaRPr lang="en-US" sz="1620"/>
          </a:p>
        </p:txBody>
      </p:sp>
      <p:sp>
        <p:nvSpPr>
          <p:cNvPr id="32" name="Text 9">
            <a:extLst>
              <a:ext uri="{FF2B5EF4-FFF2-40B4-BE49-F238E27FC236}">
                <a16:creationId xmlns:a16="http://schemas.microsoft.com/office/drawing/2014/main" id="{D607B391-048C-B952-7F10-EB2E5660AD4D}"/>
              </a:ext>
            </a:extLst>
          </p:cNvPr>
          <p:cNvSpPr/>
          <p:nvPr/>
        </p:nvSpPr>
        <p:spPr>
          <a:xfrm>
            <a:off x="1326022" y="2582391"/>
            <a:ext cx="4114800" cy="201168"/>
          </a:xfrm>
          <a:prstGeom prst="rect">
            <a:avLst/>
          </a:prstGeom>
          <a:noFill/>
          <a:ln/>
        </p:spPr>
        <p:txBody>
          <a:bodyPr wrap="square" lIns="0" tIns="0" rIns="0" bIns="0" rtlCol="0" anchor="ctr">
            <a:normAutofit/>
          </a:bodyPr>
          <a:lstStyle/>
          <a:p>
            <a:pPr marL="0" indent="0">
              <a:buNone/>
            </a:pPr>
            <a:r>
              <a:rPr lang="en-US" sz="1020">
                <a:solidFill>
                  <a:srgbClr val="5B6472"/>
                </a:solidFill>
                <a:latin typeface="Arial" pitchFamily="34" charset="0"/>
                <a:ea typeface="Arial" pitchFamily="34" charset="-122"/>
                <a:cs typeface="Arial" pitchFamily="34" charset="-120"/>
              </a:rPr>
              <a:t>Use Device List for asset-level visibility and investigation.</a:t>
            </a:r>
            <a:endParaRPr lang="en-US" sz="1020"/>
          </a:p>
        </p:txBody>
      </p:sp>
      <p:sp>
        <p:nvSpPr>
          <p:cNvPr id="34" name="Shape 10">
            <a:extLst>
              <a:ext uri="{FF2B5EF4-FFF2-40B4-BE49-F238E27FC236}">
                <a16:creationId xmlns:a16="http://schemas.microsoft.com/office/drawing/2014/main" id="{1C890DF5-B66D-9BAF-CE43-00F9528BB776}"/>
              </a:ext>
            </a:extLst>
          </p:cNvPr>
          <p:cNvSpPr/>
          <p:nvPr/>
        </p:nvSpPr>
        <p:spPr>
          <a:xfrm>
            <a:off x="832246" y="3131031"/>
            <a:ext cx="310896" cy="0"/>
          </a:xfrm>
          <a:prstGeom prst="line">
            <a:avLst/>
          </a:prstGeom>
          <a:noFill/>
          <a:ln w="15240">
            <a:solidFill>
              <a:srgbClr val="0E9FA6"/>
            </a:solidFill>
            <a:prstDash val="solid"/>
          </a:ln>
        </p:spPr>
        <p:txBody>
          <a:bodyPr/>
          <a:lstStyle/>
          <a:p>
            <a:endParaRPr lang="zh-CN" altLang="en-US"/>
          </a:p>
        </p:txBody>
      </p:sp>
      <p:sp>
        <p:nvSpPr>
          <p:cNvPr id="36" name="Text 11">
            <a:extLst>
              <a:ext uri="{FF2B5EF4-FFF2-40B4-BE49-F238E27FC236}">
                <a16:creationId xmlns:a16="http://schemas.microsoft.com/office/drawing/2014/main" id="{20596583-2AD4-AB12-F230-11BF9ED1DB8C}"/>
              </a:ext>
            </a:extLst>
          </p:cNvPr>
          <p:cNvSpPr/>
          <p:nvPr/>
        </p:nvSpPr>
        <p:spPr>
          <a:xfrm>
            <a:off x="1252870" y="3057879"/>
            <a:ext cx="4133088" cy="219456"/>
          </a:xfrm>
          <a:prstGeom prst="rect">
            <a:avLst/>
          </a:prstGeom>
          <a:noFill/>
          <a:ln/>
        </p:spPr>
        <p:txBody>
          <a:bodyPr wrap="square" lIns="0" tIns="0" rIns="0" bIns="0" rtlCol="0" anchor="ctr">
            <a:normAutofit/>
          </a:bodyPr>
          <a:lstStyle/>
          <a:p>
            <a:pPr marL="0" indent="0">
              <a:buNone/>
            </a:pPr>
            <a:r>
              <a:rPr lang="en-US" sz="1120" b="1">
                <a:solidFill>
                  <a:srgbClr val="1F2937"/>
                </a:solidFill>
                <a:latin typeface="Arial" pitchFamily="34" charset="0"/>
                <a:ea typeface="Arial" pitchFamily="34" charset="-122"/>
                <a:cs typeface="Arial" pitchFamily="34" charset="-120"/>
              </a:rPr>
              <a:t>Search across asset identifiers</a:t>
            </a:r>
            <a:endParaRPr lang="en-US" sz="1120"/>
          </a:p>
        </p:txBody>
      </p:sp>
      <p:sp>
        <p:nvSpPr>
          <p:cNvPr id="38" name="Text 12">
            <a:extLst>
              <a:ext uri="{FF2B5EF4-FFF2-40B4-BE49-F238E27FC236}">
                <a16:creationId xmlns:a16="http://schemas.microsoft.com/office/drawing/2014/main" id="{BF9DAD4B-BBB5-A922-A367-7209DF9F1759}"/>
              </a:ext>
            </a:extLst>
          </p:cNvPr>
          <p:cNvSpPr/>
          <p:nvPr/>
        </p:nvSpPr>
        <p:spPr>
          <a:xfrm>
            <a:off x="1252870" y="3277335"/>
            <a:ext cx="4169664" cy="310896"/>
          </a:xfrm>
          <a:prstGeom prst="rect">
            <a:avLst/>
          </a:prstGeom>
          <a:noFill/>
          <a:ln/>
        </p:spPr>
        <p:txBody>
          <a:bodyPr wrap="square" lIns="0" tIns="0" rIns="0" bIns="0" rtlCol="0" anchor="ctr">
            <a:normAutofit/>
          </a:bodyPr>
          <a:lstStyle/>
          <a:p>
            <a:pPr marL="0" indent="0">
              <a:buNone/>
            </a:pPr>
            <a:r>
              <a:rPr lang="en-US" sz="920">
                <a:solidFill>
                  <a:srgbClr val="5B6472"/>
                </a:solidFill>
                <a:latin typeface="Arial" pitchFamily="34" charset="0"/>
                <a:ea typeface="Arial" pitchFamily="34" charset="-122"/>
                <a:cs typeface="Arial" pitchFamily="34" charset="-120"/>
              </a:rPr>
              <a:t>Subscription Order ID, Serial Number, Material and other criteria.</a:t>
            </a:r>
            <a:endParaRPr lang="en-US" sz="920"/>
          </a:p>
        </p:txBody>
      </p:sp>
      <p:sp>
        <p:nvSpPr>
          <p:cNvPr id="40" name="Shape 13">
            <a:extLst>
              <a:ext uri="{FF2B5EF4-FFF2-40B4-BE49-F238E27FC236}">
                <a16:creationId xmlns:a16="http://schemas.microsoft.com/office/drawing/2014/main" id="{F4EBEA1E-C3AD-416E-F13B-0AE6CDBCA550}"/>
              </a:ext>
            </a:extLst>
          </p:cNvPr>
          <p:cNvSpPr/>
          <p:nvPr/>
        </p:nvSpPr>
        <p:spPr>
          <a:xfrm>
            <a:off x="832246" y="3862551"/>
            <a:ext cx="310896" cy="0"/>
          </a:xfrm>
          <a:prstGeom prst="line">
            <a:avLst/>
          </a:prstGeom>
          <a:noFill/>
          <a:ln w="15240">
            <a:solidFill>
              <a:srgbClr val="0E9FA6"/>
            </a:solidFill>
            <a:prstDash val="solid"/>
          </a:ln>
        </p:spPr>
        <p:txBody>
          <a:bodyPr/>
          <a:lstStyle/>
          <a:p>
            <a:endParaRPr lang="zh-CN" altLang="en-US"/>
          </a:p>
        </p:txBody>
      </p:sp>
      <p:sp>
        <p:nvSpPr>
          <p:cNvPr id="42" name="Text 14">
            <a:extLst>
              <a:ext uri="{FF2B5EF4-FFF2-40B4-BE49-F238E27FC236}">
                <a16:creationId xmlns:a16="http://schemas.microsoft.com/office/drawing/2014/main" id="{F2A87519-C136-2439-94AF-DBA50D42F49C}"/>
              </a:ext>
            </a:extLst>
          </p:cNvPr>
          <p:cNvSpPr/>
          <p:nvPr/>
        </p:nvSpPr>
        <p:spPr>
          <a:xfrm>
            <a:off x="1252870" y="3789399"/>
            <a:ext cx="4133088" cy="219456"/>
          </a:xfrm>
          <a:prstGeom prst="rect">
            <a:avLst/>
          </a:prstGeom>
          <a:noFill/>
          <a:ln/>
        </p:spPr>
        <p:txBody>
          <a:bodyPr wrap="square" lIns="0" tIns="0" rIns="0" bIns="0" rtlCol="0" anchor="ctr">
            <a:normAutofit/>
          </a:bodyPr>
          <a:lstStyle/>
          <a:p>
            <a:pPr marL="0" indent="0">
              <a:buNone/>
            </a:pPr>
            <a:r>
              <a:rPr lang="en-US" sz="1120" b="1">
                <a:solidFill>
                  <a:srgbClr val="1F2937"/>
                </a:solidFill>
                <a:latin typeface="Arial" pitchFamily="34" charset="0"/>
                <a:ea typeface="Arial" pitchFamily="34" charset="-122"/>
                <a:cs typeface="Arial" pitchFamily="34" charset="-120"/>
              </a:rPr>
              <a:t>Review DaaS / IaaS device data</a:t>
            </a:r>
            <a:endParaRPr lang="en-US" sz="1120"/>
          </a:p>
        </p:txBody>
      </p:sp>
      <p:sp>
        <p:nvSpPr>
          <p:cNvPr id="44" name="Text 15">
            <a:extLst>
              <a:ext uri="{FF2B5EF4-FFF2-40B4-BE49-F238E27FC236}">
                <a16:creationId xmlns:a16="http://schemas.microsoft.com/office/drawing/2014/main" id="{F9B0E6BF-B0B6-56EA-FDBB-AC1FE86299C5}"/>
              </a:ext>
            </a:extLst>
          </p:cNvPr>
          <p:cNvSpPr/>
          <p:nvPr/>
        </p:nvSpPr>
        <p:spPr>
          <a:xfrm>
            <a:off x="1252870" y="4008855"/>
            <a:ext cx="4169664" cy="310896"/>
          </a:xfrm>
          <a:prstGeom prst="rect">
            <a:avLst/>
          </a:prstGeom>
          <a:noFill/>
          <a:ln/>
        </p:spPr>
        <p:txBody>
          <a:bodyPr wrap="square" lIns="0" tIns="0" rIns="0" bIns="0" rtlCol="0" anchor="ctr">
            <a:normAutofit/>
          </a:bodyPr>
          <a:lstStyle/>
          <a:p>
            <a:pPr marL="0" indent="0">
              <a:buNone/>
            </a:pPr>
            <a:r>
              <a:rPr lang="en-US" sz="920">
                <a:solidFill>
                  <a:srgbClr val="5B6472"/>
                </a:solidFill>
                <a:latin typeface="Arial" pitchFamily="34" charset="0"/>
                <a:ea typeface="Arial" pitchFamily="34" charset="-122"/>
                <a:cs typeface="Arial" pitchFamily="34" charset="-120"/>
              </a:rPr>
              <a:t>Use the relevant device view to understand subscription and asset context.</a:t>
            </a:r>
            <a:endParaRPr lang="en-US" sz="920"/>
          </a:p>
        </p:txBody>
      </p:sp>
      <p:sp>
        <p:nvSpPr>
          <p:cNvPr id="46" name="Shape 16">
            <a:extLst>
              <a:ext uri="{FF2B5EF4-FFF2-40B4-BE49-F238E27FC236}">
                <a16:creationId xmlns:a16="http://schemas.microsoft.com/office/drawing/2014/main" id="{75EC9304-5B8E-8C7E-A6CE-946A0660E895}"/>
              </a:ext>
            </a:extLst>
          </p:cNvPr>
          <p:cNvSpPr/>
          <p:nvPr/>
        </p:nvSpPr>
        <p:spPr>
          <a:xfrm>
            <a:off x="832246" y="4594071"/>
            <a:ext cx="310896" cy="0"/>
          </a:xfrm>
          <a:prstGeom prst="line">
            <a:avLst/>
          </a:prstGeom>
          <a:noFill/>
          <a:ln w="15240">
            <a:solidFill>
              <a:srgbClr val="0E9FA6"/>
            </a:solidFill>
            <a:prstDash val="solid"/>
          </a:ln>
        </p:spPr>
        <p:txBody>
          <a:bodyPr/>
          <a:lstStyle/>
          <a:p>
            <a:endParaRPr lang="zh-CN" altLang="en-US"/>
          </a:p>
        </p:txBody>
      </p:sp>
      <p:sp>
        <p:nvSpPr>
          <p:cNvPr id="48" name="Text 17">
            <a:extLst>
              <a:ext uri="{FF2B5EF4-FFF2-40B4-BE49-F238E27FC236}">
                <a16:creationId xmlns:a16="http://schemas.microsoft.com/office/drawing/2014/main" id="{B7A30AC1-7065-D68E-B682-6585AFDF2BD2}"/>
              </a:ext>
            </a:extLst>
          </p:cNvPr>
          <p:cNvSpPr/>
          <p:nvPr/>
        </p:nvSpPr>
        <p:spPr>
          <a:xfrm>
            <a:off x="1252870" y="4520919"/>
            <a:ext cx="4133088" cy="219456"/>
          </a:xfrm>
          <a:prstGeom prst="rect">
            <a:avLst/>
          </a:prstGeom>
          <a:noFill/>
          <a:ln/>
        </p:spPr>
        <p:txBody>
          <a:bodyPr wrap="square" lIns="0" tIns="0" rIns="0" bIns="0" rtlCol="0" anchor="ctr">
            <a:normAutofit/>
          </a:bodyPr>
          <a:lstStyle/>
          <a:p>
            <a:pPr marL="0" indent="0">
              <a:buNone/>
            </a:pPr>
            <a:r>
              <a:rPr lang="en-US" sz="1120" b="1">
                <a:solidFill>
                  <a:srgbClr val="1F2937"/>
                </a:solidFill>
                <a:latin typeface="Arial" pitchFamily="34" charset="0"/>
                <a:ea typeface="Arial" pitchFamily="34" charset="-122"/>
                <a:cs typeface="Arial" pitchFamily="34" charset="-120"/>
              </a:rPr>
              <a:t>Check status &amp; relationship</a:t>
            </a:r>
            <a:endParaRPr lang="en-US" sz="1120"/>
          </a:p>
        </p:txBody>
      </p:sp>
      <p:sp>
        <p:nvSpPr>
          <p:cNvPr id="50" name="Text 18">
            <a:extLst>
              <a:ext uri="{FF2B5EF4-FFF2-40B4-BE49-F238E27FC236}">
                <a16:creationId xmlns:a16="http://schemas.microsoft.com/office/drawing/2014/main" id="{4EB031A0-0458-4B82-8CF0-297173A5AC69}"/>
              </a:ext>
            </a:extLst>
          </p:cNvPr>
          <p:cNvSpPr/>
          <p:nvPr/>
        </p:nvSpPr>
        <p:spPr>
          <a:xfrm>
            <a:off x="1252870" y="4740375"/>
            <a:ext cx="4169664" cy="310896"/>
          </a:xfrm>
          <a:prstGeom prst="rect">
            <a:avLst/>
          </a:prstGeom>
          <a:noFill/>
          <a:ln/>
        </p:spPr>
        <p:txBody>
          <a:bodyPr wrap="square" lIns="0" tIns="0" rIns="0" bIns="0" rtlCol="0" anchor="ctr">
            <a:normAutofit/>
          </a:bodyPr>
          <a:lstStyle/>
          <a:p>
            <a:pPr marL="0" indent="0">
              <a:buNone/>
            </a:pPr>
            <a:r>
              <a:rPr lang="en-US" sz="920">
                <a:solidFill>
                  <a:srgbClr val="5B6472"/>
                </a:solidFill>
                <a:latin typeface="Arial" pitchFamily="34" charset="0"/>
                <a:ea typeface="Arial" pitchFamily="34" charset="-122"/>
                <a:cs typeface="Arial" pitchFamily="34" charset="-120"/>
              </a:rPr>
              <a:t>Review validity dates, status, tranche / order linkage and device attributes.</a:t>
            </a:r>
            <a:endParaRPr lang="en-US" sz="920"/>
          </a:p>
        </p:txBody>
      </p:sp>
      <p:sp>
        <p:nvSpPr>
          <p:cNvPr id="52" name="Text 19">
            <a:extLst>
              <a:ext uri="{FF2B5EF4-FFF2-40B4-BE49-F238E27FC236}">
                <a16:creationId xmlns:a16="http://schemas.microsoft.com/office/drawing/2014/main" id="{605FBBCC-02C0-6068-018F-7732B0F02DA6}"/>
              </a:ext>
            </a:extLst>
          </p:cNvPr>
          <p:cNvSpPr/>
          <p:nvPr/>
        </p:nvSpPr>
        <p:spPr>
          <a:xfrm>
            <a:off x="722518" y="5087847"/>
            <a:ext cx="1024128" cy="146304"/>
          </a:xfrm>
          <a:prstGeom prst="rect">
            <a:avLst/>
          </a:prstGeom>
          <a:noFill/>
          <a:ln/>
        </p:spPr>
        <p:txBody>
          <a:bodyPr wrap="square" lIns="0" tIns="0" rIns="0" bIns="0" rtlCol="0" anchor="ctr">
            <a:normAutofit/>
          </a:bodyPr>
          <a:lstStyle/>
          <a:p>
            <a:pPr marL="0" indent="0">
              <a:buNone/>
            </a:pPr>
            <a:r>
              <a:rPr lang="en-US" sz="910" b="1">
                <a:solidFill>
                  <a:srgbClr val="0E9FA6"/>
                </a:solidFill>
                <a:latin typeface="Arial" pitchFamily="34" charset="0"/>
                <a:ea typeface="Arial" pitchFamily="34" charset="-122"/>
                <a:cs typeface="Arial" pitchFamily="34" charset="-120"/>
              </a:rPr>
              <a:t>Typical question</a:t>
            </a:r>
            <a:endParaRPr lang="en-US" sz="910"/>
          </a:p>
        </p:txBody>
      </p:sp>
      <p:sp>
        <p:nvSpPr>
          <p:cNvPr id="54" name="Text 20">
            <a:extLst>
              <a:ext uri="{FF2B5EF4-FFF2-40B4-BE49-F238E27FC236}">
                <a16:creationId xmlns:a16="http://schemas.microsoft.com/office/drawing/2014/main" id="{BB160242-7B82-83A8-0745-F8B2CE53F756}"/>
              </a:ext>
            </a:extLst>
          </p:cNvPr>
          <p:cNvSpPr/>
          <p:nvPr/>
        </p:nvSpPr>
        <p:spPr>
          <a:xfrm>
            <a:off x="1801510" y="5060415"/>
            <a:ext cx="3602736" cy="329184"/>
          </a:xfrm>
          <a:prstGeom prst="rect">
            <a:avLst/>
          </a:prstGeom>
          <a:noFill/>
          <a:ln/>
        </p:spPr>
        <p:txBody>
          <a:bodyPr wrap="square" lIns="0" tIns="0" rIns="0" bIns="0" rtlCol="0" anchor="ctr">
            <a:normAutofit/>
          </a:bodyPr>
          <a:lstStyle/>
          <a:p>
            <a:pPr marL="0" indent="0">
              <a:buNone/>
            </a:pPr>
            <a:r>
              <a:rPr lang="en-US" sz="940" i="1">
                <a:solidFill>
                  <a:srgbClr val="1F2937"/>
                </a:solidFill>
                <a:latin typeface="Arial" pitchFamily="34" charset="0"/>
                <a:ea typeface="Arial" pitchFamily="34" charset="-122"/>
                <a:cs typeface="Arial" pitchFamily="34" charset="-120"/>
              </a:rPr>
              <a:t>“Which devices are linked to this Subscription Order, and what is their current status?”</a:t>
            </a:r>
            <a:endParaRPr lang="en-US" sz="940"/>
          </a:p>
        </p:txBody>
      </p:sp>
      <p:sp>
        <p:nvSpPr>
          <p:cNvPr id="56" name="Shape 21">
            <a:extLst>
              <a:ext uri="{FF2B5EF4-FFF2-40B4-BE49-F238E27FC236}">
                <a16:creationId xmlns:a16="http://schemas.microsoft.com/office/drawing/2014/main" id="{1F0D5B75-EF51-AA29-902F-17D9ADF407B8}"/>
              </a:ext>
            </a:extLst>
          </p:cNvPr>
          <p:cNvSpPr/>
          <p:nvPr/>
        </p:nvSpPr>
        <p:spPr>
          <a:xfrm>
            <a:off x="6117478" y="2052039"/>
            <a:ext cx="5623560" cy="3520440"/>
          </a:xfrm>
          <a:prstGeom prst="roundRect">
            <a:avLst>
              <a:gd name="adj" fmla="val 3117"/>
            </a:avLst>
          </a:prstGeom>
          <a:solidFill>
            <a:srgbClr val="FFFFFF"/>
          </a:solidFill>
          <a:ln w="12700">
            <a:solidFill>
              <a:srgbClr val="BFC7D5"/>
            </a:solidFill>
            <a:prstDash val="solid"/>
          </a:ln>
          <a:effectLst>
            <a:outerShdw blurRad="12700" dist="6350" dir="2700000" algn="bl" rotWithShape="0">
              <a:srgbClr val="000000">
                <a:alpha val="10000"/>
              </a:srgbClr>
            </a:outerShdw>
          </a:effectLst>
        </p:spPr>
        <p:txBody>
          <a:bodyPr/>
          <a:lstStyle/>
          <a:p>
            <a:endParaRPr lang="zh-CN" altLang="en-US"/>
          </a:p>
        </p:txBody>
      </p:sp>
      <p:sp>
        <p:nvSpPr>
          <p:cNvPr id="58" name="Shape 22">
            <a:extLst>
              <a:ext uri="{FF2B5EF4-FFF2-40B4-BE49-F238E27FC236}">
                <a16:creationId xmlns:a16="http://schemas.microsoft.com/office/drawing/2014/main" id="{77B1D40F-6246-5D69-D8E3-1AEC50CF1455}"/>
              </a:ext>
            </a:extLst>
          </p:cNvPr>
          <p:cNvSpPr/>
          <p:nvPr/>
        </p:nvSpPr>
        <p:spPr>
          <a:xfrm>
            <a:off x="6382654" y="2289783"/>
            <a:ext cx="502920" cy="502920"/>
          </a:xfrm>
          <a:prstGeom prst="ellipse">
            <a:avLst/>
          </a:prstGeom>
          <a:solidFill>
            <a:srgbClr val="6B3AAE"/>
          </a:solidFill>
          <a:ln w="10160">
            <a:solidFill>
              <a:srgbClr val="6B3AAE"/>
            </a:solidFill>
            <a:prstDash val="solid"/>
          </a:ln>
        </p:spPr>
        <p:txBody>
          <a:bodyPr/>
          <a:lstStyle/>
          <a:p>
            <a:endParaRPr lang="zh-CN" altLang="en-US"/>
          </a:p>
        </p:txBody>
      </p:sp>
      <p:sp>
        <p:nvSpPr>
          <p:cNvPr id="60" name="Text 23">
            <a:extLst>
              <a:ext uri="{FF2B5EF4-FFF2-40B4-BE49-F238E27FC236}">
                <a16:creationId xmlns:a16="http://schemas.microsoft.com/office/drawing/2014/main" id="{BE415730-A053-1FA9-C0DE-E25F543B1515}"/>
              </a:ext>
            </a:extLst>
          </p:cNvPr>
          <p:cNvSpPr/>
          <p:nvPr/>
        </p:nvSpPr>
        <p:spPr>
          <a:xfrm>
            <a:off x="6382654" y="2330931"/>
            <a:ext cx="502920" cy="320040"/>
          </a:xfrm>
          <a:prstGeom prst="rect">
            <a:avLst/>
          </a:prstGeom>
          <a:noFill/>
          <a:ln/>
        </p:spPr>
        <p:txBody>
          <a:bodyPr wrap="square" lIns="0" tIns="0" rIns="0" bIns="0" rtlCol="0" anchor="ctr">
            <a:normAutofit/>
          </a:bodyPr>
          <a:lstStyle/>
          <a:p>
            <a:pPr marL="0" indent="0" algn="ctr">
              <a:buNone/>
            </a:pPr>
            <a:r>
              <a:rPr lang="en-US" sz="1800" b="1">
                <a:solidFill>
                  <a:srgbClr val="FFFFFF"/>
                </a:solidFill>
                <a:latin typeface="Arial" pitchFamily="34" charset="0"/>
                <a:ea typeface="Arial" pitchFamily="34" charset="-122"/>
                <a:cs typeface="Arial" pitchFamily="34" charset="-120"/>
              </a:rPr>
              <a:t>2</a:t>
            </a:r>
            <a:endParaRPr lang="en-US" sz="1800"/>
          </a:p>
        </p:txBody>
      </p:sp>
      <p:sp>
        <p:nvSpPr>
          <p:cNvPr id="62" name="Text 24">
            <a:extLst>
              <a:ext uri="{FF2B5EF4-FFF2-40B4-BE49-F238E27FC236}">
                <a16:creationId xmlns:a16="http://schemas.microsoft.com/office/drawing/2014/main" id="{FE85B19D-068B-211F-8C49-522B24C03974}"/>
              </a:ext>
            </a:extLst>
          </p:cNvPr>
          <p:cNvSpPr/>
          <p:nvPr/>
        </p:nvSpPr>
        <p:spPr>
          <a:xfrm>
            <a:off x="7004446" y="2216631"/>
            <a:ext cx="4224528" cy="365760"/>
          </a:xfrm>
          <a:prstGeom prst="rect">
            <a:avLst/>
          </a:prstGeom>
          <a:noFill/>
          <a:ln/>
        </p:spPr>
        <p:txBody>
          <a:bodyPr wrap="square" lIns="0" tIns="0" rIns="0" bIns="0" rtlCol="0" anchor="ctr">
            <a:normAutofit/>
          </a:bodyPr>
          <a:lstStyle/>
          <a:p>
            <a:pPr marL="0" indent="0">
              <a:buNone/>
            </a:pPr>
            <a:r>
              <a:rPr lang="en-US" sz="1620" b="1">
                <a:solidFill>
                  <a:srgbClr val="152E6E"/>
                </a:solidFill>
                <a:latin typeface="Arial" pitchFamily="34" charset="0"/>
                <a:ea typeface="Arial" pitchFamily="34" charset="-122"/>
                <a:cs typeface="Arial" pitchFamily="34" charset="-120"/>
              </a:rPr>
              <a:t>I need to CHANGE a device</a:t>
            </a:r>
            <a:endParaRPr lang="en-US" sz="1620"/>
          </a:p>
        </p:txBody>
      </p:sp>
      <p:sp>
        <p:nvSpPr>
          <p:cNvPr id="64" name="Text 25">
            <a:extLst>
              <a:ext uri="{FF2B5EF4-FFF2-40B4-BE49-F238E27FC236}">
                <a16:creationId xmlns:a16="http://schemas.microsoft.com/office/drawing/2014/main" id="{1A98BE1C-F7AC-5507-C494-161B93854BF2}"/>
              </a:ext>
            </a:extLst>
          </p:cNvPr>
          <p:cNvSpPr/>
          <p:nvPr/>
        </p:nvSpPr>
        <p:spPr>
          <a:xfrm>
            <a:off x="7004446" y="2582391"/>
            <a:ext cx="4206240" cy="201168"/>
          </a:xfrm>
          <a:prstGeom prst="rect">
            <a:avLst/>
          </a:prstGeom>
          <a:noFill/>
          <a:ln/>
        </p:spPr>
        <p:txBody>
          <a:bodyPr wrap="square" lIns="0" tIns="0" rIns="0" bIns="0" rtlCol="0" anchor="ctr">
            <a:normAutofit/>
          </a:bodyPr>
          <a:lstStyle/>
          <a:p>
            <a:pPr marL="0" indent="0">
              <a:buNone/>
            </a:pPr>
            <a:r>
              <a:rPr lang="en-US" sz="1020">
                <a:solidFill>
                  <a:srgbClr val="5B6472"/>
                </a:solidFill>
                <a:latin typeface="Arial" pitchFamily="34" charset="0"/>
                <a:ea typeface="Arial" pitchFamily="34" charset="-122"/>
                <a:cs typeface="Arial" pitchFamily="34" charset="-120"/>
              </a:rPr>
              <a:t>Use Device List for an asset-level maintenance request.</a:t>
            </a:r>
            <a:endParaRPr lang="en-US" sz="1020"/>
          </a:p>
        </p:txBody>
      </p:sp>
      <p:sp>
        <p:nvSpPr>
          <p:cNvPr id="66" name="Shape 26">
            <a:extLst>
              <a:ext uri="{FF2B5EF4-FFF2-40B4-BE49-F238E27FC236}">
                <a16:creationId xmlns:a16="http://schemas.microsoft.com/office/drawing/2014/main" id="{05D81E13-41EA-8B79-7116-F58845BE2A88}"/>
              </a:ext>
            </a:extLst>
          </p:cNvPr>
          <p:cNvSpPr/>
          <p:nvPr/>
        </p:nvSpPr>
        <p:spPr>
          <a:xfrm>
            <a:off x="6547246" y="3131031"/>
            <a:ext cx="310896" cy="0"/>
          </a:xfrm>
          <a:prstGeom prst="line">
            <a:avLst/>
          </a:prstGeom>
          <a:noFill/>
          <a:ln w="15240">
            <a:solidFill>
              <a:srgbClr val="6B3AAE"/>
            </a:solidFill>
            <a:prstDash val="solid"/>
          </a:ln>
        </p:spPr>
        <p:txBody>
          <a:bodyPr/>
          <a:lstStyle/>
          <a:p>
            <a:endParaRPr lang="zh-CN" altLang="en-US"/>
          </a:p>
        </p:txBody>
      </p:sp>
      <p:sp>
        <p:nvSpPr>
          <p:cNvPr id="68" name="Text 27">
            <a:extLst>
              <a:ext uri="{FF2B5EF4-FFF2-40B4-BE49-F238E27FC236}">
                <a16:creationId xmlns:a16="http://schemas.microsoft.com/office/drawing/2014/main" id="{3748AF47-9A3C-C76C-C1E3-6DA66B50D77E}"/>
              </a:ext>
            </a:extLst>
          </p:cNvPr>
          <p:cNvSpPr/>
          <p:nvPr/>
        </p:nvSpPr>
        <p:spPr>
          <a:xfrm>
            <a:off x="6967870" y="3057879"/>
            <a:ext cx="4251960" cy="219456"/>
          </a:xfrm>
          <a:prstGeom prst="rect">
            <a:avLst/>
          </a:prstGeom>
          <a:noFill/>
          <a:ln/>
        </p:spPr>
        <p:txBody>
          <a:bodyPr wrap="square" lIns="0" tIns="0" rIns="0" bIns="0" rtlCol="0" anchor="ctr">
            <a:normAutofit/>
          </a:bodyPr>
          <a:lstStyle/>
          <a:p>
            <a:pPr marL="0" indent="0">
              <a:buNone/>
            </a:pPr>
            <a:r>
              <a:rPr lang="en-US" sz="1120" b="1">
                <a:solidFill>
                  <a:srgbClr val="1F2937"/>
                </a:solidFill>
                <a:latin typeface="Arial" pitchFamily="34" charset="0"/>
                <a:ea typeface="Arial" pitchFamily="34" charset="-122"/>
                <a:cs typeface="Arial" pitchFamily="34" charset="-120"/>
              </a:rPr>
              <a:t>Select the affected assets</a:t>
            </a:r>
            <a:endParaRPr lang="en-US" sz="1120"/>
          </a:p>
        </p:txBody>
      </p:sp>
      <p:sp>
        <p:nvSpPr>
          <p:cNvPr id="70" name="Text 28">
            <a:extLst>
              <a:ext uri="{FF2B5EF4-FFF2-40B4-BE49-F238E27FC236}">
                <a16:creationId xmlns:a16="http://schemas.microsoft.com/office/drawing/2014/main" id="{201AAB91-2CB7-FB7E-CB2F-60A400464040}"/>
              </a:ext>
            </a:extLst>
          </p:cNvPr>
          <p:cNvSpPr/>
          <p:nvPr/>
        </p:nvSpPr>
        <p:spPr>
          <a:xfrm>
            <a:off x="6967870" y="3277335"/>
            <a:ext cx="4261104" cy="310896"/>
          </a:xfrm>
          <a:prstGeom prst="rect">
            <a:avLst/>
          </a:prstGeom>
          <a:noFill/>
          <a:ln/>
        </p:spPr>
        <p:txBody>
          <a:bodyPr wrap="square" lIns="0" tIns="0" rIns="0" bIns="0" rtlCol="0" anchor="ctr">
            <a:normAutofit/>
          </a:bodyPr>
          <a:lstStyle/>
          <a:p>
            <a:pPr marL="0" indent="0">
              <a:buNone/>
            </a:pPr>
            <a:r>
              <a:rPr lang="en-US" sz="920">
                <a:solidFill>
                  <a:srgbClr val="5B6472"/>
                </a:solidFill>
                <a:latin typeface="Arial" pitchFamily="34" charset="0"/>
                <a:ea typeface="Arial" pitchFamily="34" charset="-122"/>
                <a:cs typeface="Arial" pitchFamily="34" charset="-120"/>
              </a:rPr>
              <a:t>Choose one or more specific device records from the result list.</a:t>
            </a:r>
            <a:endParaRPr lang="en-US" sz="920"/>
          </a:p>
        </p:txBody>
      </p:sp>
      <p:sp>
        <p:nvSpPr>
          <p:cNvPr id="72" name="Shape 29">
            <a:extLst>
              <a:ext uri="{FF2B5EF4-FFF2-40B4-BE49-F238E27FC236}">
                <a16:creationId xmlns:a16="http://schemas.microsoft.com/office/drawing/2014/main" id="{F8852878-6A8B-8466-EE38-96BEE33C09AD}"/>
              </a:ext>
            </a:extLst>
          </p:cNvPr>
          <p:cNvSpPr/>
          <p:nvPr/>
        </p:nvSpPr>
        <p:spPr>
          <a:xfrm>
            <a:off x="6547246" y="3862551"/>
            <a:ext cx="310896" cy="0"/>
          </a:xfrm>
          <a:prstGeom prst="line">
            <a:avLst/>
          </a:prstGeom>
          <a:noFill/>
          <a:ln w="15240">
            <a:solidFill>
              <a:srgbClr val="6B3AAE"/>
            </a:solidFill>
            <a:prstDash val="solid"/>
          </a:ln>
        </p:spPr>
        <p:txBody>
          <a:bodyPr/>
          <a:lstStyle/>
          <a:p>
            <a:endParaRPr lang="zh-CN" altLang="en-US"/>
          </a:p>
        </p:txBody>
      </p:sp>
      <p:sp>
        <p:nvSpPr>
          <p:cNvPr id="74" name="Text 30">
            <a:extLst>
              <a:ext uri="{FF2B5EF4-FFF2-40B4-BE49-F238E27FC236}">
                <a16:creationId xmlns:a16="http://schemas.microsoft.com/office/drawing/2014/main" id="{D6C281D9-5656-A30D-F044-4F16CE4C80A8}"/>
              </a:ext>
            </a:extLst>
          </p:cNvPr>
          <p:cNvSpPr/>
          <p:nvPr/>
        </p:nvSpPr>
        <p:spPr>
          <a:xfrm>
            <a:off x="6967870" y="3789399"/>
            <a:ext cx="4251960" cy="219456"/>
          </a:xfrm>
          <a:prstGeom prst="rect">
            <a:avLst/>
          </a:prstGeom>
          <a:noFill/>
          <a:ln/>
        </p:spPr>
        <p:txBody>
          <a:bodyPr wrap="square" lIns="0" tIns="0" rIns="0" bIns="0" rtlCol="0" anchor="ctr">
            <a:normAutofit/>
          </a:bodyPr>
          <a:lstStyle/>
          <a:p>
            <a:pPr marL="0" indent="0">
              <a:buNone/>
            </a:pPr>
            <a:r>
              <a:rPr lang="en-US" sz="1120" b="1">
                <a:solidFill>
                  <a:srgbClr val="1F2937"/>
                </a:solidFill>
                <a:latin typeface="Arial" pitchFamily="34" charset="0"/>
                <a:ea typeface="Arial" pitchFamily="34" charset="-122"/>
                <a:cs typeface="Arial" pitchFamily="34" charset="-120"/>
              </a:rPr>
              <a:t>Edit supported device attributes</a:t>
            </a:r>
            <a:endParaRPr lang="en-US" sz="1120"/>
          </a:p>
        </p:txBody>
      </p:sp>
      <p:sp>
        <p:nvSpPr>
          <p:cNvPr id="76" name="Text 31">
            <a:extLst>
              <a:ext uri="{FF2B5EF4-FFF2-40B4-BE49-F238E27FC236}">
                <a16:creationId xmlns:a16="http://schemas.microsoft.com/office/drawing/2014/main" id="{278C1FDA-213B-38FC-2AFF-8CAA400BB392}"/>
              </a:ext>
            </a:extLst>
          </p:cNvPr>
          <p:cNvSpPr/>
          <p:nvPr/>
        </p:nvSpPr>
        <p:spPr>
          <a:xfrm>
            <a:off x="6967870" y="4008855"/>
            <a:ext cx="4261104" cy="310896"/>
          </a:xfrm>
          <a:prstGeom prst="rect">
            <a:avLst/>
          </a:prstGeom>
          <a:noFill/>
          <a:ln/>
        </p:spPr>
        <p:txBody>
          <a:bodyPr wrap="square" lIns="0" tIns="0" rIns="0" bIns="0" rtlCol="0" anchor="ctr">
            <a:normAutofit/>
          </a:bodyPr>
          <a:lstStyle/>
          <a:p>
            <a:pPr marL="0" indent="0">
              <a:buNone/>
            </a:pPr>
            <a:r>
              <a:rPr lang="en-US" sz="920">
                <a:solidFill>
                  <a:srgbClr val="5B6472"/>
                </a:solidFill>
                <a:latin typeface="Arial" pitchFamily="34" charset="0"/>
                <a:ea typeface="Arial" pitchFamily="34" charset="-122"/>
                <a:cs typeface="Arial" pitchFamily="34" charset="-120"/>
              </a:rPr>
              <a:t>Update only fields allowed by the system and business rules.</a:t>
            </a:r>
            <a:endParaRPr lang="en-US" sz="920"/>
          </a:p>
        </p:txBody>
      </p:sp>
      <p:sp>
        <p:nvSpPr>
          <p:cNvPr id="78" name="Shape 32">
            <a:extLst>
              <a:ext uri="{FF2B5EF4-FFF2-40B4-BE49-F238E27FC236}">
                <a16:creationId xmlns:a16="http://schemas.microsoft.com/office/drawing/2014/main" id="{ECA1B8DB-71D3-672F-52F1-07D6CF7D3860}"/>
              </a:ext>
            </a:extLst>
          </p:cNvPr>
          <p:cNvSpPr/>
          <p:nvPr/>
        </p:nvSpPr>
        <p:spPr>
          <a:xfrm>
            <a:off x="6547246" y="4594071"/>
            <a:ext cx="310896" cy="0"/>
          </a:xfrm>
          <a:prstGeom prst="line">
            <a:avLst/>
          </a:prstGeom>
          <a:noFill/>
          <a:ln w="15240">
            <a:solidFill>
              <a:srgbClr val="6B3AAE"/>
            </a:solidFill>
            <a:prstDash val="solid"/>
          </a:ln>
        </p:spPr>
        <p:txBody>
          <a:bodyPr/>
          <a:lstStyle/>
          <a:p>
            <a:endParaRPr lang="zh-CN" altLang="en-US"/>
          </a:p>
        </p:txBody>
      </p:sp>
      <p:sp>
        <p:nvSpPr>
          <p:cNvPr id="80" name="Text 33">
            <a:extLst>
              <a:ext uri="{FF2B5EF4-FFF2-40B4-BE49-F238E27FC236}">
                <a16:creationId xmlns:a16="http://schemas.microsoft.com/office/drawing/2014/main" id="{A88C4B99-21CC-10F1-2079-D17F5246CF0F}"/>
              </a:ext>
            </a:extLst>
          </p:cNvPr>
          <p:cNvSpPr/>
          <p:nvPr/>
        </p:nvSpPr>
        <p:spPr>
          <a:xfrm>
            <a:off x="6967870" y="4520919"/>
            <a:ext cx="4251960" cy="219456"/>
          </a:xfrm>
          <a:prstGeom prst="rect">
            <a:avLst/>
          </a:prstGeom>
          <a:noFill/>
          <a:ln/>
        </p:spPr>
        <p:txBody>
          <a:bodyPr wrap="square" lIns="0" tIns="0" rIns="0" bIns="0" rtlCol="0" anchor="ctr">
            <a:normAutofit/>
          </a:bodyPr>
          <a:lstStyle/>
          <a:p>
            <a:pPr marL="0" indent="0">
              <a:buNone/>
            </a:pPr>
            <a:r>
              <a:rPr lang="en-US" sz="1120" b="1">
                <a:solidFill>
                  <a:srgbClr val="1F2937"/>
                </a:solidFill>
                <a:latin typeface="Arial" pitchFamily="34" charset="0"/>
                <a:ea typeface="Arial" pitchFamily="34" charset="-122"/>
                <a:cs typeface="Arial" pitchFamily="34" charset="-120"/>
              </a:rPr>
              <a:t>Submit for approval</a:t>
            </a:r>
            <a:endParaRPr lang="en-US" sz="1120"/>
          </a:p>
        </p:txBody>
      </p:sp>
      <p:sp>
        <p:nvSpPr>
          <p:cNvPr id="82" name="Text 34">
            <a:extLst>
              <a:ext uri="{FF2B5EF4-FFF2-40B4-BE49-F238E27FC236}">
                <a16:creationId xmlns:a16="http://schemas.microsoft.com/office/drawing/2014/main" id="{73D95DF0-B7B3-B028-EECE-FA297F8C7BB3}"/>
              </a:ext>
            </a:extLst>
          </p:cNvPr>
          <p:cNvSpPr/>
          <p:nvPr/>
        </p:nvSpPr>
        <p:spPr>
          <a:xfrm>
            <a:off x="6967870" y="4740375"/>
            <a:ext cx="4261104" cy="310896"/>
          </a:xfrm>
          <a:prstGeom prst="rect">
            <a:avLst/>
          </a:prstGeom>
          <a:noFill/>
          <a:ln/>
        </p:spPr>
        <p:txBody>
          <a:bodyPr wrap="square" lIns="0" tIns="0" rIns="0" bIns="0" rtlCol="0" anchor="ctr">
            <a:normAutofit/>
          </a:bodyPr>
          <a:lstStyle/>
          <a:p>
            <a:pPr marL="0" indent="0">
              <a:buNone/>
            </a:pPr>
            <a:r>
              <a:rPr lang="en-US" sz="920">
                <a:solidFill>
                  <a:srgbClr val="5B6472"/>
                </a:solidFill>
                <a:latin typeface="Arial" pitchFamily="34" charset="0"/>
                <a:ea typeface="Arial" pitchFamily="34" charset="-122"/>
                <a:cs typeface="Arial" pitchFamily="34" charset="-120"/>
              </a:rPr>
              <a:t>NexBill creates a Change Request; the change is applied only after approval and execution.</a:t>
            </a:r>
            <a:endParaRPr lang="en-US" sz="920"/>
          </a:p>
        </p:txBody>
      </p:sp>
      <p:sp>
        <p:nvSpPr>
          <p:cNvPr id="84" name="Text 35">
            <a:extLst>
              <a:ext uri="{FF2B5EF4-FFF2-40B4-BE49-F238E27FC236}">
                <a16:creationId xmlns:a16="http://schemas.microsoft.com/office/drawing/2014/main" id="{A23792A7-8917-7352-FC75-DD52F39CB611}"/>
              </a:ext>
            </a:extLst>
          </p:cNvPr>
          <p:cNvSpPr/>
          <p:nvPr/>
        </p:nvSpPr>
        <p:spPr>
          <a:xfrm>
            <a:off x="6391798" y="5087847"/>
            <a:ext cx="1024128" cy="146304"/>
          </a:xfrm>
          <a:prstGeom prst="rect">
            <a:avLst/>
          </a:prstGeom>
          <a:noFill/>
          <a:ln/>
        </p:spPr>
        <p:txBody>
          <a:bodyPr wrap="square" lIns="0" tIns="0" rIns="0" bIns="0" rtlCol="0" anchor="ctr">
            <a:normAutofit/>
          </a:bodyPr>
          <a:lstStyle/>
          <a:p>
            <a:pPr marL="0" indent="0">
              <a:buNone/>
            </a:pPr>
            <a:r>
              <a:rPr lang="en-US" sz="910" b="1">
                <a:solidFill>
                  <a:srgbClr val="6B3AAE"/>
                </a:solidFill>
                <a:latin typeface="Arial" pitchFamily="34" charset="0"/>
                <a:ea typeface="Arial" pitchFamily="34" charset="-122"/>
                <a:cs typeface="Arial" pitchFamily="34" charset="-120"/>
              </a:rPr>
              <a:t>Typical question</a:t>
            </a:r>
            <a:endParaRPr lang="en-US" sz="910"/>
          </a:p>
        </p:txBody>
      </p:sp>
      <p:sp>
        <p:nvSpPr>
          <p:cNvPr id="86" name="Text 36">
            <a:extLst>
              <a:ext uri="{FF2B5EF4-FFF2-40B4-BE49-F238E27FC236}">
                <a16:creationId xmlns:a16="http://schemas.microsoft.com/office/drawing/2014/main" id="{3B17E8DC-90B7-5717-7603-7C62CC1CF416}"/>
              </a:ext>
            </a:extLst>
          </p:cNvPr>
          <p:cNvSpPr/>
          <p:nvPr/>
        </p:nvSpPr>
        <p:spPr>
          <a:xfrm>
            <a:off x="7452502" y="5060415"/>
            <a:ext cx="4005072" cy="329184"/>
          </a:xfrm>
          <a:prstGeom prst="rect">
            <a:avLst/>
          </a:prstGeom>
          <a:noFill/>
          <a:ln/>
        </p:spPr>
        <p:txBody>
          <a:bodyPr wrap="square" lIns="0" tIns="0" rIns="0" bIns="0" rtlCol="0" anchor="ctr">
            <a:normAutofit/>
          </a:bodyPr>
          <a:lstStyle/>
          <a:p>
            <a:pPr marL="0" indent="0">
              <a:buNone/>
            </a:pPr>
            <a:r>
              <a:rPr lang="en-US" sz="940" i="1">
                <a:solidFill>
                  <a:srgbClr val="1F2937"/>
                </a:solidFill>
                <a:latin typeface="Arial" pitchFamily="34" charset="0"/>
                <a:ea typeface="Arial" pitchFamily="34" charset="-122"/>
                <a:cs typeface="Arial" pitchFamily="34" charset="-120"/>
              </a:rPr>
              <a:t>“I only need to correct / update these specific assets — do I need to change the whole order?”</a:t>
            </a:r>
            <a:endParaRPr lang="en-US" sz="940"/>
          </a:p>
        </p:txBody>
      </p:sp>
      <p:sp>
        <p:nvSpPr>
          <p:cNvPr id="88" name="Shape 37">
            <a:extLst>
              <a:ext uri="{FF2B5EF4-FFF2-40B4-BE49-F238E27FC236}">
                <a16:creationId xmlns:a16="http://schemas.microsoft.com/office/drawing/2014/main" id="{0D947E4E-6305-2C26-75BB-2466D887EB48}"/>
              </a:ext>
            </a:extLst>
          </p:cNvPr>
          <p:cNvSpPr/>
          <p:nvPr/>
        </p:nvSpPr>
        <p:spPr>
          <a:xfrm>
            <a:off x="557926" y="5764503"/>
            <a:ext cx="11064240" cy="658368"/>
          </a:xfrm>
          <a:prstGeom prst="roundRect">
            <a:avLst>
              <a:gd name="adj" fmla="val 16667"/>
            </a:avLst>
          </a:prstGeom>
          <a:solidFill>
            <a:srgbClr val="F8FAFC"/>
          </a:solidFill>
          <a:ln w="12700">
            <a:solidFill>
              <a:srgbClr val="C8D0DD"/>
            </a:solidFill>
            <a:prstDash val="solid"/>
          </a:ln>
          <a:effectLst>
            <a:outerShdw blurRad="12700" dist="6350" dir="2700000" algn="bl" rotWithShape="0">
              <a:srgbClr val="000000">
                <a:alpha val="10000"/>
              </a:srgbClr>
            </a:outerShdw>
          </a:effectLst>
        </p:spPr>
        <p:txBody>
          <a:bodyPr/>
          <a:lstStyle/>
          <a:p>
            <a:endParaRPr lang="zh-CN" altLang="en-US"/>
          </a:p>
        </p:txBody>
      </p:sp>
      <p:sp>
        <p:nvSpPr>
          <p:cNvPr id="90" name="Text 38">
            <a:extLst>
              <a:ext uri="{FF2B5EF4-FFF2-40B4-BE49-F238E27FC236}">
                <a16:creationId xmlns:a16="http://schemas.microsoft.com/office/drawing/2014/main" id="{5C1A2545-EA3F-7DFE-10D0-5712F047AC63}"/>
              </a:ext>
            </a:extLst>
          </p:cNvPr>
          <p:cNvSpPr/>
          <p:nvPr/>
        </p:nvSpPr>
        <p:spPr>
          <a:xfrm>
            <a:off x="749950" y="5855943"/>
            <a:ext cx="1143000" cy="164592"/>
          </a:xfrm>
          <a:prstGeom prst="rect">
            <a:avLst/>
          </a:prstGeom>
          <a:noFill/>
          <a:ln/>
        </p:spPr>
        <p:txBody>
          <a:bodyPr wrap="square" lIns="0" tIns="0" rIns="0" bIns="0" rtlCol="0" anchor="ctr">
            <a:normAutofit/>
          </a:bodyPr>
          <a:lstStyle/>
          <a:p>
            <a:pPr marL="0" indent="0">
              <a:buNone/>
            </a:pPr>
            <a:r>
              <a:rPr lang="en-US" sz="930" b="1">
                <a:solidFill>
                  <a:srgbClr val="152E6E"/>
                </a:solidFill>
                <a:latin typeface="Arial" pitchFamily="34" charset="0"/>
                <a:ea typeface="Arial" pitchFamily="34" charset="-122"/>
                <a:cs typeface="Arial" pitchFamily="34" charset="-120"/>
              </a:rPr>
              <a:t>QUICK DECISION</a:t>
            </a:r>
            <a:endParaRPr lang="en-US" sz="930"/>
          </a:p>
        </p:txBody>
      </p:sp>
      <p:sp>
        <p:nvSpPr>
          <p:cNvPr id="92" name="Shape 39">
            <a:extLst>
              <a:ext uri="{FF2B5EF4-FFF2-40B4-BE49-F238E27FC236}">
                <a16:creationId xmlns:a16="http://schemas.microsoft.com/office/drawing/2014/main" id="{5A4727F8-DF3F-FD96-EFBE-7E3BE20D9BC0}"/>
              </a:ext>
            </a:extLst>
          </p:cNvPr>
          <p:cNvSpPr/>
          <p:nvPr/>
        </p:nvSpPr>
        <p:spPr>
          <a:xfrm>
            <a:off x="1929526" y="5846799"/>
            <a:ext cx="2697480" cy="429768"/>
          </a:xfrm>
          <a:prstGeom prst="roundRect">
            <a:avLst/>
          </a:prstGeom>
          <a:solidFill>
            <a:srgbClr val="EEF1FF"/>
          </a:solidFill>
          <a:ln w="10160">
            <a:solidFill>
              <a:srgbClr val="BFC7FF"/>
            </a:solidFill>
            <a:prstDash val="solid"/>
          </a:ln>
        </p:spPr>
        <p:txBody>
          <a:bodyPr/>
          <a:lstStyle/>
          <a:p>
            <a:endParaRPr lang="zh-CN" altLang="en-US"/>
          </a:p>
        </p:txBody>
      </p:sp>
      <p:sp>
        <p:nvSpPr>
          <p:cNvPr id="94" name="Text 40">
            <a:extLst>
              <a:ext uri="{FF2B5EF4-FFF2-40B4-BE49-F238E27FC236}">
                <a16:creationId xmlns:a16="http://schemas.microsoft.com/office/drawing/2014/main" id="{0D9D136E-2408-40BA-D437-B7F22D393802}"/>
              </a:ext>
            </a:extLst>
          </p:cNvPr>
          <p:cNvSpPr/>
          <p:nvPr/>
        </p:nvSpPr>
        <p:spPr>
          <a:xfrm>
            <a:off x="2075830" y="5892519"/>
            <a:ext cx="2331720" cy="182880"/>
          </a:xfrm>
          <a:prstGeom prst="rect">
            <a:avLst/>
          </a:prstGeom>
          <a:noFill/>
          <a:ln/>
        </p:spPr>
        <p:txBody>
          <a:bodyPr wrap="square" lIns="0" tIns="0" rIns="0" bIns="0" rtlCol="0" anchor="ctr">
            <a:normAutofit/>
          </a:bodyPr>
          <a:lstStyle/>
          <a:p>
            <a:pPr marL="0" indent="0" algn="ctr">
              <a:buNone/>
            </a:pPr>
            <a:r>
              <a:rPr lang="en-US" altLang="zh-CN" sz="1040" b="1">
                <a:solidFill>
                  <a:srgbClr val="3F45D8"/>
                </a:solidFill>
                <a:latin typeface="Arial" pitchFamily="34" charset="0"/>
                <a:ea typeface="Arial" pitchFamily="34" charset="-122"/>
                <a:cs typeface="Arial" pitchFamily="34" charset="-120"/>
              </a:rPr>
              <a:t>Single subscription order</a:t>
            </a:r>
            <a:endParaRPr lang="en-US" sz="1040"/>
          </a:p>
        </p:txBody>
      </p:sp>
      <p:sp>
        <p:nvSpPr>
          <p:cNvPr id="96" name="Text 41">
            <a:extLst>
              <a:ext uri="{FF2B5EF4-FFF2-40B4-BE49-F238E27FC236}">
                <a16:creationId xmlns:a16="http://schemas.microsoft.com/office/drawing/2014/main" id="{B5843E1B-80E3-BAE3-FE68-7668F51389F9}"/>
              </a:ext>
            </a:extLst>
          </p:cNvPr>
          <p:cNvSpPr/>
          <p:nvPr/>
        </p:nvSpPr>
        <p:spPr>
          <a:xfrm>
            <a:off x="4654438" y="5883375"/>
            <a:ext cx="2578608" cy="201168"/>
          </a:xfrm>
          <a:prstGeom prst="rect">
            <a:avLst/>
          </a:prstGeom>
          <a:noFill/>
          <a:ln/>
        </p:spPr>
        <p:txBody>
          <a:bodyPr wrap="square" lIns="0" tIns="0" rIns="0" bIns="0" rtlCol="0" anchor="ctr">
            <a:normAutofit/>
          </a:bodyPr>
          <a:lstStyle/>
          <a:p>
            <a:pPr marL="0" indent="0" algn="ctr">
              <a:buNone/>
            </a:pPr>
            <a:r>
              <a:rPr lang="en-US" sz="960" b="1">
                <a:solidFill>
                  <a:srgbClr val="5B6472"/>
                </a:solidFill>
                <a:latin typeface="Arial" pitchFamily="34" charset="0"/>
                <a:ea typeface="Arial" pitchFamily="34" charset="-122"/>
                <a:cs typeface="Arial" pitchFamily="34" charset="-120"/>
              </a:rPr>
              <a:t>→ Subscription Order  </a:t>
            </a:r>
            <a:endParaRPr lang="en-US" sz="960"/>
          </a:p>
        </p:txBody>
      </p:sp>
      <p:sp>
        <p:nvSpPr>
          <p:cNvPr id="98" name="Shape 42">
            <a:extLst>
              <a:ext uri="{FF2B5EF4-FFF2-40B4-BE49-F238E27FC236}">
                <a16:creationId xmlns:a16="http://schemas.microsoft.com/office/drawing/2014/main" id="{FDDD2CEF-E4AA-F1A0-6415-1C52B8084DDE}"/>
              </a:ext>
            </a:extLst>
          </p:cNvPr>
          <p:cNvSpPr/>
          <p:nvPr/>
        </p:nvSpPr>
        <p:spPr>
          <a:xfrm>
            <a:off x="7351918" y="5846799"/>
            <a:ext cx="2450592" cy="429768"/>
          </a:xfrm>
          <a:prstGeom prst="roundRect">
            <a:avLst/>
          </a:prstGeom>
          <a:solidFill>
            <a:srgbClr val="ECF8F8"/>
          </a:solidFill>
          <a:ln w="10160">
            <a:solidFill>
              <a:srgbClr val="9DDEDF"/>
            </a:solidFill>
            <a:prstDash val="solid"/>
          </a:ln>
        </p:spPr>
        <p:txBody>
          <a:bodyPr/>
          <a:lstStyle/>
          <a:p>
            <a:endParaRPr lang="zh-CN" altLang="en-US"/>
          </a:p>
        </p:txBody>
      </p:sp>
      <p:sp>
        <p:nvSpPr>
          <p:cNvPr id="100" name="Text 43">
            <a:extLst>
              <a:ext uri="{FF2B5EF4-FFF2-40B4-BE49-F238E27FC236}">
                <a16:creationId xmlns:a16="http://schemas.microsoft.com/office/drawing/2014/main" id="{65FAF65F-663E-14E1-D6F4-E7C6F6C390E9}"/>
              </a:ext>
            </a:extLst>
          </p:cNvPr>
          <p:cNvSpPr/>
          <p:nvPr/>
        </p:nvSpPr>
        <p:spPr>
          <a:xfrm>
            <a:off x="7443358" y="5892519"/>
            <a:ext cx="2121408" cy="182880"/>
          </a:xfrm>
          <a:prstGeom prst="rect">
            <a:avLst/>
          </a:prstGeom>
          <a:noFill/>
          <a:ln/>
        </p:spPr>
        <p:txBody>
          <a:bodyPr wrap="square" lIns="0" tIns="0" rIns="0" bIns="0" rtlCol="0" anchor="ctr">
            <a:normAutofit/>
          </a:bodyPr>
          <a:lstStyle/>
          <a:p>
            <a:pPr marL="0" indent="0" algn="ctr">
              <a:buNone/>
            </a:pPr>
            <a:r>
              <a:rPr lang="en-US" sz="1020" b="1">
                <a:solidFill>
                  <a:srgbClr val="0E9FA6"/>
                </a:solidFill>
                <a:latin typeface="Arial" pitchFamily="34" charset="0"/>
                <a:ea typeface="Arial" pitchFamily="34" charset="-122"/>
                <a:cs typeface="Arial" pitchFamily="34" charset="-120"/>
              </a:rPr>
              <a:t>Specific device / asset</a:t>
            </a:r>
            <a:endParaRPr lang="en-US" sz="1020"/>
          </a:p>
        </p:txBody>
      </p:sp>
      <p:sp>
        <p:nvSpPr>
          <p:cNvPr id="102" name="Text 44">
            <a:extLst>
              <a:ext uri="{FF2B5EF4-FFF2-40B4-BE49-F238E27FC236}">
                <a16:creationId xmlns:a16="http://schemas.microsoft.com/office/drawing/2014/main" id="{D3847339-BD8D-7270-D546-790F2D0473E5}"/>
              </a:ext>
            </a:extLst>
          </p:cNvPr>
          <p:cNvSpPr/>
          <p:nvPr/>
        </p:nvSpPr>
        <p:spPr>
          <a:xfrm>
            <a:off x="9884806" y="5883375"/>
            <a:ext cx="1426464" cy="201168"/>
          </a:xfrm>
          <a:prstGeom prst="rect">
            <a:avLst/>
          </a:prstGeom>
          <a:noFill/>
          <a:ln/>
        </p:spPr>
        <p:txBody>
          <a:bodyPr wrap="square" lIns="0" tIns="0" rIns="0" bIns="0" rtlCol="0" anchor="ctr">
            <a:normAutofit/>
          </a:bodyPr>
          <a:lstStyle/>
          <a:p>
            <a:pPr marL="0" indent="0" algn="ctr">
              <a:buNone/>
            </a:pPr>
            <a:r>
              <a:rPr lang="en-US" sz="980" b="1">
                <a:solidFill>
                  <a:srgbClr val="5B6472"/>
                </a:solidFill>
                <a:latin typeface="Arial" pitchFamily="34" charset="0"/>
                <a:ea typeface="Arial" pitchFamily="34" charset="-122"/>
                <a:cs typeface="Arial" pitchFamily="34" charset="-120"/>
              </a:rPr>
              <a:t>→ Device List</a:t>
            </a:r>
            <a:endParaRPr lang="en-US" sz="980"/>
          </a:p>
        </p:txBody>
      </p:sp>
    </p:spTree>
    <p:extLst>
      <p:ext uri="{BB962C8B-B14F-4D97-AF65-F5344CB8AC3E}">
        <p14:creationId xmlns:p14="http://schemas.microsoft.com/office/powerpoint/2010/main" val="432563131"/>
      </p:ext>
    </p:extLst>
  </p:cSld>
  <p:clrMapOvr>
    <a:masterClrMapping/>
  </p:clrMapOvr>
  <p:transition spd="me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DBF8A-C212-5A71-8878-04FB66D043FC}"/>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0FC2DAB6-CC08-1BC5-A7C9-90A39F07C17D}"/>
              </a:ext>
            </a:extLst>
          </p:cNvPr>
          <p:cNvPicPr>
            <a:picLocks noChangeAspect="1"/>
          </p:cNvPicPr>
          <p:nvPr/>
        </p:nvPicPr>
        <p:blipFill>
          <a:blip r:embed="rId2"/>
          <a:stretch>
            <a:fillRect/>
          </a:stretch>
        </p:blipFill>
        <p:spPr>
          <a:xfrm>
            <a:off x="338514" y="1533889"/>
            <a:ext cx="7527150" cy="3722245"/>
          </a:xfrm>
          <a:prstGeom prst="rect">
            <a:avLst/>
          </a:prstGeom>
        </p:spPr>
      </p:pic>
      <p:sp>
        <p:nvSpPr>
          <p:cNvPr id="3" name="标题 2">
            <a:extLst>
              <a:ext uri="{FF2B5EF4-FFF2-40B4-BE49-F238E27FC236}">
                <a16:creationId xmlns:a16="http://schemas.microsoft.com/office/drawing/2014/main" id="{74EE5842-CAC9-E8B2-FB02-094073424A7C}"/>
              </a:ext>
            </a:extLst>
          </p:cNvPr>
          <p:cNvSpPr>
            <a:spLocks noGrp="1"/>
          </p:cNvSpPr>
          <p:nvPr>
            <p:ph type="title"/>
          </p:nvPr>
        </p:nvSpPr>
        <p:spPr/>
        <p:txBody>
          <a:bodyPr/>
          <a:lstStyle/>
          <a:p>
            <a:r>
              <a:rPr lang="en-US" altLang="zh-CN"/>
              <a:t>Device List - Find Device</a:t>
            </a:r>
            <a:endParaRPr lang="zh-CN" altLang="en-US"/>
          </a:p>
        </p:txBody>
      </p:sp>
      <p:sp>
        <p:nvSpPr>
          <p:cNvPr id="7" name="TextBox 72">
            <a:extLst>
              <a:ext uri="{FF2B5EF4-FFF2-40B4-BE49-F238E27FC236}">
                <a16:creationId xmlns:a16="http://schemas.microsoft.com/office/drawing/2014/main" id="{E3EE56E7-BF87-CAF9-73E1-7D68903EF1D1}"/>
              </a:ext>
            </a:extLst>
          </p:cNvPr>
          <p:cNvSpPr txBox="1"/>
          <p:nvPr/>
        </p:nvSpPr>
        <p:spPr>
          <a:xfrm>
            <a:off x="8285899" y="1424594"/>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Device Data</a:t>
            </a:r>
          </a:p>
        </p:txBody>
      </p:sp>
      <p:sp>
        <p:nvSpPr>
          <p:cNvPr id="8" name="TextBox 73">
            <a:extLst>
              <a:ext uri="{FF2B5EF4-FFF2-40B4-BE49-F238E27FC236}">
                <a16:creationId xmlns:a16="http://schemas.microsoft.com/office/drawing/2014/main" id="{76F91117-3D1D-FC1D-F11E-66E77D4BF002}"/>
              </a:ext>
            </a:extLst>
          </p:cNvPr>
          <p:cNvSpPr txBox="1"/>
          <p:nvPr/>
        </p:nvSpPr>
        <p:spPr>
          <a:xfrm>
            <a:off x="8297304" y="1669655"/>
            <a:ext cx="3745242" cy="1477328"/>
          </a:xfrm>
          <a:prstGeom prst="rect">
            <a:avLst/>
          </a:prstGeom>
          <a:noFill/>
        </p:spPr>
        <p:txBody>
          <a:bodyPr wrap="square" rtlCol="0">
            <a:spAutoFit/>
          </a:bodyPr>
          <a:lstStyle/>
          <a:p>
            <a:r>
              <a:rPr lang="en-US" altLang="zh-CN" sz="1000">
                <a:cs typeface="Lato Light"/>
              </a:rPr>
              <a:t>Users can search device data using one or more search criteria.</a:t>
            </a:r>
          </a:p>
          <a:p>
            <a:endParaRPr lang="en-US" altLang="zh-CN" sz="1000">
              <a:cs typeface="Lato Light"/>
            </a:endParaRPr>
          </a:p>
          <a:p>
            <a:r>
              <a:rPr lang="en-US" altLang="zh-CN" sz="1000" b="1">
                <a:cs typeface="Lato Light"/>
              </a:rPr>
              <a:t>“+”</a:t>
            </a:r>
            <a:r>
              <a:rPr lang="en-US" altLang="zh-CN" sz="1000">
                <a:cs typeface="Lato Light"/>
              </a:rPr>
              <a:t> </a:t>
            </a:r>
            <a:r>
              <a:rPr lang="en-US" altLang="zh-CN" sz="1000" b="1">
                <a:cs typeface="Lato Light"/>
              </a:rPr>
              <a:t>icon</a:t>
            </a:r>
            <a:r>
              <a:rPr lang="en-US" altLang="zh-CN" sz="1000">
                <a:cs typeface="Lato Light"/>
              </a:rPr>
              <a:t>: add additional search conditions.</a:t>
            </a:r>
          </a:p>
          <a:p>
            <a:r>
              <a:rPr lang="en-US" altLang="zh-CN" sz="1000">
                <a:cs typeface="Lato Light"/>
              </a:rPr>
              <a:t> </a:t>
            </a:r>
            <a:r>
              <a:rPr lang="en-US" altLang="zh-CN" sz="1000" b="1">
                <a:cs typeface="Lato Light"/>
              </a:rPr>
              <a:t>“×” icon</a:t>
            </a:r>
            <a:r>
              <a:rPr lang="en-US" altLang="zh-CN" sz="1000">
                <a:cs typeface="Lato Light"/>
              </a:rPr>
              <a:t>:</a:t>
            </a:r>
            <a:r>
              <a:rPr lang="en-US" altLang="zh-CN" sz="1000" b="1">
                <a:cs typeface="Lato Light"/>
              </a:rPr>
              <a:t> </a:t>
            </a:r>
            <a:r>
              <a:rPr lang="en-US" altLang="zh-CN" sz="1000">
                <a:cs typeface="Lato Light"/>
              </a:rPr>
              <a:t>remove conditions.</a:t>
            </a:r>
          </a:p>
          <a:p>
            <a:r>
              <a:rPr lang="en-US" altLang="zh-CN" sz="1000" b="1">
                <a:cs typeface="Lato Light"/>
              </a:rPr>
              <a:t>Search</a:t>
            </a:r>
            <a:r>
              <a:rPr lang="en-US" altLang="zh-CN" sz="1000">
                <a:cs typeface="Lato Light"/>
              </a:rPr>
              <a:t>: retrieve matching devices.</a:t>
            </a:r>
          </a:p>
          <a:p>
            <a:r>
              <a:rPr lang="en-US" altLang="zh-CN" sz="1000" b="1">
                <a:cs typeface="Lato Light"/>
              </a:rPr>
              <a:t>Clear</a:t>
            </a:r>
            <a:r>
              <a:rPr lang="en-US" altLang="zh-CN" sz="1000">
                <a:cs typeface="Lato Light"/>
              </a:rPr>
              <a:t>: remove all search criteria and clear the current search results. </a:t>
            </a:r>
          </a:p>
          <a:p>
            <a:r>
              <a:rPr lang="en-US" altLang="zh-CN" sz="1000" b="1">
                <a:cs typeface="Lato Light"/>
              </a:rPr>
              <a:t>Save Search</a:t>
            </a:r>
            <a:r>
              <a:rPr lang="en-US" altLang="zh-CN" sz="1000">
                <a:cs typeface="Lato Light"/>
              </a:rPr>
              <a:t>: save frequently used search criteria for future use.</a:t>
            </a:r>
          </a:p>
          <a:p>
            <a:r>
              <a:rPr lang="en-US" altLang="zh-CN" sz="1000" b="1">
                <a:cs typeface="Lato Light"/>
              </a:rPr>
              <a:t>My Searches</a:t>
            </a:r>
            <a:r>
              <a:rPr lang="en-US" altLang="zh-CN" sz="1000">
                <a:cs typeface="Lato Light"/>
              </a:rPr>
              <a:t>: quickly reuse previously saved search templates.</a:t>
            </a:r>
          </a:p>
        </p:txBody>
      </p:sp>
      <p:sp>
        <p:nvSpPr>
          <p:cNvPr id="9" name="TextBox 82">
            <a:extLst>
              <a:ext uri="{FF2B5EF4-FFF2-40B4-BE49-F238E27FC236}">
                <a16:creationId xmlns:a16="http://schemas.microsoft.com/office/drawing/2014/main" id="{C4A2E42A-171E-26E5-994C-E0D0A0DB8B01}"/>
              </a:ext>
            </a:extLst>
          </p:cNvPr>
          <p:cNvSpPr txBox="1"/>
          <p:nvPr/>
        </p:nvSpPr>
        <p:spPr>
          <a:xfrm>
            <a:off x="8268707" y="3136612"/>
            <a:ext cx="1939214" cy="292388"/>
          </a:xfrm>
          <a:prstGeom prst="rect">
            <a:avLst/>
          </a:prstGeom>
          <a:noFill/>
        </p:spPr>
        <p:txBody>
          <a:bodyPr wrap="square" rtlCol="0">
            <a:spAutoFit/>
          </a:bodyPr>
          <a:lstStyle/>
          <a:p>
            <a:r>
              <a:rPr lang="en-US" sz="1300" b="1">
                <a:solidFill>
                  <a:srgbClr val="126C36"/>
                </a:solidFill>
                <a:cs typeface="Lato Regular"/>
              </a:rPr>
              <a:t>Device Views</a:t>
            </a:r>
          </a:p>
        </p:txBody>
      </p:sp>
      <p:sp>
        <p:nvSpPr>
          <p:cNvPr id="10" name="TextBox 83">
            <a:extLst>
              <a:ext uri="{FF2B5EF4-FFF2-40B4-BE49-F238E27FC236}">
                <a16:creationId xmlns:a16="http://schemas.microsoft.com/office/drawing/2014/main" id="{A2C52A6D-EAB6-0DA1-722C-77C052A223AF}"/>
              </a:ext>
            </a:extLst>
          </p:cNvPr>
          <p:cNvSpPr txBox="1"/>
          <p:nvPr/>
        </p:nvSpPr>
        <p:spPr>
          <a:xfrm>
            <a:off x="8283829" y="3391928"/>
            <a:ext cx="3118368" cy="707886"/>
          </a:xfrm>
          <a:prstGeom prst="rect">
            <a:avLst/>
          </a:prstGeom>
          <a:noFill/>
        </p:spPr>
        <p:txBody>
          <a:bodyPr wrap="square" rtlCol="0">
            <a:spAutoFit/>
          </a:bodyPr>
          <a:lstStyle/>
          <a:p>
            <a:r>
              <a:rPr lang="en-US" sz="1000" b="1">
                <a:cs typeface="Lato Light"/>
              </a:rPr>
              <a:t>DaaS Device Data</a:t>
            </a:r>
            <a:r>
              <a:rPr lang="en-US" sz="1000">
                <a:cs typeface="Lato Light"/>
              </a:rPr>
              <a:t>: Displays devices associated with DaaS subscriptions.</a:t>
            </a:r>
          </a:p>
          <a:p>
            <a:r>
              <a:rPr lang="en-US" sz="1000" b="1">
                <a:cs typeface="Lato Light"/>
              </a:rPr>
              <a:t>IaaS Device Data</a:t>
            </a:r>
            <a:r>
              <a:rPr lang="en-US" sz="1000">
                <a:cs typeface="Lato Light"/>
              </a:rPr>
              <a:t>: Displays devices associated with IaaS subscriptions.</a:t>
            </a:r>
          </a:p>
        </p:txBody>
      </p:sp>
      <p:sp>
        <p:nvSpPr>
          <p:cNvPr id="13" name="Oval 111">
            <a:extLst>
              <a:ext uri="{FF2B5EF4-FFF2-40B4-BE49-F238E27FC236}">
                <a16:creationId xmlns:a16="http://schemas.microsoft.com/office/drawing/2014/main" id="{B715B815-8E3E-314A-E1AC-E6CDE59DAD8C}"/>
              </a:ext>
            </a:extLst>
          </p:cNvPr>
          <p:cNvSpPr/>
          <p:nvPr/>
        </p:nvSpPr>
        <p:spPr>
          <a:xfrm>
            <a:off x="8040107" y="1434899"/>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4" name="Oval 112">
            <a:extLst>
              <a:ext uri="{FF2B5EF4-FFF2-40B4-BE49-F238E27FC236}">
                <a16:creationId xmlns:a16="http://schemas.microsoft.com/office/drawing/2014/main" id="{1B1227D3-D531-E0F6-3475-AF1570D8B469}"/>
              </a:ext>
            </a:extLst>
          </p:cNvPr>
          <p:cNvSpPr/>
          <p:nvPr/>
        </p:nvSpPr>
        <p:spPr>
          <a:xfrm>
            <a:off x="8040107" y="3169430"/>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5" name="Text 2">
            <a:extLst>
              <a:ext uri="{FF2B5EF4-FFF2-40B4-BE49-F238E27FC236}">
                <a16:creationId xmlns:a16="http://schemas.microsoft.com/office/drawing/2014/main" id="{5CEBE8D2-C097-5A5D-E404-6F4FBCB44545}"/>
              </a:ext>
            </a:extLst>
          </p:cNvPr>
          <p:cNvSpPr/>
          <p:nvPr/>
        </p:nvSpPr>
        <p:spPr>
          <a:xfrm>
            <a:off x="320181" y="806095"/>
            <a:ext cx="11639523" cy="509377"/>
          </a:xfrm>
          <a:prstGeom prst="rect">
            <a:avLst/>
          </a:prstGeom>
          <a:noFill/>
          <a:ln/>
        </p:spPr>
        <p:txBody>
          <a:bodyPr wrap="square" lIns="0" tIns="0" rIns="0" bIns="0" rtlCol="0" anchor="ctr">
            <a:normAutofit lnSpcReduction="10000"/>
          </a:bodyPr>
          <a:lstStyle/>
          <a:p>
            <a:r>
              <a:rPr lang="en-US" altLang="zh-CN" sz="1200"/>
              <a:t>The Device List page provides centralized management and visibility of devices associated with Subscription Orders in </a:t>
            </a:r>
            <a:r>
              <a:rPr lang="en-US" altLang="zh-CN" sz="1200" err="1"/>
              <a:t>NexBill</a:t>
            </a:r>
            <a:r>
              <a:rPr lang="en-US" altLang="zh-CN" sz="1200"/>
              <a:t>. Users can search, review, and maintain device information throughout the device lifecycle. The page supports both DaaS Device Data and IaaS Device Data, allowing users to view device attributes, subscription relationships, contract information, and device status. It also provides device maintenance capabilities through controlled change request and approval workflows.</a:t>
            </a:r>
          </a:p>
        </p:txBody>
      </p:sp>
      <p:sp>
        <p:nvSpPr>
          <p:cNvPr id="16" name="Oval 111">
            <a:extLst>
              <a:ext uri="{FF2B5EF4-FFF2-40B4-BE49-F238E27FC236}">
                <a16:creationId xmlns:a16="http://schemas.microsoft.com/office/drawing/2014/main" id="{BD5BBE60-E54D-568E-E2FA-0F10C78EBDCD}"/>
              </a:ext>
            </a:extLst>
          </p:cNvPr>
          <p:cNvSpPr/>
          <p:nvPr/>
        </p:nvSpPr>
        <p:spPr>
          <a:xfrm>
            <a:off x="6827687" y="256389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Oval 112">
            <a:extLst>
              <a:ext uri="{FF2B5EF4-FFF2-40B4-BE49-F238E27FC236}">
                <a16:creationId xmlns:a16="http://schemas.microsoft.com/office/drawing/2014/main" id="{CE569176-4FB8-402F-5DF5-59BA8E9D30FB}"/>
              </a:ext>
            </a:extLst>
          </p:cNvPr>
          <p:cNvSpPr/>
          <p:nvPr/>
        </p:nvSpPr>
        <p:spPr>
          <a:xfrm>
            <a:off x="1984079" y="3047884"/>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 name="TextBox 97">
            <a:extLst>
              <a:ext uri="{FF2B5EF4-FFF2-40B4-BE49-F238E27FC236}">
                <a16:creationId xmlns:a16="http://schemas.microsoft.com/office/drawing/2014/main" id="{EF166AB1-6334-4DBE-B90E-BD42114DBE58}"/>
              </a:ext>
            </a:extLst>
          </p:cNvPr>
          <p:cNvSpPr txBox="1"/>
          <p:nvPr/>
        </p:nvSpPr>
        <p:spPr>
          <a:xfrm>
            <a:off x="8268707" y="4099814"/>
            <a:ext cx="2577224" cy="292388"/>
          </a:xfrm>
          <a:prstGeom prst="rect">
            <a:avLst/>
          </a:prstGeom>
          <a:noFill/>
        </p:spPr>
        <p:txBody>
          <a:bodyPr wrap="square" rtlCol="0">
            <a:spAutoFit/>
          </a:bodyPr>
          <a:lstStyle/>
          <a:p>
            <a:r>
              <a:rPr lang="en-US" sz="1300" b="1">
                <a:solidFill>
                  <a:srgbClr val="F26A52"/>
                </a:solidFill>
                <a:cs typeface="Lato Regular"/>
              </a:rPr>
              <a:t>Result List</a:t>
            </a:r>
          </a:p>
        </p:txBody>
      </p:sp>
      <p:sp>
        <p:nvSpPr>
          <p:cNvPr id="4" name="Oval 114">
            <a:extLst>
              <a:ext uri="{FF2B5EF4-FFF2-40B4-BE49-F238E27FC236}">
                <a16:creationId xmlns:a16="http://schemas.microsoft.com/office/drawing/2014/main" id="{F3E9041F-A1AD-5D93-F827-118932FE7D5E}"/>
              </a:ext>
            </a:extLst>
          </p:cNvPr>
          <p:cNvSpPr/>
          <p:nvPr/>
        </p:nvSpPr>
        <p:spPr>
          <a:xfrm>
            <a:off x="8040107" y="4131708"/>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
        <p:nvSpPr>
          <p:cNvPr id="6" name="TextBox 83">
            <a:extLst>
              <a:ext uri="{FF2B5EF4-FFF2-40B4-BE49-F238E27FC236}">
                <a16:creationId xmlns:a16="http://schemas.microsoft.com/office/drawing/2014/main" id="{640665FB-49DC-12AC-B605-1A7497005BF2}"/>
              </a:ext>
            </a:extLst>
          </p:cNvPr>
          <p:cNvSpPr txBox="1"/>
          <p:nvPr/>
        </p:nvSpPr>
        <p:spPr>
          <a:xfrm>
            <a:off x="8283829" y="4344759"/>
            <a:ext cx="3629647" cy="2092881"/>
          </a:xfrm>
          <a:prstGeom prst="rect">
            <a:avLst/>
          </a:prstGeom>
          <a:noFill/>
        </p:spPr>
        <p:txBody>
          <a:bodyPr wrap="square" rtlCol="0">
            <a:spAutoFit/>
          </a:bodyPr>
          <a:lstStyle/>
          <a:p>
            <a:r>
              <a:rPr lang="en-US" altLang="zh-CN" sz="1000" b="1">
                <a:cs typeface="Lato Light"/>
              </a:rPr>
              <a:t>Settings: </a:t>
            </a:r>
            <a:r>
              <a:rPr lang="en-US" altLang="zh-CN" sz="1000">
                <a:cs typeface="Lato Light"/>
              </a:rPr>
              <a:t>Customize the result list by selecting which fields are displayed. </a:t>
            </a:r>
          </a:p>
          <a:p>
            <a:endParaRPr lang="en-US" altLang="zh-CN" sz="1000">
              <a:cs typeface="Lato Light"/>
            </a:endParaRPr>
          </a:p>
          <a:p>
            <a:r>
              <a:rPr lang="en-US" altLang="zh-CN" sz="1000" b="1">
                <a:cs typeface="Lato Light"/>
              </a:rPr>
              <a:t>Pagination: </a:t>
            </a:r>
            <a:r>
              <a:rPr lang="en-US" altLang="zh-CN" sz="1000">
                <a:cs typeface="Lato Light"/>
              </a:rPr>
              <a:t>By default, 20 records are displayed per page. Users can navigate between pages or adjust the number of displayed records.</a:t>
            </a:r>
          </a:p>
          <a:p>
            <a:endParaRPr lang="en-US" altLang="zh-CN" sz="1000">
              <a:cs typeface="Lato Light"/>
            </a:endParaRPr>
          </a:p>
          <a:p>
            <a:r>
              <a:rPr lang="en-US" altLang="zh-CN" sz="1000" b="1">
                <a:cs typeface="Lato Light"/>
              </a:rPr>
              <a:t>Full Screen: </a:t>
            </a:r>
            <a:r>
              <a:rPr lang="en-US" altLang="zh-CN" sz="1000">
                <a:cs typeface="Lato Light"/>
              </a:rPr>
              <a:t>Expands the result list to full-screen mode</a:t>
            </a:r>
          </a:p>
          <a:p>
            <a:endParaRPr lang="en-US" altLang="zh-CN" sz="1000">
              <a:cs typeface="Lato Light"/>
            </a:endParaRPr>
          </a:p>
          <a:p>
            <a:r>
              <a:rPr lang="en-US" altLang="zh-CN" sz="1000" b="1">
                <a:cs typeface="Lato Light"/>
              </a:rPr>
              <a:t>Download: </a:t>
            </a:r>
            <a:r>
              <a:rPr lang="en-US" altLang="zh-CN" sz="1000">
                <a:cs typeface="Lato Light"/>
              </a:rPr>
              <a:t>Exports device data for offline analysis.</a:t>
            </a:r>
          </a:p>
          <a:p>
            <a:r>
              <a:rPr lang="en-US" altLang="zh-CN" sz="1000">
                <a:cs typeface="Lato Light"/>
              </a:rPr>
              <a:t>Download All Data: Export all records returned by the current search.</a:t>
            </a:r>
          </a:p>
          <a:p>
            <a:r>
              <a:rPr lang="en-US" altLang="zh-CN" sz="1000">
                <a:cs typeface="Lato Light"/>
              </a:rPr>
              <a:t>Download Selected Data: Export only the selected records.</a:t>
            </a:r>
          </a:p>
        </p:txBody>
      </p:sp>
      <p:sp>
        <p:nvSpPr>
          <p:cNvPr id="15" name="Oval 114">
            <a:extLst>
              <a:ext uri="{FF2B5EF4-FFF2-40B4-BE49-F238E27FC236}">
                <a16:creationId xmlns:a16="http://schemas.microsoft.com/office/drawing/2014/main" id="{D83DCB33-9828-4DA3-2A9D-EA1DBB1B0962}"/>
              </a:ext>
            </a:extLst>
          </p:cNvPr>
          <p:cNvSpPr/>
          <p:nvPr/>
        </p:nvSpPr>
        <p:spPr>
          <a:xfrm>
            <a:off x="6960131" y="3372892"/>
            <a:ext cx="228600" cy="228600"/>
          </a:xfrm>
          <a:prstGeom prst="ellipse">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3</a:t>
            </a:r>
          </a:p>
        </p:txBody>
      </p:sp>
    </p:spTree>
    <p:extLst>
      <p:ext uri="{BB962C8B-B14F-4D97-AF65-F5344CB8AC3E}">
        <p14:creationId xmlns:p14="http://schemas.microsoft.com/office/powerpoint/2010/main" val="3646886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par>
                          <p:cTn id="42" fill="hold">
                            <p:stCondLst>
                              <p:cond delay="2500"/>
                            </p:stCondLst>
                            <p:childTnLst>
                              <p:par>
                                <p:cTn id="43" presetID="10" presetClass="entr" presetSubtype="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3" grpId="0" animBg="1"/>
      <p:bldP spid="14" grpId="0" animBg="1"/>
      <p:bldP spid="16" grpId="0" animBg="1"/>
      <p:bldP spid="18" grpId="0" animBg="1"/>
      <p:bldP spid="2" grpId="0"/>
      <p:bldP spid="4" grpId="0" animBg="1"/>
      <p:bldP spid="6" grpId="0"/>
      <p:bldP spid="15"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AF669-38AE-2C63-400E-249A81163ACF}"/>
            </a:ext>
          </a:extLst>
        </p:cNvPr>
        <p:cNvGrpSpPr/>
        <p:nvPr/>
      </p:nvGrpSpPr>
      <p:grpSpPr>
        <a:xfrm>
          <a:off x="0" y="0"/>
          <a:ext cx="0" cy="0"/>
          <a:chOff x="0" y="0"/>
          <a:chExt cx="0" cy="0"/>
        </a:xfrm>
      </p:grpSpPr>
      <p:pic>
        <p:nvPicPr>
          <p:cNvPr id="20" name="图片 19">
            <a:extLst>
              <a:ext uri="{FF2B5EF4-FFF2-40B4-BE49-F238E27FC236}">
                <a16:creationId xmlns:a16="http://schemas.microsoft.com/office/drawing/2014/main" id="{17D0883C-DAB1-3803-A880-C3EB29D0D3F5}"/>
              </a:ext>
            </a:extLst>
          </p:cNvPr>
          <p:cNvPicPr>
            <a:picLocks noChangeAspect="1"/>
          </p:cNvPicPr>
          <p:nvPr/>
        </p:nvPicPr>
        <p:blipFill>
          <a:blip r:embed="rId2"/>
          <a:stretch>
            <a:fillRect/>
          </a:stretch>
        </p:blipFill>
        <p:spPr>
          <a:xfrm>
            <a:off x="320181" y="1425970"/>
            <a:ext cx="7352517" cy="3261643"/>
          </a:xfrm>
          <a:prstGeom prst="rect">
            <a:avLst/>
          </a:prstGeom>
        </p:spPr>
      </p:pic>
      <p:sp>
        <p:nvSpPr>
          <p:cNvPr id="3" name="标题 2">
            <a:extLst>
              <a:ext uri="{FF2B5EF4-FFF2-40B4-BE49-F238E27FC236}">
                <a16:creationId xmlns:a16="http://schemas.microsoft.com/office/drawing/2014/main" id="{CB7C1418-5B1F-3383-AD9B-730BF5BC0A46}"/>
              </a:ext>
            </a:extLst>
          </p:cNvPr>
          <p:cNvSpPr>
            <a:spLocks noGrp="1"/>
          </p:cNvSpPr>
          <p:nvPr>
            <p:ph type="title"/>
          </p:nvPr>
        </p:nvSpPr>
        <p:spPr/>
        <p:txBody>
          <a:bodyPr/>
          <a:lstStyle/>
          <a:p>
            <a:r>
              <a:rPr lang="en-US" altLang="zh-CN"/>
              <a:t>Device List – Change Device</a:t>
            </a:r>
            <a:endParaRPr lang="zh-CN" altLang="en-US"/>
          </a:p>
        </p:txBody>
      </p:sp>
      <p:sp>
        <p:nvSpPr>
          <p:cNvPr id="11" name="TextBox 97">
            <a:extLst>
              <a:ext uri="{FF2B5EF4-FFF2-40B4-BE49-F238E27FC236}">
                <a16:creationId xmlns:a16="http://schemas.microsoft.com/office/drawing/2014/main" id="{12FD8519-8542-ED9D-97F0-0E3F17981478}"/>
              </a:ext>
            </a:extLst>
          </p:cNvPr>
          <p:cNvSpPr txBox="1"/>
          <p:nvPr/>
        </p:nvSpPr>
        <p:spPr>
          <a:xfrm>
            <a:off x="7964653" y="1291192"/>
            <a:ext cx="2577224" cy="292388"/>
          </a:xfrm>
          <a:prstGeom prst="rect">
            <a:avLst/>
          </a:prstGeom>
          <a:noFill/>
        </p:spPr>
        <p:txBody>
          <a:bodyPr wrap="square" rtlCol="0">
            <a:spAutoFit/>
          </a:bodyPr>
          <a:lstStyle/>
          <a:p>
            <a:r>
              <a:rPr lang="en-US" sz="1300" b="1">
                <a:solidFill>
                  <a:srgbClr val="4646C3"/>
                </a:solidFill>
                <a:cs typeface="Lato Regular"/>
              </a:rPr>
              <a:t>Edit - Approval Required</a:t>
            </a:r>
          </a:p>
        </p:txBody>
      </p:sp>
      <p:sp>
        <p:nvSpPr>
          <p:cNvPr id="12" name="TextBox 98">
            <a:extLst>
              <a:ext uri="{FF2B5EF4-FFF2-40B4-BE49-F238E27FC236}">
                <a16:creationId xmlns:a16="http://schemas.microsoft.com/office/drawing/2014/main" id="{7040C5FB-CBD5-3ED3-584B-FB69DF8CC28B}"/>
              </a:ext>
            </a:extLst>
          </p:cNvPr>
          <p:cNvSpPr txBox="1"/>
          <p:nvPr/>
        </p:nvSpPr>
        <p:spPr>
          <a:xfrm>
            <a:off x="7964653" y="1575188"/>
            <a:ext cx="3984804" cy="3170099"/>
          </a:xfrm>
          <a:prstGeom prst="rect">
            <a:avLst/>
          </a:prstGeom>
          <a:noFill/>
        </p:spPr>
        <p:txBody>
          <a:bodyPr wrap="square" rtlCol="0">
            <a:spAutoFit/>
          </a:bodyPr>
          <a:lstStyle/>
          <a:p>
            <a:r>
              <a:rPr lang="en-US" altLang="zh-CN" sz="1000">
                <a:cs typeface="Lato Light"/>
              </a:rPr>
              <a:t>U</a:t>
            </a:r>
            <a:r>
              <a:rPr lang="en-US" sz="1000">
                <a:cs typeface="Lato Light"/>
              </a:rPr>
              <a:t>sers can update selected device records:</a:t>
            </a:r>
          </a:p>
          <a:p>
            <a:r>
              <a:rPr lang="en-US" sz="1000">
                <a:cs typeface="Lato Light"/>
              </a:rPr>
              <a:t>1. Select one or more device records from the result list.</a:t>
            </a:r>
          </a:p>
          <a:p>
            <a:r>
              <a:rPr lang="en-US" sz="1000">
                <a:cs typeface="Lato Light"/>
              </a:rPr>
              <a:t>2. Click Edit to open the device maintenance screen and </a:t>
            </a:r>
            <a:r>
              <a:rPr lang="en-US" altLang="zh-CN" sz="1000">
                <a:cs typeface="Lato Light"/>
              </a:rPr>
              <a:t>enter the required changes</a:t>
            </a:r>
            <a:r>
              <a:rPr lang="en-US" sz="1000">
                <a:cs typeface="Lato Light"/>
              </a:rPr>
              <a:t>.</a:t>
            </a:r>
          </a:p>
          <a:p>
            <a:r>
              <a:rPr lang="en-US" sz="1000">
                <a:cs typeface="Lato Light"/>
              </a:rPr>
              <a:t>3. </a:t>
            </a:r>
            <a:r>
              <a:rPr lang="en-US" altLang="zh-CN" sz="1000">
                <a:cs typeface="Lato Light"/>
              </a:rPr>
              <a:t>Submit the request.</a:t>
            </a:r>
          </a:p>
          <a:p>
            <a:r>
              <a:rPr lang="en-US" sz="1000">
                <a:cs typeface="Lato Light"/>
              </a:rPr>
              <a:t>4. </a:t>
            </a:r>
            <a:r>
              <a:rPr lang="en-US" altLang="zh-CN" sz="1000" err="1">
                <a:cs typeface="Lato Light"/>
              </a:rPr>
              <a:t>NexBill</a:t>
            </a:r>
            <a:r>
              <a:rPr lang="en-US" altLang="zh-CN" sz="1000">
                <a:cs typeface="Lato Light"/>
              </a:rPr>
              <a:t> generates a Change Request. The request is routed to the designated approver.</a:t>
            </a:r>
          </a:p>
          <a:p>
            <a:r>
              <a:rPr lang="en-US" altLang="zh-CN" sz="1000">
                <a:cs typeface="Lato Light"/>
              </a:rPr>
              <a:t>5. </a:t>
            </a:r>
            <a:r>
              <a:rPr lang="en-US" altLang="zh-CN" sz="1000" b="1">
                <a:cs typeface="Lato Light"/>
              </a:rPr>
              <a:t>Changes become effective only after approval and successful execution.</a:t>
            </a:r>
            <a:endParaRPr lang="en-US" sz="1000" b="1">
              <a:cs typeface="Lato Light"/>
            </a:endParaRPr>
          </a:p>
          <a:p>
            <a:r>
              <a:rPr lang="en-US" sz="1000">
                <a:cs typeface="Lato Light"/>
              </a:rPr>
              <a:t>If no device is selected, the Edit function is disabled and cannot be executed.</a:t>
            </a:r>
          </a:p>
          <a:p>
            <a:endParaRPr lang="en-US" sz="1000">
              <a:cs typeface="Lato Light"/>
            </a:endParaRPr>
          </a:p>
          <a:p>
            <a:r>
              <a:rPr lang="en-US" sz="1000" b="1">
                <a:cs typeface="Lato Light"/>
              </a:rPr>
              <a:t>Editable Fields</a:t>
            </a:r>
            <a:endParaRPr lang="en-US" sz="1000">
              <a:cs typeface="Lato Light"/>
            </a:endParaRPr>
          </a:p>
          <a:p>
            <a:r>
              <a:rPr lang="en-US" sz="1000">
                <a:cs typeface="Lato Light"/>
              </a:rPr>
              <a:t>For selected device records, users can update all supported device attributes </a:t>
            </a:r>
            <a:r>
              <a:rPr lang="en-US" sz="1000" b="1">
                <a:cs typeface="Lato Light"/>
              </a:rPr>
              <a:t>Except</a:t>
            </a:r>
            <a:r>
              <a:rPr lang="en-US" sz="1000">
                <a:cs typeface="Lato Light"/>
              </a:rPr>
              <a:t>: (</a:t>
            </a:r>
            <a:r>
              <a:rPr lang="en-US" altLang="zh-CN" sz="1000">
                <a:cs typeface="Lato Light"/>
              </a:rPr>
              <a:t>system-controlled and cannot be modified)</a:t>
            </a:r>
            <a:endParaRPr lang="en-US" sz="1000">
              <a:cs typeface="Lato Light"/>
            </a:endParaRPr>
          </a:p>
          <a:p>
            <a:pPr marL="171450" indent="-171450">
              <a:buFont typeface="Arial" panose="020B0604020202020204" pitchFamily="34" charset="0"/>
              <a:buChar char="•"/>
            </a:pPr>
            <a:r>
              <a:rPr lang="en-US" sz="1000">
                <a:cs typeface="Lato Light"/>
              </a:rPr>
              <a:t>Subscription Order ID</a:t>
            </a:r>
          </a:p>
          <a:p>
            <a:pPr marL="171450" indent="-171450">
              <a:buFont typeface="Arial" panose="020B0604020202020204" pitchFamily="34" charset="0"/>
              <a:buChar char="•"/>
            </a:pPr>
            <a:r>
              <a:rPr lang="en-US" sz="1000">
                <a:cs typeface="Lato Light"/>
              </a:rPr>
              <a:t>Subscription Order Item ID</a:t>
            </a:r>
          </a:p>
          <a:p>
            <a:pPr marL="171450" indent="-171450">
              <a:buFont typeface="Arial" panose="020B0604020202020204" pitchFamily="34" charset="0"/>
              <a:buChar char="•"/>
            </a:pPr>
            <a:r>
              <a:rPr lang="en-US" sz="1000">
                <a:cs typeface="Lato Light"/>
              </a:rPr>
              <a:t>Created By</a:t>
            </a:r>
          </a:p>
          <a:p>
            <a:pPr marL="171450" indent="-171450">
              <a:buFont typeface="Arial" panose="020B0604020202020204" pitchFamily="34" charset="0"/>
              <a:buChar char="•"/>
            </a:pPr>
            <a:r>
              <a:rPr lang="en-US" sz="1000">
                <a:cs typeface="Lato Light"/>
              </a:rPr>
              <a:t>Created At</a:t>
            </a:r>
          </a:p>
          <a:p>
            <a:pPr marL="171450" indent="-171450">
              <a:buFont typeface="Arial" panose="020B0604020202020204" pitchFamily="34" charset="0"/>
              <a:buChar char="•"/>
            </a:pPr>
            <a:r>
              <a:rPr lang="en-US" sz="1000">
                <a:cs typeface="Lato Light"/>
              </a:rPr>
              <a:t>Updated At</a:t>
            </a:r>
          </a:p>
        </p:txBody>
      </p:sp>
      <p:sp>
        <p:nvSpPr>
          <p:cNvPr id="15" name="Oval 114">
            <a:extLst>
              <a:ext uri="{FF2B5EF4-FFF2-40B4-BE49-F238E27FC236}">
                <a16:creationId xmlns:a16="http://schemas.microsoft.com/office/drawing/2014/main" id="{D19B6F04-0AB7-3760-3E05-CD2CCFCF8E0F}"/>
              </a:ext>
            </a:extLst>
          </p:cNvPr>
          <p:cNvSpPr/>
          <p:nvPr/>
        </p:nvSpPr>
        <p:spPr>
          <a:xfrm>
            <a:off x="7736053" y="1323086"/>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5" name="Text 2">
            <a:extLst>
              <a:ext uri="{FF2B5EF4-FFF2-40B4-BE49-F238E27FC236}">
                <a16:creationId xmlns:a16="http://schemas.microsoft.com/office/drawing/2014/main" id="{00570703-47D2-A4F9-43F1-7498595ED8BE}"/>
              </a:ext>
            </a:extLst>
          </p:cNvPr>
          <p:cNvSpPr/>
          <p:nvPr/>
        </p:nvSpPr>
        <p:spPr>
          <a:xfrm>
            <a:off x="320181" y="737130"/>
            <a:ext cx="11639523" cy="509377"/>
          </a:xfrm>
          <a:prstGeom prst="rect">
            <a:avLst/>
          </a:prstGeom>
          <a:noFill/>
          <a:ln/>
        </p:spPr>
        <p:txBody>
          <a:bodyPr wrap="square" lIns="0" tIns="0" rIns="0" bIns="0" rtlCol="0" anchor="ctr">
            <a:normAutofit/>
          </a:bodyPr>
          <a:lstStyle/>
          <a:p>
            <a:r>
              <a:rPr lang="en-US" altLang="zh-CN" sz="1200"/>
              <a:t>Manual device changes are intended for </a:t>
            </a:r>
            <a:r>
              <a:rPr lang="en-US" altLang="zh-CN" sz="1200" b="1"/>
              <a:t>exceptional business scenarios </a:t>
            </a:r>
            <a:r>
              <a:rPr lang="en-US" altLang="zh-CN" sz="1200"/>
              <a:t>and are </a:t>
            </a:r>
            <a:r>
              <a:rPr lang="en-US" altLang="zh-CN" sz="1200" b="1"/>
              <a:t>restricted to authorized users</a:t>
            </a:r>
            <a:r>
              <a:rPr lang="en-US" altLang="zh-CN" sz="1200"/>
              <a:t>. </a:t>
            </a:r>
          </a:p>
          <a:p>
            <a:r>
              <a:rPr lang="en-US" altLang="zh-CN" sz="1200">
                <a:cs typeface="Lato Light"/>
              </a:rPr>
              <a:t>Device updates are controlled through a change request workflow.</a:t>
            </a:r>
            <a:endParaRPr lang="en-US" altLang="zh-CN" sz="1200"/>
          </a:p>
        </p:txBody>
      </p:sp>
      <p:sp>
        <p:nvSpPr>
          <p:cNvPr id="2" name="TextBox 97">
            <a:extLst>
              <a:ext uri="{FF2B5EF4-FFF2-40B4-BE49-F238E27FC236}">
                <a16:creationId xmlns:a16="http://schemas.microsoft.com/office/drawing/2014/main" id="{5D230959-88FB-FFE2-E4E8-DEF196C21F09}"/>
              </a:ext>
            </a:extLst>
          </p:cNvPr>
          <p:cNvSpPr txBox="1"/>
          <p:nvPr/>
        </p:nvSpPr>
        <p:spPr>
          <a:xfrm>
            <a:off x="8114373" y="4688788"/>
            <a:ext cx="1897289" cy="292388"/>
          </a:xfrm>
          <a:prstGeom prst="rect">
            <a:avLst/>
          </a:prstGeom>
          <a:noFill/>
        </p:spPr>
        <p:txBody>
          <a:bodyPr wrap="square" rtlCol="0">
            <a:spAutoFit/>
          </a:bodyPr>
          <a:lstStyle/>
          <a:p>
            <a:r>
              <a:rPr lang="en-US" sz="1300" b="1">
                <a:solidFill>
                  <a:srgbClr val="126C36"/>
                </a:solidFill>
                <a:cs typeface="Lato Regular"/>
              </a:rPr>
              <a:t>My Request</a:t>
            </a:r>
          </a:p>
        </p:txBody>
      </p:sp>
      <p:sp>
        <p:nvSpPr>
          <p:cNvPr id="6" name="TextBox 98">
            <a:extLst>
              <a:ext uri="{FF2B5EF4-FFF2-40B4-BE49-F238E27FC236}">
                <a16:creationId xmlns:a16="http://schemas.microsoft.com/office/drawing/2014/main" id="{26CC1FCD-DF56-1CF1-9A86-9EE5DA325EA2}"/>
              </a:ext>
            </a:extLst>
          </p:cNvPr>
          <p:cNvSpPr txBox="1"/>
          <p:nvPr/>
        </p:nvSpPr>
        <p:spPr>
          <a:xfrm>
            <a:off x="8114373" y="4959517"/>
            <a:ext cx="2427504" cy="553998"/>
          </a:xfrm>
          <a:prstGeom prst="rect">
            <a:avLst/>
          </a:prstGeom>
          <a:noFill/>
        </p:spPr>
        <p:txBody>
          <a:bodyPr wrap="square" rtlCol="0">
            <a:spAutoFit/>
          </a:bodyPr>
          <a:lstStyle/>
          <a:p>
            <a:r>
              <a:rPr lang="en-US" sz="1000">
                <a:cs typeface="Lato Light"/>
              </a:rPr>
              <a:t>Displays device-related change requests submitted by the current user, including approval and processing status.</a:t>
            </a:r>
          </a:p>
        </p:txBody>
      </p:sp>
      <p:sp>
        <p:nvSpPr>
          <p:cNvPr id="7" name="Oval 114">
            <a:extLst>
              <a:ext uri="{FF2B5EF4-FFF2-40B4-BE49-F238E27FC236}">
                <a16:creationId xmlns:a16="http://schemas.microsoft.com/office/drawing/2014/main" id="{9601DBC6-9C9E-2B69-4262-7029842635A9}"/>
              </a:ext>
            </a:extLst>
          </p:cNvPr>
          <p:cNvSpPr/>
          <p:nvPr/>
        </p:nvSpPr>
        <p:spPr>
          <a:xfrm>
            <a:off x="7875479" y="474727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8" name="Oval 114">
            <a:extLst>
              <a:ext uri="{FF2B5EF4-FFF2-40B4-BE49-F238E27FC236}">
                <a16:creationId xmlns:a16="http://schemas.microsoft.com/office/drawing/2014/main" id="{0D94AE82-2B67-9C45-EA12-71C1A49EEFAE}"/>
              </a:ext>
            </a:extLst>
          </p:cNvPr>
          <p:cNvSpPr/>
          <p:nvPr/>
        </p:nvSpPr>
        <p:spPr>
          <a:xfrm>
            <a:off x="1727778" y="2823726"/>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9" name="Oval 114">
            <a:extLst>
              <a:ext uri="{FF2B5EF4-FFF2-40B4-BE49-F238E27FC236}">
                <a16:creationId xmlns:a16="http://schemas.microsoft.com/office/drawing/2014/main" id="{0D015653-D053-90D7-4F68-9DD500C5B6B8}"/>
              </a:ext>
            </a:extLst>
          </p:cNvPr>
          <p:cNvSpPr/>
          <p:nvPr/>
        </p:nvSpPr>
        <p:spPr>
          <a:xfrm>
            <a:off x="5218778" y="2823726"/>
            <a:ext cx="228600" cy="228600"/>
          </a:xfrm>
          <a:prstGeom prst="ellipse">
            <a:avLst/>
          </a:prstGeom>
          <a:solidFill>
            <a:srgbClr val="4646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22" name="图片 21">
            <a:extLst>
              <a:ext uri="{FF2B5EF4-FFF2-40B4-BE49-F238E27FC236}">
                <a16:creationId xmlns:a16="http://schemas.microsoft.com/office/drawing/2014/main" id="{A4BACDA4-97B6-B050-1A31-CBB6A2D2683C}"/>
              </a:ext>
            </a:extLst>
          </p:cNvPr>
          <p:cNvPicPr>
            <a:picLocks noChangeAspect="1"/>
          </p:cNvPicPr>
          <p:nvPr/>
        </p:nvPicPr>
        <p:blipFill>
          <a:blip r:embed="rId3"/>
          <a:stretch>
            <a:fillRect/>
          </a:stretch>
        </p:blipFill>
        <p:spPr>
          <a:xfrm>
            <a:off x="365271" y="4682315"/>
            <a:ext cx="7307427" cy="1363042"/>
          </a:xfrm>
          <a:prstGeom prst="rect">
            <a:avLst/>
          </a:prstGeom>
        </p:spPr>
      </p:pic>
    </p:spTree>
    <p:extLst>
      <p:ext uri="{BB962C8B-B14F-4D97-AF65-F5344CB8AC3E}">
        <p14:creationId xmlns:p14="http://schemas.microsoft.com/office/powerpoint/2010/main" val="17795386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animBg="1"/>
      <p:bldP spid="2" grpId="0"/>
      <p:bldP spid="6" grpId="0"/>
      <p:bldP spid="7" grpId="0" animBg="1"/>
      <p:bldP spid="8" grpId="0" animBg="1"/>
      <p:bldP spid="9"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36D5F-4F9B-B5CA-DE21-803F5E968B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3BAADD-6941-24B9-7A3D-25B6E43AB08F}"/>
              </a:ext>
            </a:extLst>
          </p:cNvPr>
          <p:cNvSpPr>
            <a:spLocks noGrp="1"/>
          </p:cNvSpPr>
          <p:nvPr>
            <p:ph type="title"/>
          </p:nvPr>
        </p:nvSpPr>
        <p:spPr>
          <a:xfrm>
            <a:off x="267690" y="1412760"/>
            <a:ext cx="7209879" cy="965108"/>
          </a:xfrm>
        </p:spPr>
        <p:txBody>
          <a:bodyPr/>
          <a:lstStyle/>
          <a:p>
            <a:r>
              <a:rPr lang="en-US" altLang="zh-CN" sz="4800"/>
              <a:t>9. Usage Metering </a:t>
            </a:r>
            <a:endParaRPr lang="zh-CN" altLang="en-US" sz="4800"/>
          </a:p>
        </p:txBody>
      </p:sp>
      <p:sp>
        <p:nvSpPr>
          <p:cNvPr id="4" name="文本占位符 3">
            <a:extLst>
              <a:ext uri="{FF2B5EF4-FFF2-40B4-BE49-F238E27FC236}">
                <a16:creationId xmlns:a16="http://schemas.microsoft.com/office/drawing/2014/main" id="{87DB4DDE-E18D-E0A4-6604-0CF2E476BC7A}"/>
              </a:ext>
            </a:extLst>
          </p:cNvPr>
          <p:cNvSpPr>
            <a:spLocks noGrp="1"/>
          </p:cNvSpPr>
          <p:nvPr>
            <p:ph type="body" idx="11"/>
          </p:nvPr>
        </p:nvSpPr>
        <p:spPr>
          <a:xfrm>
            <a:off x="750528" y="5517488"/>
            <a:ext cx="6265272" cy="133626"/>
          </a:xfrm>
        </p:spPr>
        <p:txBody>
          <a:bodyPr/>
          <a:lstStyle/>
          <a:p>
            <a:r>
              <a:rPr lang="en-US" altLang="zh-CN" sz="1000"/>
              <a:t>Duration:		10 Minutes</a:t>
            </a:r>
            <a:endParaRPr lang="zh-CN" altLang="en-US" sz="1000"/>
          </a:p>
        </p:txBody>
      </p:sp>
      <p:sp>
        <p:nvSpPr>
          <p:cNvPr id="5" name="文本占位符 4">
            <a:extLst>
              <a:ext uri="{FF2B5EF4-FFF2-40B4-BE49-F238E27FC236}">
                <a16:creationId xmlns:a16="http://schemas.microsoft.com/office/drawing/2014/main" id="{98EF8404-8788-4589-D4DA-3096D4892649}"/>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fr-FR" altLang="zh-CN">
                <a:solidFill>
                  <a:schemeClr val="bg1"/>
                </a:solidFill>
              </a:rPr>
              <a:t>Price Table			- Joy Jiang</a:t>
            </a:r>
          </a:p>
          <a:p>
            <a:pPr marL="171450" indent="-171450">
              <a:lnSpc>
                <a:spcPct val="150000"/>
              </a:lnSpc>
              <a:buFont typeface="Arial" panose="020B0604020202020204" pitchFamily="34" charset="0"/>
              <a:buChar char="•"/>
            </a:pPr>
            <a:r>
              <a:rPr lang="fr-FR" altLang="zh-CN">
                <a:solidFill>
                  <a:schemeClr val="bg1"/>
                </a:solidFill>
              </a:rPr>
              <a:t>Usage Data			- Joy Jiang</a:t>
            </a:r>
          </a:p>
          <a:p>
            <a:pPr marL="171450" indent="-171450">
              <a:lnSpc>
                <a:spcPct val="150000"/>
              </a:lnSpc>
              <a:buFont typeface="Arial" panose="020B0604020202020204" pitchFamily="34" charset="0"/>
              <a:buChar char="•"/>
            </a:pPr>
            <a:r>
              <a:rPr lang="fr-FR" altLang="zh-CN">
                <a:solidFill>
                  <a:schemeClr val="bg1"/>
                </a:solidFill>
              </a:rPr>
              <a:t>Charges Data		- Joy Jiang</a:t>
            </a:r>
          </a:p>
        </p:txBody>
      </p:sp>
    </p:spTree>
    <p:extLst>
      <p:ext uri="{BB962C8B-B14F-4D97-AF65-F5344CB8AC3E}">
        <p14:creationId xmlns:p14="http://schemas.microsoft.com/office/powerpoint/2010/main" val="917592937"/>
      </p:ext>
    </p:extLst>
  </p:cSld>
  <p:clrMapOvr>
    <a:masterClrMapping/>
  </p:clrMapOvr>
  <p:transition spd="me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3E7ACA-69FD-5BC8-0ABC-3BA5AAE2BD84}"/>
              </a:ext>
            </a:extLst>
          </p:cNvPr>
          <p:cNvSpPr>
            <a:spLocks noGrp="1"/>
          </p:cNvSpPr>
          <p:nvPr>
            <p:ph type="title"/>
          </p:nvPr>
        </p:nvSpPr>
        <p:spPr/>
        <p:txBody>
          <a:bodyPr wrap="square"/>
          <a:lstStyle/>
          <a:p>
            <a:r>
              <a:rPr lang="en-US" altLang="zh-CN">
                <a:latin typeface="+mj-lt"/>
              </a:rPr>
              <a:t>Usage Metering — From Consumption to Billable Charges</a:t>
            </a:r>
            <a:endParaRPr lang="zh-CN" altLang="en-US">
              <a:latin typeface="+mj-lt"/>
            </a:endParaRPr>
          </a:p>
        </p:txBody>
      </p:sp>
      <p:sp>
        <p:nvSpPr>
          <p:cNvPr id="2" name="Text 2">
            <a:extLst>
              <a:ext uri="{FF2B5EF4-FFF2-40B4-BE49-F238E27FC236}">
                <a16:creationId xmlns:a16="http://schemas.microsoft.com/office/drawing/2014/main" id="{8D3EC9C9-18EE-EEEA-9AFA-4446F2A3E29E}"/>
              </a:ext>
            </a:extLst>
          </p:cNvPr>
          <p:cNvSpPr/>
          <p:nvPr/>
        </p:nvSpPr>
        <p:spPr>
          <a:xfrm>
            <a:off x="356968" y="748486"/>
            <a:ext cx="10881360" cy="310896"/>
          </a:xfrm>
          <a:prstGeom prst="rect">
            <a:avLst/>
          </a:prstGeom>
          <a:noFill/>
          <a:ln/>
        </p:spPr>
        <p:txBody>
          <a:bodyPr wrap="square" lIns="0" tIns="0" rIns="0" bIns="0" rtlCol="0" anchor="ctr">
            <a:normAutofit/>
          </a:bodyPr>
          <a:lstStyle/>
          <a:p>
            <a:pPr marL="0" indent="0" algn="l">
              <a:buNone/>
            </a:pPr>
            <a:r>
              <a:rPr lang="en-US" sz="1200">
                <a:solidFill>
                  <a:srgbClr val="5C6675"/>
                </a:solidFill>
                <a:latin typeface="+mj-lt"/>
                <a:ea typeface="Arial" pitchFamily="34" charset="-122"/>
                <a:cs typeface="Arial" pitchFamily="34" charset="-120"/>
              </a:rPr>
              <a:t>Understand how NexBill combines pricing rules and consumption data to calculate, validate, and trace usage-based billing.</a:t>
            </a:r>
            <a:endParaRPr lang="en-US" sz="1200">
              <a:latin typeface="+mj-lt"/>
            </a:endParaRPr>
          </a:p>
        </p:txBody>
      </p:sp>
      <p:sp>
        <p:nvSpPr>
          <p:cNvPr id="7" name="Shape 3">
            <a:extLst>
              <a:ext uri="{FF2B5EF4-FFF2-40B4-BE49-F238E27FC236}">
                <a16:creationId xmlns:a16="http://schemas.microsoft.com/office/drawing/2014/main" id="{12E8040B-2E1E-4B37-64A7-6E7D9410D5BF}"/>
              </a:ext>
            </a:extLst>
          </p:cNvPr>
          <p:cNvSpPr/>
          <p:nvPr/>
        </p:nvSpPr>
        <p:spPr>
          <a:xfrm>
            <a:off x="356968" y="1203960"/>
            <a:ext cx="10916992" cy="381781"/>
          </a:xfrm>
          <a:prstGeom prst="roundRect">
            <a:avLst>
              <a:gd name="adj" fmla="val 12903"/>
            </a:avLst>
          </a:prstGeom>
          <a:solidFill>
            <a:srgbClr val="EEF4FB"/>
          </a:solidFill>
          <a:ln w="12700">
            <a:solidFill>
              <a:srgbClr val="B8CCE5"/>
            </a:solidFill>
            <a:prstDash val="solid"/>
          </a:ln>
        </p:spPr>
        <p:txBody>
          <a:bodyPr wrap="square"/>
          <a:lstStyle/>
          <a:p>
            <a:endParaRPr lang="zh-CN" altLang="en-US">
              <a:latin typeface="+mj-lt"/>
            </a:endParaRPr>
          </a:p>
        </p:txBody>
      </p:sp>
      <p:sp>
        <p:nvSpPr>
          <p:cNvPr id="8" name="Text 4">
            <a:extLst>
              <a:ext uri="{FF2B5EF4-FFF2-40B4-BE49-F238E27FC236}">
                <a16:creationId xmlns:a16="http://schemas.microsoft.com/office/drawing/2014/main" id="{148382F2-D08C-E63C-4C2B-103B075BBE6F}"/>
              </a:ext>
            </a:extLst>
          </p:cNvPr>
          <p:cNvSpPr/>
          <p:nvPr/>
        </p:nvSpPr>
        <p:spPr>
          <a:xfrm>
            <a:off x="573442" y="1280467"/>
            <a:ext cx="1143000" cy="22860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MESSAGE</a:t>
            </a:r>
            <a:endParaRPr lang="en-US" sz="1100">
              <a:latin typeface="+mj-lt"/>
            </a:endParaRPr>
          </a:p>
        </p:txBody>
      </p:sp>
      <p:sp>
        <p:nvSpPr>
          <p:cNvPr id="10" name="Text 5">
            <a:extLst>
              <a:ext uri="{FF2B5EF4-FFF2-40B4-BE49-F238E27FC236}">
                <a16:creationId xmlns:a16="http://schemas.microsoft.com/office/drawing/2014/main" id="{70FC27AA-6910-EE87-72AA-7CD182AD4CDE}"/>
              </a:ext>
            </a:extLst>
          </p:cNvPr>
          <p:cNvSpPr/>
          <p:nvPr/>
        </p:nvSpPr>
        <p:spPr>
          <a:xfrm>
            <a:off x="1728568" y="1259245"/>
            <a:ext cx="9601200" cy="274320"/>
          </a:xfrm>
          <a:prstGeom prst="rect">
            <a:avLst/>
          </a:prstGeom>
          <a:noFill/>
          <a:ln/>
        </p:spPr>
        <p:txBody>
          <a:bodyPr wrap="square" lIns="0" tIns="0" rIns="0" bIns="0" rtlCol="0" anchor="ctr">
            <a:normAutofit/>
          </a:bodyPr>
          <a:lstStyle/>
          <a:p>
            <a:pPr marL="0" indent="0" algn="l">
              <a:buNone/>
            </a:pPr>
            <a:r>
              <a:rPr lang="en-US" sz="1400" b="1">
                <a:solidFill>
                  <a:srgbClr val="0B2D6B"/>
                </a:solidFill>
                <a:latin typeface="+mj-lt"/>
                <a:ea typeface="Arial" pitchFamily="34" charset="-122"/>
                <a:cs typeface="Arial" pitchFamily="34" charset="-120"/>
              </a:rPr>
              <a:t>The section explains one end-to-end chain: Pricing Table → Usage Data → Charges Data.</a:t>
            </a:r>
            <a:endParaRPr lang="en-US" sz="1400">
              <a:latin typeface="+mj-lt"/>
            </a:endParaRPr>
          </a:p>
        </p:txBody>
      </p:sp>
      <p:sp>
        <p:nvSpPr>
          <p:cNvPr id="12" name="Shape 6">
            <a:extLst>
              <a:ext uri="{FF2B5EF4-FFF2-40B4-BE49-F238E27FC236}">
                <a16:creationId xmlns:a16="http://schemas.microsoft.com/office/drawing/2014/main" id="{C5B88BCD-721A-725D-7A6C-D872CDEAF96F}"/>
              </a:ext>
            </a:extLst>
          </p:cNvPr>
          <p:cNvSpPr/>
          <p:nvPr/>
        </p:nvSpPr>
        <p:spPr>
          <a:xfrm>
            <a:off x="356968" y="1698420"/>
            <a:ext cx="3337560" cy="2743200"/>
          </a:xfrm>
          <a:prstGeom prst="roundRect">
            <a:avLst>
              <a:gd name="adj" fmla="val 2388"/>
            </a:avLst>
          </a:prstGeom>
          <a:solidFill>
            <a:srgbClr val="F7FAFE"/>
          </a:solidFill>
          <a:ln w="12700">
            <a:solidFill>
              <a:srgbClr val="B8CCE5"/>
            </a:solidFill>
            <a:prstDash val="solid"/>
          </a:ln>
        </p:spPr>
        <p:txBody>
          <a:bodyPr wrap="square"/>
          <a:lstStyle/>
          <a:p>
            <a:endParaRPr lang="zh-CN" altLang="en-US">
              <a:latin typeface="+mj-lt"/>
            </a:endParaRPr>
          </a:p>
        </p:txBody>
      </p:sp>
      <p:sp>
        <p:nvSpPr>
          <p:cNvPr id="14" name="Text 7">
            <a:extLst>
              <a:ext uri="{FF2B5EF4-FFF2-40B4-BE49-F238E27FC236}">
                <a16:creationId xmlns:a16="http://schemas.microsoft.com/office/drawing/2014/main" id="{C60D4875-8FE7-AFE9-E13F-2824FF01B532}"/>
              </a:ext>
            </a:extLst>
          </p:cNvPr>
          <p:cNvSpPr/>
          <p:nvPr/>
        </p:nvSpPr>
        <p:spPr>
          <a:xfrm>
            <a:off x="558136"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1467B8"/>
                </a:solidFill>
                <a:latin typeface="+mj-lt"/>
                <a:ea typeface="Arial" pitchFamily="34" charset="-122"/>
                <a:cs typeface="Arial" pitchFamily="34" charset="-120"/>
              </a:rPr>
              <a:t>1  PRICING TABLE</a:t>
            </a:r>
            <a:endParaRPr lang="en-US" sz="1400">
              <a:latin typeface="+mj-lt"/>
            </a:endParaRPr>
          </a:p>
        </p:txBody>
      </p:sp>
      <p:sp>
        <p:nvSpPr>
          <p:cNvPr id="24" name="Text 17">
            <a:extLst>
              <a:ext uri="{FF2B5EF4-FFF2-40B4-BE49-F238E27FC236}">
                <a16:creationId xmlns:a16="http://schemas.microsoft.com/office/drawing/2014/main" id="{8BDBB20C-A7E6-8E08-F6F0-EB45010C2C7E}"/>
              </a:ext>
            </a:extLst>
          </p:cNvPr>
          <p:cNvSpPr/>
          <p:nvPr/>
        </p:nvSpPr>
        <p:spPr>
          <a:xfrm>
            <a:off x="612648" y="2286000"/>
            <a:ext cx="2834640" cy="1874519"/>
          </a:xfrm>
          <a:prstGeom prst="rect">
            <a:avLst/>
          </a:prstGeom>
          <a:noFill/>
          <a:ln/>
        </p:spPr>
        <p:txBody>
          <a:bodyPr wrap="square" lIns="27432" tIns="27432" rIns="27432" bIns="18288" rtlCol="0" anchor="t">
            <a:normAutofit lnSpcReduction="10000"/>
          </a:bodyPr>
          <a:lstStyle/>
          <a:p>
            <a:pPr marL="0" indent="0" algn="l">
              <a:lnSpc>
                <a:spcPct val="105000"/>
              </a:lnSpc>
              <a:spcAft>
                <a:spcPts val="700"/>
              </a:spcAft>
              <a:buNone/>
            </a:pPr>
            <a:r>
              <a:rPr sz="1250">
                <a:solidFill>
                  <a:srgbClr val="202833"/>
                </a:solidFill>
                <a:latin typeface="+mj-lt"/>
              </a:rPr>
              <a:t>Defines how usage is priced
• Originates from EPR and Charge Plan configuration
• Supports different metering types and services
• Lets users review the rules behind charge calculation</a:t>
            </a:r>
            <a:endParaRPr lang="en-US" sz="1100">
              <a:latin typeface="+mj-lt"/>
            </a:endParaRPr>
          </a:p>
        </p:txBody>
      </p:sp>
      <p:sp>
        <p:nvSpPr>
          <p:cNvPr id="25" name="Shape 18">
            <a:extLst>
              <a:ext uri="{FF2B5EF4-FFF2-40B4-BE49-F238E27FC236}">
                <a16:creationId xmlns:a16="http://schemas.microsoft.com/office/drawing/2014/main" id="{6775DEFE-CDE3-21E5-CC43-53580B272089}"/>
              </a:ext>
            </a:extLst>
          </p:cNvPr>
          <p:cNvSpPr/>
          <p:nvPr/>
        </p:nvSpPr>
        <p:spPr>
          <a:xfrm>
            <a:off x="4146684" y="1698420"/>
            <a:ext cx="3337560" cy="2743200"/>
          </a:xfrm>
          <a:prstGeom prst="roundRect">
            <a:avLst>
              <a:gd name="adj" fmla="val 2388"/>
            </a:avLst>
          </a:prstGeom>
          <a:solidFill>
            <a:srgbClr val="FBFAFE"/>
          </a:solidFill>
          <a:ln w="12700">
            <a:solidFill>
              <a:srgbClr val="D2C5E8"/>
            </a:solidFill>
            <a:prstDash val="solid"/>
          </a:ln>
        </p:spPr>
        <p:txBody>
          <a:bodyPr wrap="square"/>
          <a:lstStyle/>
          <a:p>
            <a:endParaRPr lang="zh-CN" altLang="en-US">
              <a:latin typeface="+mj-lt"/>
            </a:endParaRPr>
          </a:p>
        </p:txBody>
      </p:sp>
      <p:sp>
        <p:nvSpPr>
          <p:cNvPr id="26" name="Text 19">
            <a:extLst>
              <a:ext uri="{FF2B5EF4-FFF2-40B4-BE49-F238E27FC236}">
                <a16:creationId xmlns:a16="http://schemas.microsoft.com/office/drawing/2014/main" id="{F16B4304-9D07-92BF-1CED-5E7122ECA145}"/>
              </a:ext>
            </a:extLst>
          </p:cNvPr>
          <p:cNvSpPr/>
          <p:nvPr/>
        </p:nvSpPr>
        <p:spPr>
          <a:xfrm>
            <a:off x="4347852" y="1863012"/>
            <a:ext cx="2880360" cy="256032"/>
          </a:xfrm>
          <a:prstGeom prst="rect">
            <a:avLst/>
          </a:prstGeom>
          <a:noFill/>
          <a:ln/>
        </p:spPr>
        <p:txBody>
          <a:bodyPr wrap="square" lIns="0" tIns="0" rIns="0" bIns="0" rtlCol="0" anchor="ctr">
            <a:normAutofit/>
          </a:bodyPr>
          <a:lstStyle/>
          <a:p>
            <a:pPr marL="0" indent="0" algn="l">
              <a:buNone/>
            </a:pPr>
            <a:r>
              <a:rPr lang="en-US" sz="1400" b="1">
                <a:solidFill>
                  <a:srgbClr val="6B3FA0"/>
                </a:solidFill>
                <a:latin typeface="+mj-lt"/>
                <a:ea typeface="Arial" pitchFamily="34" charset="-122"/>
                <a:cs typeface="Arial" pitchFamily="34" charset="-120"/>
              </a:rPr>
              <a:t>2  USAGE DATA</a:t>
            </a:r>
            <a:endParaRPr lang="en-US" sz="1400">
              <a:latin typeface="+mj-lt"/>
            </a:endParaRPr>
          </a:p>
        </p:txBody>
      </p:sp>
      <p:sp>
        <p:nvSpPr>
          <p:cNvPr id="34" name="Text 26">
            <a:extLst>
              <a:ext uri="{FF2B5EF4-FFF2-40B4-BE49-F238E27FC236}">
                <a16:creationId xmlns:a16="http://schemas.microsoft.com/office/drawing/2014/main" id="{EF052F77-33BC-BF77-092B-F1888A924F28}"/>
              </a:ext>
            </a:extLst>
          </p:cNvPr>
          <p:cNvSpPr/>
          <p:nvPr/>
        </p:nvSpPr>
        <p:spPr>
          <a:xfrm>
            <a:off x="4398264" y="2286000"/>
            <a:ext cx="2834640" cy="1874519"/>
          </a:xfrm>
          <a:prstGeom prst="rect">
            <a:avLst/>
          </a:prstGeom>
          <a:noFill/>
          <a:ln/>
        </p:spPr>
        <p:txBody>
          <a:bodyPr wrap="square" lIns="27432" tIns="27432" rIns="27432" bIns="18288" rtlCol="0" anchor="t">
            <a:normAutofit/>
          </a:bodyPr>
          <a:lstStyle/>
          <a:p>
            <a:pPr marL="0" indent="0" algn="l">
              <a:lnSpc>
                <a:spcPct val="105000"/>
              </a:lnSpc>
              <a:spcAft>
                <a:spcPts val="700"/>
              </a:spcAft>
              <a:buNone/>
            </a:pPr>
            <a:r>
              <a:rPr sz="1250">
                <a:solidFill>
                  <a:srgbClr val="202833"/>
                </a:solidFill>
                <a:latin typeface="+mj-lt"/>
              </a:rPr>
              <a:t>Captures how much was consumed
• Upload or review data by Metering Type
• Uses service-specific templates and attributes
• Provides the consumption input for billing calculations</a:t>
            </a:r>
            <a:endParaRPr lang="en-US" sz="1100">
              <a:latin typeface="+mj-lt"/>
            </a:endParaRPr>
          </a:p>
        </p:txBody>
      </p:sp>
      <p:sp>
        <p:nvSpPr>
          <p:cNvPr id="35" name="Shape 27">
            <a:extLst>
              <a:ext uri="{FF2B5EF4-FFF2-40B4-BE49-F238E27FC236}">
                <a16:creationId xmlns:a16="http://schemas.microsoft.com/office/drawing/2014/main" id="{D578B627-8840-937B-B526-B15F79AE3D3C}"/>
              </a:ext>
            </a:extLst>
          </p:cNvPr>
          <p:cNvSpPr/>
          <p:nvPr/>
        </p:nvSpPr>
        <p:spPr>
          <a:xfrm>
            <a:off x="7936400" y="1706197"/>
            <a:ext cx="3337560" cy="2743200"/>
          </a:xfrm>
          <a:prstGeom prst="roundRect">
            <a:avLst>
              <a:gd name="adj" fmla="val 2388"/>
            </a:avLst>
          </a:prstGeom>
          <a:solidFill>
            <a:srgbClr val="F8FCF5"/>
          </a:solidFill>
          <a:ln w="12700">
            <a:solidFill>
              <a:srgbClr val="C5DFB4"/>
            </a:solidFill>
            <a:prstDash val="solid"/>
          </a:ln>
        </p:spPr>
        <p:txBody>
          <a:bodyPr wrap="square"/>
          <a:lstStyle/>
          <a:p>
            <a:endParaRPr lang="zh-CN" altLang="en-US">
              <a:latin typeface="+mj-lt"/>
            </a:endParaRPr>
          </a:p>
        </p:txBody>
      </p:sp>
      <p:sp>
        <p:nvSpPr>
          <p:cNvPr id="36" name="Text 28">
            <a:extLst>
              <a:ext uri="{FF2B5EF4-FFF2-40B4-BE49-F238E27FC236}">
                <a16:creationId xmlns:a16="http://schemas.microsoft.com/office/drawing/2014/main" id="{1992E5A8-A434-0966-EDCF-60CC7F87A2A9}"/>
              </a:ext>
            </a:extLst>
          </p:cNvPr>
          <p:cNvSpPr/>
          <p:nvPr/>
        </p:nvSpPr>
        <p:spPr>
          <a:xfrm>
            <a:off x="8137568" y="1870789"/>
            <a:ext cx="2880360" cy="256032"/>
          </a:xfrm>
          <a:prstGeom prst="rect">
            <a:avLst/>
          </a:prstGeom>
          <a:noFill/>
          <a:ln/>
        </p:spPr>
        <p:txBody>
          <a:bodyPr wrap="square" lIns="0" tIns="0" rIns="0" bIns="0" rtlCol="0" anchor="ctr">
            <a:normAutofit/>
          </a:bodyPr>
          <a:lstStyle/>
          <a:p>
            <a:pPr marL="0" indent="0" algn="l">
              <a:buNone/>
            </a:pPr>
            <a:r>
              <a:rPr lang="en-US" sz="1400" b="1">
                <a:solidFill>
                  <a:srgbClr val="4A9B22"/>
                </a:solidFill>
                <a:latin typeface="+mj-lt"/>
                <a:ea typeface="Arial" pitchFamily="34" charset="-122"/>
                <a:cs typeface="Arial" pitchFamily="34" charset="-120"/>
              </a:rPr>
              <a:t>3  CHARGES DATA</a:t>
            </a:r>
            <a:endParaRPr lang="en-US" sz="1400">
              <a:latin typeface="+mj-lt"/>
            </a:endParaRPr>
          </a:p>
        </p:txBody>
      </p:sp>
      <p:sp>
        <p:nvSpPr>
          <p:cNvPr id="43" name="Text 35">
            <a:extLst>
              <a:ext uri="{FF2B5EF4-FFF2-40B4-BE49-F238E27FC236}">
                <a16:creationId xmlns:a16="http://schemas.microsoft.com/office/drawing/2014/main" id="{24E73783-A617-9EB7-B379-D51FF8B0C8C4}"/>
              </a:ext>
            </a:extLst>
          </p:cNvPr>
          <p:cNvSpPr/>
          <p:nvPr/>
        </p:nvSpPr>
        <p:spPr>
          <a:xfrm>
            <a:off x="8183879" y="2286000"/>
            <a:ext cx="2834640" cy="1874519"/>
          </a:xfrm>
          <a:prstGeom prst="rect">
            <a:avLst/>
          </a:prstGeom>
          <a:noFill/>
          <a:ln/>
        </p:spPr>
        <p:txBody>
          <a:bodyPr wrap="square" lIns="27432" tIns="27432" rIns="27432" bIns="18288" rtlCol="0" anchor="t">
            <a:normAutofit lnSpcReduction="10000"/>
          </a:bodyPr>
          <a:lstStyle/>
          <a:p>
            <a:pPr marL="0" indent="0" algn="l">
              <a:lnSpc>
                <a:spcPct val="105000"/>
              </a:lnSpc>
              <a:spcAft>
                <a:spcPts val="700"/>
              </a:spcAft>
              <a:buNone/>
            </a:pPr>
            <a:r>
              <a:rPr sz="1250">
                <a:solidFill>
                  <a:srgbClr val="202833"/>
                </a:solidFill>
                <a:latin typeface="+mj-lt"/>
              </a:rPr>
              <a:t>Shows the calculated billing result
• Actual Billing: accepted charges used for invoicing
• Simulated: results used for validation and analysis
• Links charges back to the underlying usage records</a:t>
            </a:r>
            <a:endParaRPr lang="en-US" sz="1100">
              <a:latin typeface="+mj-lt"/>
            </a:endParaRPr>
          </a:p>
        </p:txBody>
      </p:sp>
      <p:sp>
        <p:nvSpPr>
          <p:cNvPr id="46" name="Shape 38">
            <a:extLst>
              <a:ext uri="{FF2B5EF4-FFF2-40B4-BE49-F238E27FC236}">
                <a16:creationId xmlns:a16="http://schemas.microsoft.com/office/drawing/2014/main" id="{796CD512-209F-AF0C-385A-E54DF81FCDD2}"/>
              </a:ext>
            </a:extLst>
          </p:cNvPr>
          <p:cNvSpPr/>
          <p:nvPr/>
        </p:nvSpPr>
        <p:spPr>
          <a:xfrm>
            <a:off x="356968" y="4546515"/>
            <a:ext cx="10916992" cy="1887814"/>
          </a:xfrm>
          <a:prstGeom prst="roundRect">
            <a:avLst>
              <a:gd name="adj" fmla="val 6250"/>
            </a:avLst>
          </a:prstGeom>
          <a:solidFill>
            <a:srgbClr val="FFF8EF"/>
          </a:solidFill>
          <a:ln w="12700">
            <a:solidFill>
              <a:srgbClr val="F2C38D"/>
            </a:solidFill>
            <a:prstDash val="solid"/>
          </a:ln>
        </p:spPr>
        <p:txBody>
          <a:bodyPr wrap="square"/>
          <a:lstStyle/>
          <a:p>
            <a:endParaRPr lang="zh-CN" altLang="en-US">
              <a:latin typeface="+mj-lt"/>
            </a:endParaRPr>
          </a:p>
        </p:txBody>
      </p:sp>
      <p:sp>
        <p:nvSpPr>
          <p:cNvPr id="47" name="Text 39">
            <a:extLst>
              <a:ext uri="{FF2B5EF4-FFF2-40B4-BE49-F238E27FC236}">
                <a16:creationId xmlns:a16="http://schemas.microsoft.com/office/drawing/2014/main" id="{43212CD5-F510-5716-D611-FD0E9B42A64D}"/>
              </a:ext>
            </a:extLst>
          </p:cNvPr>
          <p:cNvSpPr/>
          <p:nvPr/>
        </p:nvSpPr>
        <p:spPr>
          <a:xfrm>
            <a:off x="667512" y="5806440"/>
            <a:ext cx="1508760" cy="256032"/>
          </a:xfrm>
          <a:prstGeom prst="rect">
            <a:avLst/>
          </a:prstGeom>
          <a:noFill/>
          <a:ln/>
        </p:spPr>
        <p:txBody>
          <a:bodyPr wrap="square" lIns="0" tIns="0" rIns="0" bIns="0" rtlCol="0" anchor="ctr">
            <a:noAutofit/>
          </a:bodyPr>
          <a:lstStyle/>
          <a:p>
            <a:pPr marL="0" indent="0" algn="l">
              <a:buNone/>
            </a:pPr>
            <a:r>
              <a:rPr lang="en-US" sz="1000" b="1">
                <a:solidFill>
                  <a:srgbClr val="0070C0"/>
                </a:solidFill>
                <a:latin typeface="+mj-lt"/>
                <a:cs typeface="Arial" pitchFamily="34" charset="-120"/>
              </a:rPr>
              <a:t>WHAT USERS CHECK</a:t>
            </a:r>
          </a:p>
        </p:txBody>
      </p:sp>
      <p:sp>
        <p:nvSpPr>
          <p:cNvPr id="48" name="Text 40">
            <a:extLst>
              <a:ext uri="{FF2B5EF4-FFF2-40B4-BE49-F238E27FC236}">
                <a16:creationId xmlns:a16="http://schemas.microsoft.com/office/drawing/2014/main" id="{9ED07268-E6B6-5D0A-2835-243DCC71CEBC}"/>
              </a:ext>
            </a:extLst>
          </p:cNvPr>
          <p:cNvSpPr/>
          <p:nvPr/>
        </p:nvSpPr>
        <p:spPr>
          <a:xfrm>
            <a:off x="2148840" y="5806440"/>
            <a:ext cx="8641080" cy="256032"/>
          </a:xfrm>
          <a:prstGeom prst="rect">
            <a:avLst/>
          </a:prstGeom>
          <a:noFill/>
          <a:ln/>
        </p:spPr>
        <p:txBody>
          <a:bodyPr wrap="square" lIns="0" tIns="0" rIns="0" bIns="0" rtlCol="0" anchor="ctr">
            <a:normAutofit/>
          </a:bodyPr>
          <a:lstStyle/>
          <a:p>
            <a:pPr algn="ctr"/>
            <a:r>
              <a:rPr lang="en-US" altLang="zh-CN" sz="1200" b="1">
                <a:solidFill>
                  <a:srgbClr val="0070C0"/>
                </a:solidFill>
                <a:ea typeface="Arial" pitchFamily="34" charset="-122"/>
                <a:cs typeface="Arial" pitchFamily="34" charset="-120"/>
              </a:rPr>
              <a:t>Is the price correct?  •  Is usage complete?  •  Does the charge make sense?  •  Can the result be traced?</a:t>
            </a:r>
            <a:endParaRPr lang="en-US" sz="1200">
              <a:solidFill>
                <a:srgbClr val="0070C0"/>
              </a:solidFill>
              <a:latin typeface="+mj-lt"/>
            </a:endParaRPr>
          </a:p>
        </p:txBody>
      </p:sp>
      <p:sp>
        <p:nvSpPr>
          <p:cNvPr id="63" name="Text 55">
            <a:extLst>
              <a:ext uri="{FF2B5EF4-FFF2-40B4-BE49-F238E27FC236}">
                <a16:creationId xmlns:a16="http://schemas.microsoft.com/office/drawing/2014/main" id="{BB40B536-00AE-2469-7DDA-A3C1BD093C1B}"/>
              </a:ext>
            </a:extLst>
          </p:cNvPr>
          <p:cNvSpPr/>
          <p:nvPr/>
        </p:nvSpPr>
        <p:spPr>
          <a:xfrm>
            <a:off x="556124" y="6443472"/>
            <a:ext cx="10717836" cy="274320"/>
          </a:xfrm>
          <a:prstGeom prst="rect">
            <a:avLst/>
          </a:prstGeom>
          <a:noFill/>
          <a:ln/>
        </p:spPr>
        <p:txBody>
          <a:bodyPr wrap="square" lIns="0" tIns="0" rIns="0" bIns="0" rtlCol="0" anchor="ctr">
            <a:normAutofit/>
          </a:bodyPr>
          <a:lstStyle/>
          <a:p>
            <a:pPr marL="0" indent="0" algn="l">
              <a:buNone/>
            </a:pPr>
            <a:r>
              <a:rPr lang="en-US" sz="1100" b="1">
                <a:solidFill>
                  <a:srgbClr val="0B2D6B"/>
                </a:solidFill>
                <a:latin typeface="+mj-lt"/>
                <a:ea typeface="Arial" pitchFamily="34" charset="-122"/>
                <a:cs typeface="Arial" pitchFamily="34" charset="-120"/>
              </a:rPr>
              <a:t>KEY TAKEAWAY  |  Usage Metering provides a traceable path from commercial pricing and measured consumption to validated billable amounts.</a:t>
            </a:r>
            <a:endParaRPr lang="en-US" sz="1100">
              <a:latin typeface="+mj-lt"/>
            </a:endParaRPr>
          </a:p>
        </p:txBody>
      </p:sp>
      <p:sp>
        <p:nvSpPr>
          <p:cNvPr id="4" name="Text 39">
            <a:extLst>
              <a:ext uri="{FF2B5EF4-FFF2-40B4-BE49-F238E27FC236}">
                <a16:creationId xmlns:a16="http://schemas.microsoft.com/office/drawing/2014/main" id="{9212B622-A758-1181-6820-AB465595D928}"/>
              </a:ext>
            </a:extLst>
          </p:cNvPr>
          <p:cNvSpPr/>
          <p:nvPr/>
        </p:nvSpPr>
        <p:spPr>
          <a:xfrm>
            <a:off x="663066" y="4643029"/>
            <a:ext cx="3383280" cy="237744"/>
          </a:xfrm>
          <a:prstGeom prst="rect">
            <a:avLst/>
          </a:prstGeom>
          <a:noFill/>
          <a:ln/>
        </p:spPr>
        <p:txBody>
          <a:bodyPr wrap="square" lIns="0" tIns="0" rIns="0" bIns="0" rtlCol="0" anchor="ctr">
            <a:normAutofit/>
          </a:bodyPr>
          <a:lstStyle/>
          <a:p>
            <a:pPr marL="0" indent="0" algn="l">
              <a:buNone/>
            </a:pPr>
            <a:r>
              <a:rPr lang="en-US" sz="1300" b="1">
                <a:solidFill>
                  <a:srgbClr val="E66A13"/>
                </a:solidFill>
                <a:latin typeface="+mj-lt"/>
                <a:ea typeface="Arial" pitchFamily="34" charset="-122"/>
                <a:cs typeface="Arial" pitchFamily="34" charset="-120"/>
              </a:rPr>
              <a:t>THE USAGE-BILLING FLOW</a:t>
            </a:r>
            <a:endParaRPr lang="en-US" sz="1300">
              <a:latin typeface="+mj-lt"/>
            </a:endParaRPr>
          </a:p>
        </p:txBody>
      </p:sp>
      <p:sp>
        <p:nvSpPr>
          <p:cNvPr id="6" name="Shape 41">
            <a:extLst>
              <a:ext uri="{FF2B5EF4-FFF2-40B4-BE49-F238E27FC236}">
                <a16:creationId xmlns:a16="http://schemas.microsoft.com/office/drawing/2014/main" id="{6673A0E2-E452-0924-CAE8-8E9F8CD35483}"/>
              </a:ext>
            </a:extLst>
          </p:cNvPr>
          <p:cNvSpPr/>
          <p:nvPr/>
        </p:nvSpPr>
        <p:spPr>
          <a:xfrm>
            <a:off x="786384"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9" name="Text 42">
            <a:extLst>
              <a:ext uri="{FF2B5EF4-FFF2-40B4-BE49-F238E27FC236}">
                <a16:creationId xmlns:a16="http://schemas.microsoft.com/office/drawing/2014/main" id="{EC0A2DD2-BF4C-C15F-A4F1-1187608D6BF9}"/>
              </a:ext>
            </a:extLst>
          </p:cNvPr>
          <p:cNvSpPr/>
          <p:nvPr/>
        </p:nvSpPr>
        <p:spPr>
          <a:xfrm>
            <a:off x="841248"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CONFIGURE
Pricing rules</a:t>
            </a:r>
            <a:endParaRPr lang="en-US" sz="1000">
              <a:solidFill>
                <a:srgbClr val="126C36"/>
              </a:solidFill>
              <a:latin typeface="+mj-lt"/>
            </a:endParaRPr>
          </a:p>
        </p:txBody>
      </p:sp>
      <p:sp>
        <p:nvSpPr>
          <p:cNvPr id="11" name="Shape 43">
            <a:extLst>
              <a:ext uri="{FF2B5EF4-FFF2-40B4-BE49-F238E27FC236}">
                <a16:creationId xmlns:a16="http://schemas.microsoft.com/office/drawing/2014/main" id="{66E7F336-553F-5078-7A79-C10164B68673}"/>
              </a:ext>
            </a:extLst>
          </p:cNvPr>
          <p:cNvSpPr/>
          <p:nvPr/>
        </p:nvSpPr>
        <p:spPr>
          <a:xfrm>
            <a:off x="2487168"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13" name="Shape 44">
            <a:extLst>
              <a:ext uri="{FF2B5EF4-FFF2-40B4-BE49-F238E27FC236}">
                <a16:creationId xmlns:a16="http://schemas.microsoft.com/office/drawing/2014/main" id="{81E31F32-2913-0D63-2E76-554EFB0570C8}"/>
              </a:ext>
            </a:extLst>
          </p:cNvPr>
          <p:cNvSpPr/>
          <p:nvPr/>
        </p:nvSpPr>
        <p:spPr>
          <a:xfrm>
            <a:off x="2779776"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29" name="Text 45">
            <a:extLst>
              <a:ext uri="{FF2B5EF4-FFF2-40B4-BE49-F238E27FC236}">
                <a16:creationId xmlns:a16="http://schemas.microsoft.com/office/drawing/2014/main" id="{6FAA8040-F8A6-379E-36CE-D54066A47F14}"/>
              </a:ext>
            </a:extLst>
          </p:cNvPr>
          <p:cNvSpPr/>
          <p:nvPr/>
        </p:nvSpPr>
        <p:spPr>
          <a:xfrm>
            <a:off x="2834640" y="4983480"/>
            <a:ext cx="1517904" cy="329184"/>
          </a:xfrm>
          <a:prstGeom prst="rect">
            <a:avLst/>
          </a:prstGeom>
          <a:noFill/>
          <a:ln/>
        </p:spPr>
        <p:txBody>
          <a:bodyPr wrap="square" lIns="0" tIns="0" rIns="0" bIns="0" rtlCol="0" anchor="ctr">
            <a:normAutofit/>
          </a:bodyPr>
          <a:lstStyle/>
          <a:p>
            <a:pPr marL="0" indent="0" algn="ctr">
              <a:buNone/>
            </a:pPr>
            <a:r>
              <a:rPr lang="en-US" sz="1000" b="1" err="1">
                <a:solidFill>
                  <a:srgbClr val="126C36"/>
                </a:solidFill>
                <a:latin typeface="+mj-lt"/>
                <a:ea typeface="Arial" pitchFamily="34" charset="-122"/>
                <a:cs typeface="Arial" pitchFamily="34" charset="-120"/>
              </a:rPr>
              <a:t>CAPTURE
Usage data</a:t>
            </a:r>
            <a:endParaRPr lang="en-US" sz="1000">
              <a:solidFill>
                <a:srgbClr val="126C36"/>
              </a:solidFill>
              <a:latin typeface="+mj-lt"/>
            </a:endParaRPr>
          </a:p>
        </p:txBody>
      </p:sp>
      <p:sp>
        <p:nvSpPr>
          <p:cNvPr id="64" name="Shape 46">
            <a:extLst>
              <a:ext uri="{FF2B5EF4-FFF2-40B4-BE49-F238E27FC236}">
                <a16:creationId xmlns:a16="http://schemas.microsoft.com/office/drawing/2014/main" id="{A8B5A121-1242-58DE-894A-15E4A52783BA}"/>
              </a:ext>
            </a:extLst>
          </p:cNvPr>
          <p:cNvSpPr/>
          <p:nvPr/>
        </p:nvSpPr>
        <p:spPr>
          <a:xfrm>
            <a:off x="4480560"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65" name="Shape 47">
            <a:extLst>
              <a:ext uri="{FF2B5EF4-FFF2-40B4-BE49-F238E27FC236}">
                <a16:creationId xmlns:a16="http://schemas.microsoft.com/office/drawing/2014/main" id="{A182A138-9C15-8A6B-7995-B34AE7615AC8}"/>
              </a:ext>
            </a:extLst>
          </p:cNvPr>
          <p:cNvSpPr/>
          <p:nvPr/>
        </p:nvSpPr>
        <p:spPr>
          <a:xfrm>
            <a:off x="4773168" y="4928616"/>
            <a:ext cx="1627632" cy="475488"/>
          </a:xfrm>
          <a:prstGeom prst="roundRect">
            <a:avLst>
              <a:gd name="adj" fmla="val 15385"/>
            </a:avLst>
          </a:prstGeom>
          <a:solidFill>
            <a:srgbClr val="FFF0DF"/>
          </a:solidFill>
          <a:ln w="12700">
            <a:solidFill>
              <a:srgbClr val="E6A55B"/>
            </a:solidFill>
            <a:prstDash val="solid"/>
          </a:ln>
        </p:spPr>
        <p:txBody>
          <a:bodyPr wrap="square"/>
          <a:lstStyle/>
          <a:p>
            <a:endParaRPr lang="zh-CN" altLang="en-US">
              <a:latin typeface="+mj-lt"/>
            </a:endParaRPr>
          </a:p>
        </p:txBody>
      </p:sp>
      <p:sp>
        <p:nvSpPr>
          <p:cNvPr id="66" name="Text 48">
            <a:extLst>
              <a:ext uri="{FF2B5EF4-FFF2-40B4-BE49-F238E27FC236}">
                <a16:creationId xmlns:a16="http://schemas.microsoft.com/office/drawing/2014/main" id="{8D64D422-F41A-3151-FADC-C8667ED09B02}"/>
              </a:ext>
            </a:extLst>
          </p:cNvPr>
          <p:cNvSpPr/>
          <p:nvPr/>
        </p:nvSpPr>
        <p:spPr>
          <a:xfrm>
            <a:off x="4828032"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E66A13"/>
                </a:solidFill>
                <a:latin typeface="+mj-lt"/>
                <a:ea typeface="Arial" pitchFamily="34" charset="-122"/>
                <a:cs typeface="Arial" pitchFamily="34" charset="-120"/>
              </a:rPr>
              <a:t>CALCULATE
Charges</a:t>
            </a:r>
            <a:endParaRPr lang="en-US" sz="1000">
              <a:latin typeface="+mj-lt"/>
            </a:endParaRPr>
          </a:p>
        </p:txBody>
      </p:sp>
      <p:sp>
        <p:nvSpPr>
          <p:cNvPr id="67" name="Shape 49">
            <a:extLst>
              <a:ext uri="{FF2B5EF4-FFF2-40B4-BE49-F238E27FC236}">
                <a16:creationId xmlns:a16="http://schemas.microsoft.com/office/drawing/2014/main" id="{6F609507-B6B0-3A84-DD5C-01DACE205152}"/>
              </a:ext>
            </a:extLst>
          </p:cNvPr>
          <p:cNvSpPr/>
          <p:nvPr/>
        </p:nvSpPr>
        <p:spPr>
          <a:xfrm>
            <a:off x="6473952" y="5010912"/>
            <a:ext cx="219456" cy="310896"/>
          </a:xfrm>
          <a:prstGeom prst="chevron">
            <a:avLst/>
          </a:prstGeom>
          <a:solidFill>
            <a:srgbClr val="E66A13"/>
          </a:solidFill>
          <a:ln w="12700">
            <a:solidFill>
              <a:srgbClr val="E66A13"/>
            </a:solidFill>
            <a:prstDash val="solid"/>
          </a:ln>
        </p:spPr>
        <p:txBody>
          <a:bodyPr wrap="square"/>
          <a:lstStyle/>
          <a:p>
            <a:endParaRPr lang="zh-CN" altLang="en-US">
              <a:latin typeface="+mj-lt"/>
            </a:endParaRPr>
          </a:p>
        </p:txBody>
      </p:sp>
      <p:sp>
        <p:nvSpPr>
          <p:cNvPr id="68" name="Shape 50">
            <a:extLst>
              <a:ext uri="{FF2B5EF4-FFF2-40B4-BE49-F238E27FC236}">
                <a16:creationId xmlns:a16="http://schemas.microsoft.com/office/drawing/2014/main" id="{02C68D20-DE35-D665-2DE9-802F692EAF64}"/>
              </a:ext>
            </a:extLst>
          </p:cNvPr>
          <p:cNvSpPr/>
          <p:nvPr/>
        </p:nvSpPr>
        <p:spPr>
          <a:xfrm>
            <a:off x="6766560"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69" name="Text 51">
            <a:extLst>
              <a:ext uri="{FF2B5EF4-FFF2-40B4-BE49-F238E27FC236}">
                <a16:creationId xmlns:a16="http://schemas.microsoft.com/office/drawing/2014/main" id="{3DFF838A-47B0-9AC2-621A-394FA2A00DAF}"/>
              </a:ext>
            </a:extLst>
          </p:cNvPr>
          <p:cNvSpPr/>
          <p:nvPr/>
        </p:nvSpPr>
        <p:spPr>
          <a:xfrm>
            <a:off x="6821424"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VALIDATE
Compare results</a:t>
            </a:r>
            <a:endParaRPr lang="en-US" sz="1000">
              <a:solidFill>
                <a:srgbClr val="126C36"/>
              </a:solidFill>
              <a:latin typeface="+mj-lt"/>
            </a:endParaRPr>
          </a:p>
        </p:txBody>
      </p:sp>
      <p:sp>
        <p:nvSpPr>
          <p:cNvPr id="70" name="Shape 52">
            <a:extLst>
              <a:ext uri="{FF2B5EF4-FFF2-40B4-BE49-F238E27FC236}">
                <a16:creationId xmlns:a16="http://schemas.microsoft.com/office/drawing/2014/main" id="{E050ED16-6BAF-36F2-A886-2BDBA5E7549B}"/>
              </a:ext>
            </a:extLst>
          </p:cNvPr>
          <p:cNvSpPr/>
          <p:nvPr/>
        </p:nvSpPr>
        <p:spPr>
          <a:xfrm>
            <a:off x="8467344" y="5010912"/>
            <a:ext cx="219456" cy="310896"/>
          </a:xfrm>
          <a:prstGeom prst="chevron">
            <a:avLst/>
          </a:prstGeom>
          <a:solidFill>
            <a:srgbClr val="126C36"/>
          </a:solidFill>
          <a:ln w="12700">
            <a:solidFill>
              <a:srgbClr val="1467B8"/>
            </a:solidFill>
            <a:prstDash val="solid"/>
          </a:ln>
        </p:spPr>
        <p:txBody>
          <a:bodyPr wrap="square"/>
          <a:lstStyle/>
          <a:p>
            <a:endParaRPr lang="zh-CN" altLang="en-US">
              <a:latin typeface="+mj-lt"/>
            </a:endParaRPr>
          </a:p>
        </p:txBody>
      </p:sp>
      <p:sp>
        <p:nvSpPr>
          <p:cNvPr id="71" name="Shape 53">
            <a:extLst>
              <a:ext uri="{FF2B5EF4-FFF2-40B4-BE49-F238E27FC236}">
                <a16:creationId xmlns:a16="http://schemas.microsoft.com/office/drawing/2014/main" id="{7B471988-7E59-F88A-1186-C7C22E64E47C}"/>
              </a:ext>
            </a:extLst>
          </p:cNvPr>
          <p:cNvSpPr/>
          <p:nvPr/>
        </p:nvSpPr>
        <p:spPr>
          <a:xfrm>
            <a:off x="8759952" y="4928616"/>
            <a:ext cx="1627632" cy="475488"/>
          </a:xfrm>
          <a:prstGeom prst="roundRect">
            <a:avLst>
              <a:gd name="adj" fmla="val 15385"/>
            </a:avLst>
          </a:prstGeom>
          <a:solidFill>
            <a:srgbClr val="FFFFFF"/>
          </a:solidFill>
          <a:ln w="12700">
            <a:solidFill>
              <a:srgbClr val="D6DDE8"/>
            </a:solidFill>
            <a:prstDash val="solid"/>
          </a:ln>
        </p:spPr>
        <p:txBody>
          <a:bodyPr wrap="square"/>
          <a:lstStyle/>
          <a:p>
            <a:endParaRPr lang="zh-CN" altLang="en-US">
              <a:latin typeface="+mj-lt"/>
            </a:endParaRPr>
          </a:p>
        </p:txBody>
      </p:sp>
      <p:sp>
        <p:nvSpPr>
          <p:cNvPr id="72" name="Text 54">
            <a:extLst>
              <a:ext uri="{FF2B5EF4-FFF2-40B4-BE49-F238E27FC236}">
                <a16:creationId xmlns:a16="http://schemas.microsoft.com/office/drawing/2014/main" id="{6FB22D03-C000-FDFF-4C7C-F02C49799769}"/>
              </a:ext>
            </a:extLst>
          </p:cNvPr>
          <p:cNvSpPr/>
          <p:nvPr/>
        </p:nvSpPr>
        <p:spPr>
          <a:xfrm>
            <a:off x="8814816" y="4983480"/>
            <a:ext cx="1517904" cy="329184"/>
          </a:xfrm>
          <a:prstGeom prst="rect">
            <a:avLst/>
          </a:prstGeom>
          <a:noFill/>
          <a:ln/>
        </p:spPr>
        <p:txBody>
          <a:bodyPr wrap="square" lIns="0" tIns="0" rIns="0" bIns="0" rtlCol="0" anchor="ctr">
            <a:normAutofit/>
          </a:bodyPr>
          <a:lstStyle/>
          <a:p>
            <a:pPr marL="0" indent="0" algn="ctr">
              <a:buNone/>
            </a:pPr>
            <a:r>
              <a:rPr lang="en-US" sz="1000" b="1">
                <a:solidFill>
                  <a:srgbClr val="126C36"/>
                </a:solidFill>
                <a:latin typeface="+mj-lt"/>
                <a:ea typeface="Arial" pitchFamily="34" charset="-122"/>
                <a:cs typeface="Arial" pitchFamily="34" charset="-120"/>
              </a:rPr>
              <a:t>BILL
Invoice amount</a:t>
            </a:r>
            <a:endParaRPr lang="en-US" sz="1000">
              <a:solidFill>
                <a:srgbClr val="126C36"/>
              </a:solidFill>
              <a:latin typeface="+mj-lt"/>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60D1-9A3A-2D91-DC25-EA8B96CA708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378780F-BEA5-13EC-7B1D-71E808678799}"/>
              </a:ext>
            </a:extLst>
          </p:cNvPr>
          <p:cNvSpPr>
            <a:spLocks noGrp="1"/>
          </p:cNvSpPr>
          <p:nvPr>
            <p:ph type="title"/>
          </p:nvPr>
        </p:nvSpPr>
        <p:spPr/>
        <p:txBody>
          <a:bodyPr/>
          <a:lstStyle/>
          <a:p>
            <a:r>
              <a:rPr lang="en-US" altLang="zh-CN"/>
              <a:t>Pricing Table - Search &amp; Result </a:t>
            </a:r>
            <a:endParaRPr lang="zh-CN" altLang="en-US"/>
          </a:p>
        </p:txBody>
      </p:sp>
      <p:sp>
        <p:nvSpPr>
          <p:cNvPr id="9" name="TextBox 73">
            <a:extLst>
              <a:ext uri="{FF2B5EF4-FFF2-40B4-BE49-F238E27FC236}">
                <a16:creationId xmlns:a16="http://schemas.microsoft.com/office/drawing/2014/main" id="{F0D1C278-DA1B-6A8A-3746-3AA1C5D69E8F}"/>
              </a:ext>
            </a:extLst>
          </p:cNvPr>
          <p:cNvSpPr txBox="1"/>
          <p:nvPr/>
        </p:nvSpPr>
        <p:spPr>
          <a:xfrm>
            <a:off x="7551838" y="1618786"/>
            <a:ext cx="4407867" cy="4555093"/>
          </a:xfrm>
          <a:prstGeom prst="rect">
            <a:avLst/>
          </a:prstGeom>
          <a:noFill/>
        </p:spPr>
        <p:txBody>
          <a:bodyPr wrap="square" rtlCol="0">
            <a:spAutoFit/>
          </a:bodyPr>
          <a:lstStyle/>
          <a:p>
            <a:r>
              <a:rPr lang="en-US" altLang="zh-CN" sz="1000">
                <a:cs typeface="Lato Light"/>
              </a:rPr>
              <a:t>Users can search pricing tables using one or more criteria. Multiple search conditions can be combined to narrow the search results.</a:t>
            </a:r>
          </a:p>
          <a:p>
            <a:endParaRPr lang="en-US" altLang="zh-CN" sz="1000">
              <a:cs typeface="Lato Light"/>
            </a:endParaRPr>
          </a:p>
          <a:p>
            <a:r>
              <a:rPr lang="en-US" altLang="zh-CN" sz="1000" b="1">
                <a:cs typeface="Lato Light"/>
              </a:rPr>
              <a:t>Search</a:t>
            </a:r>
            <a:r>
              <a:rPr lang="en-US" altLang="zh-CN" sz="1000">
                <a:cs typeface="Lato Light"/>
              </a:rPr>
              <a:t>: Click Search to retrieve matching pricing table records.</a:t>
            </a:r>
          </a:p>
          <a:p>
            <a:r>
              <a:rPr lang="en-US" altLang="zh-CN" sz="1000" b="1">
                <a:cs typeface="Lato Light"/>
              </a:rPr>
              <a:t>Clear</a:t>
            </a:r>
            <a:r>
              <a:rPr lang="en-US" altLang="zh-CN" sz="1000">
                <a:cs typeface="Lato Light"/>
              </a:rPr>
              <a:t>: Click Clear to remove all search criteria and clear the current search results. </a:t>
            </a:r>
          </a:p>
          <a:p>
            <a:r>
              <a:rPr lang="en-US" altLang="zh-CN" sz="1000" b="1">
                <a:cs typeface="Lato Light"/>
              </a:rPr>
              <a:t>Save Search</a:t>
            </a:r>
            <a:r>
              <a:rPr lang="en-US" altLang="zh-CN" sz="1000">
                <a:cs typeface="Lato Light"/>
              </a:rPr>
              <a:t>: Allows users to save frequently used search criteria for future use.</a:t>
            </a:r>
          </a:p>
          <a:p>
            <a:r>
              <a:rPr lang="en-US" altLang="zh-CN" sz="1000" b="1">
                <a:cs typeface="Lato Light"/>
              </a:rPr>
              <a:t>My Searches</a:t>
            </a:r>
            <a:r>
              <a:rPr lang="en-US" altLang="zh-CN" sz="1000">
                <a:cs typeface="Lato Light"/>
              </a:rPr>
              <a:t>: Allows users to quickly reuse previously saved search templates.</a:t>
            </a:r>
          </a:p>
          <a:p>
            <a:endParaRPr lang="en-US" altLang="zh-CN" sz="1000">
              <a:cs typeface="Lato Light"/>
            </a:endParaRPr>
          </a:p>
          <a:p>
            <a:r>
              <a:rPr lang="en-US" altLang="zh-CN" sz="1000" b="1">
                <a:cs typeface="Lato Light"/>
              </a:rPr>
              <a:t>Sorting</a:t>
            </a:r>
            <a:r>
              <a:rPr lang="en-US" altLang="zh-CN" sz="1000">
                <a:cs typeface="Lato Light"/>
              </a:rPr>
              <a:t>: Users can sort results by clicking a column header.</a:t>
            </a:r>
          </a:p>
          <a:p>
            <a:r>
              <a:rPr lang="en-US" altLang="zh-CN" sz="1000" b="1">
                <a:cs typeface="Lato Light"/>
              </a:rPr>
              <a:t>Column Resize</a:t>
            </a:r>
            <a:r>
              <a:rPr lang="en-US" altLang="zh-CN" sz="1000">
                <a:cs typeface="Lato Light"/>
              </a:rPr>
              <a:t>: Users can resize columns by dragging the column boundary.</a:t>
            </a:r>
          </a:p>
          <a:p>
            <a:r>
              <a:rPr lang="en-US" altLang="zh-CN" sz="1000" b="1">
                <a:cs typeface="Lato Light"/>
              </a:rPr>
              <a:t>Column Reorder</a:t>
            </a:r>
            <a:r>
              <a:rPr lang="en-US" altLang="zh-CN" sz="1000">
                <a:cs typeface="Lato Light"/>
              </a:rPr>
              <a:t>: Users can rearrange columns by dragging the column header to a different position.</a:t>
            </a:r>
          </a:p>
          <a:p>
            <a:r>
              <a:rPr lang="en-US" altLang="zh-CN" sz="1000" b="1">
                <a:cs typeface="Lato Light"/>
              </a:rPr>
              <a:t>Pagination</a:t>
            </a:r>
            <a:r>
              <a:rPr lang="en-US" altLang="zh-CN" sz="1000">
                <a:cs typeface="Lato Light"/>
              </a:rPr>
              <a:t>: By default, 20 records are displayed per page. Users can navigate between pages using the page controls. Users can change the number of displayed records using the Rows per page selector.</a:t>
            </a:r>
          </a:p>
          <a:p>
            <a:r>
              <a:rPr lang="en-US" altLang="zh-CN" sz="1000" b="1">
                <a:cs typeface="Lato Light"/>
              </a:rPr>
              <a:t>Settings</a:t>
            </a:r>
            <a:r>
              <a:rPr lang="en-US" altLang="zh-CN" sz="1000">
                <a:cs typeface="Lato Light"/>
              </a:rPr>
              <a:t>: allows users to customize the result list by selecting which fields are displayed. Users can save the layout as a configuration and reuse it in future sessions.</a:t>
            </a:r>
          </a:p>
          <a:p>
            <a:r>
              <a:rPr lang="en-US" altLang="zh-CN" sz="1000" b="1">
                <a:cs typeface="Lato Light"/>
              </a:rPr>
              <a:t>Download</a:t>
            </a:r>
            <a:endParaRPr lang="en-US" altLang="zh-CN" sz="1000">
              <a:cs typeface="Lato Light"/>
            </a:endParaRPr>
          </a:p>
          <a:p>
            <a:r>
              <a:rPr lang="en-US" altLang="zh-CN" sz="1000">
                <a:cs typeface="Lato Light"/>
              </a:rPr>
              <a:t>Exports pricing table data for offline analysis.</a:t>
            </a:r>
          </a:p>
          <a:p>
            <a:r>
              <a:rPr lang="en-US" altLang="zh-CN" sz="1000">
                <a:cs typeface="Lato Light"/>
              </a:rPr>
              <a:t>Download All Data: Export all records returned by the current search.</a:t>
            </a:r>
          </a:p>
          <a:p>
            <a:r>
              <a:rPr lang="en-US" altLang="zh-CN" sz="1000">
                <a:cs typeface="Lato Light"/>
              </a:rPr>
              <a:t>Download Selected Data: Export only the selected records.</a:t>
            </a:r>
          </a:p>
          <a:p>
            <a:endParaRPr lang="en-US" altLang="zh-CN" sz="1000">
              <a:cs typeface="Lato Light"/>
            </a:endParaRPr>
          </a:p>
          <a:p>
            <a:r>
              <a:rPr lang="en-US" altLang="zh-CN" sz="1000">
                <a:cs typeface="Lato Light"/>
              </a:rPr>
              <a:t>The </a:t>
            </a:r>
            <a:r>
              <a:rPr lang="en-US" altLang="zh-CN" sz="1000" b="1">
                <a:cs typeface="Lato Light"/>
              </a:rPr>
              <a:t>Table ID </a:t>
            </a:r>
            <a:r>
              <a:rPr lang="en-US" altLang="zh-CN" sz="1000">
                <a:cs typeface="Lato Light"/>
              </a:rPr>
              <a:t>is displayed as a clickable hyperlink. Users can click the Table ID to open the corresponding Pricing Table Detail page and review detailed pricing configuration information.</a:t>
            </a:r>
          </a:p>
        </p:txBody>
      </p:sp>
      <p:sp>
        <p:nvSpPr>
          <p:cNvPr id="5" name="Text 2">
            <a:extLst>
              <a:ext uri="{FF2B5EF4-FFF2-40B4-BE49-F238E27FC236}">
                <a16:creationId xmlns:a16="http://schemas.microsoft.com/office/drawing/2014/main" id="{1FB4B134-A70B-69AA-1694-8A039A5D219C}"/>
              </a:ext>
            </a:extLst>
          </p:cNvPr>
          <p:cNvSpPr/>
          <p:nvPr/>
        </p:nvSpPr>
        <p:spPr>
          <a:xfrm>
            <a:off x="320182" y="768879"/>
            <a:ext cx="11639523" cy="509377"/>
          </a:xfrm>
          <a:prstGeom prst="rect">
            <a:avLst/>
          </a:prstGeom>
          <a:noFill/>
          <a:ln/>
        </p:spPr>
        <p:txBody>
          <a:bodyPr wrap="square" lIns="0" tIns="0" rIns="0" bIns="0" rtlCol="0" anchor="ctr">
            <a:normAutofit lnSpcReduction="10000"/>
          </a:bodyPr>
          <a:lstStyle/>
          <a:p>
            <a:r>
              <a:rPr lang="en-US" altLang="zh-CN" sz="1200"/>
              <a:t>Pricing Table data originates from EPR and is received from Contract Center when EPR inbound to </a:t>
            </a:r>
            <a:r>
              <a:rPr lang="en-US" altLang="zh-CN" sz="1200" err="1"/>
              <a:t>Nexbill</a:t>
            </a:r>
            <a:r>
              <a:rPr lang="en-US" altLang="zh-CN" sz="1200"/>
              <a:t>.</a:t>
            </a:r>
          </a:p>
          <a:p>
            <a:r>
              <a:rPr lang="en-US" altLang="zh-CN" sz="1200"/>
              <a:t>The Pricing Table page allows users to search and review usage-based pricing configurations used for IaaS billing in </a:t>
            </a:r>
            <a:r>
              <a:rPr lang="en-US" altLang="zh-CN" sz="1200" err="1"/>
              <a:t>NexBill</a:t>
            </a:r>
            <a:r>
              <a:rPr lang="en-US" altLang="zh-CN" sz="1200"/>
              <a:t>. Pricing tables are associated with EPR, Subscription Orders and Charge Plans and define how usage charges are calculated for different metering types and services.</a:t>
            </a:r>
          </a:p>
        </p:txBody>
      </p:sp>
      <p:sp>
        <p:nvSpPr>
          <p:cNvPr id="14" name="TextBox 72">
            <a:extLst>
              <a:ext uri="{FF2B5EF4-FFF2-40B4-BE49-F238E27FC236}">
                <a16:creationId xmlns:a16="http://schemas.microsoft.com/office/drawing/2014/main" id="{227B5E14-6A5F-9E50-EA07-6BB6CC67891F}"/>
              </a:ext>
            </a:extLst>
          </p:cNvPr>
          <p:cNvSpPr txBox="1"/>
          <p:nvPr/>
        </p:nvSpPr>
        <p:spPr>
          <a:xfrm>
            <a:off x="7551839" y="1379881"/>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Pricing Tables &amp; Result</a:t>
            </a:r>
          </a:p>
        </p:txBody>
      </p:sp>
      <p:sp>
        <p:nvSpPr>
          <p:cNvPr id="15" name="Oval 111">
            <a:extLst>
              <a:ext uri="{FF2B5EF4-FFF2-40B4-BE49-F238E27FC236}">
                <a16:creationId xmlns:a16="http://schemas.microsoft.com/office/drawing/2014/main" id="{A942BD80-4B8C-45BA-E039-05F37CCD4616}"/>
              </a:ext>
            </a:extLst>
          </p:cNvPr>
          <p:cNvSpPr/>
          <p:nvPr/>
        </p:nvSpPr>
        <p:spPr>
          <a:xfrm>
            <a:off x="7306047" y="139018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17" name="图片 16">
            <a:extLst>
              <a:ext uri="{FF2B5EF4-FFF2-40B4-BE49-F238E27FC236}">
                <a16:creationId xmlns:a16="http://schemas.microsoft.com/office/drawing/2014/main" id="{69720060-7B76-DF13-2101-0AD03E5B288D}"/>
              </a:ext>
            </a:extLst>
          </p:cNvPr>
          <p:cNvPicPr>
            <a:picLocks noChangeAspect="1"/>
          </p:cNvPicPr>
          <p:nvPr/>
        </p:nvPicPr>
        <p:blipFill>
          <a:blip r:embed="rId2"/>
          <a:stretch>
            <a:fillRect/>
          </a:stretch>
        </p:blipFill>
        <p:spPr>
          <a:xfrm>
            <a:off x="332049" y="1459457"/>
            <a:ext cx="6552227" cy="2795385"/>
          </a:xfrm>
          <a:prstGeom prst="rect">
            <a:avLst/>
          </a:prstGeom>
        </p:spPr>
      </p:pic>
      <p:sp>
        <p:nvSpPr>
          <p:cNvPr id="18" name="Oval 111">
            <a:extLst>
              <a:ext uri="{FF2B5EF4-FFF2-40B4-BE49-F238E27FC236}">
                <a16:creationId xmlns:a16="http://schemas.microsoft.com/office/drawing/2014/main" id="{202D81FA-D80F-A1E8-2388-40CDA1330F90}"/>
              </a:ext>
            </a:extLst>
          </p:cNvPr>
          <p:cNvSpPr/>
          <p:nvPr/>
        </p:nvSpPr>
        <p:spPr>
          <a:xfrm>
            <a:off x="1283619" y="1871965"/>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34220700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animBg="1"/>
      <p:bldP spid="18"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BCCFA-ABCC-C798-718D-67760AA7A45C}"/>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07853404-5FC5-6653-303F-C54266352E09}"/>
              </a:ext>
            </a:extLst>
          </p:cNvPr>
          <p:cNvPicPr>
            <a:picLocks noChangeAspect="1"/>
          </p:cNvPicPr>
          <p:nvPr/>
        </p:nvPicPr>
        <p:blipFill>
          <a:blip r:embed="rId2"/>
          <a:stretch>
            <a:fillRect/>
          </a:stretch>
        </p:blipFill>
        <p:spPr>
          <a:xfrm>
            <a:off x="431246" y="1412073"/>
            <a:ext cx="7640806" cy="4291412"/>
          </a:xfrm>
          <a:prstGeom prst="rect">
            <a:avLst/>
          </a:prstGeom>
        </p:spPr>
      </p:pic>
      <p:sp>
        <p:nvSpPr>
          <p:cNvPr id="3" name="标题 2">
            <a:extLst>
              <a:ext uri="{FF2B5EF4-FFF2-40B4-BE49-F238E27FC236}">
                <a16:creationId xmlns:a16="http://schemas.microsoft.com/office/drawing/2014/main" id="{A1354B34-479A-0C0D-92CF-698405E7DAFB}"/>
              </a:ext>
            </a:extLst>
          </p:cNvPr>
          <p:cNvSpPr>
            <a:spLocks noGrp="1"/>
          </p:cNvSpPr>
          <p:nvPr>
            <p:ph type="title"/>
          </p:nvPr>
        </p:nvSpPr>
        <p:spPr/>
        <p:txBody>
          <a:bodyPr/>
          <a:lstStyle/>
          <a:p>
            <a:r>
              <a:rPr lang="en-US" altLang="zh-CN"/>
              <a:t>Pricing Table - Detail</a:t>
            </a:r>
            <a:endParaRPr lang="zh-CN" altLang="en-US"/>
          </a:p>
        </p:txBody>
      </p:sp>
      <p:sp>
        <p:nvSpPr>
          <p:cNvPr id="2" name="Text 2">
            <a:extLst>
              <a:ext uri="{FF2B5EF4-FFF2-40B4-BE49-F238E27FC236}">
                <a16:creationId xmlns:a16="http://schemas.microsoft.com/office/drawing/2014/main" id="{1074E253-7D2E-E2BD-1715-7F725F8EE1E1}"/>
              </a:ext>
            </a:extLst>
          </p:cNvPr>
          <p:cNvSpPr/>
          <p:nvPr/>
        </p:nvSpPr>
        <p:spPr>
          <a:xfrm>
            <a:off x="320182" y="745187"/>
            <a:ext cx="11639523" cy="509377"/>
          </a:xfrm>
          <a:prstGeom prst="rect">
            <a:avLst/>
          </a:prstGeom>
          <a:noFill/>
          <a:ln/>
        </p:spPr>
        <p:txBody>
          <a:bodyPr wrap="square" lIns="0" tIns="0" rIns="0" bIns="0" rtlCol="0" anchor="ctr">
            <a:normAutofit/>
          </a:bodyPr>
          <a:lstStyle/>
          <a:p>
            <a:r>
              <a:rPr lang="en-US" altLang="zh-CN" sz="1200">
                <a:cs typeface="Lato Light"/>
              </a:rPr>
              <a:t>The Pricing Table Detail page displays the detailed pricing configuration associated with the selected pricing table. </a:t>
            </a:r>
          </a:p>
          <a:p>
            <a:r>
              <a:rPr lang="en-US" altLang="zh-CN" sz="1200">
                <a:cs typeface="Lato Light"/>
              </a:rPr>
              <a:t>Depending on the pricing table type, users can review related pricing data.</a:t>
            </a:r>
            <a:endParaRPr lang="en-US" altLang="zh-CN" sz="1200"/>
          </a:p>
        </p:txBody>
      </p:sp>
      <p:sp>
        <p:nvSpPr>
          <p:cNvPr id="10" name="TextBox 93">
            <a:extLst>
              <a:ext uri="{FF2B5EF4-FFF2-40B4-BE49-F238E27FC236}">
                <a16:creationId xmlns:a16="http://schemas.microsoft.com/office/drawing/2014/main" id="{4BC22BAE-1EED-49EC-4A6B-89A391C80657}"/>
              </a:ext>
            </a:extLst>
          </p:cNvPr>
          <p:cNvSpPr txBox="1"/>
          <p:nvPr/>
        </p:nvSpPr>
        <p:spPr>
          <a:xfrm>
            <a:off x="8508984" y="1571173"/>
            <a:ext cx="3102206" cy="1785104"/>
          </a:xfrm>
          <a:prstGeom prst="rect">
            <a:avLst/>
          </a:prstGeom>
          <a:noFill/>
        </p:spPr>
        <p:txBody>
          <a:bodyPr wrap="square" rtlCol="0">
            <a:spAutoFit/>
          </a:bodyPr>
          <a:lstStyle/>
          <a:p>
            <a:r>
              <a:rPr lang="en-US" sz="1000">
                <a:cs typeface="Lato Light"/>
              </a:rPr>
              <a:t>The detail page is provided for review and reference purposes to help users understand how usage charges will be calculated during billing.</a:t>
            </a:r>
          </a:p>
          <a:p>
            <a:endParaRPr lang="en-US" sz="1000">
              <a:cs typeface="Lato Light"/>
            </a:endParaRPr>
          </a:p>
          <a:p>
            <a:r>
              <a:rPr lang="en-US" altLang="zh-CN" sz="1000" b="1">
                <a:cs typeface="Lato Light"/>
              </a:rPr>
              <a:t>Settings: </a:t>
            </a:r>
            <a:r>
              <a:rPr lang="en-US" altLang="zh-CN" sz="1000">
                <a:cs typeface="Lato Light"/>
              </a:rPr>
              <a:t>Customize the result list by selecting which fields are displayed. Users can save the layout as a configuration and reuse it in future sessions.</a:t>
            </a:r>
          </a:p>
          <a:p>
            <a:r>
              <a:rPr lang="en-US" altLang="zh-CN" sz="1000" b="1">
                <a:cs typeface="Lato Light"/>
              </a:rPr>
              <a:t>Download: </a:t>
            </a:r>
            <a:r>
              <a:rPr lang="en-US" altLang="zh-CN" sz="1000">
                <a:cs typeface="Lato Light"/>
              </a:rPr>
              <a:t>Exports pricing data for offline analysis</a:t>
            </a:r>
          </a:p>
          <a:p>
            <a:endParaRPr lang="en-US" sz="1000">
              <a:cs typeface="Lato Light"/>
            </a:endParaRPr>
          </a:p>
          <a:p>
            <a:r>
              <a:rPr lang="en-US" altLang="zh-CN" sz="1000">
                <a:cs typeface="Lato Light"/>
              </a:rPr>
              <a:t>Note: Pricing Tables are system-generated based on EPR and charge plan configurations.  </a:t>
            </a:r>
          </a:p>
        </p:txBody>
      </p:sp>
      <p:sp>
        <p:nvSpPr>
          <p:cNvPr id="7" name="TextBox 82">
            <a:extLst>
              <a:ext uri="{FF2B5EF4-FFF2-40B4-BE49-F238E27FC236}">
                <a16:creationId xmlns:a16="http://schemas.microsoft.com/office/drawing/2014/main" id="{2D8B4130-A5BD-788A-A19A-EFFEFEDB5AE9}"/>
              </a:ext>
            </a:extLst>
          </p:cNvPr>
          <p:cNvSpPr txBox="1"/>
          <p:nvPr/>
        </p:nvSpPr>
        <p:spPr>
          <a:xfrm>
            <a:off x="8508984" y="1319588"/>
            <a:ext cx="1939214" cy="292388"/>
          </a:xfrm>
          <a:prstGeom prst="rect">
            <a:avLst/>
          </a:prstGeom>
          <a:noFill/>
        </p:spPr>
        <p:txBody>
          <a:bodyPr wrap="square" rtlCol="0">
            <a:spAutoFit/>
          </a:bodyPr>
          <a:lstStyle/>
          <a:p>
            <a:r>
              <a:rPr lang="en-US" sz="1300" b="1">
                <a:solidFill>
                  <a:srgbClr val="126C36"/>
                </a:solidFill>
                <a:cs typeface="Lato Regular"/>
              </a:rPr>
              <a:t>Pricing Table Detail</a:t>
            </a:r>
          </a:p>
        </p:txBody>
      </p:sp>
      <p:sp>
        <p:nvSpPr>
          <p:cNvPr id="8" name="Oval 112">
            <a:extLst>
              <a:ext uri="{FF2B5EF4-FFF2-40B4-BE49-F238E27FC236}">
                <a16:creationId xmlns:a16="http://schemas.microsoft.com/office/drawing/2014/main" id="{071ECC92-A988-7B97-5AC8-40B96A6D7CD3}"/>
              </a:ext>
            </a:extLst>
          </p:cNvPr>
          <p:cNvSpPr/>
          <p:nvPr/>
        </p:nvSpPr>
        <p:spPr>
          <a:xfrm>
            <a:off x="8280384" y="1348702"/>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37626004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00CDE-8CEB-9E0F-14EC-42100BDBDD5F}"/>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408912C4-69A1-3710-B03B-60A1F295EFFE}"/>
              </a:ext>
            </a:extLst>
          </p:cNvPr>
          <p:cNvPicPr>
            <a:picLocks noChangeAspect="1"/>
          </p:cNvPicPr>
          <p:nvPr/>
        </p:nvPicPr>
        <p:blipFill>
          <a:blip r:embed="rId2"/>
          <a:stretch>
            <a:fillRect/>
          </a:stretch>
        </p:blipFill>
        <p:spPr>
          <a:xfrm>
            <a:off x="320181" y="1544175"/>
            <a:ext cx="6988531" cy="3958727"/>
          </a:xfrm>
          <a:prstGeom prst="rect">
            <a:avLst/>
          </a:prstGeom>
        </p:spPr>
      </p:pic>
      <p:sp>
        <p:nvSpPr>
          <p:cNvPr id="3" name="标题 2">
            <a:extLst>
              <a:ext uri="{FF2B5EF4-FFF2-40B4-BE49-F238E27FC236}">
                <a16:creationId xmlns:a16="http://schemas.microsoft.com/office/drawing/2014/main" id="{640D1FAF-CA50-D3D9-5239-3C37B80F87C2}"/>
              </a:ext>
            </a:extLst>
          </p:cNvPr>
          <p:cNvSpPr>
            <a:spLocks noGrp="1"/>
          </p:cNvSpPr>
          <p:nvPr>
            <p:ph type="title"/>
          </p:nvPr>
        </p:nvSpPr>
        <p:spPr/>
        <p:txBody>
          <a:bodyPr/>
          <a:lstStyle/>
          <a:p>
            <a:r>
              <a:rPr lang="en-US" altLang="zh-CN"/>
              <a:t>Usage Data - Search &amp; Result </a:t>
            </a:r>
            <a:endParaRPr lang="zh-CN" altLang="en-US"/>
          </a:p>
        </p:txBody>
      </p:sp>
      <p:sp>
        <p:nvSpPr>
          <p:cNvPr id="9" name="TextBox 73">
            <a:extLst>
              <a:ext uri="{FF2B5EF4-FFF2-40B4-BE49-F238E27FC236}">
                <a16:creationId xmlns:a16="http://schemas.microsoft.com/office/drawing/2014/main" id="{FA3027AD-2C39-92AB-3FCF-917394712BB6}"/>
              </a:ext>
            </a:extLst>
          </p:cNvPr>
          <p:cNvSpPr txBox="1"/>
          <p:nvPr/>
        </p:nvSpPr>
        <p:spPr>
          <a:xfrm>
            <a:off x="7562347" y="1583698"/>
            <a:ext cx="4282811" cy="4555093"/>
          </a:xfrm>
          <a:prstGeom prst="rect">
            <a:avLst/>
          </a:prstGeom>
          <a:noFill/>
        </p:spPr>
        <p:txBody>
          <a:bodyPr wrap="square" rtlCol="0">
            <a:spAutoFit/>
          </a:bodyPr>
          <a:lstStyle/>
          <a:p>
            <a:r>
              <a:rPr lang="en-US" altLang="zh-CN" sz="1000">
                <a:cs typeface="Lato Light"/>
              </a:rPr>
              <a:t>Users can search usage data using one or more criteria. Multiple search conditions can be combined to narrow the search results.</a:t>
            </a:r>
          </a:p>
          <a:p>
            <a:endParaRPr lang="en-US" altLang="zh-CN" sz="1000" b="1">
              <a:cs typeface="Lato Light"/>
            </a:endParaRPr>
          </a:p>
          <a:p>
            <a:r>
              <a:rPr lang="en-US" altLang="zh-CN" sz="1000" b="1">
                <a:cs typeface="Lato Light"/>
              </a:rPr>
              <a:t>Search</a:t>
            </a:r>
            <a:r>
              <a:rPr lang="en-US" altLang="zh-CN" sz="1000">
                <a:cs typeface="Lato Light"/>
              </a:rPr>
              <a:t>: Click Search to retrieve matching usage records.</a:t>
            </a:r>
          </a:p>
          <a:p>
            <a:r>
              <a:rPr lang="en-US" altLang="zh-CN" sz="1000" b="1">
                <a:cs typeface="Lato Light"/>
              </a:rPr>
              <a:t>Clear</a:t>
            </a:r>
            <a:r>
              <a:rPr lang="en-US" altLang="zh-CN" sz="1000">
                <a:cs typeface="Lato Light"/>
              </a:rPr>
              <a:t>: Click Clear to remove all search criteria and clear the current search results. </a:t>
            </a:r>
          </a:p>
          <a:p>
            <a:r>
              <a:rPr lang="en-US" altLang="zh-CN" sz="1000" b="1">
                <a:cs typeface="Lato Light"/>
              </a:rPr>
              <a:t>Save Search</a:t>
            </a:r>
            <a:r>
              <a:rPr lang="en-US" altLang="zh-CN" sz="1000">
                <a:cs typeface="Lato Light"/>
              </a:rPr>
              <a:t>: Allows users to save frequently used search criteria for future use.</a:t>
            </a:r>
          </a:p>
          <a:p>
            <a:r>
              <a:rPr lang="en-US" altLang="zh-CN" sz="1000" b="1">
                <a:cs typeface="Lato Light"/>
              </a:rPr>
              <a:t>My Searches</a:t>
            </a:r>
            <a:r>
              <a:rPr lang="en-US" altLang="zh-CN" sz="1000">
                <a:cs typeface="Lato Light"/>
              </a:rPr>
              <a:t>: Allows users to quickly reuse previously saved search templates.</a:t>
            </a:r>
          </a:p>
          <a:p>
            <a:endParaRPr lang="en-US" altLang="zh-CN" sz="1000">
              <a:cs typeface="Lato Light"/>
            </a:endParaRPr>
          </a:p>
          <a:p>
            <a:r>
              <a:rPr lang="en-US" altLang="zh-CN" sz="1000" b="1">
                <a:cs typeface="Lato Light"/>
              </a:rPr>
              <a:t>Metering Type Tabs</a:t>
            </a:r>
            <a:r>
              <a:rPr lang="en-US" altLang="zh-CN" sz="1000">
                <a:cs typeface="Lato Light"/>
              </a:rPr>
              <a:t>: Usage data is organized by Metering Type. Each tab displays different usage fields depending on the selected Metering Type.</a:t>
            </a:r>
          </a:p>
          <a:p>
            <a:pPr marL="171450" indent="-171450">
              <a:buFont typeface="Arial" panose="020B0604020202020204" pitchFamily="34" charset="0"/>
              <a:buChar char="•"/>
            </a:pPr>
            <a:r>
              <a:rPr lang="en-US" altLang="zh-CN" sz="1000">
                <a:cs typeface="Lato Light"/>
              </a:rPr>
              <a:t>Power</a:t>
            </a:r>
          </a:p>
          <a:p>
            <a:pPr marL="171450" indent="-171450">
              <a:buFont typeface="Arial" panose="020B0604020202020204" pitchFamily="34" charset="0"/>
              <a:buChar char="•"/>
            </a:pPr>
            <a:r>
              <a:rPr lang="en-US" altLang="zh-CN" sz="1000">
                <a:cs typeface="Lato Light"/>
              </a:rPr>
              <a:t>Hybrid Cloud</a:t>
            </a:r>
          </a:p>
          <a:p>
            <a:pPr marL="171450" indent="-171450">
              <a:buFont typeface="Arial" panose="020B0604020202020204" pitchFamily="34" charset="0"/>
              <a:buChar char="•"/>
            </a:pPr>
            <a:r>
              <a:rPr lang="en-US" altLang="zh-CN" sz="1000">
                <a:cs typeface="Lato Light"/>
              </a:rPr>
              <a:t>Backup as a Service (BaaS)</a:t>
            </a:r>
          </a:p>
          <a:p>
            <a:pPr marL="171450" indent="-171450">
              <a:buFont typeface="Arial" panose="020B0604020202020204" pitchFamily="34" charset="0"/>
              <a:buChar char="•"/>
            </a:pPr>
            <a:r>
              <a:rPr lang="en-US" altLang="zh-CN" sz="1000">
                <a:cs typeface="Lato Light"/>
              </a:rPr>
              <a:t>Storage as a Service (STaaS)</a:t>
            </a:r>
          </a:p>
          <a:p>
            <a:pPr marL="171450" indent="-171450">
              <a:buFont typeface="Arial" panose="020B0604020202020204" pitchFamily="34" charset="0"/>
              <a:buChar char="•"/>
            </a:pPr>
            <a:r>
              <a:rPr lang="en-US" altLang="zh-CN" sz="1000">
                <a:cs typeface="Lato Light"/>
              </a:rPr>
              <a:t>Azure</a:t>
            </a:r>
          </a:p>
          <a:p>
            <a:pPr marL="171450" indent="-171450">
              <a:buFont typeface="Arial" panose="020B0604020202020204" pitchFamily="34" charset="0"/>
              <a:buChar char="•"/>
            </a:pPr>
            <a:r>
              <a:rPr lang="en-US" altLang="zh-CN" sz="1000">
                <a:cs typeface="Lato Light"/>
              </a:rPr>
              <a:t>Storage</a:t>
            </a:r>
          </a:p>
          <a:p>
            <a:pPr marL="171450" indent="-171450">
              <a:buFont typeface="Arial" panose="020B0604020202020204" pitchFamily="34" charset="0"/>
              <a:buChar char="•"/>
            </a:pPr>
            <a:endParaRPr lang="en-US" altLang="zh-CN" sz="1000">
              <a:cs typeface="Lato Light"/>
            </a:endParaRPr>
          </a:p>
          <a:p>
            <a:r>
              <a:rPr lang="en-US" altLang="zh-CN" sz="1000" b="1">
                <a:cs typeface="Lato Light"/>
              </a:rPr>
              <a:t>Template Download</a:t>
            </a:r>
            <a:r>
              <a:rPr lang="en-US" altLang="zh-CN" sz="1000">
                <a:cs typeface="Lato Light"/>
              </a:rPr>
              <a:t>: allows users to download the upload template for the selected Metering Type. Each Metering Type has its own template structure and required fields.</a:t>
            </a:r>
          </a:p>
          <a:p>
            <a:r>
              <a:rPr lang="en-US" altLang="zh-CN" sz="1000" b="1">
                <a:cs typeface="Lato Light"/>
              </a:rPr>
              <a:t>Template Upload</a:t>
            </a:r>
            <a:r>
              <a:rPr lang="en-US" altLang="zh-CN" sz="1000">
                <a:cs typeface="Lato Light"/>
              </a:rPr>
              <a:t>: The Template Upload function allows users to upload metering data into </a:t>
            </a:r>
            <a:r>
              <a:rPr lang="en-US" altLang="zh-CN" sz="1000" err="1">
                <a:cs typeface="Lato Light"/>
              </a:rPr>
              <a:t>NexBill</a:t>
            </a:r>
            <a:r>
              <a:rPr lang="en-US" altLang="zh-CN" sz="1000">
                <a:cs typeface="Lato Light"/>
              </a:rPr>
              <a:t>. Usage data is used as the consumption source for usage-based billing calculations.</a:t>
            </a:r>
          </a:p>
          <a:p>
            <a:r>
              <a:rPr lang="en-US" altLang="zh-CN" sz="1000" b="1">
                <a:cs typeface="Lato Light"/>
              </a:rPr>
              <a:t>Full Screen</a:t>
            </a:r>
            <a:r>
              <a:rPr lang="en-US" altLang="zh-CN" sz="1000">
                <a:cs typeface="Lato Light"/>
              </a:rPr>
              <a:t>: expands the result area for easier review and analysis of large usage datasets.</a:t>
            </a:r>
          </a:p>
          <a:p>
            <a:r>
              <a:rPr lang="en-US" altLang="zh-CN" sz="1000" b="1">
                <a:cs typeface="Lato Light"/>
              </a:rPr>
              <a:t>Usage Data Download: </a:t>
            </a:r>
            <a:r>
              <a:rPr lang="en-US" altLang="zh-CN" sz="1000">
                <a:cs typeface="Lato Light"/>
              </a:rPr>
              <a:t>download the selected Metering Type.</a:t>
            </a:r>
          </a:p>
        </p:txBody>
      </p:sp>
      <p:sp>
        <p:nvSpPr>
          <p:cNvPr id="5" name="Text 2">
            <a:extLst>
              <a:ext uri="{FF2B5EF4-FFF2-40B4-BE49-F238E27FC236}">
                <a16:creationId xmlns:a16="http://schemas.microsoft.com/office/drawing/2014/main" id="{F2881987-D4CF-FE22-2781-9402E39FF2BB}"/>
              </a:ext>
            </a:extLst>
          </p:cNvPr>
          <p:cNvSpPr/>
          <p:nvPr/>
        </p:nvSpPr>
        <p:spPr>
          <a:xfrm>
            <a:off x="320182" y="784644"/>
            <a:ext cx="11639523" cy="509377"/>
          </a:xfrm>
          <a:prstGeom prst="rect">
            <a:avLst/>
          </a:prstGeom>
          <a:noFill/>
          <a:ln/>
        </p:spPr>
        <p:txBody>
          <a:bodyPr wrap="square" lIns="0" tIns="0" rIns="0" bIns="0" rtlCol="0" anchor="ctr">
            <a:normAutofit lnSpcReduction="10000"/>
          </a:bodyPr>
          <a:lstStyle/>
          <a:p>
            <a:r>
              <a:rPr lang="en-US" altLang="zh-CN" sz="1200"/>
              <a:t>The Usage Data page allows users to upload, review, and manage metering data used for IaaS usage-based billing in </a:t>
            </a:r>
            <a:r>
              <a:rPr lang="en-US" altLang="zh-CN" sz="1200" err="1"/>
              <a:t>NexBill</a:t>
            </a:r>
            <a:r>
              <a:rPr lang="en-US" altLang="zh-CN" sz="1200"/>
              <a:t>. The uploaded usage data serves as the basis for usage charge calculation and invoice generation. Because different services use different metering models, </a:t>
            </a:r>
            <a:r>
              <a:rPr lang="en-US" altLang="zh-CN" sz="1200" err="1"/>
              <a:t>NexBill</a:t>
            </a:r>
            <a:r>
              <a:rPr lang="en-US" altLang="zh-CN" sz="1200"/>
              <a:t> displays different usage attributes and data structures based on the selected Metering Type. This allows users to review and maintain usage data in the format appropriate for each service.</a:t>
            </a:r>
          </a:p>
        </p:txBody>
      </p:sp>
      <p:sp>
        <p:nvSpPr>
          <p:cNvPr id="14" name="TextBox 72">
            <a:extLst>
              <a:ext uri="{FF2B5EF4-FFF2-40B4-BE49-F238E27FC236}">
                <a16:creationId xmlns:a16="http://schemas.microsoft.com/office/drawing/2014/main" id="{199D555E-1D95-B1ED-EAE0-D356BD0B024A}"/>
              </a:ext>
            </a:extLst>
          </p:cNvPr>
          <p:cNvSpPr txBox="1"/>
          <p:nvPr/>
        </p:nvSpPr>
        <p:spPr>
          <a:xfrm>
            <a:off x="7562347" y="1323204"/>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Usage Data &amp; Result</a:t>
            </a:r>
          </a:p>
        </p:txBody>
      </p:sp>
      <p:sp>
        <p:nvSpPr>
          <p:cNvPr id="15" name="Oval 111">
            <a:extLst>
              <a:ext uri="{FF2B5EF4-FFF2-40B4-BE49-F238E27FC236}">
                <a16:creationId xmlns:a16="http://schemas.microsoft.com/office/drawing/2014/main" id="{B5C87BE0-8E22-161E-8FC9-3B220521BEFB}"/>
              </a:ext>
            </a:extLst>
          </p:cNvPr>
          <p:cNvSpPr/>
          <p:nvPr/>
        </p:nvSpPr>
        <p:spPr>
          <a:xfrm>
            <a:off x="7316556" y="135509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39177637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B3454-52CD-272B-A001-C78955ACB8B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9B81096-4933-BDFA-8D2D-C6D077F52967}"/>
              </a:ext>
            </a:extLst>
          </p:cNvPr>
          <p:cNvSpPr>
            <a:spLocks noGrp="1"/>
          </p:cNvSpPr>
          <p:nvPr>
            <p:ph type="title"/>
          </p:nvPr>
        </p:nvSpPr>
        <p:spPr/>
        <p:txBody>
          <a:bodyPr/>
          <a:lstStyle/>
          <a:p>
            <a:r>
              <a:rPr lang="en-US" altLang="zh-CN"/>
              <a:t>Charges Data - Search &amp; Result </a:t>
            </a:r>
            <a:endParaRPr lang="zh-CN" altLang="en-US"/>
          </a:p>
        </p:txBody>
      </p:sp>
      <p:sp>
        <p:nvSpPr>
          <p:cNvPr id="9" name="TextBox 73">
            <a:extLst>
              <a:ext uri="{FF2B5EF4-FFF2-40B4-BE49-F238E27FC236}">
                <a16:creationId xmlns:a16="http://schemas.microsoft.com/office/drawing/2014/main" id="{5DF0FCD9-65A6-336A-8BF8-5E2A0BC80387}"/>
              </a:ext>
            </a:extLst>
          </p:cNvPr>
          <p:cNvSpPr txBox="1"/>
          <p:nvPr/>
        </p:nvSpPr>
        <p:spPr>
          <a:xfrm>
            <a:off x="7546581" y="1717153"/>
            <a:ext cx="4366894" cy="4862870"/>
          </a:xfrm>
          <a:prstGeom prst="rect">
            <a:avLst/>
          </a:prstGeom>
          <a:noFill/>
        </p:spPr>
        <p:txBody>
          <a:bodyPr wrap="square" rtlCol="0">
            <a:spAutoFit/>
          </a:bodyPr>
          <a:lstStyle/>
          <a:p>
            <a:r>
              <a:rPr lang="en-US" altLang="zh-CN" sz="1000">
                <a:cs typeface="Lato Light"/>
              </a:rPr>
              <a:t>Users can search charge records using one or more criteria. Multiple search conditions can be combined to narrow the search results.</a:t>
            </a:r>
          </a:p>
          <a:p>
            <a:endParaRPr lang="en-US" altLang="zh-CN" sz="1000" b="1">
              <a:cs typeface="Lato Light"/>
            </a:endParaRPr>
          </a:p>
          <a:p>
            <a:r>
              <a:rPr lang="en-US" altLang="zh-CN" sz="1000" b="1">
                <a:cs typeface="Lato Light"/>
              </a:rPr>
              <a:t>Search</a:t>
            </a:r>
            <a:r>
              <a:rPr lang="en-US" altLang="zh-CN" sz="1000">
                <a:cs typeface="Lato Light"/>
              </a:rPr>
              <a:t>: Click Search to retrieve matching usage records.</a:t>
            </a:r>
          </a:p>
          <a:p>
            <a:r>
              <a:rPr lang="en-US" altLang="zh-CN" sz="1000" b="1">
                <a:cs typeface="Lato Light"/>
              </a:rPr>
              <a:t>Clear</a:t>
            </a:r>
            <a:r>
              <a:rPr lang="en-US" altLang="zh-CN" sz="1000">
                <a:cs typeface="Lato Light"/>
              </a:rPr>
              <a:t>: Click Clear to remove all search criteria and clear the current search results. </a:t>
            </a:r>
          </a:p>
          <a:p>
            <a:r>
              <a:rPr lang="en-US" altLang="zh-CN" sz="1000" b="1">
                <a:cs typeface="Lato Light"/>
              </a:rPr>
              <a:t>Save Search</a:t>
            </a:r>
            <a:r>
              <a:rPr lang="en-US" altLang="zh-CN" sz="1000">
                <a:cs typeface="Lato Light"/>
              </a:rPr>
              <a:t>: Allows users to save frequently used search criteria for future use.</a:t>
            </a:r>
          </a:p>
          <a:p>
            <a:r>
              <a:rPr lang="en-US" altLang="zh-CN" sz="1000" b="1">
                <a:cs typeface="Lato Light"/>
              </a:rPr>
              <a:t>My Searches</a:t>
            </a:r>
            <a:r>
              <a:rPr lang="en-US" altLang="zh-CN" sz="1000">
                <a:cs typeface="Lato Light"/>
              </a:rPr>
              <a:t>: Allows users to quickly reuse previously saved search templates.</a:t>
            </a:r>
          </a:p>
          <a:p>
            <a:endParaRPr lang="en-US" altLang="zh-CN" sz="1000">
              <a:cs typeface="Lato Light"/>
            </a:endParaRPr>
          </a:p>
          <a:p>
            <a:r>
              <a:rPr lang="en-US" altLang="zh-CN" sz="1000" b="1">
                <a:cs typeface="Lato Light"/>
              </a:rPr>
              <a:t>Metering Type Tabs</a:t>
            </a:r>
            <a:r>
              <a:rPr lang="en-US" altLang="zh-CN" sz="1000">
                <a:cs typeface="Lato Light"/>
              </a:rPr>
              <a:t>: Charges are organized by Metering Type.</a:t>
            </a:r>
          </a:p>
          <a:p>
            <a:pPr marL="171450" indent="-171450">
              <a:buFont typeface="Arial" panose="020B0604020202020204" pitchFamily="34" charset="0"/>
              <a:buChar char="•"/>
            </a:pPr>
            <a:r>
              <a:rPr lang="en-US" altLang="zh-CN" sz="1000">
                <a:cs typeface="Lato Light"/>
              </a:rPr>
              <a:t>Power</a:t>
            </a:r>
          </a:p>
          <a:p>
            <a:pPr marL="171450" indent="-171450">
              <a:buFont typeface="Arial" panose="020B0604020202020204" pitchFamily="34" charset="0"/>
              <a:buChar char="•"/>
            </a:pPr>
            <a:r>
              <a:rPr lang="en-US" altLang="zh-CN" sz="1000">
                <a:cs typeface="Lato Light"/>
              </a:rPr>
              <a:t>Hybrid Cloud</a:t>
            </a:r>
          </a:p>
          <a:p>
            <a:pPr marL="171450" indent="-171450">
              <a:buFont typeface="Arial" panose="020B0604020202020204" pitchFamily="34" charset="0"/>
              <a:buChar char="•"/>
            </a:pPr>
            <a:r>
              <a:rPr lang="en-US" altLang="zh-CN" sz="1000">
                <a:cs typeface="Lato Light"/>
              </a:rPr>
              <a:t>Backup as a Service (BaaS)</a:t>
            </a:r>
          </a:p>
          <a:p>
            <a:pPr marL="171450" indent="-171450">
              <a:buFont typeface="Arial" panose="020B0604020202020204" pitchFamily="34" charset="0"/>
              <a:buChar char="•"/>
            </a:pPr>
            <a:r>
              <a:rPr lang="en-US" altLang="zh-CN" sz="1000">
                <a:cs typeface="Lato Light"/>
              </a:rPr>
              <a:t>Storage as a Service (STaaS)</a:t>
            </a:r>
          </a:p>
          <a:p>
            <a:pPr marL="171450" indent="-171450">
              <a:buFont typeface="Arial" panose="020B0604020202020204" pitchFamily="34" charset="0"/>
              <a:buChar char="•"/>
            </a:pPr>
            <a:r>
              <a:rPr lang="en-US" altLang="zh-CN" sz="1000">
                <a:cs typeface="Lato Light"/>
              </a:rPr>
              <a:t>Azure</a:t>
            </a:r>
          </a:p>
          <a:p>
            <a:pPr marL="171450" indent="-171450">
              <a:buFont typeface="Arial" panose="020B0604020202020204" pitchFamily="34" charset="0"/>
              <a:buChar char="•"/>
            </a:pPr>
            <a:r>
              <a:rPr lang="en-US" altLang="zh-CN" sz="1000">
                <a:cs typeface="Lato Light"/>
              </a:rPr>
              <a:t>Storage</a:t>
            </a:r>
          </a:p>
          <a:p>
            <a:r>
              <a:rPr lang="en-US" altLang="zh-CN" sz="1000">
                <a:cs typeface="Lato Light"/>
              </a:rPr>
              <a:t> </a:t>
            </a:r>
          </a:p>
          <a:p>
            <a:r>
              <a:rPr lang="en-US" altLang="zh-CN" sz="1000" b="1">
                <a:cs typeface="Lato Light"/>
              </a:rPr>
              <a:t>Actual Billing</a:t>
            </a:r>
            <a:r>
              <a:rPr lang="en-US" altLang="zh-CN" sz="1000">
                <a:cs typeface="Lato Light"/>
              </a:rPr>
              <a:t>: Displays charge records that are used in the official billing and invoice generation process. These amounts represent the charges calculated and accepted for customer invoicing.</a:t>
            </a:r>
          </a:p>
          <a:p>
            <a:r>
              <a:rPr lang="en-US" altLang="zh-CN" sz="1000" b="1">
                <a:cs typeface="Lato Light"/>
              </a:rPr>
              <a:t>Simulated</a:t>
            </a:r>
            <a:r>
              <a:rPr lang="en-US" altLang="zh-CN" sz="1000">
                <a:cs typeface="Lato Light"/>
              </a:rPr>
              <a:t>: Displays simulated charge calculation results based on the current usage data and pricing configuration.</a:t>
            </a:r>
          </a:p>
          <a:p>
            <a:r>
              <a:rPr lang="en-US" altLang="zh-CN" sz="1000" b="1">
                <a:cs typeface="Lato Light"/>
              </a:rPr>
              <a:t>Charges Data Download</a:t>
            </a:r>
            <a:r>
              <a:rPr lang="en-US" altLang="zh-CN" sz="1000">
                <a:cs typeface="Lato Light"/>
              </a:rPr>
              <a:t>: exports charge records for offline analysis and audit purposes.</a:t>
            </a:r>
          </a:p>
          <a:p>
            <a:r>
              <a:rPr lang="en-US" altLang="zh-CN" sz="1000" b="1">
                <a:cs typeface="Lato Light"/>
              </a:rPr>
              <a:t>Full Screen</a:t>
            </a:r>
            <a:r>
              <a:rPr lang="en-US" altLang="zh-CN" sz="1000">
                <a:cs typeface="Lato Light"/>
              </a:rPr>
              <a:t>: expands the result area for easier review and analysis of large usage datasets.</a:t>
            </a:r>
          </a:p>
          <a:p>
            <a:r>
              <a:rPr lang="en-US" altLang="zh-CN" sz="1000" b="1">
                <a:cs typeface="Lato Light"/>
              </a:rPr>
              <a:t>Record Navigation</a:t>
            </a:r>
            <a:r>
              <a:rPr lang="en-US" altLang="zh-CN" sz="1000">
                <a:cs typeface="Lato Light"/>
              </a:rPr>
              <a:t>: Certain identifier fields in the Charges Data result list are displayed as clickable hyperlinks, allowing users to trace charge records back to the underlying usage data.</a:t>
            </a:r>
          </a:p>
        </p:txBody>
      </p:sp>
      <p:sp>
        <p:nvSpPr>
          <p:cNvPr id="5" name="Text 2">
            <a:extLst>
              <a:ext uri="{FF2B5EF4-FFF2-40B4-BE49-F238E27FC236}">
                <a16:creationId xmlns:a16="http://schemas.microsoft.com/office/drawing/2014/main" id="{E697EF92-D00B-B78C-3560-DD17995A0B3F}"/>
              </a:ext>
            </a:extLst>
          </p:cNvPr>
          <p:cNvSpPr/>
          <p:nvPr/>
        </p:nvSpPr>
        <p:spPr>
          <a:xfrm>
            <a:off x="320182" y="768879"/>
            <a:ext cx="11639523" cy="509377"/>
          </a:xfrm>
          <a:prstGeom prst="rect">
            <a:avLst/>
          </a:prstGeom>
          <a:noFill/>
          <a:ln/>
        </p:spPr>
        <p:txBody>
          <a:bodyPr wrap="square" lIns="0" tIns="0" rIns="0" bIns="0" rtlCol="0" anchor="ctr">
            <a:normAutofit lnSpcReduction="10000"/>
          </a:bodyPr>
          <a:lstStyle/>
          <a:p>
            <a:r>
              <a:rPr lang="en-US" altLang="zh-CN" sz="1200"/>
              <a:t>The Charges Data page allows users to review usage-based charges calculated by </a:t>
            </a:r>
            <a:r>
              <a:rPr lang="en-US" altLang="zh-CN" sz="1200" err="1"/>
              <a:t>NexBill</a:t>
            </a:r>
            <a:r>
              <a:rPr lang="en-US" altLang="zh-CN" sz="1200"/>
              <a:t> based on uploaded metering data and pricing table configurations. It provides visibility into both </a:t>
            </a:r>
            <a:r>
              <a:rPr lang="en-US" altLang="zh-CN" sz="1200" b="1"/>
              <a:t>Actual Billing </a:t>
            </a:r>
            <a:r>
              <a:rPr lang="en-US" altLang="zh-CN" sz="1200"/>
              <a:t>charges that are used for invoicing and </a:t>
            </a:r>
            <a:r>
              <a:rPr lang="en-US" altLang="zh-CN" sz="1200" b="1"/>
              <a:t>Simulated</a:t>
            </a:r>
            <a:r>
              <a:rPr lang="en-US" altLang="zh-CN" sz="1200"/>
              <a:t> charges used for billing validation and analysis. Users can search, review, and compare charge calculation results across different Metering Types to understand how usage consumption is converted into billable amounts.</a:t>
            </a:r>
          </a:p>
        </p:txBody>
      </p:sp>
      <p:sp>
        <p:nvSpPr>
          <p:cNvPr id="14" name="TextBox 72">
            <a:extLst>
              <a:ext uri="{FF2B5EF4-FFF2-40B4-BE49-F238E27FC236}">
                <a16:creationId xmlns:a16="http://schemas.microsoft.com/office/drawing/2014/main" id="{BA7E788E-4150-A25A-D7FA-53091A2F39F6}"/>
              </a:ext>
            </a:extLst>
          </p:cNvPr>
          <p:cNvSpPr txBox="1"/>
          <p:nvPr/>
        </p:nvSpPr>
        <p:spPr>
          <a:xfrm>
            <a:off x="7546581" y="1450286"/>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Charges Data &amp; Result</a:t>
            </a:r>
          </a:p>
        </p:txBody>
      </p:sp>
      <p:sp>
        <p:nvSpPr>
          <p:cNvPr id="15" name="Oval 111">
            <a:extLst>
              <a:ext uri="{FF2B5EF4-FFF2-40B4-BE49-F238E27FC236}">
                <a16:creationId xmlns:a16="http://schemas.microsoft.com/office/drawing/2014/main" id="{1B1DE3EF-471A-16E8-D067-688AC1B63A66}"/>
              </a:ext>
            </a:extLst>
          </p:cNvPr>
          <p:cNvSpPr/>
          <p:nvPr/>
        </p:nvSpPr>
        <p:spPr>
          <a:xfrm>
            <a:off x="7300790" y="148855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6" name="图片 5">
            <a:extLst>
              <a:ext uri="{FF2B5EF4-FFF2-40B4-BE49-F238E27FC236}">
                <a16:creationId xmlns:a16="http://schemas.microsoft.com/office/drawing/2014/main" id="{843BA984-8197-C1BD-5316-B15101D483EC}"/>
              </a:ext>
            </a:extLst>
          </p:cNvPr>
          <p:cNvPicPr>
            <a:picLocks noChangeAspect="1"/>
          </p:cNvPicPr>
          <p:nvPr/>
        </p:nvPicPr>
        <p:blipFill>
          <a:blip r:embed="rId2"/>
          <a:stretch>
            <a:fillRect/>
          </a:stretch>
        </p:blipFill>
        <p:spPr>
          <a:xfrm>
            <a:off x="232295" y="1579577"/>
            <a:ext cx="6867717" cy="3866193"/>
          </a:xfrm>
          <a:prstGeom prst="rect">
            <a:avLst/>
          </a:prstGeom>
        </p:spPr>
      </p:pic>
    </p:spTree>
    <p:extLst>
      <p:ext uri="{BB962C8B-B14F-4D97-AF65-F5344CB8AC3E}">
        <p14:creationId xmlns:p14="http://schemas.microsoft.com/office/powerpoint/2010/main" val="35657587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17EA-99D0-7784-85E7-10E4D74D97B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AE5137-116E-FB36-B569-5A68C4B6800E}"/>
              </a:ext>
            </a:extLst>
          </p:cNvPr>
          <p:cNvSpPr>
            <a:spLocks noGrp="1"/>
          </p:cNvSpPr>
          <p:nvPr>
            <p:ph type="title"/>
          </p:nvPr>
        </p:nvSpPr>
        <p:spPr>
          <a:xfrm>
            <a:off x="267690" y="1412760"/>
            <a:ext cx="7209879" cy="965108"/>
          </a:xfrm>
        </p:spPr>
        <p:txBody>
          <a:bodyPr/>
          <a:lstStyle/>
          <a:p>
            <a:r>
              <a:rPr lang="en-US" altLang="zh-CN" sz="4800"/>
              <a:t>10. Report</a:t>
            </a:r>
            <a:endParaRPr lang="zh-CN" altLang="en-US" sz="4800"/>
          </a:p>
        </p:txBody>
      </p:sp>
      <p:sp>
        <p:nvSpPr>
          <p:cNvPr id="4" name="文本占位符 3">
            <a:extLst>
              <a:ext uri="{FF2B5EF4-FFF2-40B4-BE49-F238E27FC236}">
                <a16:creationId xmlns:a16="http://schemas.microsoft.com/office/drawing/2014/main" id="{21311D89-5B60-8C6A-CE5E-170247812030}"/>
              </a:ext>
            </a:extLst>
          </p:cNvPr>
          <p:cNvSpPr>
            <a:spLocks noGrp="1"/>
          </p:cNvSpPr>
          <p:nvPr>
            <p:ph type="body" idx="11"/>
          </p:nvPr>
        </p:nvSpPr>
        <p:spPr>
          <a:xfrm>
            <a:off x="750528" y="5517488"/>
            <a:ext cx="6265272" cy="133626"/>
          </a:xfrm>
        </p:spPr>
        <p:txBody>
          <a:bodyPr/>
          <a:lstStyle/>
          <a:p>
            <a:r>
              <a:rPr lang="en-US" altLang="zh-CN" sz="1000"/>
              <a:t>Duration:		10 +</a:t>
            </a:r>
            <a:r>
              <a:rPr lang="en-US" altLang="zh-CN" sz="1000">
                <a:solidFill>
                  <a:schemeClr val="tx1"/>
                </a:solidFill>
              </a:rPr>
              <a:t> </a:t>
            </a:r>
            <a:r>
              <a:rPr lang="en-US" altLang="zh-CN">
                <a:solidFill>
                  <a:schemeClr val="tx1"/>
                </a:solidFill>
              </a:rPr>
              <a:t>10</a:t>
            </a:r>
            <a:r>
              <a:rPr lang="en-US" altLang="zh-CN" sz="1000">
                <a:solidFill>
                  <a:srgbClr val="FF0000"/>
                </a:solidFill>
              </a:rPr>
              <a:t> </a:t>
            </a:r>
            <a:r>
              <a:rPr lang="en-US" altLang="zh-CN" sz="1000">
                <a:solidFill>
                  <a:schemeClr val="tx1"/>
                </a:solidFill>
              </a:rPr>
              <a:t>+ 20 Minutes</a:t>
            </a:r>
            <a:endParaRPr lang="zh-CN" altLang="en-US" sz="1000">
              <a:solidFill>
                <a:schemeClr val="tx1"/>
              </a:solidFill>
            </a:endParaRPr>
          </a:p>
        </p:txBody>
      </p:sp>
      <p:sp>
        <p:nvSpPr>
          <p:cNvPr id="5" name="文本占位符 4">
            <a:extLst>
              <a:ext uri="{FF2B5EF4-FFF2-40B4-BE49-F238E27FC236}">
                <a16:creationId xmlns:a16="http://schemas.microsoft.com/office/drawing/2014/main" id="{16FE7326-8FDF-F69F-2BB0-D933A3AE92A5}"/>
              </a:ext>
            </a:extLst>
          </p:cNvPr>
          <p:cNvSpPr>
            <a:spLocks noGrp="1"/>
          </p:cNvSpPr>
          <p:nvPr>
            <p:ph type="body" idx="12"/>
          </p:nvPr>
        </p:nvSpPr>
        <p:spPr>
          <a:xfrm>
            <a:off x="750528" y="2328729"/>
            <a:ext cx="6265272" cy="3003847"/>
          </a:xfrm>
        </p:spPr>
        <p:txBody>
          <a:bodyPr/>
          <a:lstStyle/>
          <a:p>
            <a:pPr marL="171450" indent="-171450">
              <a:lnSpc>
                <a:spcPct val="150000"/>
              </a:lnSpc>
              <a:buFont typeface="Arial" panose="020B0604020202020204" pitchFamily="34" charset="0"/>
              <a:buChar char="•"/>
            </a:pPr>
            <a:r>
              <a:rPr lang="fr-FR" altLang="zh-CN" err="1">
                <a:solidFill>
                  <a:schemeClr val="bg1"/>
                </a:solidFill>
                <a:latin typeface="+mj-lt"/>
              </a:rPr>
              <a:t>Subscription</a:t>
            </a:r>
            <a:r>
              <a:rPr lang="fr-FR" altLang="zh-CN">
                <a:solidFill>
                  <a:schemeClr val="bg1"/>
                </a:solidFill>
                <a:latin typeface="+mj-lt"/>
              </a:rPr>
              <a:t> Order		- Joy Jiang</a:t>
            </a:r>
          </a:p>
          <a:p>
            <a:pPr marL="628650" lvl="1" indent="-171450">
              <a:buFont typeface="Arial" panose="020B0604020202020204" pitchFamily="34" charset="0"/>
              <a:buChar char="•"/>
            </a:pPr>
            <a:r>
              <a:rPr lang="fr-FR" altLang="zh-CN" sz="1000">
                <a:solidFill>
                  <a:schemeClr val="bg1"/>
                </a:solidFill>
              </a:rPr>
              <a:t>Change Events</a:t>
            </a:r>
          </a:p>
          <a:p>
            <a:pPr marL="628650" lvl="1" indent="-171450">
              <a:buFont typeface="Arial" panose="020B0604020202020204" pitchFamily="34" charset="0"/>
              <a:buChar char="•"/>
            </a:pPr>
            <a:r>
              <a:rPr lang="fr-FR" altLang="zh-CN" sz="1000">
                <a:solidFill>
                  <a:schemeClr val="bg1"/>
                </a:solidFill>
              </a:rPr>
              <a:t>Funder log</a:t>
            </a:r>
          </a:p>
          <a:p>
            <a:pPr marL="171450" indent="-171450">
              <a:lnSpc>
                <a:spcPct val="150000"/>
              </a:lnSpc>
              <a:buFont typeface="Arial" panose="020B0604020202020204" pitchFamily="34" charset="0"/>
              <a:buChar char="•"/>
            </a:pPr>
            <a:r>
              <a:rPr lang="fr-FR" altLang="zh-CN">
                <a:solidFill>
                  <a:schemeClr val="bg1"/>
                </a:solidFill>
                <a:latin typeface="+mj-lt"/>
              </a:rPr>
              <a:t>Invoice			- Joy Jiang &amp; Xuezhi Ding</a:t>
            </a:r>
          </a:p>
          <a:p>
            <a:pPr marL="628650" lvl="1" indent="-171450">
              <a:buFont typeface="Arial" panose="020B0604020202020204" pitchFamily="34" charset="0"/>
              <a:buChar char="•"/>
            </a:pPr>
            <a:r>
              <a:rPr lang="fr-FR" altLang="zh-CN" sz="1000">
                <a:solidFill>
                  <a:schemeClr val="bg1"/>
                </a:solidFill>
              </a:rPr>
              <a:t>Invoice Payment </a:t>
            </a:r>
            <a:r>
              <a:rPr lang="fr-FR" altLang="zh-CN" sz="1000" err="1">
                <a:solidFill>
                  <a:schemeClr val="bg1"/>
                </a:solidFill>
              </a:rPr>
              <a:t>Status</a:t>
            </a:r>
            <a:r>
              <a:rPr lang="fr-FR" altLang="zh-CN" sz="1000">
                <a:solidFill>
                  <a:schemeClr val="bg1"/>
                </a:solidFill>
              </a:rPr>
              <a:t> </a:t>
            </a:r>
            <a:r>
              <a:rPr lang="fr-FR" altLang="zh-CN" sz="1000" err="1">
                <a:solidFill>
                  <a:schemeClr val="bg1"/>
                </a:solidFill>
              </a:rPr>
              <a:t>Tracking</a:t>
            </a:r>
            <a:endParaRPr lang="fr-FR" altLang="zh-CN" sz="1000">
              <a:solidFill>
                <a:schemeClr val="bg1"/>
              </a:solidFill>
            </a:endParaRPr>
          </a:p>
          <a:p>
            <a:pPr marL="628650" lvl="1" indent="-171450">
              <a:buFont typeface="Arial" panose="020B0604020202020204" pitchFamily="34" charset="0"/>
              <a:buChar char="•"/>
            </a:pPr>
            <a:r>
              <a:rPr lang="fr-FR" altLang="zh-CN" sz="1000">
                <a:solidFill>
                  <a:schemeClr val="bg1"/>
                </a:solidFill>
              </a:rPr>
              <a:t>Invoice Report</a:t>
            </a:r>
          </a:p>
          <a:p>
            <a:pPr marL="171450" indent="-171450">
              <a:lnSpc>
                <a:spcPct val="150000"/>
              </a:lnSpc>
              <a:buFont typeface="Arial" panose="020B0604020202020204" pitchFamily="34" charset="0"/>
              <a:buChar char="•"/>
            </a:pPr>
            <a:r>
              <a:rPr lang="fr-FR" altLang="zh-CN">
                <a:solidFill>
                  <a:schemeClr val="bg1"/>
                </a:solidFill>
                <a:latin typeface="+mj-lt"/>
              </a:rPr>
              <a:t>Finance &amp; Revenue		- Weiwen Chen</a:t>
            </a:r>
          </a:p>
          <a:p>
            <a:pPr marL="628650" lvl="1" indent="-171450">
              <a:buFont typeface="Arial" panose="020B0604020202020204" pitchFamily="34" charset="0"/>
              <a:buChar char="•"/>
            </a:pPr>
            <a:r>
              <a:rPr lang="fr-FR" altLang="zh-CN" sz="1000">
                <a:solidFill>
                  <a:schemeClr val="bg1"/>
                </a:solidFill>
              </a:rPr>
              <a:t>IAAS Invoice </a:t>
            </a:r>
            <a:r>
              <a:rPr lang="fr-FR" altLang="zh-CN" sz="1000" err="1">
                <a:solidFill>
                  <a:schemeClr val="bg1"/>
                </a:solidFill>
              </a:rPr>
              <a:t>list</a:t>
            </a:r>
            <a:endParaRPr lang="fr-FR" altLang="zh-CN" sz="1000">
              <a:solidFill>
                <a:schemeClr val="bg1"/>
              </a:solidFill>
            </a:endParaRPr>
          </a:p>
          <a:p>
            <a:pPr marL="628650" lvl="1" indent="-171450">
              <a:buFont typeface="Arial" panose="020B0604020202020204" pitchFamily="34" charset="0"/>
              <a:buChar char="•"/>
            </a:pPr>
            <a:r>
              <a:rPr lang="fr-FR" altLang="zh-CN" sz="1000">
                <a:solidFill>
                  <a:schemeClr val="bg1"/>
                </a:solidFill>
              </a:rPr>
              <a:t>ARS Revenue</a:t>
            </a:r>
          </a:p>
          <a:p>
            <a:pPr marL="628650" lvl="1" indent="-171450">
              <a:buFont typeface="Arial" panose="020B0604020202020204" pitchFamily="34" charset="0"/>
              <a:buChar char="•"/>
            </a:pPr>
            <a:r>
              <a:rPr lang="fr-FR" altLang="zh-CN" sz="1000" err="1">
                <a:solidFill>
                  <a:schemeClr val="bg1"/>
                </a:solidFill>
              </a:rPr>
              <a:t>Upfront</a:t>
            </a:r>
            <a:r>
              <a:rPr lang="fr-FR" altLang="zh-CN" sz="1000">
                <a:solidFill>
                  <a:schemeClr val="bg1"/>
                </a:solidFill>
              </a:rPr>
              <a:t> Service</a:t>
            </a:r>
          </a:p>
          <a:p>
            <a:pPr marL="628650" lvl="1" indent="-171450">
              <a:buFont typeface="Arial" panose="020B0604020202020204" pitchFamily="34" charset="0"/>
              <a:buChar char="•"/>
            </a:pPr>
            <a:r>
              <a:rPr lang="fr-FR" altLang="zh-CN" sz="1000" err="1">
                <a:solidFill>
                  <a:schemeClr val="bg1"/>
                </a:solidFill>
              </a:rPr>
              <a:t>Upfront</a:t>
            </a:r>
            <a:r>
              <a:rPr lang="fr-FR" altLang="zh-CN" sz="1000">
                <a:solidFill>
                  <a:schemeClr val="bg1"/>
                </a:solidFill>
              </a:rPr>
              <a:t> Tax</a:t>
            </a:r>
          </a:p>
          <a:p>
            <a:pPr marL="628650" lvl="1" indent="-171450">
              <a:buFont typeface="Arial" panose="020B0604020202020204" pitchFamily="34" charset="0"/>
              <a:buChar char="•"/>
            </a:pPr>
            <a:r>
              <a:rPr lang="fr-FR" altLang="zh-CN" sz="1000">
                <a:solidFill>
                  <a:schemeClr val="bg1"/>
                </a:solidFill>
              </a:rPr>
              <a:t>Defer Revenue </a:t>
            </a:r>
            <a:r>
              <a:rPr lang="fr-FR" altLang="zh-CN" sz="1000" err="1">
                <a:solidFill>
                  <a:schemeClr val="bg1"/>
                </a:solidFill>
              </a:rPr>
              <a:t>Amortization</a:t>
            </a:r>
            <a:endParaRPr lang="fr-FR" altLang="zh-CN" sz="1000">
              <a:solidFill>
                <a:schemeClr val="bg1"/>
              </a:solidFill>
            </a:endParaRPr>
          </a:p>
          <a:p>
            <a:pPr marL="628650" lvl="1" indent="-171450">
              <a:buFont typeface="Arial" panose="020B0604020202020204" pitchFamily="34" charset="0"/>
              <a:buChar char="•"/>
            </a:pPr>
            <a:r>
              <a:rPr lang="fr-FR" altLang="zh-CN" sz="1000">
                <a:solidFill>
                  <a:schemeClr val="bg1"/>
                </a:solidFill>
              </a:rPr>
              <a:t>Defer Revenue </a:t>
            </a:r>
            <a:r>
              <a:rPr lang="fr-FR" altLang="zh-CN" sz="1000" err="1">
                <a:solidFill>
                  <a:schemeClr val="bg1"/>
                </a:solidFill>
              </a:rPr>
              <a:t>Forecast</a:t>
            </a:r>
            <a:endParaRPr lang="fr-FR" altLang="zh-CN" sz="1000">
              <a:solidFill>
                <a:schemeClr val="bg1"/>
              </a:solidFill>
            </a:endParaRPr>
          </a:p>
          <a:p>
            <a:pPr marL="628650" lvl="1" indent="-171450">
              <a:buFont typeface="Arial" panose="020B0604020202020204" pitchFamily="34" charset="0"/>
              <a:buChar char="•"/>
            </a:pPr>
            <a:r>
              <a:rPr lang="fr-FR" altLang="zh-CN" sz="1000" err="1">
                <a:solidFill>
                  <a:schemeClr val="bg1"/>
                </a:solidFill>
              </a:rPr>
              <a:t>Deferred</a:t>
            </a:r>
            <a:r>
              <a:rPr lang="fr-FR" altLang="zh-CN" sz="1000">
                <a:solidFill>
                  <a:schemeClr val="bg1"/>
                </a:solidFill>
              </a:rPr>
              <a:t> Revenue Recognition</a:t>
            </a:r>
          </a:p>
        </p:txBody>
      </p:sp>
    </p:spTree>
    <p:extLst>
      <p:ext uri="{BB962C8B-B14F-4D97-AF65-F5344CB8AC3E}">
        <p14:creationId xmlns:p14="http://schemas.microsoft.com/office/powerpoint/2010/main" val="2279409478"/>
      </p:ext>
    </p:extLst>
  </p:cSld>
  <p:clrMapOvr>
    <a:masterClrMapping/>
  </p:clrMapOvr>
  <p:transition spd="me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8992-64ED-D87B-B9A0-A54F8455F6E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83DAF5D-0677-59DD-D6D2-88A297C45BC9}"/>
              </a:ext>
            </a:extLst>
          </p:cNvPr>
          <p:cNvSpPr>
            <a:spLocks noGrp="1"/>
          </p:cNvSpPr>
          <p:nvPr>
            <p:ph type="title"/>
          </p:nvPr>
        </p:nvSpPr>
        <p:spPr/>
        <p:txBody>
          <a:bodyPr/>
          <a:lstStyle/>
          <a:p>
            <a:r>
              <a:rPr lang="en-US" altLang="zh-CN"/>
              <a:t>Subscription Order  Report - Change Event</a:t>
            </a:r>
            <a:endParaRPr lang="zh-CN" altLang="en-US"/>
          </a:p>
        </p:txBody>
      </p:sp>
      <p:sp>
        <p:nvSpPr>
          <p:cNvPr id="6" name="Text 2">
            <a:extLst>
              <a:ext uri="{FF2B5EF4-FFF2-40B4-BE49-F238E27FC236}">
                <a16:creationId xmlns:a16="http://schemas.microsoft.com/office/drawing/2014/main" id="{3F31141F-CE4C-1B37-8024-71B46040D1BB}"/>
              </a:ext>
            </a:extLst>
          </p:cNvPr>
          <p:cNvSpPr/>
          <p:nvPr/>
        </p:nvSpPr>
        <p:spPr>
          <a:xfrm>
            <a:off x="320182" y="768879"/>
            <a:ext cx="11639523" cy="509377"/>
          </a:xfrm>
          <a:prstGeom prst="rect">
            <a:avLst/>
          </a:prstGeom>
          <a:noFill/>
          <a:ln/>
        </p:spPr>
        <p:txBody>
          <a:bodyPr wrap="square" lIns="0" tIns="0" rIns="0" bIns="0" rtlCol="0" anchor="ctr">
            <a:normAutofit/>
          </a:bodyPr>
          <a:lstStyle/>
          <a:p>
            <a:r>
              <a:rPr lang="en-US" altLang="zh-CN" sz="1200"/>
              <a:t>The Change Event Report provides visibility into Subscription Order change events processed within </a:t>
            </a:r>
            <a:r>
              <a:rPr lang="en-US" altLang="zh-CN" sz="1200" err="1"/>
              <a:t>NexBill</a:t>
            </a:r>
            <a:r>
              <a:rPr lang="en-US" altLang="zh-CN" sz="1200"/>
              <a:t>. It allows users to monitor inbound change requests received from upstream systems, track processing status, review effective dates, and investigate subscription lifecycle activities.</a:t>
            </a:r>
          </a:p>
        </p:txBody>
      </p:sp>
      <p:sp>
        <p:nvSpPr>
          <p:cNvPr id="7" name="TextBox 73">
            <a:extLst>
              <a:ext uri="{FF2B5EF4-FFF2-40B4-BE49-F238E27FC236}">
                <a16:creationId xmlns:a16="http://schemas.microsoft.com/office/drawing/2014/main" id="{8BFF8A3E-A3C7-C981-9092-B02F3E5D651B}"/>
              </a:ext>
            </a:extLst>
          </p:cNvPr>
          <p:cNvSpPr txBox="1"/>
          <p:nvPr/>
        </p:nvSpPr>
        <p:spPr>
          <a:xfrm>
            <a:off x="8129906" y="1492906"/>
            <a:ext cx="3547469" cy="4555093"/>
          </a:xfrm>
          <a:prstGeom prst="rect">
            <a:avLst/>
          </a:prstGeom>
          <a:noFill/>
        </p:spPr>
        <p:txBody>
          <a:bodyPr wrap="square" rtlCol="0">
            <a:spAutoFit/>
          </a:bodyPr>
          <a:lstStyle/>
          <a:p>
            <a:r>
              <a:rPr lang="en-US" altLang="zh-CN" sz="1000">
                <a:cs typeface="Lato Light"/>
              </a:rPr>
              <a:t>Users can search change events using one or more criteria.  </a:t>
            </a:r>
          </a:p>
          <a:p>
            <a:endParaRPr lang="en-US" altLang="zh-CN" sz="1000" b="1">
              <a:cs typeface="Lato Light"/>
            </a:endParaRPr>
          </a:p>
          <a:p>
            <a:r>
              <a:rPr lang="en-US" altLang="zh-CN" sz="1000" b="1">
                <a:cs typeface="Lato Light"/>
              </a:rPr>
              <a:t>Multi-Select Filters</a:t>
            </a:r>
            <a:r>
              <a:rPr lang="en-US" altLang="zh-CN" sz="1000">
                <a:cs typeface="Lato Light"/>
              </a:rPr>
              <a:t>: Users can select multiple values by checking multiple options in the dropdown list.</a:t>
            </a:r>
          </a:p>
          <a:p>
            <a:r>
              <a:rPr lang="en-US" altLang="zh-CN" sz="1000">
                <a:cs typeface="Lato Light"/>
              </a:rPr>
              <a:t>Selected values are displayed as individual tags in the filter field. Users can remove a selected value by clicking the × icon on the corresponding tag.</a:t>
            </a:r>
          </a:p>
          <a:p>
            <a:endParaRPr lang="en-US" altLang="zh-CN" sz="1000" b="1">
              <a:cs typeface="Lato Light"/>
            </a:endParaRPr>
          </a:p>
          <a:p>
            <a:r>
              <a:rPr lang="en-US" altLang="zh-CN" sz="1000" b="1">
                <a:cs typeface="Lato Light"/>
              </a:rPr>
              <a:t>Apply</a:t>
            </a:r>
            <a:r>
              <a:rPr lang="en-US" altLang="zh-CN" sz="1000">
                <a:cs typeface="Lato Light"/>
              </a:rPr>
              <a:t>: Click Apply to execute the search and display matching change events.</a:t>
            </a:r>
          </a:p>
          <a:p>
            <a:endParaRPr lang="en-US" altLang="zh-CN" sz="1000" b="1">
              <a:cs typeface="Lato Light"/>
            </a:endParaRPr>
          </a:p>
          <a:p>
            <a:r>
              <a:rPr lang="en-US" altLang="zh-CN" sz="1000" b="1">
                <a:cs typeface="Lato Light"/>
              </a:rPr>
              <a:t>Reset</a:t>
            </a:r>
            <a:r>
              <a:rPr lang="en-US" altLang="zh-CN" sz="1000">
                <a:cs typeface="Lato Light"/>
              </a:rPr>
              <a:t>: Click Reset to clear all search conditions and restore the default view.</a:t>
            </a:r>
          </a:p>
          <a:p>
            <a:endParaRPr lang="en-US" altLang="zh-CN" sz="1000" b="1">
              <a:cs typeface="Lato Light"/>
            </a:endParaRPr>
          </a:p>
          <a:p>
            <a:r>
              <a:rPr lang="en-US" altLang="zh-CN" sz="1000" b="1">
                <a:cs typeface="Lato Light"/>
              </a:rPr>
              <a:t>Refresh</a:t>
            </a:r>
            <a:r>
              <a:rPr lang="en-US" altLang="zh-CN" sz="1000">
                <a:cs typeface="Lato Light"/>
              </a:rPr>
              <a:t>: Click Refresh to reload the latest report data.</a:t>
            </a:r>
          </a:p>
          <a:p>
            <a:endParaRPr lang="en-US" altLang="zh-CN" sz="1000" b="1">
              <a:cs typeface="Lato Light"/>
            </a:endParaRPr>
          </a:p>
          <a:p>
            <a:r>
              <a:rPr lang="en-US" altLang="zh-CN" sz="1000" b="1">
                <a:cs typeface="Lato Light"/>
              </a:rPr>
              <a:t>Export</a:t>
            </a:r>
            <a:r>
              <a:rPr lang="en-US" altLang="zh-CN" sz="1000">
                <a:cs typeface="Lato Light"/>
              </a:rPr>
              <a:t>: The Export function downloads the current report results for offline analysis and reporting.</a:t>
            </a:r>
            <a:endParaRPr lang="en-US" altLang="zh-CN" sz="1000" b="1">
              <a:cs typeface="Lato Light"/>
            </a:endParaRPr>
          </a:p>
          <a:p>
            <a:r>
              <a:rPr lang="en-US" altLang="zh-CN" sz="1000">
                <a:cs typeface="Lato Light"/>
              </a:rPr>
              <a:t>The exported file contains all records returned by the current search criteria.</a:t>
            </a:r>
          </a:p>
          <a:p>
            <a:endParaRPr lang="en-US" altLang="zh-CN" sz="1000" b="1">
              <a:cs typeface="Lato Light"/>
            </a:endParaRPr>
          </a:p>
          <a:p>
            <a:r>
              <a:rPr lang="en-US" altLang="zh-CN" sz="1000" b="1">
                <a:cs typeface="Lato Light"/>
              </a:rPr>
              <a:t>Settings</a:t>
            </a:r>
            <a:r>
              <a:rPr lang="en-US" altLang="zh-CN" sz="1000">
                <a:cs typeface="Lato Light"/>
              </a:rPr>
              <a:t>: The Settings function allows users to customize the report layout.</a:t>
            </a:r>
          </a:p>
          <a:p>
            <a:endParaRPr lang="en-US" altLang="zh-CN" sz="1000">
              <a:cs typeface="Lato Light"/>
            </a:endParaRPr>
          </a:p>
          <a:p>
            <a:r>
              <a:rPr lang="en-US" altLang="zh-CN" sz="1000" b="1">
                <a:cs typeface="Lato Light"/>
              </a:rPr>
              <a:t>Request ID Navigation</a:t>
            </a:r>
            <a:r>
              <a:rPr lang="en-US" altLang="zh-CN" sz="1000">
                <a:cs typeface="Lato Light"/>
              </a:rPr>
              <a:t>: The Request ID is displayed as a clickable hyperlink.</a:t>
            </a:r>
          </a:p>
          <a:p>
            <a:r>
              <a:rPr lang="en-US" altLang="zh-CN" sz="1000">
                <a:cs typeface="Lato Light"/>
              </a:rPr>
              <a:t>Users can click the Request ID to view the detailed Change Event information associated with the selected request.</a:t>
            </a:r>
          </a:p>
        </p:txBody>
      </p:sp>
      <p:sp>
        <p:nvSpPr>
          <p:cNvPr id="8" name="TextBox 72">
            <a:extLst>
              <a:ext uri="{FF2B5EF4-FFF2-40B4-BE49-F238E27FC236}">
                <a16:creationId xmlns:a16="http://schemas.microsoft.com/office/drawing/2014/main" id="{F6D3C8EC-08F5-BFFF-E1BB-2CF4399352E7}"/>
              </a:ext>
            </a:extLst>
          </p:cNvPr>
          <p:cNvSpPr txBox="1"/>
          <p:nvPr/>
        </p:nvSpPr>
        <p:spPr>
          <a:xfrm>
            <a:off x="8129907" y="1254001"/>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Change Events</a:t>
            </a:r>
          </a:p>
        </p:txBody>
      </p:sp>
      <p:sp>
        <p:nvSpPr>
          <p:cNvPr id="9" name="Oval 111">
            <a:extLst>
              <a:ext uri="{FF2B5EF4-FFF2-40B4-BE49-F238E27FC236}">
                <a16:creationId xmlns:a16="http://schemas.microsoft.com/office/drawing/2014/main" id="{B1EB8EC7-4B4A-E790-ED31-888ABFD2470B}"/>
              </a:ext>
            </a:extLst>
          </p:cNvPr>
          <p:cNvSpPr/>
          <p:nvPr/>
        </p:nvSpPr>
        <p:spPr>
          <a:xfrm>
            <a:off x="7884115" y="126430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11" name="图片 10">
            <a:extLst>
              <a:ext uri="{FF2B5EF4-FFF2-40B4-BE49-F238E27FC236}">
                <a16:creationId xmlns:a16="http://schemas.microsoft.com/office/drawing/2014/main" id="{04FAC529-77D1-0803-1891-A39E77907830}"/>
              </a:ext>
            </a:extLst>
          </p:cNvPr>
          <p:cNvPicPr>
            <a:picLocks noChangeAspect="1"/>
          </p:cNvPicPr>
          <p:nvPr/>
        </p:nvPicPr>
        <p:blipFill>
          <a:blip r:embed="rId2"/>
          <a:stretch>
            <a:fillRect/>
          </a:stretch>
        </p:blipFill>
        <p:spPr>
          <a:xfrm>
            <a:off x="320182" y="3042726"/>
            <a:ext cx="6802112" cy="3662874"/>
          </a:xfrm>
          <a:prstGeom prst="rect">
            <a:avLst/>
          </a:prstGeom>
        </p:spPr>
      </p:pic>
      <p:pic>
        <p:nvPicPr>
          <p:cNvPr id="19" name="图片 18">
            <a:extLst>
              <a:ext uri="{FF2B5EF4-FFF2-40B4-BE49-F238E27FC236}">
                <a16:creationId xmlns:a16="http://schemas.microsoft.com/office/drawing/2014/main" id="{E0C7469F-4391-1A11-027E-6509F55110C8}"/>
              </a:ext>
            </a:extLst>
          </p:cNvPr>
          <p:cNvPicPr>
            <a:picLocks noChangeAspect="1"/>
          </p:cNvPicPr>
          <p:nvPr/>
        </p:nvPicPr>
        <p:blipFill>
          <a:blip r:embed="rId3"/>
          <a:stretch>
            <a:fillRect/>
          </a:stretch>
        </p:blipFill>
        <p:spPr>
          <a:xfrm>
            <a:off x="2466701" y="1278256"/>
            <a:ext cx="3129628" cy="1688895"/>
          </a:xfrm>
          <a:prstGeom prst="rect">
            <a:avLst/>
          </a:prstGeom>
        </p:spPr>
      </p:pic>
      <p:pic>
        <p:nvPicPr>
          <p:cNvPr id="21" name="图片 20">
            <a:extLst>
              <a:ext uri="{FF2B5EF4-FFF2-40B4-BE49-F238E27FC236}">
                <a16:creationId xmlns:a16="http://schemas.microsoft.com/office/drawing/2014/main" id="{21F2D3A7-38AA-0D5C-5F7A-38A3C2694696}"/>
              </a:ext>
            </a:extLst>
          </p:cNvPr>
          <p:cNvPicPr>
            <a:picLocks noChangeAspect="1"/>
          </p:cNvPicPr>
          <p:nvPr/>
        </p:nvPicPr>
        <p:blipFill>
          <a:blip r:embed="rId4"/>
          <a:stretch>
            <a:fillRect/>
          </a:stretch>
        </p:blipFill>
        <p:spPr>
          <a:xfrm>
            <a:off x="303021" y="1254001"/>
            <a:ext cx="1898589" cy="1688895"/>
          </a:xfrm>
          <a:prstGeom prst="rect">
            <a:avLst/>
          </a:prstGeom>
        </p:spPr>
      </p:pic>
    </p:spTree>
    <p:extLst>
      <p:ext uri="{BB962C8B-B14F-4D97-AF65-F5344CB8AC3E}">
        <p14:creationId xmlns:p14="http://schemas.microsoft.com/office/powerpoint/2010/main" val="39120714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AEB3-2AD2-74C4-D5F1-57A212EA2F4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DB65CA4-3D58-F4E8-3487-A5004BF27C7E}"/>
              </a:ext>
            </a:extLst>
          </p:cNvPr>
          <p:cNvSpPr>
            <a:spLocks noGrp="1"/>
          </p:cNvSpPr>
          <p:nvPr>
            <p:ph type="title"/>
          </p:nvPr>
        </p:nvSpPr>
        <p:spPr/>
        <p:txBody>
          <a:bodyPr/>
          <a:lstStyle/>
          <a:p>
            <a:r>
              <a:rPr lang="en-US" altLang="zh-CN"/>
              <a:t>Subscription Order  Report – Funder Log</a:t>
            </a:r>
            <a:endParaRPr lang="zh-CN" altLang="en-US"/>
          </a:p>
        </p:txBody>
      </p:sp>
      <p:sp>
        <p:nvSpPr>
          <p:cNvPr id="2" name="Text 2">
            <a:extLst>
              <a:ext uri="{FF2B5EF4-FFF2-40B4-BE49-F238E27FC236}">
                <a16:creationId xmlns:a16="http://schemas.microsoft.com/office/drawing/2014/main" id="{E01034E3-6DEF-1449-E793-A2890CE4076B}"/>
              </a:ext>
            </a:extLst>
          </p:cNvPr>
          <p:cNvSpPr/>
          <p:nvPr/>
        </p:nvSpPr>
        <p:spPr>
          <a:xfrm>
            <a:off x="320181" y="744624"/>
            <a:ext cx="11639523" cy="509377"/>
          </a:xfrm>
          <a:prstGeom prst="rect">
            <a:avLst/>
          </a:prstGeom>
          <a:noFill/>
          <a:ln/>
        </p:spPr>
        <p:txBody>
          <a:bodyPr wrap="square" lIns="0" tIns="0" rIns="0" bIns="0" rtlCol="0" anchor="ctr">
            <a:normAutofit/>
          </a:bodyPr>
          <a:lstStyle/>
          <a:p>
            <a:r>
              <a:rPr lang="en-US" altLang="zh-CN" sz="1200"/>
              <a:t>The Funder Log Report provides visibility into funder-related messages received from external financing systems and processed by </a:t>
            </a:r>
            <a:r>
              <a:rPr lang="en-US" altLang="zh-CN" sz="1200" err="1"/>
              <a:t>NexBill</a:t>
            </a:r>
            <a:r>
              <a:rPr lang="en-US" altLang="zh-CN" sz="1200"/>
              <a:t>. The report allows users to monitor inbound funder transactions, review synchronization status, and trace funder information associated with specific tranches.</a:t>
            </a:r>
          </a:p>
        </p:txBody>
      </p:sp>
      <p:sp>
        <p:nvSpPr>
          <p:cNvPr id="9" name="TextBox 73">
            <a:extLst>
              <a:ext uri="{FF2B5EF4-FFF2-40B4-BE49-F238E27FC236}">
                <a16:creationId xmlns:a16="http://schemas.microsoft.com/office/drawing/2014/main" id="{EBD1B274-C97E-45A3-B33E-2A70B81074EC}"/>
              </a:ext>
            </a:extLst>
          </p:cNvPr>
          <p:cNvSpPr txBox="1"/>
          <p:nvPr/>
        </p:nvSpPr>
        <p:spPr>
          <a:xfrm>
            <a:off x="8064515" y="1481454"/>
            <a:ext cx="3547469" cy="4401205"/>
          </a:xfrm>
          <a:prstGeom prst="rect">
            <a:avLst/>
          </a:prstGeom>
          <a:noFill/>
        </p:spPr>
        <p:txBody>
          <a:bodyPr wrap="square" rtlCol="0">
            <a:spAutoFit/>
          </a:bodyPr>
          <a:lstStyle/>
          <a:p>
            <a:r>
              <a:rPr lang="en-US" altLang="zh-CN" sz="1000">
                <a:cs typeface="Lato Light"/>
              </a:rPr>
              <a:t>Users can search funder log records using one or more criteria.  </a:t>
            </a:r>
          </a:p>
          <a:p>
            <a:endParaRPr lang="en-US" altLang="zh-CN" sz="1000">
              <a:cs typeface="Lato Light"/>
            </a:endParaRPr>
          </a:p>
          <a:p>
            <a:r>
              <a:rPr lang="en-US" altLang="zh-CN" sz="1000" b="1">
                <a:cs typeface="Lato Light"/>
              </a:rPr>
              <a:t>Multi-Select Filters</a:t>
            </a:r>
            <a:r>
              <a:rPr lang="en-US" altLang="zh-CN" sz="1000">
                <a:cs typeface="Lato Light"/>
              </a:rPr>
              <a:t>: Users can select multiple values by checking multiple options in the dropdown list.</a:t>
            </a:r>
          </a:p>
          <a:p>
            <a:r>
              <a:rPr lang="en-US" altLang="zh-CN" sz="1000">
                <a:cs typeface="Lato Light"/>
              </a:rPr>
              <a:t>Selected values are displayed as individual tags in the filter field. Users can remove a selected value by clicking the × icon on the corresponding tag.</a:t>
            </a:r>
          </a:p>
          <a:p>
            <a:endParaRPr lang="en-US" altLang="zh-CN" sz="1000" b="1">
              <a:cs typeface="Lato Light"/>
            </a:endParaRPr>
          </a:p>
          <a:p>
            <a:r>
              <a:rPr lang="en-US" altLang="zh-CN" sz="1000" b="1">
                <a:cs typeface="Lato Light"/>
              </a:rPr>
              <a:t>Apply</a:t>
            </a:r>
            <a:r>
              <a:rPr lang="en-US" altLang="zh-CN" sz="1000">
                <a:cs typeface="Lato Light"/>
              </a:rPr>
              <a:t>: Click Apply to execute the search and display matching change events.</a:t>
            </a:r>
          </a:p>
          <a:p>
            <a:endParaRPr lang="en-US" altLang="zh-CN" sz="1000" b="1">
              <a:cs typeface="Lato Light"/>
            </a:endParaRPr>
          </a:p>
          <a:p>
            <a:r>
              <a:rPr lang="en-US" altLang="zh-CN" sz="1000" b="1">
                <a:cs typeface="Lato Light"/>
              </a:rPr>
              <a:t>Reset</a:t>
            </a:r>
            <a:r>
              <a:rPr lang="en-US" altLang="zh-CN" sz="1000">
                <a:cs typeface="Lato Light"/>
              </a:rPr>
              <a:t>: Click Reset to clear all search conditions and restore the default view.</a:t>
            </a:r>
          </a:p>
          <a:p>
            <a:endParaRPr lang="en-US" altLang="zh-CN" sz="1000" b="1">
              <a:cs typeface="Lato Light"/>
            </a:endParaRPr>
          </a:p>
          <a:p>
            <a:r>
              <a:rPr lang="en-US" altLang="zh-CN" sz="1000" b="1">
                <a:cs typeface="Lato Light"/>
              </a:rPr>
              <a:t>Refresh</a:t>
            </a:r>
            <a:r>
              <a:rPr lang="en-US" altLang="zh-CN" sz="1000">
                <a:cs typeface="Lato Light"/>
              </a:rPr>
              <a:t>: Click Refresh to reload the latest report data.</a:t>
            </a:r>
          </a:p>
          <a:p>
            <a:endParaRPr lang="en-US" altLang="zh-CN" sz="1000" b="1">
              <a:cs typeface="Lato Light"/>
            </a:endParaRPr>
          </a:p>
          <a:p>
            <a:r>
              <a:rPr lang="en-US" altLang="zh-CN" sz="1000" b="1">
                <a:cs typeface="Lato Light"/>
              </a:rPr>
              <a:t>Export</a:t>
            </a:r>
            <a:r>
              <a:rPr lang="en-US" altLang="zh-CN" sz="1000">
                <a:cs typeface="Lato Light"/>
              </a:rPr>
              <a:t>: The Export function downloads the current report results for offline analysis and reporting.</a:t>
            </a:r>
            <a:endParaRPr lang="en-US" altLang="zh-CN" sz="1000" b="1">
              <a:cs typeface="Lato Light"/>
            </a:endParaRPr>
          </a:p>
          <a:p>
            <a:r>
              <a:rPr lang="en-US" altLang="zh-CN" sz="1000">
                <a:cs typeface="Lato Light"/>
              </a:rPr>
              <a:t>The exported file contains all records returned by the current search criteria.</a:t>
            </a:r>
          </a:p>
          <a:p>
            <a:endParaRPr lang="en-US" altLang="zh-CN" sz="1000" b="1">
              <a:cs typeface="Lato Light"/>
            </a:endParaRPr>
          </a:p>
          <a:p>
            <a:r>
              <a:rPr lang="en-US" altLang="zh-CN" sz="1000" b="1">
                <a:cs typeface="Lato Light"/>
              </a:rPr>
              <a:t>Settings</a:t>
            </a:r>
            <a:r>
              <a:rPr lang="en-US" altLang="zh-CN" sz="1000">
                <a:cs typeface="Lato Light"/>
              </a:rPr>
              <a:t>: The Settings function allows users to customize the report layout.</a:t>
            </a:r>
          </a:p>
          <a:p>
            <a:endParaRPr lang="en-US" altLang="zh-CN" sz="1000">
              <a:cs typeface="Lato Light"/>
            </a:endParaRPr>
          </a:p>
          <a:p>
            <a:r>
              <a:rPr lang="en-US" altLang="zh-CN" sz="1000">
                <a:cs typeface="Lato Light"/>
              </a:rPr>
              <a:t>Users can review funder synchronization history directly from the report.</a:t>
            </a:r>
          </a:p>
        </p:txBody>
      </p:sp>
      <p:sp>
        <p:nvSpPr>
          <p:cNvPr id="10" name="TextBox 72">
            <a:extLst>
              <a:ext uri="{FF2B5EF4-FFF2-40B4-BE49-F238E27FC236}">
                <a16:creationId xmlns:a16="http://schemas.microsoft.com/office/drawing/2014/main" id="{68D65C4A-7980-B785-75C5-6C748B5A9C3B}"/>
              </a:ext>
            </a:extLst>
          </p:cNvPr>
          <p:cNvSpPr txBox="1"/>
          <p:nvPr/>
        </p:nvSpPr>
        <p:spPr>
          <a:xfrm>
            <a:off x="8064516" y="1242549"/>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Funder Logs</a:t>
            </a:r>
          </a:p>
        </p:txBody>
      </p:sp>
      <p:sp>
        <p:nvSpPr>
          <p:cNvPr id="11" name="Oval 111">
            <a:extLst>
              <a:ext uri="{FF2B5EF4-FFF2-40B4-BE49-F238E27FC236}">
                <a16:creationId xmlns:a16="http://schemas.microsoft.com/office/drawing/2014/main" id="{9713CBE4-2F23-55D0-EBA9-B857670E9245}"/>
              </a:ext>
            </a:extLst>
          </p:cNvPr>
          <p:cNvSpPr/>
          <p:nvPr/>
        </p:nvSpPr>
        <p:spPr>
          <a:xfrm>
            <a:off x="7818724" y="1252854"/>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12" name="图片 11">
            <a:extLst>
              <a:ext uri="{FF2B5EF4-FFF2-40B4-BE49-F238E27FC236}">
                <a16:creationId xmlns:a16="http://schemas.microsoft.com/office/drawing/2014/main" id="{8A9F95E3-0AA9-91B6-4F41-8109995D2937}"/>
              </a:ext>
            </a:extLst>
          </p:cNvPr>
          <p:cNvPicPr>
            <a:picLocks noChangeAspect="1"/>
          </p:cNvPicPr>
          <p:nvPr/>
        </p:nvPicPr>
        <p:blipFill>
          <a:blip r:embed="rId2"/>
          <a:stretch>
            <a:fillRect/>
          </a:stretch>
        </p:blipFill>
        <p:spPr>
          <a:xfrm>
            <a:off x="303021" y="1254001"/>
            <a:ext cx="1958715" cy="1742380"/>
          </a:xfrm>
          <a:prstGeom prst="rect">
            <a:avLst/>
          </a:prstGeom>
        </p:spPr>
      </p:pic>
      <p:pic>
        <p:nvPicPr>
          <p:cNvPr id="14" name="图片 13">
            <a:extLst>
              <a:ext uri="{FF2B5EF4-FFF2-40B4-BE49-F238E27FC236}">
                <a16:creationId xmlns:a16="http://schemas.microsoft.com/office/drawing/2014/main" id="{A6F9916A-1C1E-B2B3-E75C-598F3205E759}"/>
              </a:ext>
            </a:extLst>
          </p:cNvPr>
          <p:cNvPicPr>
            <a:picLocks noChangeAspect="1"/>
          </p:cNvPicPr>
          <p:nvPr/>
        </p:nvPicPr>
        <p:blipFill>
          <a:blip r:embed="rId3"/>
          <a:stretch>
            <a:fillRect/>
          </a:stretch>
        </p:blipFill>
        <p:spPr>
          <a:xfrm>
            <a:off x="2483409" y="1278256"/>
            <a:ext cx="3193772" cy="1742380"/>
          </a:xfrm>
          <a:prstGeom prst="rect">
            <a:avLst/>
          </a:prstGeom>
        </p:spPr>
      </p:pic>
      <p:pic>
        <p:nvPicPr>
          <p:cNvPr id="16" name="图片 15">
            <a:extLst>
              <a:ext uri="{FF2B5EF4-FFF2-40B4-BE49-F238E27FC236}">
                <a16:creationId xmlns:a16="http://schemas.microsoft.com/office/drawing/2014/main" id="{F8D1B848-2569-AA40-F4FF-6130EFCF0D5C}"/>
              </a:ext>
            </a:extLst>
          </p:cNvPr>
          <p:cNvPicPr>
            <a:picLocks noChangeAspect="1"/>
          </p:cNvPicPr>
          <p:nvPr/>
        </p:nvPicPr>
        <p:blipFill>
          <a:blip r:embed="rId4"/>
          <a:stretch>
            <a:fillRect/>
          </a:stretch>
        </p:blipFill>
        <p:spPr>
          <a:xfrm>
            <a:off x="257502" y="3231040"/>
            <a:ext cx="7339549" cy="2651619"/>
          </a:xfrm>
          <a:prstGeom prst="rect">
            <a:avLst/>
          </a:prstGeom>
        </p:spPr>
      </p:pic>
    </p:spTree>
    <p:extLst>
      <p:ext uri="{BB962C8B-B14F-4D97-AF65-F5344CB8AC3E}">
        <p14:creationId xmlns:p14="http://schemas.microsoft.com/office/powerpoint/2010/main" val="68301891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F9308-186D-0E8E-9BC7-5A9404F49A7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DDC242F-EC30-8E63-252F-C2F9A9D20DAF}"/>
              </a:ext>
            </a:extLst>
          </p:cNvPr>
          <p:cNvSpPr>
            <a:spLocks noGrp="1"/>
          </p:cNvSpPr>
          <p:nvPr>
            <p:ph type="title"/>
          </p:nvPr>
        </p:nvSpPr>
        <p:spPr/>
        <p:txBody>
          <a:bodyPr/>
          <a:lstStyle/>
          <a:p>
            <a:r>
              <a:rPr lang="fr-FR" altLang="zh-CN" err="1"/>
              <a:t>Invoice</a:t>
            </a:r>
            <a:r>
              <a:rPr lang="fr-FR" altLang="zh-CN"/>
              <a:t> Report - </a:t>
            </a:r>
            <a:r>
              <a:rPr lang="fr-FR" altLang="zh-CN" err="1"/>
              <a:t>Invoice</a:t>
            </a:r>
            <a:r>
              <a:rPr lang="fr-FR" altLang="zh-CN"/>
              <a:t> Payment </a:t>
            </a:r>
            <a:r>
              <a:rPr lang="fr-FR" altLang="zh-CN" err="1"/>
              <a:t>Status</a:t>
            </a:r>
            <a:r>
              <a:rPr lang="fr-FR" altLang="zh-CN"/>
              <a:t> </a:t>
            </a:r>
            <a:r>
              <a:rPr lang="fr-FR" altLang="zh-CN" err="1"/>
              <a:t>Tracking</a:t>
            </a:r>
            <a:br>
              <a:rPr lang="fr-FR" altLang="zh-CN">
                <a:solidFill>
                  <a:schemeClr val="bg1"/>
                </a:solidFill>
              </a:rPr>
            </a:br>
            <a:r>
              <a:rPr lang="en-US" altLang="zh-CN"/>
              <a:t> </a:t>
            </a:r>
            <a:endParaRPr lang="zh-CN" altLang="en-US"/>
          </a:p>
        </p:txBody>
      </p:sp>
      <p:pic>
        <p:nvPicPr>
          <p:cNvPr id="7" name="图片 6">
            <a:extLst>
              <a:ext uri="{FF2B5EF4-FFF2-40B4-BE49-F238E27FC236}">
                <a16:creationId xmlns:a16="http://schemas.microsoft.com/office/drawing/2014/main" id="{9D351466-EAE5-DE57-65B7-5FA30225D964}"/>
              </a:ext>
            </a:extLst>
          </p:cNvPr>
          <p:cNvPicPr>
            <a:picLocks noChangeAspect="1"/>
          </p:cNvPicPr>
          <p:nvPr/>
        </p:nvPicPr>
        <p:blipFill>
          <a:blip r:embed="rId2"/>
          <a:stretch>
            <a:fillRect/>
          </a:stretch>
        </p:blipFill>
        <p:spPr>
          <a:xfrm>
            <a:off x="320182" y="1278256"/>
            <a:ext cx="2055156" cy="1692481"/>
          </a:xfrm>
          <a:prstGeom prst="rect">
            <a:avLst/>
          </a:prstGeom>
        </p:spPr>
      </p:pic>
      <p:sp>
        <p:nvSpPr>
          <p:cNvPr id="8" name="Text 2">
            <a:extLst>
              <a:ext uri="{FF2B5EF4-FFF2-40B4-BE49-F238E27FC236}">
                <a16:creationId xmlns:a16="http://schemas.microsoft.com/office/drawing/2014/main" id="{0BCF7A53-D912-C502-4413-D31683A91255}"/>
              </a:ext>
            </a:extLst>
          </p:cNvPr>
          <p:cNvSpPr/>
          <p:nvPr/>
        </p:nvSpPr>
        <p:spPr>
          <a:xfrm>
            <a:off x="320182" y="768879"/>
            <a:ext cx="11639523" cy="509377"/>
          </a:xfrm>
          <a:prstGeom prst="rect">
            <a:avLst/>
          </a:prstGeom>
          <a:noFill/>
          <a:ln/>
        </p:spPr>
        <p:txBody>
          <a:bodyPr wrap="square" lIns="0" tIns="0" rIns="0" bIns="0" rtlCol="0" anchor="ctr">
            <a:normAutofit lnSpcReduction="10000"/>
          </a:bodyPr>
          <a:lstStyle/>
          <a:p>
            <a:r>
              <a:rPr lang="en-US" altLang="zh-CN" sz="1200"/>
              <a:t>The Invoice Payment Status Tracking report provides a centralized view of customer invoice payment progress within </a:t>
            </a:r>
            <a:r>
              <a:rPr lang="en-US" altLang="zh-CN" sz="1200" err="1"/>
              <a:t>NexBill</a:t>
            </a:r>
            <a:r>
              <a:rPr lang="en-US" altLang="zh-CN" sz="1200"/>
              <a:t>. The report combines </a:t>
            </a:r>
            <a:r>
              <a:rPr lang="en-US" altLang="zh-CN" sz="1200" err="1"/>
              <a:t>NexBill</a:t>
            </a:r>
            <a:r>
              <a:rPr lang="en-US" altLang="zh-CN" sz="1200"/>
              <a:t> invoice data and LGAP Accounting Documents to determine whether an invoice has been paid, partially paid, remains unpaid, or is overdue. This report is designed to help users monitor customer payment activities, track outstanding receivables, and gain visibility into invoice payment status without directly accessing accounting systems.</a:t>
            </a:r>
          </a:p>
        </p:txBody>
      </p:sp>
      <p:pic>
        <p:nvPicPr>
          <p:cNvPr id="10" name="图片 9">
            <a:extLst>
              <a:ext uri="{FF2B5EF4-FFF2-40B4-BE49-F238E27FC236}">
                <a16:creationId xmlns:a16="http://schemas.microsoft.com/office/drawing/2014/main" id="{6E126DA4-9109-D90F-2D64-8311B43688AA}"/>
              </a:ext>
            </a:extLst>
          </p:cNvPr>
          <p:cNvPicPr>
            <a:picLocks noChangeAspect="1"/>
          </p:cNvPicPr>
          <p:nvPr/>
        </p:nvPicPr>
        <p:blipFill>
          <a:blip r:embed="rId3"/>
          <a:stretch>
            <a:fillRect/>
          </a:stretch>
        </p:blipFill>
        <p:spPr>
          <a:xfrm>
            <a:off x="2643352" y="1339422"/>
            <a:ext cx="3137776" cy="1705538"/>
          </a:xfrm>
          <a:prstGeom prst="rect">
            <a:avLst/>
          </a:prstGeom>
        </p:spPr>
      </p:pic>
      <p:pic>
        <p:nvPicPr>
          <p:cNvPr id="12" name="图片 11">
            <a:extLst>
              <a:ext uri="{FF2B5EF4-FFF2-40B4-BE49-F238E27FC236}">
                <a16:creationId xmlns:a16="http://schemas.microsoft.com/office/drawing/2014/main" id="{6D28A324-90F4-61A6-1A16-8CBA0BB7562C}"/>
              </a:ext>
            </a:extLst>
          </p:cNvPr>
          <p:cNvPicPr>
            <a:picLocks noChangeAspect="1"/>
          </p:cNvPicPr>
          <p:nvPr/>
        </p:nvPicPr>
        <p:blipFill>
          <a:blip r:embed="rId4"/>
          <a:stretch>
            <a:fillRect/>
          </a:stretch>
        </p:blipFill>
        <p:spPr>
          <a:xfrm>
            <a:off x="320181" y="2597058"/>
            <a:ext cx="7245815" cy="4030053"/>
          </a:xfrm>
          <a:prstGeom prst="rect">
            <a:avLst/>
          </a:prstGeom>
        </p:spPr>
      </p:pic>
      <p:sp>
        <p:nvSpPr>
          <p:cNvPr id="13" name="TextBox 73">
            <a:extLst>
              <a:ext uri="{FF2B5EF4-FFF2-40B4-BE49-F238E27FC236}">
                <a16:creationId xmlns:a16="http://schemas.microsoft.com/office/drawing/2014/main" id="{B3EED519-2D43-EAEE-9AAA-B74C805B05D0}"/>
              </a:ext>
            </a:extLst>
          </p:cNvPr>
          <p:cNvSpPr txBox="1"/>
          <p:nvPr/>
        </p:nvSpPr>
        <p:spPr>
          <a:xfrm>
            <a:off x="8103630" y="1578326"/>
            <a:ext cx="3547469" cy="4862870"/>
          </a:xfrm>
          <a:prstGeom prst="rect">
            <a:avLst/>
          </a:prstGeom>
          <a:noFill/>
        </p:spPr>
        <p:txBody>
          <a:bodyPr wrap="square" rtlCol="0">
            <a:spAutoFit/>
          </a:bodyPr>
          <a:lstStyle/>
          <a:p>
            <a:r>
              <a:rPr lang="en-US" altLang="zh-CN" sz="1000">
                <a:cs typeface="Lato Light"/>
              </a:rPr>
              <a:t>Users can search invoice payment records using one or more criteria</a:t>
            </a:r>
          </a:p>
          <a:p>
            <a:endParaRPr lang="en-US" altLang="zh-CN" sz="1000">
              <a:cs typeface="Lato Light"/>
            </a:endParaRPr>
          </a:p>
          <a:p>
            <a:r>
              <a:rPr lang="en-US" altLang="zh-CN" sz="1000" b="1">
                <a:cs typeface="Lato Light"/>
              </a:rPr>
              <a:t>Multi-Select Filters</a:t>
            </a:r>
            <a:r>
              <a:rPr lang="en-US" altLang="zh-CN" sz="1000">
                <a:cs typeface="Lato Light"/>
              </a:rPr>
              <a:t>: Users can select multiple values by checking multiple options in the dropdown list.</a:t>
            </a:r>
          </a:p>
          <a:p>
            <a:r>
              <a:rPr lang="en-US" altLang="zh-CN" sz="1000">
                <a:cs typeface="Lato Light"/>
              </a:rPr>
              <a:t>Selected values are displayed as individual tags in the filter field. Users can remove a selected value by clicking the × icon on the corresponding tag.</a:t>
            </a:r>
          </a:p>
          <a:p>
            <a:endParaRPr lang="en-US" altLang="zh-CN" sz="1000" b="1">
              <a:cs typeface="Lato Light"/>
            </a:endParaRPr>
          </a:p>
          <a:p>
            <a:r>
              <a:rPr lang="en-US" altLang="zh-CN" sz="1000" b="1">
                <a:cs typeface="Lato Light"/>
              </a:rPr>
              <a:t>Apply</a:t>
            </a:r>
            <a:r>
              <a:rPr lang="en-US" altLang="zh-CN" sz="1000">
                <a:cs typeface="Lato Light"/>
              </a:rPr>
              <a:t>: Click Apply to execute the search and display matching change events.</a:t>
            </a:r>
          </a:p>
          <a:p>
            <a:endParaRPr lang="en-US" altLang="zh-CN" sz="1000" b="1">
              <a:cs typeface="Lato Light"/>
            </a:endParaRPr>
          </a:p>
          <a:p>
            <a:r>
              <a:rPr lang="en-US" altLang="zh-CN" sz="1000" b="1">
                <a:cs typeface="Lato Light"/>
              </a:rPr>
              <a:t>Reset</a:t>
            </a:r>
            <a:r>
              <a:rPr lang="en-US" altLang="zh-CN" sz="1000">
                <a:cs typeface="Lato Light"/>
              </a:rPr>
              <a:t>: Click Reset to clear all search conditions and restore the default view.</a:t>
            </a:r>
          </a:p>
          <a:p>
            <a:endParaRPr lang="en-US" altLang="zh-CN" sz="1000" b="1">
              <a:cs typeface="Lato Light"/>
            </a:endParaRPr>
          </a:p>
          <a:p>
            <a:r>
              <a:rPr lang="en-US" altLang="zh-CN" sz="1000" b="1">
                <a:cs typeface="Lato Light"/>
              </a:rPr>
              <a:t>Refresh</a:t>
            </a:r>
            <a:r>
              <a:rPr lang="en-US" altLang="zh-CN" sz="1000">
                <a:cs typeface="Lato Light"/>
              </a:rPr>
              <a:t>: Click Refresh to reload the latest report data.</a:t>
            </a:r>
          </a:p>
          <a:p>
            <a:endParaRPr lang="en-US" altLang="zh-CN" sz="1000" b="1">
              <a:cs typeface="Lato Light"/>
            </a:endParaRPr>
          </a:p>
          <a:p>
            <a:r>
              <a:rPr lang="en-US" altLang="zh-CN" sz="1000" b="1">
                <a:cs typeface="Lato Light"/>
              </a:rPr>
              <a:t>Export</a:t>
            </a:r>
            <a:r>
              <a:rPr lang="en-US" altLang="zh-CN" sz="1000">
                <a:cs typeface="Lato Light"/>
              </a:rPr>
              <a:t>: The Export function downloads the current report results for offline analysis and reporting. The exported file contains all records returned by the current search criteria.</a:t>
            </a:r>
          </a:p>
          <a:p>
            <a:endParaRPr lang="en-US" altLang="zh-CN" sz="1000" b="1">
              <a:cs typeface="Lato Light"/>
            </a:endParaRPr>
          </a:p>
          <a:p>
            <a:r>
              <a:rPr lang="en-US" altLang="zh-CN" sz="1000" b="1">
                <a:cs typeface="Lato Light"/>
              </a:rPr>
              <a:t>Settings</a:t>
            </a:r>
            <a:r>
              <a:rPr lang="en-US" altLang="zh-CN" sz="1000">
                <a:cs typeface="Lato Light"/>
              </a:rPr>
              <a:t>: The Settings function allows users to customize the report layout.</a:t>
            </a:r>
          </a:p>
          <a:p>
            <a:endParaRPr lang="en-US" altLang="zh-CN" sz="1000">
              <a:cs typeface="Lato Light"/>
            </a:endParaRPr>
          </a:p>
          <a:p>
            <a:r>
              <a:rPr lang="en-US" altLang="zh-CN" sz="1000">
                <a:cs typeface="Lato Light"/>
              </a:rPr>
              <a:t>Users can review payment progress directly from the report.</a:t>
            </a:r>
          </a:p>
          <a:p>
            <a:r>
              <a:rPr lang="en-US" altLang="zh-CN" sz="1000" b="1">
                <a:cs typeface="Lato Light"/>
              </a:rPr>
              <a:t>Paid</a:t>
            </a:r>
            <a:r>
              <a:rPr lang="en-US" altLang="zh-CN" sz="1000">
                <a:cs typeface="Lato Light"/>
              </a:rPr>
              <a:t>: The invoice has been fully paid.</a:t>
            </a:r>
          </a:p>
          <a:p>
            <a:r>
              <a:rPr lang="en-US" altLang="zh-CN" sz="1000" b="1">
                <a:cs typeface="Lato Light"/>
              </a:rPr>
              <a:t>Partially Paid</a:t>
            </a:r>
            <a:r>
              <a:rPr lang="en-US" altLang="zh-CN" sz="1000">
                <a:cs typeface="Lato Light"/>
              </a:rPr>
              <a:t>: The invoice has been partially settled.</a:t>
            </a:r>
          </a:p>
          <a:p>
            <a:r>
              <a:rPr lang="en-US" altLang="zh-CN" sz="1000" b="1">
                <a:cs typeface="Lato Light"/>
              </a:rPr>
              <a:t>Pending Payment</a:t>
            </a:r>
            <a:r>
              <a:rPr lang="en-US" altLang="zh-CN" sz="1000">
                <a:cs typeface="Lato Light"/>
              </a:rPr>
              <a:t>: No payment clearing document has been received.</a:t>
            </a:r>
          </a:p>
          <a:p>
            <a:r>
              <a:rPr lang="en-US" altLang="zh-CN" sz="1000" b="1">
                <a:cs typeface="Lato Light"/>
              </a:rPr>
              <a:t>Overdue</a:t>
            </a:r>
            <a:r>
              <a:rPr lang="en-US" altLang="zh-CN" sz="1000">
                <a:cs typeface="Lato Light"/>
              </a:rPr>
              <a:t>: The invoice remains unpaid after the due date.</a:t>
            </a:r>
          </a:p>
        </p:txBody>
      </p:sp>
      <p:sp>
        <p:nvSpPr>
          <p:cNvPr id="14" name="TextBox 72">
            <a:extLst>
              <a:ext uri="{FF2B5EF4-FFF2-40B4-BE49-F238E27FC236}">
                <a16:creationId xmlns:a16="http://schemas.microsoft.com/office/drawing/2014/main" id="{352ECA2A-84FF-B62F-3B98-635D57496AF8}"/>
              </a:ext>
            </a:extLst>
          </p:cNvPr>
          <p:cNvSpPr txBox="1"/>
          <p:nvPr/>
        </p:nvSpPr>
        <p:spPr>
          <a:xfrm>
            <a:off x="8103631" y="1339421"/>
            <a:ext cx="2612978"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Invoices</a:t>
            </a:r>
          </a:p>
        </p:txBody>
      </p:sp>
      <p:sp>
        <p:nvSpPr>
          <p:cNvPr id="15" name="Oval 111">
            <a:extLst>
              <a:ext uri="{FF2B5EF4-FFF2-40B4-BE49-F238E27FC236}">
                <a16:creationId xmlns:a16="http://schemas.microsoft.com/office/drawing/2014/main" id="{4AEC9DB5-092B-F8EF-1B73-D91912582719}"/>
              </a:ext>
            </a:extLst>
          </p:cNvPr>
          <p:cNvSpPr/>
          <p:nvPr/>
        </p:nvSpPr>
        <p:spPr>
          <a:xfrm>
            <a:off x="7857839" y="1349726"/>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Tree>
    <p:extLst>
      <p:ext uri="{BB962C8B-B14F-4D97-AF65-F5344CB8AC3E}">
        <p14:creationId xmlns:p14="http://schemas.microsoft.com/office/powerpoint/2010/main" val="38893125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CB026-DBB1-AF3F-4293-C2C4004290A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2F3683F-A7F0-BB10-BD7C-CECDDA316165}"/>
              </a:ext>
            </a:extLst>
          </p:cNvPr>
          <p:cNvSpPr>
            <a:spLocks noGrp="1"/>
          </p:cNvSpPr>
          <p:nvPr>
            <p:ph type="title"/>
          </p:nvPr>
        </p:nvSpPr>
        <p:spPr/>
        <p:txBody>
          <a:bodyPr/>
          <a:lstStyle/>
          <a:p>
            <a:r>
              <a:rPr lang="en-US" altLang="zh-CN"/>
              <a:t>Invoice Report</a:t>
            </a:r>
            <a:endParaRPr lang="zh-CN" altLang="en-US"/>
          </a:p>
        </p:txBody>
      </p:sp>
      <p:sp>
        <p:nvSpPr>
          <p:cNvPr id="6" name="TextBox 72">
            <a:extLst>
              <a:ext uri="{FF2B5EF4-FFF2-40B4-BE49-F238E27FC236}">
                <a16:creationId xmlns:a16="http://schemas.microsoft.com/office/drawing/2014/main" id="{3355ED1B-132E-CDC9-E178-93D751281260}"/>
              </a:ext>
            </a:extLst>
          </p:cNvPr>
          <p:cNvSpPr txBox="1"/>
          <p:nvPr/>
        </p:nvSpPr>
        <p:spPr>
          <a:xfrm>
            <a:off x="9579022" y="3054610"/>
            <a:ext cx="2612978" cy="1492716"/>
          </a:xfrm>
          <a:prstGeom prst="rect">
            <a:avLst/>
          </a:prstGeom>
          <a:noFill/>
        </p:spPr>
        <p:txBody>
          <a:bodyPr wrap="square" rtlCol="0">
            <a:spAutoFit/>
          </a:bodyPr>
          <a:lstStyle/>
          <a:p>
            <a:pPr marL="342900" indent="-342900">
              <a:buAutoNum type="arabicPeriod"/>
            </a:pPr>
            <a:r>
              <a:rPr lang="en-US" sz="1300" b="1">
                <a:cs typeface="Lato Regular"/>
              </a:rPr>
              <a:t>Customer Level Timeliness &amp; Accuracy</a:t>
            </a:r>
          </a:p>
          <a:p>
            <a:pPr marL="342900" indent="-342900">
              <a:buAutoNum type="arabicPeriod"/>
            </a:pPr>
            <a:r>
              <a:rPr lang="en-US" altLang="zh-CN" sz="1300" b="1">
                <a:cs typeface="Lato Regular"/>
              </a:rPr>
              <a:t>Customer Level Delayed Invoice Aging</a:t>
            </a:r>
          </a:p>
          <a:p>
            <a:pPr marL="342900" indent="-342900">
              <a:buAutoNum type="arabicPeriod"/>
            </a:pPr>
            <a:r>
              <a:rPr lang="en-US" sz="1300" b="1">
                <a:cs typeface="Lato Regular"/>
              </a:rPr>
              <a:t>LIC Invoice Data </a:t>
            </a:r>
            <a:r>
              <a:rPr lang="en-US" sz="1300" b="1" err="1">
                <a:cs typeface="Lato Regular"/>
              </a:rPr>
              <a:t>report-Header&amp;Item</a:t>
            </a:r>
            <a:endParaRPr lang="en-US" sz="1300" b="1">
              <a:cs typeface="Lato Regular"/>
            </a:endParaRPr>
          </a:p>
          <a:p>
            <a:pPr marL="342900" indent="-342900">
              <a:buAutoNum type="arabicPeriod"/>
            </a:pPr>
            <a:endParaRPr lang="id-ID" sz="1300" b="1">
              <a:cs typeface="Lato Regular"/>
            </a:endParaRPr>
          </a:p>
        </p:txBody>
      </p:sp>
      <p:pic>
        <p:nvPicPr>
          <p:cNvPr id="4" name="图片 3">
            <a:extLst>
              <a:ext uri="{FF2B5EF4-FFF2-40B4-BE49-F238E27FC236}">
                <a16:creationId xmlns:a16="http://schemas.microsoft.com/office/drawing/2014/main" id="{7B905C6E-0DC1-2D0C-0AEA-EF2C103F8A1E}"/>
              </a:ext>
            </a:extLst>
          </p:cNvPr>
          <p:cNvPicPr>
            <a:picLocks noChangeAspect="1"/>
          </p:cNvPicPr>
          <p:nvPr/>
        </p:nvPicPr>
        <p:blipFill>
          <a:blip r:embed="rId2"/>
          <a:stretch>
            <a:fillRect/>
          </a:stretch>
        </p:blipFill>
        <p:spPr>
          <a:xfrm>
            <a:off x="141762" y="1097990"/>
            <a:ext cx="2266901" cy="2449063"/>
          </a:xfrm>
          <a:prstGeom prst="rect">
            <a:avLst/>
          </a:prstGeom>
        </p:spPr>
      </p:pic>
      <p:pic>
        <p:nvPicPr>
          <p:cNvPr id="12" name="图片 11">
            <a:extLst>
              <a:ext uri="{FF2B5EF4-FFF2-40B4-BE49-F238E27FC236}">
                <a16:creationId xmlns:a16="http://schemas.microsoft.com/office/drawing/2014/main" id="{E852E6CD-F1C4-870F-8134-537965DCE3FD}"/>
              </a:ext>
            </a:extLst>
          </p:cNvPr>
          <p:cNvPicPr>
            <a:picLocks noChangeAspect="1"/>
          </p:cNvPicPr>
          <p:nvPr/>
        </p:nvPicPr>
        <p:blipFill>
          <a:blip r:embed="rId3"/>
          <a:stretch>
            <a:fillRect/>
          </a:stretch>
        </p:blipFill>
        <p:spPr>
          <a:xfrm>
            <a:off x="844394" y="2680654"/>
            <a:ext cx="8443827" cy="2753422"/>
          </a:xfrm>
          <a:prstGeom prst="rect">
            <a:avLst/>
          </a:prstGeom>
        </p:spPr>
      </p:pic>
    </p:spTree>
    <p:extLst>
      <p:ext uri="{BB962C8B-B14F-4D97-AF65-F5344CB8AC3E}">
        <p14:creationId xmlns:p14="http://schemas.microsoft.com/office/powerpoint/2010/main" val="1989401352"/>
      </p:ext>
    </p:extLst>
  </p:cSld>
  <p:clrMapOvr>
    <a:masterClrMapping/>
  </p:clrMapOvr>
  <p:transition spd="me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DFE01-D73A-D53E-68B5-5E0D197115D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C505A6A-B93F-DE1F-C044-F1019A723658}"/>
              </a:ext>
            </a:extLst>
          </p:cNvPr>
          <p:cNvSpPr>
            <a:spLocks noGrp="1"/>
          </p:cNvSpPr>
          <p:nvPr>
            <p:ph type="title"/>
          </p:nvPr>
        </p:nvSpPr>
        <p:spPr/>
        <p:txBody>
          <a:bodyPr/>
          <a:lstStyle/>
          <a:p>
            <a:r>
              <a:rPr lang="en-US" altLang="zh-CN"/>
              <a:t>Invoice Report</a:t>
            </a:r>
            <a:endParaRPr lang="zh-CN" altLang="en-US"/>
          </a:p>
        </p:txBody>
      </p:sp>
      <p:sp>
        <p:nvSpPr>
          <p:cNvPr id="6" name="TextBox 72">
            <a:extLst>
              <a:ext uri="{FF2B5EF4-FFF2-40B4-BE49-F238E27FC236}">
                <a16:creationId xmlns:a16="http://schemas.microsoft.com/office/drawing/2014/main" id="{96B88695-7F64-371F-4990-98EA64A499BB}"/>
              </a:ext>
            </a:extLst>
          </p:cNvPr>
          <p:cNvSpPr txBox="1"/>
          <p:nvPr/>
        </p:nvSpPr>
        <p:spPr>
          <a:xfrm>
            <a:off x="9454266" y="1937952"/>
            <a:ext cx="2612978" cy="492443"/>
          </a:xfrm>
          <a:prstGeom prst="rect">
            <a:avLst/>
          </a:prstGeom>
          <a:noFill/>
        </p:spPr>
        <p:txBody>
          <a:bodyPr wrap="square" rtlCol="0">
            <a:spAutoFit/>
          </a:bodyPr>
          <a:lstStyle/>
          <a:p>
            <a:r>
              <a:rPr lang="en-US" sz="1300" b="1">
                <a:cs typeface="Lato Regular"/>
              </a:rPr>
              <a:t>1. Customer Level Timeliness &amp; Accuracy</a:t>
            </a:r>
            <a:endParaRPr lang="id-ID" sz="1300" b="1">
              <a:cs typeface="Lato Regular"/>
            </a:endParaRPr>
          </a:p>
        </p:txBody>
      </p:sp>
      <p:sp>
        <p:nvSpPr>
          <p:cNvPr id="10" name="TextBox 72">
            <a:extLst>
              <a:ext uri="{FF2B5EF4-FFF2-40B4-BE49-F238E27FC236}">
                <a16:creationId xmlns:a16="http://schemas.microsoft.com/office/drawing/2014/main" id="{5192E932-D09A-7025-69A0-EC3CC276972A}"/>
              </a:ext>
            </a:extLst>
          </p:cNvPr>
          <p:cNvSpPr txBox="1"/>
          <p:nvPr/>
        </p:nvSpPr>
        <p:spPr>
          <a:xfrm>
            <a:off x="9579022" y="4583151"/>
            <a:ext cx="2612978" cy="492443"/>
          </a:xfrm>
          <a:prstGeom prst="rect">
            <a:avLst/>
          </a:prstGeom>
          <a:noFill/>
        </p:spPr>
        <p:txBody>
          <a:bodyPr wrap="square" rtlCol="0">
            <a:spAutoFit/>
          </a:bodyPr>
          <a:lstStyle/>
          <a:p>
            <a:r>
              <a:rPr lang="en-US" sz="1300" b="1">
                <a:cs typeface="Lato Regular"/>
              </a:rPr>
              <a:t>2.</a:t>
            </a:r>
            <a:r>
              <a:rPr lang="en-US" altLang="zh-CN" sz="1300" b="1">
                <a:cs typeface="Lato Regular"/>
              </a:rPr>
              <a:t> Customer Level Delayed Invoice Aging</a:t>
            </a:r>
            <a:endParaRPr lang="id-ID" sz="1300" b="1">
              <a:cs typeface="Lato Regular"/>
            </a:endParaRPr>
          </a:p>
        </p:txBody>
      </p:sp>
      <p:pic>
        <p:nvPicPr>
          <p:cNvPr id="7" name="图片 6">
            <a:extLst>
              <a:ext uri="{FF2B5EF4-FFF2-40B4-BE49-F238E27FC236}">
                <a16:creationId xmlns:a16="http://schemas.microsoft.com/office/drawing/2014/main" id="{B107ED83-7306-2F70-ED06-AF6FF0A2FE7D}"/>
              </a:ext>
            </a:extLst>
          </p:cNvPr>
          <p:cNvPicPr>
            <a:picLocks noChangeAspect="1"/>
          </p:cNvPicPr>
          <p:nvPr/>
        </p:nvPicPr>
        <p:blipFill>
          <a:blip r:embed="rId2"/>
          <a:stretch>
            <a:fillRect/>
          </a:stretch>
        </p:blipFill>
        <p:spPr>
          <a:xfrm>
            <a:off x="712106" y="1258065"/>
            <a:ext cx="8423553" cy="3325086"/>
          </a:xfrm>
          <a:prstGeom prst="rect">
            <a:avLst/>
          </a:prstGeom>
        </p:spPr>
      </p:pic>
      <p:pic>
        <p:nvPicPr>
          <p:cNvPr id="8" name="图片 7">
            <a:extLst>
              <a:ext uri="{FF2B5EF4-FFF2-40B4-BE49-F238E27FC236}">
                <a16:creationId xmlns:a16="http://schemas.microsoft.com/office/drawing/2014/main" id="{EB0044F8-1CA4-1317-1D9F-D1D772C44F3F}"/>
              </a:ext>
            </a:extLst>
          </p:cNvPr>
          <p:cNvPicPr>
            <a:picLocks noChangeAspect="1"/>
          </p:cNvPicPr>
          <p:nvPr/>
        </p:nvPicPr>
        <p:blipFill>
          <a:blip r:embed="rId3"/>
          <a:stretch>
            <a:fillRect/>
          </a:stretch>
        </p:blipFill>
        <p:spPr>
          <a:xfrm>
            <a:off x="2217673" y="3100782"/>
            <a:ext cx="7236593" cy="2647752"/>
          </a:xfrm>
          <a:prstGeom prst="rect">
            <a:avLst/>
          </a:prstGeom>
        </p:spPr>
      </p:pic>
      <p:sp>
        <p:nvSpPr>
          <p:cNvPr id="2" name="TextBox 73">
            <a:extLst>
              <a:ext uri="{FF2B5EF4-FFF2-40B4-BE49-F238E27FC236}">
                <a16:creationId xmlns:a16="http://schemas.microsoft.com/office/drawing/2014/main" id="{5E90BF28-71BE-A13B-D266-4D320CAD73D6}"/>
              </a:ext>
            </a:extLst>
          </p:cNvPr>
          <p:cNvSpPr txBox="1"/>
          <p:nvPr/>
        </p:nvSpPr>
        <p:spPr>
          <a:xfrm>
            <a:off x="9497164" y="2430395"/>
            <a:ext cx="2570080" cy="861774"/>
          </a:xfrm>
          <a:prstGeom prst="rect">
            <a:avLst/>
          </a:prstGeom>
          <a:noFill/>
        </p:spPr>
        <p:txBody>
          <a:bodyPr wrap="square" rtlCol="0">
            <a:spAutoFit/>
          </a:bodyPr>
          <a:lstStyle/>
          <a:p>
            <a:pPr marL="171450" indent="-171450">
              <a:buFont typeface="Arial" panose="020B0604020202020204" pitchFamily="34" charset="0"/>
              <a:buChar char="•"/>
            </a:pPr>
            <a:r>
              <a:rPr lang="en-US" sz="1000">
                <a:latin typeface="Lato" panose="020F0502020204030203" pitchFamily="34" charset="0"/>
                <a:ea typeface="Lato" panose="020F0502020204030203" pitchFamily="34" charset="0"/>
                <a:cs typeface="Lato" panose="020F0502020204030203" pitchFamily="34" charset="0"/>
              </a:rPr>
              <a:t>Show Timeliness &amp; Accuracy data in customer level</a:t>
            </a:r>
          </a:p>
          <a:p>
            <a:pPr marL="171450" indent="-171450">
              <a:buFont typeface="Arial" panose="020B0604020202020204" pitchFamily="34" charset="0"/>
              <a:buChar char="•"/>
            </a:pPr>
            <a:r>
              <a:rPr lang="en-US" sz="1000">
                <a:latin typeface="Lato" panose="020F0502020204030203" pitchFamily="34" charset="0"/>
                <a:ea typeface="Lato" panose="020F0502020204030203" pitchFamily="34" charset="0"/>
                <a:cs typeface="Lato" panose="020F0502020204030203" pitchFamily="34" charset="0"/>
              </a:rPr>
              <a:t>Enable search by customer</a:t>
            </a:r>
            <a:r>
              <a:rPr lang="zh-CN" altLang="en-US" sz="1000">
                <a:latin typeface="Lato" panose="020F0502020204030203" pitchFamily="34" charset="0"/>
                <a:ea typeface="Lato" panose="020F0502020204030203" pitchFamily="34" charset="0"/>
                <a:cs typeface="Lato" panose="020F0502020204030203" pitchFamily="34" charset="0"/>
              </a:rPr>
              <a:t>、</a:t>
            </a:r>
            <a:r>
              <a:rPr lang="en-US" altLang="zh-CN" sz="1000">
                <a:latin typeface="Lato" panose="020F0502020204030203" pitchFamily="34" charset="0"/>
                <a:ea typeface="Lato" panose="020F0502020204030203" pitchFamily="34" charset="0"/>
                <a:cs typeface="Lato" panose="020F0502020204030203" pitchFamily="34" charset="0"/>
              </a:rPr>
              <a:t>p</a:t>
            </a:r>
            <a:r>
              <a:rPr lang="en-US" sz="1000">
                <a:latin typeface="Lato" panose="020F0502020204030203" pitchFamily="34" charset="0"/>
                <a:ea typeface="Lato" panose="020F0502020204030203" pitchFamily="34" charset="0"/>
                <a:cs typeface="Lato" panose="020F0502020204030203" pitchFamily="34" charset="0"/>
              </a:rPr>
              <a:t>eriod</a:t>
            </a:r>
            <a:r>
              <a:rPr lang="zh-CN" altLang="en-US" sz="1000">
                <a:latin typeface="Lato" panose="020F0502020204030203" pitchFamily="34" charset="0"/>
                <a:ea typeface="Lato" panose="020F0502020204030203" pitchFamily="34" charset="0"/>
                <a:cs typeface="Lato" panose="020F0502020204030203" pitchFamily="34" charset="0"/>
              </a:rPr>
              <a:t>、</a:t>
            </a:r>
            <a:r>
              <a:rPr lang="en-US" altLang="zh-CN" sz="1000">
                <a:latin typeface="Lato" panose="020F0502020204030203" pitchFamily="34" charset="0"/>
                <a:ea typeface="Lato" panose="020F0502020204030203" pitchFamily="34" charset="0"/>
                <a:cs typeface="Lato" panose="020F0502020204030203" pitchFamily="34" charset="0"/>
              </a:rPr>
              <a:t>service model</a:t>
            </a:r>
          </a:p>
          <a:p>
            <a:pPr marL="171450" indent="-171450">
              <a:buFont typeface="Arial" panose="020B0604020202020204" pitchFamily="34" charset="0"/>
              <a:buChar char="•"/>
            </a:pPr>
            <a:r>
              <a:rPr lang="en-US" sz="1000">
                <a:latin typeface="Lato" panose="020F0502020204030203" pitchFamily="34" charset="0"/>
                <a:ea typeface="Lato" panose="020F0502020204030203" pitchFamily="34" charset="0"/>
                <a:cs typeface="Lato" panose="020F0502020204030203" pitchFamily="34" charset="0"/>
              </a:rPr>
              <a:t>Enable data export in excel format</a:t>
            </a:r>
            <a:endParaRPr lang="en-US" sz="1000">
              <a:cs typeface="Lato Light"/>
            </a:endParaRPr>
          </a:p>
        </p:txBody>
      </p:sp>
      <p:sp>
        <p:nvSpPr>
          <p:cNvPr id="9" name="TextBox 73">
            <a:extLst>
              <a:ext uri="{FF2B5EF4-FFF2-40B4-BE49-F238E27FC236}">
                <a16:creationId xmlns:a16="http://schemas.microsoft.com/office/drawing/2014/main" id="{C307F1AB-280B-4162-0B00-48274DC338CE}"/>
              </a:ext>
            </a:extLst>
          </p:cNvPr>
          <p:cNvSpPr txBox="1"/>
          <p:nvPr/>
        </p:nvSpPr>
        <p:spPr>
          <a:xfrm>
            <a:off x="9497164" y="5092321"/>
            <a:ext cx="2570080" cy="861774"/>
          </a:xfrm>
          <a:prstGeom prst="rect">
            <a:avLst/>
          </a:prstGeom>
          <a:noFill/>
        </p:spPr>
        <p:txBody>
          <a:bodyPr wrap="square" rtlCol="0">
            <a:spAutoFit/>
          </a:bodyPr>
          <a:lstStyle/>
          <a:p>
            <a:pPr marL="171450" indent="-171450">
              <a:buFont typeface="Arial" panose="020B0604020202020204" pitchFamily="34" charset="0"/>
              <a:buChar char="•"/>
            </a:pPr>
            <a:r>
              <a:rPr lang="en-US" sz="1000">
                <a:latin typeface="Lato" panose="020F0502020204030203" pitchFamily="34" charset="0"/>
                <a:ea typeface="Lato" panose="020F0502020204030203" pitchFamily="34" charset="0"/>
                <a:cs typeface="Lato" panose="020F0502020204030203" pitchFamily="34" charset="0"/>
              </a:rPr>
              <a:t>Show Delayed Invoice Aging data in customer level</a:t>
            </a:r>
          </a:p>
          <a:p>
            <a:pPr marL="171450" indent="-171450">
              <a:buFont typeface="Arial" panose="020B0604020202020204" pitchFamily="34" charset="0"/>
              <a:buChar char="•"/>
            </a:pPr>
            <a:r>
              <a:rPr lang="en-US" sz="1000">
                <a:latin typeface="Lato" panose="020F0502020204030203" pitchFamily="34" charset="0"/>
                <a:ea typeface="Lato" panose="020F0502020204030203" pitchFamily="34" charset="0"/>
                <a:cs typeface="Lato" panose="020F0502020204030203" pitchFamily="34" charset="0"/>
              </a:rPr>
              <a:t>Enable search by customer</a:t>
            </a:r>
            <a:r>
              <a:rPr lang="zh-CN" altLang="en-US" sz="1000">
                <a:latin typeface="Lato" panose="020F0502020204030203" pitchFamily="34" charset="0"/>
                <a:ea typeface="Lato" panose="020F0502020204030203" pitchFamily="34" charset="0"/>
                <a:cs typeface="Lato" panose="020F0502020204030203" pitchFamily="34" charset="0"/>
              </a:rPr>
              <a:t>、</a:t>
            </a:r>
            <a:r>
              <a:rPr lang="en-US" altLang="zh-CN" sz="1000">
                <a:latin typeface="Lato" panose="020F0502020204030203" pitchFamily="34" charset="0"/>
                <a:ea typeface="Lato" panose="020F0502020204030203" pitchFamily="34" charset="0"/>
                <a:cs typeface="Lato" panose="020F0502020204030203" pitchFamily="34" charset="0"/>
              </a:rPr>
              <a:t>p</a:t>
            </a:r>
            <a:r>
              <a:rPr lang="en-US" sz="1000">
                <a:latin typeface="Lato" panose="020F0502020204030203" pitchFamily="34" charset="0"/>
                <a:ea typeface="Lato" panose="020F0502020204030203" pitchFamily="34" charset="0"/>
                <a:cs typeface="Lato" panose="020F0502020204030203" pitchFamily="34" charset="0"/>
              </a:rPr>
              <a:t>eriod</a:t>
            </a:r>
            <a:r>
              <a:rPr lang="zh-CN" altLang="en-US" sz="1000">
                <a:latin typeface="Lato" panose="020F0502020204030203" pitchFamily="34" charset="0"/>
                <a:ea typeface="Lato" panose="020F0502020204030203" pitchFamily="34" charset="0"/>
                <a:cs typeface="Lato" panose="020F0502020204030203" pitchFamily="34" charset="0"/>
              </a:rPr>
              <a:t>、</a:t>
            </a:r>
            <a:r>
              <a:rPr lang="en-US" altLang="zh-CN" sz="1000">
                <a:latin typeface="Lato" panose="020F0502020204030203" pitchFamily="34" charset="0"/>
                <a:ea typeface="Lato" panose="020F0502020204030203" pitchFamily="34" charset="0"/>
                <a:cs typeface="Lato" panose="020F0502020204030203" pitchFamily="34" charset="0"/>
              </a:rPr>
              <a:t>service model</a:t>
            </a:r>
          </a:p>
          <a:p>
            <a:pPr marL="171450" indent="-171450">
              <a:buFont typeface="Arial" panose="020B0604020202020204" pitchFamily="34" charset="0"/>
              <a:buChar char="•"/>
            </a:pPr>
            <a:r>
              <a:rPr lang="en-US" sz="1000">
                <a:latin typeface="Lato" panose="020F0502020204030203" pitchFamily="34" charset="0"/>
                <a:ea typeface="Lato" panose="020F0502020204030203" pitchFamily="34" charset="0"/>
                <a:cs typeface="Lato" panose="020F0502020204030203" pitchFamily="34" charset="0"/>
              </a:rPr>
              <a:t>Enable data export in excel format</a:t>
            </a:r>
            <a:endParaRPr lang="en-US" sz="1000">
              <a:cs typeface="Lato Light"/>
            </a:endParaRPr>
          </a:p>
        </p:txBody>
      </p:sp>
    </p:spTree>
    <p:extLst>
      <p:ext uri="{BB962C8B-B14F-4D97-AF65-F5344CB8AC3E}">
        <p14:creationId xmlns:p14="http://schemas.microsoft.com/office/powerpoint/2010/main" val="1427308268"/>
      </p:ext>
    </p:extLst>
  </p:cSld>
  <p:clrMapOvr>
    <a:masterClrMapping/>
  </p:clrMapOvr>
  <p:transition spd="me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9A099-8FF4-A207-0609-123E67D2828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31B1F5F-68FE-5FD0-5DFD-785A28AEF48B}"/>
              </a:ext>
            </a:extLst>
          </p:cNvPr>
          <p:cNvSpPr>
            <a:spLocks noGrp="1"/>
          </p:cNvSpPr>
          <p:nvPr>
            <p:ph type="title"/>
          </p:nvPr>
        </p:nvSpPr>
        <p:spPr/>
        <p:txBody>
          <a:bodyPr/>
          <a:lstStyle/>
          <a:p>
            <a:r>
              <a:rPr lang="en-US" altLang="zh-CN"/>
              <a:t>Invoice Report</a:t>
            </a:r>
            <a:endParaRPr lang="zh-CN" altLang="en-US"/>
          </a:p>
        </p:txBody>
      </p:sp>
      <p:sp>
        <p:nvSpPr>
          <p:cNvPr id="6" name="TextBox 72">
            <a:extLst>
              <a:ext uri="{FF2B5EF4-FFF2-40B4-BE49-F238E27FC236}">
                <a16:creationId xmlns:a16="http://schemas.microsoft.com/office/drawing/2014/main" id="{73A7D0AA-6A04-C3C9-9312-6911D0C374AB}"/>
              </a:ext>
            </a:extLst>
          </p:cNvPr>
          <p:cNvSpPr txBox="1"/>
          <p:nvPr/>
        </p:nvSpPr>
        <p:spPr>
          <a:xfrm>
            <a:off x="9443115" y="2861282"/>
            <a:ext cx="2612978" cy="492443"/>
          </a:xfrm>
          <a:prstGeom prst="rect">
            <a:avLst/>
          </a:prstGeom>
          <a:noFill/>
        </p:spPr>
        <p:txBody>
          <a:bodyPr wrap="square" rtlCol="0">
            <a:spAutoFit/>
          </a:bodyPr>
          <a:lstStyle/>
          <a:p>
            <a:r>
              <a:rPr lang="en-US" altLang="zh-CN" sz="1300" b="1">
                <a:cs typeface="Lato Regular"/>
              </a:rPr>
              <a:t>3</a:t>
            </a:r>
            <a:r>
              <a:rPr lang="en-US" sz="1300" b="1">
                <a:cs typeface="Lato Regular"/>
              </a:rPr>
              <a:t>. LIC</a:t>
            </a:r>
            <a:r>
              <a:rPr lang="zh-CN" altLang="en-US" sz="1300" b="1">
                <a:cs typeface="Lato Regular"/>
              </a:rPr>
              <a:t> </a:t>
            </a:r>
            <a:r>
              <a:rPr lang="en-US" altLang="zh-CN" sz="1300" b="1">
                <a:cs typeface="Lato Regular"/>
              </a:rPr>
              <a:t>Invoice Data Report- </a:t>
            </a:r>
            <a:r>
              <a:rPr lang="en-US" altLang="zh-CN" sz="1300" b="1" err="1">
                <a:cs typeface="Lato Regular"/>
              </a:rPr>
              <a:t>Header&amp;Item</a:t>
            </a:r>
            <a:r>
              <a:rPr lang="en-US" altLang="zh-CN" sz="1300" b="1">
                <a:cs typeface="Lato Regular"/>
              </a:rPr>
              <a:t> </a:t>
            </a:r>
            <a:r>
              <a:rPr lang="zh-CN" altLang="en-US" sz="1300" b="1">
                <a:cs typeface="Lato Regular"/>
              </a:rPr>
              <a:t> </a:t>
            </a:r>
            <a:endParaRPr lang="id-ID" sz="1300" b="1">
              <a:cs typeface="Lato Regular"/>
            </a:endParaRPr>
          </a:p>
        </p:txBody>
      </p:sp>
      <p:sp>
        <p:nvSpPr>
          <p:cNvPr id="2" name="TextBox 73">
            <a:extLst>
              <a:ext uri="{FF2B5EF4-FFF2-40B4-BE49-F238E27FC236}">
                <a16:creationId xmlns:a16="http://schemas.microsoft.com/office/drawing/2014/main" id="{C80FA41E-4DC7-6E49-F773-B10B13DC0932}"/>
              </a:ext>
            </a:extLst>
          </p:cNvPr>
          <p:cNvSpPr txBox="1"/>
          <p:nvPr/>
        </p:nvSpPr>
        <p:spPr>
          <a:xfrm>
            <a:off x="9486013" y="3353725"/>
            <a:ext cx="2570080" cy="707886"/>
          </a:xfrm>
          <a:prstGeom prst="rect">
            <a:avLst/>
          </a:prstGeom>
          <a:noFill/>
        </p:spPr>
        <p:txBody>
          <a:bodyPr wrap="square" rtlCol="0">
            <a:spAutoFit/>
          </a:bodyPr>
          <a:lstStyle/>
          <a:p>
            <a:pPr marL="171450" indent="-171450">
              <a:buFont typeface="Arial" panose="020B0604020202020204" pitchFamily="34" charset="0"/>
              <a:buChar char="•"/>
            </a:pPr>
            <a:r>
              <a:rPr lang="zh-CN" altLang="zh-CN" sz="1000"/>
              <a:t>Invoice report shows all invoices with accurate data; includes filters for date, customer, status; </a:t>
            </a:r>
            <a:endParaRPr lang="en-US" altLang="zh-CN" sz="1000"/>
          </a:p>
          <a:p>
            <a:pPr marL="171450" indent="-171450">
              <a:buFont typeface="Arial" panose="020B0604020202020204" pitchFamily="34" charset="0"/>
              <a:buChar char="•"/>
            </a:pPr>
            <a:r>
              <a:rPr lang="zh-CN" altLang="zh-CN" sz="1000"/>
              <a:t>report is exportable to CSV or PDF</a:t>
            </a:r>
            <a:endParaRPr lang="en-US" altLang="zh-CN" sz="1000"/>
          </a:p>
        </p:txBody>
      </p:sp>
      <p:pic>
        <p:nvPicPr>
          <p:cNvPr id="4" name="图片 3">
            <a:extLst>
              <a:ext uri="{FF2B5EF4-FFF2-40B4-BE49-F238E27FC236}">
                <a16:creationId xmlns:a16="http://schemas.microsoft.com/office/drawing/2014/main" id="{9D10ABC2-ABB6-0210-89D0-43B899DB7D02}"/>
              </a:ext>
            </a:extLst>
          </p:cNvPr>
          <p:cNvPicPr>
            <a:picLocks noChangeAspect="1"/>
          </p:cNvPicPr>
          <p:nvPr/>
        </p:nvPicPr>
        <p:blipFill>
          <a:blip r:embed="rId2"/>
          <a:stretch>
            <a:fillRect/>
          </a:stretch>
        </p:blipFill>
        <p:spPr>
          <a:xfrm>
            <a:off x="403302" y="1083132"/>
            <a:ext cx="7772400" cy="3085959"/>
          </a:xfrm>
          <a:prstGeom prst="rect">
            <a:avLst/>
          </a:prstGeom>
        </p:spPr>
      </p:pic>
      <p:pic>
        <p:nvPicPr>
          <p:cNvPr id="5" name="图片 4">
            <a:extLst>
              <a:ext uri="{FF2B5EF4-FFF2-40B4-BE49-F238E27FC236}">
                <a16:creationId xmlns:a16="http://schemas.microsoft.com/office/drawing/2014/main" id="{8E500244-E1D4-2EE4-A497-AAE2C2B8661B}"/>
              </a:ext>
            </a:extLst>
          </p:cNvPr>
          <p:cNvPicPr>
            <a:picLocks noChangeAspect="1"/>
          </p:cNvPicPr>
          <p:nvPr/>
        </p:nvPicPr>
        <p:blipFill>
          <a:blip r:embed="rId3"/>
          <a:stretch>
            <a:fillRect/>
          </a:stretch>
        </p:blipFill>
        <p:spPr>
          <a:xfrm>
            <a:off x="1161586" y="2861282"/>
            <a:ext cx="7772400" cy="2915845"/>
          </a:xfrm>
          <a:prstGeom prst="rect">
            <a:avLst/>
          </a:prstGeom>
        </p:spPr>
      </p:pic>
    </p:spTree>
    <p:extLst>
      <p:ext uri="{BB962C8B-B14F-4D97-AF65-F5344CB8AC3E}">
        <p14:creationId xmlns:p14="http://schemas.microsoft.com/office/powerpoint/2010/main" val="340991973"/>
      </p:ext>
    </p:extLst>
  </p:cSld>
  <p:clrMapOvr>
    <a:masterClrMapping/>
  </p:clrMapOvr>
  <p:transition spd="me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C932-7E93-4995-D9D2-9F254264C44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1814E6A-45FC-9B95-A677-2C48B98CAD8F}"/>
              </a:ext>
            </a:extLst>
          </p:cNvPr>
          <p:cNvSpPr>
            <a:spLocks noGrp="1"/>
          </p:cNvSpPr>
          <p:nvPr>
            <p:ph type="title"/>
          </p:nvPr>
        </p:nvSpPr>
        <p:spPr/>
        <p:txBody>
          <a:bodyPr/>
          <a:lstStyle/>
          <a:p>
            <a:r>
              <a:rPr lang="en-US" altLang="zh-CN"/>
              <a:t>Finance Report – ARS Revenue</a:t>
            </a:r>
            <a:r>
              <a:rPr lang="zh-CN" altLang="en-US"/>
              <a:t> </a:t>
            </a:r>
            <a:r>
              <a:rPr lang="en-US" altLang="zh-CN"/>
              <a:t> (1/6) </a:t>
            </a:r>
            <a:endParaRPr lang="zh-CN" altLang="en-US"/>
          </a:p>
        </p:txBody>
      </p:sp>
      <p:pic>
        <p:nvPicPr>
          <p:cNvPr id="2" name="图片 1">
            <a:extLst>
              <a:ext uri="{FF2B5EF4-FFF2-40B4-BE49-F238E27FC236}">
                <a16:creationId xmlns:a16="http://schemas.microsoft.com/office/drawing/2014/main" id="{0381D63E-68CE-FD32-8202-4DF2C55E6BD5}"/>
              </a:ext>
            </a:extLst>
          </p:cNvPr>
          <p:cNvPicPr>
            <a:picLocks noChangeAspect="1"/>
          </p:cNvPicPr>
          <p:nvPr/>
        </p:nvPicPr>
        <p:blipFill>
          <a:blip r:embed="rId2"/>
          <a:stretch>
            <a:fillRect/>
          </a:stretch>
        </p:blipFill>
        <p:spPr>
          <a:xfrm>
            <a:off x="127530" y="1333503"/>
            <a:ext cx="1511104" cy="1325246"/>
          </a:xfrm>
          <a:prstGeom prst="rect">
            <a:avLst/>
          </a:prstGeom>
        </p:spPr>
      </p:pic>
      <p:sp>
        <p:nvSpPr>
          <p:cNvPr id="4" name="矩形 3">
            <a:extLst>
              <a:ext uri="{FF2B5EF4-FFF2-40B4-BE49-F238E27FC236}">
                <a16:creationId xmlns:a16="http://schemas.microsoft.com/office/drawing/2014/main" id="{E0938D25-3B24-CD81-77AB-C80559639749}"/>
              </a:ext>
            </a:extLst>
          </p:cNvPr>
          <p:cNvSpPr/>
          <p:nvPr/>
        </p:nvSpPr>
        <p:spPr bwMode="auto">
          <a:xfrm>
            <a:off x="302317" y="2327985"/>
            <a:ext cx="1243679"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pic>
        <p:nvPicPr>
          <p:cNvPr id="5" name="图片 4">
            <a:extLst>
              <a:ext uri="{FF2B5EF4-FFF2-40B4-BE49-F238E27FC236}">
                <a16:creationId xmlns:a16="http://schemas.microsoft.com/office/drawing/2014/main" id="{8259A749-1358-7D5F-43FE-6B84146B7257}"/>
              </a:ext>
            </a:extLst>
          </p:cNvPr>
          <p:cNvPicPr>
            <a:picLocks noChangeAspect="1"/>
          </p:cNvPicPr>
          <p:nvPr/>
        </p:nvPicPr>
        <p:blipFill>
          <a:blip r:embed="rId3"/>
          <a:stretch>
            <a:fillRect/>
          </a:stretch>
        </p:blipFill>
        <p:spPr>
          <a:xfrm>
            <a:off x="1720783" y="1333503"/>
            <a:ext cx="2229048" cy="1561169"/>
          </a:xfrm>
          <a:prstGeom prst="rect">
            <a:avLst/>
          </a:prstGeom>
        </p:spPr>
      </p:pic>
      <p:pic>
        <p:nvPicPr>
          <p:cNvPr id="8" name="图片 7">
            <a:extLst>
              <a:ext uri="{FF2B5EF4-FFF2-40B4-BE49-F238E27FC236}">
                <a16:creationId xmlns:a16="http://schemas.microsoft.com/office/drawing/2014/main" id="{DB5E7851-2132-56EF-AC72-AF3C757F38C4}"/>
              </a:ext>
            </a:extLst>
          </p:cNvPr>
          <p:cNvPicPr>
            <a:picLocks noChangeAspect="1"/>
          </p:cNvPicPr>
          <p:nvPr/>
        </p:nvPicPr>
        <p:blipFill>
          <a:blip r:embed="rId4"/>
          <a:stretch>
            <a:fillRect/>
          </a:stretch>
        </p:blipFill>
        <p:spPr>
          <a:xfrm>
            <a:off x="127529" y="2783661"/>
            <a:ext cx="12064471" cy="3886983"/>
          </a:xfrm>
          <a:prstGeom prst="rect">
            <a:avLst/>
          </a:prstGeom>
        </p:spPr>
      </p:pic>
      <p:sp>
        <p:nvSpPr>
          <p:cNvPr id="9" name="Text 2">
            <a:extLst>
              <a:ext uri="{FF2B5EF4-FFF2-40B4-BE49-F238E27FC236}">
                <a16:creationId xmlns:a16="http://schemas.microsoft.com/office/drawing/2014/main" id="{377B39E2-4596-41F7-3352-7E213FA2442A}"/>
              </a:ext>
            </a:extLst>
          </p:cNvPr>
          <p:cNvSpPr/>
          <p:nvPr/>
        </p:nvSpPr>
        <p:spPr>
          <a:xfrm>
            <a:off x="231224" y="700440"/>
            <a:ext cx="11639523" cy="633063"/>
          </a:xfrm>
          <a:prstGeom prst="rect">
            <a:avLst/>
          </a:prstGeom>
          <a:noFill/>
          <a:ln/>
        </p:spPr>
        <p:txBody>
          <a:bodyPr wrap="square" lIns="0" tIns="0" rIns="0" bIns="0" rtlCol="0" anchor="ctr">
            <a:normAutofit/>
          </a:bodyPr>
          <a:lstStyle/>
          <a:p>
            <a:r>
              <a:rPr lang="en-US" altLang="zh-CN" sz="1200">
                <a:cs typeface="Lato Light"/>
              </a:rPr>
              <a:t>The ARS Revenue Report allows users to display Deferred ARS Triggers and Reclassify long-term and short term Deferred ARS balance by the end of reporting period. Each tab has its own search criteria (mandatory or optional), Reporting Period is defaulted as current system month. Settings tab can be adjusted.</a:t>
            </a:r>
          </a:p>
        </p:txBody>
      </p:sp>
      <p:sp>
        <p:nvSpPr>
          <p:cNvPr id="10" name="Text 2">
            <a:extLst>
              <a:ext uri="{FF2B5EF4-FFF2-40B4-BE49-F238E27FC236}">
                <a16:creationId xmlns:a16="http://schemas.microsoft.com/office/drawing/2014/main" id="{715DD43A-AAA2-BEB0-4A84-42026B6EAE12}"/>
              </a:ext>
            </a:extLst>
          </p:cNvPr>
          <p:cNvSpPr/>
          <p:nvPr/>
        </p:nvSpPr>
        <p:spPr>
          <a:xfrm>
            <a:off x="5091632" y="1332539"/>
            <a:ext cx="6301077" cy="1410594"/>
          </a:xfrm>
          <a:prstGeom prst="rect">
            <a:avLst/>
          </a:prstGeom>
          <a:noFill/>
          <a:ln/>
        </p:spPr>
        <p:txBody>
          <a:bodyPr wrap="square" lIns="0" tIns="0" rIns="0" bIns="0" rtlCol="0" anchor="ctr">
            <a:normAutofit/>
          </a:bodyPr>
          <a:lstStyle/>
          <a:p>
            <a:r>
              <a:rPr lang="en-US" altLang="zh-CN" sz="1200">
                <a:cs typeface="Lato Light"/>
              </a:rPr>
              <a:t>Five ARS Revenue Tabs,</a:t>
            </a:r>
          </a:p>
          <a:p>
            <a:pPr marL="228600" indent="-228600">
              <a:buFont typeface="+mj-lt"/>
              <a:buAutoNum type="arabicPeriod"/>
            </a:pPr>
            <a:r>
              <a:rPr lang="en-US" altLang="zh-CN" sz="1200">
                <a:cs typeface="Lato Light"/>
              </a:rPr>
              <a:t>Deferred ARS Triggers by Reporting Period</a:t>
            </a:r>
          </a:p>
          <a:p>
            <a:pPr marL="228600" indent="-228600">
              <a:buFont typeface="+mj-lt"/>
              <a:buAutoNum type="arabicPeriod"/>
            </a:pPr>
            <a:r>
              <a:rPr lang="en-US" altLang="zh-CN" sz="1200">
                <a:cs typeface="Lato Light"/>
              </a:rPr>
              <a:t>Reclass Summary of long-term and short term Deferred ARS balance</a:t>
            </a:r>
          </a:p>
          <a:p>
            <a:pPr marL="228600" indent="-228600">
              <a:buFont typeface="+mj-lt"/>
              <a:buAutoNum type="arabicPeriod"/>
            </a:pPr>
            <a:r>
              <a:rPr lang="en-US" altLang="zh-CN" sz="1200">
                <a:cs typeface="Lato Light"/>
              </a:rPr>
              <a:t>Reclass Detail of long-term and short term Deferred ARS balance</a:t>
            </a:r>
          </a:p>
          <a:p>
            <a:pPr marL="228600" indent="-228600">
              <a:buFont typeface="+mj-lt"/>
              <a:buAutoNum type="arabicPeriod"/>
            </a:pPr>
            <a:r>
              <a:rPr lang="en-US" altLang="zh-CN" sz="1200">
                <a:cs typeface="Lato Light"/>
              </a:rPr>
              <a:t>Recognition Events (Change Events)</a:t>
            </a:r>
          </a:p>
          <a:p>
            <a:pPr marL="228600" indent="-228600">
              <a:buFont typeface="+mj-lt"/>
              <a:buAutoNum type="arabicPeriod"/>
            </a:pPr>
            <a:r>
              <a:rPr lang="en-US" altLang="zh-CN" sz="1200">
                <a:cs typeface="Lato Light"/>
              </a:rPr>
              <a:t>Transfer Audit (Monitor trigger schedule status &amp; Exception)</a:t>
            </a:r>
          </a:p>
        </p:txBody>
      </p:sp>
      <p:sp>
        <p:nvSpPr>
          <p:cNvPr id="11" name="矩形 10">
            <a:extLst>
              <a:ext uri="{FF2B5EF4-FFF2-40B4-BE49-F238E27FC236}">
                <a16:creationId xmlns:a16="http://schemas.microsoft.com/office/drawing/2014/main" id="{2A8F971B-C399-C59F-7679-E3CD6A58D715}"/>
              </a:ext>
            </a:extLst>
          </p:cNvPr>
          <p:cNvSpPr/>
          <p:nvPr/>
        </p:nvSpPr>
        <p:spPr bwMode="auto">
          <a:xfrm>
            <a:off x="302316" y="3291812"/>
            <a:ext cx="4194270"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Tree>
    <p:extLst>
      <p:ext uri="{BB962C8B-B14F-4D97-AF65-F5344CB8AC3E}">
        <p14:creationId xmlns:p14="http://schemas.microsoft.com/office/powerpoint/2010/main" val="3523062900"/>
      </p:ext>
    </p:extLst>
  </p:cSld>
  <p:clrMapOvr>
    <a:masterClrMapping/>
  </p:clrMapOvr>
  <p:transition spd="me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2BF6-6242-54E2-FC42-CF4F831E3D47}"/>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2519ED1E-59B8-9DDA-29A5-BCF580FDBB2F}"/>
              </a:ext>
            </a:extLst>
          </p:cNvPr>
          <p:cNvPicPr>
            <a:picLocks noChangeAspect="1"/>
          </p:cNvPicPr>
          <p:nvPr/>
        </p:nvPicPr>
        <p:blipFill>
          <a:blip r:embed="rId2"/>
          <a:stretch>
            <a:fillRect/>
          </a:stretch>
        </p:blipFill>
        <p:spPr>
          <a:xfrm>
            <a:off x="1385226" y="739373"/>
            <a:ext cx="10806774" cy="6110441"/>
          </a:xfrm>
          <a:prstGeom prst="rect">
            <a:avLst/>
          </a:prstGeom>
        </p:spPr>
      </p:pic>
      <p:sp>
        <p:nvSpPr>
          <p:cNvPr id="3" name="标题 2">
            <a:extLst>
              <a:ext uri="{FF2B5EF4-FFF2-40B4-BE49-F238E27FC236}">
                <a16:creationId xmlns:a16="http://schemas.microsoft.com/office/drawing/2014/main" id="{6DCCC281-89FF-E545-B910-1A56D1A0EC2B}"/>
              </a:ext>
            </a:extLst>
          </p:cNvPr>
          <p:cNvSpPr>
            <a:spLocks noGrp="1"/>
          </p:cNvSpPr>
          <p:nvPr>
            <p:ph type="title"/>
          </p:nvPr>
        </p:nvSpPr>
        <p:spPr/>
        <p:txBody>
          <a:bodyPr/>
          <a:lstStyle/>
          <a:p>
            <a:r>
              <a:rPr lang="en-US" altLang="zh-CN"/>
              <a:t>Finance Report – ARS Revenue (2/6) </a:t>
            </a:r>
            <a:endParaRPr lang="zh-CN" altLang="en-US"/>
          </a:p>
        </p:txBody>
      </p:sp>
      <p:sp>
        <p:nvSpPr>
          <p:cNvPr id="9" name="Text 2">
            <a:extLst>
              <a:ext uri="{FF2B5EF4-FFF2-40B4-BE49-F238E27FC236}">
                <a16:creationId xmlns:a16="http://schemas.microsoft.com/office/drawing/2014/main" id="{30B42E18-8B56-8E63-6D0A-53D11918E832}"/>
              </a:ext>
            </a:extLst>
          </p:cNvPr>
          <p:cNvSpPr/>
          <p:nvPr/>
        </p:nvSpPr>
        <p:spPr>
          <a:xfrm>
            <a:off x="106555" y="1904213"/>
            <a:ext cx="1288123" cy="2564091"/>
          </a:xfrm>
          <a:prstGeom prst="rect">
            <a:avLst/>
          </a:prstGeom>
          <a:noFill/>
          <a:ln/>
        </p:spPr>
        <p:txBody>
          <a:bodyPr wrap="square" lIns="0" tIns="0" rIns="0" bIns="0" rtlCol="0" anchor="ctr">
            <a:normAutofit fontScale="92500" lnSpcReduction="20000"/>
          </a:bodyPr>
          <a:lstStyle/>
          <a:p>
            <a:r>
              <a:rPr lang="en-US" altLang="zh-CN" sz="1200" b="1">
                <a:cs typeface="Lato Light"/>
              </a:rPr>
              <a:t>Company Code </a:t>
            </a:r>
            <a:r>
              <a:rPr lang="en-US" altLang="zh-CN" sz="1200">
                <a:cs typeface="Lato Light"/>
              </a:rPr>
              <a:t>is mandatory, multiple values can be entered,</a:t>
            </a:r>
          </a:p>
          <a:p>
            <a:endParaRPr lang="en-US" altLang="zh-CN" sz="1200">
              <a:cs typeface="Lato Light"/>
            </a:endParaRPr>
          </a:p>
          <a:p>
            <a:r>
              <a:rPr lang="en-US" altLang="zh-CN" sz="1200" b="1">
                <a:cs typeface="Lato Light"/>
              </a:rPr>
              <a:t>Reporting Period </a:t>
            </a:r>
            <a:r>
              <a:rPr lang="en-US" altLang="zh-CN" sz="1200">
                <a:cs typeface="Lato Light"/>
              </a:rPr>
              <a:t>defaulted as current system month 2026-09, select as 2026-08 for more data,</a:t>
            </a:r>
          </a:p>
          <a:p>
            <a:endParaRPr lang="en-US" altLang="zh-CN" sz="1200">
              <a:cs typeface="Lato Light"/>
            </a:endParaRPr>
          </a:p>
          <a:p>
            <a:endParaRPr lang="en-US" altLang="zh-CN" sz="1200">
              <a:cs typeface="Lato Light"/>
            </a:endParaRPr>
          </a:p>
          <a:p>
            <a:r>
              <a:rPr lang="en-US" altLang="zh-CN" sz="1200">
                <a:cs typeface="Lato Light"/>
              </a:rPr>
              <a:t>Other selection fields are optional,</a:t>
            </a:r>
          </a:p>
          <a:p>
            <a:endParaRPr lang="en-US" altLang="zh-CN" sz="1200">
              <a:cs typeface="Lato Light"/>
            </a:endParaRPr>
          </a:p>
          <a:p>
            <a:endParaRPr lang="en-US" altLang="zh-CN" sz="1200">
              <a:cs typeface="Lato Light"/>
            </a:endParaRPr>
          </a:p>
          <a:p>
            <a:r>
              <a:rPr lang="en-US" altLang="zh-CN" sz="1200">
                <a:cs typeface="Lato Light"/>
              </a:rPr>
              <a:t>Transfer Status can filter</a:t>
            </a:r>
          </a:p>
        </p:txBody>
      </p:sp>
      <p:sp>
        <p:nvSpPr>
          <p:cNvPr id="7" name="矩形 6">
            <a:extLst>
              <a:ext uri="{FF2B5EF4-FFF2-40B4-BE49-F238E27FC236}">
                <a16:creationId xmlns:a16="http://schemas.microsoft.com/office/drawing/2014/main" id="{15616077-AC84-D53A-9460-522B38D83E8D}"/>
              </a:ext>
            </a:extLst>
          </p:cNvPr>
          <p:cNvSpPr/>
          <p:nvPr/>
        </p:nvSpPr>
        <p:spPr bwMode="auto">
          <a:xfrm>
            <a:off x="1439122" y="1064793"/>
            <a:ext cx="1011847"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12" name="矩形 11">
            <a:extLst>
              <a:ext uri="{FF2B5EF4-FFF2-40B4-BE49-F238E27FC236}">
                <a16:creationId xmlns:a16="http://schemas.microsoft.com/office/drawing/2014/main" id="{174D8C3B-966A-A590-EB65-40E15A10D38D}"/>
              </a:ext>
            </a:extLst>
          </p:cNvPr>
          <p:cNvSpPr/>
          <p:nvPr/>
        </p:nvSpPr>
        <p:spPr bwMode="auto">
          <a:xfrm>
            <a:off x="1495683" y="1471716"/>
            <a:ext cx="1765991"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13" name="矩形 12">
            <a:extLst>
              <a:ext uri="{FF2B5EF4-FFF2-40B4-BE49-F238E27FC236}">
                <a16:creationId xmlns:a16="http://schemas.microsoft.com/office/drawing/2014/main" id="{951A61BF-5BDF-A5F9-73AF-690F554F406B}"/>
              </a:ext>
            </a:extLst>
          </p:cNvPr>
          <p:cNvSpPr/>
          <p:nvPr/>
        </p:nvSpPr>
        <p:spPr bwMode="auto">
          <a:xfrm>
            <a:off x="3324971" y="1471716"/>
            <a:ext cx="888810"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17" name="Text 2">
            <a:extLst>
              <a:ext uri="{FF2B5EF4-FFF2-40B4-BE49-F238E27FC236}">
                <a16:creationId xmlns:a16="http://schemas.microsoft.com/office/drawing/2014/main" id="{18635AFA-4204-6562-73E9-D79AAF2C4C1F}"/>
              </a:ext>
            </a:extLst>
          </p:cNvPr>
          <p:cNvSpPr/>
          <p:nvPr/>
        </p:nvSpPr>
        <p:spPr>
          <a:xfrm>
            <a:off x="5571425" y="739373"/>
            <a:ext cx="6388280" cy="650839"/>
          </a:xfrm>
          <a:prstGeom prst="rect">
            <a:avLst/>
          </a:prstGeom>
          <a:noFill/>
          <a:ln/>
        </p:spPr>
        <p:txBody>
          <a:bodyPr wrap="square" lIns="0" tIns="0" rIns="0" bIns="0" rtlCol="0" anchor="ctr">
            <a:normAutofit/>
          </a:bodyPr>
          <a:lstStyle/>
          <a:p>
            <a:r>
              <a:rPr lang="en-US" altLang="zh-CN" sz="1200" b="1">
                <a:solidFill>
                  <a:schemeClr val="accent6">
                    <a:lumMod val="75000"/>
                    <a:lumOff val="25000"/>
                  </a:schemeClr>
                </a:solidFill>
              </a:rPr>
              <a:t>Deferred ARS Trigger Tab</a:t>
            </a:r>
          </a:p>
          <a:p>
            <a:r>
              <a:rPr lang="en-US" altLang="zh-CN" sz="1200">
                <a:cs typeface="Lato Light"/>
              </a:rPr>
              <a:t>This tab allows users to display Deferred ARS Triggers for a specific reporting period.  </a:t>
            </a:r>
          </a:p>
        </p:txBody>
      </p:sp>
      <p:pic>
        <p:nvPicPr>
          <p:cNvPr id="18" name="图片 17">
            <a:extLst>
              <a:ext uri="{FF2B5EF4-FFF2-40B4-BE49-F238E27FC236}">
                <a16:creationId xmlns:a16="http://schemas.microsoft.com/office/drawing/2014/main" id="{D633AF13-A0DB-5ABB-4E9B-028C12F60205}"/>
              </a:ext>
            </a:extLst>
          </p:cNvPr>
          <p:cNvPicPr>
            <a:picLocks noChangeAspect="1"/>
          </p:cNvPicPr>
          <p:nvPr/>
        </p:nvPicPr>
        <p:blipFill>
          <a:blip r:embed="rId3"/>
          <a:stretch>
            <a:fillRect/>
          </a:stretch>
        </p:blipFill>
        <p:spPr>
          <a:xfrm>
            <a:off x="26326" y="4393061"/>
            <a:ext cx="1358900" cy="1612900"/>
          </a:xfrm>
          <a:prstGeom prst="rect">
            <a:avLst/>
          </a:prstGeom>
        </p:spPr>
      </p:pic>
    </p:spTree>
    <p:extLst>
      <p:ext uri="{BB962C8B-B14F-4D97-AF65-F5344CB8AC3E}">
        <p14:creationId xmlns:p14="http://schemas.microsoft.com/office/powerpoint/2010/main" val="2013411567"/>
      </p:ext>
    </p:extLst>
  </p:cSld>
  <p:clrMapOvr>
    <a:masterClrMapping/>
  </p:clrMapOvr>
  <p:transition spd="me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8BF4F-A8A5-E83B-CDC4-A81B5B905FC2}"/>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502AD10A-D83E-E843-E170-F6715545C7D0}"/>
              </a:ext>
            </a:extLst>
          </p:cNvPr>
          <p:cNvPicPr>
            <a:picLocks noChangeAspect="1"/>
          </p:cNvPicPr>
          <p:nvPr/>
        </p:nvPicPr>
        <p:blipFill>
          <a:blip r:embed="rId2"/>
          <a:stretch>
            <a:fillRect/>
          </a:stretch>
        </p:blipFill>
        <p:spPr>
          <a:xfrm>
            <a:off x="0" y="1175076"/>
            <a:ext cx="12192000" cy="5682924"/>
          </a:xfrm>
          <a:prstGeom prst="rect">
            <a:avLst/>
          </a:prstGeom>
        </p:spPr>
      </p:pic>
      <p:sp>
        <p:nvSpPr>
          <p:cNvPr id="3" name="标题 2">
            <a:extLst>
              <a:ext uri="{FF2B5EF4-FFF2-40B4-BE49-F238E27FC236}">
                <a16:creationId xmlns:a16="http://schemas.microsoft.com/office/drawing/2014/main" id="{109F61C9-ADC6-1FF4-2B43-D49922BF9106}"/>
              </a:ext>
            </a:extLst>
          </p:cNvPr>
          <p:cNvSpPr>
            <a:spLocks noGrp="1"/>
          </p:cNvSpPr>
          <p:nvPr>
            <p:ph type="title"/>
          </p:nvPr>
        </p:nvSpPr>
        <p:spPr/>
        <p:txBody>
          <a:bodyPr/>
          <a:lstStyle/>
          <a:p>
            <a:r>
              <a:rPr lang="en-US" altLang="zh-CN"/>
              <a:t>Finance Report – ARS Revenue (3/6) </a:t>
            </a:r>
            <a:endParaRPr lang="zh-CN" altLang="en-US"/>
          </a:p>
        </p:txBody>
      </p:sp>
      <p:sp>
        <p:nvSpPr>
          <p:cNvPr id="7" name="矩形 6">
            <a:extLst>
              <a:ext uri="{FF2B5EF4-FFF2-40B4-BE49-F238E27FC236}">
                <a16:creationId xmlns:a16="http://schemas.microsoft.com/office/drawing/2014/main" id="{1DE10C3F-84AC-64B3-265A-D4B87A9DF451}"/>
              </a:ext>
            </a:extLst>
          </p:cNvPr>
          <p:cNvSpPr/>
          <p:nvPr/>
        </p:nvSpPr>
        <p:spPr bwMode="auto">
          <a:xfrm>
            <a:off x="1241159" y="1627235"/>
            <a:ext cx="804457"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4" name="Text 2">
            <a:extLst>
              <a:ext uri="{FF2B5EF4-FFF2-40B4-BE49-F238E27FC236}">
                <a16:creationId xmlns:a16="http://schemas.microsoft.com/office/drawing/2014/main" id="{742975DF-B61C-F0A4-845D-0B13CC690C59}"/>
              </a:ext>
            </a:extLst>
          </p:cNvPr>
          <p:cNvSpPr/>
          <p:nvPr/>
        </p:nvSpPr>
        <p:spPr>
          <a:xfrm>
            <a:off x="113121" y="684437"/>
            <a:ext cx="9230737" cy="578755"/>
          </a:xfrm>
          <a:prstGeom prst="rect">
            <a:avLst/>
          </a:prstGeom>
          <a:noFill/>
          <a:ln/>
        </p:spPr>
        <p:txBody>
          <a:bodyPr wrap="square" lIns="0" tIns="0" rIns="0" bIns="0" rtlCol="0" anchor="ctr">
            <a:normAutofit/>
          </a:bodyPr>
          <a:lstStyle/>
          <a:p>
            <a:r>
              <a:rPr lang="en-US" altLang="zh-CN" sz="1400" b="1">
                <a:solidFill>
                  <a:schemeClr val="accent6">
                    <a:lumMod val="75000"/>
                    <a:lumOff val="25000"/>
                  </a:schemeClr>
                </a:solidFill>
              </a:rPr>
              <a:t>Reclass Summary Tab</a:t>
            </a:r>
          </a:p>
          <a:p>
            <a:r>
              <a:rPr lang="en-US" altLang="zh-CN" sz="1200">
                <a:cs typeface="Lato Light"/>
              </a:rPr>
              <a:t>This tab allows users to display long-term and short term Deferred ARS balance by the end of reporting period.  </a:t>
            </a:r>
          </a:p>
        </p:txBody>
      </p:sp>
    </p:spTree>
    <p:extLst>
      <p:ext uri="{BB962C8B-B14F-4D97-AF65-F5344CB8AC3E}">
        <p14:creationId xmlns:p14="http://schemas.microsoft.com/office/powerpoint/2010/main" val="1497948393"/>
      </p:ext>
    </p:extLst>
  </p:cSld>
  <p:clrMapOvr>
    <a:masterClrMapping/>
  </p:clrMapOvr>
  <p:transition spd="me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5CAC7-7EED-E4CC-E65C-44B42E66D8B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B67305-D71C-D3CC-4276-5A4E2332DEA2}"/>
              </a:ext>
            </a:extLst>
          </p:cNvPr>
          <p:cNvSpPr>
            <a:spLocks noGrp="1"/>
          </p:cNvSpPr>
          <p:nvPr>
            <p:ph type="title"/>
          </p:nvPr>
        </p:nvSpPr>
        <p:spPr/>
        <p:txBody>
          <a:bodyPr/>
          <a:lstStyle/>
          <a:p>
            <a:r>
              <a:rPr lang="en-US" altLang="zh-CN"/>
              <a:t>Finance Report – ARS Revenue (4/6) </a:t>
            </a:r>
            <a:endParaRPr lang="zh-CN" altLang="en-US"/>
          </a:p>
        </p:txBody>
      </p:sp>
      <p:pic>
        <p:nvPicPr>
          <p:cNvPr id="5" name="图片 4">
            <a:extLst>
              <a:ext uri="{FF2B5EF4-FFF2-40B4-BE49-F238E27FC236}">
                <a16:creationId xmlns:a16="http://schemas.microsoft.com/office/drawing/2014/main" id="{7290916F-4C46-71D3-3715-1DA9E2A528C6}"/>
              </a:ext>
            </a:extLst>
          </p:cNvPr>
          <p:cNvPicPr>
            <a:picLocks noChangeAspect="1"/>
          </p:cNvPicPr>
          <p:nvPr/>
        </p:nvPicPr>
        <p:blipFill>
          <a:blip r:embed="rId2"/>
          <a:stretch>
            <a:fillRect/>
          </a:stretch>
        </p:blipFill>
        <p:spPr>
          <a:xfrm>
            <a:off x="94268" y="1240897"/>
            <a:ext cx="12097732" cy="5617103"/>
          </a:xfrm>
          <a:prstGeom prst="rect">
            <a:avLst/>
          </a:prstGeom>
        </p:spPr>
      </p:pic>
      <p:sp>
        <p:nvSpPr>
          <p:cNvPr id="6" name="矩形 5">
            <a:extLst>
              <a:ext uri="{FF2B5EF4-FFF2-40B4-BE49-F238E27FC236}">
                <a16:creationId xmlns:a16="http://schemas.microsoft.com/office/drawing/2014/main" id="{5ECD389E-8C6A-14EC-8F4C-DC0625D79729}"/>
              </a:ext>
            </a:extLst>
          </p:cNvPr>
          <p:cNvSpPr/>
          <p:nvPr/>
        </p:nvSpPr>
        <p:spPr bwMode="auto">
          <a:xfrm>
            <a:off x="2183839" y="1628845"/>
            <a:ext cx="681909"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8" name="Text 2">
            <a:extLst>
              <a:ext uri="{FF2B5EF4-FFF2-40B4-BE49-F238E27FC236}">
                <a16:creationId xmlns:a16="http://schemas.microsoft.com/office/drawing/2014/main" id="{43696E86-DCC4-F7E2-5480-1DAFF36EA048}"/>
              </a:ext>
            </a:extLst>
          </p:cNvPr>
          <p:cNvSpPr/>
          <p:nvPr/>
        </p:nvSpPr>
        <p:spPr>
          <a:xfrm>
            <a:off x="235670" y="756597"/>
            <a:ext cx="9230737" cy="506595"/>
          </a:xfrm>
          <a:prstGeom prst="rect">
            <a:avLst/>
          </a:prstGeom>
          <a:noFill/>
          <a:ln/>
        </p:spPr>
        <p:txBody>
          <a:bodyPr wrap="square" lIns="0" tIns="0" rIns="0" bIns="0" rtlCol="0" anchor="ctr">
            <a:normAutofit fontScale="92500" lnSpcReduction="10000"/>
          </a:bodyPr>
          <a:lstStyle/>
          <a:p>
            <a:r>
              <a:rPr lang="en-US" altLang="zh-CN" sz="1400" b="1">
                <a:solidFill>
                  <a:schemeClr val="accent6">
                    <a:lumMod val="75000"/>
                    <a:lumOff val="25000"/>
                  </a:schemeClr>
                </a:solidFill>
              </a:rPr>
              <a:t>Reclass Detail Tab</a:t>
            </a:r>
          </a:p>
          <a:p>
            <a:r>
              <a:rPr lang="en-US" altLang="zh-CN" sz="1200">
                <a:cs typeface="Lato Light"/>
              </a:rPr>
              <a:t>This tab allows users to display details of long-term and short term Deferred ARS balance by the end of reporting period.  </a:t>
            </a:r>
          </a:p>
          <a:p>
            <a:r>
              <a:rPr lang="en-US" altLang="zh-CN" sz="1200">
                <a:cs typeface="Lato Light"/>
              </a:rPr>
              <a:t>Invoice Number &amp; Item Number &amp; FA Document Number are added for further drill-down analysis.</a:t>
            </a:r>
          </a:p>
        </p:txBody>
      </p:sp>
    </p:spTree>
    <p:extLst>
      <p:ext uri="{BB962C8B-B14F-4D97-AF65-F5344CB8AC3E}">
        <p14:creationId xmlns:p14="http://schemas.microsoft.com/office/powerpoint/2010/main" val="3897672270"/>
      </p:ext>
    </p:extLst>
  </p:cSld>
  <p:clrMapOvr>
    <a:masterClrMapping/>
  </p:clrMapOvr>
  <p:transition spd="me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C91F-6515-ACE0-34F9-A2BAD671DF8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1977019-8642-6702-B1E5-FE2693BECF3D}"/>
              </a:ext>
            </a:extLst>
          </p:cNvPr>
          <p:cNvPicPr>
            <a:picLocks noChangeAspect="1"/>
          </p:cNvPicPr>
          <p:nvPr/>
        </p:nvPicPr>
        <p:blipFill>
          <a:blip r:embed="rId2"/>
          <a:stretch>
            <a:fillRect/>
          </a:stretch>
        </p:blipFill>
        <p:spPr>
          <a:xfrm>
            <a:off x="0" y="1823449"/>
            <a:ext cx="12192000" cy="4638623"/>
          </a:xfrm>
          <a:prstGeom prst="rect">
            <a:avLst/>
          </a:prstGeom>
        </p:spPr>
      </p:pic>
      <p:sp>
        <p:nvSpPr>
          <p:cNvPr id="3" name="标题 2">
            <a:extLst>
              <a:ext uri="{FF2B5EF4-FFF2-40B4-BE49-F238E27FC236}">
                <a16:creationId xmlns:a16="http://schemas.microsoft.com/office/drawing/2014/main" id="{AB788975-59EF-CE47-F289-934C0A5ECD44}"/>
              </a:ext>
            </a:extLst>
          </p:cNvPr>
          <p:cNvSpPr>
            <a:spLocks noGrp="1"/>
          </p:cNvSpPr>
          <p:nvPr>
            <p:ph type="title"/>
          </p:nvPr>
        </p:nvSpPr>
        <p:spPr/>
        <p:txBody>
          <a:bodyPr/>
          <a:lstStyle/>
          <a:p>
            <a:r>
              <a:rPr lang="en-US" altLang="zh-CN"/>
              <a:t>Finance Report – ARS Revenue (5/6) </a:t>
            </a:r>
            <a:endParaRPr lang="zh-CN" altLang="en-US"/>
          </a:p>
        </p:txBody>
      </p:sp>
      <p:sp>
        <p:nvSpPr>
          <p:cNvPr id="6" name="矩形 5">
            <a:extLst>
              <a:ext uri="{FF2B5EF4-FFF2-40B4-BE49-F238E27FC236}">
                <a16:creationId xmlns:a16="http://schemas.microsoft.com/office/drawing/2014/main" id="{09698B32-F7AE-4548-18EC-909765BCBC9F}"/>
              </a:ext>
            </a:extLst>
          </p:cNvPr>
          <p:cNvSpPr/>
          <p:nvPr/>
        </p:nvSpPr>
        <p:spPr bwMode="auto">
          <a:xfrm>
            <a:off x="2818614" y="2265308"/>
            <a:ext cx="810706"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
        <p:nvSpPr>
          <p:cNvPr id="8" name="Text 2">
            <a:extLst>
              <a:ext uri="{FF2B5EF4-FFF2-40B4-BE49-F238E27FC236}">
                <a16:creationId xmlns:a16="http://schemas.microsoft.com/office/drawing/2014/main" id="{8D40298C-E493-BF21-276D-D73DAF936807}"/>
              </a:ext>
            </a:extLst>
          </p:cNvPr>
          <p:cNvSpPr/>
          <p:nvPr/>
        </p:nvSpPr>
        <p:spPr>
          <a:xfrm>
            <a:off x="179108" y="754143"/>
            <a:ext cx="9230737" cy="1069305"/>
          </a:xfrm>
          <a:prstGeom prst="rect">
            <a:avLst/>
          </a:prstGeom>
          <a:noFill/>
          <a:ln/>
        </p:spPr>
        <p:txBody>
          <a:bodyPr wrap="square" lIns="0" tIns="0" rIns="0" bIns="0" rtlCol="0" anchor="ctr">
            <a:normAutofit/>
          </a:bodyPr>
          <a:lstStyle/>
          <a:p>
            <a:r>
              <a:rPr lang="en-US" altLang="zh-CN" sz="1400" b="1">
                <a:solidFill>
                  <a:schemeClr val="accent6">
                    <a:lumMod val="75000"/>
                    <a:lumOff val="25000"/>
                  </a:schemeClr>
                </a:solidFill>
              </a:rPr>
              <a:t>Recognition Events Tab</a:t>
            </a:r>
          </a:p>
          <a:p>
            <a:r>
              <a:rPr lang="en-US" altLang="zh-CN" sz="1200">
                <a:cs typeface="Lato Light"/>
              </a:rPr>
              <a:t>This tab allows users to display ARS Relevant Events which triggered the Deferred ARS transfer (Revenue Recognition) in Reporting Period. </a:t>
            </a:r>
          </a:p>
          <a:p>
            <a:r>
              <a:rPr lang="en-US" altLang="zh-CN" sz="1200">
                <a:cs typeface="Lato Light"/>
              </a:rPr>
              <a:t>This serves for user further drill-down analysis of current month ARS transfer. </a:t>
            </a:r>
          </a:p>
          <a:p>
            <a:r>
              <a:rPr lang="en-US" altLang="zh-CN" sz="1200">
                <a:cs typeface="Lato Light"/>
              </a:rPr>
              <a:t>Change Effective Date falls under Reporting Period (in this example, 2026-08)</a:t>
            </a:r>
          </a:p>
        </p:txBody>
      </p:sp>
    </p:spTree>
    <p:extLst>
      <p:ext uri="{BB962C8B-B14F-4D97-AF65-F5344CB8AC3E}">
        <p14:creationId xmlns:p14="http://schemas.microsoft.com/office/powerpoint/2010/main" val="1051706063"/>
      </p:ext>
    </p:extLst>
  </p:cSld>
  <p:clrMapOvr>
    <a:masterClrMapping/>
  </p:clrMapOvr>
  <p:transition spd="me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CF07A-D098-117B-21A8-F770A886EAD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DF43DAB-9CDF-B054-D7DF-C857AB20BB53}"/>
              </a:ext>
            </a:extLst>
          </p:cNvPr>
          <p:cNvSpPr>
            <a:spLocks noGrp="1"/>
          </p:cNvSpPr>
          <p:nvPr>
            <p:ph type="title"/>
          </p:nvPr>
        </p:nvSpPr>
        <p:spPr/>
        <p:txBody>
          <a:bodyPr/>
          <a:lstStyle/>
          <a:p>
            <a:r>
              <a:rPr lang="en-US" altLang="zh-CN"/>
              <a:t>Finance Report – ARS Revenue (6/6) </a:t>
            </a:r>
            <a:endParaRPr lang="zh-CN" altLang="en-US"/>
          </a:p>
        </p:txBody>
      </p:sp>
      <p:sp>
        <p:nvSpPr>
          <p:cNvPr id="4" name="Text 2">
            <a:extLst>
              <a:ext uri="{FF2B5EF4-FFF2-40B4-BE49-F238E27FC236}">
                <a16:creationId xmlns:a16="http://schemas.microsoft.com/office/drawing/2014/main" id="{EAF67B01-4F74-C1E8-A5BB-77E1CECB95C1}"/>
              </a:ext>
            </a:extLst>
          </p:cNvPr>
          <p:cNvSpPr/>
          <p:nvPr/>
        </p:nvSpPr>
        <p:spPr>
          <a:xfrm>
            <a:off x="185160" y="688155"/>
            <a:ext cx="9700182" cy="1150748"/>
          </a:xfrm>
          <a:prstGeom prst="rect">
            <a:avLst/>
          </a:prstGeom>
          <a:noFill/>
          <a:ln/>
        </p:spPr>
        <p:txBody>
          <a:bodyPr wrap="square" lIns="0" tIns="0" rIns="0" bIns="0" rtlCol="0" anchor="ctr">
            <a:normAutofit/>
          </a:bodyPr>
          <a:lstStyle/>
          <a:p>
            <a:r>
              <a:rPr lang="en-US" altLang="zh-CN" sz="1400" b="1">
                <a:solidFill>
                  <a:schemeClr val="accent6">
                    <a:lumMod val="75000"/>
                    <a:lumOff val="25000"/>
                  </a:schemeClr>
                </a:solidFill>
              </a:rPr>
              <a:t>Transfer Audit Tab</a:t>
            </a:r>
          </a:p>
          <a:p>
            <a:r>
              <a:rPr lang="en-US" altLang="zh-CN" sz="1200">
                <a:cs typeface="Lato Light"/>
              </a:rPr>
              <a:t>This tab allows users to monitor the ARS transfer (Revenue Recognition) in Reporting Period. </a:t>
            </a:r>
          </a:p>
          <a:p>
            <a:r>
              <a:rPr lang="en-US" altLang="zh-CN" sz="1200">
                <a:cs typeface="Lato Light"/>
              </a:rPr>
              <a:t>User can further drilldown and analyze how much the transfer amount should be, how of current month ARS transfer. </a:t>
            </a:r>
          </a:p>
          <a:p>
            <a:r>
              <a:rPr lang="en-US" altLang="zh-CN" sz="1200">
                <a:cs typeface="Lato Light"/>
              </a:rPr>
              <a:t>Change Effective Date falls under Reporting Period (in this example, 2026-08)</a:t>
            </a:r>
          </a:p>
        </p:txBody>
      </p:sp>
      <p:pic>
        <p:nvPicPr>
          <p:cNvPr id="2" name="图片 1">
            <a:extLst>
              <a:ext uri="{FF2B5EF4-FFF2-40B4-BE49-F238E27FC236}">
                <a16:creationId xmlns:a16="http://schemas.microsoft.com/office/drawing/2014/main" id="{5764A2CB-568B-FB80-82CC-77826246796F}"/>
              </a:ext>
            </a:extLst>
          </p:cNvPr>
          <p:cNvPicPr>
            <a:picLocks noChangeAspect="1"/>
          </p:cNvPicPr>
          <p:nvPr/>
        </p:nvPicPr>
        <p:blipFill>
          <a:blip r:embed="rId2"/>
          <a:stretch>
            <a:fillRect/>
          </a:stretch>
        </p:blipFill>
        <p:spPr>
          <a:xfrm>
            <a:off x="0" y="1804361"/>
            <a:ext cx="12186632" cy="4365484"/>
          </a:xfrm>
          <a:prstGeom prst="rect">
            <a:avLst/>
          </a:prstGeom>
        </p:spPr>
      </p:pic>
      <p:sp>
        <p:nvSpPr>
          <p:cNvPr id="6" name="矩形 5">
            <a:extLst>
              <a:ext uri="{FF2B5EF4-FFF2-40B4-BE49-F238E27FC236}">
                <a16:creationId xmlns:a16="http://schemas.microsoft.com/office/drawing/2014/main" id="{9D0D2D07-C1A4-8965-560C-7AF4F64258BD}"/>
              </a:ext>
            </a:extLst>
          </p:cNvPr>
          <p:cNvSpPr/>
          <p:nvPr/>
        </p:nvSpPr>
        <p:spPr bwMode="auto">
          <a:xfrm>
            <a:off x="3654421" y="2293355"/>
            <a:ext cx="804457" cy="33076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Gill Sans" pitchFamily="34" charset="0"/>
            </a:endParaRPr>
          </a:p>
        </p:txBody>
      </p:sp>
    </p:spTree>
    <p:extLst>
      <p:ext uri="{BB962C8B-B14F-4D97-AF65-F5344CB8AC3E}">
        <p14:creationId xmlns:p14="http://schemas.microsoft.com/office/powerpoint/2010/main" val="3882081552"/>
      </p:ext>
    </p:extLst>
  </p:cSld>
  <p:clrMapOvr>
    <a:masterClrMapping/>
  </p:clrMapOvr>
  <p:transition spd="me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AD31-F290-8E70-8026-ACC455DE7E35}"/>
            </a:ext>
          </a:extLst>
        </p:cNvPr>
        <p:cNvGrpSpPr/>
        <p:nvPr/>
      </p:nvGrpSpPr>
      <p:grpSpPr>
        <a:xfrm>
          <a:off x="0" y="0"/>
          <a:ext cx="0" cy="0"/>
          <a:chOff x="0" y="0"/>
          <a:chExt cx="0" cy="0"/>
        </a:xfrm>
      </p:grpSpPr>
      <p:pic>
        <p:nvPicPr>
          <p:cNvPr id="29" name="图片 28">
            <a:extLst>
              <a:ext uri="{FF2B5EF4-FFF2-40B4-BE49-F238E27FC236}">
                <a16:creationId xmlns:a16="http://schemas.microsoft.com/office/drawing/2014/main" id="{129449B7-9A8E-2C52-DABD-E6084E03CB4F}"/>
              </a:ext>
            </a:extLst>
          </p:cNvPr>
          <p:cNvPicPr>
            <a:picLocks noChangeAspect="1"/>
          </p:cNvPicPr>
          <p:nvPr/>
        </p:nvPicPr>
        <p:blipFill>
          <a:blip r:embed="rId2"/>
          <a:stretch>
            <a:fillRect/>
          </a:stretch>
        </p:blipFill>
        <p:spPr>
          <a:xfrm>
            <a:off x="360287" y="2161055"/>
            <a:ext cx="8276946" cy="3718159"/>
          </a:xfrm>
          <a:prstGeom prst="rect">
            <a:avLst/>
          </a:prstGeom>
        </p:spPr>
      </p:pic>
      <p:sp>
        <p:nvSpPr>
          <p:cNvPr id="11" name="图片占位符 10">
            <a:extLst>
              <a:ext uri="{FF2B5EF4-FFF2-40B4-BE49-F238E27FC236}">
                <a16:creationId xmlns:a16="http://schemas.microsoft.com/office/drawing/2014/main" id="{6B0B91E4-7011-4F01-BE8F-B3B90BB71BD2}"/>
              </a:ext>
            </a:extLst>
          </p:cNvPr>
          <p:cNvSpPr>
            <a:spLocks noGrp="1"/>
          </p:cNvSpPr>
          <p:nvPr>
            <p:ph type="pic" sz="quarter" idx="13"/>
          </p:nvPr>
        </p:nvSpPr>
        <p:spPr/>
        <p:txBody>
          <a:bodyPr/>
          <a:lstStyle/>
          <a:p>
            <a:endParaRPr lang="zh-CN" altLang="en-US"/>
          </a:p>
        </p:txBody>
      </p:sp>
      <p:sp>
        <p:nvSpPr>
          <p:cNvPr id="2" name="文本占位符 1">
            <a:extLst>
              <a:ext uri="{FF2B5EF4-FFF2-40B4-BE49-F238E27FC236}">
                <a16:creationId xmlns:a16="http://schemas.microsoft.com/office/drawing/2014/main" id="{F6256C89-942B-EE29-7C0B-AE8D06FFE5FE}"/>
              </a:ext>
            </a:extLst>
          </p:cNvPr>
          <p:cNvSpPr>
            <a:spLocks noGrp="1"/>
          </p:cNvSpPr>
          <p:nvPr>
            <p:ph type="body" idx="10"/>
          </p:nvPr>
        </p:nvSpPr>
        <p:spPr>
          <a:xfrm>
            <a:off x="320182" y="814273"/>
            <a:ext cx="11639524" cy="614593"/>
          </a:xfrm>
        </p:spPr>
        <p:txBody>
          <a:bodyPr/>
          <a:lstStyle/>
          <a:p>
            <a:r>
              <a:rPr lang="en-US" altLang="zh-CN" sz="1200" b="0">
                <a:cs typeface="Lato Light"/>
              </a:rPr>
              <a:t>The upfront service Report allows users to display upfront  service invoice amount and LT-AR balance by the end of reporting period</a:t>
            </a:r>
            <a:endParaRPr lang="en-US" altLang="zh-CN" sz="1200" b="0"/>
          </a:p>
          <a:p>
            <a:r>
              <a:rPr lang="en-US" altLang="zh-CN" sz="1200" b="0"/>
              <a:t>1</a:t>
            </a:r>
            <a:r>
              <a:rPr lang="zh-CN" altLang="en-US" sz="1200" b="0"/>
              <a:t>、</a:t>
            </a:r>
            <a:r>
              <a:rPr lang="en-US" altLang="zh-CN" sz="1200" b="0"/>
              <a:t>Display the detail information base on company code, </a:t>
            </a:r>
            <a:r>
              <a:rPr lang="en-US" altLang="zh-CN" sz="1200" b="0" err="1"/>
              <a:t>trancheID</a:t>
            </a:r>
            <a:r>
              <a:rPr lang="zh-CN" altLang="zh-CN" sz="1200" b="0"/>
              <a:t>，</a:t>
            </a:r>
            <a:r>
              <a:rPr lang="en-US" altLang="zh-CN" sz="1200" b="0"/>
              <a:t>master </a:t>
            </a:r>
            <a:r>
              <a:rPr lang="en-US" altLang="zh-CN" sz="1200" b="0" err="1"/>
              <a:t>agreement&amp;item</a:t>
            </a:r>
            <a:r>
              <a:rPr lang="en-US" altLang="zh-CN" sz="1200" b="0"/>
              <a:t>, Business partner, product, invoice &amp; FA document ;</a:t>
            </a:r>
          </a:p>
          <a:p>
            <a:r>
              <a:rPr lang="en-US" altLang="zh-CN" sz="1200" b="0"/>
              <a:t>2</a:t>
            </a:r>
            <a:r>
              <a:rPr lang="zh-CN" altLang="en-US" sz="1200" b="0"/>
              <a:t>、</a:t>
            </a:r>
            <a:r>
              <a:rPr lang="en-US" altLang="zh-CN" sz="1200" b="0"/>
              <a:t> LT-AR Balance=total terms* monthly invoice amount - invoice amount*current term; </a:t>
            </a:r>
            <a:endParaRPr lang="zh-CN" altLang="en-US" sz="1200" b="0"/>
          </a:p>
        </p:txBody>
      </p:sp>
      <p:sp>
        <p:nvSpPr>
          <p:cNvPr id="3" name="标题 2">
            <a:extLst>
              <a:ext uri="{FF2B5EF4-FFF2-40B4-BE49-F238E27FC236}">
                <a16:creationId xmlns:a16="http://schemas.microsoft.com/office/drawing/2014/main" id="{7CA3612F-615B-5BD9-4E45-EA5EFADB4F92}"/>
              </a:ext>
            </a:extLst>
          </p:cNvPr>
          <p:cNvSpPr>
            <a:spLocks noGrp="1"/>
          </p:cNvSpPr>
          <p:nvPr>
            <p:ph type="title"/>
          </p:nvPr>
        </p:nvSpPr>
        <p:spPr/>
        <p:txBody>
          <a:bodyPr/>
          <a:lstStyle/>
          <a:p>
            <a:r>
              <a:rPr lang="zh-CN" altLang="zh-CN">
                <a:latin typeface="+mn-lt"/>
              </a:rPr>
              <a:t>Upfront Service</a:t>
            </a:r>
            <a:r>
              <a:rPr lang="en-US" altLang="zh-CN">
                <a:latin typeface="+mn-lt"/>
              </a:rPr>
              <a:t> Report-Detail</a:t>
            </a:r>
            <a:r>
              <a:rPr lang="en-US" altLang="zh-CN"/>
              <a:t> </a:t>
            </a:r>
            <a:endParaRPr lang="zh-CN" altLang="en-US">
              <a:latin typeface="+mn-lt"/>
            </a:endParaRPr>
          </a:p>
        </p:txBody>
      </p:sp>
      <p:sp>
        <p:nvSpPr>
          <p:cNvPr id="31" name="Rectangle 35">
            <a:extLst>
              <a:ext uri="{FF2B5EF4-FFF2-40B4-BE49-F238E27FC236}">
                <a16:creationId xmlns:a16="http://schemas.microsoft.com/office/drawing/2014/main" id="{858C4A5D-3FC5-793C-AEB6-A148E93DE661}"/>
              </a:ext>
            </a:extLst>
          </p:cNvPr>
          <p:cNvSpPr/>
          <p:nvPr/>
        </p:nvSpPr>
        <p:spPr>
          <a:xfrm>
            <a:off x="545381" y="3281296"/>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3" name="Rectangle 35">
            <a:extLst>
              <a:ext uri="{FF2B5EF4-FFF2-40B4-BE49-F238E27FC236}">
                <a16:creationId xmlns:a16="http://schemas.microsoft.com/office/drawing/2014/main" id="{F24B856C-E4DA-86E9-ACDF-4642392F764C}"/>
              </a:ext>
            </a:extLst>
          </p:cNvPr>
          <p:cNvSpPr/>
          <p:nvPr/>
        </p:nvSpPr>
        <p:spPr>
          <a:xfrm>
            <a:off x="2411545" y="2825778"/>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744AD29E-07A4-A8E2-7292-5FFF57D0E8C6}"/>
              </a:ext>
            </a:extLst>
          </p:cNvPr>
          <p:cNvSpPr/>
          <p:nvPr/>
        </p:nvSpPr>
        <p:spPr>
          <a:xfrm>
            <a:off x="7359976" y="2845214"/>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7" name="Rectangle 35">
            <a:extLst>
              <a:ext uri="{FF2B5EF4-FFF2-40B4-BE49-F238E27FC236}">
                <a16:creationId xmlns:a16="http://schemas.microsoft.com/office/drawing/2014/main" id="{5227E74C-F727-CB05-C620-C4518A9B8DBA}"/>
              </a:ext>
            </a:extLst>
          </p:cNvPr>
          <p:cNvSpPr/>
          <p:nvPr/>
        </p:nvSpPr>
        <p:spPr>
          <a:xfrm>
            <a:off x="2761308" y="2404524"/>
            <a:ext cx="40205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9" name="Rectangle 35">
            <a:extLst>
              <a:ext uri="{FF2B5EF4-FFF2-40B4-BE49-F238E27FC236}">
                <a16:creationId xmlns:a16="http://schemas.microsoft.com/office/drawing/2014/main" id="{F0CD4F14-3767-E6F7-A872-463FDEBAD22D}"/>
              </a:ext>
            </a:extLst>
          </p:cNvPr>
          <p:cNvSpPr/>
          <p:nvPr/>
        </p:nvSpPr>
        <p:spPr>
          <a:xfrm>
            <a:off x="5938916" y="4542615"/>
            <a:ext cx="402054" cy="16517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539166DB-D401-20F6-9A74-50EBDAFACCEC}"/>
              </a:ext>
            </a:extLst>
          </p:cNvPr>
          <p:cNvSpPr/>
          <p:nvPr/>
        </p:nvSpPr>
        <p:spPr>
          <a:xfrm>
            <a:off x="6045879" y="2845214"/>
            <a:ext cx="1200495"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8449843D-F11B-F6F4-667D-481D1059A2D9}"/>
              </a:ext>
            </a:extLst>
          </p:cNvPr>
          <p:cNvSpPr/>
          <p:nvPr/>
        </p:nvSpPr>
        <p:spPr>
          <a:xfrm>
            <a:off x="8102637" y="3197495"/>
            <a:ext cx="402054"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15548064-0AA5-B0EC-F0F8-23A43C8E5ABD}"/>
              </a:ext>
            </a:extLst>
          </p:cNvPr>
          <p:cNvSpPr/>
          <p:nvPr/>
        </p:nvSpPr>
        <p:spPr>
          <a:xfrm>
            <a:off x="4914105" y="2845214"/>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83C00BD5-979E-822A-A42D-A1215849C27C}"/>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2E3D06B2-E603-E345-F8FD-509C1E23E760}"/>
              </a:ext>
            </a:extLst>
          </p:cNvPr>
          <p:cNvSpPr txBox="1"/>
          <p:nvPr/>
        </p:nvSpPr>
        <p:spPr>
          <a:xfrm>
            <a:off x="8988682" y="1743975"/>
            <a:ext cx="2790479"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2D2D8A">
                    <a:lumMod val="75000"/>
                    <a:lumOff val="25000"/>
                  </a:srgbClr>
                </a:solidFill>
                <a:effectLst/>
                <a:uLnTx/>
                <a:uFillTx/>
                <a:latin typeface="Aptos"/>
                <a:ea typeface="黑体"/>
                <a:cs typeface="Lato Regular"/>
              </a:rPr>
              <a:t>Search upfront service Data</a:t>
            </a:r>
          </a:p>
        </p:txBody>
      </p:sp>
      <p:sp>
        <p:nvSpPr>
          <p:cNvPr id="16" name="TextBox 73">
            <a:extLst>
              <a:ext uri="{FF2B5EF4-FFF2-40B4-BE49-F238E27FC236}">
                <a16:creationId xmlns:a16="http://schemas.microsoft.com/office/drawing/2014/main" id="{838209EE-EFD0-6FB3-33D7-670074D19D5A}"/>
              </a:ext>
            </a:extLst>
          </p:cNvPr>
          <p:cNvSpPr txBox="1"/>
          <p:nvPr/>
        </p:nvSpPr>
        <p:spPr>
          <a:xfrm>
            <a:off x="8986612" y="2004376"/>
            <a:ext cx="284510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Users can search upfront service records using company code and report date(mandatory) or more search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0000"/>
                </a:solidFill>
                <a:effectLst/>
                <a:uLnTx/>
                <a:uFillTx/>
                <a:latin typeface="Aptos"/>
                <a:ea typeface="黑体"/>
                <a:cs typeface="Lato Light"/>
              </a:rPr>
              <a:t>Summary&amp;Detail</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logical keep ASIS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17" name="Oval 111">
            <a:extLst>
              <a:ext uri="{FF2B5EF4-FFF2-40B4-BE49-F238E27FC236}">
                <a16:creationId xmlns:a16="http://schemas.microsoft.com/office/drawing/2014/main" id="{328CD1F1-C129-A094-7C3E-46EC6A29E2C0}"/>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1</a:t>
            </a:r>
          </a:p>
        </p:txBody>
      </p:sp>
      <p:sp>
        <p:nvSpPr>
          <p:cNvPr id="18" name="TextBox 82">
            <a:extLst>
              <a:ext uri="{FF2B5EF4-FFF2-40B4-BE49-F238E27FC236}">
                <a16:creationId xmlns:a16="http://schemas.microsoft.com/office/drawing/2014/main" id="{9DC71283-FEEA-A268-0EC9-3445767AAF9B}"/>
              </a:ext>
            </a:extLst>
          </p:cNvPr>
          <p:cNvSpPr txBox="1"/>
          <p:nvPr/>
        </p:nvSpPr>
        <p:spPr>
          <a:xfrm>
            <a:off x="9012978" y="2880623"/>
            <a:ext cx="193921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26C36"/>
                </a:solidFill>
                <a:effectLst/>
                <a:uLnTx/>
                <a:uFillTx/>
                <a:latin typeface="Aptos"/>
                <a:ea typeface="黑体"/>
                <a:cs typeface="Lato Regular"/>
              </a:rPr>
              <a:t>Result List</a:t>
            </a:r>
          </a:p>
        </p:txBody>
      </p:sp>
      <p:sp>
        <p:nvSpPr>
          <p:cNvPr id="19" name="Oval 112">
            <a:extLst>
              <a:ext uri="{FF2B5EF4-FFF2-40B4-BE49-F238E27FC236}">
                <a16:creationId xmlns:a16="http://schemas.microsoft.com/office/drawing/2014/main" id="{84CB42A6-D798-6795-A215-56168BF948E6}"/>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2</a:t>
            </a:r>
          </a:p>
        </p:txBody>
      </p:sp>
      <p:sp>
        <p:nvSpPr>
          <p:cNvPr id="20" name="TextBox 73">
            <a:extLst>
              <a:ext uri="{FF2B5EF4-FFF2-40B4-BE49-F238E27FC236}">
                <a16:creationId xmlns:a16="http://schemas.microsoft.com/office/drawing/2014/main" id="{EF39B405-39A1-8010-6E6D-CDC89A259459}"/>
              </a:ext>
            </a:extLst>
          </p:cNvPr>
          <p:cNvSpPr txBox="1"/>
          <p:nvPr/>
        </p:nvSpPr>
        <p:spPr>
          <a:xfrm>
            <a:off x="8986612" y="3217461"/>
            <a:ext cx="2845101"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APPLY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After input selection parameter, then using “Apply” to run report</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The Settings function allows users to personalize the result list layout.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Select which fields are displayed in the search results from Available list.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Export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Using “Export” to download the  report to excel to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analysis the reporting offline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Reset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 can use Reset  button to  reset  the search criteria and input new </a:t>
            </a:r>
            <a:r>
              <a:rPr kumimoji="0" lang="en-US" altLang="zh-CN" sz="1000" b="0" i="0" u="none" strike="noStrike" kern="1200" cap="none" spc="0" normalizeH="0" baseline="0" noProof="0" err="1">
                <a:ln>
                  <a:noFill/>
                </a:ln>
                <a:solidFill>
                  <a:srgbClr val="000000"/>
                </a:solidFill>
                <a:effectLst/>
                <a:uLnTx/>
                <a:uFillTx/>
                <a:latin typeface="Aptos"/>
                <a:ea typeface="黑体"/>
                <a:cs typeface="Lato Light"/>
              </a:rPr>
              <a:t>paramerter</a:t>
            </a: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Refresh</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User can use Refresh to update the report data</a:t>
            </a:r>
            <a:endParaRPr kumimoji="0" lang="en-US" altLang="zh-CN" sz="1000" b="0" i="0" u="none" strike="noStrike" kern="1200" cap="none" spc="0" normalizeH="0" baseline="0" noProof="0">
              <a:ln>
                <a:noFill/>
              </a:ln>
              <a:solidFill>
                <a:srgbClr val="000000"/>
              </a:solidFill>
              <a:effectLst/>
              <a:uLnTx/>
              <a:uFillTx/>
              <a:latin typeface="Aptos"/>
              <a:ea typeface="黑体"/>
              <a:cs typeface="+mn-cs"/>
            </a:endParaRPr>
          </a:p>
        </p:txBody>
      </p:sp>
      <p:sp>
        <p:nvSpPr>
          <p:cNvPr id="23" name="Rectangle 35">
            <a:extLst>
              <a:ext uri="{FF2B5EF4-FFF2-40B4-BE49-F238E27FC236}">
                <a16:creationId xmlns:a16="http://schemas.microsoft.com/office/drawing/2014/main" id="{92A668C1-9FEC-3029-9A38-9438267FA653}"/>
              </a:ext>
            </a:extLst>
          </p:cNvPr>
          <p:cNvSpPr/>
          <p:nvPr/>
        </p:nvSpPr>
        <p:spPr>
          <a:xfrm>
            <a:off x="545381" y="4199338"/>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25" name="Rectangle 35">
            <a:extLst>
              <a:ext uri="{FF2B5EF4-FFF2-40B4-BE49-F238E27FC236}">
                <a16:creationId xmlns:a16="http://schemas.microsoft.com/office/drawing/2014/main" id="{54BC066C-9BF2-C8E7-B37E-440B5DC207D0}"/>
              </a:ext>
            </a:extLst>
          </p:cNvPr>
          <p:cNvSpPr/>
          <p:nvPr/>
        </p:nvSpPr>
        <p:spPr>
          <a:xfrm>
            <a:off x="6889097" y="4542615"/>
            <a:ext cx="357277" cy="16517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27" name="Rectangle 35">
            <a:extLst>
              <a:ext uri="{FF2B5EF4-FFF2-40B4-BE49-F238E27FC236}">
                <a16:creationId xmlns:a16="http://schemas.microsoft.com/office/drawing/2014/main" id="{EFB631EF-B0E6-4416-2C18-DE03EE94DFE2}"/>
              </a:ext>
            </a:extLst>
          </p:cNvPr>
          <p:cNvSpPr/>
          <p:nvPr/>
        </p:nvSpPr>
        <p:spPr>
          <a:xfrm>
            <a:off x="7704364" y="4542615"/>
            <a:ext cx="496860" cy="16679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2" name="Rectangle 35">
            <a:extLst>
              <a:ext uri="{FF2B5EF4-FFF2-40B4-BE49-F238E27FC236}">
                <a16:creationId xmlns:a16="http://schemas.microsoft.com/office/drawing/2014/main" id="{02E31BF4-CC2E-2592-9EC9-125FD47A5653}"/>
              </a:ext>
            </a:extLst>
          </p:cNvPr>
          <p:cNvSpPr/>
          <p:nvPr/>
        </p:nvSpPr>
        <p:spPr>
          <a:xfrm>
            <a:off x="7279280" y="4542615"/>
            <a:ext cx="161392" cy="16517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Tree>
    <p:extLst>
      <p:ext uri="{BB962C8B-B14F-4D97-AF65-F5344CB8AC3E}">
        <p14:creationId xmlns:p14="http://schemas.microsoft.com/office/powerpoint/2010/main" val="372783234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EBA4-4808-4684-2437-F7B334B9E27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90433B27-C74B-C25B-7B76-098EBE43B706}"/>
              </a:ext>
            </a:extLst>
          </p:cNvPr>
          <p:cNvPicPr>
            <a:picLocks noChangeAspect="1"/>
          </p:cNvPicPr>
          <p:nvPr/>
        </p:nvPicPr>
        <p:blipFill>
          <a:blip r:embed="rId2"/>
          <a:stretch>
            <a:fillRect/>
          </a:stretch>
        </p:blipFill>
        <p:spPr>
          <a:xfrm>
            <a:off x="315249" y="2379146"/>
            <a:ext cx="8178458" cy="3226657"/>
          </a:xfrm>
          <a:prstGeom prst="rect">
            <a:avLst/>
          </a:prstGeom>
        </p:spPr>
      </p:pic>
      <p:sp>
        <p:nvSpPr>
          <p:cNvPr id="21" name="图片占位符 20">
            <a:extLst>
              <a:ext uri="{FF2B5EF4-FFF2-40B4-BE49-F238E27FC236}">
                <a16:creationId xmlns:a16="http://schemas.microsoft.com/office/drawing/2014/main" id="{D2B718E4-7D40-2D4B-939C-161A411AE77F}"/>
              </a:ext>
            </a:extLst>
          </p:cNvPr>
          <p:cNvSpPr>
            <a:spLocks noGrp="1"/>
          </p:cNvSpPr>
          <p:nvPr>
            <p:ph type="pic" sz="quarter" idx="13"/>
          </p:nvPr>
        </p:nvSpPr>
        <p:spPr/>
        <p:txBody>
          <a:bodyPr/>
          <a:lstStyle/>
          <a:p>
            <a:endParaRPr lang="zh-CN" altLang="en-US"/>
          </a:p>
        </p:txBody>
      </p:sp>
      <p:sp>
        <p:nvSpPr>
          <p:cNvPr id="2" name="文本占位符 1">
            <a:extLst>
              <a:ext uri="{FF2B5EF4-FFF2-40B4-BE49-F238E27FC236}">
                <a16:creationId xmlns:a16="http://schemas.microsoft.com/office/drawing/2014/main" id="{A79BA3CD-3A83-7B4C-C468-408F6099DD9F}"/>
              </a:ext>
            </a:extLst>
          </p:cNvPr>
          <p:cNvSpPr>
            <a:spLocks noGrp="1"/>
          </p:cNvSpPr>
          <p:nvPr>
            <p:ph type="body" idx="10"/>
          </p:nvPr>
        </p:nvSpPr>
        <p:spPr>
          <a:xfrm>
            <a:off x="339334" y="834614"/>
            <a:ext cx="11639524" cy="642272"/>
          </a:xfrm>
        </p:spPr>
        <p:txBody>
          <a:bodyPr/>
          <a:lstStyle/>
          <a:p>
            <a:r>
              <a:rPr lang="en-US" altLang="zh-CN" sz="1200" b="0">
                <a:cs typeface="Lato Light"/>
              </a:rPr>
              <a:t>The Report allows users to display upfront  service LT-AR balance base on </a:t>
            </a:r>
            <a:r>
              <a:rPr lang="en-US" altLang="zh-CN" sz="1200" b="0"/>
              <a:t>, </a:t>
            </a:r>
            <a:r>
              <a:rPr lang="en-US" altLang="zh-CN" sz="1200" b="0" err="1"/>
              <a:t>trancheID</a:t>
            </a:r>
            <a:r>
              <a:rPr lang="zh-CN" altLang="zh-CN" sz="1200" b="0"/>
              <a:t>，</a:t>
            </a:r>
            <a:r>
              <a:rPr lang="en-US" altLang="zh-CN" sz="1200" b="0"/>
              <a:t>master agreement  ,BP, product </a:t>
            </a:r>
            <a:r>
              <a:rPr lang="en-US" altLang="zh-CN" sz="1200" b="0">
                <a:cs typeface="Lato Light"/>
              </a:rPr>
              <a:t>by the end of reporting period</a:t>
            </a:r>
            <a:endParaRPr lang="en-US" altLang="zh-CN" sz="1200" b="0"/>
          </a:p>
          <a:p>
            <a:r>
              <a:rPr lang="en-US" altLang="zh-CN" sz="1200" b="0"/>
              <a:t>1</a:t>
            </a:r>
            <a:r>
              <a:rPr lang="zh-CN" altLang="en-US" sz="1200" b="0"/>
              <a:t>、</a:t>
            </a:r>
            <a:r>
              <a:rPr lang="en-US" altLang="zh-CN" sz="1200" b="0"/>
              <a:t>Summarize by company code, </a:t>
            </a:r>
            <a:r>
              <a:rPr lang="en-US" altLang="zh-CN" sz="1200" b="0" err="1"/>
              <a:t>trancheID</a:t>
            </a:r>
            <a:r>
              <a:rPr lang="zh-CN" altLang="zh-CN" sz="1200" b="0"/>
              <a:t>，</a:t>
            </a:r>
            <a:r>
              <a:rPr lang="en-US" altLang="zh-CN" sz="1200" b="0"/>
              <a:t>master agreement, Business partner, product </a:t>
            </a:r>
          </a:p>
          <a:p>
            <a:r>
              <a:rPr lang="en-US" altLang="zh-CN" sz="1200" b="0"/>
              <a:t>2</a:t>
            </a:r>
            <a:r>
              <a:rPr lang="zh-CN" altLang="en-US" sz="1200" b="0"/>
              <a:t>、</a:t>
            </a:r>
            <a:r>
              <a:rPr lang="en-US" altLang="zh-CN" sz="1200" b="0"/>
              <a:t> LT-AR Balance=total terms* monthly invoice amount - summarize invoice amount; </a:t>
            </a:r>
          </a:p>
          <a:p>
            <a:endParaRPr lang="zh-CN" altLang="en-US" sz="2000"/>
          </a:p>
        </p:txBody>
      </p:sp>
      <p:sp>
        <p:nvSpPr>
          <p:cNvPr id="3" name="标题 2">
            <a:extLst>
              <a:ext uri="{FF2B5EF4-FFF2-40B4-BE49-F238E27FC236}">
                <a16:creationId xmlns:a16="http://schemas.microsoft.com/office/drawing/2014/main" id="{32D02835-D183-93B4-DECC-ED6E47D03837}"/>
              </a:ext>
            </a:extLst>
          </p:cNvPr>
          <p:cNvSpPr>
            <a:spLocks noGrp="1"/>
          </p:cNvSpPr>
          <p:nvPr>
            <p:ph type="title"/>
          </p:nvPr>
        </p:nvSpPr>
        <p:spPr/>
        <p:txBody>
          <a:bodyPr/>
          <a:lstStyle/>
          <a:p>
            <a:r>
              <a:rPr lang="zh-CN" altLang="zh-CN">
                <a:latin typeface="+mn-lt"/>
              </a:rPr>
              <a:t>Upfront Service</a:t>
            </a:r>
            <a:r>
              <a:rPr lang="en-US" altLang="zh-CN">
                <a:latin typeface="+mn-lt"/>
              </a:rPr>
              <a:t> Report-Summary</a:t>
            </a:r>
            <a:r>
              <a:rPr lang="en-US" altLang="zh-CN"/>
              <a:t> </a:t>
            </a:r>
            <a:endParaRPr lang="zh-CN" altLang="en-US">
              <a:latin typeface="+mn-lt"/>
            </a:endParaRPr>
          </a:p>
        </p:txBody>
      </p:sp>
      <p:sp>
        <p:nvSpPr>
          <p:cNvPr id="31" name="Rectangle 35">
            <a:extLst>
              <a:ext uri="{FF2B5EF4-FFF2-40B4-BE49-F238E27FC236}">
                <a16:creationId xmlns:a16="http://schemas.microsoft.com/office/drawing/2014/main" id="{DA4F9ACD-26F7-ED3A-A666-3AFDC085CBF1}"/>
              </a:ext>
            </a:extLst>
          </p:cNvPr>
          <p:cNvSpPr/>
          <p:nvPr/>
        </p:nvSpPr>
        <p:spPr>
          <a:xfrm>
            <a:off x="525718" y="4689989"/>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3" name="Rectangle 35">
            <a:extLst>
              <a:ext uri="{FF2B5EF4-FFF2-40B4-BE49-F238E27FC236}">
                <a16:creationId xmlns:a16="http://schemas.microsoft.com/office/drawing/2014/main" id="{5A145B3A-A44A-5027-23F0-A4C6A6119493}"/>
              </a:ext>
            </a:extLst>
          </p:cNvPr>
          <p:cNvSpPr/>
          <p:nvPr/>
        </p:nvSpPr>
        <p:spPr>
          <a:xfrm>
            <a:off x="2310271" y="3136487"/>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D5F2ACDC-C449-9A5C-D101-55B3A6432AC2}"/>
              </a:ext>
            </a:extLst>
          </p:cNvPr>
          <p:cNvSpPr/>
          <p:nvPr/>
        </p:nvSpPr>
        <p:spPr>
          <a:xfrm>
            <a:off x="7911588" y="3560000"/>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7" name="Rectangle 35">
            <a:extLst>
              <a:ext uri="{FF2B5EF4-FFF2-40B4-BE49-F238E27FC236}">
                <a16:creationId xmlns:a16="http://schemas.microsoft.com/office/drawing/2014/main" id="{51A7E29F-637E-DA55-6564-A80078F728EF}"/>
              </a:ext>
            </a:extLst>
          </p:cNvPr>
          <p:cNvSpPr/>
          <p:nvPr/>
        </p:nvSpPr>
        <p:spPr>
          <a:xfrm>
            <a:off x="2334861" y="2621093"/>
            <a:ext cx="40205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6CD1397D-C53A-868A-3BA1-6D552F622860}"/>
              </a:ext>
            </a:extLst>
          </p:cNvPr>
          <p:cNvSpPr/>
          <p:nvPr/>
        </p:nvSpPr>
        <p:spPr>
          <a:xfrm>
            <a:off x="6007177" y="3138502"/>
            <a:ext cx="1170371" cy="1868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34757C5D-B332-1245-8F77-B6AEFDA7CF90}"/>
              </a:ext>
            </a:extLst>
          </p:cNvPr>
          <p:cNvSpPr/>
          <p:nvPr/>
        </p:nvSpPr>
        <p:spPr>
          <a:xfrm>
            <a:off x="7861671" y="4292515"/>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F5E98888-81D7-2CF5-B742-47066A1B1345}"/>
              </a:ext>
            </a:extLst>
          </p:cNvPr>
          <p:cNvSpPr/>
          <p:nvPr/>
        </p:nvSpPr>
        <p:spPr>
          <a:xfrm>
            <a:off x="4802748" y="3136486"/>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86C7B1AE-FFC2-81A6-C0BA-8A94E29B5CE0}"/>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A39047CE-F228-B772-1500-1B80A881800F}"/>
              </a:ext>
            </a:extLst>
          </p:cNvPr>
          <p:cNvSpPr txBox="1"/>
          <p:nvPr/>
        </p:nvSpPr>
        <p:spPr>
          <a:xfrm>
            <a:off x="8988682" y="1743975"/>
            <a:ext cx="2790479"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2D2D8A">
                    <a:lumMod val="75000"/>
                    <a:lumOff val="25000"/>
                  </a:srgbClr>
                </a:solidFill>
                <a:effectLst/>
                <a:uLnTx/>
                <a:uFillTx/>
                <a:latin typeface="Aptos"/>
                <a:ea typeface="黑体"/>
                <a:cs typeface="Lato Regular"/>
              </a:rPr>
              <a:t>Search upfront service Data</a:t>
            </a:r>
          </a:p>
        </p:txBody>
      </p:sp>
      <p:sp>
        <p:nvSpPr>
          <p:cNvPr id="16" name="TextBox 73">
            <a:extLst>
              <a:ext uri="{FF2B5EF4-FFF2-40B4-BE49-F238E27FC236}">
                <a16:creationId xmlns:a16="http://schemas.microsoft.com/office/drawing/2014/main" id="{EE08707F-EC2E-0DC3-5F34-819BA80E85F4}"/>
              </a:ext>
            </a:extLst>
          </p:cNvPr>
          <p:cNvSpPr txBox="1"/>
          <p:nvPr/>
        </p:nvSpPr>
        <p:spPr>
          <a:xfrm>
            <a:off x="8986612" y="2004376"/>
            <a:ext cx="284510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Users can search upfront service records using company code and report date(mandatory) or more search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0000"/>
                </a:solidFill>
                <a:effectLst/>
                <a:uLnTx/>
                <a:uFillTx/>
                <a:latin typeface="Aptos"/>
                <a:ea typeface="黑体"/>
                <a:cs typeface="Lato Light"/>
              </a:rPr>
              <a:t>Summary&amp;Detail</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logical keep ASIS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17" name="Oval 111">
            <a:extLst>
              <a:ext uri="{FF2B5EF4-FFF2-40B4-BE49-F238E27FC236}">
                <a16:creationId xmlns:a16="http://schemas.microsoft.com/office/drawing/2014/main" id="{CF167270-03B6-57AE-0B4E-E98FC9A54599}"/>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1</a:t>
            </a:r>
          </a:p>
        </p:txBody>
      </p:sp>
      <p:sp>
        <p:nvSpPr>
          <p:cNvPr id="18" name="TextBox 82">
            <a:extLst>
              <a:ext uri="{FF2B5EF4-FFF2-40B4-BE49-F238E27FC236}">
                <a16:creationId xmlns:a16="http://schemas.microsoft.com/office/drawing/2014/main" id="{9AA8AEDC-F597-A2CD-6191-CF3A630B0AFD}"/>
              </a:ext>
            </a:extLst>
          </p:cNvPr>
          <p:cNvSpPr txBox="1"/>
          <p:nvPr/>
        </p:nvSpPr>
        <p:spPr>
          <a:xfrm>
            <a:off x="9012978" y="2880623"/>
            <a:ext cx="193921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26C36"/>
                </a:solidFill>
                <a:effectLst/>
                <a:uLnTx/>
                <a:uFillTx/>
                <a:latin typeface="Aptos"/>
                <a:ea typeface="黑体"/>
                <a:cs typeface="Lato Regular"/>
              </a:rPr>
              <a:t>Result List</a:t>
            </a:r>
          </a:p>
        </p:txBody>
      </p:sp>
      <p:sp>
        <p:nvSpPr>
          <p:cNvPr id="19" name="Oval 112">
            <a:extLst>
              <a:ext uri="{FF2B5EF4-FFF2-40B4-BE49-F238E27FC236}">
                <a16:creationId xmlns:a16="http://schemas.microsoft.com/office/drawing/2014/main" id="{465FB485-94EE-1C0C-77A4-79DF9C3CE8F4}"/>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2</a:t>
            </a:r>
          </a:p>
        </p:txBody>
      </p:sp>
      <p:sp>
        <p:nvSpPr>
          <p:cNvPr id="20" name="TextBox 73">
            <a:extLst>
              <a:ext uri="{FF2B5EF4-FFF2-40B4-BE49-F238E27FC236}">
                <a16:creationId xmlns:a16="http://schemas.microsoft.com/office/drawing/2014/main" id="{FFB8C55D-C3E0-9F6E-8EAF-3A3D289CF31F}"/>
              </a:ext>
            </a:extLst>
          </p:cNvPr>
          <p:cNvSpPr txBox="1"/>
          <p:nvPr/>
        </p:nvSpPr>
        <p:spPr>
          <a:xfrm>
            <a:off x="8986612" y="3217461"/>
            <a:ext cx="2845101"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APPLY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After input selection parameter, then using “Apply” to run report</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The Settings function allows users to personalize the result list layout.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Select which fields are displayed in the search results from Available list.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Export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Using “Export” to download the  report to excel to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analysis the reporting offline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Reset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 can use Reset  button to  reset  the search criteria and input new </a:t>
            </a:r>
            <a:r>
              <a:rPr kumimoji="0" lang="en-US" altLang="zh-CN" sz="1000" b="0" i="0" u="none" strike="noStrike" kern="1200" cap="none" spc="0" normalizeH="0" baseline="0" noProof="0" err="1">
                <a:ln>
                  <a:noFill/>
                </a:ln>
                <a:solidFill>
                  <a:srgbClr val="000000"/>
                </a:solidFill>
                <a:effectLst/>
                <a:uLnTx/>
                <a:uFillTx/>
                <a:latin typeface="Aptos"/>
                <a:ea typeface="黑体"/>
                <a:cs typeface="Lato Light"/>
              </a:rPr>
              <a:t>paramerter</a:t>
            </a: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Refresh</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User can use Refresh to update the report data</a:t>
            </a:r>
            <a:endParaRPr kumimoji="0" lang="en-US" altLang="zh-CN" sz="1000" b="0" i="0" u="none" strike="noStrike" kern="1200" cap="none" spc="0" normalizeH="0" baseline="0" noProof="0">
              <a:ln>
                <a:noFill/>
              </a:ln>
              <a:solidFill>
                <a:srgbClr val="000000"/>
              </a:solidFill>
              <a:effectLst/>
              <a:uLnTx/>
              <a:uFillTx/>
              <a:latin typeface="Aptos"/>
              <a:ea typeface="黑体"/>
              <a:cs typeface="+mn-cs"/>
            </a:endParaRPr>
          </a:p>
        </p:txBody>
      </p:sp>
      <p:sp>
        <p:nvSpPr>
          <p:cNvPr id="11" name="Rectangle 35">
            <a:extLst>
              <a:ext uri="{FF2B5EF4-FFF2-40B4-BE49-F238E27FC236}">
                <a16:creationId xmlns:a16="http://schemas.microsoft.com/office/drawing/2014/main" id="{58633BFC-D1B4-90D7-1D9A-B21238CAEEA8}"/>
              </a:ext>
            </a:extLst>
          </p:cNvPr>
          <p:cNvSpPr/>
          <p:nvPr/>
        </p:nvSpPr>
        <p:spPr>
          <a:xfrm>
            <a:off x="7238078" y="3138502"/>
            <a:ext cx="1170371" cy="1868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23" name="Rectangle 35">
            <a:extLst>
              <a:ext uri="{FF2B5EF4-FFF2-40B4-BE49-F238E27FC236}">
                <a16:creationId xmlns:a16="http://schemas.microsoft.com/office/drawing/2014/main" id="{FBBA324E-48F5-EFFD-3D84-D8584C426FAE}"/>
              </a:ext>
            </a:extLst>
          </p:cNvPr>
          <p:cNvSpPr/>
          <p:nvPr/>
        </p:nvSpPr>
        <p:spPr>
          <a:xfrm>
            <a:off x="6675793" y="4999699"/>
            <a:ext cx="640534" cy="4473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Tree>
    <p:extLst>
      <p:ext uri="{BB962C8B-B14F-4D97-AF65-F5344CB8AC3E}">
        <p14:creationId xmlns:p14="http://schemas.microsoft.com/office/powerpoint/2010/main" val="39950876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54579-D8D7-3429-7BA8-D811D2BA852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D6A56AA-906A-0455-0A3B-2FC106A3D492}"/>
              </a:ext>
            </a:extLst>
          </p:cNvPr>
          <p:cNvPicPr>
            <a:picLocks noChangeAspect="1"/>
          </p:cNvPicPr>
          <p:nvPr/>
        </p:nvPicPr>
        <p:blipFill>
          <a:blip r:embed="rId2"/>
          <a:stretch>
            <a:fillRect/>
          </a:stretch>
        </p:blipFill>
        <p:spPr>
          <a:xfrm>
            <a:off x="354695" y="2151092"/>
            <a:ext cx="8282043" cy="3591042"/>
          </a:xfrm>
          <a:prstGeom prst="rect">
            <a:avLst/>
          </a:prstGeom>
        </p:spPr>
      </p:pic>
      <p:sp>
        <p:nvSpPr>
          <p:cNvPr id="2" name="文本占位符 1">
            <a:extLst>
              <a:ext uri="{FF2B5EF4-FFF2-40B4-BE49-F238E27FC236}">
                <a16:creationId xmlns:a16="http://schemas.microsoft.com/office/drawing/2014/main" id="{1595CD28-1636-3E3F-0A70-B6CF62BC05F5}"/>
              </a:ext>
            </a:extLst>
          </p:cNvPr>
          <p:cNvSpPr>
            <a:spLocks noGrp="1"/>
          </p:cNvSpPr>
          <p:nvPr>
            <p:ph type="body" idx="10"/>
          </p:nvPr>
        </p:nvSpPr>
        <p:spPr>
          <a:xfrm>
            <a:off x="320183" y="760300"/>
            <a:ext cx="11639524" cy="677766"/>
          </a:xfrm>
        </p:spPr>
        <p:txBody>
          <a:bodyPr/>
          <a:lstStyle/>
          <a:p>
            <a:r>
              <a:rPr lang="en-US" altLang="zh-CN" sz="1200" b="0">
                <a:cs typeface="Lato Light"/>
              </a:rPr>
              <a:t>The Report allows users to display upfront  tax invoice amount and LT-AR balance  base on invoice by the end of reporting period</a:t>
            </a:r>
            <a:endParaRPr lang="en-US" altLang="zh-CN" sz="1200" b="0"/>
          </a:p>
          <a:p>
            <a:r>
              <a:rPr lang="en-US" altLang="zh-CN" sz="1200" b="0" kern="1200">
                <a:solidFill>
                  <a:srgbClr val="000000"/>
                </a:solidFill>
                <a:latin typeface="Aptos"/>
              </a:rPr>
              <a:t>1</a:t>
            </a:r>
            <a:r>
              <a:rPr lang="zh-CN" altLang="en-US" sz="1200" b="0" kern="1200">
                <a:solidFill>
                  <a:srgbClr val="000000"/>
                </a:solidFill>
                <a:latin typeface="Aptos"/>
              </a:rPr>
              <a:t>、</a:t>
            </a:r>
            <a:r>
              <a:rPr lang="en-US" altLang="zh-CN" sz="1200" b="0"/>
              <a:t> Display the detail information </a:t>
            </a:r>
            <a:r>
              <a:rPr lang="en-US" altLang="zh-CN" sz="1200" b="0" kern="1200">
                <a:solidFill>
                  <a:srgbClr val="000000"/>
                </a:solidFill>
                <a:latin typeface="Aptos"/>
              </a:rPr>
              <a:t>for upfront tax  base on </a:t>
            </a:r>
            <a:r>
              <a:rPr lang="en-US" altLang="zh-CN" sz="1200" b="0"/>
              <a:t>company code, </a:t>
            </a:r>
            <a:r>
              <a:rPr lang="en-US" altLang="zh-CN" sz="1200" b="0" err="1"/>
              <a:t>trancheID</a:t>
            </a:r>
            <a:r>
              <a:rPr lang="zh-CN" altLang="zh-CN" sz="1200" b="0"/>
              <a:t>，</a:t>
            </a:r>
            <a:r>
              <a:rPr lang="en-US" altLang="zh-CN" sz="1200" b="0"/>
              <a:t>master agreement, Business partner, product ,invoice and FA document</a:t>
            </a:r>
            <a:r>
              <a:rPr lang="en-US" altLang="zh-CN" sz="1200" b="0" kern="1200">
                <a:solidFill>
                  <a:srgbClr val="000000"/>
                </a:solidFill>
                <a:latin typeface="Aptos"/>
              </a:rPr>
              <a:t>.</a:t>
            </a:r>
          </a:p>
          <a:p>
            <a:r>
              <a:rPr lang="en-US" altLang="zh-CN" sz="1200" b="0" kern="1200">
                <a:solidFill>
                  <a:srgbClr val="000000"/>
                </a:solidFill>
                <a:latin typeface="Aptos"/>
              </a:rPr>
              <a:t>2</a:t>
            </a:r>
            <a:r>
              <a:rPr lang="zh-CN" altLang="en-US" sz="1200" b="0" kern="1200">
                <a:solidFill>
                  <a:srgbClr val="000000"/>
                </a:solidFill>
                <a:latin typeface="Aptos"/>
              </a:rPr>
              <a:t>、</a:t>
            </a:r>
            <a:r>
              <a:rPr lang="zh-CN" altLang="en-US" sz="1200" b="0"/>
              <a:t> </a:t>
            </a:r>
            <a:r>
              <a:rPr lang="en-US" altLang="zh-CN" sz="1200" b="0"/>
              <a:t>LT-AR Balance=summary amount by , </a:t>
            </a:r>
            <a:r>
              <a:rPr lang="en-US" altLang="zh-CN" sz="1200" b="0" err="1"/>
              <a:t>trancheID</a:t>
            </a:r>
            <a:endParaRPr lang="en-US" altLang="zh-CN" sz="1200" b="0" kern="1200">
              <a:solidFill>
                <a:srgbClr val="000000"/>
              </a:solidFill>
              <a:latin typeface="Aptos"/>
            </a:endParaRPr>
          </a:p>
          <a:p>
            <a:endParaRPr lang="zh-CN" altLang="en-US" sz="2000"/>
          </a:p>
        </p:txBody>
      </p:sp>
      <p:sp>
        <p:nvSpPr>
          <p:cNvPr id="3" name="标题 2">
            <a:extLst>
              <a:ext uri="{FF2B5EF4-FFF2-40B4-BE49-F238E27FC236}">
                <a16:creationId xmlns:a16="http://schemas.microsoft.com/office/drawing/2014/main" id="{E9DEF38B-0AEE-77AD-E52F-52ECF0AD68F0}"/>
              </a:ext>
            </a:extLst>
          </p:cNvPr>
          <p:cNvSpPr>
            <a:spLocks noGrp="1"/>
          </p:cNvSpPr>
          <p:nvPr>
            <p:ph type="title"/>
          </p:nvPr>
        </p:nvSpPr>
        <p:spPr/>
        <p:txBody>
          <a:bodyPr/>
          <a:lstStyle/>
          <a:p>
            <a:r>
              <a:rPr lang="zh-CN" altLang="zh-CN">
                <a:latin typeface="+mn-lt"/>
              </a:rPr>
              <a:t>Upfront </a:t>
            </a:r>
            <a:r>
              <a:rPr lang="en-US" altLang="zh-CN">
                <a:latin typeface="+mn-lt"/>
              </a:rPr>
              <a:t>Tax Report-Detail</a:t>
            </a:r>
            <a:r>
              <a:rPr lang="en-US" altLang="zh-CN"/>
              <a:t> </a:t>
            </a:r>
            <a:endParaRPr lang="zh-CN" altLang="en-US">
              <a:latin typeface="+mn-lt"/>
            </a:endParaRPr>
          </a:p>
        </p:txBody>
      </p:sp>
      <p:sp>
        <p:nvSpPr>
          <p:cNvPr id="31" name="Rectangle 35">
            <a:extLst>
              <a:ext uri="{FF2B5EF4-FFF2-40B4-BE49-F238E27FC236}">
                <a16:creationId xmlns:a16="http://schemas.microsoft.com/office/drawing/2014/main" id="{48CA2CE6-EA58-6B46-FA93-8710B7AD483E}"/>
              </a:ext>
            </a:extLst>
          </p:cNvPr>
          <p:cNvSpPr/>
          <p:nvPr/>
        </p:nvSpPr>
        <p:spPr>
          <a:xfrm>
            <a:off x="412839" y="1680561"/>
            <a:ext cx="1999455" cy="2096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3" name="Rectangle 35">
            <a:extLst>
              <a:ext uri="{FF2B5EF4-FFF2-40B4-BE49-F238E27FC236}">
                <a16:creationId xmlns:a16="http://schemas.microsoft.com/office/drawing/2014/main" id="{F397623A-ED83-96D1-6C28-3704C4642320}"/>
              </a:ext>
            </a:extLst>
          </p:cNvPr>
          <p:cNvSpPr/>
          <p:nvPr/>
        </p:nvSpPr>
        <p:spPr>
          <a:xfrm>
            <a:off x="582210" y="2733626"/>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5FADE04E-BFE7-23E9-F341-401E2EFF1D57}"/>
              </a:ext>
            </a:extLst>
          </p:cNvPr>
          <p:cNvSpPr/>
          <p:nvPr/>
        </p:nvSpPr>
        <p:spPr>
          <a:xfrm>
            <a:off x="7953612" y="3162852"/>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9" name="Rectangle 35">
            <a:extLst>
              <a:ext uri="{FF2B5EF4-FFF2-40B4-BE49-F238E27FC236}">
                <a16:creationId xmlns:a16="http://schemas.microsoft.com/office/drawing/2014/main" id="{092B38F7-1DA4-862A-B56F-E4FDD2741DB9}"/>
              </a:ext>
            </a:extLst>
          </p:cNvPr>
          <p:cNvSpPr/>
          <p:nvPr/>
        </p:nvSpPr>
        <p:spPr>
          <a:xfrm>
            <a:off x="992757" y="2232729"/>
            <a:ext cx="40205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A451011D-B7A9-2C80-5CCB-88747D065E71}"/>
              </a:ext>
            </a:extLst>
          </p:cNvPr>
          <p:cNvSpPr/>
          <p:nvPr/>
        </p:nvSpPr>
        <p:spPr>
          <a:xfrm>
            <a:off x="6518452" y="3217461"/>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9F078C64-1C38-22F0-F154-FDAA3A31858C}"/>
              </a:ext>
            </a:extLst>
          </p:cNvPr>
          <p:cNvSpPr/>
          <p:nvPr/>
        </p:nvSpPr>
        <p:spPr>
          <a:xfrm>
            <a:off x="7848096" y="3925251"/>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3E44CE1E-6C63-1D2E-DEA8-BBC0E96E9B51}"/>
              </a:ext>
            </a:extLst>
          </p:cNvPr>
          <p:cNvSpPr/>
          <p:nvPr/>
        </p:nvSpPr>
        <p:spPr>
          <a:xfrm>
            <a:off x="3701530" y="2725550"/>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C965D45D-F987-9860-42B9-C45FB4BABFB4}"/>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596D44B7-3B5C-9ADF-32FD-359C15A1C38B}"/>
              </a:ext>
            </a:extLst>
          </p:cNvPr>
          <p:cNvSpPr txBox="1"/>
          <p:nvPr/>
        </p:nvSpPr>
        <p:spPr>
          <a:xfrm>
            <a:off x="8988682" y="1743975"/>
            <a:ext cx="2790479"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2D2D8A">
                    <a:lumMod val="75000"/>
                    <a:lumOff val="25000"/>
                  </a:srgbClr>
                </a:solidFill>
                <a:effectLst/>
                <a:uLnTx/>
                <a:uFillTx/>
                <a:latin typeface="Aptos"/>
                <a:ea typeface="黑体"/>
                <a:cs typeface="Lato Regular"/>
              </a:rPr>
              <a:t>Search upfront tax Data</a:t>
            </a:r>
          </a:p>
        </p:txBody>
      </p:sp>
      <p:sp>
        <p:nvSpPr>
          <p:cNvPr id="16" name="TextBox 73">
            <a:extLst>
              <a:ext uri="{FF2B5EF4-FFF2-40B4-BE49-F238E27FC236}">
                <a16:creationId xmlns:a16="http://schemas.microsoft.com/office/drawing/2014/main" id="{0E2075A3-4684-6BBB-AFE1-C41CF053E7AC}"/>
              </a:ext>
            </a:extLst>
          </p:cNvPr>
          <p:cNvSpPr txBox="1"/>
          <p:nvPr/>
        </p:nvSpPr>
        <p:spPr>
          <a:xfrm>
            <a:off x="8986612" y="2004376"/>
            <a:ext cx="284510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Users can search upfront tax records using company code and report date(mandatory) or more search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0000"/>
                </a:solidFill>
                <a:effectLst/>
                <a:uLnTx/>
                <a:uFillTx/>
                <a:latin typeface="Aptos"/>
                <a:ea typeface="黑体"/>
                <a:cs typeface="Lato Light"/>
              </a:rPr>
              <a:t>Summary&amp;Detail</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logical keep ASIS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17" name="Oval 111">
            <a:extLst>
              <a:ext uri="{FF2B5EF4-FFF2-40B4-BE49-F238E27FC236}">
                <a16:creationId xmlns:a16="http://schemas.microsoft.com/office/drawing/2014/main" id="{E08BF38A-D5C1-F3AC-7073-46719B8D3F0F}"/>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1</a:t>
            </a:r>
          </a:p>
        </p:txBody>
      </p:sp>
      <p:sp>
        <p:nvSpPr>
          <p:cNvPr id="18" name="TextBox 82">
            <a:extLst>
              <a:ext uri="{FF2B5EF4-FFF2-40B4-BE49-F238E27FC236}">
                <a16:creationId xmlns:a16="http://schemas.microsoft.com/office/drawing/2014/main" id="{675509CC-5C1C-7956-A819-1B5874D69DAA}"/>
              </a:ext>
            </a:extLst>
          </p:cNvPr>
          <p:cNvSpPr txBox="1"/>
          <p:nvPr/>
        </p:nvSpPr>
        <p:spPr>
          <a:xfrm>
            <a:off x="9012978" y="2880623"/>
            <a:ext cx="193921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26C36"/>
                </a:solidFill>
                <a:effectLst/>
                <a:uLnTx/>
                <a:uFillTx/>
                <a:latin typeface="Aptos"/>
                <a:ea typeface="黑体"/>
                <a:cs typeface="Lato Regular"/>
              </a:rPr>
              <a:t>Result List</a:t>
            </a:r>
          </a:p>
        </p:txBody>
      </p:sp>
      <p:sp>
        <p:nvSpPr>
          <p:cNvPr id="19" name="Oval 112">
            <a:extLst>
              <a:ext uri="{FF2B5EF4-FFF2-40B4-BE49-F238E27FC236}">
                <a16:creationId xmlns:a16="http://schemas.microsoft.com/office/drawing/2014/main" id="{C27534BC-A329-93A5-242E-D8FB287E1536}"/>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2</a:t>
            </a:r>
          </a:p>
        </p:txBody>
      </p:sp>
      <p:sp>
        <p:nvSpPr>
          <p:cNvPr id="20" name="TextBox 73">
            <a:extLst>
              <a:ext uri="{FF2B5EF4-FFF2-40B4-BE49-F238E27FC236}">
                <a16:creationId xmlns:a16="http://schemas.microsoft.com/office/drawing/2014/main" id="{1400CEAD-C34B-E08B-29F3-47E16C1C8C87}"/>
              </a:ext>
            </a:extLst>
          </p:cNvPr>
          <p:cNvSpPr txBox="1"/>
          <p:nvPr/>
        </p:nvSpPr>
        <p:spPr>
          <a:xfrm>
            <a:off x="8986612" y="3217461"/>
            <a:ext cx="2845101"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APPLY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After input selection parameter, then using “Apply” to run report</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The Settings function allows users to personalize the result list layout.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Select which fields are displayed in the search results from Available list.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Export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Using “Export” to download the  report to excel to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analysis the reporting offline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Reset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 can use Reset  button to  reset  the search criteria and input new parameters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Refresh</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User can use Refresh to update the report data</a:t>
            </a:r>
            <a:endParaRPr kumimoji="0" lang="en-US" altLang="zh-CN" sz="1000" b="0" i="0" u="none" strike="noStrike" kern="1200" cap="none" spc="0" normalizeH="0" baseline="0" noProof="0">
              <a:ln>
                <a:noFill/>
              </a:ln>
              <a:solidFill>
                <a:srgbClr val="000000"/>
              </a:solidFill>
              <a:effectLst/>
              <a:uLnTx/>
              <a:uFillTx/>
              <a:latin typeface="Aptos"/>
              <a:ea typeface="黑体"/>
              <a:cs typeface="+mn-cs"/>
            </a:endParaRPr>
          </a:p>
        </p:txBody>
      </p:sp>
      <p:sp>
        <p:nvSpPr>
          <p:cNvPr id="11" name="Rectangle 35">
            <a:extLst>
              <a:ext uri="{FF2B5EF4-FFF2-40B4-BE49-F238E27FC236}">
                <a16:creationId xmlns:a16="http://schemas.microsoft.com/office/drawing/2014/main" id="{A79C6691-D915-78D8-2FAE-A7C416BA9C38}"/>
              </a:ext>
            </a:extLst>
          </p:cNvPr>
          <p:cNvSpPr/>
          <p:nvPr/>
        </p:nvSpPr>
        <p:spPr>
          <a:xfrm>
            <a:off x="3460640" y="4556665"/>
            <a:ext cx="640534" cy="1627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3" name="Rectangle 35">
            <a:extLst>
              <a:ext uri="{FF2B5EF4-FFF2-40B4-BE49-F238E27FC236}">
                <a16:creationId xmlns:a16="http://schemas.microsoft.com/office/drawing/2014/main" id="{6B6BD6EC-639E-3776-DEAF-704F888D5F76}"/>
              </a:ext>
            </a:extLst>
          </p:cNvPr>
          <p:cNvSpPr/>
          <p:nvPr/>
        </p:nvSpPr>
        <p:spPr>
          <a:xfrm>
            <a:off x="5340452" y="4556665"/>
            <a:ext cx="640534" cy="1627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Tree>
    <p:extLst>
      <p:ext uri="{BB962C8B-B14F-4D97-AF65-F5344CB8AC3E}">
        <p14:creationId xmlns:p14="http://schemas.microsoft.com/office/powerpoint/2010/main" val="341484835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471E4-7B2E-64D7-3604-3BC11592912E}"/>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F818FE12-BAC8-F90B-4326-62A36CC0CA54}"/>
              </a:ext>
            </a:extLst>
          </p:cNvPr>
          <p:cNvPicPr>
            <a:picLocks noChangeAspect="1"/>
          </p:cNvPicPr>
          <p:nvPr/>
        </p:nvPicPr>
        <p:blipFill>
          <a:blip r:embed="rId2"/>
          <a:stretch>
            <a:fillRect/>
          </a:stretch>
        </p:blipFill>
        <p:spPr>
          <a:xfrm>
            <a:off x="222080" y="2232767"/>
            <a:ext cx="8271626" cy="2778749"/>
          </a:xfrm>
          <a:prstGeom prst="rect">
            <a:avLst/>
          </a:prstGeom>
        </p:spPr>
      </p:pic>
      <p:sp>
        <p:nvSpPr>
          <p:cNvPr id="2" name="文本占位符 1">
            <a:extLst>
              <a:ext uri="{FF2B5EF4-FFF2-40B4-BE49-F238E27FC236}">
                <a16:creationId xmlns:a16="http://schemas.microsoft.com/office/drawing/2014/main" id="{74D9711F-5144-20E2-0750-08B34FC04343}"/>
              </a:ext>
            </a:extLst>
          </p:cNvPr>
          <p:cNvSpPr>
            <a:spLocks noGrp="1"/>
          </p:cNvSpPr>
          <p:nvPr>
            <p:ph type="body" idx="10"/>
          </p:nvPr>
        </p:nvSpPr>
        <p:spPr>
          <a:xfrm>
            <a:off x="320183" y="920242"/>
            <a:ext cx="11639524" cy="694599"/>
          </a:xfrm>
        </p:spPr>
        <p:txBody>
          <a:bodyPr/>
          <a:lstStyle/>
          <a:p>
            <a:r>
              <a:rPr lang="en-US" altLang="zh-CN" sz="1200" b="0">
                <a:cs typeface="Lato Light"/>
              </a:rPr>
              <a:t>The Report allows users to display upfront  tax LT-AR balance base on </a:t>
            </a:r>
            <a:r>
              <a:rPr lang="en-US" altLang="zh-CN" sz="1200" b="0"/>
              <a:t>, </a:t>
            </a:r>
            <a:r>
              <a:rPr lang="en-US" altLang="zh-CN" sz="1200" b="0" err="1"/>
              <a:t>trancheID</a:t>
            </a:r>
            <a:r>
              <a:rPr lang="zh-CN" altLang="zh-CN" sz="1200" b="0"/>
              <a:t>，</a:t>
            </a:r>
            <a:r>
              <a:rPr lang="en-US" altLang="zh-CN" sz="1200" b="0"/>
              <a:t>master agreement  ,BP ,product  </a:t>
            </a:r>
            <a:r>
              <a:rPr lang="en-US" altLang="zh-CN" sz="1200" b="0">
                <a:cs typeface="Lato Light"/>
              </a:rPr>
              <a:t>by the end of reporting period</a:t>
            </a:r>
            <a:endParaRPr lang="en-US" altLang="zh-CN" sz="1200" b="0"/>
          </a:p>
          <a:p>
            <a:r>
              <a:rPr lang="en-US" altLang="zh-CN" sz="1200" b="0"/>
              <a:t>1</a:t>
            </a:r>
            <a:r>
              <a:rPr lang="zh-CN" altLang="en-US" sz="1200" b="0"/>
              <a:t>、</a:t>
            </a:r>
            <a:r>
              <a:rPr lang="en-US" altLang="zh-CN" sz="1200" b="0"/>
              <a:t>Summarize </a:t>
            </a:r>
            <a:r>
              <a:rPr lang="en-US" altLang="zh-CN" sz="1200" b="0" kern="1200">
                <a:solidFill>
                  <a:srgbClr val="000000"/>
                </a:solidFill>
                <a:latin typeface="Aptos"/>
              </a:rPr>
              <a:t>base on </a:t>
            </a:r>
            <a:r>
              <a:rPr lang="en-US" altLang="zh-CN" sz="1200" b="0"/>
              <a:t>company code, </a:t>
            </a:r>
            <a:r>
              <a:rPr lang="en-US" altLang="zh-CN" sz="1200" b="0" err="1"/>
              <a:t>trancheID</a:t>
            </a:r>
            <a:r>
              <a:rPr lang="zh-CN" altLang="zh-CN" sz="1200" b="0"/>
              <a:t>，</a:t>
            </a:r>
            <a:r>
              <a:rPr lang="en-US" altLang="zh-CN" sz="1200" b="0"/>
              <a:t>master agreement, Business partner, product </a:t>
            </a:r>
            <a:r>
              <a:rPr lang="en-US" altLang="zh-CN" sz="1200" b="0" kern="1200">
                <a:solidFill>
                  <a:srgbClr val="000000"/>
                </a:solidFill>
                <a:latin typeface="Aptos"/>
              </a:rPr>
              <a:t>.</a:t>
            </a:r>
          </a:p>
          <a:p>
            <a:r>
              <a:rPr lang="en-US" altLang="zh-CN" sz="1200" b="0" kern="1200">
                <a:solidFill>
                  <a:srgbClr val="000000"/>
                </a:solidFill>
                <a:latin typeface="Aptos"/>
              </a:rPr>
              <a:t>2</a:t>
            </a:r>
            <a:r>
              <a:rPr lang="zh-CN" altLang="en-US" sz="1200" b="0" kern="1200">
                <a:solidFill>
                  <a:srgbClr val="000000"/>
                </a:solidFill>
                <a:latin typeface="Aptos"/>
              </a:rPr>
              <a:t>、</a:t>
            </a:r>
            <a:r>
              <a:rPr lang="en-US" altLang="zh-CN" sz="1200" b="0"/>
              <a:t> LT-AR Balance=summary amount by   company </a:t>
            </a:r>
            <a:r>
              <a:rPr lang="en-US" altLang="zh-CN" sz="1200" b="0" err="1"/>
              <a:t>code,trancheID</a:t>
            </a:r>
            <a:r>
              <a:rPr lang="zh-CN" altLang="en-US" sz="1200" b="0"/>
              <a:t>，</a:t>
            </a:r>
            <a:r>
              <a:rPr lang="en-US" altLang="zh-CN" sz="1200" b="0"/>
              <a:t> master agreement</a:t>
            </a:r>
            <a:r>
              <a:rPr lang="zh-CN" altLang="en-US" sz="1200" b="0"/>
              <a:t>，</a:t>
            </a:r>
            <a:r>
              <a:rPr lang="en-US" altLang="zh-CN" sz="1200" b="0"/>
              <a:t>Business partner</a:t>
            </a:r>
            <a:r>
              <a:rPr lang="en-US" altLang="zh-CN" sz="1200" b="0" kern="1200">
                <a:solidFill>
                  <a:srgbClr val="000000"/>
                </a:solidFill>
                <a:latin typeface="Aptos"/>
              </a:rPr>
              <a:t>.</a:t>
            </a:r>
          </a:p>
          <a:p>
            <a:endParaRPr lang="en-US" altLang="zh-CN" sz="1200" b="0" kern="1200">
              <a:solidFill>
                <a:srgbClr val="000000"/>
              </a:solidFill>
              <a:latin typeface="Aptos"/>
            </a:endParaRPr>
          </a:p>
          <a:p>
            <a:endParaRPr lang="zh-CN" altLang="en-US" sz="2000"/>
          </a:p>
        </p:txBody>
      </p:sp>
      <p:sp>
        <p:nvSpPr>
          <p:cNvPr id="3" name="标题 2">
            <a:extLst>
              <a:ext uri="{FF2B5EF4-FFF2-40B4-BE49-F238E27FC236}">
                <a16:creationId xmlns:a16="http://schemas.microsoft.com/office/drawing/2014/main" id="{7A8619A4-8C47-54E1-0510-C0322FFC91A8}"/>
              </a:ext>
            </a:extLst>
          </p:cNvPr>
          <p:cNvSpPr>
            <a:spLocks noGrp="1"/>
          </p:cNvSpPr>
          <p:nvPr>
            <p:ph type="title"/>
          </p:nvPr>
        </p:nvSpPr>
        <p:spPr/>
        <p:txBody>
          <a:bodyPr/>
          <a:lstStyle/>
          <a:p>
            <a:r>
              <a:rPr lang="zh-CN" altLang="zh-CN">
                <a:latin typeface="+mn-lt"/>
              </a:rPr>
              <a:t>Upfront </a:t>
            </a:r>
            <a:r>
              <a:rPr lang="en-US" altLang="zh-CN">
                <a:latin typeface="+mn-lt"/>
              </a:rPr>
              <a:t>Tax Report-Summary</a:t>
            </a:r>
            <a:r>
              <a:rPr lang="en-US" altLang="zh-CN"/>
              <a:t> </a:t>
            </a:r>
            <a:endParaRPr lang="zh-CN" altLang="en-US">
              <a:latin typeface="+mn-lt"/>
            </a:endParaRPr>
          </a:p>
        </p:txBody>
      </p:sp>
      <p:sp>
        <p:nvSpPr>
          <p:cNvPr id="31" name="Rectangle 35">
            <a:extLst>
              <a:ext uri="{FF2B5EF4-FFF2-40B4-BE49-F238E27FC236}">
                <a16:creationId xmlns:a16="http://schemas.microsoft.com/office/drawing/2014/main" id="{5D0B3A6A-C0C5-4FAC-7BEB-01758D98A52F}"/>
              </a:ext>
            </a:extLst>
          </p:cNvPr>
          <p:cNvSpPr/>
          <p:nvPr/>
        </p:nvSpPr>
        <p:spPr>
          <a:xfrm>
            <a:off x="5714586" y="4503034"/>
            <a:ext cx="763127" cy="196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A4F16B33-C77C-9D41-F31C-7F92078A5E1C}"/>
              </a:ext>
            </a:extLst>
          </p:cNvPr>
          <p:cNvSpPr/>
          <p:nvPr/>
        </p:nvSpPr>
        <p:spPr>
          <a:xfrm>
            <a:off x="7884788" y="3330001"/>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7" name="Rectangle 35">
            <a:extLst>
              <a:ext uri="{FF2B5EF4-FFF2-40B4-BE49-F238E27FC236}">
                <a16:creationId xmlns:a16="http://schemas.microsoft.com/office/drawing/2014/main" id="{3A0BB878-F503-F2E2-2B56-02E20CA1C382}"/>
              </a:ext>
            </a:extLst>
          </p:cNvPr>
          <p:cNvSpPr/>
          <p:nvPr/>
        </p:nvSpPr>
        <p:spPr>
          <a:xfrm>
            <a:off x="447066" y="2275965"/>
            <a:ext cx="40205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9" name="Rectangle 35">
            <a:extLst>
              <a:ext uri="{FF2B5EF4-FFF2-40B4-BE49-F238E27FC236}">
                <a16:creationId xmlns:a16="http://schemas.microsoft.com/office/drawing/2014/main" id="{6609B77A-FCC2-8B71-6E85-E68F0C0A84FF}"/>
              </a:ext>
            </a:extLst>
          </p:cNvPr>
          <p:cNvSpPr/>
          <p:nvPr/>
        </p:nvSpPr>
        <p:spPr>
          <a:xfrm>
            <a:off x="447066" y="2841850"/>
            <a:ext cx="40205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25B20F51-613A-3012-A944-F4A0678D1C82}"/>
              </a:ext>
            </a:extLst>
          </p:cNvPr>
          <p:cNvSpPr/>
          <p:nvPr/>
        </p:nvSpPr>
        <p:spPr>
          <a:xfrm>
            <a:off x="6518452" y="3345282"/>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D6852329-0D57-4A22-B5A5-5BEC33A61935}"/>
              </a:ext>
            </a:extLst>
          </p:cNvPr>
          <p:cNvSpPr/>
          <p:nvPr/>
        </p:nvSpPr>
        <p:spPr>
          <a:xfrm>
            <a:off x="7886729" y="3943337"/>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18401435-066E-C4C2-617C-C650D132DBBE}"/>
              </a:ext>
            </a:extLst>
          </p:cNvPr>
          <p:cNvSpPr/>
          <p:nvPr/>
        </p:nvSpPr>
        <p:spPr>
          <a:xfrm>
            <a:off x="3632707" y="2853919"/>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EDE7E135-6316-BA9B-AB08-7851BD263131}"/>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5FFD7DDB-AC9A-11E1-610B-A1AEBDF84198}"/>
              </a:ext>
            </a:extLst>
          </p:cNvPr>
          <p:cNvSpPr txBox="1"/>
          <p:nvPr/>
        </p:nvSpPr>
        <p:spPr>
          <a:xfrm>
            <a:off x="8988682" y="1743975"/>
            <a:ext cx="2790479"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2D2D8A">
                    <a:lumMod val="75000"/>
                    <a:lumOff val="25000"/>
                  </a:srgbClr>
                </a:solidFill>
                <a:effectLst/>
                <a:uLnTx/>
                <a:uFillTx/>
                <a:latin typeface="Aptos"/>
                <a:ea typeface="黑体"/>
                <a:cs typeface="Lato Regular"/>
              </a:rPr>
              <a:t>Search upfront tax Data</a:t>
            </a:r>
          </a:p>
        </p:txBody>
      </p:sp>
      <p:sp>
        <p:nvSpPr>
          <p:cNvPr id="16" name="TextBox 73">
            <a:extLst>
              <a:ext uri="{FF2B5EF4-FFF2-40B4-BE49-F238E27FC236}">
                <a16:creationId xmlns:a16="http://schemas.microsoft.com/office/drawing/2014/main" id="{B951FD0E-7039-C1A4-360E-64A6B08B30AA}"/>
              </a:ext>
            </a:extLst>
          </p:cNvPr>
          <p:cNvSpPr txBox="1"/>
          <p:nvPr/>
        </p:nvSpPr>
        <p:spPr>
          <a:xfrm>
            <a:off x="8986612" y="2004376"/>
            <a:ext cx="284510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Users can search upfront tax records using company code and report date(mandatory) or more search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000000"/>
                </a:solidFill>
                <a:effectLst/>
                <a:uLnTx/>
                <a:uFillTx/>
                <a:latin typeface="Aptos"/>
                <a:ea typeface="黑体"/>
                <a:cs typeface="Lato Light"/>
              </a:rPr>
              <a:t>Summary&amp;Detail</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logical keep ASIS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p:txBody>
      </p:sp>
      <p:sp>
        <p:nvSpPr>
          <p:cNvPr id="17" name="Oval 111">
            <a:extLst>
              <a:ext uri="{FF2B5EF4-FFF2-40B4-BE49-F238E27FC236}">
                <a16:creationId xmlns:a16="http://schemas.microsoft.com/office/drawing/2014/main" id="{DBDA34DD-4F50-42EC-0C6D-F1FD4ADDFCB6}"/>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1</a:t>
            </a:r>
          </a:p>
        </p:txBody>
      </p:sp>
      <p:sp>
        <p:nvSpPr>
          <p:cNvPr id="18" name="TextBox 82">
            <a:extLst>
              <a:ext uri="{FF2B5EF4-FFF2-40B4-BE49-F238E27FC236}">
                <a16:creationId xmlns:a16="http://schemas.microsoft.com/office/drawing/2014/main" id="{093A60DB-7367-5377-BEE8-336F0742E833}"/>
              </a:ext>
            </a:extLst>
          </p:cNvPr>
          <p:cNvSpPr txBox="1"/>
          <p:nvPr/>
        </p:nvSpPr>
        <p:spPr>
          <a:xfrm>
            <a:off x="9012978" y="2880623"/>
            <a:ext cx="193921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26C36"/>
                </a:solidFill>
                <a:effectLst/>
                <a:uLnTx/>
                <a:uFillTx/>
                <a:latin typeface="Aptos"/>
                <a:ea typeface="黑体"/>
                <a:cs typeface="Lato Regular"/>
              </a:rPr>
              <a:t>Result List</a:t>
            </a:r>
          </a:p>
        </p:txBody>
      </p:sp>
      <p:sp>
        <p:nvSpPr>
          <p:cNvPr id="19" name="Oval 112">
            <a:extLst>
              <a:ext uri="{FF2B5EF4-FFF2-40B4-BE49-F238E27FC236}">
                <a16:creationId xmlns:a16="http://schemas.microsoft.com/office/drawing/2014/main" id="{B07F390C-FC61-5D45-918B-8A6682F0FC04}"/>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2</a:t>
            </a:r>
          </a:p>
        </p:txBody>
      </p:sp>
      <p:sp>
        <p:nvSpPr>
          <p:cNvPr id="20" name="TextBox 73">
            <a:extLst>
              <a:ext uri="{FF2B5EF4-FFF2-40B4-BE49-F238E27FC236}">
                <a16:creationId xmlns:a16="http://schemas.microsoft.com/office/drawing/2014/main" id="{AC91D9F0-7F10-77DF-06ED-D0605E59C28B}"/>
              </a:ext>
            </a:extLst>
          </p:cNvPr>
          <p:cNvSpPr txBox="1"/>
          <p:nvPr/>
        </p:nvSpPr>
        <p:spPr>
          <a:xfrm>
            <a:off x="8986612" y="3217461"/>
            <a:ext cx="2845101"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APPLY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After input selection parameter, then using “Apply” to run report</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The Settings function allows users to personalize the result list layout.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Select which fields are displayed in the search results from Available list.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Export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Using “Export” to download the  report to excel to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analysis the reporting offline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Reset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 can use Reset  button to  reset  the search criteria and input new parameters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Refresh</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User can use Refresh to update the report data</a:t>
            </a:r>
            <a:endParaRPr kumimoji="0" lang="en-US" altLang="zh-CN" sz="1000" b="0" i="0" u="none" strike="noStrike" kern="1200" cap="none" spc="0" normalizeH="0" baseline="0" noProof="0">
              <a:ln>
                <a:noFill/>
              </a:ln>
              <a:solidFill>
                <a:srgbClr val="000000"/>
              </a:solidFill>
              <a:effectLst/>
              <a:uLnTx/>
              <a:uFillTx/>
              <a:latin typeface="Aptos"/>
              <a:ea typeface="黑体"/>
              <a:cs typeface="+mn-cs"/>
            </a:endParaRPr>
          </a:p>
        </p:txBody>
      </p:sp>
    </p:spTree>
    <p:extLst>
      <p:ext uri="{BB962C8B-B14F-4D97-AF65-F5344CB8AC3E}">
        <p14:creationId xmlns:p14="http://schemas.microsoft.com/office/powerpoint/2010/main" val="1499826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7B454-90A6-B352-86EC-82F5C3E1A488}"/>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5A1F0803-70F8-E043-4D9F-B011F7B32280}"/>
              </a:ext>
            </a:extLst>
          </p:cNvPr>
          <p:cNvPicPr>
            <a:picLocks noChangeAspect="1"/>
          </p:cNvPicPr>
          <p:nvPr/>
        </p:nvPicPr>
        <p:blipFill>
          <a:blip r:embed="rId3"/>
          <a:stretch>
            <a:fillRect/>
          </a:stretch>
        </p:blipFill>
        <p:spPr>
          <a:xfrm>
            <a:off x="360286" y="2141001"/>
            <a:ext cx="8224711" cy="3662566"/>
          </a:xfrm>
          <a:prstGeom prst="rect">
            <a:avLst/>
          </a:prstGeom>
        </p:spPr>
      </p:pic>
      <p:sp>
        <p:nvSpPr>
          <p:cNvPr id="2" name="文本占位符 1">
            <a:extLst>
              <a:ext uri="{FF2B5EF4-FFF2-40B4-BE49-F238E27FC236}">
                <a16:creationId xmlns:a16="http://schemas.microsoft.com/office/drawing/2014/main" id="{589EC953-A863-4F88-AE8D-3FF2CED34E4A}"/>
              </a:ext>
            </a:extLst>
          </p:cNvPr>
          <p:cNvSpPr>
            <a:spLocks noGrp="1"/>
          </p:cNvSpPr>
          <p:nvPr>
            <p:ph type="body" idx="10"/>
          </p:nvPr>
        </p:nvSpPr>
        <p:spPr>
          <a:xfrm>
            <a:off x="320183" y="920242"/>
            <a:ext cx="11639524" cy="705665"/>
          </a:xfrm>
        </p:spPr>
        <p:txBody>
          <a:bodyPr/>
          <a:lstStyle/>
          <a:p>
            <a:r>
              <a:rPr lang="en-US" altLang="zh-CN" sz="1200" b="0">
                <a:cs typeface="Lato Light"/>
              </a:rPr>
              <a:t>The Report allows users to display IAAS invoice detail information by the end of reporting period</a:t>
            </a:r>
            <a:endParaRPr lang="en-US" altLang="zh-CN" sz="1200" b="0"/>
          </a:p>
          <a:p>
            <a:r>
              <a:rPr lang="en-US" altLang="zh-CN" sz="1200" b="0" kern="1200">
                <a:solidFill>
                  <a:srgbClr val="000000"/>
                </a:solidFill>
                <a:latin typeface="Aptos"/>
              </a:rPr>
              <a:t>1</a:t>
            </a:r>
            <a:r>
              <a:rPr lang="zh-CN" altLang="en-US" sz="1200" b="0" kern="1200">
                <a:solidFill>
                  <a:srgbClr val="000000"/>
                </a:solidFill>
                <a:latin typeface="Aptos"/>
              </a:rPr>
              <a:t>、</a:t>
            </a:r>
            <a:r>
              <a:rPr lang="en-US" altLang="zh-CN" sz="1200" b="0" kern="1200">
                <a:solidFill>
                  <a:srgbClr val="000000"/>
                </a:solidFill>
                <a:latin typeface="Aptos"/>
              </a:rPr>
              <a:t>Display  company code,</a:t>
            </a:r>
            <a:r>
              <a:rPr lang="en-US" altLang="zh-CN"/>
              <a:t> </a:t>
            </a:r>
            <a:r>
              <a:rPr lang="en-US" altLang="zh-CN" sz="1200" b="0">
                <a:cs typeface="Lato Light"/>
              </a:rPr>
              <a:t>invoice</a:t>
            </a:r>
            <a:r>
              <a:rPr lang="en-US" altLang="zh-CN" sz="1200">
                <a:cs typeface="Lato Light"/>
              </a:rPr>
              <a:t> ,</a:t>
            </a:r>
            <a:r>
              <a:rPr lang="en-US" altLang="zh-CN" sz="1200" b="0">
                <a:cs typeface="Lato Light"/>
              </a:rPr>
              <a:t>FA document , account, PC, contract, product, OPPID, WBS , </a:t>
            </a:r>
          </a:p>
          <a:p>
            <a:r>
              <a:rPr lang="en-US" altLang="zh-CN" sz="1200" b="0">
                <a:cs typeface="Lato Light"/>
              </a:rPr>
              <a:t>2</a:t>
            </a:r>
            <a:r>
              <a:rPr lang="zh-CN" altLang="en-US" sz="1200" b="0">
                <a:cs typeface="Lato Light"/>
              </a:rPr>
              <a:t>、</a:t>
            </a:r>
            <a:r>
              <a:rPr lang="en-US" altLang="zh-CN" sz="1200" b="0">
                <a:cs typeface="Lato Light"/>
              </a:rPr>
              <a:t>Amount, Local amount, Group amount, profit center amount by invoice item</a:t>
            </a:r>
          </a:p>
          <a:p>
            <a:endParaRPr lang="zh-CN" altLang="en-US" sz="2000"/>
          </a:p>
        </p:txBody>
      </p:sp>
      <p:sp>
        <p:nvSpPr>
          <p:cNvPr id="3" name="标题 2">
            <a:extLst>
              <a:ext uri="{FF2B5EF4-FFF2-40B4-BE49-F238E27FC236}">
                <a16:creationId xmlns:a16="http://schemas.microsoft.com/office/drawing/2014/main" id="{2434E13F-8F31-2EF5-3141-892ACAC31527}"/>
              </a:ext>
            </a:extLst>
          </p:cNvPr>
          <p:cNvSpPr>
            <a:spLocks noGrp="1"/>
          </p:cNvSpPr>
          <p:nvPr>
            <p:ph type="title"/>
          </p:nvPr>
        </p:nvSpPr>
        <p:spPr/>
        <p:txBody>
          <a:bodyPr/>
          <a:lstStyle/>
          <a:p>
            <a:r>
              <a:rPr lang="zh-CN" altLang="zh-CN"/>
              <a:t>IAAS invoice </a:t>
            </a:r>
            <a:r>
              <a:rPr lang="en-US" altLang="zh-CN"/>
              <a:t>l</a:t>
            </a:r>
            <a:r>
              <a:rPr lang="zh-CN" altLang="zh-CN"/>
              <a:t>ist(OPP-ID) </a:t>
            </a:r>
            <a:r>
              <a:rPr lang="en-US" altLang="zh-CN"/>
              <a:t> </a:t>
            </a:r>
            <a:endParaRPr lang="zh-CN" altLang="en-US">
              <a:latin typeface="+mn-lt"/>
            </a:endParaRPr>
          </a:p>
        </p:txBody>
      </p:sp>
      <p:sp>
        <p:nvSpPr>
          <p:cNvPr id="31" name="Rectangle 35">
            <a:extLst>
              <a:ext uri="{FF2B5EF4-FFF2-40B4-BE49-F238E27FC236}">
                <a16:creationId xmlns:a16="http://schemas.microsoft.com/office/drawing/2014/main" id="{432EA8C1-D876-4ADA-F8C4-6DFEF7BAD884}"/>
              </a:ext>
            </a:extLst>
          </p:cNvPr>
          <p:cNvSpPr/>
          <p:nvPr/>
        </p:nvSpPr>
        <p:spPr>
          <a:xfrm>
            <a:off x="550606" y="4605869"/>
            <a:ext cx="763127" cy="196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3" name="Rectangle 35">
            <a:extLst>
              <a:ext uri="{FF2B5EF4-FFF2-40B4-BE49-F238E27FC236}">
                <a16:creationId xmlns:a16="http://schemas.microsoft.com/office/drawing/2014/main" id="{7A2B1CEA-8F8D-E842-9B41-316E2D62C6BF}"/>
              </a:ext>
            </a:extLst>
          </p:cNvPr>
          <p:cNvSpPr/>
          <p:nvPr/>
        </p:nvSpPr>
        <p:spPr>
          <a:xfrm>
            <a:off x="2352016" y="2495955"/>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45D0E18D-FDCE-1D30-2534-4884A8C743A1}"/>
              </a:ext>
            </a:extLst>
          </p:cNvPr>
          <p:cNvSpPr/>
          <p:nvPr/>
        </p:nvSpPr>
        <p:spPr>
          <a:xfrm>
            <a:off x="7964019" y="2850757"/>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F32F3414-E114-4494-85D0-3B0D66490B42}"/>
              </a:ext>
            </a:extLst>
          </p:cNvPr>
          <p:cNvSpPr/>
          <p:nvPr/>
        </p:nvSpPr>
        <p:spPr>
          <a:xfrm>
            <a:off x="5377910" y="2495954"/>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4A7A776B-6D57-918D-F0C1-DE4A635C7FE4}"/>
              </a:ext>
            </a:extLst>
          </p:cNvPr>
          <p:cNvSpPr/>
          <p:nvPr/>
        </p:nvSpPr>
        <p:spPr>
          <a:xfrm>
            <a:off x="7813853" y="3597194"/>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82216E6D-F5ED-AF2D-7865-2A2A1D814B2D}"/>
              </a:ext>
            </a:extLst>
          </p:cNvPr>
          <p:cNvSpPr/>
          <p:nvPr/>
        </p:nvSpPr>
        <p:spPr>
          <a:xfrm>
            <a:off x="4343746" y="2495954"/>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BCBBE270-0AF5-B2AD-067D-07620E19C16F}"/>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0BED9683-BB16-CAC2-4901-A9F0466C4BF9}"/>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IAAS invoice Data</a:t>
            </a:r>
          </a:p>
        </p:txBody>
      </p:sp>
      <p:sp>
        <p:nvSpPr>
          <p:cNvPr id="16" name="TextBox 73">
            <a:extLst>
              <a:ext uri="{FF2B5EF4-FFF2-40B4-BE49-F238E27FC236}">
                <a16:creationId xmlns:a16="http://schemas.microsoft.com/office/drawing/2014/main" id="{0689C282-C5DD-BD88-9550-10E14E410E16}"/>
              </a:ext>
            </a:extLst>
          </p:cNvPr>
          <p:cNvSpPr txBox="1"/>
          <p:nvPr/>
        </p:nvSpPr>
        <p:spPr>
          <a:xfrm>
            <a:off x="8986612" y="2004376"/>
            <a:ext cx="2845101" cy="707886"/>
          </a:xfrm>
          <a:prstGeom prst="rect">
            <a:avLst/>
          </a:prstGeom>
          <a:noFill/>
        </p:spPr>
        <p:txBody>
          <a:bodyPr wrap="square" rtlCol="0">
            <a:spAutoFit/>
          </a:bodyPr>
          <a:lstStyle/>
          <a:p>
            <a:r>
              <a:rPr lang="en-US" altLang="zh-CN" sz="1000">
                <a:cs typeface="Lato Light"/>
              </a:rPr>
              <a:t>Users can search IAAS invoice related with OPPID records using company code and invoice date: from to (mandatory) or more search criteria.</a:t>
            </a:r>
          </a:p>
        </p:txBody>
      </p:sp>
      <p:sp>
        <p:nvSpPr>
          <p:cNvPr id="17" name="Oval 111">
            <a:extLst>
              <a:ext uri="{FF2B5EF4-FFF2-40B4-BE49-F238E27FC236}">
                <a16:creationId xmlns:a16="http://schemas.microsoft.com/office/drawing/2014/main" id="{70AE862E-7AC2-805E-0270-5FA41250DE94}"/>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9DF4015A-9FDD-47A8-A21D-15FB785CFA6F}"/>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67F07A23-8828-C01E-D024-3E801782E299}"/>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97A71E27-D6E9-2D17-66DE-D5B88E5590B6}"/>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Reset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spTree>
    <p:extLst>
      <p:ext uri="{BB962C8B-B14F-4D97-AF65-F5344CB8AC3E}">
        <p14:creationId xmlns:p14="http://schemas.microsoft.com/office/powerpoint/2010/main" val="32816508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72641-AF23-DB29-2246-4F40510BFD2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DEBF52FE-89FD-C2D4-B946-1080BFE9ED5C}"/>
              </a:ext>
            </a:extLst>
          </p:cNvPr>
          <p:cNvPicPr>
            <a:picLocks noChangeAspect="1"/>
          </p:cNvPicPr>
          <p:nvPr/>
        </p:nvPicPr>
        <p:blipFill>
          <a:blip r:embed="rId2"/>
          <a:stretch>
            <a:fillRect/>
          </a:stretch>
        </p:blipFill>
        <p:spPr>
          <a:xfrm>
            <a:off x="286561" y="1493744"/>
            <a:ext cx="8292542" cy="4772467"/>
          </a:xfrm>
          <a:prstGeom prst="rect">
            <a:avLst/>
          </a:prstGeom>
        </p:spPr>
      </p:pic>
      <p:sp>
        <p:nvSpPr>
          <p:cNvPr id="2" name="文本占位符 1">
            <a:extLst>
              <a:ext uri="{FF2B5EF4-FFF2-40B4-BE49-F238E27FC236}">
                <a16:creationId xmlns:a16="http://schemas.microsoft.com/office/drawing/2014/main" id="{C990F185-025C-6108-00F6-0893FA6C2D2D}"/>
              </a:ext>
            </a:extLst>
          </p:cNvPr>
          <p:cNvSpPr>
            <a:spLocks noGrp="1"/>
          </p:cNvSpPr>
          <p:nvPr>
            <p:ph type="body" idx="10"/>
          </p:nvPr>
        </p:nvSpPr>
        <p:spPr>
          <a:xfrm>
            <a:off x="286561" y="853907"/>
            <a:ext cx="11639524" cy="712468"/>
          </a:xfrm>
        </p:spPr>
        <p:txBody>
          <a:bodyPr/>
          <a:lstStyle/>
          <a:p>
            <a:r>
              <a:rPr lang="en-US" altLang="zh-CN" sz="1200" b="0">
                <a:cs typeface="Lato Light"/>
              </a:rPr>
              <a:t>The Report allows users to display  NL11 tax split  detail information  and Triggers to create tax split FA document</a:t>
            </a:r>
            <a:endParaRPr lang="en-US" altLang="zh-CN" sz="1200" b="0" kern="1200">
              <a:solidFill>
                <a:srgbClr val="000000"/>
              </a:solidFill>
              <a:latin typeface="Aptos"/>
            </a:endParaRPr>
          </a:p>
          <a:p>
            <a:r>
              <a:rPr lang="en-US" altLang="zh-CN" sz="1200" b="0" kern="1200">
                <a:solidFill>
                  <a:srgbClr val="000000"/>
                </a:solidFill>
                <a:latin typeface="Aptos"/>
              </a:rPr>
              <a:t>1</a:t>
            </a:r>
            <a:r>
              <a:rPr lang="zh-CN" altLang="en-US" sz="1200" b="0" kern="1200">
                <a:solidFill>
                  <a:srgbClr val="000000"/>
                </a:solidFill>
                <a:latin typeface="Aptos"/>
              </a:rPr>
              <a:t>、</a:t>
            </a:r>
            <a:r>
              <a:rPr lang="en-US" altLang="zh-CN" sz="1200" b="0" kern="1200">
                <a:solidFill>
                  <a:srgbClr val="000000"/>
                </a:solidFill>
                <a:latin typeface="Aptos"/>
              </a:rPr>
              <a:t>Display  company code, account, product, master agreement ,</a:t>
            </a:r>
            <a:r>
              <a:rPr lang="en-US" altLang="zh-CN" sz="1200" b="0" kern="1200" err="1">
                <a:solidFill>
                  <a:srgbClr val="000000"/>
                </a:solidFill>
                <a:latin typeface="Aptos"/>
              </a:rPr>
              <a:t>trancheID</a:t>
            </a:r>
            <a:r>
              <a:rPr lang="en-US" altLang="zh-CN" sz="1200" b="0" kern="1200">
                <a:solidFill>
                  <a:srgbClr val="000000"/>
                </a:solidFill>
                <a:latin typeface="Aptos"/>
              </a:rPr>
              <a:t>, WBS, PC, 4 view amount  for original</a:t>
            </a:r>
            <a:r>
              <a:rPr lang="en-US" altLang="zh-CN"/>
              <a:t> </a:t>
            </a:r>
            <a:r>
              <a:rPr lang="en-US" altLang="zh-CN" sz="1200" b="0">
                <a:cs typeface="Lato Light"/>
              </a:rPr>
              <a:t>invoice</a:t>
            </a:r>
            <a:r>
              <a:rPr lang="en-US" altLang="zh-CN" sz="1200">
                <a:cs typeface="Lato Light"/>
              </a:rPr>
              <a:t> ,</a:t>
            </a:r>
            <a:r>
              <a:rPr lang="en-US" altLang="zh-CN" sz="1200" b="0">
                <a:cs typeface="Lato Light"/>
              </a:rPr>
              <a:t>FA document , account, PC, contract, product </a:t>
            </a:r>
          </a:p>
          <a:p>
            <a:r>
              <a:rPr lang="en-US" altLang="zh-CN" sz="1200" b="0">
                <a:cs typeface="Lato Light"/>
              </a:rPr>
              <a:t>2</a:t>
            </a:r>
            <a:r>
              <a:rPr lang="zh-CN" altLang="en-US" sz="1200" b="0">
                <a:cs typeface="Lato Light"/>
              </a:rPr>
              <a:t>、</a:t>
            </a:r>
            <a:r>
              <a:rPr lang="en-US" altLang="zh-CN" sz="1200" b="0">
                <a:cs typeface="Lato Light"/>
              </a:rPr>
              <a:t>A</a:t>
            </a:r>
            <a:r>
              <a:rPr lang="en-US" altLang="zh-CN" sz="1200" b="0" kern="1200">
                <a:solidFill>
                  <a:srgbClr val="000000"/>
                </a:solidFill>
                <a:latin typeface="Aptos"/>
              </a:rPr>
              <a:t>ccount, product, master agreement ,</a:t>
            </a:r>
            <a:r>
              <a:rPr lang="en-US" altLang="zh-CN" sz="1200" b="0" kern="1200" err="1">
                <a:solidFill>
                  <a:srgbClr val="000000"/>
                </a:solidFill>
                <a:latin typeface="Aptos"/>
              </a:rPr>
              <a:t>trancheID</a:t>
            </a:r>
            <a:r>
              <a:rPr lang="en-US" altLang="zh-CN" sz="1200" b="0" kern="1200">
                <a:solidFill>
                  <a:srgbClr val="000000"/>
                </a:solidFill>
                <a:latin typeface="Aptos"/>
              </a:rPr>
              <a:t>, WBS, PC, 4 view amount for split item </a:t>
            </a:r>
            <a:endParaRPr lang="zh-CN" altLang="en-US" sz="2000"/>
          </a:p>
        </p:txBody>
      </p:sp>
      <p:sp>
        <p:nvSpPr>
          <p:cNvPr id="3" name="标题 2">
            <a:extLst>
              <a:ext uri="{FF2B5EF4-FFF2-40B4-BE49-F238E27FC236}">
                <a16:creationId xmlns:a16="http://schemas.microsoft.com/office/drawing/2014/main" id="{42471A17-33E4-5DE0-5D2F-BBE8A7E7B4B1}"/>
              </a:ext>
            </a:extLst>
          </p:cNvPr>
          <p:cNvSpPr>
            <a:spLocks noGrp="1"/>
          </p:cNvSpPr>
          <p:nvPr>
            <p:ph type="title"/>
          </p:nvPr>
        </p:nvSpPr>
        <p:spPr/>
        <p:txBody>
          <a:bodyPr/>
          <a:lstStyle/>
          <a:p>
            <a:r>
              <a:rPr lang="en-US" altLang="zh-CN"/>
              <a:t>Tax split-posting</a:t>
            </a:r>
            <a:endParaRPr lang="zh-CN" altLang="en-US">
              <a:latin typeface="+mn-lt"/>
            </a:endParaRPr>
          </a:p>
        </p:txBody>
      </p:sp>
      <p:sp>
        <p:nvSpPr>
          <p:cNvPr id="31" name="Rectangle 35">
            <a:extLst>
              <a:ext uri="{FF2B5EF4-FFF2-40B4-BE49-F238E27FC236}">
                <a16:creationId xmlns:a16="http://schemas.microsoft.com/office/drawing/2014/main" id="{CAFF3A15-4DD0-DF79-4C9E-935BBDF5BB99}"/>
              </a:ext>
            </a:extLst>
          </p:cNvPr>
          <p:cNvSpPr/>
          <p:nvPr/>
        </p:nvSpPr>
        <p:spPr>
          <a:xfrm>
            <a:off x="550606" y="4605869"/>
            <a:ext cx="314633" cy="16603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3" name="Rectangle 35">
            <a:extLst>
              <a:ext uri="{FF2B5EF4-FFF2-40B4-BE49-F238E27FC236}">
                <a16:creationId xmlns:a16="http://schemas.microsoft.com/office/drawing/2014/main" id="{1D70DB32-7420-B91A-68AF-D32745E42738}"/>
              </a:ext>
            </a:extLst>
          </p:cNvPr>
          <p:cNvSpPr/>
          <p:nvPr/>
        </p:nvSpPr>
        <p:spPr>
          <a:xfrm>
            <a:off x="320182" y="1612168"/>
            <a:ext cx="3042450" cy="196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D47AF210-4A93-FECC-2598-7061579491C5}"/>
              </a:ext>
            </a:extLst>
          </p:cNvPr>
          <p:cNvSpPr/>
          <p:nvPr/>
        </p:nvSpPr>
        <p:spPr>
          <a:xfrm>
            <a:off x="5918787" y="3243098"/>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5F7CB619-02D9-D4D9-769C-72FA836F6A2C}"/>
              </a:ext>
            </a:extLst>
          </p:cNvPr>
          <p:cNvSpPr/>
          <p:nvPr/>
        </p:nvSpPr>
        <p:spPr>
          <a:xfrm>
            <a:off x="708155" y="3203999"/>
            <a:ext cx="2418503" cy="225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FD3074A3-F99E-A3C3-F81C-CF95F80B5D27}"/>
              </a:ext>
            </a:extLst>
          </p:cNvPr>
          <p:cNvSpPr/>
          <p:nvPr/>
        </p:nvSpPr>
        <p:spPr>
          <a:xfrm>
            <a:off x="6820793" y="4206793"/>
            <a:ext cx="858201" cy="1980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0B6FB50D-10BB-DE35-D6F5-83DC6808DE16}"/>
              </a:ext>
            </a:extLst>
          </p:cNvPr>
          <p:cNvSpPr/>
          <p:nvPr/>
        </p:nvSpPr>
        <p:spPr>
          <a:xfrm>
            <a:off x="387888" y="2548599"/>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F8210564-CD51-6D74-5F3F-6FFA95A984F1}"/>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FF00AF02-5221-190A-9A96-10610DD68A3A}"/>
              </a:ext>
            </a:extLst>
          </p:cNvPr>
          <p:cNvSpPr txBox="1"/>
          <p:nvPr/>
        </p:nvSpPr>
        <p:spPr>
          <a:xfrm>
            <a:off x="8988682" y="1743975"/>
            <a:ext cx="2790479"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2D2D8A">
                    <a:lumMod val="75000"/>
                    <a:lumOff val="25000"/>
                  </a:srgbClr>
                </a:solidFill>
                <a:effectLst/>
                <a:uLnTx/>
                <a:uFillTx/>
                <a:latin typeface="Aptos"/>
                <a:ea typeface="黑体"/>
                <a:cs typeface="Lato Regular"/>
              </a:rPr>
              <a:t>Search tax split Data</a:t>
            </a:r>
          </a:p>
        </p:txBody>
      </p:sp>
      <p:sp>
        <p:nvSpPr>
          <p:cNvPr id="16" name="TextBox 73">
            <a:extLst>
              <a:ext uri="{FF2B5EF4-FFF2-40B4-BE49-F238E27FC236}">
                <a16:creationId xmlns:a16="http://schemas.microsoft.com/office/drawing/2014/main" id="{A2547CFB-7DA5-D2D6-8E65-977DD6EE17C0}"/>
              </a:ext>
            </a:extLst>
          </p:cNvPr>
          <p:cNvSpPr txBox="1"/>
          <p:nvPr/>
        </p:nvSpPr>
        <p:spPr>
          <a:xfrm>
            <a:off x="8986612" y="2004376"/>
            <a:ext cx="2845101"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Users can search  the data for tax split  records using invoice or  invoice date: from 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Using split posting date to assign posting date for creating new FA document</a:t>
            </a:r>
          </a:p>
        </p:txBody>
      </p:sp>
      <p:sp>
        <p:nvSpPr>
          <p:cNvPr id="17" name="Oval 111">
            <a:extLst>
              <a:ext uri="{FF2B5EF4-FFF2-40B4-BE49-F238E27FC236}">
                <a16:creationId xmlns:a16="http://schemas.microsoft.com/office/drawing/2014/main" id="{8BB31E8C-22DD-8D97-B6D6-B138C1C35674}"/>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1</a:t>
            </a:r>
          </a:p>
        </p:txBody>
      </p:sp>
      <p:sp>
        <p:nvSpPr>
          <p:cNvPr id="18" name="TextBox 82">
            <a:extLst>
              <a:ext uri="{FF2B5EF4-FFF2-40B4-BE49-F238E27FC236}">
                <a16:creationId xmlns:a16="http://schemas.microsoft.com/office/drawing/2014/main" id="{A8253699-77C8-AEEF-7D42-671051A968D0}"/>
              </a:ext>
            </a:extLst>
          </p:cNvPr>
          <p:cNvSpPr txBox="1"/>
          <p:nvPr/>
        </p:nvSpPr>
        <p:spPr>
          <a:xfrm>
            <a:off x="9012978" y="2880623"/>
            <a:ext cx="193921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26C36"/>
                </a:solidFill>
                <a:effectLst/>
                <a:uLnTx/>
                <a:uFillTx/>
                <a:latin typeface="Aptos"/>
                <a:ea typeface="黑体"/>
                <a:cs typeface="Lato Regular"/>
              </a:rPr>
              <a:t>Result List</a:t>
            </a:r>
          </a:p>
        </p:txBody>
      </p:sp>
      <p:sp>
        <p:nvSpPr>
          <p:cNvPr id="19" name="Oval 112">
            <a:extLst>
              <a:ext uri="{FF2B5EF4-FFF2-40B4-BE49-F238E27FC236}">
                <a16:creationId xmlns:a16="http://schemas.microsoft.com/office/drawing/2014/main" id="{0CFF8D10-8230-4B74-376E-130C2718805E}"/>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2</a:t>
            </a:r>
          </a:p>
        </p:txBody>
      </p:sp>
      <p:sp>
        <p:nvSpPr>
          <p:cNvPr id="20" name="TextBox 73">
            <a:extLst>
              <a:ext uri="{FF2B5EF4-FFF2-40B4-BE49-F238E27FC236}">
                <a16:creationId xmlns:a16="http://schemas.microsoft.com/office/drawing/2014/main" id="{2D8710BA-0982-14D8-F61C-965A25D7C8FD}"/>
              </a:ext>
            </a:extLst>
          </p:cNvPr>
          <p:cNvSpPr txBox="1"/>
          <p:nvPr/>
        </p:nvSpPr>
        <p:spPr>
          <a:xfrm>
            <a:off x="8986612" y="3217461"/>
            <a:ext cx="2845101" cy="30162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After input selection parameter, then using “</a:t>
            </a: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 to run report</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Execute Selected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Selected the recorder  which need posting ,then using this button to post tax split FA document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Export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Using “Export” to download the  report to excel to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analysis the reporting offline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Clear</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 can use clear  button to  clear  the search criteria and input new parameters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Refresh</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User can use Refresh to update the report data</a:t>
            </a:r>
            <a:endParaRPr kumimoji="0" lang="en-US" altLang="zh-CN" sz="1000" b="0" i="0" u="none" strike="noStrike" kern="1200" cap="none" spc="0" normalizeH="0" baseline="0" noProof="0">
              <a:ln>
                <a:noFill/>
              </a:ln>
              <a:solidFill>
                <a:srgbClr val="000000"/>
              </a:solidFill>
              <a:effectLst/>
              <a:uLnTx/>
              <a:uFillTx/>
              <a:latin typeface="Aptos"/>
              <a:ea typeface="黑体"/>
              <a:cs typeface="+mn-cs"/>
            </a:endParaRPr>
          </a:p>
        </p:txBody>
      </p:sp>
      <p:sp>
        <p:nvSpPr>
          <p:cNvPr id="7" name="Rectangle 35">
            <a:extLst>
              <a:ext uri="{FF2B5EF4-FFF2-40B4-BE49-F238E27FC236}">
                <a16:creationId xmlns:a16="http://schemas.microsoft.com/office/drawing/2014/main" id="{6790C480-D2D5-4F3A-A30E-D4B8481A524C}"/>
              </a:ext>
            </a:extLst>
          </p:cNvPr>
          <p:cNvSpPr/>
          <p:nvPr/>
        </p:nvSpPr>
        <p:spPr>
          <a:xfrm>
            <a:off x="3313471" y="3203998"/>
            <a:ext cx="2418503" cy="225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0" name="Rectangle 35">
            <a:extLst>
              <a:ext uri="{FF2B5EF4-FFF2-40B4-BE49-F238E27FC236}">
                <a16:creationId xmlns:a16="http://schemas.microsoft.com/office/drawing/2014/main" id="{5CE6E412-506F-9819-C159-88B661BDABE2}"/>
              </a:ext>
            </a:extLst>
          </p:cNvPr>
          <p:cNvSpPr/>
          <p:nvPr/>
        </p:nvSpPr>
        <p:spPr>
          <a:xfrm>
            <a:off x="7907384" y="3674952"/>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Tree>
    <p:extLst>
      <p:ext uri="{BB962C8B-B14F-4D97-AF65-F5344CB8AC3E}">
        <p14:creationId xmlns:p14="http://schemas.microsoft.com/office/powerpoint/2010/main" val="22071122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F675-4C09-7244-192B-806D34AE4121}"/>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887F461C-463E-25BD-0D9C-B7D7FB77BE50}"/>
              </a:ext>
            </a:extLst>
          </p:cNvPr>
          <p:cNvPicPr>
            <a:picLocks noChangeAspect="1"/>
          </p:cNvPicPr>
          <p:nvPr/>
        </p:nvPicPr>
        <p:blipFill>
          <a:blip r:embed="rId2"/>
          <a:stretch>
            <a:fillRect/>
          </a:stretch>
        </p:blipFill>
        <p:spPr>
          <a:xfrm>
            <a:off x="392793" y="1566026"/>
            <a:ext cx="7968169" cy="4616245"/>
          </a:xfrm>
          <a:prstGeom prst="rect">
            <a:avLst/>
          </a:prstGeom>
        </p:spPr>
      </p:pic>
      <p:sp>
        <p:nvSpPr>
          <p:cNvPr id="2" name="文本占位符 1">
            <a:extLst>
              <a:ext uri="{FF2B5EF4-FFF2-40B4-BE49-F238E27FC236}">
                <a16:creationId xmlns:a16="http://schemas.microsoft.com/office/drawing/2014/main" id="{AC7F481A-E550-A959-0069-8810CC5A380E}"/>
              </a:ext>
            </a:extLst>
          </p:cNvPr>
          <p:cNvSpPr>
            <a:spLocks noGrp="1"/>
          </p:cNvSpPr>
          <p:nvPr>
            <p:ph type="body" idx="10"/>
          </p:nvPr>
        </p:nvSpPr>
        <p:spPr/>
        <p:txBody>
          <a:bodyPr/>
          <a:lstStyle/>
          <a:p>
            <a:pPr marL="188595" indent="-188595"/>
            <a:r>
              <a:rPr lang="en-US" altLang="zh-CN" sz="1200" b="0" kern="1200">
                <a:latin typeface="Aptos"/>
                <a:cs typeface="Lato Light"/>
              </a:rPr>
              <a:t>Display  tax split posting log ,include all posting fields and  posting FA document number</a:t>
            </a:r>
            <a:r>
              <a:rPr lang="en-US" altLang="zh-CN" sz="1200" b="0">
                <a:latin typeface="Aptos"/>
                <a:cs typeface="Lato Light"/>
              </a:rPr>
              <a:t> </a:t>
            </a:r>
            <a:endParaRPr lang="en-US">
              <a:latin typeface="Aptos"/>
            </a:endParaRPr>
          </a:p>
        </p:txBody>
      </p:sp>
      <p:sp>
        <p:nvSpPr>
          <p:cNvPr id="3" name="标题 2">
            <a:extLst>
              <a:ext uri="{FF2B5EF4-FFF2-40B4-BE49-F238E27FC236}">
                <a16:creationId xmlns:a16="http://schemas.microsoft.com/office/drawing/2014/main" id="{DD919CB8-1659-7D0B-BC13-5BCD6A86D823}"/>
              </a:ext>
            </a:extLst>
          </p:cNvPr>
          <p:cNvSpPr>
            <a:spLocks noGrp="1"/>
          </p:cNvSpPr>
          <p:nvPr>
            <p:ph type="title"/>
          </p:nvPr>
        </p:nvSpPr>
        <p:spPr/>
        <p:txBody>
          <a:bodyPr/>
          <a:lstStyle/>
          <a:p>
            <a:r>
              <a:rPr lang="en-US" altLang="zh-CN"/>
              <a:t>Tax split-Display</a:t>
            </a:r>
            <a:endParaRPr lang="zh-CN" altLang="en-US">
              <a:latin typeface="+mn-lt"/>
            </a:endParaRPr>
          </a:p>
        </p:txBody>
      </p:sp>
      <p:sp>
        <p:nvSpPr>
          <p:cNvPr id="33" name="Rectangle 35">
            <a:extLst>
              <a:ext uri="{FF2B5EF4-FFF2-40B4-BE49-F238E27FC236}">
                <a16:creationId xmlns:a16="http://schemas.microsoft.com/office/drawing/2014/main" id="{AF7ABDFA-3E83-82CB-CA61-EC29982278F9}"/>
              </a:ext>
            </a:extLst>
          </p:cNvPr>
          <p:cNvSpPr/>
          <p:nvPr/>
        </p:nvSpPr>
        <p:spPr>
          <a:xfrm>
            <a:off x="320182" y="1612168"/>
            <a:ext cx="3042450" cy="196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35" name="Rectangle 35">
            <a:extLst>
              <a:ext uri="{FF2B5EF4-FFF2-40B4-BE49-F238E27FC236}">
                <a16:creationId xmlns:a16="http://schemas.microsoft.com/office/drawing/2014/main" id="{5A33E3C0-1E8D-0E5A-A12B-14D50011E96E}"/>
              </a:ext>
            </a:extLst>
          </p:cNvPr>
          <p:cNvSpPr/>
          <p:nvPr/>
        </p:nvSpPr>
        <p:spPr>
          <a:xfrm>
            <a:off x="7864101" y="3256687"/>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1" name="Rectangle 35">
            <a:extLst>
              <a:ext uri="{FF2B5EF4-FFF2-40B4-BE49-F238E27FC236}">
                <a16:creationId xmlns:a16="http://schemas.microsoft.com/office/drawing/2014/main" id="{C9C32295-762D-7D7A-8550-F844E8934C5C}"/>
              </a:ext>
            </a:extLst>
          </p:cNvPr>
          <p:cNvSpPr/>
          <p:nvPr/>
        </p:nvSpPr>
        <p:spPr>
          <a:xfrm>
            <a:off x="894968" y="2819438"/>
            <a:ext cx="2418503" cy="225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43" name="Rectangle 35">
            <a:extLst>
              <a:ext uri="{FF2B5EF4-FFF2-40B4-BE49-F238E27FC236}">
                <a16:creationId xmlns:a16="http://schemas.microsoft.com/office/drawing/2014/main" id="{248C1DB0-4469-D7C3-1670-BD65089B7F89}"/>
              </a:ext>
            </a:extLst>
          </p:cNvPr>
          <p:cNvSpPr/>
          <p:nvPr/>
        </p:nvSpPr>
        <p:spPr>
          <a:xfrm>
            <a:off x="7882678" y="3823336"/>
            <a:ext cx="496861" cy="2050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8" name="Rectangle 35">
            <a:extLst>
              <a:ext uri="{FF2B5EF4-FFF2-40B4-BE49-F238E27FC236}">
                <a16:creationId xmlns:a16="http://schemas.microsoft.com/office/drawing/2014/main" id="{ABD8F397-C94A-699E-1721-F4F7A46DFD79}"/>
              </a:ext>
            </a:extLst>
          </p:cNvPr>
          <p:cNvSpPr/>
          <p:nvPr/>
        </p:nvSpPr>
        <p:spPr>
          <a:xfrm>
            <a:off x="1200873" y="2215455"/>
            <a:ext cx="640534" cy="1888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
        <p:nvSpPr>
          <p:cNvPr id="14" name="文本占位符 3">
            <a:extLst>
              <a:ext uri="{FF2B5EF4-FFF2-40B4-BE49-F238E27FC236}">
                <a16:creationId xmlns:a16="http://schemas.microsoft.com/office/drawing/2014/main" id="{D3E7CC28-999E-394B-E43A-6693C31856FA}"/>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620F39A7-59B5-CE12-40D6-7F2080B49AFE}"/>
              </a:ext>
            </a:extLst>
          </p:cNvPr>
          <p:cNvSpPr txBox="1"/>
          <p:nvPr/>
        </p:nvSpPr>
        <p:spPr>
          <a:xfrm>
            <a:off x="8988682" y="1743975"/>
            <a:ext cx="2790479"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2D2D8A">
                    <a:lumMod val="75000"/>
                    <a:lumOff val="25000"/>
                  </a:srgbClr>
                </a:solidFill>
                <a:effectLst/>
                <a:uLnTx/>
                <a:uFillTx/>
                <a:latin typeface="Aptos"/>
                <a:ea typeface="黑体"/>
                <a:cs typeface="Lato Regular"/>
              </a:rPr>
              <a:t>Search IAAS invoice Data</a:t>
            </a:r>
          </a:p>
        </p:txBody>
      </p:sp>
      <p:sp>
        <p:nvSpPr>
          <p:cNvPr id="16" name="TextBox 73">
            <a:extLst>
              <a:ext uri="{FF2B5EF4-FFF2-40B4-BE49-F238E27FC236}">
                <a16:creationId xmlns:a16="http://schemas.microsoft.com/office/drawing/2014/main" id="{B0C1BAF4-6F1A-170F-C308-DC831ACAE8F8}"/>
              </a:ext>
            </a:extLst>
          </p:cNvPr>
          <p:cNvSpPr txBox="1"/>
          <p:nvPr/>
        </p:nvSpPr>
        <p:spPr>
          <a:xfrm>
            <a:off x="8986612" y="2004376"/>
            <a:ext cx="28451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Users can search  tax split log records using invoice or  invoice date: from to .</a:t>
            </a:r>
          </a:p>
        </p:txBody>
      </p:sp>
      <p:sp>
        <p:nvSpPr>
          <p:cNvPr id="17" name="Oval 111">
            <a:extLst>
              <a:ext uri="{FF2B5EF4-FFF2-40B4-BE49-F238E27FC236}">
                <a16:creationId xmlns:a16="http://schemas.microsoft.com/office/drawing/2014/main" id="{223256FC-C734-FAEF-D31F-EA98B97A19BF}"/>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1</a:t>
            </a:r>
          </a:p>
        </p:txBody>
      </p:sp>
      <p:sp>
        <p:nvSpPr>
          <p:cNvPr id="18" name="TextBox 82">
            <a:extLst>
              <a:ext uri="{FF2B5EF4-FFF2-40B4-BE49-F238E27FC236}">
                <a16:creationId xmlns:a16="http://schemas.microsoft.com/office/drawing/2014/main" id="{BF316516-29B3-228F-184E-F35ED5D8B390}"/>
              </a:ext>
            </a:extLst>
          </p:cNvPr>
          <p:cNvSpPr txBox="1"/>
          <p:nvPr/>
        </p:nvSpPr>
        <p:spPr>
          <a:xfrm>
            <a:off x="9012978" y="2880623"/>
            <a:ext cx="1939214"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26C36"/>
                </a:solidFill>
                <a:effectLst/>
                <a:uLnTx/>
                <a:uFillTx/>
                <a:latin typeface="Aptos"/>
                <a:ea typeface="黑体"/>
                <a:cs typeface="Lato Regular"/>
              </a:rPr>
              <a:t>Result List</a:t>
            </a:r>
          </a:p>
        </p:txBody>
      </p:sp>
      <p:sp>
        <p:nvSpPr>
          <p:cNvPr id="19" name="Oval 112">
            <a:extLst>
              <a:ext uri="{FF2B5EF4-FFF2-40B4-BE49-F238E27FC236}">
                <a16:creationId xmlns:a16="http://schemas.microsoft.com/office/drawing/2014/main" id="{58A83821-B586-770A-79D4-56D1CBA70838}"/>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黑体"/>
                <a:cs typeface="+mn-cs"/>
              </a:rPr>
              <a:t>2</a:t>
            </a:r>
          </a:p>
        </p:txBody>
      </p:sp>
      <p:sp>
        <p:nvSpPr>
          <p:cNvPr id="20" name="TextBox 73">
            <a:extLst>
              <a:ext uri="{FF2B5EF4-FFF2-40B4-BE49-F238E27FC236}">
                <a16:creationId xmlns:a16="http://schemas.microsoft.com/office/drawing/2014/main" id="{A679C8DA-380F-4141-BD08-CC0A360AC30A}"/>
              </a:ext>
            </a:extLst>
          </p:cNvPr>
          <p:cNvSpPr txBox="1"/>
          <p:nvPr/>
        </p:nvSpPr>
        <p:spPr>
          <a:xfrm>
            <a:off x="8986612" y="3217461"/>
            <a:ext cx="2845101"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After input selection parameter, then using “Search” to run report</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Full Screen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Display the report for full screen.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Export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mn-cs"/>
              </a:rPr>
              <a:t>Using “Export” to download the  report to excel to </a:t>
            </a: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analysis the reporting offline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Lato Light"/>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Aptos"/>
                <a:ea typeface="黑体"/>
                <a:cs typeface="Lato Light"/>
              </a:rPr>
              <a:t>Refresh</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Aptos"/>
                <a:ea typeface="黑体"/>
                <a:cs typeface="Lato Light"/>
              </a:rPr>
              <a:t> User can use Refresh to update the report data</a:t>
            </a:r>
          </a:p>
          <a:p>
            <a:pPr marL="0" marR="0" lvl="0" indent="0" algn="l" defTabSz="1218987" rtl="0" eaLnBrk="1" fontAlgn="auto" latinLnBrk="0" hangingPunct="1">
              <a:lnSpc>
                <a:spcPct val="100000"/>
              </a:lnSpc>
              <a:spcBef>
                <a:spcPts val="0"/>
              </a:spcBef>
              <a:spcAft>
                <a:spcPts val="0"/>
              </a:spcAft>
              <a:buClrTx/>
              <a:buSzTx/>
              <a:buFontTx/>
              <a:buNone/>
              <a:tabLst/>
              <a:defRPr/>
            </a:pPr>
            <a:endParaRPr lang="en-US" altLang="zh-CN" sz="1000">
              <a:solidFill>
                <a:srgbClr val="000000"/>
              </a:solidFill>
              <a:latin typeface="Aptos"/>
              <a:ea typeface="黑体"/>
              <a:cs typeface="Lato Light"/>
            </a:endParaRPr>
          </a:p>
          <a:p>
            <a:pPr lvl="0" defTabSz="1218987">
              <a:defRPr/>
            </a:pPr>
            <a:r>
              <a:rPr lang="en-US" altLang="zh-CN" sz="1000" b="1">
                <a:solidFill>
                  <a:srgbClr val="000000"/>
                </a:solidFill>
                <a:cs typeface="Lato Light"/>
              </a:rPr>
              <a:t>Clear</a:t>
            </a:r>
          </a:p>
          <a:p>
            <a:pPr lvl="0" defTabSz="1218987">
              <a:defRPr/>
            </a:pPr>
            <a:r>
              <a:rPr lang="en-US" altLang="zh-CN" sz="1000">
                <a:solidFill>
                  <a:srgbClr val="000000"/>
                </a:solidFill>
                <a:cs typeface="Lato Light"/>
              </a:rPr>
              <a:t>User can use clear  button to  clear  the search criteria and input new parameters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srgbClr val="000000"/>
              </a:solidFill>
              <a:effectLst/>
              <a:uLnTx/>
              <a:uFillTx/>
              <a:latin typeface="Aptos"/>
              <a:ea typeface="黑体"/>
              <a:cs typeface="+mn-cs"/>
            </a:endParaRPr>
          </a:p>
        </p:txBody>
      </p:sp>
      <p:sp>
        <p:nvSpPr>
          <p:cNvPr id="7" name="Rectangle 35">
            <a:extLst>
              <a:ext uri="{FF2B5EF4-FFF2-40B4-BE49-F238E27FC236}">
                <a16:creationId xmlns:a16="http://schemas.microsoft.com/office/drawing/2014/main" id="{126FA8E9-E6CC-2856-58EE-66BF9005B1B6}"/>
              </a:ext>
            </a:extLst>
          </p:cNvPr>
          <p:cNvSpPr/>
          <p:nvPr/>
        </p:nvSpPr>
        <p:spPr>
          <a:xfrm>
            <a:off x="4627965" y="2768122"/>
            <a:ext cx="2418503" cy="225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Aptos"/>
              <a:ea typeface="黑体"/>
              <a:cs typeface="+mn-cs"/>
            </a:endParaRPr>
          </a:p>
        </p:txBody>
      </p:sp>
    </p:spTree>
    <p:extLst>
      <p:ext uri="{BB962C8B-B14F-4D97-AF65-F5344CB8AC3E}">
        <p14:creationId xmlns:p14="http://schemas.microsoft.com/office/powerpoint/2010/main" val="38672178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513E-74B1-7EFD-42B0-91F22476380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E0BFDB9-E11E-A7B8-1B9D-F4D022F04C1B}"/>
              </a:ext>
            </a:extLst>
          </p:cNvPr>
          <p:cNvSpPr>
            <a:spLocks noGrp="1"/>
          </p:cNvSpPr>
          <p:nvPr>
            <p:ph type="body" idx="10"/>
          </p:nvPr>
        </p:nvSpPr>
        <p:spPr>
          <a:xfrm>
            <a:off x="320183" y="920243"/>
            <a:ext cx="8320668" cy="695198"/>
          </a:xfrm>
        </p:spPr>
        <p:txBody>
          <a:bodyPr/>
          <a:lstStyle/>
          <a:p>
            <a:r>
              <a:rPr lang="en-US" altLang="zh-CN" sz="1200" b="0"/>
              <a:t>This report is to show defer revenue amortization document, including totally amount transfer from revenue to defer revenue documents, and defer revenue amortization monthly document.</a:t>
            </a:r>
          </a:p>
        </p:txBody>
      </p:sp>
      <p:sp>
        <p:nvSpPr>
          <p:cNvPr id="3" name="标题 2">
            <a:extLst>
              <a:ext uri="{FF2B5EF4-FFF2-40B4-BE49-F238E27FC236}">
                <a16:creationId xmlns:a16="http://schemas.microsoft.com/office/drawing/2014/main" id="{D15BD12C-C46D-7C38-CD3D-560A8F508DF6}"/>
              </a:ext>
            </a:extLst>
          </p:cNvPr>
          <p:cNvSpPr>
            <a:spLocks noGrp="1"/>
          </p:cNvSpPr>
          <p:nvPr>
            <p:ph type="title"/>
          </p:nvPr>
        </p:nvSpPr>
        <p:spPr/>
        <p:txBody>
          <a:bodyPr/>
          <a:lstStyle/>
          <a:p>
            <a:r>
              <a:rPr lang="zh-CN" altLang="zh-CN"/>
              <a:t>Defer Revenue Amortization</a:t>
            </a:r>
            <a:r>
              <a:rPr lang="en-US" altLang="zh-CN"/>
              <a:t> (1/3) </a:t>
            </a:r>
            <a:r>
              <a:rPr lang="zh-CN" altLang="zh-CN"/>
              <a:t> </a:t>
            </a:r>
            <a:endParaRPr lang="zh-CN" altLang="en-US">
              <a:latin typeface="+mn-lt"/>
            </a:endParaRPr>
          </a:p>
        </p:txBody>
      </p:sp>
      <p:sp>
        <p:nvSpPr>
          <p:cNvPr id="14" name="文本占位符 3">
            <a:extLst>
              <a:ext uri="{FF2B5EF4-FFF2-40B4-BE49-F238E27FC236}">
                <a16:creationId xmlns:a16="http://schemas.microsoft.com/office/drawing/2014/main" id="{A7CCBEB5-10B8-2F0C-EDE6-DA4976CAACA5}"/>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1E607756-D6DF-F23E-F445-E12AAC3C3FC5}"/>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amortization document</a:t>
            </a:r>
          </a:p>
        </p:txBody>
      </p:sp>
      <p:sp>
        <p:nvSpPr>
          <p:cNvPr id="16" name="TextBox 73">
            <a:extLst>
              <a:ext uri="{FF2B5EF4-FFF2-40B4-BE49-F238E27FC236}">
                <a16:creationId xmlns:a16="http://schemas.microsoft.com/office/drawing/2014/main" id="{EF1017C3-7985-CCC1-F764-C1523AEF8A02}"/>
              </a:ext>
            </a:extLst>
          </p:cNvPr>
          <p:cNvSpPr txBox="1"/>
          <p:nvPr/>
        </p:nvSpPr>
        <p:spPr>
          <a:xfrm>
            <a:off x="8986612" y="2004376"/>
            <a:ext cx="2845101" cy="553998"/>
          </a:xfrm>
          <a:prstGeom prst="rect">
            <a:avLst/>
          </a:prstGeom>
          <a:noFill/>
        </p:spPr>
        <p:txBody>
          <a:bodyPr wrap="square" rtlCol="0">
            <a:spAutoFit/>
          </a:bodyPr>
          <a:lstStyle/>
          <a:p>
            <a:r>
              <a:rPr lang="en-US" altLang="zh-CN" sz="1000">
                <a:cs typeface="Lato Light"/>
              </a:rPr>
              <a:t>Users can search amortization document by company code and invoice date: from to (mandatory) or more search criteria.</a:t>
            </a:r>
          </a:p>
        </p:txBody>
      </p:sp>
      <p:sp>
        <p:nvSpPr>
          <p:cNvPr id="17" name="Oval 111">
            <a:extLst>
              <a:ext uri="{FF2B5EF4-FFF2-40B4-BE49-F238E27FC236}">
                <a16:creationId xmlns:a16="http://schemas.microsoft.com/office/drawing/2014/main" id="{0E9E2668-1941-FE52-AC2D-A3818F669BF8}"/>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EF29EE07-D7BE-EBC0-E1C9-639F08B7B42F}"/>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5196AB6D-0BE8-E742-EACC-A99A7A48D3D9}"/>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713F2421-9C63-824A-C1C2-1E28DECE69F0}"/>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pic>
        <p:nvPicPr>
          <p:cNvPr id="11" name="图片 10">
            <a:extLst>
              <a:ext uri="{FF2B5EF4-FFF2-40B4-BE49-F238E27FC236}">
                <a16:creationId xmlns:a16="http://schemas.microsoft.com/office/drawing/2014/main" id="{87C4530D-A63C-D020-BE90-7A98E1CCA908}"/>
              </a:ext>
            </a:extLst>
          </p:cNvPr>
          <p:cNvPicPr>
            <a:picLocks noChangeAspect="1"/>
          </p:cNvPicPr>
          <p:nvPr/>
        </p:nvPicPr>
        <p:blipFill>
          <a:blip r:embed="rId2"/>
          <a:stretch>
            <a:fillRect/>
          </a:stretch>
        </p:blipFill>
        <p:spPr>
          <a:xfrm>
            <a:off x="360287" y="1743975"/>
            <a:ext cx="8125469" cy="3543518"/>
          </a:xfrm>
          <a:prstGeom prst="rect">
            <a:avLst/>
          </a:prstGeom>
        </p:spPr>
      </p:pic>
    </p:spTree>
    <p:extLst>
      <p:ext uri="{BB962C8B-B14F-4D97-AF65-F5344CB8AC3E}">
        <p14:creationId xmlns:p14="http://schemas.microsoft.com/office/powerpoint/2010/main" val="7036487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CBD1-6E78-BBAC-C014-A25EAABDFE7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25683C9-5534-91DD-C5D1-5B4FD969BC1D}"/>
              </a:ext>
            </a:extLst>
          </p:cNvPr>
          <p:cNvSpPr>
            <a:spLocks noGrp="1"/>
          </p:cNvSpPr>
          <p:nvPr>
            <p:ph type="body" idx="10"/>
          </p:nvPr>
        </p:nvSpPr>
        <p:spPr>
          <a:xfrm>
            <a:off x="463710" y="1051605"/>
            <a:ext cx="8320668" cy="984758"/>
          </a:xfrm>
        </p:spPr>
        <p:txBody>
          <a:bodyPr/>
          <a:lstStyle/>
          <a:p>
            <a:r>
              <a:rPr lang="en-US" altLang="zh-CN" sz="1200" b="0"/>
              <a:t>1: The layout fields refer S/4 amortization Report.</a:t>
            </a:r>
          </a:p>
          <a:p>
            <a:r>
              <a:rPr lang="en-US" altLang="zh-CN" sz="1200" b="0"/>
              <a:t>2: The amortization result displayed by invoice item level.</a:t>
            </a:r>
          </a:p>
          <a:p>
            <a:endParaRPr lang="en-US" altLang="zh-CN" sz="1200"/>
          </a:p>
        </p:txBody>
      </p:sp>
      <p:sp>
        <p:nvSpPr>
          <p:cNvPr id="3" name="标题 2">
            <a:extLst>
              <a:ext uri="{FF2B5EF4-FFF2-40B4-BE49-F238E27FC236}">
                <a16:creationId xmlns:a16="http://schemas.microsoft.com/office/drawing/2014/main" id="{089D7C79-7442-F167-E8EB-B39E10C759F5}"/>
              </a:ext>
            </a:extLst>
          </p:cNvPr>
          <p:cNvSpPr>
            <a:spLocks noGrp="1"/>
          </p:cNvSpPr>
          <p:nvPr>
            <p:ph type="title"/>
          </p:nvPr>
        </p:nvSpPr>
        <p:spPr/>
        <p:txBody>
          <a:bodyPr/>
          <a:lstStyle/>
          <a:p>
            <a:r>
              <a:rPr lang="zh-CN" altLang="zh-CN"/>
              <a:t>Defer Revenue Amortization </a:t>
            </a:r>
            <a:r>
              <a:rPr lang="en-US" altLang="zh-CN"/>
              <a:t> (2/3) </a:t>
            </a:r>
            <a:endParaRPr lang="zh-CN" altLang="en-US">
              <a:latin typeface="+mn-lt"/>
            </a:endParaRPr>
          </a:p>
        </p:txBody>
      </p:sp>
      <p:sp>
        <p:nvSpPr>
          <p:cNvPr id="14" name="文本占位符 3">
            <a:extLst>
              <a:ext uri="{FF2B5EF4-FFF2-40B4-BE49-F238E27FC236}">
                <a16:creationId xmlns:a16="http://schemas.microsoft.com/office/drawing/2014/main" id="{8027F06E-2C82-61F8-5C6E-E379BA30DE3E}"/>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2E7B1B21-4083-D0AE-251A-B3209B621407}"/>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amortization document</a:t>
            </a:r>
          </a:p>
        </p:txBody>
      </p:sp>
      <p:sp>
        <p:nvSpPr>
          <p:cNvPr id="16" name="TextBox 73">
            <a:extLst>
              <a:ext uri="{FF2B5EF4-FFF2-40B4-BE49-F238E27FC236}">
                <a16:creationId xmlns:a16="http://schemas.microsoft.com/office/drawing/2014/main" id="{48C5F1EC-597E-DFF9-8B80-C52B556BB1D0}"/>
              </a:ext>
            </a:extLst>
          </p:cNvPr>
          <p:cNvSpPr txBox="1"/>
          <p:nvPr/>
        </p:nvSpPr>
        <p:spPr>
          <a:xfrm>
            <a:off x="8986612" y="2004376"/>
            <a:ext cx="2845101" cy="553998"/>
          </a:xfrm>
          <a:prstGeom prst="rect">
            <a:avLst/>
          </a:prstGeom>
          <a:noFill/>
        </p:spPr>
        <p:txBody>
          <a:bodyPr wrap="square" rtlCol="0">
            <a:spAutoFit/>
          </a:bodyPr>
          <a:lstStyle/>
          <a:p>
            <a:r>
              <a:rPr lang="en-US" altLang="zh-CN" sz="1000">
                <a:cs typeface="Lato Light"/>
              </a:rPr>
              <a:t>Users can search amortization document by company code and invoice date: from to (mandatory) or more search criteria.</a:t>
            </a:r>
          </a:p>
        </p:txBody>
      </p:sp>
      <p:sp>
        <p:nvSpPr>
          <p:cNvPr id="17" name="Oval 111">
            <a:extLst>
              <a:ext uri="{FF2B5EF4-FFF2-40B4-BE49-F238E27FC236}">
                <a16:creationId xmlns:a16="http://schemas.microsoft.com/office/drawing/2014/main" id="{3832FB52-FD8F-1A66-6584-4C6CEC84CF32}"/>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2A1D8AE0-F24A-8485-1B9B-F6E336E6C288}"/>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A4E1CA63-8F81-F8BF-DFB2-E12893CA068B}"/>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083DE8A4-C7C6-CC23-615E-D693467306CC}"/>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pic>
        <p:nvPicPr>
          <p:cNvPr id="7" name="图片 6">
            <a:extLst>
              <a:ext uri="{FF2B5EF4-FFF2-40B4-BE49-F238E27FC236}">
                <a16:creationId xmlns:a16="http://schemas.microsoft.com/office/drawing/2014/main" id="{6A61D23E-7E03-F7C1-60D3-3DFE774E55B5}"/>
              </a:ext>
            </a:extLst>
          </p:cNvPr>
          <p:cNvPicPr>
            <a:picLocks noChangeAspect="1"/>
          </p:cNvPicPr>
          <p:nvPr/>
        </p:nvPicPr>
        <p:blipFill>
          <a:blip r:embed="rId2"/>
          <a:stretch>
            <a:fillRect/>
          </a:stretch>
        </p:blipFill>
        <p:spPr>
          <a:xfrm>
            <a:off x="549104" y="1743975"/>
            <a:ext cx="7828927" cy="3420213"/>
          </a:xfrm>
          <a:prstGeom prst="rect">
            <a:avLst/>
          </a:prstGeom>
        </p:spPr>
      </p:pic>
    </p:spTree>
    <p:extLst>
      <p:ext uri="{BB962C8B-B14F-4D97-AF65-F5344CB8AC3E}">
        <p14:creationId xmlns:p14="http://schemas.microsoft.com/office/powerpoint/2010/main" val="245100976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430E-F6A3-0AC2-C899-C6A71B843A6D}"/>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749278B-03EB-E2E4-685A-8808CA437E56}"/>
              </a:ext>
            </a:extLst>
          </p:cNvPr>
          <p:cNvSpPr>
            <a:spLocks noGrp="1"/>
          </p:cNvSpPr>
          <p:nvPr>
            <p:ph type="body" idx="10"/>
          </p:nvPr>
        </p:nvSpPr>
        <p:spPr>
          <a:xfrm>
            <a:off x="320183" y="920243"/>
            <a:ext cx="8320668" cy="984758"/>
          </a:xfrm>
        </p:spPr>
        <p:txBody>
          <a:bodyPr/>
          <a:lstStyle/>
          <a:p>
            <a:endParaRPr lang="en-US" altLang="zh-CN" sz="1200"/>
          </a:p>
          <a:p>
            <a:endParaRPr lang="en-US" altLang="zh-CN" sz="1200"/>
          </a:p>
        </p:txBody>
      </p:sp>
      <p:sp>
        <p:nvSpPr>
          <p:cNvPr id="3" name="标题 2">
            <a:extLst>
              <a:ext uri="{FF2B5EF4-FFF2-40B4-BE49-F238E27FC236}">
                <a16:creationId xmlns:a16="http://schemas.microsoft.com/office/drawing/2014/main" id="{7889F534-F981-9ED1-79C7-7787F3EF45A9}"/>
              </a:ext>
            </a:extLst>
          </p:cNvPr>
          <p:cNvSpPr>
            <a:spLocks noGrp="1"/>
          </p:cNvSpPr>
          <p:nvPr>
            <p:ph type="title"/>
          </p:nvPr>
        </p:nvSpPr>
        <p:spPr/>
        <p:txBody>
          <a:bodyPr/>
          <a:lstStyle/>
          <a:p>
            <a:r>
              <a:rPr lang="zh-CN" altLang="zh-CN"/>
              <a:t>Defer Revenue Amortization</a:t>
            </a:r>
            <a:r>
              <a:rPr lang="en-US" altLang="zh-CN"/>
              <a:t> (3/3) </a:t>
            </a:r>
            <a:r>
              <a:rPr lang="zh-CN" altLang="zh-CN"/>
              <a:t> </a:t>
            </a:r>
            <a:endParaRPr lang="zh-CN" altLang="en-US">
              <a:latin typeface="+mn-lt"/>
            </a:endParaRPr>
          </a:p>
        </p:txBody>
      </p:sp>
      <p:sp>
        <p:nvSpPr>
          <p:cNvPr id="14" name="文本占位符 3">
            <a:extLst>
              <a:ext uri="{FF2B5EF4-FFF2-40B4-BE49-F238E27FC236}">
                <a16:creationId xmlns:a16="http://schemas.microsoft.com/office/drawing/2014/main" id="{60F9BE93-9811-DE51-4CB4-4A88B4E7C5E7}"/>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41F7F0AA-7DAE-DFA9-48AC-2FF3A3CDD1FE}"/>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amortization document</a:t>
            </a:r>
          </a:p>
        </p:txBody>
      </p:sp>
      <p:sp>
        <p:nvSpPr>
          <p:cNvPr id="16" name="TextBox 73">
            <a:extLst>
              <a:ext uri="{FF2B5EF4-FFF2-40B4-BE49-F238E27FC236}">
                <a16:creationId xmlns:a16="http://schemas.microsoft.com/office/drawing/2014/main" id="{F8185441-6D01-4C61-EBDE-30A6532F0F36}"/>
              </a:ext>
            </a:extLst>
          </p:cNvPr>
          <p:cNvSpPr txBox="1"/>
          <p:nvPr/>
        </p:nvSpPr>
        <p:spPr>
          <a:xfrm>
            <a:off x="8986612" y="2004376"/>
            <a:ext cx="2845101" cy="553998"/>
          </a:xfrm>
          <a:prstGeom prst="rect">
            <a:avLst/>
          </a:prstGeom>
          <a:noFill/>
        </p:spPr>
        <p:txBody>
          <a:bodyPr wrap="square" rtlCol="0">
            <a:spAutoFit/>
          </a:bodyPr>
          <a:lstStyle/>
          <a:p>
            <a:r>
              <a:rPr lang="en-US" altLang="zh-CN" sz="1000">
                <a:cs typeface="Lato Light"/>
              </a:rPr>
              <a:t>Users can search amortization document by company code and invoice date: from to (mandatory) or more search criteria.</a:t>
            </a:r>
          </a:p>
        </p:txBody>
      </p:sp>
      <p:sp>
        <p:nvSpPr>
          <p:cNvPr id="17" name="Oval 111">
            <a:extLst>
              <a:ext uri="{FF2B5EF4-FFF2-40B4-BE49-F238E27FC236}">
                <a16:creationId xmlns:a16="http://schemas.microsoft.com/office/drawing/2014/main" id="{60708A9E-017E-D4A0-E97A-EB4101A26CC1}"/>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C8B891E5-9306-EB5E-148D-93C9964AC241}"/>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12346AEA-44EC-5193-8FD8-DB582197E72C}"/>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2409A035-84FE-0625-1683-90D7C1549DCD}"/>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pic>
        <p:nvPicPr>
          <p:cNvPr id="5" name="图片 4">
            <a:extLst>
              <a:ext uri="{FF2B5EF4-FFF2-40B4-BE49-F238E27FC236}">
                <a16:creationId xmlns:a16="http://schemas.microsoft.com/office/drawing/2014/main" id="{42993F9F-9BB5-1DD4-45B0-558064389F43}"/>
              </a:ext>
            </a:extLst>
          </p:cNvPr>
          <p:cNvPicPr>
            <a:picLocks noChangeAspect="1"/>
          </p:cNvPicPr>
          <p:nvPr/>
        </p:nvPicPr>
        <p:blipFill>
          <a:blip r:embed="rId2"/>
          <a:stretch>
            <a:fillRect/>
          </a:stretch>
        </p:blipFill>
        <p:spPr>
          <a:xfrm>
            <a:off x="544389" y="2232070"/>
            <a:ext cx="7872255" cy="3429083"/>
          </a:xfrm>
          <a:prstGeom prst="rect">
            <a:avLst/>
          </a:prstGeom>
        </p:spPr>
      </p:pic>
      <p:sp>
        <p:nvSpPr>
          <p:cNvPr id="6" name="文本占位符 1">
            <a:extLst>
              <a:ext uri="{FF2B5EF4-FFF2-40B4-BE49-F238E27FC236}">
                <a16:creationId xmlns:a16="http://schemas.microsoft.com/office/drawing/2014/main" id="{5D2A970B-DD11-722C-5FC8-F1AC1823598C}"/>
              </a:ext>
            </a:extLst>
          </p:cNvPr>
          <p:cNvSpPr txBox="1">
            <a:spLocks/>
          </p:cNvSpPr>
          <p:nvPr/>
        </p:nvSpPr>
        <p:spPr bwMode="auto">
          <a:xfrm>
            <a:off x="472583" y="1072643"/>
            <a:ext cx="8320668" cy="8323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188913" indent="-188913" algn="l" rtl="0" eaLnBrk="1" fontAlgn="base" hangingPunct="1">
              <a:spcBef>
                <a:spcPct val="20000"/>
              </a:spcBef>
              <a:spcAft>
                <a:spcPct val="0"/>
              </a:spcAft>
              <a:buNone/>
              <a:defRPr sz="1000" b="1" baseline="0">
                <a:solidFill>
                  <a:schemeClr val="tx1"/>
                </a:solidFill>
                <a:latin typeface="Aptos" panose="020B0004020202020204" pitchFamily="34" charset="0"/>
                <a:ea typeface="+mn-ea"/>
                <a:cs typeface="+mn-cs"/>
              </a:defRPr>
            </a:lvl1pPr>
            <a:lvl2pPr marL="566738" indent="-187325" algn="l" rtl="0" eaLnBrk="1" fontAlgn="base" hangingPunct="1">
              <a:spcBef>
                <a:spcPct val="20000"/>
              </a:spcBef>
              <a:spcAft>
                <a:spcPct val="0"/>
              </a:spcAft>
              <a:buChar char="»"/>
              <a:defRPr sz="1000">
                <a:solidFill>
                  <a:schemeClr val="tx1"/>
                </a:solidFill>
                <a:latin typeface="Aptos" panose="020B0004020202020204" pitchFamily="34" charset="0"/>
              </a:defRPr>
            </a:lvl2pPr>
            <a:lvl3pPr marL="955675" indent="-1588" algn="l" rtl="0" eaLnBrk="1" fontAlgn="base" hangingPunct="1">
              <a:spcBef>
                <a:spcPct val="20000"/>
              </a:spcBef>
              <a:spcAft>
                <a:spcPct val="0"/>
              </a:spcAft>
              <a:buChar char="•"/>
              <a:defRPr sz="1000">
                <a:solidFill>
                  <a:schemeClr val="tx1"/>
                </a:solidFill>
                <a:latin typeface="Aptos" panose="020B0004020202020204" pitchFamily="34" charset="0"/>
              </a:defRPr>
            </a:lvl3pPr>
            <a:lvl4pPr marL="1146175" indent="1588" algn="l" rtl="0" eaLnBrk="1" fontAlgn="base" hangingPunct="1">
              <a:spcBef>
                <a:spcPct val="20000"/>
              </a:spcBef>
              <a:spcAft>
                <a:spcPct val="0"/>
              </a:spcAft>
              <a:buChar char="–"/>
              <a:defRPr sz="1000">
                <a:solidFill>
                  <a:schemeClr val="tx1"/>
                </a:solidFill>
                <a:latin typeface="Aptos" panose="020B0004020202020204" pitchFamily="34" charset="0"/>
              </a:defRPr>
            </a:lvl4pPr>
            <a:lvl5pPr marL="1520825" indent="307975" algn="l" rtl="0" eaLnBrk="1" fontAlgn="base" hangingPunct="1">
              <a:spcBef>
                <a:spcPct val="20000"/>
              </a:spcBef>
              <a:spcAft>
                <a:spcPct val="0"/>
              </a:spcAft>
              <a:buChar char="»"/>
              <a:defRPr sz="1000">
                <a:solidFill>
                  <a:schemeClr val="tx1"/>
                </a:solidFill>
                <a:latin typeface="Aptos" panose="020B0004020202020204" pitchFamily="34" charset="0"/>
              </a:defRPr>
            </a:lvl5pPr>
            <a:lvl6pPr marL="1978025" algn="l" rtl="0" eaLnBrk="1" fontAlgn="base" hangingPunct="1">
              <a:spcBef>
                <a:spcPct val="20000"/>
              </a:spcBef>
              <a:spcAft>
                <a:spcPct val="0"/>
              </a:spcAft>
              <a:buChar char="»"/>
              <a:defRPr sz="2400">
                <a:solidFill>
                  <a:schemeClr val="tx1"/>
                </a:solidFill>
                <a:latin typeface="+mn-lt"/>
              </a:defRPr>
            </a:lvl6pPr>
            <a:lvl7pPr marL="2435225" algn="l" rtl="0" eaLnBrk="1" fontAlgn="base" hangingPunct="1">
              <a:spcBef>
                <a:spcPct val="20000"/>
              </a:spcBef>
              <a:spcAft>
                <a:spcPct val="0"/>
              </a:spcAft>
              <a:buChar char="»"/>
              <a:defRPr sz="2400">
                <a:solidFill>
                  <a:schemeClr val="tx1"/>
                </a:solidFill>
                <a:latin typeface="+mn-lt"/>
              </a:defRPr>
            </a:lvl7pPr>
            <a:lvl8pPr marL="2892425" algn="l" rtl="0" eaLnBrk="1" fontAlgn="base" hangingPunct="1">
              <a:spcBef>
                <a:spcPct val="20000"/>
              </a:spcBef>
              <a:spcAft>
                <a:spcPct val="0"/>
              </a:spcAft>
              <a:buChar char="»"/>
              <a:defRPr sz="2400">
                <a:solidFill>
                  <a:schemeClr val="tx1"/>
                </a:solidFill>
                <a:latin typeface="+mn-lt"/>
              </a:defRPr>
            </a:lvl8pPr>
            <a:lvl9pPr marL="3349625" algn="l" rtl="0" eaLnBrk="1" fontAlgn="base" hangingPunct="1">
              <a:spcBef>
                <a:spcPct val="20000"/>
              </a:spcBef>
              <a:spcAft>
                <a:spcPct val="0"/>
              </a:spcAft>
              <a:buChar char="»"/>
              <a:defRPr sz="2400">
                <a:solidFill>
                  <a:schemeClr val="tx1"/>
                </a:solidFill>
                <a:latin typeface="+mn-lt"/>
              </a:defRPr>
            </a:lvl9pPr>
          </a:lstStyle>
          <a:p>
            <a:r>
              <a:rPr lang="en-US" altLang="zh-CN" sz="1200" b="0" kern="0"/>
              <a:t>3:The Monthly Amt is the monthly amortization value.</a:t>
            </a:r>
          </a:p>
          <a:p>
            <a:r>
              <a:rPr lang="en-US" altLang="zh-CN" sz="1200" b="0" kern="0"/>
              <a:t>4:The </a:t>
            </a:r>
            <a:r>
              <a:rPr lang="en-US" altLang="zh-CN" sz="1200" b="0" kern="0" err="1"/>
              <a:t>Accum</a:t>
            </a:r>
            <a:r>
              <a:rPr lang="en-US" altLang="zh-CN" sz="1200" b="0" kern="0"/>
              <a:t> Amt is the sum amortization amount till current period.</a:t>
            </a:r>
          </a:p>
          <a:p>
            <a:r>
              <a:rPr lang="en-US" altLang="zh-CN" sz="1200" b="0" kern="0"/>
              <a:t>5:The Remain Amt means the amount should be amortized in the remain periods. </a:t>
            </a:r>
          </a:p>
        </p:txBody>
      </p:sp>
    </p:spTree>
    <p:extLst>
      <p:ext uri="{BB962C8B-B14F-4D97-AF65-F5344CB8AC3E}">
        <p14:creationId xmlns:p14="http://schemas.microsoft.com/office/powerpoint/2010/main" val="182498437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A348E-E32B-5852-A9A4-6C7F1518AE1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CC1F85B-8EBF-3580-7E7F-745CDF2FC9BB}"/>
              </a:ext>
            </a:extLst>
          </p:cNvPr>
          <p:cNvSpPr>
            <a:spLocks noGrp="1"/>
          </p:cNvSpPr>
          <p:nvPr>
            <p:ph type="body" idx="10"/>
          </p:nvPr>
        </p:nvSpPr>
        <p:spPr>
          <a:xfrm>
            <a:off x="355543" y="1231365"/>
            <a:ext cx="8320668" cy="1236532"/>
          </a:xfrm>
        </p:spPr>
        <p:txBody>
          <a:bodyPr/>
          <a:lstStyle/>
          <a:p>
            <a:r>
              <a:rPr lang="en-US" altLang="zh-CN" sz="1200"/>
              <a:t>This Report is  to calculate and display the following period amortization amount.</a:t>
            </a:r>
          </a:p>
          <a:p>
            <a:r>
              <a:rPr lang="en-US" altLang="zh-CN" sz="1200" b="0"/>
              <a:t>1: The search screen and result list refer the S4 forecast report.</a:t>
            </a:r>
          </a:p>
          <a:p>
            <a:r>
              <a:rPr lang="en-US" altLang="zh-CN" sz="1200" b="0"/>
              <a:t>2: We can choose the local currency and group currency  to display the forecast amount.</a:t>
            </a:r>
          </a:p>
          <a:p>
            <a:r>
              <a:rPr lang="en-US" altLang="zh-CN" sz="1200" b="0"/>
              <a:t>3: For more than 5 years defer revenue we can choose Output M1-M100 to display 100 period forecast amount.</a:t>
            </a:r>
          </a:p>
          <a:p>
            <a:endParaRPr lang="en-US" altLang="zh-CN" sz="1200"/>
          </a:p>
        </p:txBody>
      </p:sp>
      <p:sp>
        <p:nvSpPr>
          <p:cNvPr id="3" name="标题 2">
            <a:extLst>
              <a:ext uri="{FF2B5EF4-FFF2-40B4-BE49-F238E27FC236}">
                <a16:creationId xmlns:a16="http://schemas.microsoft.com/office/drawing/2014/main" id="{6E8FF6D6-CED5-3CCC-5D9E-B03B1841FE3C}"/>
              </a:ext>
            </a:extLst>
          </p:cNvPr>
          <p:cNvSpPr>
            <a:spLocks noGrp="1"/>
          </p:cNvSpPr>
          <p:nvPr>
            <p:ph type="title"/>
          </p:nvPr>
        </p:nvSpPr>
        <p:spPr/>
        <p:txBody>
          <a:bodyPr/>
          <a:lstStyle/>
          <a:p>
            <a:r>
              <a:rPr lang="zh-CN" altLang="zh-CN"/>
              <a:t>Defer Revenue </a:t>
            </a:r>
            <a:r>
              <a:rPr lang="en-US" altLang="zh-CN"/>
              <a:t>Forecast (1/2) </a:t>
            </a:r>
            <a:r>
              <a:rPr lang="zh-CN" altLang="zh-CN"/>
              <a:t> </a:t>
            </a:r>
            <a:endParaRPr lang="zh-CN" altLang="en-US">
              <a:latin typeface="+mn-lt"/>
            </a:endParaRPr>
          </a:p>
        </p:txBody>
      </p:sp>
      <p:sp>
        <p:nvSpPr>
          <p:cNvPr id="14" name="文本占位符 3">
            <a:extLst>
              <a:ext uri="{FF2B5EF4-FFF2-40B4-BE49-F238E27FC236}">
                <a16:creationId xmlns:a16="http://schemas.microsoft.com/office/drawing/2014/main" id="{FEC077F3-3F42-B552-FFD7-D171EB2BE75C}"/>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2A8FCE6F-D541-E3B3-CB43-9A052D0AFA08}"/>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Forecast document</a:t>
            </a:r>
          </a:p>
        </p:txBody>
      </p:sp>
      <p:sp>
        <p:nvSpPr>
          <p:cNvPr id="16" name="TextBox 73">
            <a:extLst>
              <a:ext uri="{FF2B5EF4-FFF2-40B4-BE49-F238E27FC236}">
                <a16:creationId xmlns:a16="http://schemas.microsoft.com/office/drawing/2014/main" id="{516E806A-C583-09E0-7DF9-85558AC896F3}"/>
              </a:ext>
            </a:extLst>
          </p:cNvPr>
          <p:cNvSpPr txBox="1"/>
          <p:nvPr/>
        </p:nvSpPr>
        <p:spPr>
          <a:xfrm>
            <a:off x="8986612" y="2004376"/>
            <a:ext cx="2845101" cy="553998"/>
          </a:xfrm>
          <a:prstGeom prst="rect">
            <a:avLst/>
          </a:prstGeom>
          <a:noFill/>
        </p:spPr>
        <p:txBody>
          <a:bodyPr wrap="square" rtlCol="0">
            <a:spAutoFit/>
          </a:bodyPr>
          <a:lstStyle/>
          <a:p>
            <a:r>
              <a:rPr lang="en-US" altLang="zh-CN" sz="1000">
                <a:cs typeface="Lato Light"/>
              </a:rPr>
              <a:t>Users can search forecast amount by company code and invoice date: from to (mandatory) or more search criteria.</a:t>
            </a:r>
          </a:p>
        </p:txBody>
      </p:sp>
      <p:sp>
        <p:nvSpPr>
          <p:cNvPr id="17" name="Oval 111">
            <a:extLst>
              <a:ext uri="{FF2B5EF4-FFF2-40B4-BE49-F238E27FC236}">
                <a16:creationId xmlns:a16="http://schemas.microsoft.com/office/drawing/2014/main" id="{CA8009E7-82F3-817B-2231-9D75C73877A8}"/>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200A0569-3206-4EED-D926-E2E256CE6AEB}"/>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01F51F9E-BECF-C366-F04F-0AF85339962C}"/>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C0F14FB1-E31C-3F48-73E4-5A5CCA6643F5}"/>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pic>
        <p:nvPicPr>
          <p:cNvPr id="5" name="图片 4">
            <a:extLst>
              <a:ext uri="{FF2B5EF4-FFF2-40B4-BE49-F238E27FC236}">
                <a16:creationId xmlns:a16="http://schemas.microsoft.com/office/drawing/2014/main" id="{81F55C6A-500E-7E66-7BD3-A6CF7DFD66E6}"/>
              </a:ext>
            </a:extLst>
          </p:cNvPr>
          <p:cNvPicPr>
            <a:picLocks noChangeAspect="1"/>
          </p:cNvPicPr>
          <p:nvPr/>
        </p:nvPicPr>
        <p:blipFill>
          <a:blip r:embed="rId2"/>
          <a:stretch>
            <a:fillRect/>
          </a:stretch>
        </p:blipFill>
        <p:spPr>
          <a:xfrm>
            <a:off x="381679" y="2273855"/>
            <a:ext cx="8242911" cy="3955095"/>
          </a:xfrm>
          <a:prstGeom prst="rect">
            <a:avLst/>
          </a:prstGeom>
        </p:spPr>
      </p:pic>
    </p:spTree>
    <p:extLst>
      <p:ext uri="{BB962C8B-B14F-4D97-AF65-F5344CB8AC3E}">
        <p14:creationId xmlns:p14="http://schemas.microsoft.com/office/powerpoint/2010/main" val="3709894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775AC-C7F4-C5BA-D36A-C74F8BF4D7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9B08D51-45BD-8FEA-BAF8-FA5F1CF8C690}"/>
              </a:ext>
            </a:extLst>
          </p:cNvPr>
          <p:cNvSpPr>
            <a:spLocks noGrp="1"/>
          </p:cNvSpPr>
          <p:nvPr>
            <p:ph type="body" idx="10"/>
          </p:nvPr>
        </p:nvSpPr>
        <p:spPr>
          <a:xfrm>
            <a:off x="355543" y="1113378"/>
            <a:ext cx="8320668" cy="1079216"/>
          </a:xfrm>
        </p:spPr>
        <p:txBody>
          <a:bodyPr/>
          <a:lstStyle/>
          <a:p>
            <a:r>
              <a:rPr lang="en-US" altLang="zh-CN" sz="1200" b="0"/>
              <a:t>4: The column Fix rate is the real time exchange rate which is from SAP S4.</a:t>
            </a:r>
          </a:p>
          <a:p>
            <a:r>
              <a:rPr lang="en-US" altLang="zh-CN" sz="1200" b="0"/>
              <a:t>5: The column Monthly Amt = forecast amount/terms.</a:t>
            </a:r>
          </a:p>
          <a:p>
            <a:r>
              <a:rPr lang="en-US" altLang="zh-CN" sz="1200" b="0"/>
              <a:t>6: The column </a:t>
            </a:r>
            <a:r>
              <a:rPr lang="en-US" altLang="zh-CN" sz="1200" b="0" err="1"/>
              <a:t>Accum</a:t>
            </a:r>
            <a:r>
              <a:rPr lang="en-US" altLang="zh-CN" sz="1200" b="0"/>
              <a:t> amt=Monthly Amt x Current month.</a:t>
            </a:r>
          </a:p>
          <a:p>
            <a:r>
              <a:rPr lang="en-US" altLang="zh-CN" sz="1200" b="0"/>
              <a:t>7: The column Forecast amt-M1=Monthly Amt, this forecast only for average amount forecast model.</a:t>
            </a:r>
          </a:p>
        </p:txBody>
      </p:sp>
      <p:sp>
        <p:nvSpPr>
          <p:cNvPr id="3" name="标题 2">
            <a:extLst>
              <a:ext uri="{FF2B5EF4-FFF2-40B4-BE49-F238E27FC236}">
                <a16:creationId xmlns:a16="http://schemas.microsoft.com/office/drawing/2014/main" id="{8D3FAEF8-82DB-19D8-E32E-440ECBE34773}"/>
              </a:ext>
            </a:extLst>
          </p:cNvPr>
          <p:cNvSpPr>
            <a:spLocks noGrp="1"/>
          </p:cNvSpPr>
          <p:nvPr>
            <p:ph type="title"/>
          </p:nvPr>
        </p:nvSpPr>
        <p:spPr/>
        <p:txBody>
          <a:bodyPr/>
          <a:lstStyle/>
          <a:p>
            <a:r>
              <a:rPr lang="zh-CN" altLang="zh-CN"/>
              <a:t>Defer Revenue </a:t>
            </a:r>
            <a:r>
              <a:rPr lang="en-US" altLang="zh-CN"/>
              <a:t>Forecast(2/2) </a:t>
            </a:r>
            <a:r>
              <a:rPr lang="zh-CN" altLang="zh-CN"/>
              <a:t>  </a:t>
            </a:r>
            <a:endParaRPr lang="zh-CN" altLang="en-US">
              <a:latin typeface="+mn-lt"/>
            </a:endParaRPr>
          </a:p>
        </p:txBody>
      </p:sp>
      <p:sp>
        <p:nvSpPr>
          <p:cNvPr id="14" name="文本占位符 3">
            <a:extLst>
              <a:ext uri="{FF2B5EF4-FFF2-40B4-BE49-F238E27FC236}">
                <a16:creationId xmlns:a16="http://schemas.microsoft.com/office/drawing/2014/main" id="{3DBD43A3-72F0-7B13-004E-0F52010C33F2}"/>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2AF18AF0-3C7B-8936-6D86-21DBFF7CF9A6}"/>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forecast document</a:t>
            </a:r>
          </a:p>
        </p:txBody>
      </p:sp>
      <p:sp>
        <p:nvSpPr>
          <p:cNvPr id="16" name="TextBox 73">
            <a:extLst>
              <a:ext uri="{FF2B5EF4-FFF2-40B4-BE49-F238E27FC236}">
                <a16:creationId xmlns:a16="http://schemas.microsoft.com/office/drawing/2014/main" id="{6B68C991-4A30-944E-78BE-252983608574}"/>
              </a:ext>
            </a:extLst>
          </p:cNvPr>
          <p:cNvSpPr txBox="1"/>
          <p:nvPr/>
        </p:nvSpPr>
        <p:spPr>
          <a:xfrm>
            <a:off x="8986612" y="2004376"/>
            <a:ext cx="2845101" cy="553998"/>
          </a:xfrm>
          <a:prstGeom prst="rect">
            <a:avLst/>
          </a:prstGeom>
          <a:noFill/>
        </p:spPr>
        <p:txBody>
          <a:bodyPr wrap="square" rtlCol="0">
            <a:spAutoFit/>
          </a:bodyPr>
          <a:lstStyle/>
          <a:p>
            <a:r>
              <a:rPr lang="en-US" altLang="zh-CN" sz="1000">
                <a:cs typeface="Lato Light"/>
              </a:rPr>
              <a:t>Users can search forecast amount by company code and invoice date: from to (mandatory) or more search criteria.</a:t>
            </a:r>
          </a:p>
        </p:txBody>
      </p:sp>
      <p:sp>
        <p:nvSpPr>
          <p:cNvPr id="17" name="Oval 111">
            <a:extLst>
              <a:ext uri="{FF2B5EF4-FFF2-40B4-BE49-F238E27FC236}">
                <a16:creationId xmlns:a16="http://schemas.microsoft.com/office/drawing/2014/main" id="{7244EC95-B0E1-A990-AF47-1508874E1ACB}"/>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053484FC-8405-625C-6893-D2CD8B021FB8}"/>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45ECE119-E292-DD4F-9788-6BCE2E8C93EC}"/>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50FF30E6-BB09-6C93-119A-0F9E961E0C82}"/>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pic>
        <p:nvPicPr>
          <p:cNvPr id="6" name="图片 5">
            <a:extLst>
              <a:ext uri="{FF2B5EF4-FFF2-40B4-BE49-F238E27FC236}">
                <a16:creationId xmlns:a16="http://schemas.microsoft.com/office/drawing/2014/main" id="{F7FF3A8E-3D8B-B2FC-CC42-7F0A2E720C2D}"/>
              </a:ext>
            </a:extLst>
          </p:cNvPr>
          <p:cNvPicPr>
            <a:picLocks noChangeAspect="1"/>
          </p:cNvPicPr>
          <p:nvPr/>
        </p:nvPicPr>
        <p:blipFill>
          <a:blip r:embed="rId2"/>
          <a:stretch>
            <a:fillRect/>
          </a:stretch>
        </p:blipFill>
        <p:spPr>
          <a:xfrm>
            <a:off x="532523" y="2467897"/>
            <a:ext cx="7795399" cy="3593738"/>
          </a:xfrm>
          <a:prstGeom prst="rect">
            <a:avLst/>
          </a:prstGeom>
        </p:spPr>
      </p:pic>
    </p:spTree>
    <p:extLst>
      <p:ext uri="{BB962C8B-B14F-4D97-AF65-F5344CB8AC3E}">
        <p14:creationId xmlns:p14="http://schemas.microsoft.com/office/powerpoint/2010/main" val="22440293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AE430-0A06-6A27-92E8-B85E3D3FA92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C4A747A-D4F6-3660-05F1-5F5CDC61D1D4}"/>
              </a:ext>
            </a:extLst>
          </p:cNvPr>
          <p:cNvSpPr>
            <a:spLocks noGrp="1"/>
          </p:cNvSpPr>
          <p:nvPr>
            <p:ph type="body" idx="10"/>
          </p:nvPr>
        </p:nvSpPr>
        <p:spPr>
          <a:xfrm>
            <a:off x="355543" y="985044"/>
            <a:ext cx="8320668" cy="1207549"/>
          </a:xfrm>
        </p:spPr>
        <p:txBody>
          <a:bodyPr/>
          <a:lstStyle/>
          <a:p>
            <a:r>
              <a:rPr lang="en-US" altLang="zh-CN" sz="1400" b="0"/>
              <a:t>This Report is to show FA(</a:t>
            </a:r>
            <a:r>
              <a:rPr lang="en-US" altLang="zh-CN" sz="1400" b="0" err="1"/>
              <a:t>NexBill</a:t>
            </a:r>
            <a:r>
              <a:rPr lang="en-US" altLang="zh-CN" sz="1400" b="0"/>
              <a:t> finance accounting document) and FI( SAP FI document) relationship, and we can see the document item level mapping.</a:t>
            </a:r>
          </a:p>
          <a:p>
            <a:endParaRPr lang="en-US" altLang="zh-CN" sz="1200"/>
          </a:p>
        </p:txBody>
      </p:sp>
      <p:sp>
        <p:nvSpPr>
          <p:cNvPr id="3" name="标题 2">
            <a:extLst>
              <a:ext uri="{FF2B5EF4-FFF2-40B4-BE49-F238E27FC236}">
                <a16:creationId xmlns:a16="http://schemas.microsoft.com/office/drawing/2014/main" id="{AC7D1FFC-8217-775A-CDF2-9AFCBD79B42B}"/>
              </a:ext>
            </a:extLst>
          </p:cNvPr>
          <p:cNvSpPr>
            <a:spLocks noGrp="1"/>
          </p:cNvSpPr>
          <p:nvPr>
            <p:ph type="title"/>
          </p:nvPr>
        </p:nvSpPr>
        <p:spPr/>
        <p:txBody>
          <a:bodyPr/>
          <a:lstStyle/>
          <a:p>
            <a:r>
              <a:rPr lang="en-US" altLang="zh-CN"/>
              <a:t>FA FI Integration report</a:t>
            </a:r>
            <a:endParaRPr lang="zh-CN" altLang="en-US">
              <a:latin typeface="+mn-lt"/>
            </a:endParaRPr>
          </a:p>
        </p:txBody>
      </p:sp>
      <p:sp>
        <p:nvSpPr>
          <p:cNvPr id="14" name="文本占位符 3">
            <a:extLst>
              <a:ext uri="{FF2B5EF4-FFF2-40B4-BE49-F238E27FC236}">
                <a16:creationId xmlns:a16="http://schemas.microsoft.com/office/drawing/2014/main" id="{EFF2E30D-11B2-F625-35EA-CA5416D1390A}"/>
              </a:ext>
            </a:extLst>
          </p:cNvPr>
          <p:cNvSpPr>
            <a:spLocks noGrp="1"/>
          </p:cNvSpPr>
          <p:nvPr>
            <p:ph type="body" idx="12"/>
          </p:nvPr>
        </p:nvSpPr>
        <p:spPr>
          <a:xfrm>
            <a:off x="8693403" y="1524653"/>
            <a:ext cx="3285455" cy="4843919"/>
          </a:xfrm>
        </p:spPr>
        <p:txBody>
          <a:bodyPr/>
          <a:lstStyle/>
          <a:p>
            <a:endParaRPr lang="zh-CN" altLang="en-US"/>
          </a:p>
        </p:txBody>
      </p:sp>
      <p:sp>
        <p:nvSpPr>
          <p:cNvPr id="15" name="TextBox 72">
            <a:extLst>
              <a:ext uri="{FF2B5EF4-FFF2-40B4-BE49-F238E27FC236}">
                <a16:creationId xmlns:a16="http://schemas.microsoft.com/office/drawing/2014/main" id="{F7CCEA93-9286-F2FF-ED76-A7B96E0C2EDF}"/>
              </a:ext>
            </a:extLst>
          </p:cNvPr>
          <p:cNvSpPr txBox="1"/>
          <p:nvPr/>
        </p:nvSpPr>
        <p:spPr>
          <a:xfrm>
            <a:off x="8988682" y="1743975"/>
            <a:ext cx="2790479" cy="292388"/>
          </a:xfrm>
          <a:prstGeom prst="rect">
            <a:avLst/>
          </a:prstGeom>
          <a:noFill/>
        </p:spPr>
        <p:txBody>
          <a:bodyPr wrap="square" rtlCol="0">
            <a:spAutoFit/>
          </a:bodyPr>
          <a:lstStyle/>
          <a:p>
            <a:r>
              <a:rPr lang="en-US" sz="1300" b="1">
                <a:solidFill>
                  <a:schemeClr val="accent6">
                    <a:lumMod val="75000"/>
                    <a:lumOff val="25000"/>
                  </a:schemeClr>
                </a:solidFill>
                <a:cs typeface="Lato Regular"/>
              </a:rPr>
              <a:t>Search FA FI document </a:t>
            </a:r>
          </a:p>
        </p:txBody>
      </p:sp>
      <p:sp>
        <p:nvSpPr>
          <p:cNvPr id="16" name="TextBox 73">
            <a:extLst>
              <a:ext uri="{FF2B5EF4-FFF2-40B4-BE49-F238E27FC236}">
                <a16:creationId xmlns:a16="http://schemas.microsoft.com/office/drawing/2014/main" id="{9EB3E546-35F2-94D8-38DA-87D03C584DCC}"/>
              </a:ext>
            </a:extLst>
          </p:cNvPr>
          <p:cNvSpPr txBox="1"/>
          <p:nvPr/>
        </p:nvSpPr>
        <p:spPr>
          <a:xfrm>
            <a:off x="8986612" y="2004376"/>
            <a:ext cx="2845101" cy="553998"/>
          </a:xfrm>
          <a:prstGeom prst="rect">
            <a:avLst/>
          </a:prstGeom>
          <a:noFill/>
        </p:spPr>
        <p:txBody>
          <a:bodyPr wrap="square" rtlCol="0">
            <a:spAutoFit/>
          </a:bodyPr>
          <a:lstStyle/>
          <a:p>
            <a:r>
              <a:rPr lang="en-US" altLang="zh-CN" sz="1000">
                <a:cs typeface="Lato Light"/>
              </a:rPr>
              <a:t>Users can search FA FI document item  by company code and invoice date: from to (mandatory) or more search criteria.</a:t>
            </a:r>
          </a:p>
        </p:txBody>
      </p:sp>
      <p:sp>
        <p:nvSpPr>
          <p:cNvPr id="17" name="Oval 111">
            <a:extLst>
              <a:ext uri="{FF2B5EF4-FFF2-40B4-BE49-F238E27FC236}">
                <a16:creationId xmlns:a16="http://schemas.microsoft.com/office/drawing/2014/main" id="{ECD6F258-0B17-4A3C-FA15-A86D16E51128}"/>
              </a:ext>
            </a:extLst>
          </p:cNvPr>
          <p:cNvSpPr/>
          <p:nvPr/>
        </p:nvSpPr>
        <p:spPr>
          <a:xfrm>
            <a:off x="8742890" y="1812263"/>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18" name="TextBox 82">
            <a:extLst>
              <a:ext uri="{FF2B5EF4-FFF2-40B4-BE49-F238E27FC236}">
                <a16:creationId xmlns:a16="http://schemas.microsoft.com/office/drawing/2014/main" id="{B3B6A768-333A-0264-4416-757C5279AA6C}"/>
              </a:ext>
            </a:extLst>
          </p:cNvPr>
          <p:cNvSpPr txBox="1"/>
          <p:nvPr/>
        </p:nvSpPr>
        <p:spPr>
          <a:xfrm>
            <a:off x="9012978" y="2880623"/>
            <a:ext cx="1939214" cy="292388"/>
          </a:xfrm>
          <a:prstGeom prst="rect">
            <a:avLst/>
          </a:prstGeom>
          <a:noFill/>
        </p:spPr>
        <p:txBody>
          <a:bodyPr wrap="square" rtlCol="0">
            <a:spAutoFit/>
          </a:bodyPr>
          <a:lstStyle/>
          <a:p>
            <a:r>
              <a:rPr lang="en-US" sz="1300" b="1">
                <a:solidFill>
                  <a:srgbClr val="126C36"/>
                </a:solidFill>
                <a:cs typeface="Lato Regular"/>
              </a:rPr>
              <a:t>Result List</a:t>
            </a:r>
          </a:p>
        </p:txBody>
      </p:sp>
      <p:sp>
        <p:nvSpPr>
          <p:cNvPr id="19" name="Oval 112">
            <a:extLst>
              <a:ext uri="{FF2B5EF4-FFF2-40B4-BE49-F238E27FC236}">
                <a16:creationId xmlns:a16="http://schemas.microsoft.com/office/drawing/2014/main" id="{1517B4AC-93F8-DF97-4290-1E8AEF7A6346}"/>
              </a:ext>
            </a:extLst>
          </p:cNvPr>
          <p:cNvSpPr/>
          <p:nvPr/>
        </p:nvSpPr>
        <p:spPr>
          <a:xfrm>
            <a:off x="8784378" y="2898618"/>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20" name="TextBox 73">
            <a:extLst>
              <a:ext uri="{FF2B5EF4-FFF2-40B4-BE49-F238E27FC236}">
                <a16:creationId xmlns:a16="http://schemas.microsoft.com/office/drawing/2014/main" id="{19EF4371-F33F-BF7A-A854-0C2CCD490CCC}"/>
              </a:ext>
            </a:extLst>
          </p:cNvPr>
          <p:cNvSpPr txBox="1"/>
          <p:nvPr/>
        </p:nvSpPr>
        <p:spPr>
          <a:xfrm>
            <a:off x="8986612" y="3217461"/>
            <a:ext cx="2845101" cy="3170099"/>
          </a:xfrm>
          <a:prstGeom prst="rect">
            <a:avLst/>
          </a:prstGeom>
          <a:noFill/>
        </p:spPr>
        <p:txBody>
          <a:bodyPr wrap="square" rtlCol="0">
            <a:spAutoFit/>
          </a:bodyPr>
          <a:lstStyle/>
          <a:p>
            <a:r>
              <a:rPr lang="en-US" altLang="zh-CN" sz="1000" b="1">
                <a:cs typeface="Lato Light"/>
              </a:rPr>
              <a:t>APPLY</a:t>
            </a:r>
          </a:p>
          <a:p>
            <a:r>
              <a:rPr lang="en-US" altLang="zh-CN" sz="1000"/>
              <a:t>After input selection parameter, then using “Apply” to run report</a:t>
            </a:r>
            <a:r>
              <a:rPr lang="en-US" altLang="zh-CN" sz="1000">
                <a:cs typeface="Lato Light"/>
              </a:rPr>
              <a:t>.</a:t>
            </a:r>
          </a:p>
          <a:p>
            <a:endParaRPr lang="en-US" altLang="zh-CN" sz="1000" b="1">
              <a:cs typeface="Lato Light"/>
            </a:endParaRPr>
          </a:p>
          <a:p>
            <a:r>
              <a:rPr lang="en-US" altLang="zh-CN" sz="1000" b="1">
                <a:cs typeface="Lato Light"/>
              </a:rPr>
              <a:t>Settings</a:t>
            </a:r>
          </a:p>
          <a:p>
            <a:r>
              <a:rPr lang="en-US" altLang="zh-CN" sz="1000">
                <a:cs typeface="Lato Light"/>
              </a:rPr>
              <a:t>The Settings function allows users to personalize the result list layout.</a:t>
            </a:r>
          </a:p>
          <a:p>
            <a:r>
              <a:rPr lang="en-US" altLang="zh-CN" sz="1000">
                <a:cs typeface="Lato Light"/>
              </a:rPr>
              <a:t>Select which fields are displayed in the search results from Available list.</a:t>
            </a:r>
          </a:p>
          <a:p>
            <a:endParaRPr lang="en-US" altLang="zh-CN" sz="1000">
              <a:cs typeface="Lato Light"/>
            </a:endParaRPr>
          </a:p>
          <a:p>
            <a:pPr lvl="0">
              <a:defRPr/>
            </a:pPr>
            <a:r>
              <a:rPr lang="en-US" altLang="zh-CN" sz="1000" b="1">
                <a:cs typeface="Lato Light"/>
              </a:rPr>
              <a:t>Export</a:t>
            </a:r>
          </a:p>
          <a:p>
            <a:pPr lvl="0" defTabSz="1218987">
              <a:defRPr/>
            </a:pPr>
            <a:r>
              <a:rPr lang="en-US" altLang="zh-CN" sz="1000"/>
              <a:t>Using “Export” to download the  report to excel to </a:t>
            </a:r>
            <a:r>
              <a:rPr lang="en-US" altLang="zh-CN" sz="1000">
                <a:cs typeface="Lato Light"/>
              </a:rPr>
              <a:t>analysis the reporting offline</a:t>
            </a:r>
          </a:p>
          <a:p>
            <a:pPr lvl="0" defTabSz="1218987">
              <a:defRPr/>
            </a:pPr>
            <a:endParaRPr lang="en-US" altLang="zh-CN" sz="1000">
              <a:cs typeface="Lato Light"/>
            </a:endParaRPr>
          </a:p>
          <a:p>
            <a:pPr lvl="0" defTabSz="1218987">
              <a:defRPr/>
            </a:pPr>
            <a:r>
              <a:rPr lang="en-US" altLang="zh-CN" sz="1000" b="1">
                <a:cs typeface="Lato Light"/>
              </a:rPr>
              <a:t>Rest</a:t>
            </a:r>
          </a:p>
          <a:p>
            <a:pPr lvl="0" defTabSz="1218987">
              <a:defRPr/>
            </a:pPr>
            <a:r>
              <a:rPr lang="en-US" altLang="zh-CN" sz="1000">
                <a:cs typeface="Lato Light"/>
              </a:rPr>
              <a:t>User can use Reset  button to  reset  the search criteria and input new parameters</a:t>
            </a:r>
          </a:p>
          <a:p>
            <a:pPr lvl="0" defTabSz="1218987">
              <a:defRPr/>
            </a:pPr>
            <a:endParaRPr lang="en-US" altLang="zh-CN" sz="1000">
              <a:cs typeface="Lato Light"/>
            </a:endParaRPr>
          </a:p>
          <a:p>
            <a:pPr lvl="0" defTabSz="1218987">
              <a:defRPr/>
            </a:pPr>
            <a:r>
              <a:rPr lang="en-US" altLang="zh-CN" sz="1000" b="1">
                <a:cs typeface="Lato Light"/>
              </a:rPr>
              <a:t>Refresh</a:t>
            </a:r>
          </a:p>
          <a:p>
            <a:pPr lvl="0" defTabSz="1218987">
              <a:defRPr/>
            </a:pPr>
            <a:r>
              <a:rPr lang="en-US" altLang="zh-CN" sz="1000">
                <a:cs typeface="Lato Light"/>
              </a:rPr>
              <a:t> User can use Refresh to update the report data</a:t>
            </a:r>
            <a:endParaRPr lang="en-US" altLang="zh-CN" sz="1000"/>
          </a:p>
        </p:txBody>
      </p:sp>
      <p:pic>
        <p:nvPicPr>
          <p:cNvPr id="5" name="图片 4">
            <a:extLst>
              <a:ext uri="{FF2B5EF4-FFF2-40B4-BE49-F238E27FC236}">
                <a16:creationId xmlns:a16="http://schemas.microsoft.com/office/drawing/2014/main" id="{528C725D-E9B8-E036-A2D4-8A8D55FF10F0}"/>
              </a:ext>
            </a:extLst>
          </p:cNvPr>
          <p:cNvPicPr>
            <a:picLocks noChangeAspect="1"/>
          </p:cNvPicPr>
          <p:nvPr/>
        </p:nvPicPr>
        <p:blipFill>
          <a:blip r:embed="rId2"/>
          <a:stretch>
            <a:fillRect/>
          </a:stretch>
        </p:blipFill>
        <p:spPr>
          <a:xfrm>
            <a:off x="412839" y="1556392"/>
            <a:ext cx="7910373" cy="3859476"/>
          </a:xfrm>
          <a:prstGeom prst="rect">
            <a:avLst/>
          </a:prstGeom>
        </p:spPr>
      </p:pic>
    </p:spTree>
    <p:extLst>
      <p:ext uri="{BB962C8B-B14F-4D97-AF65-F5344CB8AC3E}">
        <p14:creationId xmlns:p14="http://schemas.microsoft.com/office/powerpoint/2010/main" val="40125280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animBg="1"/>
      <p:bldP spid="20"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B927-D31A-FDC8-1872-AECA0ED593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92AA2B-0571-52E2-7C92-3E04E1D497B7}"/>
              </a:ext>
            </a:extLst>
          </p:cNvPr>
          <p:cNvSpPr>
            <a:spLocks noGrp="1"/>
          </p:cNvSpPr>
          <p:nvPr>
            <p:ph type="title"/>
          </p:nvPr>
        </p:nvSpPr>
        <p:spPr>
          <a:xfrm>
            <a:off x="267690" y="1412760"/>
            <a:ext cx="7209879" cy="965108"/>
          </a:xfrm>
        </p:spPr>
        <p:txBody>
          <a:bodyPr/>
          <a:lstStyle/>
          <a:p>
            <a:r>
              <a:rPr lang="en-US" altLang="zh-CN" sz="4800"/>
              <a:t>11. Approval Center</a:t>
            </a:r>
            <a:endParaRPr lang="zh-CN" altLang="en-US" sz="4800"/>
          </a:p>
        </p:txBody>
      </p:sp>
      <p:sp>
        <p:nvSpPr>
          <p:cNvPr id="4" name="文本占位符 3">
            <a:extLst>
              <a:ext uri="{FF2B5EF4-FFF2-40B4-BE49-F238E27FC236}">
                <a16:creationId xmlns:a16="http://schemas.microsoft.com/office/drawing/2014/main" id="{26BA6591-8081-307A-9578-CB102EEC92DA}"/>
              </a:ext>
            </a:extLst>
          </p:cNvPr>
          <p:cNvSpPr>
            <a:spLocks noGrp="1"/>
          </p:cNvSpPr>
          <p:nvPr>
            <p:ph type="body" idx="11"/>
          </p:nvPr>
        </p:nvSpPr>
        <p:spPr>
          <a:xfrm>
            <a:off x="750528" y="5517488"/>
            <a:ext cx="6265272" cy="133626"/>
          </a:xfrm>
        </p:spPr>
        <p:txBody>
          <a:bodyPr/>
          <a:lstStyle/>
          <a:p>
            <a:r>
              <a:rPr lang="en-US" altLang="zh-CN" sz="1000"/>
              <a:t>Duration:		10 Minutes</a:t>
            </a:r>
            <a:endParaRPr lang="zh-CN" altLang="en-US" sz="1000"/>
          </a:p>
        </p:txBody>
      </p:sp>
      <p:sp>
        <p:nvSpPr>
          <p:cNvPr id="5" name="文本占位符 4">
            <a:extLst>
              <a:ext uri="{FF2B5EF4-FFF2-40B4-BE49-F238E27FC236}">
                <a16:creationId xmlns:a16="http://schemas.microsoft.com/office/drawing/2014/main" id="{D96980B6-1088-333F-CB78-2645844A720E}"/>
              </a:ext>
            </a:extLst>
          </p:cNvPr>
          <p:cNvSpPr>
            <a:spLocks noGrp="1"/>
          </p:cNvSpPr>
          <p:nvPr>
            <p:ph type="body" idx="12"/>
          </p:nvPr>
        </p:nvSpPr>
        <p:spPr/>
        <p:txBody>
          <a:bodyPr/>
          <a:lstStyle/>
          <a:p>
            <a:pPr marL="171450" indent="-171450">
              <a:lnSpc>
                <a:spcPct val="150000"/>
              </a:lnSpc>
              <a:buFont typeface="Arial" panose="020B0604020202020204" pitchFamily="34" charset="0"/>
              <a:buChar char="•"/>
            </a:pPr>
            <a:r>
              <a:rPr lang="en-US" altLang="zh-CN">
                <a:solidFill>
                  <a:schemeClr val="bg1"/>
                </a:solidFill>
              </a:rPr>
              <a:t>My Request			- Joy Jiang</a:t>
            </a:r>
          </a:p>
          <a:p>
            <a:pPr marL="171450" indent="-171450">
              <a:lnSpc>
                <a:spcPct val="150000"/>
              </a:lnSpc>
              <a:buFont typeface="Arial" panose="020B0604020202020204" pitchFamily="34" charset="0"/>
              <a:buChar char="•"/>
            </a:pPr>
            <a:r>
              <a:rPr lang="en-US" altLang="zh-CN">
                <a:solidFill>
                  <a:schemeClr val="bg1"/>
                </a:solidFill>
              </a:rPr>
              <a:t>My Approval			- Joy Jiang</a:t>
            </a:r>
          </a:p>
          <a:p>
            <a:pPr marL="171450" indent="-171450">
              <a:lnSpc>
                <a:spcPct val="150000"/>
              </a:lnSpc>
              <a:buFont typeface="Arial" panose="020B0604020202020204" pitchFamily="34" charset="0"/>
              <a:buChar char="•"/>
            </a:pPr>
            <a:r>
              <a:rPr lang="en-US" altLang="zh-CN">
                <a:solidFill>
                  <a:schemeClr val="bg1"/>
                </a:solidFill>
              </a:rPr>
              <a:t>Approval Configuration		- Joy Jiang</a:t>
            </a:r>
          </a:p>
        </p:txBody>
      </p:sp>
    </p:spTree>
    <p:extLst>
      <p:ext uri="{BB962C8B-B14F-4D97-AF65-F5344CB8AC3E}">
        <p14:creationId xmlns:p14="http://schemas.microsoft.com/office/powerpoint/2010/main" val="2117654162"/>
      </p:ext>
    </p:extLst>
  </p:cSld>
  <p:clrMapOvr>
    <a:masterClrMapping/>
  </p:clrMapOvr>
  <p:transition spd="me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86E7B-EEF8-DDC2-635F-33673B74847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9CD5193-189F-6ABC-B9B6-97692AB5B403}"/>
              </a:ext>
            </a:extLst>
          </p:cNvPr>
          <p:cNvSpPr>
            <a:spLocks noGrp="1"/>
          </p:cNvSpPr>
          <p:nvPr>
            <p:ph type="title"/>
          </p:nvPr>
        </p:nvSpPr>
        <p:spPr/>
        <p:txBody>
          <a:bodyPr/>
          <a:lstStyle/>
          <a:p>
            <a:r>
              <a:rPr lang="en-US" altLang="zh-CN"/>
              <a:t>Approve Center – What Key Users Need to Know</a:t>
            </a:r>
            <a:endParaRPr lang="zh-CN" altLang="en-US"/>
          </a:p>
        </p:txBody>
      </p:sp>
      <p:sp>
        <p:nvSpPr>
          <p:cNvPr id="2" name="Text 1">
            <a:extLst>
              <a:ext uri="{FF2B5EF4-FFF2-40B4-BE49-F238E27FC236}">
                <a16:creationId xmlns:a16="http://schemas.microsoft.com/office/drawing/2014/main" id="{56732D91-5A3D-6EAE-6263-76F1E15135FF}"/>
              </a:ext>
            </a:extLst>
          </p:cNvPr>
          <p:cNvSpPr/>
          <p:nvPr/>
        </p:nvSpPr>
        <p:spPr>
          <a:xfrm>
            <a:off x="320182" y="789537"/>
            <a:ext cx="9418320" cy="228600"/>
          </a:xfrm>
          <a:prstGeom prst="rect">
            <a:avLst/>
          </a:prstGeom>
          <a:noFill/>
          <a:ln/>
        </p:spPr>
        <p:txBody>
          <a:bodyPr wrap="square" lIns="635" tIns="635" rIns="635" bIns="635" rtlCol="0" anchor="ctr">
            <a:normAutofit/>
          </a:bodyPr>
          <a:lstStyle/>
          <a:p>
            <a:pPr marL="0" indent="0" algn="l">
              <a:buNone/>
            </a:pPr>
            <a:r>
              <a:rPr lang="en-US" sz="1300" i="1">
                <a:solidFill>
                  <a:srgbClr val="5B6573"/>
                </a:solidFill>
                <a:latin typeface="+mj-lt"/>
                <a:ea typeface="Arial" pitchFamily="34" charset="-122"/>
                <a:cs typeface="Arial" pitchFamily="34" charset="-120"/>
              </a:rPr>
              <a:t>Know when NexBill creates a Change Request — and when an action executes directly</a:t>
            </a:r>
            <a:endParaRPr lang="en-US" sz="1300">
              <a:latin typeface="+mj-lt"/>
            </a:endParaRPr>
          </a:p>
        </p:txBody>
      </p:sp>
      <p:sp>
        <p:nvSpPr>
          <p:cNvPr id="4" name="Text 2">
            <a:extLst>
              <a:ext uri="{FF2B5EF4-FFF2-40B4-BE49-F238E27FC236}">
                <a16:creationId xmlns:a16="http://schemas.microsoft.com/office/drawing/2014/main" id="{8FC3C3FE-69C7-6F40-A39C-D0065B761774}"/>
              </a:ext>
            </a:extLst>
          </p:cNvPr>
          <p:cNvSpPr/>
          <p:nvPr/>
        </p:nvSpPr>
        <p:spPr>
          <a:xfrm>
            <a:off x="320182" y="1146153"/>
            <a:ext cx="11155680" cy="457200"/>
          </a:xfrm>
          <a:prstGeom prst="rect">
            <a:avLst/>
          </a:prstGeom>
          <a:solidFill>
            <a:srgbClr val="143A72"/>
          </a:solidFill>
          <a:ln w="12700">
            <a:solidFill>
              <a:srgbClr val="143A72"/>
            </a:solidFill>
          </a:ln>
        </p:spPr>
        <p:txBody>
          <a:bodyPr wrap="square" lIns="635" tIns="635" rIns="635" bIns="635" rtlCol="0" anchor="ctr">
            <a:normAutofit/>
          </a:bodyPr>
          <a:lstStyle/>
          <a:p>
            <a:pPr marL="0" indent="0" algn="ctr">
              <a:buNone/>
            </a:pPr>
            <a:r>
              <a:rPr lang="en-US" sz="1400" b="1">
                <a:solidFill>
                  <a:srgbClr val="FFFFFF"/>
                </a:solidFill>
                <a:latin typeface="+mj-lt"/>
                <a:ea typeface="Arial" pitchFamily="34" charset="-122"/>
                <a:cs typeface="Arial" pitchFamily="34" charset="-120"/>
              </a:rPr>
              <a:t>KEY MESSAGE  |  Edit / Change existing business data → Change Request → Approval → Effective</a:t>
            </a:r>
            <a:endParaRPr lang="en-US" sz="1400">
              <a:latin typeface="+mj-lt"/>
            </a:endParaRPr>
          </a:p>
        </p:txBody>
      </p:sp>
      <p:sp>
        <p:nvSpPr>
          <p:cNvPr id="6" name="Text 3">
            <a:extLst>
              <a:ext uri="{FF2B5EF4-FFF2-40B4-BE49-F238E27FC236}">
                <a16:creationId xmlns:a16="http://schemas.microsoft.com/office/drawing/2014/main" id="{426AE002-B6ED-DAC3-5561-302A6AC900D6}"/>
              </a:ext>
            </a:extLst>
          </p:cNvPr>
          <p:cNvSpPr/>
          <p:nvPr/>
        </p:nvSpPr>
        <p:spPr>
          <a:xfrm>
            <a:off x="567070" y="1941681"/>
            <a:ext cx="4480560" cy="274320"/>
          </a:xfrm>
          <a:prstGeom prst="rect">
            <a:avLst/>
          </a:prstGeom>
          <a:noFill/>
          <a:ln/>
        </p:spPr>
        <p:txBody>
          <a:bodyPr wrap="square" lIns="635" tIns="635" rIns="635" bIns="635" rtlCol="0" anchor="ctr">
            <a:normAutofit lnSpcReduction="10000"/>
          </a:bodyPr>
          <a:lstStyle/>
          <a:p>
            <a:pPr marL="0" indent="0" algn="l">
              <a:buNone/>
            </a:pPr>
            <a:r>
              <a:rPr lang="en-US" sz="1800" b="1">
                <a:solidFill>
                  <a:srgbClr val="1E63B5"/>
                </a:solidFill>
                <a:latin typeface="+mj-lt"/>
                <a:ea typeface="Arial" pitchFamily="34" charset="-122"/>
                <a:cs typeface="Arial" pitchFamily="34" charset="-120"/>
              </a:rPr>
              <a:t>1  |  APPROVAL REQUIRED</a:t>
            </a:r>
            <a:endParaRPr lang="en-US" sz="1800">
              <a:latin typeface="+mj-lt"/>
            </a:endParaRPr>
          </a:p>
        </p:txBody>
      </p:sp>
      <p:sp>
        <p:nvSpPr>
          <p:cNvPr id="7" name="Text 4">
            <a:extLst>
              <a:ext uri="{FF2B5EF4-FFF2-40B4-BE49-F238E27FC236}">
                <a16:creationId xmlns:a16="http://schemas.microsoft.com/office/drawing/2014/main" id="{360D774B-3332-A775-6A7B-FEFF11BDD17C}"/>
              </a:ext>
            </a:extLst>
          </p:cNvPr>
          <p:cNvSpPr/>
          <p:nvPr/>
        </p:nvSpPr>
        <p:spPr>
          <a:xfrm>
            <a:off x="567070" y="2261721"/>
            <a:ext cx="4572000" cy="228600"/>
          </a:xfrm>
          <a:prstGeom prst="rect">
            <a:avLst/>
          </a:prstGeom>
          <a:noFill/>
          <a:ln/>
        </p:spPr>
        <p:txBody>
          <a:bodyPr wrap="square" lIns="635" tIns="635" rIns="635" bIns="635" rtlCol="0" anchor="ctr">
            <a:normAutofit/>
          </a:bodyPr>
          <a:lstStyle/>
          <a:p>
            <a:pPr marL="0" indent="0" algn="l">
              <a:buNone/>
            </a:pPr>
            <a:r>
              <a:rPr lang="en-US" sz="1200">
                <a:solidFill>
                  <a:srgbClr val="5B6573"/>
                </a:solidFill>
                <a:latin typeface="+mj-lt"/>
                <a:ea typeface="Arial" pitchFamily="34" charset="-122"/>
                <a:cs typeface="Arial" pitchFamily="34" charset="-120"/>
              </a:rPr>
              <a:t>Use Edit / Change when existing business data is modified.</a:t>
            </a:r>
            <a:endParaRPr lang="en-US" sz="1200">
              <a:latin typeface="+mj-lt"/>
            </a:endParaRPr>
          </a:p>
        </p:txBody>
      </p:sp>
      <p:sp>
        <p:nvSpPr>
          <p:cNvPr id="10" name="Text 5">
            <a:extLst>
              <a:ext uri="{FF2B5EF4-FFF2-40B4-BE49-F238E27FC236}">
                <a16:creationId xmlns:a16="http://schemas.microsoft.com/office/drawing/2014/main" id="{712406C7-C2B0-4AEC-2A49-30F1834E752B}"/>
              </a:ext>
            </a:extLst>
          </p:cNvPr>
          <p:cNvSpPr/>
          <p:nvPr/>
        </p:nvSpPr>
        <p:spPr>
          <a:xfrm>
            <a:off x="567070" y="2636625"/>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EPR</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Edit / Change</a:t>
            </a:r>
            <a:endParaRPr lang="en-US" sz="1200">
              <a:latin typeface="+mj-lt"/>
            </a:endParaRPr>
          </a:p>
        </p:txBody>
      </p:sp>
      <p:sp>
        <p:nvSpPr>
          <p:cNvPr id="11" name="Text 6">
            <a:extLst>
              <a:ext uri="{FF2B5EF4-FFF2-40B4-BE49-F238E27FC236}">
                <a16:creationId xmlns:a16="http://schemas.microsoft.com/office/drawing/2014/main" id="{A18D7E33-E156-EA9D-F539-9BCF54ED86FD}"/>
              </a:ext>
            </a:extLst>
          </p:cNvPr>
          <p:cNvSpPr/>
          <p:nvPr/>
        </p:nvSpPr>
        <p:spPr>
          <a:xfrm>
            <a:off x="567070" y="3038961"/>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Product Master</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Edit / Change</a:t>
            </a:r>
            <a:endParaRPr lang="en-US" sz="1200">
              <a:latin typeface="+mj-lt"/>
            </a:endParaRPr>
          </a:p>
        </p:txBody>
      </p:sp>
      <p:sp>
        <p:nvSpPr>
          <p:cNvPr id="12" name="Text 7">
            <a:extLst>
              <a:ext uri="{FF2B5EF4-FFF2-40B4-BE49-F238E27FC236}">
                <a16:creationId xmlns:a16="http://schemas.microsoft.com/office/drawing/2014/main" id="{89EE4736-533B-CF37-DBA9-48FC08F2C020}"/>
              </a:ext>
            </a:extLst>
          </p:cNvPr>
          <p:cNvSpPr/>
          <p:nvPr/>
        </p:nvSpPr>
        <p:spPr>
          <a:xfrm>
            <a:off x="567070" y="3441297"/>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Account Master</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Edit / Change</a:t>
            </a:r>
            <a:endParaRPr lang="en-US" sz="1200">
              <a:latin typeface="+mj-lt"/>
            </a:endParaRPr>
          </a:p>
        </p:txBody>
      </p:sp>
      <p:sp>
        <p:nvSpPr>
          <p:cNvPr id="16" name="Text 8">
            <a:extLst>
              <a:ext uri="{FF2B5EF4-FFF2-40B4-BE49-F238E27FC236}">
                <a16:creationId xmlns:a16="http://schemas.microsoft.com/office/drawing/2014/main" id="{B12B9122-FEDC-394C-2CA2-52CDA3296F72}"/>
              </a:ext>
            </a:extLst>
          </p:cNvPr>
          <p:cNvSpPr/>
          <p:nvPr/>
        </p:nvSpPr>
        <p:spPr>
          <a:xfrm>
            <a:off x="567070" y="3843633"/>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Subscription Order</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Edit / Change</a:t>
            </a:r>
            <a:endParaRPr lang="en-US" sz="1200">
              <a:latin typeface="+mj-lt"/>
            </a:endParaRPr>
          </a:p>
        </p:txBody>
      </p:sp>
      <p:sp>
        <p:nvSpPr>
          <p:cNvPr id="17" name="Text 9">
            <a:extLst>
              <a:ext uri="{FF2B5EF4-FFF2-40B4-BE49-F238E27FC236}">
                <a16:creationId xmlns:a16="http://schemas.microsoft.com/office/drawing/2014/main" id="{BA676D5F-8532-D6A4-A244-FC2B148E7712}"/>
              </a:ext>
            </a:extLst>
          </p:cNvPr>
          <p:cNvSpPr/>
          <p:nvPr/>
        </p:nvSpPr>
        <p:spPr>
          <a:xfrm>
            <a:off x="567070" y="4245969"/>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Mass Change</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Order / Device changes</a:t>
            </a:r>
            <a:endParaRPr lang="en-US" sz="1200">
              <a:latin typeface="+mj-lt"/>
            </a:endParaRPr>
          </a:p>
        </p:txBody>
      </p:sp>
      <p:sp>
        <p:nvSpPr>
          <p:cNvPr id="18" name="Text 10">
            <a:extLst>
              <a:ext uri="{FF2B5EF4-FFF2-40B4-BE49-F238E27FC236}">
                <a16:creationId xmlns:a16="http://schemas.microsoft.com/office/drawing/2014/main" id="{45F74C29-2174-5B13-4D0D-6106207D9912}"/>
              </a:ext>
            </a:extLst>
          </p:cNvPr>
          <p:cNvSpPr/>
          <p:nvPr/>
        </p:nvSpPr>
        <p:spPr>
          <a:xfrm>
            <a:off x="567070" y="4648305"/>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Device</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Edit / Change</a:t>
            </a:r>
            <a:endParaRPr lang="en-US" sz="1200">
              <a:latin typeface="+mj-lt"/>
            </a:endParaRPr>
          </a:p>
        </p:txBody>
      </p:sp>
      <p:sp>
        <p:nvSpPr>
          <p:cNvPr id="19" name="Text 11">
            <a:extLst>
              <a:ext uri="{FF2B5EF4-FFF2-40B4-BE49-F238E27FC236}">
                <a16:creationId xmlns:a16="http://schemas.microsoft.com/office/drawing/2014/main" id="{83FF1AB2-4AA3-94A8-4924-E2E4F44D7254}"/>
              </a:ext>
            </a:extLst>
          </p:cNvPr>
          <p:cNvSpPr/>
          <p:nvPr/>
        </p:nvSpPr>
        <p:spPr>
          <a:xfrm>
            <a:off x="567070" y="5592029"/>
            <a:ext cx="4434840" cy="365760"/>
          </a:xfrm>
          <a:prstGeom prst="rect">
            <a:avLst/>
          </a:prstGeom>
          <a:solidFill>
            <a:srgbClr val="EAF2FC"/>
          </a:solidFill>
          <a:ln w="12700">
            <a:solidFill>
              <a:srgbClr val="BFD2EE"/>
            </a:solidFill>
          </a:ln>
        </p:spPr>
        <p:txBody>
          <a:bodyPr wrap="square" lIns="635" tIns="635" rIns="635" bIns="635" rtlCol="0" anchor="ctr">
            <a:normAutofit/>
          </a:bodyPr>
          <a:lstStyle/>
          <a:p>
            <a:pPr marL="0" indent="0" algn="ctr">
              <a:buNone/>
            </a:pPr>
            <a:r>
              <a:rPr lang="en-US" sz="1100" b="1">
                <a:solidFill>
                  <a:srgbClr val="143A72"/>
                </a:solidFill>
                <a:latin typeface="+mj-lt"/>
                <a:ea typeface="Arial" pitchFamily="34" charset="-122"/>
                <a:cs typeface="Arial" pitchFamily="34" charset="-120"/>
              </a:rPr>
              <a:t>EDIT / CHANGE  →  CHANGE REQUEST  →  APPROVAL  →  EFFECTIVE</a:t>
            </a:r>
            <a:endParaRPr lang="en-US" sz="1100">
              <a:latin typeface="+mj-lt"/>
            </a:endParaRPr>
          </a:p>
        </p:txBody>
      </p:sp>
      <p:sp>
        <p:nvSpPr>
          <p:cNvPr id="20" name="Text 12">
            <a:extLst>
              <a:ext uri="{FF2B5EF4-FFF2-40B4-BE49-F238E27FC236}">
                <a16:creationId xmlns:a16="http://schemas.microsoft.com/office/drawing/2014/main" id="{2C65F290-AEDD-3F3A-2481-952793FA6907}"/>
              </a:ext>
            </a:extLst>
          </p:cNvPr>
          <p:cNvSpPr/>
          <p:nvPr/>
        </p:nvSpPr>
        <p:spPr>
          <a:xfrm>
            <a:off x="6007750" y="1941681"/>
            <a:ext cx="4892040" cy="274320"/>
          </a:xfrm>
          <a:prstGeom prst="rect">
            <a:avLst/>
          </a:prstGeom>
          <a:noFill/>
          <a:ln/>
        </p:spPr>
        <p:txBody>
          <a:bodyPr wrap="square" lIns="635" tIns="635" rIns="635" bIns="635" rtlCol="0" anchor="ctr">
            <a:normAutofit lnSpcReduction="10000"/>
          </a:bodyPr>
          <a:lstStyle/>
          <a:p>
            <a:pPr marL="0" indent="0" algn="l">
              <a:buNone/>
            </a:pPr>
            <a:r>
              <a:rPr lang="en-US" sz="1800" b="1">
                <a:solidFill>
                  <a:srgbClr val="4E9F3D"/>
                </a:solidFill>
                <a:latin typeface="+mj-lt"/>
                <a:ea typeface="Arial" pitchFamily="34" charset="-122"/>
                <a:cs typeface="Arial" pitchFamily="34" charset="-120"/>
              </a:rPr>
              <a:t>2  |  DIRECT ACTIONS — NO APPROVAL</a:t>
            </a:r>
            <a:endParaRPr lang="en-US" sz="1800">
              <a:latin typeface="+mj-lt"/>
            </a:endParaRPr>
          </a:p>
        </p:txBody>
      </p:sp>
      <p:sp>
        <p:nvSpPr>
          <p:cNvPr id="21" name="Text 13">
            <a:extLst>
              <a:ext uri="{FF2B5EF4-FFF2-40B4-BE49-F238E27FC236}">
                <a16:creationId xmlns:a16="http://schemas.microsoft.com/office/drawing/2014/main" id="{5D4C3E44-B847-C293-F800-26A2299F9486}"/>
              </a:ext>
            </a:extLst>
          </p:cNvPr>
          <p:cNvSpPr/>
          <p:nvPr/>
        </p:nvSpPr>
        <p:spPr>
          <a:xfrm>
            <a:off x="6007750" y="2261721"/>
            <a:ext cx="4892040" cy="228600"/>
          </a:xfrm>
          <a:prstGeom prst="rect">
            <a:avLst/>
          </a:prstGeom>
          <a:noFill/>
          <a:ln/>
        </p:spPr>
        <p:txBody>
          <a:bodyPr wrap="square" lIns="635" tIns="635" rIns="635" bIns="635" rtlCol="0" anchor="ctr">
            <a:normAutofit/>
          </a:bodyPr>
          <a:lstStyle/>
          <a:p>
            <a:pPr marL="0" indent="0" algn="l">
              <a:buNone/>
            </a:pPr>
            <a:r>
              <a:rPr lang="en-US" sz="1200">
                <a:solidFill>
                  <a:srgbClr val="5B6573"/>
                </a:solidFill>
                <a:latin typeface="+mj-lt"/>
                <a:ea typeface="Arial" pitchFamily="34" charset="-122"/>
                <a:cs typeface="Arial" pitchFamily="34" charset="-120"/>
              </a:rPr>
              <a:t>No Change Request / Approval workflow for these actions.</a:t>
            </a:r>
            <a:endParaRPr lang="en-US" sz="1200">
              <a:latin typeface="+mj-lt"/>
            </a:endParaRPr>
          </a:p>
        </p:txBody>
      </p:sp>
      <p:sp>
        <p:nvSpPr>
          <p:cNvPr id="22" name="Text 14">
            <a:extLst>
              <a:ext uri="{FF2B5EF4-FFF2-40B4-BE49-F238E27FC236}">
                <a16:creationId xmlns:a16="http://schemas.microsoft.com/office/drawing/2014/main" id="{27D9F518-B406-C3A0-AE2C-ACC4EADE1479}"/>
              </a:ext>
            </a:extLst>
          </p:cNvPr>
          <p:cNvSpPr/>
          <p:nvPr/>
        </p:nvSpPr>
        <p:spPr>
          <a:xfrm>
            <a:off x="6007750" y="3038961"/>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Copy</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Creates a new record from an existing record</a:t>
            </a:r>
            <a:endParaRPr lang="en-US" sz="1200">
              <a:latin typeface="+mj-lt"/>
            </a:endParaRPr>
          </a:p>
        </p:txBody>
      </p:sp>
      <p:sp>
        <p:nvSpPr>
          <p:cNvPr id="23" name="Text 15">
            <a:extLst>
              <a:ext uri="{FF2B5EF4-FFF2-40B4-BE49-F238E27FC236}">
                <a16:creationId xmlns:a16="http://schemas.microsoft.com/office/drawing/2014/main" id="{79C78302-9CD1-D27E-4EBA-16D5BE7D74DB}"/>
              </a:ext>
            </a:extLst>
          </p:cNvPr>
          <p:cNvSpPr/>
          <p:nvPr/>
        </p:nvSpPr>
        <p:spPr>
          <a:xfrm>
            <a:off x="6007750" y="3441297"/>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Delete EPR</a:t>
            </a:r>
          </a:p>
          <a:p>
            <a:pPr marL="0" indent="0" algn="l">
              <a:buNone/>
            </a:pPr>
            <a:r>
              <a:rPr lang="en-US" sz="1200">
                <a:solidFill>
                  <a:srgbClr val="26323F"/>
                </a:solidFill>
                <a:latin typeface="+mj-lt"/>
                <a:ea typeface="Arial" pitchFamily="34" charset="-122"/>
                <a:cs typeface="Arial" pitchFamily="34" charset="-120"/>
              </a:rPr>
              <a:t>Delete error EPR for LCMP resending purpose</a:t>
            </a:r>
            <a:endParaRPr lang="en-US" sz="1200">
              <a:latin typeface="+mj-lt"/>
            </a:endParaRPr>
          </a:p>
        </p:txBody>
      </p:sp>
      <p:sp>
        <p:nvSpPr>
          <p:cNvPr id="24" name="Text 16">
            <a:extLst>
              <a:ext uri="{FF2B5EF4-FFF2-40B4-BE49-F238E27FC236}">
                <a16:creationId xmlns:a16="http://schemas.microsoft.com/office/drawing/2014/main" id="{AC509D0B-DFF9-56C4-7806-09CCD0A805B1}"/>
              </a:ext>
            </a:extLst>
          </p:cNvPr>
          <p:cNvSpPr/>
          <p:nvPr/>
        </p:nvSpPr>
        <p:spPr>
          <a:xfrm>
            <a:off x="6007750" y="3843633"/>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Deactivate / Reactivate EPR </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Changes EPR lifecycle status</a:t>
            </a:r>
            <a:endParaRPr lang="en-US" sz="1200">
              <a:latin typeface="+mj-lt"/>
            </a:endParaRPr>
          </a:p>
        </p:txBody>
      </p:sp>
      <p:sp>
        <p:nvSpPr>
          <p:cNvPr id="25" name="Text 17">
            <a:extLst>
              <a:ext uri="{FF2B5EF4-FFF2-40B4-BE49-F238E27FC236}">
                <a16:creationId xmlns:a16="http://schemas.microsoft.com/office/drawing/2014/main" id="{E55DD604-E504-CA14-09EB-5CA91FF984BA}"/>
              </a:ext>
            </a:extLst>
          </p:cNvPr>
          <p:cNvSpPr/>
          <p:nvPr/>
        </p:nvSpPr>
        <p:spPr>
          <a:xfrm>
            <a:off x="6007750" y="4245969"/>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Cancel Subscription Order</a:t>
            </a:r>
            <a:endParaRPr lang="en-US" sz="1200">
              <a:latin typeface="+mj-lt"/>
            </a:endParaRPr>
          </a:p>
          <a:p>
            <a:pPr fontAlgn="t">
              <a:lnSpc>
                <a:spcPct val="100000"/>
              </a:lnSpc>
              <a:buNone/>
            </a:pPr>
            <a:r>
              <a:rPr lang="zh-CN" altLang="zh-CN" sz="1200">
                <a:solidFill>
                  <a:srgbClr val="26323F"/>
                </a:solidFill>
                <a:latin typeface="+mj-lt"/>
                <a:cs typeface="Arial" pitchFamily="34" charset="-120"/>
              </a:rPr>
              <a:t>Cancellation from </a:t>
            </a:r>
            <a:r>
              <a:rPr lang="en-US" altLang="zh-CN" sz="1200">
                <a:solidFill>
                  <a:srgbClr val="26323F"/>
                </a:solidFill>
                <a:latin typeface="+mj-lt"/>
                <a:cs typeface="Arial" pitchFamily="34" charset="-120"/>
              </a:rPr>
              <a:t>error </a:t>
            </a:r>
            <a:r>
              <a:rPr lang="zh-CN" altLang="zh-CN" sz="1200">
                <a:solidFill>
                  <a:srgbClr val="26323F"/>
                </a:solidFill>
                <a:latin typeface="+mj-lt"/>
                <a:cs typeface="Arial" pitchFamily="34" charset="-120"/>
              </a:rPr>
              <a:t>Subscription Order Detail</a:t>
            </a:r>
            <a:r>
              <a:rPr lang="en-US" altLang="zh-CN" sz="1200">
                <a:solidFill>
                  <a:srgbClr val="26323F"/>
                </a:solidFill>
                <a:latin typeface="+mj-lt"/>
                <a:cs typeface="Arial" pitchFamily="34" charset="-120"/>
              </a:rPr>
              <a:t> page for re-generating </a:t>
            </a:r>
            <a:endParaRPr lang="zh-CN" altLang="zh-CN" sz="1200">
              <a:solidFill>
                <a:srgbClr val="26323F"/>
              </a:solidFill>
              <a:latin typeface="+mj-lt"/>
              <a:cs typeface="Arial" pitchFamily="34" charset="-120"/>
            </a:endParaRPr>
          </a:p>
        </p:txBody>
      </p:sp>
      <p:sp>
        <p:nvSpPr>
          <p:cNvPr id="26" name="Text 18">
            <a:extLst>
              <a:ext uri="{FF2B5EF4-FFF2-40B4-BE49-F238E27FC236}">
                <a16:creationId xmlns:a16="http://schemas.microsoft.com/office/drawing/2014/main" id="{DF3D240C-F587-6AB2-3165-505AF989E621}"/>
              </a:ext>
            </a:extLst>
          </p:cNvPr>
          <p:cNvSpPr/>
          <p:nvPr/>
        </p:nvSpPr>
        <p:spPr>
          <a:xfrm>
            <a:off x="6007750" y="4648305"/>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Accept</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Generates / regenerates payment schedule</a:t>
            </a:r>
            <a:endParaRPr lang="en-US" sz="1200">
              <a:latin typeface="+mj-lt"/>
            </a:endParaRPr>
          </a:p>
        </p:txBody>
      </p:sp>
      <p:sp>
        <p:nvSpPr>
          <p:cNvPr id="27" name="Text 19">
            <a:extLst>
              <a:ext uri="{FF2B5EF4-FFF2-40B4-BE49-F238E27FC236}">
                <a16:creationId xmlns:a16="http://schemas.microsoft.com/office/drawing/2014/main" id="{9609A311-EDE6-862F-F7B2-EF89F813C39F}"/>
              </a:ext>
            </a:extLst>
          </p:cNvPr>
          <p:cNvSpPr/>
          <p:nvPr/>
        </p:nvSpPr>
        <p:spPr>
          <a:xfrm>
            <a:off x="6007750" y="5050641"/>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Pull From LPC / AS / LCMP</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Retrieves source data into NexBill</a:t>
            </a:r>
            <a:endParaRPr lang="en-US" sz="1200">
              <a:latin typeface="+mj-lt"/>
            </a:endParaRPr>
          </a:p>
        </p:txBody>
      </p:sp>
      <p:sp>
        <p:nvSpPr>
          <p:cNvPr id="28" name="Text 20">
            <a:extLst>
              <a:ext uri="{FF2B5EF4-FFF2-40B4-BE49-F238E27FC236}">
                <a16:creationId xmlns:a16="http://schemas.microsoft.com/office/drawing/2014/main" id="{5C6562D6-CF77-4161-4EB5-5AF3AF4D4117}"/>
              </a:ext>
            </a:extLst>
          </p:cNvPr>
          <p:cNvSpPr/>
          <p:nvPr/>
        </p:nvSpPr>
        <p:spPr>
          <a:xfrm>
            <a:off x="6007750" y="5592029"/>
            <a:ext cx="4983480" cy="365760"/>
          </a:xfrm>
          <a:prstGeom prst="rect">
            <a:avLst/>
          </a:prstGeom>
          <a:solidFill>
            <a:srgbClr val="4E9F3D"/>
          </a:solidFill>
          <a:ln w="12700">
            <a:solidFill>
              <a:srgbClr val="4E9F3D"/>
            </a:solidFill>
          </a:ln>
        </p:spPr>
        <p:txBody>
          <a:bodyPr wrap="square" lIns="635" tIns="635" rIns="635" bIns="635" rtlCol="0" anchor="ctr">
            <a:normAutofit/>
          </a:bodyPr>
          <a:lstStyle/>
          <a:p>
            <a:pPr marL="0" indent="0" algn="ctr">
              <a:buNone/>
            </a:pPr>
            <a:r>
              <a:rPr lang="en-US" sz="1100" b="1">
                <a:solidFill>
                  <a:srgbClr val="FFFFFF"/>
                </a:solidFill>
                <a:latin typeface="+mj-lt"/>
                <a:ea typeface="Arial" pitchFamily="34" charset="-122"/>
                <a:cs typeface="Arial" pitchFamily="34" charset="-120"/>
              </a:rPr>
              <a:t>DIRECT ACTION  →  VALIDATE  →  EXECUTE  →  RESULT</a:t>
            </a:r>
            <a:endParaRPr lang="en-US" sz="1100">
              <a:latin typeface="+mj-lt"/>
            </a:endParaRPr>
          </a:p>
        </p:txBody>
      </p:sp>
      <p:sp>
        <p:nvSpPr>
          <p:cNvPr id="29" name="Text 21">
            <a:extLst>
              <a:ext uri="{FF2B5EF4-FFF2-40B4-BE49-F238E27FC236}">
                <a16:creationId xmlns:a16="http://schemas.microsoft.com/office/drawing/2014/main" id="{C075BE28-C24A-B32A-56A8-9E144D40F178}"/>
              </a:ext>
            </a:extLst>
          </p:cNvPr>
          <p:cNvSpPr/>
          <p:nvPr/>
        </p:nvSpPr>
        <p:spPr>
          <a:xfrm>
            <a:off x="567070" y="6131525"/>
            <a:ext cx="10954512" cy="329184"/>
          </a:xfrm>
          <a:prstGeom prst="rect">
            <a:avLst/>
          </a:prstGeom>
          <a:solidFill>
            <a:srgbClr val="FFF4D6"/>
          </a:solidFill>
          <a:ln w="12700">
            <a:solidFill>
              <a:srgbClr val="E7C870"/>
            </a:solidFill>
          </a:ln>
        </p:spPr>
        <p:txBody>
          <a:bodyPr wrap="square" lIns="635" tIns="635" rIns="635" bIns="635" rtlCol="0" anchor="ctr">
            <a:normAutofit/>
          </a:bodyPr>
          <a:lstStyle/>
          <a:p>
            <a:pPr marL="0" indent="0" algn="ctr">
              <a:buNone/>
            </a:pPr>
            <a:r>
              <a:rPr lang="en-US" sz="1160">
                <a:solidFill>
                  <a:srgbClr val="6E5719"/>
                </a:solidFill>
                <a:latin typeface="+mj-lt"/>
                <a:ea typeface="Arial" pitchFamily="34" charset="-122"/>
                <a:cs typeface="Arial" pitchFamily="34" charset="-120"/>
              </a:rPr>
              <a:t>IMPORTANT  |  No Approval does not mean No Control. Direct actions remain subject to authorization, object status and business validations.</a:t>
            </a:r>
            <a:endParaRPr lang="en-US" sz="1160">
              <a:latin typeface="+mj-lt"/>
            </a:endParaRPr>
          </a:p>
        </p:txBody>
      </p:sp>
      <p:sp>
        <p:nvSpPr>
          <p:cNvPr id="5" name="Text 10">
            <a:extLst>
              <a:ext uri="{FF2B5EF4-FFF2-40B4-BE49-F238E27FC236}">
                <a16:creationId xmlns:a16="http://schemas.microsoft.com/office/drawing/2014/main" id="{6ABCFA7D-E4F3-1753-0B85-829645A94893}"/>
              </a:ext>
            </a:extLst>
          </p:cNvPr>
          <p:cNvSpPr/>
          <p:nvPr/>
        </p:nvSpPr>
        <p:spPr>
          <a:xfrm>
            <a:off x="567070" y="5044335"/>
            <a:ext cx="4434840" cy="356616"/>
          </a:xfrm>
          <a:prstGeom prst="rect">
            <a:avLst/>
          </a:prstGeom>
          <a:solidFill>
            <a:srgbClr val="EEF5FD"/>
          </a:solidFill>
          <a:ln w="12700">
            <a:solidFill>
              <a:srgbClr val="BFD2EE"/>
            </a:solidFill>
          </a:ln>
        </p:spPr>
        <p:txBody>
          <a:bodyPr wrap="square" lIns="635" tIns="635" rIns="635" bIns="635" rtlCol="0" anchor="ctr">
            <a:noAutofit/>
          </a:bodyPr>
          <a:lstStyle/>
          <a:p>
            <a:pPr marL="0" indent="0" algn="l">
              <a:buNone/>
            </a:pPr>
            <a:r>
              <a:rPr lang="en-US" sz="1200" b="1">
                <a:solidFill>
                  <a:srgbClr val="143A72"/>
                </a:solidFill>
                <a:latin typeface="+mj-lt"/>
                <a:ea typeface="Arial" pitchFamily="34" charset="-122"/>
                <a:cs typeface="Arial" pitchFamily="34" charset="-120"/>
              </a:rPr>
              <a:t>Manual Invoice Adjustment</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Edit / Change</a:t>
            </a:r>
            <a:endParaRPr lang="en-US" sz="1200">
              <a:latin typeface="+mj-lt"/>
            </a:endParaRPr>
          </a:p>
        </p:txBody>
      </p:sp>
      <p:sp>
        <p:nvSpPr>
          <p:cNvPr id="8" name="Text 14">
            <a:extLst>
              <a:ext uri="{FF2B5EF4-FFF2-40B4-BE49-F238E27FC236}">
                <a16:creationId xmlns:a16="http://schemas.microsoft.com/office/drawing/2014/main" id="{4E27B6FA-8ABA-FF9D-3765-3FF48170D89D}"/>
              </a:ext>
            </a:extLst>
          </p:cNvPr>
          <p:cNvSpPr/>
          <p:nvPr/>
        </p:nvSpPr>
        <p:spPr>
          <a:xfrm>
            <a:off x="6007750" y="2636625"/>
            <a:ext cx="4983480" cy="356616"/>
          </a:xfrm>
          <a:prstGeom prst="rect">
            <a:avLst/>
          </a:prstGeom>
          <a:solidFill>
            <a:srgbClr val="EFF7EC"/>
          </a:solidFill>
          <a:ln w="12700">
            <a:solidFill>
              <a:srgbClr val="C7DFC0"/>
            </a:solidFill>
          </a:ln>
        </p:spPr>
        <p:txBody>
          <a:bodyPr wrap="square" lIns="635" tIns="635" rIns="635" bIns="635" rtlCol="0" anchor="ctr">
            <a:noAutofit/>
          </a:bodyPr>
          <a:lstStyle/>
          <a:p>
            <a:pPr marL="0" indent="0" algn="l">
              <a:buNone/>
            </a:pPr>
            <a:r>
              <a:rPr lang="en-US" sz="1200" b="1">
                <a:solidFill>
                  <a:srgbClr val="4E9F3D"/>
                </a:solidFill>
                <a:latin typeface="+mj-lt"/>
                <a:ea typeface="Arial" pitchFamily="34" charset="-122"/>
                <a:cs typeface="Arial" pitchFamily="34" charset="-120"/>
              </a:rPr>
              <a:t>Create</a:t>
            </a:r>
            <a:endParaRPr lang="en-US" sz="1200">
              <a:latin typeface="+mj-lt"/>
            </a:endParaRPr>
          </a:p>
          <a:p>
            <a:pPr marL="0" indent="0" algn="l">
              <a:buNone/>
            </a:pPr>
            <a:r>
              <a:rPr lang="en-US" sz="1200">
                <a:solidFill>
                  <a:srgbClr val="26323F"/>
                </a:solidFill>
                <a:latin typeface="+mj-lt"/>
                <a:ea typeface="Arial" pitchFamily="34" charset="-122"/>
                <a:cs typeface="Arial" pitchFamily="34" charset="-120"/>
              </a:rPr>
              <a:t>Creates a new record  </a:t>
            </a:r>
            <a:endParaRPr lang="en-US" sz="1200">
              <a:latin typeface="+mj-lt"/>
            </a:endParaRPr>
          </a:p>
        </p:txBody>
      </p:sp>
    </p:spTree>
    <p:extLst>
      <p:ext uri="{BB962C8B-B14F-4D97-AF65-F5344CB8AC3E}">
        <p14:creationId xmlns:p14="http://schemas.microsoft.com/office/powerpoint/2010/main" val="1918166739"/>
      </p:ext>
    </p:extLst>
  </p:cSld>
  <p:clrMapOvr>
    <a:masterClrMapping/>
  </p:clrMapOvr>
  <p:transition spd="me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773E5-87AD-157D-3FDB-7E00702BCB3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C8993D9-7729-53CB-2C9E-5C5DACE14C2F}"/>
              </a:ext>
            </a:extLst>
          </p:cNvPr>
          <p:cNvSpPr>
            <a:spLocks noGrp="1"/>
          </p:cNvSpPr>
          <p:nvPr>
            <p:ph type="title"/>
          </p:nvPr>
        </p:nvSpPr>
        <p:spPr/>
        <p:txBody>
          <a:bodyPr/>
          <a:lstStyle/>
          <a:p>
            <a:r>
              <a:rPr lang="en-US" altLang="zh-CN"/>
              <a:t>Approve Center –  Approval Configuration</a:t>
            </a:r>
            <a:endParaRPr lang="zh-CN" altLang="en-US"/>
          </a:p>
        </p:txBody>
      </p:sp>
      <p:sp>
        <p:nvSpPr>
          <p:cNvPr id="8" name="Text 2">
            <a:extLst>
              <a:ext uri="{FF2B5EF4-FFF2-40B4-BE49-F238E27FC236}">
                <a16:creationId xmlns:a16="http://schemas.microsoft.com/office/drawing/2014/main" id="{78EEDB85-D010-DD59-80C1-BBAF72A58C0A}"/>
              </a:ext>
            </a:extLst>
          </p:cNvPr>
          <p:cNvSpPr/>
          <p:nvPr/>
        </p:nvSpPr>
        <p:spPr>
          <a:xfrm>
            <a:off x="320182" y="768879"/>
            <a:ext cx="11639523" cy="509377"/>
          </a:xfrm>
          <a:prstGeom prst="rect">
            <a:avLst/>
          </a:prstGeom>
          <a:noFill/>
          <a:ln/>
        </p:spPr>
        <p:txBody>
          <a:bodyPr wrap="square" lIns="0" tIns="0" rIns="0" bIns="0" rtlCol="0" anchor="ctr">
            <a:normAutofit lnSpcReduction="10000"/>
          </a:bodyPr>
          <a:lstStyle/>
          <a:p>
            <a:r>
              <a:rPr lang="en-US" altLang="zh-CN" sz="1200"/>
              <a:t>The Approval Configuration page allows authorized administrators to maintain the approval workflow rules used by </a:t>
            </a:r>
            <a:r>
              <a:rPr lang="en-US" altLang="zh-CN" sz="1200" err="1"/>
              <a:t>NexBill</a:t>
            </a:r>
            <a:r>
              <a:rPr lang="en-US" altLang="zh-CN" sz="1200"/>
              <a:t>. It defines which approver role is responsible for reviewing and approving different types of change requests across business modules. By configuring approval rules centrally, </a:t>
            </a:r>
            <a:r>
              <a:rPr lang="en-US" altLang="zh-CN" sz="1200" err="1"/>
              <a:t>NexBill</a:t>
            </a:r>
            <a:r>
              <a:rPr lang="en-US" altLang="zh-CN" sz="1200"/>
              <a:t> ensures that change requests are routed to the correct approvers and that all approval-controlled processes follow consistent governance and audit requirements.</a:t>
            </a:r>
          </a:p>
        </p:txBody>
      </p:sp>
      <p:sp>
        <p:nvSpPr>
          <p:cNvPr id="13" name="TextBox 73">
            <a:extLst>
              <a:ext uri="{FF2B5EF4-FFF2-40B4-BE49-F238E27FC236}">
                <a16:creationId xmlns:a16="http://schemas.microsoft.com/office/drawing/2014/main" id="{743BCEAB-5EDB-E001-7F51-B63929B5A77D}"/>
              </a:ext>
            </a:extLst>
          </p:cNvPr>
          <p:cNvSpPr txBox="1"/>
          <p:nvPr/>
        </p:nvSpPr>
        <p:spPr>
          <a:xfrm>
            <a:off x="8119396" y="1552168"/>
            <a:ext cx="3646936" cy="4708981"/>
          </a:xfrm>
          <a:prstGeom prst="rect">
            <a:avLst/>
          </a:prstGeom>
          <a:noFill/>
        </p:spPr>
        <p:txBody>
          <a:bodyPr wrap="square" rtlCol="0">
            <a:spAutoFit/>
          </a:bodyPr>
          <a:lstStyle/>
          <a:p>
            <a:r>
              <a:rPr lang="en-US" altLang="zh-CN" sz="1000">
                <a:cs typeface="Lato Light"/>
              </a:rPr>
              <a:t>Access to Approval Configuration is restricted to authorized users.</a:t>
            </a:r>
          </a:p>
          <a:p>
            <a:r>
              <a:rPr lang="en-US" altLang="zh-CN" sz="1000">
                <a:cs typeface="Lato Light"/>
              </a:rPr>
              <a:t>The Approval Configuration page displays all configured approval rules.</a:t>
            </a:r>
          </a:p>
          <a:p>
            <a:endParaRPr lang="en-US" altLang="zh-CN" sz="1000">
              <a:cs typeface="Lato Light"/>
            </a:endParaRPr>
          </a:p>
          <a:p>
            <a:r>
              <a:rPr lang="en-US" altLang="zh-CN" sz="1000">
                <a:cs typeface="Lato Light"/>
              </a:rPr>
              <a:t>Each rule contains information such as:</a:t>
            </a:r>
          </a:p>
          <a:p>
            <a:pPr marL="171450" indent="-171450">
              <a:buFont typeface="Arial" panose="020B0604020202020204" pitchFamily="34" charset="0"/>
              <a:buChar char="•"/>
            </a:pPr>
            <a:r>
              <a:rPr lang="en-US" altLang="zh-CN" sz="1000">
                <a:cs typeface="Lato Light"/>
              </a:rPr>
              <a:t>Module</a:t>
            </a:r>
          </a:p>
          <a:p>
            <a:pPr marL="171450" indent="-171450">
              <a:buFont typeface="Arial" panose="020B0604020202020204" pitchFamily="34" charset="0"/>
              <a:buChar char="•"/>
            </a:pPr>
            <a:r>
              <a:rPr lang="en-US" altLang="zh-CN" sz="1000">
                <a:cs typeface="Lato Light"/>
              </a:rPr>
              <a:t>Approver Role</a:t>
            </a:r>
          </a:p>
          <a:p>
            <a:pPr marL="171450" indent="-171450">
              <a:buFont typeface="Arial" panose="020B0604020202020204" pitchFamily="34" charset="0"/>
              <a:buChar char="•"/>
            </a:pPr>
            <a:r>
              <a:rPr lang="en-US" altLang="zh-CN" sz="1000">
                <a:cs typeface="Lato Light"/>
              </a:rPr>
              <a:t>Type</a:t>
            </a:r>
          </a:p>
          <a:p>
            <a:pPr marL="171450" indent="-171450">
              <a:buFont typeface="Arial" panose="020B0604020202020204" pitchFamily="34" charset="0"/>
              <a:buChar char="•"/>
            </a:pPr>
            <a:r>
              <a:rPr lang="en-US" altLang="zh-CN" sz="1000">
                <a:cs typeface="Lato Light"/>
              </a:rPr>
              <a:t>EaaS Category</a:t>
            </a:r>
          </a:p>
          <a:p>
            <a:pPr marL="171450" indent="-171450">
              <a:buFont typeface="Arial" panose="020B0604020202020204" pitchFamily="34" charset="0"/>
              <a:buChar char="•"/>
            </a:pPr>
            <a:r>
              <a:rPr lang="en-US" altLang="zh-CN" sz="1000">
                <a:cs typeface="Lato Light"/>
              </a:rPr>
              <a:t>Country</a:t>
            </a:r>
          </a:p>
          <a:p>
            <a:pPr marL="171450" indent="-171450">
              <a:buFont typeface="Arial" panose="020B0604020202020204" pitchFamily="34" charset="0"/>
              <a:buChar char="•"/>
            </a:pPr>
            <a:r>
              <a:rPr lang="en-US" altLang="zh-CN" sz="1000">
                <a:cs typeface="Lato Light"/>
              </a:rPr>
              <a:t>Approval Level</a:t>
            </a:r>
          </a:p>
          <a:p>
            <a:endParaRPr lang="en-US" altLang="zh-CN" sz="1000">
              <a:cs typeface="Lato Light"/>
            </a:endParaRPr>
          </a:p>
          <a:p>
            <a:r>
              <a:rPr lang="en-US" altLang="zh-CN" sz="1000" b="1">
                <a:cs typeface="Lato Light"/>
              </a:rPr>
              <a:t>Add Rule</a:t>
            </a:r>
          </a:p>
          <a:p>
            <a:r>
              <a:rPr lang="en-US" altLang="zh-CN" sz="1000">
                <a:cs typeface="Lato Light"/>
              </a:rPr>
              <a:t>The Add Rule button allows authorized users to create a new approval workflow rule. After saving, the new rule becomes available for future approval requests.</a:t>
            </a:r>
          </a:p>
          <a:p>
            <a:endParaRPr lang="en-US" altLang="zh-CN" sz="1000">
              <a:cs typeface="Lato Light"/>
            </a:endParaRPr>
          </a:p>
          <a:p>
            <a:r>
              <a:rPr lang="en-US" altLang="zh-CN" sz="1000" b="1">
                <a:cs typeface="Lato Light"/>
              </a:rPr>
              <a:t>Edit Rule</a:t>
            </a:r>
          </a:p>
          <a:p>
            <a:r>
              <a:rPr lang="en-US" altLang="zh-CN" sz="1000">
                <a:cs typeface="Lato Light"/>
              </a:rPr>
              <a:t>The Edit function allows users to modify an existing approval workflow rule. After saving, the new rule becomes available for future approval requests.</a:t>
            </a:r>
          </a:p>
          <a:p>
            <a:endParaRPr lang="en-US" altLang="zh-CN" sz="1000">
              <a:cs typeface="Lato Light"/>
            </a:endParaRPr>
          </a:p>
          <a:p>
            <a:r>
              <a:rPr lang="en-US" altLang="zh-CN" sz="1000" b="1">
                <a:cs typeface="Lato Light"/>
              </a:rPr>
              <a:t>Delete Rule</a:t>
            </a:r>
          </a:p>
          <a:p>
            <a:r>
              <a:rPr lang="en-US" altLang="zh-CN" sz="1000">
                <a:cs typeface="Lato Light"/>
              </a:rPr>
              <a:t>The Delete function removes an approval workflow rule from the configuration. Deleted rules will no longer be used for routing newly submitted approval requests.</a:t>
            </a:r>
          </a:p>
          <a:p>
            <a:endParaRPr lang="en-US" altLang="zh-CN" sz="1000">
              <a:cs typeface="Lato Light"/>
            </a:endParaRPr>
          </a:p>
          <a:p>
            <a:r>
              <a:rPr lang="en-US" altLang="zh-CN" sz="1000" b="1">
                <a:cs typeface="Lato Light"/>
              </a:rPr>
              <a:t>Approval Level</a:t>
            </a:r>
          </a:p>
          <a:p>
            <a:r>
              <a:rPr lang="en-US" altLang="zh-CN" sz="1000">
                <a:cs typeface="Lato Light"/>
              </a:rPr>
              <a:t>The Level field identifies the approval stage within the workflow.</a:t>
            </a:r>
          </a:p>
        </p:txBody>
      </p:sp>
      <p:sp>
        <p:nvSpPr>
          <p:cNvPr id="14" name="TextBox 72">
            <a:extLst>
              <a:ext uri="{FF2B5EF4-FFF2-40B4-BE49-F238E27FC236}">
                <a16:creationId xmlns:a16="http://schemas.microsoft.com/office/drawing/2014/main" id="{1FDBF490-F1D2-6F26-35F8-544A8EF230FD}"/>
              </a:ext>
            </a:extLst>
          </p:cNvPr>
          <p:cNvSpPr txBox="1"/>
          <p:nvPr/>
        </p:nvSpPr>
        <p:spPr>
          <a:xfrm>
            <a:off x="8119397" y="1313263"/>
            <a:ext cx="2612978"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Workflow Rules</a:t>
            </a:r>
          </a:p>
        </p:txBody>
      </p:sp>
      <p:sp>
        <p:nvSpPr>
          <p:cNvPr id="15" name="Oval 111">
            <a:extLst>
              <a:ext uri="{FF2B5EF4-FFF2-40B4-BE49-F238E27FC236}">
                <a16:creationId xmlns:a16="http://schemas.microsoft.com/office/drawing/2014/main" id="{FC075787-A853-BF82-F29A-013F4558224E}"/>
              </a:ext>
            </a:extLst>
          </p:cNvPr>
          <p:cNvSpPr/>
          <p:nvPr/>
        </p:nvSpPr>
        <p:spPr>
          <a:xfrm>
            <a:off x="7873605" y="132356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12" name="图片 11">
            <a:extLst>
              <a:ext uri="{FF2B5EF4-FFF2-40B4-BE49-F238E27FC236}">
                <a16:creationId xmlns:a16="http://schemas.microsoft.com/office/drawing/2014/main" id="{B96CEF12-1169-3E99-7669-E4D610DEA1B3}"/>
              </a:ext>
            </a:extLst>
          </p:cNvPr>
          <p:cNvPicPr>
            <a:picLocks noChangeAspect="1"/>
          </p:cNvPicPr>
          <p:nvPr/>
        </p:nvPicPr>
        <p:blipFill>
          <a:blip r:embed="rId2"/>
          <a:stretch>
            <a:fillRect/>
          </a:stretch>
        </p:blipFill>
        <p:spPr>
          <a:xfrm>
            <a:off x="320181" y="1402481"/>
            <a:ext cx="2068295" cy="1705531"/>
          </a:xfrm>
          <a:prstGeom prst="rect">
            <a:avLst/>
          </a:prstGeom>
        </p:spPr>
      </p:pic>
      <p:pic>
        <p:nvPicPr>
          <p:cNvPr id="17" name="图片 16">
            <a:extLst>
              <a:ext uri="{FF2B5EF4-FFF2-40B4-BE49-F238E27FC236}">
                <a16:creationId xmlns:a16="http://schemas.microsoft.com/office/drawing/2014/main" id="{FFD48864-DADE-CCDF-9D51-C46DC28844B2}"/>
              </a:ext>
            </a:extLst>
          </p:cNvPr>
          <p:cNvPicPr>
            <a:picLocks noChangeAspect="1"/>
          </p:cNvPicPr>
          <p:nvPr/>
        </p:nvPicPr>
        <p:blipFill>
          <a:blip r:embed="rId3"/>
          <a:stretch>
            <a:fillRect/>
          </a:stretch>
        </p:blipFill>
        <p:spPr>
          <a:xfrm>
            <a:off x="3446515" y="1459457"/>
            <a:ext cx="3255238" cy="2247444"/>
          </a:xfrm>
          <a:prstGeom prst="rect">
            <a:avLst/>
          </a:prstGeom>
        </p:spPr>
      </p:pic>
      <p:pic>
        <p:nvPicPr>
          <p:cNvPr id="19" name="图片 18">
            <a:extLst>
              <a:ext uri="{FF2B5EF4-FFF2-40B4-BE49-F238E27FC236}">
                <a16:creationId xmlns:a16="http://schemas.microsoft.com/office/drawing/2014/main" id="{AD21F82F-653A-B6EA-3591-BBD300CB599D}"/>
              </a:ext>
            </a:extLst>
          </p:cNvPr>
          <p:cNvPicPr>
            <a:picLocks noChangeAspect="1"/>
          </p:cNvPicPr>
          <p:nvPr/>
        </p:nvPicPr>
        <p:blipFill>
          <a:blip r:embed="rId4"/>
          <a:stretch>
            <a:fillRect/>
          </a:stretch>
        </p:blipFill>
        <p:spPr>
          <a:xfrm>
            <a:off x="252248" y="3764245"/>
            <a:ext cx="7270737" cy="2740572"/>
          </a:xfrm>
          <a:prstGeom prst="rect">
            <a:avLst/>
          </a:prstGeom>
        </p:spPr>
      </p:pic>
      <p:cxnSp>
        <p:nvCxnSpPr>
          <p:cNvPr id="21" name="直接箭头连接符 20">
            <a:extLst>
              <a:ext uri="{FF2B5EF4-FFF2-40B4-BE49-F238E27FC236}">
                <a16:creationId xmlns:a16="http://schemas.microsoft.com/office/drawing/2014/main" id="{B697A5A9-17B4-26B2-D46A-FBFF3356544D}"/>
              </a:ext>
            </a:extLst>
          </p:cNvPr>
          <p:cNvCxnSpPr>
            <a:cxnSpLocks/>
          </p:cNvCxnSpPr>
          <p:nvPr/>
        </p:nvCxnSpPr>
        <p:spPr bwMode="auto">
          <a:xfrm flipH="1" flipV="1">
            <a:off x="6511159" y="3168869"/>
            <a:ext cx="496520" cy="719233"/>
          </a:xfrm>
          <a:prstGeom prst="straightConnector1">
            <a:avLst/>
          </a:prstGeom>
          <a:ln>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465368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96833-BC0B-1C3C-AC25-6CC18BB963A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6B77C83-B4CE-7346-06CC-D459763D0830}"/>
              </a:ext>
            </a:extLst>
          </p:cNvPr>
          <p:cNvSpPr>
            <a:spLocks noGrp="1"/>
          </p:cNvSpPr>
          <p:nvPr>
            <p:ph type="title"/>
          </p:nvPr>
        </p:nvSpPr>
        <p:spPr/>
        <p:txBody>
          <a:bodyPr/>
          <a:lstStyle/>
          <a:p>
            <a:r>
              <a:rPr lang="en-US" altLang="zh-CN"/>
              <a:t>Approve Center – My Request </a:t>
            </a:r>
            <a:endParaRPr lang="zh-CN" altLang="en-US"/>
          </a:p>
        </p:txBody>
      </p:sp>
      <p:sp>
        <p:nvSpPr>
          <p:cNvPr id="8" name="Text 2">
            <a:extLst>
              <a:ext uri="{FF2B5EF4-FFF2-40B4-BE49-F238E27FC236}">
                <a16:creationId xmlns:a16="http://schemas.microsoft.com/office/drawing/2014/main" id="{FFDD3E4A-A890-3133-06A6-BB6CA65FEE58}"/>
              </a:ext>
            </a:extLst>
          </p:cNvPr>
          <p:cNvSpPr/>
          <p:nvPr/>
        </p:nvSpPr>
        <p:spPr>
          <a:xfrm>
            <a:off x="320182" y="768879"/>
            <a:ext cx="11639523" cy="509377"/>
          </a:xfrm>
          <a:prstGeom prst="rect">
            <a:avLst/>
          </a:prstGeom>
          <a:noFill/>
          <a:ln/>
        </p:spPr>
        <p:txBody>
          <a:bodyPr wrap="square" lIns="0" tIns="0" rIns="0" bIns="0" rtlCol="0" anchor="ctr">
            <a:normAutofit lnSpcReduction="10000"/>
          </a:bodyPr>
          <a:lstStyle/>
          <a:p>
            <a:r>
              <a:rPr lang="en-US" altLang="zh-CN" sz="1200"/>
              <a:t>The My Request page allows users to track all requests they have submitted through </a:t>
            </a:r>
            <a:r>
              <a:rPr lang="en-US" altLang="zh-CN" sz="1200" err="1"/>
              <a:t>NexBill</a:t>
            </a:r>
            <a:r>
              <a:rPr lang="en-US" altLang="zh-CN" sz="1200"/>
              <a:t> approval workflows. It provides visibility into request status, approver information, submission history, and approval results across different business functions. Users can use this page to monitor pending approvals, review completed requests, and track the progress of changes submitted for master data, EPR, devices, mass changes, and other approval-controlled processes.</a:t>
            </a:r>
          </a:p>
        </p:txBody>
      </p:sp>
      <p:sp>
        <p:nvSpPr>
          <p:cNvPr id="13" name="TextBox 73">
            <a:extLst>
              <a:ext uri="{FF2B5EF4-FFF2-40B4-BE49-F238E27FC236}">
                <a16:creationId xmlns:a16="http://schemas.microsoft.com/office/drawing/2014/main" id="{696C4B70-94E0-05E5-2E1C-45E5251273D2}"/>
              </a:ext>
            </a:extLst>
          </p:cNvPr>
          <p:cNvSpPr txBox="1"/>
          <p:nvPr/>
        </p:nvSpPr>
        <p:spPr>
          <a:xfrm>
            <a:off x="8108885" y="1569208"/>
            <a:ext cx="3547469" cy="2862322"/>
          </a:xfrm>
          <a:prstGeom prst="rect">
            <a:avLst/>
          </a:prstGeom>
          <a:noFill/>
        </p:spPr>
        <p:txBody>
          <a:bodyPr wrap="square" rtlCol="0">
            <a:spAutoFit/>
          </a:bodyPr>
          <a:lstStyle/>
          <a:p>
            <a:r>
              <a:rPr lang="en-US" altLang="zh-CN" sz="1000">
                <a:cs typeface="Lato Light"/>
              </a:rPr>
              <a:t>The My Request page displays all requests submitted by the current user.</a:t>
            </a:r>
          </a:p>
          <a:p>
            <a:r>
              <a:rPr lang="en-US" altLang="zh-CN" sz="1000">
                <a:cs typeface="Lato Light"/>
              </a:rPr>
              <a:t>This allows users to monitor the lifecycle of their requests from submission through final approval.</a:t>
            </a:r>
          </a:p>
          <a:p>
            <a:endParaRPr lang="en-US" altLang="zh-CN" sz="1000">
              <a:cs typeface="Lato Light"/>
            </a:endParaRPr>
          </a:p>
          <a:p>
            <a:r>
              <a:rPr lang="en-US" altLang="zh-CN" sz="1000">
                <a:cs typeface="Lato Light"/>
              </a:rPr>
              <a:t>The </a:t>
            </a:r>
            <a:r>
              <a:rPr lang="en-US" altLang="zh-CN" sz="1000" b="1">
                <a:cs typeface="Lato Light"/>
              </a:rPr>
              <a:t>Request ID </a:t>
            </a:r>
            <a:r>
              <a:rPr lang="en-US" altLang="zh-CN" sz="1000">
                <a:cs typeface="Lato Light"/>
              </a:rPr>
              <a:t>is displayed as a clickable hyperlink.</a:t>
            </a:r>
          </a:p>
          <a:p>
            <a:r>
              <a:rPr lang="en-US" altLang="zh-CN" sz="1000">
                <a:cs typeface="Lato Light"/>
              </a:rPr>
              <a:t>Users can click the Request ID to open the corresponding Request Detail page and review.</a:t>
            </a:r>
          </a:p>
          <a:p>
            <a:endParaRPr lang="en-US" altLang="zh-CN" sz="1000">
              <a:cs typeface="Lato Light"/>
            </a:endParaRPr>
          </a:p>
          <a:p>
            <a:r>
              <a:rPr lang="en-US" altLang="zh-CN" sz="1000">
                <a:cs typeface="Lato Light"/>
              </a:rPr>
              <a:t>Possible statuses include:</a:t>
            </a:r>
          </a:p>
          <a:p>
            <a:pPr marL="171450" indent="-171450">
              <a:buFont typeface="Arial" panose="020B0604020202020204" pitchFamily="34" charset="0"/>
              <a:buChar char="•"/>
            </a:pPr>
            <a:r>
              <a:rPr lang="en-US" altLang="zh-CN" sz="1000"/>
              <a:t>APPROVED</a:t>
            </a:r>
          </a:p>
          <a:p>
            <a:pPr marL="171450" indent="-171450">
              <a:buFont typeface="Arial" panose="020B0604020202020204" pitchFamily="34" charset="0"/>
              <a:buChar char="•"/>
            </a:pPr>
            <a:r>
              <a:rPr lang="en-US" altLang="zh-CN" sz="1000"/>
              <a:t>PENDING APPROVAL</a:t>
            </a:r>
          </a:p>
          <a:p>
            <a:pPr marL="171450" indent="-171450">
              <a:buFont typeface="Arial" panose="020B0604020202020204" pitchFamily="34" charset="0"/>
              <a:buChar char="•"/>
            </a:pPr>
            <a:r>
              <a:rPr lang="en-US" altLang="zh-CN" sz="1000"/>
              <a:t>REJECTED</a:t>
            </a:r>
          </a:p>
          <a:p>
            <a:pPr marL="171450" indent="-171450">
              <a:buFont typeface="Arial" panose="020B0604020202020204" pitchFamily="34" charset="0"/>
              <a:buChar char="•"/>
            </a:pPr>
            <a:r>
              <a:rPr lang="en-US" altLang="zh-CN" sz="1000"/>
              <a:t>APPLIED</a:t>
            </a:r>
            <a:endParaRPr lang="en-US" altLang="zh-CN" sz="1000">
              <a:cs typeface="Lato Light"/>
            </a:endParaRPr>
          </a:p>
          <a:p>
            <a:endParaRPr lang="en-US" altLang="zh-CN" sz="1000">
              <a:cs typeface="Lato Light"/>
            </a:endParaRPr>
          </a:p>
          <a:p>
            <a:endParaRPr lang="en-US" altLang="zh-CN" sz="1000">
              <a:cs typeface="Lato Light"/>
            </a:endParaRPr>
          </a:p>
          <a:p>
            <a:endParaRPr lang="en-US" altLang="zh-CN" sz="1000">
              <a:cs typeface="Lato Light"/>
            </a:endParaRPr>
          </a:p>
          <a:p>
            <a:endParaRPr lang="en-US" altLang="zh-CN" sz="1000">
              <a:cs typeface="Lato Light"/>
            </a:endParaRPr>
          </a:p>
        </p:txBody>
      </p:sp>
      <p:sp>
        <p:nvSpPr>
          <p:cNvPr id="14" name="TextBox 72">
            <a:extLst>
              <a:ext uri="{FF2B5EF4-FFF2-40B4-BE49-F238E27FC236}">
                <a16:creationId xmlns:a16="http://schemas.microsoft.com/office/drawing/2014/main" id="{FC18C58C-D17C-EF5C-BAE5-38948D8DCA02}"/>
              </a:ext>
            </a:extLst>
          </p:cNvPr>
          <p:cNvSpPr txBox="1"/>
          <p:nvPr/>
        </p:nvSpPr>
        <p:spPr>
          <a:xfrm>
            <a:off x="8108886" y="1330303"/>
            <a:ext cx="2612978"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Request Tracking</a:t>
            </a:r>
          </a:p>
        </p:txBody>
      </p:sp>
      <p:sp>
        <p:nvSpPr>
          <p:cNvPr id="15" name="Oval 111">
            <a:extLst>
              <a:ext uri="{FF2B5EF4-FFF2-40B4-BE49-F238E27FC236}">
                <a16:creationId xmlns:a16="http://schemas.microsoft.com/office/drawing/2014/main" id="{48B498D6-65B1-06B4-46F7-55CAB3A9EF4B}"/>
              </a:ext>
            </a:extLst>
          </p:cNvPr>
          <p:cNvSpPr/>
          <p:nvPr/>
        </p:nvSpPr>
        <p:spPr>
          <a:xfrm>
            <a:off x="7863094" y="1340608"/>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5" name="图片 4">
            <a:extLst>
              <a:ext uri="{FF2B5EF4-FFF2-40B4-BE49-F238E27FC236}">
                <a16:creationId xmlns:a16="http://schemas.microsoft.com/office/drawing/2014/main" id="{6EDD46BE-C165-E9D9-3EB4-FA949385A846}"/>
              </a:ext>
            </a:extLst>
          </p:cNvPr>
          <p:cNvPicPr>
            <a:picLocks noChangeAspect="1"/>
          </p:cNvPicPr>
          <p:nvPr/>
        </p:nvPicPr>
        <p:blipFill>
          <a:blip r:embed="rId2"/>
          <a:stretch>
            <a:fillRect/>
          </a:stretch>
        </p:blipFill>
        <p:spPr>
          <a:xfrm>
            <a:off x="378822" y="1242920"/>
            <a:ext cx="2182628" cy="1701418"/>
          </a:xfrm>
          <a:prstGeom prst="rect">
            <a:avLst/>
          </a:prstGeom>
        </p:spPr>
      </p:pic>
      <p:pic>
        <p:nvPicPr>
          <p:cNvPr id="9" name="图片 8">
            <a:extLst>
              <a:ext uri="{FF2B5EF4-FFF2-40B4-BE49-F238E27FC236}">
                <a16:creationId xmlns:a16="http://schemas.microsoft.com/office/drawing/2014/main" id="{E4D5B9C4-29AE-EBC4-B04D-F39B5845A857}"/>
              </a:ext>
            </a:extLst>
          </p:cNvPr>
          <p:cNvPicPr>
            <a:picLocks noChangeAspect="1"/>
          </p:cNvPicPr>
          <p:nvPr/>
        </p:nvPicPr>
        <p:blipFill>
          <a:blip r:embed="rId3"/>
          <a:stretch>
            <a:fillRect/>
          </a:stretch>
        </p:blipFill>
        <p:spPr>
          <a:xfrm>
            <a:off x="368930" y="3000876"/>
            <a:ext cx="7215352" cy="2861308"/>
          </a:xfrm>
          <a:prstGeom prst="rect">
            <a:avLst/>
          </a:prstGeom>
        </p:spPr>
      </p:pic>
    </p:spTree>
    <p:extLst>
      <p:ext uri="{BB962C8B-B14F-4D97-AF65-F5344CB8AC3E}">
        <p14:creationId xmlns:p14="http://schemas.microsoft.com/office/powerpoint/2010/main" val="30865112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20CD-7CC6-1A8D-F896-6413B193581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AA745B2-A781-F1E3-2D2D-69482B0E54D7}"/>
              </a:ext>
            </a:extLst>
          </p:cNvPr>
          <p:cNvSpPr>
            <a:spLocks noGrp="1"/>
          </p:cNvSpPr>
          <p:nvPr>
            <p:ph type="title"/>
          </p:nvPr>
        </p:nvSpPr>
        <p:spPr/>
        <p:txBody>
          <a:bodyPr/>
          <a:lstStyle/>
          <a:p>
            <a:r>
              <a:rPr lang="en-US" altLang="zh-CN"/>
              <a:t>Approve Center – My Approval</a:t>
            </a:r>
            <a:endParaRPr lang="zh-CN" altLang="en-US"/>
          </a:p>
        </p:txBody>
      </p:sp>
      <p:sp>
        <p:nvSpPr>
          <p:cNvPr id="8" name="Text 2">
            <a:extLst>
              <a:ext uri="{FF2B5EF4-FFF2-40B4-BE49-F238E27FC236}">
                <a16:creationId xmlns:a16="http://schemas.microsoft.com/office/drawing/2014/main" id="{705CBF69-FB80-26C1-5892-1CD72440962E}"/>
              </a:ext>
            </a:extLst>
          </p:cNvPr>
          <p:cNvSpPr/>
          <p:nvPr/>
        </p:nvSpPr>
        <p:spPr>
          <a:xfrm>
            <a:off x="320182" y="768879"/>
            <a:ext cx="11639523" cy="509377"/>
          </a:xfrm>
          <a:prstGeom prst="rect">
            <a:avLst/>
          </a:prstGeom>
          <a:noFill/>
          <a:ln/>
        </p:spPr>
        <p:txBody>
          <a:bodyPr wrap="square" lIns="0" tIns="0" rIns="0" bIns="0" rtlCol="0" anchor="ctr">
            <a:normAutofit lnSpcReduction="10000"/>
          </a:bodyPr>
          <a:lstStyle/>
          <a:p>
            <a:r>
              <a:rPr lang="en-US" altLang="zh-CN" sz="1200"/>
              <a:t>The My Approval page allows approvers to review and process requests that are currently awaiting their approval. It provides visibility into request status, approver information, submission history, and approval results across different business functions. Users can use this page to monitor pending approvals, review completed requests, and track the progress of changes submitted for master data, EPR, devices, mass changes, and other approval-controlled processes.</a:t>
            </a:r>
          </a:p>
        </p:txBody>
      </p:sp>
      <p:sp>
        <p:nvSpPr>
          <p:cNvPr id="13" name="TextBox 73">
            <a:extLst>
              <a:ext uri="{FF2B5EF4-FFF2-40B4-BE49-F238E27FC236}">
                <a16:creationId xmlns:a16="http://schemas.microsoft.com/office/drawing/2014/main" id="{C19A1AB5-23C6-C03D-A00E-9597D462EF25}"/>
              </a:ext>
            </a:extLst>
          </p:cNvPr>
          <p:cNvSpPr txBox="1"/>
          <p:nvPr/>
        </p:nvSpPr>
        <p:spPr>
          <a:xfrm>
            <a:off x="8108885" y="1661731"/>
            <a:ext cx="3547469" cy="3785652"/>
          </a:xfrm>
          <a:prstGeom prst="rect">
            <a:avLst/>
          </a:prstGeom>
          <a:noFill/>
        </p:spPr>
        <p:txBody>
          <a:bodyPr wrap="square" rtlCol="0">
            <a:spAutoFit/>
          </a:bodyPr>
          <a:lstStyle/>
          <a:p>
            <a:r>
              <a:rPr lang="en-US" altLang="zh-CN" sz="1000">
                <a:cs typeface="Lato Light"/>
              </a:rPr>
              <a:t>The Pending Approvals section displays all requests currently awaiting approval by the logged-in approver.</a:t>
            </a:r>
          </a:p>
          <a:p>
            <a:r>
              <a:rPr lang="en-US" altLang="zh-CN" sz="1000">
                <a:cs typeface="Lato Light"/>
              </a:rPr>
              <a:t>The badge next to Pending Approvals shows the number of requests currently awaiting action.</a:t>
            </a:r>
          </a:p>
          <a:p>
            <a:endParaRPr lang="en-US" altLang="zh-CN" sz="1000">
              <a:cs typeface="Lato Light"/>
            </a:endParaRPr>
          </a:p>
          <a:p>
            <a:r>
              <a:rPr lang="en-US" altLang="zh-CN" sz="1000" b="1">
                <a:cs typeface="Lato Light"/>
              </a:rPr>
              <a:t>Request ID</a:t>
            </a:r>
            <a:r>
              <a:rPr lang="en-US" altLang="zh-CN" sz="1000">
                <a:cs typeface="Lato Light"/>
              </a:rPr>
              <a:t>: displayed as a clickable hyperlink.</a:t>
            </a:r>
          </a:p>
          <a:p>
            <a:r>
              <a:rPr lang="en-US" altLang="zh-CN" sz="1000">
                <a:cs typeface="Lato Light"/>
              </a:rPr>
              <a:t>Users can click the Request ID to open the corresponding Approval Detail page and review.</a:t>
            </a:r>
          </a:p>
          <a:p>
            <a:endParaRPr lang="en-US" altLang="zh-CN" sz="1000">
              <a:cs typeface="Lato Light"/>
            </a:endParaRPr>
          </a:p>
          <a:p>
            <a:r>
              <a:rPr lang="en-US" altLang="zh-CN" sz="1000">
                <a:cs typeface="Lato Light"/>
              </a:rPr>
              <a:t>The </a:t>
            </a:r>
            <a:r>
              <a:rPr lang="en-US" altLang="zh-CN" sz="1000" b="1">
                <a:cs typeface="Lato Light"/>
              </a:rPr>
              <a:t>Approve (✓)</a:t>
            </a:r>
            <a:r>
              <a:rPr lang="en-US" altLang="zh-CN" sz="1000">
                <a:cs typeface="Lato Light"/>
              </a:rPr>
              <a:t> button allows the approver to approve the selected request.</a:t>
            </a:r>
          </a:p>
          <a:p>
            <a:r>
              <a:rPr lang="en-US" altLang="zh-CN" sz="1000">
                <a:cs typeface="Lato Light"/>
              </a:rPr>
              <a:t>After successful approval, the request moves to Approval History and its status is updated accordingly.</a:t>
            </a:r>
          </a:p>
          <a:p>
            <a:endParaRPr lang="en-US" altLang="zh-CN" sz="1000">
              <a:cs typeface="Lato Light"/>
            </a:endParaRPr>
          </a:p>
          <a:p>
            <a:r>
              <a:rPr lang="en-US" altLang="zh-CN" sz="1000">
                <a:cs typeface="Lato Light"/>
              </a:rPr>
              <a:t>The </a:t>
            </a:r>
            <a:r>
              <a:rPr lang="en-US" altLang="zh-CN" sz="1000" b="1">
                <a:cs typeface="Lato Light"/>
              </a:rPr>
              <a:t>Reject (✕)</a:t>
            </a:r>
            <a:r>
              <a:rPr lang="en-US" altLang="zh-CN" sz="1000">
                <a:cs typeface="Lato Light"/>
              </a:rPr>
              <a:t> button allows the approver to reject the selected request.</a:t>
            </a:r>
          </a:p>
          <a:p>
            <a:r>
              <a:rPr lang="en-US" altLang="zh-CN" sz="1000">
                <a:cs typeface="Lato Light"/>
              </a:rPr>
              <a:t>Rejected requests remain available in the approval history for future reference.</a:t>
            </a:r>
          </a:p>
          <a:p>
            <a:endParaRPr lang="en-US" altLang="zh-CN" sz="1000">
              <a:cs typeface="Lato Light"/>
            </a:endParaRPr>
          </a:p>
          <a:p>
            <a:endParaRPr lang="en-US" altLang="zh-CN" sz="1000">
              <a:cs typeface="Lato Light"/>
            </a:endParaRPr>
          </a:p>
          <a:p>
            <a:endParaRPr lang="en-US" altLang="zh-CN" sz="1000">
              <a:cs typeface="Lato Light"/>
            </a:endParaRPr>
          </a:p>
          <a:p>
            <a:endParaRPr lang="en-US" altLang="zh-CN" sz="1000">
              <a:cs typeface="Lato Light"/>
            </a:endParaRPr>
          </a:p>
          <a:p>
            <a:endParaRPr lang="en-US" altLang="zh-CN" sz="1000">
              <a:cs typeface="Lato Light"/>
            </a:endParaRPr>
          </a:p>
          <a:p>
            <a:endParaRPr lang="en-US" altLang="zh-CN" sz="1000">
              <a:cs typeface="Lato Light"/>
            </a:endParaRPr>
          </a:p>
        </p:txBody>
      </p:sp>
      <p:sp>
        <p:nvSpPr>
          <p:cNvPr id="14" name="TextBox 72">
            <a:extLst>
              <a:ext uri="{FF2B5EF4-FFF2-40B4-BE49-F238E27FC236}">
                <a16:creationId xmlns:a16="http://schemas.microsoft.com/office/drawing/2014/main" id="{45535DA3-9D17-6149-E31E-C80263A652DF}"/>
              </a:ext>
            </a:extLst>
          </p:cNvPr>
          <p:cNvSpPr txBox="1"/>
          <p:nvPr/>
        </p:nvSpPr>
        <p:spPr>
          <a:xfrm>
            <a:off x="8108886" y="1422826"/>
            <a:ext cx="2612978" cy="292388"/>
          </a:xfrm>
          <a:prstGeom prst="rect">
            <a:avLst/>
          </a:prstGeom>
          <a:noFill/>
        </p:spPr>
        <p:txBody>
          <a:bodyPr wrap="square" rtlCol="0">
            <a:spAutoFit/>
          </a:bodyPr>
          <a:lstStyle/>
          <a:p>
            <a:r>
              <a:rPr lang="en-US" altLang="zh-CN" sz="1300" b="1">
                <a:solidFill>
                  <a:schemeClr val="accent6">
                    <a:lumMod val="75000"/>
                    <a:lumOff val="25000"/>
                  </a:schemeClr>
                </a:solidFill>
                <a:cs typeface="Lato Regular"/>
              </a:rPr>
              <a:t>Pending Approvals</a:t>
            </a:r>
          </a:p>
        </p:txBody>
      </p:sp>
      <p:sp>
        <p:nvSpPr>
          <p:cNvPr id="15" name="Oval 111">
            <a:extLst>
              <a:ext uri="{FF2B5EF4-FFF2-40B4-BE49-F238E27FC236}">
                <a16:creationId xmlns:a16="http://schemas.microsoft.com/office/drawing/2014/main" id="{880BDB46-A57D-7E21-5999-6D0322DCA812}"/>
              </a:ext>
            </a:extLst>
          </p:cNvPr>
          <p:cNvSpPr/>
          <p:nvPr/>
        </p:nvSpPr>
        <p:spPr>
          <a:xfrm>
            <a:off x="7863094" y="1433131"/>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pic>
        <p:nvPicPr>
          <p:cNvPr id="2" name="图片 1">
            <a:extLst>
              <a:ext uri="{FF2B5EF4-FFF2-40B4-BE49-F238E27FC236}">
                <a16:creationId xmlns:a16="http://schemas.microsoft.com/office/drawing/2014/main" id="{0D8953E0-511E-96AF-D125-AACDB1960627}"/>
              </a:ext>
            </a:extLst>
          </p:cNvPr>
          <p:cNvPicPr>
            <a:picLocks noChangeAspect="1"/>
          </p:cNvPicPr>
          <p:nvPr/>
        </p:nvPicPr>
        <p:blipFill>
          <a:blip r:embed="rId2"/>
          <a:stretch>
            <a:fillRect/>
          </a:stretch>
        </p:blipFill>
        <p:spPr>
          <a:xfrm>
            <a:off x="320180" y="1422826"/>
            <a:ext cx="1678132" cy="1391836"/>
          </a:xfrm>
          <a:prstGeom prst="rect">
            <a:avLst/>
          </a:prstGeom>
        </p:spPr>
      </p:pic>
      <p:pic>
        <p:nvPicPr>
          <p:cNvPr id="6" name="图片 5">
            <a:extLst>
              <a:ext uri="{FF2B5EF4-FFF2-40B4-BE49-F238E27FC236}">
                <a16:creationId xmlns:a16="http://schemas.microsoft.com/office/drawing/2014/main" id="{24DE6186-A028-DE27-D16F-CE681BFF0FF0}"/>
              </a:ext>
            </a:extLst>
          </p:cNvPr>
          <p:cNvPicPr>
            <a:picLocks noChangeAspect="1"/>
          </p:cNvPicPr>
          <p:nvPr/>
        </p:nvPicPr>
        <p:blipFill>
          <a:blip r:embed="rId3"/>
          <a:stretch>
            <a:fillRect/>
          </a:stretch>
        </p:blipFill>
        <p:spPr>
          <a:xfrm>
            <a:off x="320180" y="2971377"/>
            <a:ext cx="7441324" cy="3655734"/>
          </a:xfrm>
          <a:prstGeom prst="rect">
            <a:avLst/>
          </a:prstGeom>
        </p:spPr>
      </p:pic>
      <p:sp>
        <p:nvSpPr>
          <p:cNvPr id="7" name="TextBox 93">
            <a:extLst>
              <a:ext uri="{FF2B5EF4-FFF2-40B4-BE49-F238E27FC236}">
                <a16:creationId xmlns:a16="http://schemas.microsoft.com/office/drawing/2014/main" id="{650D25B6-0627-7529-8ADD-7006D417A8CE}"/>
              </a:ext>
            </a:extLst>
          </p:cNvPr>
          <p:cNvSpPr txBox="1"/>
          <p:nvPr/>
        </p:nvSpPr>
        <p:spPr>
          <a:xfrm>
            <a:off x="8091694" y="4746440"/>
            <a:ext cx="3564660" cy="861774"/>
          </a:xfrm>
          <a:prstGeom prst="rect">
            <a:avLst/>
          </a:prstGeom>
          <a:noFill/>
        </p:spPr>
        <p:txBody>
          <a:bodyPr wrap="square" rtlCol="0">
            <a:spAutoFit/>
          </a:bodyPr>
          <a:lstStyle/>
          <a:p>
            <a:r>
              <a:rPr lang="en-US" sz="1000">
                <a:cs typeface="Lato Light"/>
              </a:rPr>
              <a:t>The Approval History section displays requests previously reviewed by the approver.</a:t>
            </a:r>
          </a:p>
          <a:p>
            <a:r>
              <a:rPr lang="en-US" sz="1000">
                <a:cs typeface="Lato Light"/>
              </a:rPr>
              <a:t>The </a:t>
            </a:r>
            <a:r>
              <a:rPr lang="en-US" sz="1000" b="1">
                <a:cs typeface="Lato Light"/>
              </a:rPr>
              <a:t>Transaction ID </a:t>
            </a:r>
            <a:r>
              <a:rPr lang="en-US" sz="1000">
                <a:cs typeface="Lato Light"/>
              </a:rPr>
              <a:t>identifies the business object affected by the request.</a:t>
            </a:r>
          </a:p>
          <a:p>
            <a:endParaRPr lang="en-US" sz="1000">
              <a:cs typeface="Lato Light"/>
            </a:endParaRPr>
          </a:p>
        </p:txBody>
      </p:sp>
      <p:sp>
        <p:nvSpPr>
          <p:cNvPr id="10" name="TextBox 82">
            <a:extLst>
              <a:ext uri="{FF2B5EF4-FFF2-40B4-BE49-F238E27FC236}">
                <a16:creationId xmlns:a16="http://schemas.microsoft.com/office/drawing/2014/main" id="{E282C548-6CF9-84ED-CF8A-B02EE8E3CD7E}"/>
              </a:ext>
            </a:extLst>
          </p:cNvPr>
          <p:cNvSpPr txBox="1"/>
          <p:nvPr/>
        </p:nvSpPr>
        <p:spPr>
          <a:xfrm>
            <a:off x="8091694" y="4494855"/>
            <a:ext cx="1939214" cy="292388"/>
          </a:xfrm>
          <a:prstGeom prst="rect">
            <a:avLst/>
          </a:prstGeom>
          <a:noFill/>
        </p:spPr>
        <p:txBody>
          <a:bodyPr wrap="square" rtlCol="0">
            <a:spAutoFit/>
          </a:bodyPr>
          <a:lstStyle/>
          <a:p>
            <a:r>
              <a:rPr lang="en-US" sz="1300" b="1">
                <a:solidFill>
                  <a:srgbClr val="126C36"/>
                </a:solidFill>
                <a:cs typeface="Lato Regular"/>
              </a:rPr>
              <a:t>Approval History</a:t>
            </a:r>
          </a:p>
        </p:txBody>
      </p:sp>
      <p:sp>
        <p:nvSpPr>
          <p:cNvPr id="11" name="Oval 112">
            <a:extLst>
              <a:ext uri="{FF2B5EF4-FFF2-40B4-BE49-F238E27FC236}">
                <a16:creationId xmlns:a16="http://schemas.microsoft.com/office/drawing/2014/main" id="{597B761D-42C5-A3BF-770D-B4267E369A5E}"/>
              </a:ext>
            </a:extLst>
          </p:cNvPr>
          <p:cNvSpPr/>
          <p:nvPr/>
        </p:nvSpPr>
        <p:spPr>
          <a:xfrm>
            <a:off x="7863094" y="4523969"/>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
        <p:nvSpPr>
          <p:cNvPr id="4" name="Oval 111">
            <a:extLst>
              <a:ext uri="{FF2B5EF4-FFF2-40B4-BE49-F238E27FC236}">
                <a16:creationId xmlns:a16="http://schemas.microsoft.com/office/drawing/2014/main" id="{7C7AE24D-F328-3520-1913-BF81FE12D034}"/>
              </a:ext>
            </a:extLst>
          </p:cNvPr>
          <p:cNvSpPr/>
          <p:nvPr/>
        </p:nvSpPr>
        <p:spPr>
          <a:xfrm>
            <a:off x="616211" y="3382800"/>
            <a:ext cx="228600" cy="228600"/>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1</a:t>
            </a:r>
          </a:p>
        </p:txBody>
      </p:sp>
      <p:sp>
        <p:nvSpPr>
          <p:cNvPr id="5" name="Oval 112">
            <a:extLst>
              <a:ext uri="{FF2B5EF4-FFF2-40B4-BE49-F238E27FC236}">
                <a16:creationId xmlns:a16="http://schemas.microsoft.com/office/drawing/2014/main" id="{A1825092-7530-8AE2-8D15-8BD9985B3346}"/>
              </a:ext>
            </a:extLst>
          </p:cNvPr>
          <p:cNvSpPr/>
          <p:nvPr/>
        </p:nvSpPr>
        <p:spPr>
          <a:xfrm>
            <a:off x="648212" y="4135087"/>
            <a:ext cx="228600" cy="228600"/>
          </a:xfrm>
          <a:prstGeom prst="ellipse">
            <a:avLst/>
          </a:prstGeom>
          <a:solidFill>
            <a:srgbClr val="126C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2</a:t>
            </a:r>
          </a:p>
        </p:txBody>
      </p:sp>
    </p:spTree>
    <p:extLst>
      <p:ext uri="{BB962C8B-B14F-4D97-AF65-F5344CB8AC3E}">
        <p14:creationId xmlns:p14="http://schemas.microsoft.com/office/powerpoint/2010/main" val="34584375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7" grpId="0"/>
      <p:bldP spid="10" grpId="0"/>
      <p:bldP spid="11" grpId="0" animBg="1"/>
      <p:bldP spid="4" grpId="0" animBg="1"/>
      <p:bldP spid="5"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35822016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606D-8F68-CB58-6727-93890DEA8C1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2E5C6F0-0E4E-035A-2C8F-3BED19C27997}"/>
              </a:ext>
            </a:extLst>
          </p:cNvPr>
          <p:cNvSpPr>
            <a:spLocks noGrp="1"/>
          </p:cNvSpPr>
          <p:nvPr>
            <p:ph type="title"/>
          </p:nvPr>
        </p:nvSpPr>
        <p:spPr>
          <a:xfrm>
            <a:off x="330200" y="177800"/>
            <a:ext cx="11303000" cy="381000"/>
          </a:xfrm>
          <a:noFill/>
          <a:ln w="9525">
            <a:noFill/>
            <a:miter lim="800000"/>
            <a:headEnd/>
            <a:tailEnd/>
          </a:ln>
        </p:spPr>
        <p:txBody>
          <a:bodyPr vert="horz" wrap="square" lIns="0" tIns="0" rIns="0" bIns="0" numCol="1" anchor="t" anchorCtr="0" compatLnSpc="1">
            <a:prstTxWarp prst="textNoShape">
              <a:avLst/>
            </a:prstTxWarp>
          </a:bodyPr>
          <a:lstStyle/>
          <a:p>
            <a:r>
              <a:rPr lang="en-US" altLang="zh-CN" sz="3400" kern="0">
                <a:solidFill>
                  <a:srgbClr val="000000"/>
                </a:solidFill>
                <a:latin typeface="Aptos Display" panose="020B0004020202020204" pitchFamily="34" charset="0"/>
                <a:cs typeface="Cascadia Code" panose="020B0609020000020004" pitchFamily="49" charset="0"/>
              </a:rPr>
              <a:t>End-to-End Document Flow</a:t>
            </a:r>
            <a:endParaRPr lang="zh-CN" altLang="en-US" sz="3400" kern="0">
              <a:solidFill>
                <a:srgbClr val="000000"/>
              </a:solidFill>
              <a:latin typeface="Aptos Display" panose="020B0004020202020204" pitchFamily="34" charset="0"/>
              <a:cs typeface="Cascadia Code" panose="020B0609020000020004" pitchFamily="49" charset="0"/>
            </a:endParaRPr>
          </a:p>
        </p:txBody>
      </p:sp>
      <p:sp>
        <p:nvSpPr>
          <p:cNvPr id="2" name="Shape 2">
            <a:extLst>
              <a:ext uri="{FF2B5EF4-FFF2-40B4-BE49-F238E27FC236}">
                <a16:creationId xmlns:a16="http://schemas.microsoft.com/office/drawing/2014/main" id="{02F563FD-6307-8E07-ED3F-ED363A09097E}"/>
              </a:ext>
            </a:extLst>
          </p:cNvPr>
          <p:cNvSpPr/>
          <p:nvPr/>
        </p:nvSpPr>
        <p:spPr>
          <a:xfrm>
            <a:off x="749907" y="2391156"/>
            <a:ext cx="1554480" cy="1371600"/>
          </a:xfrm>
          <a:prstGeom prst="roundRect">
            <a:avLst>
              <a:gd name="adj" fmla="val 6667"/>
            </a:avLst>
          </a:prstGeom>
          <a:solidFill>
            <a:srgbClr val="F8FBFC"/>
          </a:solidFill>
          <a:ln w="13970">
            <a:solidFill>
              <a:srgbClr val="6294A0"/>
            </a:solidFill>
            <a:prstDash val="solid"/>
          </a:ln>
        </p:spPr>
        <p:txBody>
          <a:bodyPr/>
          <a:lstStyle/>
          <a:p>
            <a:endParaRPr lang="zh-CN" altLang="en-US"/>
          </a:p>
        </p:txBody>
      </p:sp>
      <p:sp>
        <p:nvSpPr>
          <p:cNvPr id="4" name="Text 3">
            <a:extLst>
              <a:ext uri="{FF2B5EF4-FFF2-40B4-BE49-F238E27FC236}">
                <a16:creationId xmlns:a16="http://schemas.microsoft.com/office/drawing/2014/main" id="{32DEC448-2A8A-F692-3C52-6B2FF898D679}"/>
              </a:ext>
            </a:extLst>
          </p:cNvPr>
          <p:cNvSpPr/>
          <p:nvPr/>
        </p:nvSpPr>
        <p:spPr>
          <a:xfrm>
            <a:off x="749907" y="2391156"/>
            <a:ext cx="1554480" cy="457200"/>
          </a:xfrm>
          <a:prstGeom prst="rect">
            <a:avLst/>
          </a:prstGeom>
          <a:solidFill>
            <a:srgbClr val="E2231A"/>
          </a:solid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Aptos" panose="020B0004020202020204" pitchFamily="34" charset="0"/>
                <a:ea typeface="Calibri" pitchFamily="34" charset="-122"/>
                <a:cs typeface="Calibri" pitchFamily="34" charset="-120"/>
              </a:rPr>
              <a:t>1</a:t>
            </a:r>
            <a:endParaRPr lang="en-US" sz="1600" b="1">
              <a:solidFill>
                <a:srgbClr val="FFFFFF"/>
              </a:solidFill>
              <a:latin typeface="Aptos" panose="020B0004020202020204" pitchFamily="34" charset="0"/>
            </a:endParaRPr>
          </a:p>
        </p:txBody>
      </p:sp>
      <p:sp>
        <p:nvSpPr>
          <p:cNvPr id="7" name="Text 4">
            <a:extLst>
              <a:ext uri="{FF2B5EF4-FFF2-40B4-BE49-F238E27FC236}">
                <a16:creationId xmlns:a16="http://schemas.microsoft.com/office/drawing/2014/main" id="{FFF83BE1-5FEC-206B-D03B-7534817AE22E}"/>
              </a:ext>
            </a:extLst>
          </p:cNvPr>
          <p:cNvSpPr/>
          <p:nvPr/>
        </p:nvSpPr>
        <p:spPr>
          <a:xfrm>
            <a:off x="749907" y="2802636"/>
            <a:ext cx="1554480" cy="64008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Subscription</a:t>
            </a:r>
            <a:endParaRPr lang="en-US" sz="1500" b="1">
              <a:solidFill>
                <a:srgbClr val="1B2434"/>
              </a:solidFill>
              <a:latin typeface="Aptos" panose="020B0004020202020204" pitchFamily="34" charset="0"/>
            </a:endParaRPr>
          </a:p>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Order</a:t>
            </a:r>
            <a:endParaRPr lang="en-US" sz="1500" b="1">
              <a:solidFill>
                <a:srgbClr val="1B2434"/>
              </a:solidFill>
              <a:latin typeface="Aptos" panose="020B0004020202020204" pitchFamily="34" charset="0"/>
            </a:endParaRPr>
          </a:p>
        </p:txBody>
      </p:sp>
      <p:sp>
        <p:nvSpPr>
          <p:cNvPr id="8" name="Text 5">
            <a:extLst>
              <a:ext uri="{FF2B5EF4-FFF2-40B4-BE49-F238E27FC236}">
                <a16:creationId xmlns:a16="http://schemas.microsoft.com/office/drawing/2014/main" id="{6B693D32-2A65-361D-F55C-F2CCB363CB53}"/>
              </a:ext>
            </a:extLst>
          </p:cNvPr>
          <p:cNvSpPr/>
          <p:nvPr/>
        </p:nvSpPr>
        <p:spPr>
          <a:xfrm>
            <a:off x="704187" y="3872484"/>
            <a:ext cx="1645920" cy="59436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a:solidFill>
                  <a:srgbClr val="586070"/>
                </a:solidFill>
                <a:latin typeface="Aptos" panose="020B0004020202020204" pitchFamily="34" charset="0"/>
                <a:ea typeface="Calibri" pitchFamily="34" charset="-122"/>
                <a:cs typeface="Calibri" pitchFamily="34" charset="-120"/>
              </a:rPr>
              <a:t>Source of</a:t>
            </a:r>
            <a:endParaRPr lang="en-US" sz="1150">
              <a:solidFill>
                <a:srgbClr val="586070"/>
              </a:solidFill>
              <a:latin typeface="Aptos" panose="020B0004020202020204" pitchFamily="34" charset="0"/>
            </a:endParaRPr>
          </a:p>
          <a:p>
            <a:pPr marL="0" indent="0" algn="ctr">
              <a:buNone/>
            </a:pPr>
            <a:r>
              <a:rPr lang="en-US" sz="1150">
                <a:solidFill>
                  <a:srgbClr val="586070"/>
                </a:solidFill>
                <a:latin typeface="Aptos" panose="020B0004020202020204" pitchFamily="34" charset="0"/>
                <a:ea typeface="Calibri" pitchFamily="34" charset="-122"/>
                <a:cs typeface="Calibri" pitchFamily="34" charset="-120"/>
              </a:rPr>
              <a:t>business semantics</a:t>
            </a:r>
            <a:endParaRPr lang="en-US" sz="1150">
              <a:solidFill>
                <a:srgbClr val="586070"/>
              </a:solidFill>
              <a:latin typeface="Aptos" panose="020B0004020202020204" pitchFamily="34" charset="0"/>
            </a:endParaRPr>
          </a:p>
        </p:txBody>
      </p:sp>
      <p:sp>
        <p:nvSpPr>
          <p:cNvPr id="10" name="Shape 6">
            <a:extLst>
              <a:ext uri="{FF2B5EF4-FFF2-40B4-BE49-F238E27FC236}">
                <a16:creationId xmlns:a16="http://schemas.microsoft.com/office/drawing/2014/main" id="{AF57C09A-581F-F7B9-29DB-D33989DC9AB8}"/>
              </a:ext>
            </a:extLst>
          </p:cNvPr>
          <p:cNvSpPr/>
          <p:nvPr/>
        </p:nvSpPr>
        <p:spPr>
          <a:xfrm>
            <a:off x="2304388" y="3104388"/>
            <a:ext cx="934950" cy="0"/>
          </a:xfrm>
          <a:prstGeom prst="line">
            <a:avLst/>
          </a:prstGeom>
          <a:noFill/>
          <a:ln w="19050">
            <a:solidFill>
              <a:srgbClr val="6294A0"/>
            </a:solidFill>
            <a:prstDash val="solid"/>
          </a:ln>
        </p:spPr>
        <p:txBody>
          <a:bodyPr/>
          <a:lstStyle/>
          <a:p>
            <a:endParaRPr lang="zh-CN" altLang="en-US"/>
          </a:p>
        </p:txBody>
      </p:sp>
      <p:sp>
        <p:nvSpPr>
          <p:cNvPr id="11" name="Shape 7">
            <a:extLst>
              <a:ext uri="{FF2B5EF4-FFF2-40B4-BE49-F238E27FC236}">
                <a16:creationId xmlns:a16="http://schemas.microsoft.com/office/drawing/2014/main" id="{9FC5774D-9A7A-F85D-8BA4-D39B41E26AE4}"/>
              </a:ext>
            </a:extLst>
          </p:cNvPr>
          <p:cNvSpPr/>
          <p:nvPr/>
        </p:nvSpPr>
        <p:spPr>
          <a:xfrm>
            <a:off x="3081627" y="2391156"/>
            <a:ext cx="1554480" cy="1371600"/>
          </a:xfrm>
          <a:prstGeom prst="roundRect">
            <a:avLst>
              <a:gd name="adj" fmla="val 6667"/>
            </a:avLst>
          </a:prstGeom>
          <a:solidFill>
            <a:srgbClr val="F8FBFC"/>
          </a:solidFill>
          <a:ln w="13970">
            <a:solidFill>
              <a:srgbClr val="6294A0"/>
            </a:solidFill>
            <a:prstDash val="solid"/>
          </a:ln>
        </p:spPr>
        <p:txBody>
          <a:bodyPr/>
          <a:lstStyle/>
          <a:p>
            <a:endParaRPr lang="zh-CN" altLang="en-US"/>
          </a:p>
        </p:txBody>
      </p:sp>
      <p:sp>
        <p:nvSpPr>
          <p:cNvPr id="12" name="Text 8">
            <a:extLst>
              <a:ext uri="{FF2B5EF4-FFF2-40B4-BE49-F238E27FC236}">
                <a16:creationId xmlns:a16="http://schemas.microsoft.com/office/drawing/2014/main" id="{6CD0E8A1-F265-12B8-38A8-79C92A7E1F06}"/>
              </a:ext>
            </a:extLst>
          </p:cNvPr>
          <p:cNvSpPr/>
          <p:nvPr/>
        </p:nvSpPr>
        <p:spPr>
          <a:xfrm>
            <a:off x="3081627" y="2391156"/>
            <a:ext cx="1554480" cy="457200"/>
          </a:xfrm>
          <a:prstGeom prst="rect">
            <a:avLst/>
          </a:prstGeom>
          <a:solidFill>
            <a:srgbClr val="E2231A"/>
          </a:solid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Aptos" panose="020B0004020202020204" pitchFamily="34" charset="0"/>
                <a:ea typeface="Calibri" pitchFamily="34" charset="-122"/>
                <a:cs typeface="Calibri" pitchFamily="34" charset="-120"/>
              </a:rPr>
              <a:t>2</a:t>
            </a:r>
            <a:endParaRPr lang="en-US" sz="1600" b="1">
              <a:solidFill>
                <a:srgbClr val="FFFFFF"/>
              </a:solidFill>
              <a:latin typeface="Aptos" panose="020B0004020202020204" pitchFamily="34" charset="0"/>
            </a:endParaRPr>
          </a:p>
        </p:txBody>
      </p:sp>
      <p:sp>
        <p:nvSpPr>
          <p:cNvPr id="13" name="Text 9">
            <a:extLst>
              <a:ext uri="{FF2B5EF4-FFF2-40B4-BE49-F238E27FC236}">
                <a16:creationId xmlns:a16="http://schemas.microsoft.com/office/drawing/2014/main" id="{B596C6DC-BCFA-3EC6-83F4-E36C28DFBC81}"/>
              </a:ext>
            </a:extLst>
          </p:cNvPr>
          <p:cNvSpPr/>
          <p:nvPr/>
        </p:nvSpPr>
        <p:spPr>
          <a:xfrm>
            <a:off x="3081627" y="2802636"/>
            <a:ext cx="1554480" cy="64008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Payment</a:t>
            </a:r>
            <a:endParaRPr lang="en-US" sz="1500" b="1">
              <a:solidFill>
                <a:srgbClr val="1B2434"/>
              </a:solidFill>
              <a:latin typeface="Aptos" panose="020B0004020202020204" pitchFamily="34" charset="0"/>
            </a:endParaRPr>
          </a:p>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Schedule</a:t>
            </a:r>
            <a:endParaRPr lang="en-US" sz="1500" b="1">
              <a:solidFill>
                <a:srgbClr val="1B2434"/>
              </a:solidFill>
              <a:latin typeface="Aptos" panose="020B0004020202020204" pitchFamily="34" charset="0"/>
            </a:endParaRPr>
          </a:p>
        </p:txBody>
      </p:sp>
      <p:sp>
        <p:nvSpPr>
          <p:cNvPr id="14" name="Text 10">
            <a:extLst>
              <a:ext uri="{FF2B5EF4-FFF2-40B4-BE49-F238E27FC236}">
                <a16:creationId xmlns:a16="http://schemas.microsoft.com/office/drawing/2014/main" id="{F25B44AB-70DA-95F8-A476-00D69A77C408}"/>
              </a:ext>
            </a:extLst>
          </p:cNvPr>
          <p:cNvSpPr/>
          <p:nvPr/>
        </p:nvSpPr>
        <p:spPr>
          <a:xfrm>
            <a:off x="3035907" y="3872484"/>
            <a:ext cx="1645920" cy="59436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a:solidFill>
                  <a:srgbClr val="586070"/>
                </a:solidFill>
                <a:latin typeface="Aptos" panose="020B0004020202020204" pitchFamily="34" charset="0"/>
                <a:ea typeface="Calibri" pitchFamily="34" charset="-122"/>
                <a:cs typeface="Calibri" pitchFamily="34" charset="-120"/>
              </a:rPr>
              <a:t>Per-period</a:t>
            </a:r>
            <a:endParaRPr lang="en-US" sz="1150">
              <a:solidFill>
                <a:srgbClr val="586070"/>
              </a:solidFill>
              <a:latin typeface="Aptos" panose="020B0004020202020204" pitchFamily="34" charset="0"/>
            </a:endParaRPr>
          </a:p>
          <a:p>
            <a:pPr marL="0" indent="0" algn="ctr">
              <a:buNone/>
            </a:pPr>
            <a:r>
              <a:rPr lang="en-US" sz="1150">
                <a:solidFill>
                  <a:srgbClr val="586070"/>
                </a:solidFill>
                <a:latin typeface="Aptos" panose="020B0004020202020204" pitchFamily="34" charset="0"/>
                <a:ea typeface="Calibri" pitchFamily="34" charset="-122"/>
                <a:cs typeface="Calibri" pitchFamily="34" charset="-120"/>
              </a:rPr>
              <a:t>billing plan</a:t>
            </a:r>
            <a:endParaRPr lang="en-US" sz="1150">
              <a:solidFill>
                <a:srgbClr val="586070"/>
              </a:solidFill>
              <a:latin typeface="Aptos" panose="020B0004020202020204" pitchFamily="34" charset="0"/>
            </a:endParaRPr>
          </a:p>
        </p:txBody>
      </p:sp>
      <p:sp>
        <p:nvSpPr>
          <p:cNvPr id="15" name="Shape 11">
            <a:extLst>
              <a:ext uri="{FF2B5EF4-FFF2-40B4-BE49-F238E27FC236}">
                <a16:creationId xmlns:a16="http://schemas.microsoft.com/office/drawing/2014/main" id="{B87FDF49-C4BA-2369-2C20-AAC35A495655}"/>
              </a:ext>
            </a:extLst>
          </p:cNvPr>
          <p:cNvSpPr/>
          <p:nvPr/>
        </p:nvSpPr>
        <p:spPr>
          <a:xfrm flipV="1">
            <a:off x="4599530" y="3095242"/>
            <a:ext cx="956974" cy="9145"/>
          </a:xfrm>
          <a:prstGeom prst="line">
            <a:avLst/>
          </a:prstGeom>
          <a:noFill/>
          <a:ln w="19050">
            <a:solidFill>
              <a:srgbClr val="6294A0"/>
            </a:solidFill>
            <a:prstDash val="solid"/>
          </a:ln>
        </p:spPr>
        <p:txBody>
          <a:bodyPr/>
          <a:lstStyle/>
          <a:p>
            <a:endParaRPr lang="zh-CN" altLang="en-US"/>
          </a:p>
        </p:txBody>
      </p:sp>
      <p:sp>
        <p:nvSpPr>
          <p:cNvPr id="16" name="Shape 12">
            <a:extLst>
              <a:ext uri="{FF2B5EF4-FFF2-40B4-BE49-F238E27FC236}">
                <a16:creationId xmlns:a16="http://schemas.microsoft.com/office/drawing/2014/main" id="{27FFD0A5-B742-08AA-7011-30E57F43C700}"/>
              </a:ext>
            </a:extLst>
          </p:cNvPr>
          <p:cNvSpPr/>
          <p:nvPr/>
        </p:nvSpPr>
        <p:spPr>
          <a:xfrm>
            <a:off x="5556504" y="2382012"/>
            <a:ext cx="1554480" cy="1371600"/>
          </a:xfrm>
          <a:prstGeom prst="roundRect">
            <a:avLst>
              <a:gd name="adj" fmla="val 6667"/>
            </a:avLst>
          </a:prstGeom>
          <a:solidFill>
            <a:srgbClr val="F8FBFC"/>
          </a:solidFill>
          <a:ln w="13970">
            <a:solidFill>
              <a:srgbClr val="6294A0"/>
            </a:solidFill>
            <a:prstDash val="solid"/>
          </a:ln>
        </p:spPr>
        <p:txBody>
          <a:bodyPr/>
          <a:lstStyle/>
          <a:p>
            <a:endParaRPr lang="zh-CN" altLang="en-US"/>
          </a:p>
        </p:txBody>
      </p:sp>
      <p:sp>
        <p:nvSpPr>
          <p:cNvPr id="17" name="Text 13">
            <a:extLst>
              <a:ext uri="{FF2B5EF4-FFF2-40B4-BE49-F238E27FC236}">
                <a16:creationId xmlns:a16="http://schemas.microsoft.com/office/drawing/2014/main" id="{58603EED-BCAD-A1F6-42AC-3B72E9E87893}"/>
              </a:ext>
            </a:extLst>
          </p:cNvPr>
          <p:cNvSpPr/>
          <p:nvPr/>
        </p:nvSpPr>
        <p:spPr>
          <a:xfrm>
            <a:off x="5556504" y="2382012"/>
            <a:ext cx="1554480" cy="457200"/>
          </a:xfrm>
          <a:prstGeom prst="rect">
            <a:avLst/>
          </a:prstGeom>
          <a:solidFill>
            <a:srgbClr val="E2231A"/>
          </a:solid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Aptos" panose="020B0004020202020204" pitchFamily="34" charset="0"/>
                <a:ea typeface="Calibri" pitchFamily="34" charset="-122"/>
                <a:cs typeface="Calibri" pitchFamily="34" charset="-120"/>
              </a:rPr>
              <a:t>3</a:t>
            </a:r>
            <a:endParaRPr lang="en-US" sz="1600" b="1">
              <a:solidFill>
                <a:srgbClr val="FFFFFF"/>
              </a:solidFill>
              <a:latin typeface="Aptos" panose="020B0004020202020204" pitchFamily="34" charset="0"/>
            </a:endParaRPr>
          </a:p>
        </p:txBody>
      </p:sp>
      <p:sp>
        <p:nvSpPr>
          <p:cNvPr id="18" name="Text 14">
            <a:extLst>
              <a:ext uri="{FF2B5EF4-FFF2-40B4-BE49-F238E27FC236}">
                <a16:creationId xmlns:a16="http://schemas.microsoft.com/office/drawing/2014/main" id="{B89400D0-8460-4EAD-3C27-FC8795351915}"/>
              </a:ext>
            </a:extLst>
          </p:cNvPr>
          <p:cNvSpPr/>
          <p:nvPr/>
        </p:nvSpPr>
        <p:spPr>
          <a:xfrm>
            <a:off x="5556504" y="2793492"/>
            <a:ext cx="1554480" cy="64008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Billable Item</a:t>
            </a:r>
            <a:endParaRPr lang="en-US" sz="1500" b="1">
              <a:solidFill>
                <a:srgbClr val="1B2434"/>
              </a:solidFill>
              <a:latin typeface="Aptos" panose="020B0004020202020204" pitchFamily="34" charset="0"/>
            </a:endParaRPr>
          </a:p>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(BIT)</a:t>
            </a:r>
            <a:endParaRPr lang="en-US" sz="1500" b="1">
              <a:solidFill>
                <a:srgbClr val="1B2434"/>
              </a:solidFill>
              <a:latin typeface="Aptos" panose="020B0004020202020204" pitchFamily="34" charset="0"/>
            </a:endParaRPr>
          </a:p>
        </p:txBody>
      </p:sp>
      <p:sp>
        <p:nvSpPr>
          <p:cNvPr id="19" name="Text 15">
            <a:extLst>
              <a:ext uri="{FF2B5EF4-FFF2-40B4-BE49-F238E27FC236}">
                <a16:creationId xmlns:a16="http://schemas.microsoft.com/office/drawing/2014/main" id="{1542209E-03BE-F298-8721-72079E2807B6}"/>
              </a:ext>
            </a:extLst>
          </p:cNvPr>
          <p:cNvSpPr/>
          <p:nvPr/>
        </p:nvSpPr>
        <p:spPr>
          <a:xfrm>
            <a:off x="5510784" y="3863340"/>
            <a:ext cx="1645920" cy="59436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a:solidFill>
                  <a:srgbClr val="586070"/>
                </a:solidFill>
                <a:latin typeface="Aptos" panose="020B0004020202020204" pitchFamily="34" charset="0"/>
                <a:ea typeface="Calibri" pitchFamily="34" charset="-122"/>
                <a:cs typeface="Calibri" pitchFamily="34" charset="-120"/>
              </a:rPr>
              <a:t>Core billing</a:t>
            </a:r>
            <a:endParaRPr lang="en-US" sz="1150">
              <a:solidFill>
                <a:srgbClr val="586070"/>
              </a:solidFill>
              <a:latin typeface="Aptos" panose="020B0004020202020204" pitchFamily="34" charset="0"/>
            </a:endParaRPr>
          </a:p>
          <a:p>
            <a:pPr marL="0" indent="0" algn="ctr">
              <a:buNone/>
            </a:pPr>
            <a:r>
              <a:rPr lang="en-US" sz="1150">
                <a:solidFill>
                  <a:srgbClr val="586070"/>
                </a:solidFill>
                <a:latin typeface="Aptos" panose="020B0004020202020204" pitchFamily="34" charset="0"/>
                <a:ea typeface="Calibri" pitchFamily="34" charset="-122"/>
                <a:cs typeface="Calibri" pitchFamily="34" charset="-120"/>
              </a:rPr>
              <a:t>unit (180+ fields)</a:t>
            </a:r>
            <a:endParaRPr lang="en-US" sz="1150">
              <a:solidFill>
                <a:srgbClr val="586070"/>
              </a:solidFill>
              <a:latin typeface="Aptos" panose="020B0004020202020204" pitchFamily="34" charset="0"/>
            </a:endParaRPr>
          </a:p>
        </p:txBody>
      </p:sp>
      <p:sp>
        <p:nvSpPr>
          <p:cNvPr id="20" name="Shape 16">
            <a:extLst>
              <a:ext uri="{FF2B5EF4-FFF2-40B4-BE49-F238E27FC236}">
                <a16:creationId xmlns:a16="http://schemas.microsoft.com/office/drawing/2014/main" id="{388FC19E-D107-4723-43DD-985A8770EC16}"/>
              </a:ext>
            </a:extLst>
          </p:cNvPr>
          <p:cNvSpPr/>
          <p:nvPr/>
        </p:nvSpPr>
        <p:spPr>
          <a:xfrm>
            <a:off x="7110984" y="3095243"/>
            <a:ext cx="624054" cy="9143"/>
          </a:xfrm>
          <a:prstGeom prst="line">
            <a:avLst/>
          </a:prstGeom>
          <a:noFill/>
          <a:ln w="19050">
            <a:solidFill>
              <a:srgbClr val="6294A0"/>
            </a:solidFill>
            <a:prstDash val="solid"/>
          </a:ln>
        </p:spPr>
        <p:txBody>
          <a:bodyPr/>
          <a:lstStyle/>
          <a:p>
            <a:endParaRPr lang="zh-CN" altLang="en-US"/>
          </a:p>
        </p:txBody>
      </p:sp>
      <p:sp>
        <p:nvSpPr>
          <p:cNvPr id="21" name="Shape 17">
            <a:extLst>
              <a:ext uri="{FF2B5EF4-FFF2-40B4-BE49-F238E27FC236}">
                <a16:creationId xmlns:a16="http://schemas.microsoft.com/office/drawing/2014/main" id="{1AEF09D1-9FCF-CE8B-54E7-CE8F19C01007}"/>
              </a:ext>
            </a:extLst>
          </p:cNvPr>
          <p:cNvSpPr/>
          <p:nvPr/>
        </p:nvSpPr>
        <p:spPr>
          <a:xfrm>
            <a:off x="7735038" y="2333588"/>
            <a:ext cx="1554480" cy="1371600"/>
          </a:xfrm>
          <a:prstGeom prst="roundRect">
            <a:avLst>
              <a:gd name="adj" fmla="val 6667"/>
            </a:avLst>
          </a:prstGeom>
          <a:solidFill>
            <a:srgbClr val="F8FBFC"/>
          </a:solidFill>
          <a:ln w="13970">
            <a:solidFill>
              <a:srgbClr val="6294A0"/>
            </a:solidFill>
            <a:prstDash val="solid"/>
          </a:ln>
        </p:spPr>
        <p:txBody>
          <a:bodyPr/>
          <a:lstStyle/>
          <a:p>
            <a:endParaRPr lang="zh-CN" altLang="en-US"/>
          </a:p>
        </p:txBody>
      </p:sp>
      <p:sp>
        <p:nvSpPr>
          <p:cNvPr id="22" name="Text 18">
            <a:extLst>
              <a:ext uri="{FF2B5EF4-FFF2-40B4-BE49-F238E27FC236}">
                <a16:creationId xmlns:a16="http://schemas.microsoft.com/office/drawing/2014/main" id="{2BEFBED2-A8D2-D7F2-9D5A-704EEE9C7148}"/>
              </a:ext>
            </a:extLst>
          </p:cNvPr>
          <p:cNvSpPr/>
          <p:nvPr/>
        </p:nvSpPr>
        <p:spPr>
          <a:xfrm>
            <a:off x="7735038" y="2382012"/>
            <a:ext cx="1554480" cy="457200"/>
          </a:xfrm>
          <a:prstGeom prst="rect">
            <a:avLst/>
          </a:prstGeom>
          <a:solidFill>
            <a:srgbClr val="E2231A"/>
          </a:solid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Aptos" panose="020B0004020202020204" pitchFamily="34" charset="0"/>
                <a:ea typeface="Calibri" pitchFamily="34" charset="-122"/>
                <a:cs typeface="Calibri" pitchFamily="34" charset="-120"/>
              </a:rPr>
              <a:t>4</a:t>
            </a:r>
            <a:endParaRPr lang="en-US" sz="1600" b="1">
              <a:solidFill>
                <a:srgbClr val="FFFFFF"/>
              </a:solidFill>
              <a:latin typeface="Aptos" panose="020B0004020202020204" pitchFamily="34" charset="0"/>
            </a:endParaRPr>
          </a:p>
        </p:txBody>
      </p:sp>
      <p:sp>
        <p:nvSpPr>
          <p:cNvPr id="23" name="Text 19">
            <a:extLst>
              <a:ext uri="{FF2B5EF4-FFF2-40B4-BE49-F238E27FC236}">
                <a16:creationId xmlns:a16="http://schemas.microsoft.com/office/drawing/2014/main" id="{858DA775-65E1-165F-BFE3-40CEEE76A80A}"/>
              </a:ext>
            </a:extLst>
          </p:cNvPr>
          <p:cNvSpPr/>
          <p:nvPr/>
        </p:nvSpPr>
        <p:spPr>
          <a:xfrm>
            <a:off x="7735038" y="2793492"/>
            <a:ext cx="1554480" cy="64008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Invoice</a:t>
            </a:r>
            <a:endParaRPr lang="en-US" sz="1500" b="1">
              <a:solidFill>
                <a:srgbClr val="1B2434"/>
              </a:solidFill>
              <a:latin typeface="Aptos" panose="020B0004020202020204" pitchFamily="34" charset="0"/>
            </a:endParaRPr>
          </a:p>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(Pre→Final)</a:t>
            </a:r>
            <a:endParaRPr lang="en-US" sz="1500" b="1">
              <a:solidFill>
                <a:srgbClr val="1B2434"/>
              </a:solidFill>
              <a:latin typeface="Aptos" panose="020B0004020202020204" pitchFamily="34" charset="0"/>
            </a:endParaRPr>
          </a:p>
        </p:txBody>
      </p:sp>
      <p:sp>
        <p:nvSpPr>
          <p:cNvPr id="24" name="Text 20">
            <a:extLst>
              <a:ext uri="{FF2B5EF4-FFF2-40B4-BE49-F238E27FC236}">
                <a16:creationId xmlns:a16="http://schemas.microsoft.com/office/drawing/2014/main" id="{3B70309F-EAEF-86E6-D19A-AD04B68703BC}"/>
              </a:ext>
            </a:extLst>
          </p:cNvPr>
          <p:cNvSpPr/>
          <p:nvPr/>
        </p:nvSpPr>
        <p:spPr>
          <a:xfrm>
            <a:off x="7689318" y="3863340"/>
            <a:ext cx="1645920" cy="59436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a:solidFill>
                  <a:srgbClr val="586070"/>
                </a:solidFill>
                <a:latin typeface="Aptos" panose="020B0004020202020204" pitchFamily="34" charset="0"/>
                <a:ea typeface="Calibri" pitchFamily="34" charset="-122"/>
                <a:cs typeface="Calibri" pitchFamily="34" charset="-120"/>
              </a:rPr>
              <a:t>LGTP tax,</a:t>
            </a:r>
            <a:endParaRPr lang="en-US" sz="1150">
              <a:solidFill>
                <a:srgbClr val="586070"/>
              </a:solidFill>
              <a:latin typeface="Aptos" panose="020B0004020202020204" pitchFamily="34" charset="0"/>
            </a:endParaRPr>
          </a:p>
          <a:p>
            <a:pPr marL="0" indent="0" algn="ctr">
              <a:buNone/>
            </a:pPr>
            <a:r>
              <a:rPr lang="en-US" sz="1150">
                <a:solidFill>
                  <a:srgbClr val="586070"/>
                </a:solidFill>
                <a:latin typeface="Aptos" panose="020B0004020202020204" pitchFamily="34" charset="0"/>
                <a:ea typeface="Calibri" pitchFamily="34" charset="-122"/>
                <a:cs typeface="Calibri" pitchFamily="34" charset="-120"/>
              </a:rPr>
              <a:t>approval gate</a:t>
            </a:r>
            <a:endParaRPr lang="en-US" sz="1150">
              <a:solidFill>
                <a:srgbClr val="586070"/>
              </a:solidFill>
              <a:latin typeface="Aptos" panose="020B0004020202020204" pitchFamily="34" charset="0"/>
            </a:endParaRPr>
          </a:p>
        </p:txBody>
      </p:sp>
      <p:sp>
        <p:nvSpPr>
          <p:cNvPr id="25" name="Shape 21">
            <a:extLst>
              <a:ext uri="{FF2B5EF4-FFF2-40B4-BE49-F238E27FC236}">
                <a16:creationId xmlns:a16="http://schemas.microsoft.com/office/drawing/2014/main" id="{B04710D6-3274-35F3-1641-AFDE2519EDA2}"/>
              </a:ext>
            </a:extLst>
          </p:cNvPr>
          <p:cNvSpPr/>
          <p:nvPr/>
        </p:nvSpPr>
        <p:spPr>
          <a:xfrm>
            <a:off x="9289517" y="3095244"/>
            <a:ext cx="552375" cy="9142"/>
          </a:xfrm>
          <a:prstGeom prst="line">
            <a:avLst/>
          </a:prstGeom>
          <a:noFill/>
          <a:ln w="19050">
            <a:solidFill>
              <a:srgbClr val="6294A0"/>
            </a:solidFill>
            <a:prstDash val="solid"/>
          </a:ln>
        </p:spPr>
        <p:txBody>
          <a:bodyPr/>
          <a:lstStyle/>
          <a:p>
            <a:endParaRPr lang="zh-CN" altLang="en-US"/>
          </a:p>
        </p:txBody>
      </p:sp>
      <p:sp>
        <p:nvSpPr>
          <p:cNvPr id="26" name="Shape 22">
            <a:extLst>
              <a:ext uri="{FF2B5EF4-FFF2-40B4-BE49-F238E27FC236}">
                <a16:creationId xmlns:a16="http://schemas.microsoft.com/office/drawing/2014/main" id="{FB766E13-E98D-4538-E54F-B0B0FEF6894F}"/>
              </a:ext>
            </a:extLst>
          </p:cNvPr>
          <p:cNvSpPr/>
          <p:nvPr/>
        </p:nvSpPr>
        <p:spPr>
          <a:xfrm>
            <a:off x="9841893" y="2391156"/>
            <a:ext cx="1554480" cy="1371600"/>
          </a:xfrm>
          <a:prstGeom prst="roundRect">
            <a:avLst>
              <a:gd name="adj" fmla="val 6667"/>
            </a:avLst>
          </a:prstGeom>
          <a:solidFill>
            <a:srgbClr val="F8FBFC"/>
          </a:solidFill>
          <a:ln w="13970">
            <a:solidFill>
              <a:srgbClr val="6294A0"/>
            </a:solidFill>
            <a:prstDash val="solid"/>
          </a:ln>
        </p:spPr>
        <p:txBody>
          <a:bodyPr/>
          <a:lstStyle/>
          <a:p>
            <a:endParaRPr lang="zh-CN" altLang="en-US"/>
          </a:p>
        </p:txBody>
      </p:sp>
      <p:sp>
        <p:nvSpPr>
          <p:cNvPr id="27" name="Text 23">
            <a:extLst>
              <a:ext uri="{FF2B5EF4-FFF2-40B4-BE49-F238E27FC236}">
                <a16:creationId xmlns:a16="http://schemas.microsoft.com/office/drawing/2014/main" id="{8F48F342-C123-8509-654C-27A427E6D050}"/>
              </a:ext>
            </a:extLst>
          </p:cNvPr>
          <p:cNvSpPr/>
          <p:nvPr/>
        </p:nvSpPr>
        <p:spPr>
          <a:xfrm>
            <a:off x="9841893" y="2391156"/>
            <a:ext cx="1554480" cy="457200"/>
          </a:xfrm>
          <a:prstGeom prst="rect">
            <a:avLst/>
          </a:prstGeom>
          <a:solidFill>
            <a:srgbClr val="E2231A"/>
          </a:solid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Aptos" panose="020B0004020202020204" pitchFamily="34" charset="0"/>
                <a:ea typeface="Calibri" pitchFamily="34" charset="-122"/>
                <a:cs typeface="Calibri" pitchFamily="34" charset="-120"/>
              </a:rPr>
              <a:t>5</a:t>
            </a:r>
            <a:endParaRPr lang="en-US" sz="1600" b="1">
              <a:solidFill>
                <a:srgbClr val="FFFFFF"/>
              </a:solidFill>
              <a:latin typeface="Aptos" panose="020B0004020202020204" pitchFamily="34" charset="0"/>
            </a:endParaRPr>
          </a:p>
        </p:txBody>
      </p:sp>
      <p:sp>
        <p:nvSpPr>
          <p:cNvPr id="28" name="Text 24">
            <a:extLst>
              <a:ext uri="{FF2B5EF4-FFF2-40B4-BE49-F238E27FC236}">
                <a16:creationId xmlns:a16="http://schemas.microsoft.com/office/drawing/2014/main" id="{B71FAEEC-CDE7-2A6A-59D0-3798E4F2EA0A}"/>
              </a:ext>
            </a:extLst>
          </p:cNvPr>
          <p:cNvSpPr/>
          <p:nvPr/>
        </p:nvSpPr>
        <p:spPr>
          <a:xfrm>
            <a:off x="9841893" y="2802636"/>
            <a:ext cx="1554480" cy="64008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FA Document</a:t>
            </a:r>
            <a:endParaRPr lang="en-US" sz="1500" b="1">
              <a:solidFill>
                <a:srgbClr val="1B2434"/>
              </a:solidFill>
              <a:latin typeface="Aptos" panose="020B0004020202020204" pitchFamily="34" charset="0"/>
            </a:endParaRPr>
          </a:p>
          <a:p>
            <a:pPr marL="0" indent="0" algn="ctr">
              <a:buNone/>
            </a:pPr>
            <a:r>
              <a:rPr lang="en-US" sz="1500" b="1">
                <a:solidFill>
                  <a:srgbClr val="1B2434"/>
                </a:solidFill>
                <a:latin typeface="Aptos" panose="020B0004020202020204" pitchFamily="34" charset="0"/>
                <a:ea typeface="Calibri" pitchFamily="34" charset="-122"/>
                <a:cs typeface="Calibri" pitchFamily="34" charset="-120"/>
              </a:rPr>
              <a:t>→ SAP</a:t>
            </a:r>
            <a:endParaRPr lang="en-US" sz="1500" b="1">
              <a:solidFill>
                <a:srgbClr val="1B2434"/>
              </a:solidFill>
              <a:latin typeface="Aptos" panose="020B0004020202020204" pitchFamily="34" charset="0"/>
            </a:endParaRPr>
          </a:p>
        </p:txBody>
      </p:sp>
      <p:sp>
        <p:nvSpPr>
          <p:cNvPr id="29" name="Text 25">
            <a:extLst>
              <a:ext uri="{FF2B5EF4-FFF2-40B4-BE49-F238E27FC236}">
                <a16:creationId xmlns:a16="http://schemas.microsoft.com/office/drawing/2014/main" id="{618E3A95-E351-239A-1AAC-AA073068649C}"/>
              </a:ext>
            </a:extLst>
          </p:cNvPr>
          <p:cNvSpPr/>
          <p:nvPr/>
        </p:nvSpPr>
        <p:spPr>
          <a:xfrm>
            <a:off x="9796173" y="3872484"/>
            <a:ext cx="1645920" cy="594360"/>
          </a:xfrm>
          <a:prstGeom prst="rect">
            <a:avLst/>
          </a:prstGeom>
          <a:noFill/>
          <a:ln/>
        </p:spPr>
        <p:txBody>
          <a:bodyPr wrap="square" lIns="50800" tIns="25400" rIns="50800" bIns="2540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a:solidFill>
                  <a:srgbClr val="586070"/>
                </a:solidFill>
                <a:latin typeface="Aptos" panose="020B0004020202020204" pitchFamily="34" charset="0"/>
                <a:ea typeface="Calibri" pitchFamily="34" charset="-122"/>
                <a:cs typeface="Calibri" pitchFamily="34" charset="-120"/>
              </a:rPr>
              <a:t>Z1→Z2 posting</a:t>
            </a:r>
            <a:endParaRPr lang="en-US" sz="1150">
              <a:solidFill>
                <a:srgbClr val="586070"/>
              </a:solidFill>
              <a:latin typeface="Aptos" panose="020B0004020202020204" pitchFamily="34" charset="0"/>
            </a:endParaRPr>
          </a:p>
          <a:p>
            <a:pPr marL="0" indent="0" algn="ctr">
              <a:buNone/>
            </a:pPr>
            <a:r>
              <a:rPr lang="en-US" sz="1150">
                <a:solidFill>
                  <a:srgbClr val="586070"/>
                </a:solidFill>
                <a:latin typeface="Aptos" panose="020B0004020202020204" pitchFamily="34" charset="0"/>
                <a:ea typeface="Calibri" pitchFamily="34" charset="-122"/>
                <a:cs typeface="Calibri" pitchFamily="34" charset="-120"/>
              </a:rPr>
              <a:t>via LGAP</a:t>
            </a:r>
            <a:endParaRPr lang="en-US" sz="1150">
              <a:solidFill>
                <a:srgbClr val="586070"/>
              </a:solidFill>
              <a:latin typeface="Aptos" panose="020B0004020202020204" pitchFamily="34" charset="0"/>
            </a:endParaRPr>
          </a:p>
        </p:txBody>
      </p:sp>
    </p:spTree>
    <p:extLst>
      <p:ext uri="{BB962C8B-B14F-4D97-AF65-F5344CB8AC3E}">
        <p14:creationId xmlns:p14="http://schemas.microsoft.com/office/powerpoint/2010/main" val="4041233398"/>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5"/>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GP.o_6CXRS.86lYs6.R8v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8.xml><?xml version="1.0" encoding="utf-8"?>
<p:tagLst xmlns:a="http://schemas.openxmlformats.org/drawingml/2006/main" xmlns:r="http://schemas.openxmlformats.org/officeDocument/2006/relationships" xmlns:p="http://schemas.openxmlformats.org/presentationml/2006/main">
  <p:tag name="SHAPENAME" val="3. Subtitle"/>
</p:tagLst>
</file>

<file path=ppt/tags/tag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SHAPENAME" val="5. Source"/>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9_Lenovo Master">
  <a:themeElements>
    <a:clrScheme name="OneLenovo">
      <a:dk1>
        <a:srgbClr val="000000"/>
      </a:dk1>
      <a:lt1>
        <a:sysClr val="window" lastClr="FFFFFF"/>
      </a:lt1>
      <a:dk2>
        <a:srgbClr val="F26A52"/>
      </a:dk2>
      <a:lt2>
        <a:srgbClr val="4E444E"/>
      </a:lt2>
      <a:accent1>
        <a:srgbClr val="E1251B"/>
      </a:accent1>
      <a:accent2>
        <a:srgbClr val="871C23"/>
      </a:accent2>
      <a:accent3>
        <a:srgbClr val="D9C1D8"/>
      </a:accent3>
      <a:accent4>
        <a:srgbClr val="4D144A"/>
      </a:accent4>
      <a:accent5>
        <a:srgbClr val="C9D0F0"/>
      </a:accent5>
      <a:accent6>
        <a:srgbClr val="11184F"/>
      </a:accent6>
      <a:hlink>
        <a:srgbClr val="3046AD"/>
      </a:hlink>
      <a:folHlink>
        <a:srgbClr val="3046A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252E"/>
        </a:solidFill>
        <a:ln>
          <a:noFill/>
        </a:ln>
      </a:spPr>
      <a:bodyPr lIns="182880" tIns="182880" rIns="182880" bIns="182880" rtlCol="0" anchor="t"/>
      <a:lstStyle>
        <a:defPPr algn="l">
          <a:defRPr sz="1600" dirty="0" err="1">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800" dirty="0" err="1"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Lenovo_Starter-Template.pptx  -  Last saved by user" id="{B83FDAB1-C4AB-4437-A4D0-D6D6435A7100}" vid="{3A8F05A5-30BE-4439-845D-6FA15E0B73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20000"/>
            <a:lumOff val="80000"/>
          </a:schemeClr>
        </a:soli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a:spPr>
      <a:bodyPr lIns="0" tIns="35982" rIns="0" bIns="0" anchor="ctr" anchorCtr="0"/>
      <a:lstStyle>
        <a:defPPr algn="ctr" defTabSz="1088449">
          <a:defRPr sz="900" kern="0">
            <a:solidFill>
              <a:sysClr val="windowText" lastClr="000000"/>
            </a:solidFill>
            <a:latin typeface="Calibri"/>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0_Lenovo Master">
  <a:themeElements>
    <a:clrScheme name="Lenovo Colors">
      <a:dk1>
        <a:srgbClr val="000000"/>
      </a:dk1>
      <a:lt1>
        <a:sysClr val="window" lastClr="FFFFFF"/>
      </a:lt1>
      <a:dk2>
        <a:srgbClr val="8246AF"/>
      </a:dk2>
      <a:lt2>
        <a:srgbClr val="333F48"/>
      </a:lt2>
      <a:accent1>
        <a:srgbClr val="E1140A"/>
      </a:accent1>
      <a:accent2>
        <a:srgbClr val="FF6A00"/>
      </a:accent2>
      <a:accent3>
        <a:srgbClr val="F04187"/>
      </a:accent3>
      <a:accent4>
        <a:srgbClr val="3E8DDD"/>
      </a:accent4>
      <a:accent5>
        <a:srgbClr val="46C8E1"/>
      </a:accent5>
      <a:accent6>
        <a:srgbClr val="6AC346"/>
      </a:accent6>
      <a:hlink>
        <a:srgbClr val="4AC0E0"/>
      </a:hlink>
      <a:folHlink>
        <a:srgbClr val="4AC0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Mod val="20000"/>
            <a:lumOff val="80000"/>
          </a:schemeClr>
        </a:solidFill>
        <a:ln w="6350">
          <a:solidFill>
            <a:schemeClr val="tx1"/>
          </a:solidFill>
        </a:ln>
      </a:spPr>
      <a:bodyPr lIns="0" tIns="0" rIns="0" bIns="0" rtlCol="0" anchor="ctr"/>
      <a:lstStyle>
        <a:defPPr algn="ctr">
          <a:defRPr sz="1200" b="1" dirty="0" smtClean="0">
            <a:solidFill>
              <a:schemeClr val="tx1"/>
            </a:solidFill>
            <a:latin typeface="Tenorite" panose="00000500000000000000" pitchFamily="2" charset="0"/>
          </a:defRPr>
        </a:defPPr>
      </a:lstStyle>
      <a:style>
        <a:lnRef idx="0">
          <a:scrgbClr r="0" g="0" b="0"/>
        </a:lnRef>
        <a:fillRef idx="0">
          <a:scrgbClr r="0" g="0" b="0"/>
        </a:fillRef>
        <a:effectRef idx="0">
          <a:scrgbClr r="0" g="0" b="0"/>
        </a:effectRef>
        <a:fontRef idx="minor">
          <a:schemeClr val="lt1"/>
        </a:fontRef>
      </a:style>
    </a:spDef>
    <a:lnDef>
      <a:spPr>
        <a:ln w="3175">
          <a:solidFill>
            <a:schemeClr val="bg1">
              <a:lumMod val="85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000" dirty="0" smtClean="0">
            <a:latin typeface="Tenorite" panose="00000500000000000000" pitchFamily="2" charset="0"/>
            <a:cs typeface="Arial" pitchFamily="34" charset="0"/>
          </a:defRPr>
        </a:defPPr>
      </a:lstStyle>
    </a:txDef>
  </a:objectDefaults>
  <a:extraClrSchemeLst/>
</a:theme>
</file>

<file path=ppt/theme/theme4.xml><?xml version="1.0" encoding="utf-8"?>
<a:theme xmlns:a="http://schemas.openxmlformats.org/drawingml/2006/main" name="Course Guide Template">
  <a:themeElements>
    <a:clrScheme name="Royal Blue 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2">
      <a:majorFont>
        <a:latin typeface="Aptos"/>
        <a:ea typeface="黑体"/>
        <a:cs typeface=""/>
      </a:majorFont>
      <a:minorFont>
        <a:latin typeface="Aptos"/>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800" b="1" i="0" u="none" strike="noStrike" cap="none" normalizeH="0" baseline="0" smtClean="0">
            <a:ln>
              <a:noFill/>
            </a:ln>
            <a:solidFill>
              <a:schemeClr val="tx1"/>
            </a:solidFill>
            <a:effectLst/>
            <a:latin typeface="Gill Sans" pitchFamily="34" charset="0"/>
          </a:defRPr>
        </a:defPPr>
      </a:lstStyle>
    </a:spDef>
    <a:ln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800" b="1" i="0" u="none" strike="noStrike" cap="none" normalizeH="0" baseline="0" smtClean="0">
            <a:ln>
              <a:noFill/>
            </a:ln>
            <a:solidFill>
              <a:schemeClr val="tx1"/>
            </a:solidFill>
            <a:effectLst/>
            <a:latin typeface="Gill Sans" pitchFamily="34" charset="0"/>
          </a:defRPr>
        </a:defPPr>
      </a:lstStyle>
    </a:lnDef>
  </a:objectDefaults>
  <a:extraClrSchemeLst>
    <a:extraClrScheme>
      <a:clrScheme name="Royal Blue 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oyal Blue 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oyal Blue 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oyal Blue 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oyal Blue 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oyal Blue 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oyal Blue Whi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oyal Blue 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oyal Blue 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oyal Blue 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oyal Blue 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oyal Blue 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dd214103-31cb-4302-969e-b68d6fb4449d" xsi:nil="true"/>
    <lcf76f155ced4ddcb4097134ff3c332f xmlns="57aed405-eecf-41f2-b4e2-de015a850245">
      <Terms xmlns="http://schemas.microsoft.com/office/infopath/2007/PartnerControls"/>
    </lcf76f155ced4ddcb4097134ff3c332f>
    <_ip_UnifiedCompliancePolicyProperties xmlns="http://schemas.microsoft.com/sharepoint/v3" xsi:nil="true"/>
    <SharedWithUsers xmlns="dd214103-31cb-4302-969e-b68d6fb4449d">
      <UserInfo>
        <DisplayName>Helen JJ4 Wu</DisplayName>
        <AccountId>1084</AccountId>
        <AccountType/>
      </UserInfo>
      <UserInfo>
        <DisplayName>Deepika Nagesh</DisplayName>
        <AccountId>18446</AccountId>
        <AccountType/>
      </UserInfo>
      <UserInfo>
        <DisplayName>Lyudmila Wade</DisplayName>
        <AccountId>13849</AccountId>
        <AccountType/>
      </UserInfo>
      <UserInfo>
        <DisplayName>Wenjing WJ10 Wang | 王文静</DisplayName>
        <AccountId>1104</AccountId>
        <AccountType/>
      </UserInfo>
      <UserInfo>
        <DisplayName>Kathleen Testar</DisplayName>
        <AccountId>15332</AccountId>
        <AccountType/>
      </UserInfo>
      <UserInfo>
        <DisplayName>Lucas Sarmento</DisplayName>
        <AccountId>17993</AccountId>
        <AccountType/>
      </UserInfo>
      <UserInfo>
        <DisplayName>Lucia Pivarciova</DisplayName>
        <AccountId>14594</AccountId>
        <AccountType/>
      </UserInfo>
      <UserInfo>
        <DisplayName>Marie Buckley</DisplayName>
        <AccountId>6584</AccountId>
        <AccountType/>
      </UserInfo>
      <UserInfo>
        <DisplayName>Marwa Nasser Ahmed</DisplayName>
        <AccountId>6789</AccountId>
        <AccountType/>
      </UserInfo>
      <UserInfo>
        <DisplayName>Michael Robinson2</DisplayName>
        <AccountId>13911</AccountId>
        <AccountType/>
      </UserInfo>
      <UserInfo>
        <DisplayName>Myron Klewicki</DisplayName>
        <AccountId>13909</AccountId>
        <AccountType/>
      </UserInfo>
      <UserInfo>
        <DisplayName>Peter Holubek</DisplayName>
        <AccountId>7090</AccountId>
        <AccountType/>
      </UserInfo>
      <UserInfo>
        <DisplayName>Phil Hadfield</DisplayName>
        <AccountId>4426</AccountId>
        <AccountType/>
      </UserInfo>
      <UserInfo>
        <DisplayName>Richard White3</DisplayName>
        <AccountId>3345</AccountId>
        <AccountType/>
      </UserInfo>
      <UserInfo>
        <DisplayName>Romana Rypacekova</DisplayName>
        <AccountId>4798</AccountId>
        <AccountType/>
      </UserInfo>
      <UserInfo>
        <DisplayName>Frank von Dielingen</DisplayName>
        <AccountId>3350</AccountId>
        <AccountType/>
      </UserInfo>
      <UserInfo>
        <DisplayName>Andrea Lesmes</DisplayName>
        <AccountId>19279</AccountId>
        <AccountType/>
      </UserInfo>
      <UserInfo>
        <DisplayName>Andrew Stokes1</DisplayName>
        <AccountId>764</AccountId>
        <AccountType/>
      </UserInfo>
      <UserInfo>
        <DisplayName>Carmen Gonzalez29</DisplayName>
        <AccountId>19418</AccountId>
        <AccountType/>
      </UserInfo>
      <UserInfo>
        <DisplayName>Claudia Gabriela Ortega Bahena</DisplayName>
        <AccountId>19265</AccountId>
        <AccountType/>
      </UserInfo>
      <UserInfo>
        <DisplayName>Geovanna Monserrat</DisplayName>
        <AccountId>19591</AccountId>
        <AccountType/>
      </UserInfo>
      <UserInfo>
        <DisplayName>HANA STAVILECI</DisplayName>
        <AccountId>2279</AccountId>
        <AccountType/>
      </UserInfo>
      <UserInfo>
        <DisplayName>Lubica Dugova</DisplayName>
        <AccountId>19749</AccountId>
        <AccountType/>
      </UserInfo>
      <UserInfo>
        <DisplayName>Lucia Bruchova</DisplayName>
        <AccountId>20848</AccountId>
        <AccountType/>
      </UserInfo>
      <UserInfo>
        <DisplayName>Luis Vargas2</DisplayName>
        <AccountId>17700</AccountId>
        <AccountType/>
      </UserInfo>
      <UserInfo>
        <DisplayName>Simon Corbett</DisplayName>
        <AccountId>5459</AccountId>
        <AccountType/>
      </UserInfo>
      <UserInfo>
        <DisplayName>Thejas Sathyanarayana</DisplayName>
        <AccountId>644</AccountId>
        <AccountType/>
      </UserInfo>
      <UserInfo>
        <DisplayName>Vasudevan S2</DisplayName>
        <AccountId>5419</AccountId>
        <AccountType/>
      </UserInfo>
      <UserInfo>
        <DisplayName>Lucia Lukacova</DisplayName>
        <AccountId>20380</AccountId>
        <AccountType/>
      </UserInfo>
      <UserInfo>
        <DisplayName>Miroslava Horetsky</DisplayName>
        <AccountId>21085</AccountId>
        <AccountType/>
      </UserInfo>
      <UserInfo>
        <DisplayName>Konstantinos Anastasiadis</DisplayName>
        <AccountId>20338</AccountId>
        <AccountType/>
      </UserInfo>
      <UserInfo>
        <DisplayName>Milan Snirc</DisplayName>
        <AccountId>20346</AccountId>
        <AccountType/>
      </UserInfo>
      <UserInfo>
        <DisplayName>Adrian Chavez8</DisplayName>
        <AccountId>17939</AccountId>
        <AccountType/>
      </UserInfo>
      <UserInfo>
        <DisplayName>Petronius Pra</DisplayName>
        <AccountId>18146</AccountId>
        <AccountType/>
      </UserInfo>
      <UserInfo>
        <DisplayName>Jacquiline C Johnstone1</DisplayName>
        <AccountId>12273</AccountId>
        <AccountType/>
      </UserInfo>
      <UserInfo>
        <DisplayName>Priyadarshini R8</DisplayName>
        <AccountId>12274</AccountId>
        <AccountType/>
      </UserInfo>
      <UserInfo>
        <DisplayName>Sangappa Shivappa KOKATANUR</DisplayName>
        <AccountId>3741</AccountId>
        <AccountType/>
      </UserInfo>
      <UserInfo>
        <DisplayName>Vara Prasad Rao AGASTI</DisplayName>
        <AccountId>4669</AccountId>
        <AccountType/>
      </UserInfo>
      <UserInfo>
        <DisplayName>Alberto Mario Severino Patino</DisplayName>
        <AccountId>12276</AccountId>
        <AccountType/>
      </UserInfo>
      <UserInfo>
        <DisplayName>Andrew Pieschel</DisplayName>
        <AccountId>16394</AccountId>
        <AccountType/>
      </UserInfo>
      <UserInfo>
        <DisplayName>Cynthia Hooper</DisplayName>
        <AccountId>12392</AccountId>
        <AccountType/>
      </UserInfo>
      <UserInfo>
        <DisplayName>Jon Potter</DisplayName>
        <AccountId>2998</AccountId>
        <AccountType/>
      </UserInfo>
      <UserInfo>
        <DisplayName>Kamlesh Mistry</DisplayName>
        <AccountId>18081</AccountId>
        <AccountType/>
      </UserInfo>
      <UserInfo>
        <DisplayName>Carol Donaghy</DisplayName>
        <AccountId>5461</AccountId>
        <AccountType/>
      </UserInfo>
      <UserInfo>
        <DisplayName>Mike Lavelle</DisplayName>
        <AccountId>2961</AccountId>
        <AccountType/>
      </UserInfo>
      <UserInfo>
        <DisplayName>Myles Spittle</DisplayName>
        <AccountId>3790</AccountId>
        <AccountType/>
      </UserInfo>
      <UserInfo>
        <DisplayName>Nicola Dewar1</DisplayName>
        <AccountId>19221</AccountId>
        <AccountType/>
      </UserInfo>
      <UserInfo>
        <DisplayName>Sai Puvvada</DisplayName>
        <AccountId>13725</AccountId>
        <AccountType/>
      </UserInfo>
      <UserInfo>
        <DisplayName>Yong-Lee Lee24</DisplayName>
        <AccountId>14869</AccountId>
        <AccountType/>
      </UserInfo>
      <UserInfo>
        <DisplayName>Harsha Vardhini1</DisplayName>
        <AccountId>9866</AccountId>
        <AccountType/>
      </UserInfo>
      <UserInfo>
        <DisplayName>Sathish Kumar G S75</DisplayName>
        <AccountId>20520</AccountId>
        <AccountType/>
      </UserInfo>
      <UserInfo>
        <DisplayName>Kristin Brown9</DisplayName>
        <AccountId>21092</AccountId>
        <AccountType/>
      </UserInfo>
      <UserInfo>
        <DisplayName>Radu Caiea</DisplayName>
        <AccountId>18461</AccountId>
        <AccountType/>
      </UserInfo>
      <UserInfo>
        <DisplayName>Kari Shae</DisplayName>
        <AccountId>13711</AccountId>
        <AccountType/>
      </UserInfo>
      <UserInfo>
        <DisplayName>Eduardo Brito</DisplayName>
        <AccountId>16539</AccountId>
        <AccountType/>
      </UserInfo>
      <UserInfo>
        <DisplayName>ProjectEaaS</DisplayName>
        <AccountId>19586</AccountId>
        <AccountType/>
      </UserInfo>
      <UserInfo>
        <DisplayName>Karen Gaster</DisplayName>
        <AccountId>2134</AccountId>
        <AccountType/>
      </UserInfo>
      <UserInfo>
        <DisplayName>Meena Natarajan</DisplayName>
        <AccountId>3146</AccountId>
        <AccountType/>
      </UserInfo>
      <UserInfo>
        <DisplayName>Puneet Garg1</DisplayName>
        <AccountId>13366</AccountId>
        <AccountType/>
      </UserInfo>
      <UserInfo>
        <DisplayName>Barry HB9 Zhao</DisplayName>
        <AccountId>12082</AccountId>
        <AccountType/>
      </UserInfo>
      <UserInfo>
        <DisplayName>Yue Yue2 Su</DisplayName>
        <AccountId>435</AccountId>
        <AccountType/>
      </UserInfo>
      <UserInfo>
        <DisplayName>Amy Means Singleton</DisplayName>
        <AccountId>6145</AccountId>
        <AccountType/>
      </UserInfo>
      <UserInfo>
        <DisplayName>Bhavya Gandhi</DisplayName>
        <AccountId>19951</AccountId>
        <AccountType/>
      </UserInfo>
      <UserInfo>
        <DisplayName>Frank Qi19 Zhang</DisplayName>
        <AccountId>8180</AccountId>
        <AccountType/>
      </UserInfo>
      <UserInfo>
        <DisplayName>Prabha V6</DisplayName>
        <AccountId>16426</AccountId>
        <AccountType/>
      </UserInfo>
      <UserInfo>
        <DisplayName>Jagadeesh Malla</DisplayName>
        <AccountId>19087</AccountId>
        <AccountType/>
      </UserInfo>
      <UserInfo>
        <DisplayName>Disha MAINI</DisplayName>
        <AccountId>12066</AccountId>
        <AccountType/>
      </UserInfo>
      <UserInfo>
        <DisplayName>Kiran Ganachari</DisplayName>
        <AccountId>15498</AccountId>
        <AccountType/>
      </UserInfo>
      <UserInfo>
        <DisplayName>Tarun BATTULA</DisplayName>
        <AccountId>15289</AccountId>
        <AccountType/>
      </UserInfo>
      <UserInfo>
        <DisplayName>Ashwini Akula3</DisplayName>
        <AccountId>14652</AccountId>
        <AccountType/>
      </UserInfo>
      <UserInfo>
        <DisplayName>Balakrishna Khola</DisplayName>
        <AccountId>15496</AccountId>
        <AccountType/>
      </UserInfo>
      <UserInfo>
        <DisplayName>Vardhan Vamsa Reddy BANDI1</DisplayName>
        <AccountId>15503</AccountId>
        <AccountType/>
      </UserInfo>
      <UserInfo>
        <DisplayName>Raghavendra T A8</DisplayName>
        <AccountId>14590</AccountId>
        <AccountType/>
      </UserInfo>
      <UserInfo>
        <DisplayName>Mariana Corbalan</DisplayName>
        <AccountId>17994</AccountId>
        <AccountType/>
      </UserInfo>
      <UserInfo>
        <DisplayName>Vicente Fernandez2</DisplayName>
        <AccountId>19227</AccountId>
        <AccountType/>
      </UserInfo>
      <UserInfo>
        <DisplayName>Laura Viglioglia</DisplayName>
        <AccountId>19225</AccountId>
        <AccountType/>
      </UserInfo>
      <UserInfo>
        <DisplayName>Adarsh Holla</DisplayName>
        <AccountId>14596</AccountId>
        <AccountType/>
      </UserInfo>
      <UserInfo>
        <DisplayName>Sivaprasad Kurakula</DisplayName>
        <AccountId>20653</AccountId>
        <AccountType/>
      </UserInfo>
      <UserInfo>
        <DisplayName>Jianing JN2 Wu | 吴加宁</DisplayName>
        <AccountId>6721</AccountId>
        <AccountType/>
      </UserInfo>
      <UserInfo>
        <DisplayName>Nageswara Reddy9</DisplayName>
        <AccountId>2491</AccountId>
        <AccountType/>
      </UserInfo>
      <UserInfo>
        <DisplayName>Chenfei CF4 Zhao</DisplayName>
        <AccountId>6768</AccountId>
        <AccountType/>
      </UserInfo>
      <UserInfo>
        <DisplayName>Saba Sayeed1</DisplayName>
        <AccountId>13898</AccountId>
        <AccountType/>
      </UserInfo>
      <UserInfo>
        <DisplayName>Avinash Mittal1</DisplayName>
        <AccountId>5462</AccountId>
        <AccountType/>
      </UserInfo>
      <UserInfo>
        <DisplayName>Ahmad Syahmi</DisplayName>
        <AccountId>20961</AccountId>
        <AccountType/>
      </UserInfo>
      <UserInfo>
        <DisplayName>Pei Ni Tiew</DisplayName>
        <AccountId>10084</AccountId>
        <AccountType/>
      </UserInfo>
      <UserInfo>
        <DisplayName>Sarah Yusof</DisplayName>
        <AccountId>22985</AccountId>
        <AccountType/>
      </UserInfo>
      <UserInfo>
        <DisplayName>Eric GQ11 Wang</DisplayName>
        <AccountId>7472</AccountId>
        <AccountType/>
      </UserInfo>
    </SharedWithUsers>
    <_Flow_SignoffStatus xmlns="57aed405-eecf-41f2-b4e2-de015a8502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EA1B190F63729409E2409D2B6224AD5" ma:contentTypeVersion="21" ma:contentTypeDescription="Create a new document." ma:contentTypeScope="" ma:versionID="561d371bf3fe5811c3af5f1b46d9d3b6">
  <xsd:schema xmlns:xsd="http://www.w3.org/2001/XMLSchema" xmlns:xs="http://www.w3.org/2001/XMLSchema" xmlns:p="http://schemas.microsoft.com/office/2006/metadata/properties" xmlns:ns1="http://schemas.microsoft.com/sharepoint/v3" xmlns:ns2="57aed405-eecf-41f2-b4e2-de015a850245" xmlns:ns3="dd214103-31cb-4302-969e-b68d6fb4449d" targetNamespace="http://schemas.microsoft.com/office/2006/metadata/properties" ma:root="true" ma:fieldsID="eae0fd40e5302f476d24f6bc021bd120" ns1:_="" ns2:_="" ns3:_="">
    <xsd:import namespace="http://schemas.microsoft.com/sharepoint/v3"/>
    <xsd:import namespace="57aed405-eecf-41f2-b4e2-de015a850245"/>
    <xsd:import namespace="dd214103-31cb-4302-969e-b68d6fb4449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OCR" minOccurs="0"/>
                <xsd:element ref="ns1:_ip_UnifiedCompliancePolicyProperties" minOccurs="0"/>
                <xsd:element ref="ns1:_ip_UnifiedCompliancePolicyUIAction" minOccurs="0"/>
                <xsd:element ref="ns2:lcf76f155ced4ddcb4097134ff3c332f" minOccurs="0"/>
                <xsd:element ref="ns3:TaxCatchAll" minOccurs="0"/>
                <xsd:element ref="ns2:MediaServiceObjectDetectorVersions" minOccurs="0"/>
                <xsd:element ref="ns2:MediaServiceSearchProperties"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aed405-eecf-41f2-b4e2-de015a8502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10b2ab70-381d-4de1-873d-678182fc59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_Flow_SignoffStatus" ma:index="27" nillable="true" ma:displayName="Sign-off status" ma:internalName="Sign_x002d_off_x0020_status">
      <xsd:simpleType>
        <xsd:restriction base="dms:Text"/>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d214103-31cb-4302-969e-b68d6fb4449d"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833d1e3-76d5-4887-9e5b-7887898a603c}" ma:internalName="TaxCatchAll" ma:showField="CatchAllData" ma:web="dd214103-31cb-4302-969e-b68d6fb444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AF771F-6F63-45FE-9DD4-AE66639EB5B9}">
  <ds:schemaRefs>
    <ds:schemaRef ds:uri="57aed405-eecf-41f2-b4e2-de015a850245"/>
    <ds:schemaRef ds:uri="dd214103-31cb-4302-969e-b68d6fb444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0004868-F9D2-422F-BBEA-7DB5D654B76D}">
  <ds:schemaRefs>
    <ds:schemaRef ds:uri="57aed405-eecf-41f2-b4e2-de015a850245"/>
    <ds:schemaRef ds:uri="dd214103-31cb-4302-969e-b68d6fb444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1289C54-3590-4A0E-987B-8BDF3A10592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198</Slides>
  <Notes>30</Notes>
  <HiddenSlides>0</HiddenSlides>
  <ScaleCrop>false</ScaleCrop>
  <HeadingPairs>
    <vt:vector size="4" baseType="variant">
      <vt:variant>
        <vt:lpstr>Theme</vt:lpstr>
      </vt:variant>
      <vt:variant>
        <vt:i4>4</vt:i4>
      </vt:variant>
      <vt:variant>
        <vt:lpstr>Slide Titles</vt:lpstr>
      </vt:variant>
      <vt:variant>
        <vt:i4>198</vt:i4>
      </vt:variant>
    </vt:vector>
  </HeadingPairs>
  <TitlesOfParts>
    <vt:vector size="202" baseType="lpstr">
      <vt:lpstr>9_Lenovo Master</vt:lpstr>
      <vt:lpstr>office theme</vt:lpstr>
      <vt:lpstr>10_Lenovo Master</vt:lpstr>
      <vt:lpstr>Course Guide Template</vt:lpstr>
      <vt:lpstr>PowerPoint Presentation</vt:lpstr>
      <vt:lpstr>Agenda</vt:lpstr>
      <vt:lpstr>NexBill Program Overview</vt:lpstr>
      <vt:lpstr>NexBill Project Wave I &amp; II Roadmap</vt:lpstr>
      <vt:lpstr>NexBill -  Overall Introduction</vt:lpstr>
      <vt:lpstr>NexBill -  System Function</vt:lpstr>
      <vt:lpstr>NexBill Business Process</vt:lpstr>
      <vt:lpstr>1. Login &amp; Setting</vt:lpstr>
      <vt:lpstr>Login</vt:lpstr>
      <vt:lpstr>Setting</vt:lpstr>
      <vt:lpstr>Setting</vt:lpstr>
      <vt:lpstr>2. Home</vt:lpstr>
      <vt:lpstr>Home — Your Billing Operations Launchpad</vt:lpstr>
      <vt:lpstr>Invoice Dashboard</vt:lpstr>
      <vt:lpstr>Timeliness &amp; Accuracy </vt:lpstr>
      <vt:lpstr>Timeliness &amp; Accuracy </vt:lpstr>
      <vt:lpstr>Delayed Invoice Aging</vt:lpstr>
      <vt:lpstr>Delayed Invoice Aging</vt:lpstr>
      <vt:lpstr>Invoice Volume Trend </vt:lpstr>
      <vt:lpstr>Invoice Rejections</vt:lpstr>
      <vt:lpstr>Volume &amp; Billing</vt:lpstr>
      <vt:lpstr>Focus Items </vt:lpstr>
      <vt:lpstr>Customer Billing Status</vt:lpstr>
      <vt:lpstr>3. Master Data</vt:lpstr>
      <vt:lpstr>Master Data — Trust the Data Before You Transact</vt:lpstr>
      <vt:lpstr>Product Master - What Key Users Need to Know</vt:lpstr>
      <vt:lpstr>Product Master - Search &amp; Result   </vt:lpstr>
      <vt:lpstr>Product Master - Detail</vt:lpstr>
      <vt:lpstr>Product Master - Detail</vt:lpstr>
      <vt:lpstr>Product Master – Detail - IaaS Specific Information</vt:lpstr>
      <vt:lpstr>Product Master - Product Actions</vt:lpstr>
      <vt:lpstr>Product Master - Change</vt:lpstr>
      <vt:lpstr>Account Master - What Key Users Need to Know</vt:lpstr>
      <vt:lpstr>Account Master - Search &amp; Result </vt:lpstr>
      <vt:lpstr>Account Master - Detail</vt:lpstr>
      <vt:lpstr>Account Master - Detail</vt:lpstr>
      <vt:lpstr>Account Master - Detail</vt:lpstr>
      <vt:lpstr>Account Master - Account Actions</vt:lpstr>
      <vt:lpstr>Account Master - Change</vt:lpstr>
      <vt:lpstr>4. Entitled Price Record</vt:lpstr>
      <vt:lpstr>EPR — Use the Right Commercial Record</vt:lpstr>
      <vt:lpstr>Entitled Price Record - Key Business Boundary</vt:lpstr>
      <vt:lpstr>Entitled Price Record - Search &amp; Result   </vt:lpstr>
      <vt:lpstr>Entitled Price Record - Detail</vt:lpstr>
      <vt:lpstr>Entitled Price Record - Detail</vt:lpstr>
      <vt:lpstr>Entitled Price Record – Detail - IaaS Specific Information</vt:lpstr>
      <vt:lpstr>Entitled Price Record – EPR Actions</vt:lpstr>
      <vt:lpstr>Entitled Price Record - Change</vt:lpstr>
      <vt:lpstr>Entitled Price Record - Change</vt:lpstr>
      <vt:lpstr>5. Order Management</vt:lpstr>
      <vt:lpstr>Subscription Order - What Key Users Need to Know</vt:lpstr>
      <vt:lpstr>Subscription Order - Search &amp; Result   </vt:lpstr>
      <vt:lpstr>Subscription Order - Detail</vt:lpstr>
      <vt:lpstr>Subscription Order - Detail</vt:lpstr>
      <vt:lpstr>Subscription Order – Detail - IaaS Specific Information</vt:lpstr>
      <vt:lpstr>Subscription Order - Detail</vt:lpstr>
      <vt:lpstr>Subscription Order - Detail</vt:lpstr>
      <vt:lpstr>Subscription Order – Subscription Order Action</vt:lpstr>
      <vt:lpstr>Subscription Order - Change</vt:lpstr>
      <vt:lpstr>Subscription Order - Change</vt:lpstr>
      <vt:lpstr>One Time Order Creation - Overview </vt:lpstr>
      <vt:lpstr>One-Time Billing Order Creation </vt:lpstr>
      <vt:lpstr>One Time Order Creation </vt:lpstr>
      <vt:lpstr>One Time Order Creation </vt:lpstr>
      <vt:lpstr>One-Time Billing Order Creation </vt:lpstr>
      <vt:lpstr>Subscription Order Mass Change - Choose the Right Mode </vt:lpstr>
      <vt:lpstr>Subscription Order Mass Change </vt:lpstr>
      <vt:lpstr>Subscription Order Mass Change </vt:lpstr>
      <vt:lpstr>Subscription Order Mass Change – Subscription Order View </vt:lpstr>
      <vt:lpstr>Subscription Order Mass Change – Device View </vt:lpstr>
      <vt:lpstr>Subscription Order Mass Change </vt:lpstr>
      <vt:lpstr>Subscription Order Mass Change </vt:lpstr>
      <vt:lpstr>6. Invoice Management</vt:lpstr>
      <vt:lpstr>Agenda</vt:lpstr>
      <vt:lpstr>Business Process View</vt:lpstr>
      <vt:lpstr>Invoice management: five functions, five user outcomes</vt:lpstr>
      <vt:lpstr>Payment Schedule</vt:lpstr>
      <vt:lpstr>Payment Schedule-Search Payment Schedule</vt:lpstr>
      <vt:lpstr>Payment Schedule-Search Payment Schedule</vt:lpstr>
      <vt:lpstr>Payment Schedule-Search Payment Schedule</vt:lpstr>
      <vt:lpstr>Payment Schedule-Search Payment Schedule</vt:lpstr>
      <vt:lpstr>Payment Schedule- Data List</vt:lpstr>
      <vt:lpstr>Payment Schedule-Data List</vt:lpstr>
      <vt:lpstr>Payment Schedule-Data List</vt:lpstr>
      <vt:lpstr>Payment Schedule-Data List</vt:lpstr>
      <vt:lpstr>Payment Schedule-Data List</vt:lpstr>
      <vt:lpstr>Payment Schedule-Button</vt:lpstr>
      <vt:lpstr>Payment Schedule-Button-Manual Invoice</vt:lpstr>
      <vt:lpstr>Payment Schedule-Button-Manual Invoice</vt:lpstr>
      <vt:lpstr>Payment Schedule-Button-Setting</vt:lpstr>
      <vt:lpstr>Payment Schedule-Button-Full Screen</vt:lpstr>
      <vt:lpstr>Payment Schedule-Button-Download</vt:lpstr>
      <vt:lpstr>Payment Schedule-Button-Recalculate Usage Data</vt:lpstr>
      <vt:lpstr>Payment Schedule- Button- Recalculate Usage Data</vt:lpstr>
      <vt:lpstr>Payment Schedule-Hyperlink</vt:lpstr>
      <vt:lpstr>Payment Schedule-Hyperlink</vt:lpstr>
      <vt:lpstr>Payment Schedule-Hyperlink</vt:lpstr>
      <vt:lpstr>Payment Schedule-Hyperlink</vt:lpstr>
      <vt:lpstr>Agenda</vt:lpstr>
      <vt:lpstr>Invoice Document - Menu &amp; Path</vt:lpstr>
      <vt:lpstr>Invoice Document - Search &amp; Result</vt:lpstr>
      <vt:lpstr>Invoice Document - Search &amp; Result</vt:lpstr>
      <vt:lpstr>Invoice Document - Search &amp; Result</vt:lpstr>
      <vt:lpstr>Invoice Document - Detail</vt:lpstr>
      <vt:lpstr>Invoice Document - Detail</vt:lpstr>
      <vt:lpstr>Invoice Document - Detail</vt:lpstr>
      <vt:lpstr>Invoice Document - Detail</vt:lpstr>
      <vt:lpstr>Agenda</vt:lpstr>
      <vt:lpstr>Statement - Menu &amp; Path</vt:lpstr>
      <vt:lpstr>Statement - Search &amp; Result</vt:lpstr>
      <vt:lpstr>Statement - Search &amp; Result</vt:lpstr>
      <vt:lpstr>Statement - Search &amp; Result</vt:lpstr>
      <vt:lpstr>Statement - Detail</vt:lpstr>
      <vt:lpstr>Statement - Detail</vt:lpstr>
      <vt:lpstr>Statement – Add Remark on Statement Level</vt:lpstr>
      <vt:lpstr>Statement – Add Remark on Invoice Level</vt:lpstr>
      <vt:lpstr>Statement – Retry to correct errors</vt:lpstr>
      <vt:lpstr>Statement - Approve</vt:lpstr>
      <vt:lpstr>Statement – Reject</vt:lpstr>
      <vt:lpstr>Statement - Unlock</vt:lpstr>
      <vt:lpstr>Statement – Resend to LIC and Download</vt:lpstr>
      <vt:lpstr>Agenda</vt:lpstr>
      <vt:lpstr>Central Billing Invoice</vt:lpstr>
      <vt:lpstr>Central Billing Invoice</vt:lpstr>
      <vt:lpstr>Central Billing Invoice</vt:lpstr>
      <vt:lpstr>Central Billing Invoice</vt:lpstr>
      <vt:lpstr>Central Billing Invoice</vt:lpstr>
      <vt:lpstr>Central Billing Invoice</vt:lpstr>
      <vt:lpstr>Agenda</vt:lpstr>
      <vt:lpstr>Invoice Reverse</vt:lpstr>
      <vt:lpstr>Invoice Reverse</vt:lpstr>
      <vt:lpstr>Invoice Reverse</vt:lpstr>
      <vt:lpstr>Invoice Reverse</vt:lpstr>
      <vt:lpstr>Invoice Reverse</vt:lpstr>
      <vt:lpstr>Invoice Reverse</vt:lpstr>
      <vt:lpstr>Agenda</vt:lpstr>
      <vt:lpstr>Manual Invoice Adjustment</vt:lpstr>
      <vt:lpstr>Manual Invoice Adjustment</vt:lpstr>
      <vt:lpstr>Manual Invoice Adjustment</vt:lpstr>
      <vt:lpstr>Manual Invoice Adjustment</vt:lpstr>
      <vt:lpstr>Manual Invoice Adjustment</vt:lpstr>
      <vt:lpstr>Manual Invoice Adjustment</vt:lpstr>
      <vt:lpstr>Manual Invoice Adjustment</vt:lpstr>
      <vt:lpstr>7. Finance &amp; Accounting</vt:lpstr>
      <vt:lpstr>PowerPoint Presentation</vt:lpstr>
      <vt:lpstr>PowerPoint Presentation</vt:lpstr>
      <vt:lpstr>Nexbill Finance</vt:lpstr>
      <vt:lpstr>Finance Document Types</vt:lpstr>
      <vt:lpstr>Finance Document – Search Display</vt:lpstr>
      <vt:lpstr>Finance Document – Search Display</vt:lpstr>
      <vt:lpstr>Finance Document  – Search Display</vt:lpstr>
      <vt:lpstr>Finance Document – Overview  Display</vt:lpstr>
      <vt:lpstr>Finance Document – Item Details Display</vt:lpstr>
      <vt:lpstr>Finance Document – Header  Display</vt:lpstr>
      <vt:lpstr>Finance Document – ARS  &amp; Defer Trigger Display</vt:lpstr>
      <vt:lpstr>8. Device List </vt:lpstr>
      <vt:lpstr>Device List - When Should I Use It?</vt:lpstr>
      <vt:lpstr>Device List - Find Device</vt:lpstr>
      <vt:lpstr>Device List – Change Device</vt:lpstr>
      <vt:lpstr>9. Usage Metering </vt:lpstr>
      <vt:lpstr>Usage Metering — From Consumption to Billable Charges</vt:lpstr>
      <vt:lpstr>Pricing Table - Search &amp; Result </vt:lpstr>
      <vt:lpstr>Pricing Table - Detail</vt:lpstr>
      <vt:lpstr>Usage Data - Search &amp; Result </vt:lpstr>
      <vt:lpstr>Charges Data - Search &amp; Result </vt:lpstr>
      <vt:lpstr>10. Report</vt:lpstr>
      <vt:lpstr>Subscription Order  Report - Change Event</vt:lpstr>
      <vt:lpstr>Subscription Order  Report – Funder Log</vt:lpstr>
      <vt:lpstr>Invoice Report - Invoice Payment Status Tracking  </vt:lpstr>
      <vt:lpstr>Invoice Report</vt:lpstr>
      <vt:lpstr>Invoice Report</vt:lpstr>
      <vt:lpstr>Invoice Report</vt:lpstr>
      <vt:lpstr>Finance Report – ARS Revenue  (1/6) </vt:lpstr>
      <vt:lpstr>Finance Report – ARS Revenue (2/6) </vt:lpstr>
      <vt:lpstr>Finance Report – ARS Revenue (3/6) </vt:lpstr>
      <vt:lpstr>Finance Report – ARS Revenue (4/6) </vt:lpstr>
      <vt:lpstr>Finance Report – ARS Revenue (5/6) </vt:lpstr>
      <vt:lpstr>Finance Report – ARS Revenue (6/6) </vt:lpstr>
      <vt:lpstr>Upfront Service Report-Detail </vt:lpstr>
      <vt:lpstr>Upfront Service Report-Summary </vt:lpstr>
      <vt:lpstr>Upfront Tax Report-Detail </vt:lpstr>
      <vt:lpstr>Upfront Tax Report-Summary </vt:lpstr>
      <vt:lpstr>IAAS invoice list(OPP-ID)  </vt:lpstr>
      <vt:lpstr>Tax split-posting</vt:lpstr>
      <vt:lpstr>Tax split-Display</vt:lpstr>
      <vt:lpstr>Defer Revenue Amortization (1/3)  </vt:lpstr>
      <vt:lpstr>Defer Revenue Amortization  (2/3) </vt:lpstr>
      <vt:lpstr>Defer Revenue Amortization (3/3)  </vt:lpstr>
      <vt:lpstr>Defer Revenue Forecast (1/2)  </vt:lpstr>
      <vt:lpstr>Defer Revenue Forecast(2/2)   </vt:lpstr>
      <vt:lpstr>FA FI Integration report</vt:lpstr>
      <vt:lpstr>11. Approval Center</vt:lpstr>
      <vt:lpstr>Approve Center – What Key Users Need to Know</vt:lpstr>
      <vt:lpstr>Approve Center –  Approval Configuration</vt:lpstr>
      <vt:lpstr>Approve Center – My Request </vt:lpstr>
      <vt:lpstr>Approve Center – My Approval</vt:lpstr>
      <vt:lpstr>PowerPoint Presentation</vt:lpstr>
      <vt:lpstr>End-to-End Document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Luis Vargas2</dc:creator>
  <cp:revision>1</cp:revision>
  <dcterms:created xsi:type="dcterms:W3CDTF">2013-07-15T20:26:40Z</dcterms:created>
  <dcterms:modified xsi:type="dcterms:W3CDTF">2026-09-23T14:25:56Z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0x0101004EA1B190F63729409E2409D2B6224AD5</vt:lpwstr>
  </property>
  <property fmtid="{D5CDD505-2E9C-101B-9397-08002B2CF9AE}" pid="3" name="MediaServiceImageTags">
    <vt:lpwstr/>
  </property>
  <property fmtid="{D5CDD505-2E9C-101B-9397-08002B2CF9AE}" pid="4" name="ArticulateGUID">
    <vt:lpwstr>3AE958FF-41A9-4C8E-AEF4-33795F1717DF</vt:lpwstr>
  </property>
  <property fmtid="{D5CDD505-2E9C-101B-9397-08002B2CF9AE}" pid="5" name="ArticulatePath">
    <vt:lpwstr>https://lenovobeijing.sharepoint.com/sites/S4DiscoveryProject/Shared Documents/02 EaaS/6.0 Change Management/08 Training/03 Build/09.KUT/02. R1.5 Final KUT Material/01. DaaS KUT Material/13. KUT Learning Guide_End of Term</vt:lpwstr>
  </property>
</Properties>
</file>